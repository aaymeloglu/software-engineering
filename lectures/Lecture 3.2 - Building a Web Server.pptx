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</p:sldIdLst>
  <p:sldSz cy="6858000" cx="12191675"/>
  <p:notesSz cx="6858000" cy="9144000"/>
  <p:embeddedFontLst>
    <p:embeddedFont>
      <p:font typeface="Courier Prime"/>
      <p:regular r:id="rId52"/>
      <p:bold r:id="rId53"/>
      <p:italic r:id="rId54"/>
      <p:boldItalic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6" roundtripDataSignature="AMtx7mjpOW48K/dU4J0H0wmlat5VoJTs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font" Target="fonts/CourierPrime-regular.fntdata"/><Relationship Id="rId53" Type="http://schemas.openxmlformats.org/officeDocument/2006/relationships/font" Target="fonts/CourierPrime-bold.fntdata"/><Relationship Id="rId54" Type="http://schemas.openxmlformats.org/officeDocument/2006/relationships/font" Target="fonts/CourierPrime-italic.fntdata"/><Relationship Id="rId55" Type="http://schemas.openxmlformats.org/officeDocument/2006/relationships/font" Target="fonts/CourierPrime-boldItalic.fntdata"/><Relationship Id="rId5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ebc54ff56_0_1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g3debc54ff56_0_1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this live. Every line is doing something a framework would do for you. No routing (just an if), no body parsing, no JSON, no error handling, no concurrency (one request at a time), no graceful shutdown. And this is just the 'hello world' of web servers.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needed help to write this one.</a:t>
            </a:r>
            <a:endParaRPr/>
          </a:p>
        </p:txBody>
      </p:sp>
      <p:sp>
        <p:nvSpPr>
          <p:cNvPr id="92" name="Google Shape;92;g3debc54ff56_0_1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ebc54ff56_0_1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0" name="Google Shape;100;g3debc54ff56_0_1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Transition slide. We've seen the misery. We're about to see the way out. Tee up the type hints pivot without actually introducing FastAPI yet.</a:t>
            </a:r>
            <a:endParaRPr/>
          </a:p>
        </p:txBody>
      </p:sp>
      <p:sp>
        <p:nvSpPr>
          <p:cNvPr id="101" name="Google Shape;101;g3debc54ff56_0_1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ebc54ff56_0_1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g3debc54ff56_0_1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Type hints as new material for students. Pitch as 'you've seen these in the wild, here's what they're actually for.'</a:t>
            </a:r>
            <a:endParaRPr/>
          </a:p>
        </p:txBody>
      </p:sp>
      <p:sp>
        <p:nvSpPr>
          <p:cNvPr id="108" name="Google Shape;108;g3debc54ff56_0_1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ebc54ff56_0_49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g3debc54ff56_0_49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debc54ff56_0_49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ebc54ff56_0_2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g3debc54ff56_0_2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debc54ff56_0_2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debc54ff56_0_1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debc54ff56_0_1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debc54ff56_0_1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debc54ff56_0_13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g3debc54ff56_0_13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you believe type hints are just decoration, FastAPI looks like magic. Once you believe hints are *data* that other code can read, FastAPI becomes obvious instead of magical.</a:t>
            </a:r>
            <a:endParaRPr/>
          </a:p>
        </p:txBody>
      </p:sp>
      <p:sp>
        <p:nvSpPr>
          <p:cNvPr id="135" name="Google Shape;135;g3debc54ff56_0_13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ebc54ff56_0_2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g3debc54ff56_0_2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you believe type hints are just decoration, FastAPI looks like magic. Once you believe hints are *data* that other code can read, FastAPI becomes obvious instead of magical.</a:t>
            </a:r>
            <a:endParaRPr/>
          </a:p>
        </p:txBody>
      </p:sp>
      <p:sp>
        <p:nvSpPr>
          <p:cNvPr id="142" name="Google Shape;142;g3debc54ff56_0_2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ebc54ff56_0_14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g3debc54ff56_0_14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Through-line for the rest of the lecture: everything FastAPI does is 'library reads function signature, does work for you.' Keep pointing back to this slide.</a:t>
            </a:r>
            <a:endParaRPr/>
          </a:p>
        </p:txBody>
      </p:sp>
      <p:sp>
        <p:nvSpPr>
          <p:cNvPr id="149" name="Google Shape;149;g3debc54ff56_0_1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Minimal working app. Keep it tight.</a:t>
            </a:r>
            <a:endParaRPr/>
          </a:p>
        </p:txBody>
      </p:sp>
      <p:sp>
        <p:nvSpPr>
          <p:cNvPr id="156" name="Google Shape;15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ebc54ff56_0_3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g3debc54ff56_0_3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debc54ff56_0_3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Compare to the ugly socket handler from Section 1. Same functionality (GET / returns a thing) in a fraction of the code. No socket code, no byte parsing, no response construction. Just: here's a function, it's a handler for GET /.</a:t>
            </a:r>
            <a:endParaRPr/>
          </a:p>
        </p:txBody>
      </p:sp>
      <p:sp>
        <p:nvSpPr>
          <p:cNvPr id="169" name="Google Shape;16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ebc54ff56_0_2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g3debc54ff56_0_2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Don't try to explain decorators deeply. Name the concept, show the shape, connect it back to the routing step students saw in the ugly handler. That's enough.</a:t>
            </a:r>
            <a:endParaRPr/>
          </a:p>
        </p:txBody>
      </p:sp>
      <p:sp>
        <p:nvSpPr>
          <p:cNvPr id="178" name="Google Shape;178;g3debc54ff56_0_2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Don't try to explain decorators deeply. Name the concept, show the shape, connect it back to the routing step students saw in the ugly handler. That's enough.</a:t>
            </a:r>
            <a:endParaRPr/>
          </a:p>
        </p:txBody>
      </p:sp>
      <p:sp>
        <p:nvSpPr>
          <p:cNvPr id="185" name="Google Shape;18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debc54ff56_0_24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1" name="Google Shape;191;g3debc54ff56_0_24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ASGI = Asynchronous Server Gateway Interface, successor to </a:t>
            </a:r>
            <a:br>
              <a:rPr lang="en-US"/>
            </a:br>
            <a:r>
              <a:rPr lang="en-US"/>
              <a:t>WSGI = Web Server Gateway Interface</a:t>
            </a:r>
            <a:endParaRPr/>
          </a:p>
        </p:txBody>
      </p:sp>
      <p:sp>
        <p:nvSpPr>
          <p:cNvPr id="192" name="Google Shape;192;g3debc54ff56_0_24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ASGI = Asynchronous Server Gateway Interface, successor to </a:t>
            </a:r>
            <a:br>
              <a:rPr lang="en-US"/>
            </a:br>
            <a:r>
              <a:rPr lang="en-US"/>
              <a:t>WSGI = Web Server Gateway Interface</a:t>
            </a:r>
            <a:endParaRPr/>
          </a:p>
        </p:txBody>
      </p:sp>
      <p:sp>
        <p:nvSpPr>
          <p:cNvPr id="199" name="Google Shape;199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ebc54ff56_0_2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g3debc54ff56_0_2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ASGI = Asynchronous Server Gateway Interface, successor to </a:t>
            </a:r>
            <a:br>
              <a:rPr lang="en-US"/>
            </a:br>
            <a:r>
              <a:rPr lang="en-US"/>
              <a:t>WSGI = Web Server Gateway Interface</a:t>
            </a:r>
            <a:endParaRPr/>
          </a:p>
        </p:txBody>
      </p:sp>
      <p:sp>
        <p:nvSpPr>
          <p:cNvPr id="206" name="Google Shape;206;g3debc54ff56_0_2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ebc54ff56_0_2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debc54ff56_0_2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Motivate venvs by the conflict they solve. Students who have been `pip install`ing into system Python until now have been lucky; a venv is how you stop relying on luck.</a:t>
            </a:r>
            <a:endParaRPr/>
          </a:p>
        </p:txBody>
      </p:sp>
      <p:sp>
        <p:nvSpPr>
          <p:cNvPr id="213" name="Google Shape;213;g3debc54ff56_0_2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ebc54ff56_0_26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9" name="Google Shape;219;g3debc54ff56_0_26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Motivate venvs by the conflict they solve. Students who have been `pip install`ing into system Python until now have been lucky; a venv is how you stop relying on luck.</a:t>
            </a:r>
            <a:endParaRPr/>
          </a:p>
        </p:txBody>
      </p:sp>
      <p:sp>
        <p:nvSpPr>
          <p:cNvPr id="220" name="Google Shape;220;g3debc54ff56_0_26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ebc54ff56_0_27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g3debc54ff56_0_27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Motivate venvs by the conflict they solve. Students who have been `pip install`ing into system Python until now have been lucky; a venv is how you stop relying on luck.</a:t>
            </a:r>
            <a:endParaRPr/>
          </a:p>
        </p:txBody>
      </p:sp>
      <p:sp>
        <p:nvSpPr>
          <p:cNvPr id="227" name="Google Shape;227;g3debc54ff56_0_27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4" name="Google Shape;234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Motivate venvs by the conflict they solve. Students who have been `pip install`ing into system Python until now have been lucky; a venv is how you stop relying on luck.</a:t>
            </a:r>
            <a:endParaRPr/>
          </a:p>
        </p:txBody>
      </p:sp>
      <p:sp>
        <p:nvSpPr>
          <p:cNvPr id="235" name="Google Shape;235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ebc54ff56_0_2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g3debc54ff56_0_2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Motivate venvs by the conflict they solve. Students who have been `pip install`ing into system Python until now have been lucky; a venv is how you stop relying on luck.</a:t>
            </a:r>
            <a:endParaRPr/>
          </a:p>
        </p:txBody>
      </p:sp>
      <p:sp>
        <p:nvSpPr>
          <p:cNvPr id="242" name="Google Shape;242;g3debc54ff56_0_27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canonical loop. `python3 -m venv venv` creates it, `source venv/bin/activate` turns it on (prompt changes to show the env name), pip installs go into the venv, `pip freeze` captures the pinned state, `pip install -r` recreates it elsewhere. This is the workflow for Assignment 2. In week 7 we'll see how Docker containers formalize the same idea.</a:t>
            </a:r>
            <a:endParaRPr/>
          </a:p>
        </p:txBody>
      </p:sp>
      <p:sp>
        <p:nvSpPr>
          <p:cNvPr id="249" name="Google Shape;249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Arc C payoff section. Every mechanic here is 'the next thing FastAPI reads off your function signature.'</a:t>
            </a:r>
            <a:endParaRPr/>
          </a:p>
        </p:txBody>
      </p:sp>
      <p:sp>
        <p:nvSpPr>
          <p:cNvPr id="258" name="Google Shape;258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Point at the `: int` hint and say: 'this is the thing FastAPI is reading.' The 422 error response is generated from that hint alone.</a:t>
            </a:r>
            <a:endParaRPr/>
          </a:p>
        </p:txBody>
      </p:sp>
      <p:sp>
        <p:nvSpPr>
          <p:cNvPr id="264" name="Google Shape;264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Same trick as path parameters. Non-path arguments become query parameters. Defaults make them optional. `str | None` is the modern union syntax; works from Python 3.10+.</a:t>
            </a:r>
            <a:endParaRPr/>
          </a:p>
        </p:txBody>
      </p:sp>
      <p:sp>
        <p:nvSpPr>
          <p:cNvPr id="273" name="Google Shape;27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Pydantic is the validation engine; FastAPI is its caller. A Pydantic model is 'what a type hint looks like for a JSON body.' Same pattern as path/query params: FastAPI reads the hint, validates the input, returns 422 automatically if it's wrong. Students don't write a line of validation code.</a:t>
            </a:r>
            <a:endParaRPr/>
          </a:p>
        </p:txBody>
      </p:sp>
      <p:sp>
        <p:nvSpPr>
          <p:cNvPr id="282" name="Google Shape;282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Headers are another place FastAPI can pull values from, driven by the function signature. The key new idea is the `= Header()` marker, which disambiguates it from a query param (FastAPI's default guess for non-path args). Point out the `x_author` -&gt; `X-Author` name mangling so students aren't surprised. This pattern shows up again in Assignment 2, where you'll read an X-Username header.</a:t>
            </a:r>
            <a:endParaRPr/>
          </a:p>
        </p:txBody>
      </p:sp>
      <p:sp>
        <p:nvSpPr>
          <p:cNvPr id="291" name="Google Shape;291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`Field()` is how you attach constraints to a Pydantic field. min_length, max_length, and pattern are the three you'll use most often. There are more (ge, le, gt, lt for numbers; default values; aliases). FastAPI is still just reading metadata off the signature and producing a 422 automatically. Nothing new conceptually - just richer hints.</a:t>
            </a:r>
            <a:endParaRPr/>
          </a:p>
        </p:txBody>
      </p:sp>
      <p:sp>
        <p:nvSpPr>
          <p:cNvPr id="300" name="Google Shape;300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8" name="Google Shape;308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Query() is the sibling of Field() for query parameters. The three families - Field for body models, Query for query params, Path/Header/Body for the others - all share the constraint keywords: ge, le, gt, lt, min_length, max_length, pattern. Once you learn one, you know them all. This is the validation vocabulary Assignment 2 expects you to use.</a:t>
            </a:r>
            <a:endParaRPr/>
          </a:p>
        </p:txBody>
      </p:sp>
      <p:sp>
        <p:nvSpPr>
          <p:cNvPr id="309" name="Google Shape;309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`response_model` is the type hint for what comes OUT. It lets FastAPI validate the response, serialize it, and include it in /docs. One more thing the function signature buys you.</a:t>
            </a:r>
            <a:endParaRPr/>
          </a:p>
        </p:txBody>
      </p:sp>
      <p:sp>
        <p:nvSpPr>
          <p:cNvPr id="318" name="Google Shape;318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6" name="Google Shape;326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Everything students have seen since the type hints pivot comes from the same source: the function signature. FastAPI is the library that takes this idea as far as it can go. One source of truth</a:t>
            </a:r>
            <a:br>
              <a:rPr lang="en-US"/>
            </a:br>
            <a:br>
              <a:rPr lang="en-US"/>
            </a:br>
            <a:r>
              <a:rPr lang="en-US"/>
              <a:t> (the function signature) drives validation, serialization, AND docs.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Real project layout. This is the content students will mimic for assignment 2.</a:t>
            </a:r>
            <a:endParaRPr/>
          </a:p>
        </p:txBody>
      </p:sp>
      <p:sp>
        <p:nvSpPr>
          <p:cNvPr id="334" name="Google Shape;334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Each file has one job, which makes testing and changes easier later.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Students need to know the switch happened and roughly why, not the internals.</a:t>
            </a:r>
            <a:endParaRPr/>
          </a:p>
        </p:txBody>
      </p:sp>
      <p:sp>
        <p:nvSpPr>
          <p:cNvPr id="347" name="Google Shape;347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3" name="Google Shape;353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Familiar shape from 2.2, just with SQLAlchemy in front. The engine is the pool manager. init_db creates the table. Run `python db.py` once to set up the file.</a:t>
            </a:r>
            <a:endParaRPr/>
          </a:p>
        </p:txBody>
      </p:sp>
      <p:sp>
        <p:nvSpPr>
          <p:cNvPr id="354" name="Google Shape;354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ebc54ff56_0_4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debc54ff56_0_4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Every SQL statement lives here. Each function is a thin wrapper over one query. list_messages returns a list of dicts; create_message returns the newly created row; delete_message returns True/False so the route can decide whether to 404. The Python parameter is named `content` to avoid shadowing sqlalchemy.text - the bind param `:text` and the column `text` stay consistent with the schema. Note datetime.now(timezone.utc) instead of utcnow() (deprecated in Python 3.12+).</a:t>
            </a:r>
            <a:endParaRPr/>
          </a:p>
        </p:txBody>
      </p:sp>
      <p:sp>
        <p:nvSpPr>
          <p:cNvPr id="363" name="Google Shape;363;g3debc54ff56_0_4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1" name="Google Shape;371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 these as contracts. One for input, one for output. Two schemas rather than one because the input doesn't have an id or timestamp yet - the server assigns those.</a:t>
            </a:r>
            <a:endParaRPr/>
          </a:p>
        </p:txBody>
      </p:sp>
      <p:sp>
        <p:nvSpPr>
          <p:cNvPr id="372" name="Google Shape;372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debc54ff56_0_3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0" name="Google Shape;380;g3debc54ff56_0_3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app.py is a thin HTTP shell. Each route calls one db.* function and returns the result. Walk through response_model=list[MessageOut] (auto JSON serialization), status_code=201 (override the default 200 for resource creation), and how MessageCreate's validated fields hand directly to db.create_message. The fact that there's no SQL on this slide is the entire point - SQL belongs in db.py.</a:t>
            </a:r>
            <a:endParaRPr/>
          </a:p>
        </p:txBody>
      </p:sp>
      <p:sp>
        <p:nvSpPr>
          <p:cNvPr id="381" name="Google Shape;381;g3debc54ff56_0_3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9" name="Google Shape;389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Real working session. Run `python db.py` once, start uvicorn, hit it with curl. Empty list, then a POST, then a populated list. This is what assignment 2 will feel like.</a:t>
            </a:r>
            <a:endParaRPr/>
          </a:p>
        </p:txBody>
      </p:sp>
      <p:sp>
        <p:nvSpPr>
          <p:cNvPr id="390" name="Google Shape;390;p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debc54ff56_0_2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8" name="Google Shape;398;g3debc54ff56_0_2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HTTPException is how you bail out of a handler with a specific status code. FastAPI catches it and builds the response for you. This is the clean replacement for the manual error-building you'd have done in the raw-socket version.</a:t>
            </a:r>
            <a:endParaRPr/>
          </a:p>
        </p:txBody>
      </p:sp>
      <p:sp>
        <p:nvSpPr>
          <p:cNvPr id="399" name="Google Shape;399;g3debc54ff56_0_29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5" name="Google Shape;405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HTTPException is how you bail out of a handler with a specific status code. FastAPI catches it and builds the response for you. This is the clean replacement for the manual error-building you'd have done in the raw-socket version.</a:t>
            </a:r>
            <a:endParaRPr/>
          </a:p>
        </p:txBody>
      </p:sp>
      <p:sp>
        <p:nvSpPr>
          <p:cNvPr id="406" name="Google Shape;406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2" name="Google Shape;412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each blank. MessageUpdate has just one field (text) because PATCH is partial - we're not changing author or timestamp. response_model=MessageOut reuses the existing output schema. The UPDATE uses a bind param for safety. After the update, re-read the row to get the canonical response.</a:t>
            </a:r>
            <a:endParaRPr/>
          </a:p>
        </p:txBody>
      </p:sp>
      <p:sp>
        <p:nvSpPr>
          <p:cNvPr id="413" name="Google Shape;413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p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Summary of the lecture as four design moves, then the assignment pointer, then the forward reference.</a:t>
            </a:r>
            <a:endParaRPr/>
          </a:p>
        </p:txBody>
      </p:sp>
      <p:sp>
        <p:nvSpPr>
          <p:cNvPr id="422" name="Google Shape;422;p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debc54ff56_0_29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g3debc54ff56_0_29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Summary of the lecture as four design moves, then the assignment pointer, then the forward reference.</a:t>
            </a:r>
            <a:endParaRPr/>
          </a:p>
        </p:txBody>
      </p:sp>
      <p:sp>
        <p:nvSpPr>
          <p:cNvPr id="429" name="Google Shape;429;g3debc54ff56_0_29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3.2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a Web Server with FastAPI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ebc54ff56_0_11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handler, the hard way</a:t>
            </a:r>
            <a:endParaRPr/>
          </a:p>
        </p:txBody>
      </p:sp>
      <p:sp>
        <p:nvSpPr>
          <p:cNvPr id="95" name="Google Shape;95;g3debc54ff56_0_11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96" name="Google Shape;96;g3debc54ff56_0_112"/>
          <p:cNvSpPr/>
          <p:nvPr/>
        </p:nvSpPr>
        <p:spPr>
          <a:xfrm>
            <a:off x="731500" y="960127"/>
            <a:ext cx="10728600" cy="57216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debc54ff56_0_112"/>
          <p:cNvSpPr txBox="1"/>
          <p:nvPr/>
        </p:nvSpPr>
        <p:spPr>
          <a:xfrm>
            <a:off x="1005840" y="1142995"/>
            <a:ext cx="10179900" cy="54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socket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sock = socket.socket()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sock.bind(("127.0.0.1", 8000))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sock.listen()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while True: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conn, _ = sock.accept()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req = conn.recv(4096).decode()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request line looks like: "GET /ping HTTP/1.1"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first_line = req.split("\r\n")[0]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method, path, _ = first_line.split(" 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method == "GET" and path == "/ping":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body = "pong"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resp =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"HTTP/1.1 200 OK\r\n"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f"Content-Length: {len(body)}\r\n"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"Content-Type: text/plain\r\n"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"\r\n"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+ body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conn.sendall(resp.encode())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conn.close()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ebc54ff56_0_12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could keep going...</a:t>
            </a:r>
            <a:endParaRPr/>
          </a:p>
        </p:txBody>
      </p:sp>
      <p:sp>
        <p:nvSpPr>
          <p:cNvPr id="104" name="Google Shape;104;g3debc54ff56_0_120"/>
          <p:cNvSpPr txBox="1"/>
          <p:nvPr/>
        </p:nvSpPr>
        <p:spPr>
          <a:xfrm>
            <a:off x="914388" y="1213415"/>
            <a:ext cx="10362900" cy="55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handler only does ONE thing: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/ping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returns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"pong"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build a real chat API, you'd need to write, from scratch: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table mapping (method, path) to functions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Path parameters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/messages/42 needs to extract the 42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Body parsing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JSON in, JSON out, with useful errors when it's wrong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is this actually a string? a number in range?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 handling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turn exceptions into proper HTTP responses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Docs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 the frontend team knows what endpoints exist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Concurrency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handle more than one request at a time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Or you could use a framework that already did all of that.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Today that framework is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ebc54ff56_0_126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But First, a Brief Detour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ebc54ff56_0_49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Types in Python: a reprisal</a:t>
            </a:r>
            <a:endParaRPr/>
          </a:p>
        </p:txBody>
      </p:sp>
      <p:sp>
        <p:nvSpPr>
          <p:cNvPr id="117" name="Google Shape;117;g3debc54ff56_0_495"/>
          <p:cNvSpPr txBox="1"/>
          <p:nvPr/>
        </p:nvSpPr>
        <p:spPr>
          <a:xfrm>
            <a:off x="914400" y="1463040"/>
            <a:ext cx="103629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greet(nam</a:t>
            </a: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e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, times):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("hello " + name + " ") * times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ebc54ff56_0_22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Types in Python: a reprisal</a:t>
            </a:r>
            <a:endParaRPr/>
          </a:p>
        </p:txBody>
      </p:sp>
      <p:sp>
        <p:nvSpPr>
          <p:cNvPr id="124" name="Google Shape;124;g3debc54ff56_0_224"/>
          <p:cNvSpPr txBox="1"/>
          <p:nvPr/>
        </p:nvSpPr>
        <p:spPr>
          <a:xfrm>
            <a:off x="914400" y="1463040"/>
            <a:ext cx="103629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Modern Python lets you annotate function arguments and return values: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greet(name: str, times: int = 1) -&gt; str: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("hello " + name + " ") * times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ebc54ff56_0_13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Types in Python: a reprisal</a:t>
            </a:r>
            <a:endParaRPr/>
          </a:p>
        </p:txBody>
      </p:sp>
      <p:sp>
        <p:nvSpPr>
          <p:cNvPr id="131" name="Google Shape;131;g3debc54ff56_0_131"/>
          <p:cNvSpPr txBox="1"/>
          <p:nvPr/>
        </p:nvSpPr>
        <p:spPr>
          <a:xfrm>
            <a:off x="914400" y="1463040"/>
            <a:ext cx="10362900" cy="47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Modern Python lets you annotate function arguments and return values: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greet(name: str, times: int = 1) -&gt; str: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("hello " + name + " ") * times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`: str`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`: int`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`-&gt; str`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parts are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type 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 describe what the function expects and what it returns.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You'll see them all over modern Python libraries.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Pydantic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SQLAlchemy. The standard library itself.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ebc54ff56_0_13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Python itself ignores them</a:t>
            </a:r>
            <a:endParaRPr/>
          </a:p>
        </p:txBody>
      </p:sp>
      <p:sp>
        <p:nvSpPr>
          <p:cNvPr id="138" name="Google Shape;138;g3debc54ff56_0_137"/>
          <p:cNvSpPr txBox="1"/>
          <p:nvPr/>
        </p:nvSpPr>
        <p:spPr>
          <a:xfrm>
            <a:off x="583650" y="1463050"/>
            <a:ext cx="111414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 runtime, Python does NOT enforce type hints.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greet(name: str) -&gt; str: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name.upper()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greet(42)   # no error from Python itself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        # (until .upper() blows up on the int)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are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not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checks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Python just stores them as metadata on the function object.</a:t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bother writing them?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ebc54ff56_0_23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Python itself ignores them</a:t>
            </a:r>
            <a:endParaRPr/>
          </a:p>
        </p:txBody>
      </p:sp>
      <p:sp>
        <p:nvSpPr>
          <p:cNvPr id="145" name="Google Shape;145;g3debc54ff56_0_230"/>
          <p:cNvSpPr txBox="1"/>
          <p:nvPr/>
        </p:nvSpPr>
        <p:spPr>
          <a:xfrm>
            <a:off x="583650" y="1463050"/>
            <a:ext cx="111414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 runtime, Python does NOT enforce type hints.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greet(name: str) -&gt; str: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name.upper()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greet(42)   # no error from Python itself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        # (until .upper() blows up on the int)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They are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not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checks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Python just stores them as metadata on the function object.</a:t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why bother writing them?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Reason 1: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your editor reads them for autocomplete and warnings.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Reason 2: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other *libraries* can read them and do real work.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ebc54ff56_0_14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Libraries can read your type hints at runtime</a:t>
            </a:r>
            <a:endParaRPr/>
          </a:p>
        </p:txBody>
      </p:sp>
      <p:sp>
        <p:nvSpPr>
          <p:cNvPr id="152" name="Google Shape;152;g3debc54ff56_0_143"/>
          <p:cNvSpPr txBox="1"/>
          <p:nvPr/>
        </p:nvSpPr>
        <p:spPr>
          <a:xfrm>
            <a:off x="926300" y="1142150"/>
            <a:ext cx="10626300" cy="55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gives you a way to inspect a function's signature at runtime: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import inspect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sig = inspect.signature(greet)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</a:t>
            </a:r>
            <a:r>
              <a:rPr b="1" i="0" lang="en-US" sz="18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# sig tells you: name is str, times is int with default 1, returns str</a:t>
            </a:r>
            <a:endParaRPr b="1" sz="1200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library can use that information to: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Parse incoming JSON and validate it against your expected types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Cast a URL string "42" into an int before passing it to your function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Auto-generate API documentation from the function signatures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Serialize your return value into JSON automatically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is the library that takes this idea as far as it can go.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feature you're about to see is the same trick: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read the function signature, do something useful with it.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FastAPI: Hello World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ebc54ff56_0_31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Library vs Framework</a:t>
            </a:r>
            <a:endParaRPr/>
          </a:p>
        </p:txBody>
      </p:sp>
      <p:sp>
        <p:nvSpPr>
          <p:cNvPr id="165" name="Google Shape;165;g3debc54ff56_0_314"/>
          <p:cNvSpPr txBox="1"/>
          <p:nvPr/>
        </p:nvSpPr>
        <p:spPr>
          <a:xfrm>
            <a:off x="914400" y="1463040"/>
            <a:ext cx="10362900" cy="17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library works within your software. Your software works inside a framework.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entire hello-world app</a:t>
            </a:r>
            <a:endParaRPr/>
          </a:p>
        </p:txBody>
      </p:sp>
      <p:sp>
        <p:nvSpPr>
          <p:cNvPr id="172" name="Google Shape;172;p1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73" name="Google Shape;173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once: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pip install fastapi uvicorn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hello():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{"msg":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run it: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uvicorn app:app --reload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ebc54ff56_0_23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@app.get("/") actually does</a:t>
            </a:r>
            <a:endParaRPr/>
          </a:p>
        </p:txBody>
      </p:sp>
      <p:sp>
        <p:nvSpPr>
          <p:cNvPr id="181" name="Google Shape;181;g3debc54ff56_0_236"/>
          <p:cNvSpPr txBox="1"/>
          <p:nvPr/>
        </p:nvSpPr>
        <p:spPr>
          <a:xfrm>
            <a:off x="914400" y="1463040"/>
            <a:ext cx="103629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`@app.get("/")`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line above the function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decorator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decorator is Python syntax for 'wrap this function with something.'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@app.get("/")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def hello():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</a:t>
            </a: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{"msg": "hi"}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equivalent to: 'take the function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hello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`, and register it with the FastAPI app as the handler for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.'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@app.get("/") actually does</a:t>
            </a:r>
            <a:endParaRPr/>
          </a:p>
        </p:txBody>
      </p:sp>
      <p:sp>
        <p:nvSpPr>
          <p:cNvPr id="188" name="Google Shape;188;p13"/>
          <p:cNvSpPr txBox="1"/>
          <p:nvPr/>
        </p:nvSpPr>
        <p:spPr>
          <a:xfrm>
            <a:off x="914400" y="1463040"/>
            <a:ext cx="10362900" cy="6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`@app.get("/")`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line above the function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decorator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decorator is Python syntax for 'wrap this function with something.'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@app.get("/")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def hello():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</a:t>
            </a: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{"msg": "hi"}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equivalent to: 'take the function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hello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`, and register it with the FastAPI app as the handler for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.'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keeps a table of (method, path) -&gt; function.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When a request comes in, it looks up the handler and calls it.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This is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routing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piece you would have had to write by hand.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Five more decorators you'll use: @app.post, @app.put, @app.patch,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@app.delete, @app.get - one per HTTP verb.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ebc54ff56_0_2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what's uvicorn?</a:t>
            </a:r>
            <a:endParaRPr/>
          </a:p>
        </p:txBody>
      </p:sp>
      <p:sp>
        <p:nvSpPr>
          <p:cNvPr id="195" name="Google Shape;195;g3debc54ff56_0_244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library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defining routes and handling requests.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not actually listen on a network port itself.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uvicorn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separate thing: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ASGI server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the socket-level work we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Clauded on Tuesday’s slide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listens on a port, accepts connections, parses HTTP, calls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 with each request, writes the response bytes back.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what's uvicorn?</a:t>
            </a:r>
            <a:endParaRPr/>
          </a:p>
        </p:txBody>
      </p:sp>
      <p:sp>
        <p:nvSpPr>
          <p:cNvPr id="202" name="Google Shape;202;p14"/>
          <p:cNvSpPr txBox="1"/>
          <p:nvPr/>
        </p:nvSpPr>
        <p:spPr>
          <a:xfrm>
            <a:off x="914400" y="1463040"/>
            <a:ext cx="103629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library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defining routes and handling requests.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not actually listen on a network port itself.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uvicorn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separate thing: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ASGI server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the socket-level work we wrote by hand in Section 1: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listens on a port, accepts connections, parses HTTP, calls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 with each request, writes the response bytes back.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the split?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app code cares about routes, validation, business logic.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uvicorn cares about sockets, HTTP framing, concurrency.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side can be swapped out independently.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ebc54ff56_0_25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what's uvicorn?</a:t>
            </a:r>
            <a:endParaRPr/>
          </a:p>
        </p:txBody>
      </p:sp>
      <p:sp>
        <p:nvSpPr>
          <p:cNvPr id="209" name="Google Shape;209;g3debc54ff56_0_251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library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defining routes and handling requests.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not actually listen on a network port itself.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uvicorn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separate thing: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ASGI server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does the socket-level work we wrote by hand in Section 1: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listens on a port, accepts connections, parses HTTP, calls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 with each request, writes the response bytes back.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uvicorn app:app   --reload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^^^^^^^ ^^^ ^^^   ^^^^^^^^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server  file var  auto-restart on code change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ebc54ff56_0_25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where does `pip install` put things?</a:t>
            </a:r>
            <a:endParaRPr/>
          </a:p>
        </p:txBody>
      </p:sp>
      <p:sp>
        <p:nvSpPr>
          <p:cNvPr id="216" name="Google Shape;216;g3debc54ff56_0_257"/>
          <p:cNvSpPr txBox="1"/>
          <p:nvPr/>
        </p:nvSpPr>
        <p:spPr>
          <a:xfrm>
            <a:off x="914400" y="1463040"/>
            <a:ext cx="103629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run `pip install fastapi`, where does fastapi actually go?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ebc54ff56_0_26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where does `pip install` put things?</a:t>
            </a:r>
            <a:endParaRPr/>
          </a:p>
        </p:txBody>
      </p:sp>
      <p:sp>
        <p:nvSpPr>
          <p:cNvPr id="223" name="Google Shape;223;g3debc54ff56_0_264"/>
          <p:cNvSpPr txBox="1"/>
          <p:nvPr/>
        </p:nvSpPr>
        <p:spPr>
          <a:xfrm>
            <a:off x="914400" y="1463040"/>
            <a:ext cx="1036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run `pip install fastapi`, where does fastapi actually go?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default: into your system Python. All projects share one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giant pile of packages. This is bad.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debc54ff56_0_27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where does `pip install` put things?</a:t>
            </a:r>
            <a:endParaRPr/>
          </a:p>
        </p:txBody>
      </p:sp>
      <p:sp>
        <p:nvSpPr>
          <p:cNvPr id="230" name="Google Shape;230;g3debc54ff56_0_271"/>
          <p:cNvSpPr txBox="1"/>
          <p:nvPr/>
        </p:nvSpPr>
        <p:spPr>
          <a:xfrm>
            <a:off x="914400" y="1463040"/>
            <a:ext cx="10362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run `pip install fastapi`, where does fastapi actually go?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default: into your system Python. All projects share one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giant pile of packages. This is bad.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1" name="Google Shape;231;g3debc54ff56_0_2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175" y="3272775"/>
            <a:ext cx="3306874" cy="342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where does `pip install` put things?</a:t>
            </a:r>
            <a:endParaRPr/>
          </a:p>
        </p:txBody>
      </p:sp>
      <p:sp>
        <p:nvSpPr>
          <p:cNvPr id="238" name="Google Shape;238;p15"/>
          <p:cNvSpPr txBox="1"/>
          <p:nvPr/>
        </p:nvSpPr>
        <p:spPr>
          <a:xfrm>
            <a:off x="914400" y="1463040"/>
            <a:ext cx="10362900" cy="48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run `pip install fastapi`, where does fastapi actually go?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default: into your system Python. All projects share one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giant pile of packages. This is bad.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 have two projects on your laptop: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Project A needs fastapi 0.100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Project B needs fastapi 0.115 (with a different API shape)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Share one system Python and you can only have one version installed.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Whichever one you pinned most recently wins. The other project breaks.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debc54ff56_0_27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Wait, where does `pip install` put things?</a:t>
            </a:r>
            <a:endParaRPr/>
          </a:p>
        </p:txBody>
      </p:sp>
      <p:sp>
        <p:nvSpPr>
          <p:cNvPr id="245" name="Google Shape;245;g3debc54ff56_0_278"/>
          <p:cNvSpPr txBox="1"/>
          <p:nvPr/>
        </p:nvSpPr>
        <p:spPr>
          <a:xfrm>
            <a:off x="914400" y="1463040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run `pip install fastapi`, where does fastapi actually go?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By default: into your system Python. All projects share one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giant pile of packages. This is bad.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Introducing 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virtual environment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A per-project folder that holds its own Python interpreter and its own set of installed packages.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project gets isolation. Each project pins what it needs.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venv + requirements.txt: the standard loop</a:t>
            </a:r>
            <a:endParaRPr/>
          </a:p>
        </p:txBody>
      </p:sp>
      <p:sp>
        <p:nvSpPr>
          <p:cNvPr id="252" name="Google Shape;252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253" name="Google Shape;253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one-time setup per project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cd chat-app/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python3 -m venv venv              # creates ./venv/ folder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source venv/bin/activate          # activates it (prompt changes)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(venv) $ pip install fastapi uvicorn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record exactly what you installed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(venv) $ pip freeze &gt; requirements.txt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requirements.txt is plain text, one package per line: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fastapi==0.115.0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uvicorn==0.30.6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pydantic==2.9.2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later, on a different machine (or for a teammate):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python3 -m venv venv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source venv/bin/activate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(venv) $ pip install -r requirements.txt    # reinstalls everything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What Type Hints Buy You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Path parameters: type-checked for free</a:t>
            </a:r>
            <a:endParaRPr/>
          </a:p>
        </p:txBody>
      </p:sp>
      <p:sp>
        <p:nvSpPr>
          <p:cNvPr id="267" name="Google Shape;267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68" name="Google Shape;268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@app.get("/messages/{id}")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get_message(id: int):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{"id": id, "text": f"message {id}"}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/messages/42  -&gt; {"id": 42, "text": "message 42"}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/messages/hi  -&gt; 422 Unprocessable Entity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                {"detail": [{"msg": "value is not a valid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                              integer", "type": "type_error.integer"}]}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wrote zero validation code. FastAPI read `id: int`,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tried to cast the URL fragment to int, and returned 422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automatically when it couldn't.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Query parameters: same trick</a:t>
            </a:r>
            <a:endParaRPr/>
          </a:p>
        </p:txBody>
      </p:sp>
      <p:sp>
        <p:nvSpPr>
          <p:cNvPr id="276" name="Google Shape;276;p1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77" name="Google Shape;277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limit: int = 20,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channel: str | None = None,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Any argument not in the path becomes a query parameter.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Defaults mean optional. Type hints drive validation.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                           -&gt; limit=20, channel=None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/messages?limit=5                   -&gt; limit=5,  channel=None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/messages?channel=general&amp;limit=50  -&gt; limit=50, channel="general"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/messages?limit=abc                 -&gt; 422 (not an int)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Pydantic: the type hint for a JSON body</a:t>
            </a:r>
            <a:endParaRPr/>
          </a:p>
        </p:txBody>
      </p:sp>
      <p:sp>
        <p:nvSpPr>
          <p:cNvPr id="285" name="Google Shape;285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86" name="Google Shape;286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pydantic import BaseModel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MessageCreate(BaseModel):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author: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post_message(body: MessageCreate):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body.author and body.text are already validated strings.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FastAPI parsed the JSON, checked the shape, and handed us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 typed Python object.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{"id": 1, "author": body.author, "text": body.text}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POST /messages  {"author": "alice", "text":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{"id": 1, "author": "alice", "text":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POST /messages  {"author": "alice"}         # missing text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422 with "text: field required" in the body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0"/>
          <p:cNvSpPr txBox="1"/>
          <p:nvPr/>
        </p:nvSpPr>
        <p:spPr>
          <a:xfrm>
            <a:off x="731520" y="365760"/>
            <a:ext cx="10728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Headers: also just function arguments</a:t>
            </a:r>
            <a:endParaRPr/>
          </a:p>
        </p:txBody>
      </p:sp>
      <p:sp>
        <p:nvSpPr>
          <p:cNvPr id="294" name="Google Shape;294;p20"/>
          <p:cNvSpPr txBox="1"/>
          <p:nvPr/>
        </p:nvSpPr>
        <p:spPr>
          <a:xfrm>
            <a:off x="9601200" y="1188720"/>
            <a:ext cx="1828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95" name="Google Shape;295;p2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0"/>
          <p:cNvSpPr txBox="1"/>
          <p:nvPr/>
        </p:nvSpPr>
        <p:spPr>
          <a:xfrm>
            <a:off x="1005840" y="1645920"/>
            <a:ext cx="101799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Header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post_message(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body: MessageCreate,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x_author: str = Header(),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The `= Header()` marker tells FastAPI: don't look for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this in the path or the query string; look in the request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headers. The argument name is mangled: `x_author` matches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the `X-Author` header. Underscore becomes dash, case is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ignored.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{"author_from_header": x_author, "text": body.text}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curl -X POST http://localhost:8000/messages \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-H "Content-Type: application/json" \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-H "X-Author: alice" \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-d '{"text": "hi"}'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{"author_from_header": "alice", "text":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Missing the header -&gt; 422 automatically.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Constraints: type hints with more metadata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4" name="Google Shape;304;p2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pydantic import BaseModel, Field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MessageCreate(BaseModel):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author: str = Field(min_length=3, max_length=20,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pattern=r"^[a-zA-Z0-9_]+$")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  str = Field(min_length=1, max_length=500)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POST /messages  {"author": "al", "text":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422  "author: String should have at least 3 characters"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POST /messages  {"author": "has spaces", "text": "hi"}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422  "author: String should match pattern ..."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POST /messages  {"author": "alice", "text": ""}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-&gt; 422  "text: String should have at least 1 character"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 plain `str` says 'it's a string.'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`Field(...)` says 'it's a string AND here are the rules.'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Same idea: more metadata on the hint, more validation for free.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Same idea for query parameters: Query()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13" name="Google Shape;313;p2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Query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limit: int = Query(50, ge=1, le=200),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offset: int = Query(0, ge=0),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ge = greater than or equal, le = less than or equal.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Default limit is 50. Clamped to [1, 200]. Default offset 0, no max.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                -&gt; limit=50, offset=0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/messages?limit=10       -&gt; limit=10, offset=0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/messages?limit=0        -&gt; 422 (below ge=1)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/messages?limit=999      -&gt; 422 (above le=200)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GET /messages?offset=-1      -&gt; 422 (below ge=0)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`Field(...)` constrains a Pydantic model field.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`Query(...)` constrains a query parameter.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`Path(...)`, `Header(...)`, `Body(...)` exist too - same pattern.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Returning data: FastAPI handles the JSON</a:t>
            </a:r>
            <a:endParaRPr/>
          </a:p>
        </p:txBody>
      </p:sp>
      <p:sp>
        <p:nvSpPr>
          <p:cNvPr id="321" name="Google Shape;321;p2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22" name="Google Shape;322;p2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MessageOut(BaseModel):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int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author: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timestamp: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@app.get("/messages/{id}", response_model=MessageOut)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get_message(id: int):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You return a dict (or a Pydantic model, or a SQL row...).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FastAPI converts it to JSON based on the response_model hint.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"id": id,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"author": "alice",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"text": "hi",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"timestamp": "2026-04-11T14:22:00Z",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Free interactive docs at /docs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914400" y="1463040"/>
            <a:ext cx="10362900" cy="59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Because FastAPI knows every endpoint's signature, it can generate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interactive documentation page automatically.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Start uvicorn, then visit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http://localhost:8000/docs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browser.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get: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list of every endpoint, grouped by path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request shape (path params, query params, body schema)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response shape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'Try it out' button that sends real requests from the browser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Nobody wrote this doc.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was generated entirely from reading your function signatures.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6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Building the Chat API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Project layout</a:t>
            </a:r>
            <a:endParaRPr/>
          </a:p>
        </p:txBody>
      </p:sp>
      <p:sp>
        <p:nvSpPr>
          <p:cNvPr id="343" name="Google Shape;343;p27"/>
          <p:cNvSpPr txBox="1"/>
          <p:nvPr/>
        </p:nvSpPr>
        <p:spPr>
          <a:xfrm>
            <a:off x="925875" y="1199275"/>
            <a:ext cx="10728600" cy="58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 chat API we'll split the code into three pyt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hon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files plus the 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upporting cast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chat-app/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app.py          FastAPI app and route definitions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db.py           database connection and schema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schemas.py      Pydantic models (request and response shapes)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chat.db         the SQLite file itself (gitignored, created on first run)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requirements.txt    pinned list of packages to install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venv/               the virtual env (gitignored, not committed)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split it up?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app.py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HTTP layer: routes, validation, error handling.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db.py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data layer: how we talk to SQLite.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schemas.py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contract layer: what the API accepts and returns.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Upgrading from sqlite3 to SQLAlchemy</a:t>
            </a:r>
            <a:endParaRPr/>
          </a:p>
        </p:txBody>
      </p:sp>
      <p:sp>
        <p:nvSpPr>
          <p:cNvPr id="350" name="Google Shape;350;p28"/>
          <p:cNvSpPr txBox="1"/>
          <p:nvPr/>
        </p:nvSpPr>
        <p:spPr>
          <a:xfrm>
            <a:off x="914400" y="1108665"/>
            <a:ext cx="10362900" cy="64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we used Python's stdlib `sqlite3` module directly.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conn = sqlite3.connect("chat.db")` and raw `conn.execute(...)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a real web server, we're going to use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SQLAlchemy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instead.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(Just its connection layer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 ORM.)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reasons to switch now: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Connection pooling.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web server handles many requests at once.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Opening and closing a SQLite connection per request is wasteful.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SQLAlchemy keeps a pool of open connections and hands them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Dialect portability.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same code works against SQLite,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Postgres, MySQL, etc. When you move off SQLite later, nothing 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app.py has to change.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Everything else stays the same: `text("SELECT ...")` with bind params.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db.py - connection and schema</a:t>
            </a:r>
            <a:endParaRPr/>
          </a:p>
        </p:txBody>
      </p:sp>
      <p:sp>
        <p:nvSpPr>
          <p:cNvPr id="357" name="Google Shape;357;p2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58" name="Google Shape;358;p2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db.py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sqlalchemy import create_engine, text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engine = create_engine("sqlite:///chat.db")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init_db():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conn.execute(text('''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CREATE TABLE IF NOT EXISTS messages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id        INTEGER PRIMARY KEY AUTOINCREMENT,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author    TEXT NOT NULL,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text      TEXT NOT NULL,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timestamp TEXT NOT NULL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'''))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conn.commit()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if __name__ == "__main__":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init_db()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debc54ff56_0_48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db.py - the data access functions</a:t>
            </a:r>
            <a:endParaRPr/>
          </a:p>
        </p:txBody>
      </p:sp>
      <p:sp>
        <p:nvSpPr>
          <p:cNvPr id="366" name="Google Shape;366;g3debc54ff56_0_48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67" name="Google Shape;367;g3debc54ff56_0_48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g3debc54ff56_0_487"/>
          <p:cNvSpPr txBox="1"/>
          <p:nvPr/>
        </p:nvSpPr>
        <p:spPr>
          <a:xfrm>
            <a:off x="1005840" y="1645920"/>
            <a:ext cx="10179900" cy="41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db.py  (part 2 of 2: queries)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 -&gt; list[dict]: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engine.connect() as conn: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[dict(r) for r in conn.execute(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text("SELECT id, author, text, timestamp FROM messages")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).mappings().all()]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create_message(author: str, content: str) -&gt; dict: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ts = datetime.now(timezone.utc).strftime("%Y-%m-%dT%H:%M:%SZ")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engine.begin() as conn: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conn.execute(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text("INSERT INTO messages (author, text, timestamp) 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"VALUES (:author, :text, :ts)"),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{"author": author, "text": content, "ts": ts})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{"id": r.lastrowid, "author": author,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"text": content, "timestamp": ts}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schemas.py - the contracts</a:t>
            </a:r>
            <a:endParaRPr/>
          </a:p>
        </p:txBody>
      </p:sp>
      <p:sp>
        <p:nvSpPr>
          <p:cNvPr id="375" name="Google Shape;375;p3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76" name="Google Shape;376;p3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schemas.py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pydantic import BaseModel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MessageCreate(BaseModel):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author: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MessageOut(BaseModel):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int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author: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timestamp: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MessageCreate is what clients SEND us (POST body).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MessageOut   is what we send BACK to clients.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These are contracts. The client promises to send a shape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that matches MessageCreate, we promise to return a shape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that matches MessageOut. FastAPI enforces both promises.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debc54ff56_0_32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app.py - the routes</a:t>
            </a:r>
            <a:endParaRPr/>
          </a:p>
        </p:txBody>
      </p:sp>
      <p:sp>
        <p:nvSpPr>
          <p:cNvPr id="384" name="Google Shape;384;g3debc54ff56_0_32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85" name="Google Shape;385;g3debc54ff56_0_32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g3debc54ff56_0_321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fastapi import FastAPI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db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schemas import MessageCreate, MessageOut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app = FastAPI()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@app.get("/api/messages", response_model=list[MessageOut])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list_messages():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db.list_messages()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@app.post("/api/messages", response_model=MessageOut, status_code=201)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create_message(body: MessageCreate):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db.create_message(body.author, body.text)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Notice what's NOT here: no `import sqlalchemy`, no SQL strings, no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datetime. Each handler is one line - call the data layer, return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result. FastAPI handles parsing/validation/serialization,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db.py handles storage, and app.py is just the seam between them.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Running it end to end</a:t>
            </a:r>
            <a:endParaRPr/>
          </a:p>
        </p:txBody>
      </p:sp>
      <p:sp>
        <p:nvSpPr>
          <p:cNvPr id="393" name="Google Shape;393;p3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94" name="Google Shape;394;p3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2"/>
          <p:cNvSpPr txBox="1"/>
          <p:nvPr/>
        </p:nvSpPr>
        <p:spPr>
          <a:xfrm>
            <a:off x="1005840" y="1645920"/>
            <a:ext cx="10179900" cy="44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Terminal 1: start the server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python db.py                    # one-time: create the table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uvicorn app:app --reload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Uvicorn running on http://127.0.0.1:8000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INFO:     Application startup complete.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Terminal 2: hit it with curl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curl http://localhost:8000/api/messages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curl -X POST http://localhost:8000/api/messages \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-H "Content-Type: application/json" \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-d '{"author": "alice", "text": "first!"}'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{"id":1,"author":"alice","text":"first!","timestamp":"2026-04-11T14:22:00Z"}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curl http://localhost:8000/api/messages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[{"id":1,"author":"alice","text":"first!","timestamp":"2026-04-11T14:22:00Z"}]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debc54ff56_0_29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Returning errors the right way</a:t>
            </a:r>
            <a:endParaRPr/>
          </a:p>
        </p:txBody>
      </p:sp>
      <p:sp>
        <p:nvSpPr>
          <p:cNvPr id="402" name="Google Shape;402;g3debc54ff56_0_291"/>
          <p:cNvSpPr txBox="1"/>
          <p:nvPr/>
        </p:nvSpPr>
        <p:spPr>
          <a:xfrm>
            <a:off x="914388" y="1171215"/>
            <a:ext cx="103629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should `DELETE /api/messages/42` do if message 42 doesn't exist?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Returning errors the right way</a:t>
            </a:r>
            <a:endParaRPr/>
          </a:p>
        </p:txBody>
      </p:sp>
      <p:sp>
        <p:nvSpPr>
          <p:cNvPr id="409" name="Google Shape;409;p33"/>
          <p:cNvSpPr txBox="1"/>
          <p:nvPr/>
        </p:nvSpPr>
        <p:spPr>
          <a:xfrm>
            <a:off x="914388" y="1171215"/>
            <a:ext cx="10362900" cy="52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should `DELETE /api/messages/42` do if message 42 doesn't exist?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FastAPI you `raise HTTPException`: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# app.py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from fastapi import HTTPException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@app.delete("/api/messages/{id}")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def delete_message(id: int):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if not db.delete_message(id):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    raise HTTPException(404, "message not found")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return {"deleted": id}</a:t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666677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 catches the exception and turns it into a proper HTTP response.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5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PATCH /api/messages/{id}</a:t>
            </a:r>
            <a:endParaRPr/>
          </a:p>
        </p:txBody>
      </p:sp>
      <p:sp>
        <p:nvSpPr>
          <p:cNvPr id="416" name="Google Shape;416;p35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5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5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schemas.py: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class MessageUpdate(BaseModel):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text: str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app.py: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@app.patch("/api/messages/{id}", response_model=MessageOut)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update_message(id: int, body: MessageUpdate):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db.engine.begin() as conn: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result = conn.execute(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text("UPDATE messages SET text = :text WHERE id = :id"),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{"id": id, "text": body.text},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result.rowcount == 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raise HTTPException(404, "message not found")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row = conn.execute(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text("SELECT id, author, text, timestamp 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"FROM messages WHERE id = :id"),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{"id": id},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).mappings().first()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dict(row)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25" name="Google Shape;425;p36"/>
          <p:cNvSpPr txBox="1"/>
          <p:nvPr/>
        </p:nvSpPr>
        <p:spPr>
          <a:xfrm>
            <a:off x="914388" y="1129515"/>
            <a:ext cx="10362900" cy="50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just happened: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Decorator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route. `</a:t>
            </a: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@app.get("/path")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registers a handler.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Type hints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validation + /docs. Path, query, body, response.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Pydantic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request/response contracts. Shape promises, enforced.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Layering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SQL stays in db.py; app.py is just routes + calls.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uvicorn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actually runs the HTTP server. FastAPI just defines the app.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requirements.txt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-&gt; defining an isolated environment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Assignment 2: take your week-2 chat store and wrap it in a real HTTP API.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GET, POST, DELETE (at minimum),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Proper status codes, Pydantic schemas, HTTPException for errors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Test it with curl before writing any client code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debc54ff56_0_29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32" name="Google Shape;432;g3debc54ff56_0_297"/>
          <p:cNvSpPr txBox="1"/>
          <p:nvPr/>
        </p:nvSpPr>
        <p:spPr>
          <a:xfrm>
            <a:off x="914388" y="1129515"/>
            <a:ext cx="10362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 week (4.x):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this API with pytest.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do you prove your endpoints do what they're supposed to do?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why is writing tests sometimes the thing that reveals the bug?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