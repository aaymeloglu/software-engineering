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Lst>
  <p:sldSz cy="6858000" cx="12191675"/>
  <p:notesSz cx="6858000" cy="9144000"/>
  <p:embeddedFontLst>
    <p:embeddedFont>
      <p:font typeface="Courier Prime"/>
      <p:regular r:id="rId52"/>
      <p:bold r:id="rId53"/>
      <p:italic r:id="rId54"/>
      <p:boldItalic r:id="rId5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6" roundtripDataSignature="AMtx7mjpOW48K/dU4J0H0wmlat5VoJTsA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font" Target="fonts/CourierPrime-regular.fntdata"/><Relationship Id="rId53" Type="http://schemas.openxmlformats.org/officeDocument/2006/relationships/font" Target="fonts/CourierPrime-bold.fntdata"/><Relationship Id="rId54" Type="http://schemas.openxmlformats.org/officeDocument/2006/relationships/font" Target="fonts/CourierPrime-italic.fntdata"/><Relationship Id="rId55" Type="http://schemas.openxmlformats.org/officeDocument/2006/relationships/font" Target="fonts/CourierPrime-boldItalic.fntdata"/><Relationship Id="rId56"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debc54ff56_0_1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g3debc54ff56_0_1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this one live. Every line is doing something a framework would otherwise do for you - no routing beyond an if, no body parsing, no JSON, no error handling, no concurrency at all since it takes one request at a time, and no graceful shutdown. And this is the 'hello world' of web servers.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needed help to write this one.</a:t>
            </a:r>
            <a:endParaRPr/>
          </a:p>
        </p:txBody>
      </p:sp>
      <p:sp>
        <p:nvSpPr>
          <p:cNvPr id="92" name="Google Shape;92;g3debc54ff56_0_1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ebc54ff56_0_1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0" name="Google Shape;100;g3debc54ff56_0_1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slide - they've felt the misery now, so tee up the type hints pivot without actually introducing FastAPI yet.</a:t>
            </a:r>
            <a:endParaRPr/>
          </a:p>
        </p:txBody>
      </p:sp>
      <p:sp>
        <p:nvSpPr>
          <p:cNvPr id="101" name="Google Shape;101;g3debc54ff56_0_1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ebc54ff56_0_1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g3debc54ff56_0_1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Type hints as new material for students. Pitch as 'you've seen these in the wild, here's what they're actually for.'</a:t>
            </a:r>
            <a:endParaRPr/>
          </a:p>
        </p:txBody>
      </p:sp>
      <p:sp>
        <p:nvSpPr>
          <p:cNvPr id="108" name="Google Shape;108;g3debc54ff56_0_1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ebc54ff56_0_49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g3debc54ff56_0_49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 name="Google Shape;114;g3debc54ff56_0_49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debc54ff56_0_2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g3debc54ff56_0_2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 name="Google Shape;121;g3debc54ff56_0_2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debc54ff56_0_1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g3debc54ff56_0_1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g3debc54ff56_0_1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debc54ff56_0_1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g3debc54ff56_0_1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 long as they think type hints are decoration, FastAPI is gonna look like magic. The moment they believe hints are *data* that other code can read, the magic drains out of it and it just looks obvious.</a:t>
            </a:r>
            <a:endParaRPr/>
          </a:p>
        </p:txBody>
      </p:sp>
      <p:sp>
        <p:nvSpPr>
          <p:cNvPr id="135" name="Google Shape;135;g3debc54ff56_0_1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debc54ff56_0_2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g3debc54ff56_0_2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 long as they think type hints are decoration, FastAPI is gonna look like magic. The moment they believe hints are *data* that other code can read, the magic drains out of it and it just looks obvious.</a:t>
            </a:r>
            <a:endParaRPr/>
          </a:p>
        </p:txBody>
      </p:sp>
      <p:sp>
        <p:nvSpPr>
          <p:cNvPr id="142" name="Google Shape;142;g3debc54ff56_0_2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debc54ff56_0_1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g3debc54ff56_0_1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Through-line for the rest of the lecture: everything FastAPI does is 'library reads function signature, does work for you.' Keep pointing back to this slide.</a:t>
            </a:r>
            <a:endParaRPr/>
          </a:p>
        </p:txBody>
      </p:sp>
      <p:sp>
        <p:nvSpPr>
          <p:cNvPr id="149" name="Google Shape;149;g3debc54ff56_0_1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Minimal working app. Keep it tight.</a:t>
            </a:r>
            <a:endParaRPr/>
          </a:p>
        </p:txBody>
      </p:sp>
      <p:sp>
        <p:nvSpPr>
          <p:cNvPr id="156" name="Google Shape;15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debc54ff56_0_3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1" name="Google Shape;161;g3debc54ff56_0_3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2" name="Google Shape;162;g3debc54ff56_0_3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8" name="Google Shape;168;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Compare it to the ugly socket handler from Section 1 - same functionality, GET / returns a thing, in a tiny fraction of the code, with no socket code and no byte parsing and no response construction anywhere in sight. You write a function and say it handles GET /.</a:t>
            </a:r>
            <a:endParaRPr/>
          </a:p>
        </p:txBody>
      </p:sp>
      <p:sp>
        <p:nvSpPr>
          <p:cNvPr id="169" name="Google Shape;169;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debc54ff56_0_2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g3debc54ff56_0_2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Don't try to explain decorators deeply here. Name the concept, show the shape, tie it back to the routing step they saw in the ugly handler, and leave it there.</a:t>
            </a:r>
            <a:endParaRPr/>
          </a:p>
        </p:txBody>
      </p:sp>
      <p:sp>
        <p:nvSpPr>
          <p:cNvPr id="178" name="Google Shape;178;g3debc54ff56_0_2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Don't try to explain decorators deeply here. Name the concept, show the shape, tie it back to the routing step they saw in the ugly handler, and leave it there.</a:t>
            </a:r>
            <a:endParaRPr/>
          </a:p>
        </p:txBody>
      </p:sp>
      <p:sp>
        <p:nvSpPr>
          <p:cNvPr id="185" name="Google Shape;185;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debc54ff56_0_2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g3debc54ff56_0_2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ASGI = Asynchronous Server Gateway Interface, successor to </a:t>
            </a:r>
            <a:br>
              <a:rPr lang="en-US"/>
            </a:br>
            <a:r>
              <a:rPr lang="en-US"/>
              <a:t>WSGI = Web Server Gateway Interface</a:t>
            </a:r>
            <a:endParaRPr/>
          </a:p>
        </p:txBody>
      </p:sp>
      <p:sp>
        <p:nvSpPr>
          <p:cNvPr id="192" name="Google Shape;192;g3debc54ff56_0_2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ASGI = Asynchronous Server Gateway Interface, successor to </a:t>
            </a:r>
            <a:br>
              <a:rPr lang="en-US"/>
            </a:br>
            <a:r>
              <a:rPr lang="en-US"/>
              <a:t>WSGI = Web Server Gateway Interface</a:t>
            </a:r>
            <a:endParaRPr/>
          </a:p>
        </p:txBody>
      </p:sp>
      <p:sp>
        <p:nvSpPr>
          <p:cNvPr id="199" name="Google Shape;199;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debc54ff56_0_25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g3debc54ff56_0_25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ASGI = Asynchronous Server Gateway Interface, successor to </a:t>
            </a:r>
            <a:br>
              <a:rPr lang="en-US"/>
            </a:br>
            <a:r>
              <a:rPr lang="en-US"/>
              <a:t>WSGI = Web Server Gateway Interface</a:t>
            </a:r>
            <a:endParaRPr/>
          </a:p>
        </p:txBody>
      </p:sp>
      <p:sp>
        <p:nvSpPr>
          <p:cNvPr id="206" name="Google Shape;206;g3debc54ff56_0_25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debc54ff56_0_25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g3debc54ff56_0_25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Motivate venvs by the conflict they solve. Students who have been `pip install`ing into system Python until now have been lucky; a venv is how you stop relying on luck.</a:t>
            </a:r>
            <a:endParaRPr/>
          </a:p>
        </p:txBody>
      </p:sp>
      <p:sp>
        <p:nvSpPr>
          <p:cNvPr id="213" name="Google Shape;213;g3debc54ff56_0_25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ebc54ff56_0_26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g3debc54ff56_0_26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Motivate venvs by the conflict they solve. Students who have been `pip install`ing into system Python until now have been lucky; a venv is how you stop relying on luck.</a:t>
            </a:r>
            <a:endParaRPr/>
          </a:p>
        </p:txBody>
      </p:sp>
      <p:sp>
        <p:nvSpPr>
          <p:cNvPr id="220" name="Google Shape;220;g3debc54ff56_0_26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ebc54ff56_0_2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6" name="Google Shape;226;g3debc54ff56_0_2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Motivate venvs by the conflict they solve. Students who have been `pip install`ing into system Python until now have been lucky; a venv is how you stop relying on luck.</a:t>
            </a:r>
            <a:endParaRPr/>
          </a:p>
        </p:txBody>
      </p:sp>
      <p:sp>
        <p:nvSpPr>
          <p:cNvPr id="227" name="Google Shape;227;g3debc54ff56_0_27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4" name="Google Shape;234;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Motivate venvs by the conflict they solve. Students who have been `pip install`ing into system Python until now have been lucky; a venv is how you stop relying on luck.</a:t>
            </a:r>
            <a:endParaRPr/>
          </a:p>
        </p:txBody>
      </p:sp>
      <p:sp>
        <p:nvSpPr>
          <p:cNvPr id="235" name="Google Shape;235;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ebc54ff56_0_27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1" name="Google Shape;241;g3debc54ff56_0_27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Motivate venvs by the conflict they solve. Students who have been `pip install`ing into system Python until now have been lucky; a venv is how you stop relying on luck.</a:t>
            </a:r>
            <a:endParaRPr/>
          </a:p>
        </p:txBody>
      </p:sp>
      <p:sp>
        <p:nvSpPr>
          <p:cNvPr id="242" name="Google Shape;242;g3debc54ff56_0_27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loop. `python3 -m venv venv` creates it, `source venv/bin/activate` turns it on (prompt changes to show the env name), pip installs go into the venv, `pip freeze` captures the pinned state, `pip install -r` recreates it elsewhere. This is the workflow for Assignment 2. In week 7 we'll see how Docker containers formalize the same idea.</a:t>
            </a:r>
            <a:endParaRPr/>
          </a:p>
        </p:txBody>
      </p:sp>
      <p:sp>
        <p:nvSpPr>
          <p:cNvPr id="249" name="Google Shape;249;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Arc C cashes in. Every mechanic on these slides is one more thing FastAPI reads off your function signature.</a:t>
            </a:r>
            <a:endParaRPr/>
          </a:p>
        </p:txBody>
      </p:sp>
      <p:sp>
        <p:nvSpPr>
          <p:cNvPr id="258" name="Google Shape;258;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Point at the `: int` hint and say: 'this is the thing FastAPI is reading.' The 422 error response is generated from that hint alone.</a:t>
            </a:r>
            <a:endParaRPr/>
          </a:p>
        </p:txBody>
      </p:sp>
      <p:sp>
        <p:nvSpPr>
          <p:cNvPr id="264" name="Google Shape;264;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trick as path parameters. Non-path arguments become query parameters. Defaults make them optional. `str | None` is the modern union syntax; works from Python 3.10+.</a:t>
            </a:r>
            <a:endParaRPr/>
          </a:p>
        </p:txBody>
      </p:sp>
      <p:sp>
        <p:nvSpPr>
          <p:cNvPr id="273" name="Google Shape;273;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1" name="Google Shape;281;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Pydantic is the validation engine and FastAPI is just calling it. A Pydantic model is what a type hint looks like when the thing you're describing is a JSON body, and it's the same pattern as the path and query params - FastAPI reads the hint, validates the input, and hands back a 422 on its own when it's wrong. They don't write a line of validation code anywhere.</a:t>
            </a:r>
            <a:endParaRPr/>
          </a:p>
        </p:txBody>
      </p:sp>
      <p:sp>
        <p:nvSpPr>
          <p:cNvPr id="282" name="Google Shape;282;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Headers are another place FastAPI can pull values from, driven by the function signature. The key new idea is the `= Header()` marker, which disambiguates it from a query param (FastAPI's default guess for non-path args). Point out the `x_author` -&gt; `X-Author` name mangling so students aren't surprised. This pattern shows up again in Assignment 2, where you'll read an X-Username header.</a:t>
            </a:r>
            <a:endParaRPr/>
          </a:p>
        </p:txBody>
      </p:sp>
      <p:sp>
        <p:nvSpPr>
          <p:cNvPr id="291" name="Google Shape;291;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`Field()` is how you attach constraints to a Pydantic field. min_length, max_length, and pattern are the three you'll use most often. There are more (ge, le, gt, lt for numbers; default values; aliases). FastAPI is still just reading metadata off the signature and producing a 422 on its own. Conceptually nothing new here, the hints only got richer.</a:t>
            </a:r>
            <a:endParaRPr/>
          </a:p>
        </p:txBody>
      </p:sp>
      <p:sp>
        <p:nvSpPr>
          <p:cNvPr id="300" name="Google Shape;300;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8" name="Google Shape;308;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Query() is the sibling of Field() for query parameters. The three families - Field for body models, Query for query params, Path/Header/Body for the others - all share the same constraint keywords, ge, le, gt, lt, min_length, max_length, pattern, so learning one family gets you the other two for free. This is the validation vocabulary Assignment 2 expects you to use.</a:t>
            </a:r>
            <a:endParaRPr/>
          </a:p>
        </p:txBody>
      </p:sp>
      <p:sp>
        <p:nvSpPr>
          <p:cNvPr id="309" name="Google Shape;309;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`response_model` is the type hint for what comes OUT. It lets FastAPI validate the response, serialize it, and include it in /docs. One more thing the function signature buys you.</a:t>
            </a:r>
            <a:endParaRPr/>
          </a:p>
        </p:txBody>
      </p:sp>
      <p:sp>
        <p:nvSpPr>
          <p:cNvPr id="318" name="Google Shape;318;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6" name="Google Shape;326;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Everything they've seen since the type hints pivot comes off the same thing, which is the function signature, and FastAPI is basically the library that takes that idea as far as it'll go. One source of truth driving validation, serialization, AND the docs.</a:t>
            </a:r>
            <a:br>
              <a:rPr lang="en-US"/>
            </a:br>
            <a:br>
              <a:rPr lang="en-US"/>
            </a:br>
            <a:r>
              <a:rPr lang="en-US"/>
              <a:t/>
            </a:r>
            <a:endParaRPr/>
          </a:p>
          <a:p>
            <a:pPr indent="0" lvl="0" marL="0" rtl="0" algn="l">
              <a:spcBef>
                <a:spcPts val="0"/>
              </a:spcBef>
              <a:spcAft>
                <a:spcPts val="0"/>
              </a:spcAft>
              <a:buNone/>
            </a:pPr>
            <a:r>
              <a:t/>
            </a:r>
            <a:endParaRPr/>
          </a:p>
        </p:txBody>
      </p:sp>
      <p:sp>
        <p:nvSpPr>
          <p:cNvPr id="327" name="Google Shape;327;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3" name="Google Shape;33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Real project layout. This is the content students will mimic for assignment 2.</a:t>
            </a:r>
            <a:endParaRPr/>
          </a:p>
        </p:txBody>
      </p:sp>
      <p:sp>
        <p:nvSpPr>
          <p:cNvPr id="334" name="Google Shape;33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9" name="Google Shape;339;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file has one job, which makes testing and changes easier later.</a:t>
            </a:r>
            <a:endParaRPr/>
          </a:p>
          <a:p>
            <a:pPr indent="0" lvl="0" marL="0" rtl="0" algn="l">
              <a:spcBef>
                <a:spcPts val="0"/>
              </a:spcBef>
              <a:spcAft>
                <a:spcPts val="0"/>
              </a:spcAft>
              <a:buNone/>
            </a:pPr>
            <a:r>
              <a:t/>
            </a:r>
            <a:endParaRPr/>
          </a:p>
        </p:txBody>
      </p:sp>
      <p:sp>
        <p:nvSpPr>
          <p:cNvPr id="340" name="Google Shape;340;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6" name="Google Shape;346;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need to know the switch happened and roughly why, not the internals.</a:t>
            </a:r>
            <a:endParaRPr/>
          </a:p>
        </p:txBody>
      </p:sp>
      <p:sp>
        <p:nvSpPr>
          <p:cNvPr id="347" name="Google Shape;347;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3" name="Google Shape;353;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Familiar shape from 2.2, just with SQLAlchemy in front. The engine is the pool manager. init_db creates the table. Run `python db.py` once to set up the file.</a:t>
            </a:r>
            <a:endParaRPr/>
          </a:p>
        </p:txBody>
      </p:sp>
      <p:sp>
        <p:nvSpPr>
          <p:cNvPr id="354" name="Google Shape;354;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debc54ff56_0_48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2" name="Google Shape;362;g3debc54ff56_0_48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SQL statement lives here. Each function is a thin wrapper over one query. list_messages returns a list of dicts; create_message returns the newly created row; delete_message returns True/False so the route can decide whether to 404. The Python parameter is named `content` to avoid shadowing sqlalchemy.text - the bind param `:text` and the column `text` stay consistent with the schema. Note datetime.now(timezone.utc) instead of utcnow() (deprecated in Python 3.12+).</a:t>
            </a:r>
            <a:endParaRPr/>
          </a:p>
        </p:txBody>
      </p:sp>
      <p:sp>
        <p:nvSpPr>
          <p:cNvPr id="363" name="Google Shape;363;g3debc54ff56_0_48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these as contracts, one for what comes in and one for what goes out. There are two of them rather than one because the input doesn't have an id or a timestamp yet - the server is what assigns those.</a:t>
            </a:r>
            <a:endParaRPr/>
          </a:p>
        </p:txBody>
      </p:sp>
      <p:sp>
        <p:nvSpPr>
          <p:cNvPr id="372" name="Google Shape;372;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debc54ff56_0_3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0" name="Google Shape;380;g3debc54ff56_0_3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app.py is a thin HTTP shell. Each route calls one db.* function and returns the result. Walk through response_model=list[MessageOut] (auto JSON serialization), status_code=201 (override the default 200 for resource creation), and how MessageCreate's validated fields hand directly to db.create_message. And there's no SQL anywhere on this slide, which is deliberate, because the SQL belongs over in db.py.</a:t>
            </a:r>
            <a:endParaRPr/>
          </a:p>
        </p:txBody>
      </p:sp>
      <p:sp>
        <p:nvSpPr>
          <p:cNvPr id="381" name="Google Shape;381;g3debc54ff56_0_3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9" name="Google Shape;389;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Real working session. Run `python db.py` once, start uvicorn, hit it with curl. Empty list, then a POST, then a populated list. This is what assignment 2 will feel like.</a:t>
            </a:r>
            <a:endParaRPr/>
          </a:p>
        </p:txBody>
      </p:sp>
      <p:sp>
        <p:nvSpPr>
          <p:cNvPr id="390" name="Google Shape;390;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g3debc54ff56_0_2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8" name="Google Shape;398;g3debc54ff56_0_29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HTTPException is how you bail out of a handler with a specific status code. FastAPI catches it and builds the response for you. This is the clean replacement for the manual error-building you'd have done in the raw-socket version.</a:t>
            </a:r>
            <a:endParaRPr/>
          </a:p>
        </p:txBody>
      </p:sp>
      <p:sp>
        <p:nvSpPr>
          <p:cNvPr id="399" name="Google Shape;399;g3debc54ff56_0_29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5" name="Google Shape;405;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HTTPException is how you bail out of a handler with a specific status code. FastAPI catches it and builds the response for you. This is the clean replacement for the manual error-building you'd have done in the raw-socket version.</a:t>
            </a:r>
            <a:endParaRPr/>
          </a:p>
        </p:txBody>
      </p:sp>
      <p:sp>
        <p:nvSpPr>
          <p:cNvPr id="406" name="Google Shape;406;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2" name="Google Shape;412;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each blank. MessageUpdate has just one field (text) because PATCH is partial - we're not changing author or timestamp. response_model=MessageOut reuses the existing output schema. The UPDATE uses a bind param for safety. After the update, re-read the row to get the canonical response.</a:t>
            </a:r>
            <a:endParaRPr/>
          </a:p>
        </p:txBody>
      </p:sp>
      <p:sp>
        <p:nvSpPr>
          <p:cNvPr id="413" name="Google Shape;413;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1" name="Google Shape;421;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Summary of the lecture as four design moves, then the assignment pointer, then the forward reference.</a:t>
            </a:r>
            <a:endParaRPr/>
          </a:p>
        </p:txBody>
      </p:sp>
      <p:sp>
        <p:nvSpPr>
          <p:cNvPr id="422" name="Google Shape;422;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debc54ff56_0_29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8" name="Google Shape;428;g3debc54ff56_0_29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Summary of the lecture as four design moves, then the assignment pointer, then the forward reference.</a:t>
            </a:r>
            <a:endParaRPr/>
          </a:p>
        </p:txBody>
      </p:sp>
      <p:sp>
        <p:nvSpPr>
          <p:cNvPr id="429" name="Google Shape;429;g3debc54ff56_0_29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4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4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4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4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4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4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4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4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4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4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4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4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4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4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4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4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4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4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4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4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4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4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4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4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4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4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4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4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4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4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46"/>
          <p:cNvSpPr/>
          <p:nvPr>
            <p:ph idx="2" type="pic"/>
          </p:nvPr>
        </p:nvSpPr>
        <p:spPr>
          <a:xfrm>
            <a:off x="1792288" y="612775"/>
            <a:ext cx="5486400" cy="4114800"/>
          </a:xfrm>
          <a:prstGeom prst="rect">
            <a:avLst/>
          </a:prstGeom>
          <a:noFill/>
          <a:ln>
            <a:noFill/>
          </a:ln>
        </p:spPr>
      </p:sp>
      <p:sp>
        <p:nvSpPr>
          <p:cNvPr id="64" name="Google Shape;64;p4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4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4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4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4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4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4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3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3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3.2</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Building a Web Server with FastAPI</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g3debc54ff56_0_112"/>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working handler, the hard way</a:t>
            </a:r>
            <a:endParaRPr/>
          </a:p>
        </p:txBody>
      </p:sp>
      <p:sp>
        <p:nvSpPr>
          <p:cNvPr id="95" name="Google Shape;95;g3debc54ff56_0_112"/>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96" name="Google Shape;96;g3debc54ff56_0_112"/>
          <p:cNvSpPr/>
          <p:nvPr/>
        </p:nvSpPr>
        <p:spPr>
          <a:xfrm>
            <a:off x="731500" y="960127"/>
            <a:ext cx="10728600" cy="57216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7" name="Google Shape;97;g3debc54ff56_0_112"/>
          <p:cNvSpPr txBox="1"/>
          <p:nvPr/>
        </p:nvSpPr>
        <p:spPr>
          <a:xfrm>
            <a:off x="1005840" y="1142995"/>
            <a:ext cx="10179900" cy="54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import socket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sock = socket.socket()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sock.bind(("127.0.0.1", 8000))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sock.listen()</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while True: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conn, _ = sock.accept()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req = conn.recv(4096).decode()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request line looks like: "GET /ping HTTP/1.1"</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first_line = req.split("\r\n")[0]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method, path, _ = first_line.split(" ")</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if method == "GET" and path == "/ping":</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body = "pong"</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resp =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"HTTP/1.1 200 OK\r\n"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f"Content-Length: {len(body)}\r\n"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"Content-Type: text/plain\r\n"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body</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conn.sendall(resp.encode())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conn.close()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 name="Shape 102"/>
        <p:cNvGrpSpPr/>
        <p:nvPr/>
      </p:nvGrpSpPr>
      <p:grpSpPr>
        <a:xfrm>
          <a:off x="0" y="0"/>
          <a:ext cx="0" cy="0"/>
          <a:chOff x="0" y="0"/>
          <a:chExt cx="0" cy="0"/>
        </a:xfrm>
      </p:grpSpPr>
      <p:sp>
        <p:nvSpPr>
          <p:cNvPr id="103" name="Google Shape;103;g3debc54ff56_0_12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You could keep going...</a:t>
            </a:r>
            <a:endParaRPr/>
          </a:p>
        </p:txBody>
      </p:sp>
      <p:sp>
        <p:nvSpPr>
          <p:cNvPr id="104" name="Google Shape;104;g3debc54ff56_0_120"/>
          <p:cNvSpPr txBox="1"/>
          <p:nvPr/>
        </p:nvSpPr>
        <p:spPr>
          <a:xfrm>
            <a:off x="914388" y="1213415"/>
            <a:ext cx="10362900" cy="5556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That handler only does ONE thing: </a:t>
            </a:r>
            <a:r>
              <a:rPr b="1" i="0" lang="en-US" sz="2400" u="none" cap="none" strike="noStrike">
                <a:solidFill>
                  <a:srgbClr val="333344"/>
                </a:solidFill>
                <a:latin typeface="Courier Prime"/>
                <a:ea typeface="Courier Prime"/>
                <a:cs typeface="Courier Prime"/>
                <a:sym typeface="Courier Prime"/>
              </a:rPr>
              <a:t>GET /ping</a:t>
            </a:r>
            <a:r>
              <a:rPr b="0" i="0" lang="en-US" sz="2400" u="none" cap="none" strike="noStrike">
                <a:solidFill>
                  <a:srgbClr val="333344"/>
                </a:solidFill>
                <a:latin typeface="Calibri"/>
                <a:ea typeface="Calibri"/>
                <a:cs typeface="Calibri"/>
                <a:sym typeface="Calibri"/>
              </a:rPr>
              <a:t> returns </a:t>
            </a:r>
            <a:r>
              <a:rPr b="1" i="0" lang="en-US" sz="2400" u="none" cap="none" strike="noStrike">
                <a:solidFill>
                  <a:srgbClr val="333344"/>
                </a:solidFill>
                <a:latin typeface="Courier Prime"/>
                <a:ea typeface="Courier Prime"/>
                <a:cs typeface="Courier Prime"/>
                <a:sym typeface="Courier Prime"/>
              </a:rPr>
              <a:t>"pong"</a:t>
            </a:r>
            <a:r>
              <a:rPr b="0" i="0" lang="en-US" sz="2400" u="none" cap="none" strike="noStrike">
                <a:solidFill>
                  <a:srgbClr val="333344"/>
                </a:solidFill>
                <a:latin typeface="Calibri"/>
                <a:ea typeface="Calibri"/>
                <a:cs typeface="Calibri"/>
                <a:sym typeface="Calibri"/>
              </a:rPr>
              <a:t>.</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To build a real chat API, you'd need to write, from scratch: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Routing</a:t>
            </a:r>
            <a:r>
              <a:rPr b="0" i="0" lang="en-US" sz="2000" u="none" cap="none" strike="noStrike">
                <a:solidFill>
                  <a:srgbClr val="666677"/>
                </a:solidFill>
                <a:latin typeface="Calibri"/>
                <a:ea typeface="Calibri"/>
                <a:cs typeface="Calibri"/>
                <a:sym typeface="Calibri"/>
              </a:rPr>
              <a:t> - a table mapping (method, path) to functions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Path parameters</a:t>
            </a:r>
            <a:r>
              <a:rPr b="0" i="0" lang="en-US" sz="2000" u="none" cap="none" strike="noStrike">
                <a:solidFill>
                  <a:srgbClr val="666677"/>
                </a:solidFill>
                <a:latin typeface="Calibri"/>
                <a:ea typeface="Calibri"/>
                <a:cs typeface="Calibri"/>
                <a:sym typeface="Calibri"/>
              </a:rPr>
              <a:t> - /messages/42 needs to extract the 42</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Body parsing</a:t>
            </a:r>
            <a:r>
              <a:rPr b="0" i="0" lang="en-US" sz="2000" u="none" cap="none" strike="noStrike">
                <a:solidFill>
                  <a:srgbClr val="666677"/>
                </a:solidFill>
                <a:latin typeface="Calibri"/>
                <a:ea typeface="Calibri"/>
                <a:cs typeface="Calibri"/>
                <a:sym typeface="Calibri"/>
              </a:rPr>
              <a:t> - JSON in, JSON out, with useful errors when it's wrong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Validation</a:t>
            </a:r>
            <a:r>
              <a:rPr b="0" i="0" lang="en-US" sz="2000" u="none" cap="none" strike="noStrike">
                <a:solidFill>
                  <a:srgbClr val="666677"/>
                </a:solidFill>
                <a:latin typeface="Calibri"/>
                <a:ea typeface="Calibri"/>
                <a:cs typeface="Calibri"/>
                <a:sym typeface="Calibri"/>
              </a:rPr>
              <a:t> - is this actually a string? a number in range?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Error handling</a:t>
            </a:r>
            <a:r>
              <a:rPr b="0" i="0" lang="en-US" sz="2000" u="none" cap="none" strike="noStrike">
                <a:solidFill>
                  <a:srgbClr val="666677"/>
                </a:solidFill>
                <a:latin typeface="Calibri"/>
                <a:ea typeface="Calibri"/>
                <a:cs typeface="Calibri"/>
                <a:sym typeface="Calibri"/>
              </a:rPr>
              <a:t> - turn exceptions into proper HTTP responses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Docs</a:t>
            </a:r>
            <a:r>
              <a:rPr b="0" i="0" lang="en-US" sz="2000" u="none" cap="none" strike="noStrike">
                <a:solidFill>
                  <a:srgbClr val="666677"/>
                </a:solidFill>
                <a:latin typeface="Calibri"/>
                <a:ea typeface="Calibri"/>
                <a:cs typeface="Calibri"/>
                <a:sym typeface="Calibri"/>
              </a:rPr>
              <a:t> - so the frontend team knows what endpoints exist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Concurrency</a:t>
            </a:r>
            <a:r>
              <a:rPr b="0" i="0" lang="en-US" sz="2000" u="none" cap="none" strike="noStrike">
                <a:solidFill>
                  <a:srgbClr val="666677"/>
                </a:solidFill>
                <a:latin typeface="Calibri"/>
                <a:ea typeface="Calibri"/>
                <a:cs typeface="Calibri"/>
                <a:sym typeface="Calibri"/>
              </a:rPr>
              <a:t> - handle more than one request at a time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Or you could use a framework that already did all of that.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Today that framework is </a:t>
            </a:r>
            <a:r>
              <a:rPr b="1" i="0" lang="en-US" sz="2000" u="none" cap="none" strike="noStrike">
                <a:solidFill>
                  <a:srgbClr val="666677"/>
                </a:solidFill>
                <a:latin typeface="Calibri"/>
                <a:ea typeface="Calibri"/>
                <a:cs typeface="Calibri"/>
                <a:sym typeface="Calibri"/>
              </a:rPr>
              <a:t>FastAPI</a:t>
            </a:r>
            <a:r>
              <a:rPr b="0" i="0" lang="en-US" sz="2000" u="none" cap="none" strike="noStrike">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09" name="Shape 109"/>
        <p:cNvGrpSpPr/>
        <p:nvPr/>
      </p:nvGrpSpPr>
      <p:grpSpPr>
        <a:xfrm>
          <a:off x="0" y="0"/>
          <a:ext cx="0" cy="0"/>
          <a:chOff x="0" y="0"/>
          <a:chExt cx="0" cy="0"/>
        </a:xfrm>
      </p:grpSpPr>
      <p:sp>
        <p:nvSpPr>
          <p:cNvPr id="110" name="Google Shape;110;g3debc54ff56_0_126"/>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400">
                <a:solidFill>
                  <a:srgbClr val="5B21B6"/>
                </a:solidFill>
                <a:latin typeface="Calibri"/>
                <a:ea typeface="Calibri"/>
                <a:cs typeface="Calibri"/>
                <a:sym typeface="Calibri"/>
              </a:rPr>
              <a:t>But First, a Brief Detour</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 name="Shape 115"/>
        <p:cNvGrpSpPr/>
        <p:nvPr/>
      </p:nvGrpSpPr>
      <p:grpSpPr>
        <a:xfrm>
          <a:off x="0" y="0"/>
          <a:ext cx="0" cy="0"/>
          <a:chOff x="0" y="0"/>
          <a:chExt cx="0" cy="0"/>
        </a:xfrm>
      </p:grpSpPr>
      <p:sp>
        <p:nvSpPr>
          <p:cNvPr id="116" name="Google Shape;116;g3debc54ff56_0_49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Types in Python: a reprisal</a:t>
            </a:r>
            <a:endParaRPr/>
          </a:p>
        </p:txBody>
      </p:sp>
      <p:sp>
        <p:nvSpPr>
          <p:cNvPr id="117" name="Google Shape;117;g3debc54ff56_0_495"/>
          <p:cNvSpPr txBox="1"/>
          <p:nvPr/>
        </p:nvSpPr>
        <p:spPr>
          <a:xfrm>
            <a:off x="914400" y="1463040"/>
            <a:ext cx="10362900" cy="19701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def greet(nam</a:t>
            </a:r>
            <a:r>
              <a:rPr b="1" lang="en-US" sz="2000">
                <a:solidFill>
                  <a:srgbClr val="666677"/>
                </a:solidFill>
                <a:latin typeface="Courier Prime"/>
                <a:ea typeface="Courier Prime"/>
                <a:cs typeface="Courier Prime"/>
                <a:sym typeface="Courier Prime"/>
              </a:rPr>
              <a:t>e</a:t>
            </a:r>
            <a:r>
              <a:rPr b="1" i="0" lang="en-US" sz="2000" u="none" cap="none" strike="noStrike">
                <a:solidFill>
                  <a:srgbClr val="666677"/>
                </a:solidFill>
                <a:latin typeface="Courier Prime"/>
                <a:ea typeface="Courier Prime"/>
                <a:cs typeface="Courier Prime"/>
                <a:sym typeface="Courier Prime"/>
              </a:rPr>
              <a:t>, times):</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return ("hello " + name + " ") * times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g3debc54ff56_0_22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Types in Python: a reprisal</a:t>
            </a:r>
            <a:endParaRPr/>
          </a:p>
        </p:txBody>
      </p:sp>
      <p:sp>
        <p:nvSpPr>
          <p:cNvPr id="124" name="Google Shape;124;g3debc54ff56_0_224"/>
          <p:cNvSpPr txBox="1"/>
          <p:nvPr/>
        </p:nvSpPr>
        <p:spPr>
          <a:xfrm>
            <a:off x="914400" y="1463040"/>
            <a:ext cx="10362900" cy="1970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Modern Python lets you annotate function arguments and return values:</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def greet(name: str, times: int = 1) -&gt; str:</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return ("hello " + name + " ") * times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g3debc54ff56_0_13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Types in Python: a reprisal</a:t>
            </a:r>
            <a:endParaRPr/>
          </a:p>
        </p:txBody>
      </p:sp>
      <p:sp>
        <p:nvSpPr>
          <p:cNvPr id="131" name="Google Shape;131;g3debc54ff56_0_131"/>
          <p:cNvSpPr txBox="1"/>
          <p:nvPr/>
        </p:nvSpPr>
        <p:spPr>
          <a:xfrm>
            <a:off x="914400" y="1463040"/>
            <a:ext cx="10362900" cy="4787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Modern Python lets you annotate function arguments and return values:</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def greet(name: str, times: int = 1) -&gt; str:</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return ("hello " + name + " ") * times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a:t>
            </a:r>
            <a:r>
              <a:rPr b="1" i="0" lang="en-US" sz="2400" u="none" cap="none" strike="noStrike">
                <a:solidFill>
                  <a:srgbClr val="333344"/>
                </a:solidFill>
                <a:latin typeface="Courier Prime"/>
                <a:ea typeface="Courier Prime"/>
                <a:cs typeface="Courier Prime"/>
                <a:sym typeface="Courier Prime"/>
              </a:rPr>
              <a:t>`: str`</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 int`</a:t>
            </a:r>
            <a:r>
              <a:rPr b="0" i="0" lang="en-US" sz="2400" u="none" cap="none" strike="noStrike">
                <a:solidFill>
                  <a:srgbClr val="333344"/>
                </a:solidFill>
                <a:latin typeface="Calibri"/>
                <a:ea typeface="Calibri"/>
                <a:cs typeface="Calibri"/>
                <a:sym typeface="Calibri"/>
              </a:rPr>
              <a:t>, and </a:t>
            </a:r>
            <a:r>
              <a:rPr b="1" i="0" lang="en-US" sz="2400" u="none" cap="none" strike="noStrike">
                <a:solidFill>
                  <a:srgbClr val="333344"/>
                </a:solidFill>
                <a:latin typeface="Courier Prime"/>
                <a:ea typeface="Courier Prime"/>
                <a:cs typeface="Courier Prime"/>
                <a:sym typeface="Courier Prime"/>
              </a:rPr>
              <a:t>`-&gt; str`</a:t>
            </a:r>
            <a:r>
              <a:rPr b="0" i="0" lang="en-US" sz="2400" u="none" cap="none" strike="noStrike">
                <a:solidFill>
                  <a:srgbClr val="333344"/>
                </a:solidFill>
                <a:latin typeface="Calibri"/>
                <a:ea typeface="Calibri"/>
                <a:cs typeface="Calibri"/>
                <a:sym typeface="Calibri"/>
              </a:rPr>
              <a:t> parts are </a:t>
            </a:r>
            <a:r>
              <a:rPr b="1" i="0" lang="en-US" sz="2400" u="none" cap="none" strike="noStrike">
                <a:solidFill>
                  <a:srgbClr val="333344"/>
                </a:solidFill>
                <a:latin typeface="Calibri"/>
                <a:ea typeface="Calibri"/>
                <a:cs typeface="Calibri"/>
                <a:sym typeface="Calibri"/>
              </a:rPr>
              <a:t>type hints</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They describe what the function expects and what it returns.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You'll see them all over modern Python libraries.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FastAPI</a:t>
            </a:r>
            <a:r>
              <a:rPr lang="en-US" sz="2000">
                <a:solidFill>
                  <a:srgbClr val="666677"/>
                </a:solidFill>
                <a:latin typeface="Calibri"/>
                <a:ea typeface="Calibri"/>
                <a:cs typeface="Calibri"/>
                <a:sym typeface="Calibri"/>
              </a:rPr>
              <a:t>,</a:t>
            </a:r>
            <a:r>
              <a:rPr b="0" i="0" lang="en-US" sz="2000" u="none" cap="none" strike="noStrike">
                <a:solidFill>
                  <a:srgbClr val="666677"/>
                </a:solidFill>
                <a:latin typeface="Calibri"/>
                <a:ea typeface="Calibri"/>
                <a:cs typeface="Calibri"/>
                <a:sym typeface="Calibri"/>
              </a:rPr>
              <a:t> Pydantic</a:t>
            </a:r>
            <a:r>
              <a:rPr lang="en-US" sz="2000">
                <a:solidFill>
                  <a:srgbClr val="666677"/>
                </a:solidFill>
                <a:latin typeface="Calibri"/>
                <a:ea typeface="Calibri"/>
                <a:cs typeface="Calibri"/>
                <a:sym typeface="Calibri"/>
              </a:rPr>
              <a:t>, </a:t>
            </a:r>
            <a:r>
              <a:rPr b="0" i="0" lang="en-US" sz="2000" u="none" cap="none" strike="noStrike">
                <a:solidFill>
                  <a:srgbClr val="666677"/>
                </a:solidFill>
                <a:latin typeface="Calibri"/>
                <a:ea typeface="Calibri"/>
                <a:cs typeface="Calibri"/>
                <a:sym typeface="Calibri"/>
              </a:rPr>
              <a:t>SQLAlchemy. The standard library itself.</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 name="Shape 136"/>
        <p:cNvGrpSpPr/>
        <p:nvPr/>
      </p:nvGrpSpPr>
      <p:grpSpPr>
        <a:xfrm>
          <a:off x="0" y="0"/>
          <a:ext cx="0" cy="0"/>
          <a:chOff x="0" y="0"/>
          <a:chExt cx="0" cy="0"/>
        </a:xfrm>
      </p:grpSpPr>
      <p:sp>
        <p:nvSpPr>
          <p:cNvPr id="137" name="Google Shape;137;g3debc54ff56_0_13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Python itself ignores them</a:t>
            </a:r>
            <a:endParaRPr/>
          </a:p>
        </p:txBody>
      </p:sp>
      <p:sp>
        <p:nvSpPr>
          <p:cNvPr id="138" name="Google Shape;138;g3debc54ff56_0_137"/>
          <p:cNvSpPr txBox="1"/>
          <p:nvPr/>
        </p:nvSpPr>
        <p:spPr>
          <a:xfrm>
            <a:off x="583650" y="1463050"/>
            <a:ext cx="11141400" cy="4340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At runtime, Python does NOT enforce type hints.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def greet(name: str) -&gt; str:</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return name.upper()</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1" i="0" sz="2000" u="none" cap="none" strike="noStrike">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greet(42)   # no error from Python itself</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(until .upper() blows up on the int)</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They are </a:t>
            </a:r>
            <a:r>
              <a:rPr b="1" i="0" lang="en-US" sz="2400" u="none" cap="none" strike="noStrike">
                <a:solidFill>
                  <a:srgbClr val="333344"/>
                </a:solidFill>
                <a:latin typeface="Calibri"/>
                <a:ea typeface="Calibri"/>
                <a:cs typeface="Calibri"/>
                <a:sym typeface="Calibri"/>
              </a:rPr>
              <a:t>hints</a:t>
            </a:r>
            <a:r>
              <a:rPr b="0" i="0" lang="en-US" sz="2400" u="none" cap="none" strike="noStrike">
                <a:solidFill>
                  <a:srgbClr val="333344"/>
                </a:solidFill>
                <a:latin typeface="Calibri"/>
                <a:ea typeface="Calibri"/>
                <a:cs typeface="Calibri"/>
                <a:sym typeface="Calibri"/>
              </a:rPr>
              <a:t>, not </a:t>
            </a:r>
            <a:r>
              <a:rPr b="1" i="0" lang="en-US" sz="2400" u="none" cap="none" strike="noStrike">
                <a:solidFill>
                  <a:srgbClr val="333344"/>
                </a:solidFill>
                <a:latin typeface="Calibri"/>
                <a:ea typeface="Calibri"/>
                <a:cs typeface="Calibri"/>
                <a:sym typeface="Calibri"/>
              </a:rPr>
              <a:t>checks</a:t>
            </a:r>
            <a:r>
              <a:rPr b="0" i="0" lang="en-US" sz="2400" u="none" cap="none" strike="noStrike">
                <a:solidFill>
                  <a:srgbClr val="333344"/>
                </a:solidFill>
                <a:latin typeface="Calibri"/>
                <a:ea typeface="Calibri"/>
                <a:cs typeface="Calibri"/>
                <a:sym typeface="Calibri"/>
              </a:rPr>
              <a:t>. Python just stores them as metadata on the function object.</a:t>
            </a:r>
            <a:endParaRPr/>
          </a:p>
          <a:p>
            <a:pPr indent="0" lvl="1" marL="0" marR="0" rtl="0" algn="l">
              <a:spcBef>
                <a:spcPts val="60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 why bother writing them?</a:t>
            </a:r>
            <a:endParaRPr/>
          </a:p>
          <a:p>
            <a:pPr indent="0" lvl="1" marL="457200" marR="0" rtl="0" algn="l">
              <a:spcBef>
                <a:spcPts val="6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sp>
        <p:nvSpPr>
          <p:cNvPr id="144" name="Google Shape;144;g3debc54ff56_0_23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Python itself ignores them</a:t>
            </a:r>
            <a:endParaRPr/>
          </a:p>
        </p:txBody>
      </p:sp>
      <p:sp>
        <p:nvSpPr>
          <p:cNvPr id="145" name="Google Shape;145;g3debc54ff56_0_230"/>
          <p:cNvSpPr txBox="1"/>
          <p:nvPr/>
        </p:nvSpPr>
        <p:spPr>
          <a:xfrm>
            <a:off x="583650" y="1463050"/>
            <a:ext cx="11141400" cy="511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At runtime, Python does NOT enforce type hints.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def greet(name: str) -&gt; str:</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return name.upper()</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1" i="0" sz="2000" u="none" cap="none" strike="noStrike">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greet(42)   # no error from Python itself</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(until .upper() blows up on the int)</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They are </a:t>
            </a:r>
            <a:r>
              <a:rPr b="1" i="0" lang="en-US" sz="2400" u="none" cap="none" strike="noStrike">
                <a:solidFill>
                  <a:srgbClr val="333344"/>
                </a:solidFill>
                <a:latin typeface="Calibri"/>
                <a:ea typeface="Calibri"/>
                <a:cs typeface="Calibri"/>
                <a:sym typeface="Calibri"/>
              </a:rPr>
              <a:t>hints</a:t>
            </a:r>
            <a:r>
              <a:rPr b="0" i="0" lang="en-US" sz="2400" u="none" cap="none" strike="noStrike">
                <a:solidFill>
                  <a:srgbClr val="333344"/>
                </a:solidFill>
                <a:latin typeface="Calibri"/>
                <a:ea typeface="Calibri"/>
                <a:cs typeface="Calibri"/>
                <a:sym typeface="Calibri"/>
              </a:rPr>
              <a:t>, not </a:t>
            </a:r>
            <a:r>
              <a:rPr b="1" i="0" lang="en-US" sz="2400" u="none" cap="none" strike="noStrike">
                <a:solidFill>
                  <a:srgbClr val="333344"/>
                </a:solidFill>
                <a:latin typeface="Calibri"/>
                <a:ea typeface="Calibri"/>
                <a:cs typeface="Calibri"/>
                <a:sym typeface="Calibri"/>
              </a:rPr>
              <a:t>checks</a:t>
            </a:r>
            <a:r>
              <a:rPr b="0" i="0" lang="en-US" sz="2400" u="none" cap="none" strike="noStrike">
                <a:solidFill>
                  <a:srgbClr val="333344"/>
                </a:solidFill>
                <a:latin typeface="Calibri"/>
                <a:ea typeface="Calibri"/>
                <a:cs typeface="Calibri"/>
                <a:sym typeface="Calibri"/>
              </a:rPr>
              <a:t>. Python just stores them as metadata on the function object.</a:t>
            </a:r>
            <a:endParaRPr/>
          </a:p>
          <a:p>
            <a:pPr indent="0" lvl="1" marL="0" marR="0" rtl="0" algn="l">
              <a:spcBef>
                <a:spcPts val="60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 why bother writing them?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Reason 1:</a:t>
            </a:r>
            <a:r>
              <a:rPr b="0" i="0" lang="en-US" sz="2000" u="none" cap="none" strike="noStrike">
                <a:solidFill>
                  <a:srgbClr val="666677"/>
                </a:solidFill>
                <a:latin typeface="Calibri"/>
                <a:ea typeface="Calibri"/>
                <a:cs typeface="Calibri"/>
                <a:sym typeface="Calibri"/>
              </a:rPr>
              <a:t> your editor reads them for autocomplete and warnings.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Reason 2:</a:t>
            </a:r>
            <a:r>
              <a:rPr b="0" i="0" lang="en-US" sz="2000" u="none" cap="none" strike="noStrike">
                <a:solidFill>
                  <a:srgbClr val="666677"/>
                </a:solidFill>
                <a:latin typeface="Calibri"/>
                <a:ea typeface="Calibri"/>
                <a:cs typeface="Calibri"/>
                <a:sym typeface="Calibri"/>
              </a:rPr>
              <a:t> other *libraries* can read them and do real work.</a:t>
            </a:r>
            <a:endParaRPr/>
          </a:p>
          <a:p>
            <a:pPr indent="0" lvl="1" marL="457200" marR="0" rtl="0" algn="l">
              <a:spcBef>
                <a:spcPts val="60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g3debc54ff56_0_14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Libraries can read your type hints at runtime</a:t>
            </a:r>
            <a:endParaRPr/>
          </a:p>
        </p:txBody>
      </p:sp>
      <p:sp>
        <p:nvSpPr>
          <p:cNvPr id="152" name="Google Shape;152;g3debc54ff56_0_143"/>
          <p:cNvSpPr txBox="1"/>
          <p:nvPr/>
        </p:nvSpPr>
        <p:spPr>
          <a:xfrm>
            <a:off x="926300" y="1142150"/>
            <a:ext cx="10626300" cy="5587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Python gives you a way to inspect a function's signature at runtime:</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import inspect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sig = inspect.signature(greet)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r>
              <a:rPr b="1" i="0" lang="en-US" sz="1800" u="none" cap="none" strike="noStrike">
                <a:solidFill>
                  <a:srgbClr val="666677"/>
                </a:solidFill>
                <a:latin typeface="Courier Prime"/>
                <a:ea typeface="Courier Prime"/>
                <a:cs typeface="Courier Prime"/>
                <a:sym typeface="Courier Prime"/>
              </a:rPr>
              <a:t># sig tells you: name is str, times is int with default 1, returns str</a:t>
            </a:r>
            <a:endParaRPr b="1" sz="1200">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library can use that information to: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Parse incoming JSON and validate it against your expected types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Cast a URL string "42" into an int before passing it to your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Auto-generate API documentation from the function signatures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Serialize your return value into JSON automatically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FastAPI is the library that takes this idea as far as it can go.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Every feature you're about to see is the same trick:</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read the function signature, do something useful with it.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57" name="Shape 157"/>
        <p:cNvGrpSpPr/>
        <p:nvPr/>
      </p:nvGrpSpPr>
      <p:grpSpPr>
        <a:xfrm>
          <a:off x="0" y="0"/>
          <a:ext cx="0" cy="0"/>
          <a:chOff x="0" y="0"/>
          <a:chExt cx="0" cy="0"/>
        </a:xfrm>
      </p:grpSpPr>
      <p:sp>
        <p:nvSpPr>
          <p:cNvPr id="158" name="Google Shape;158;p11"/>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FastAPI: Hello World</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 name="Shape 163"/>
        <p:cNvGrpSpPr/>
        <p:nvPr/>
      </p:nvGrpSpPr>
      <p:grpSpPr>
        <a:xfrm>
          <a:off x="0" y="0"/>
          <a:ext cx="0" cy="0"/>
          <a:chOff x="0" y="0"/>
          <a:chExt cx="0" cy="0"/>
        </a:xfrm>
      </p:grpSpPr>
      <p:sp>
        <p:nvSpPr>
          <p:cNvPr id="164" name="Google Shape;164;g3debc54ff56_0_31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Library vs Framework</a:t>
            </a:r>
            <a:endParaRPr/>
          </a:p>
        </p:txBody>
      </p:sp>
      <p:sp>
        <p:nvSpPr>
          <p:cNvPr id="165" name="Google Shape;165;g3debc54ff56_0_314"/>
          <p:cNvSpPr txBox="1"/>
          <p:nvPr/>
        </p:nvSpPr>
        <p:spPr>
          <a:xfrm>
            <a:off x="914400" y="1463040"/>
            <a:ext cx="10362900" cy="17733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Clr>
                <a:schemeClr val="dk1"/>
              </a:buClr>
              <a:buSzPts val="1100"/>
              <a:buFont typeface="Arial"/>
              <a:buNone/>
            </a:pPr>
            <a:r>
              <a:rPr lang="en-US" sz="2400">
                <a:solidFill>
                  <a:srgbClr val="333344"/>
                </a:solidFill>
                <a:latin typeface="Calibri"/>
                <a:ea typeface="Calibri"/>
                <a:cs typeface="Calibri"/>
                <a:sym typeface="Calibri"/>
              </a:rPr>
              <a:t>A library works within your software. Your software works inside a framework.</a:t>
            </a:r>
            <a:endParaRPr sz="2400">
              <a:solidFill>
                <a:srgbClr val="333344"/>
              </a:solidFill>
              <a:latin typeface="Calibri"/>
              <a:ea typeface="Calibri"/>
              <a:cs typeface="Calibri"/>
              <a:sym typeface="Calibri"/>
            </a:endParaRPr>
          </a:p>
          <a:p>
            <a:pPr indent="0" lvl="0" marL="0" rtl="0" algn="l">
              <a:lnSpc>
                <a:spcPct val="115000"/>
              </a:lnSpc>
              <a:spcBef>
                <a:spcPts val="0"/>
              </a:spcBef>
              <a:spcAft>
                <a:spcPts val="0"/>
              </a:spcAft>
              <a:buClr>
                <a:schemeClr val="dk1"/>
              </a:buClr>
              <a:buSzPts val="1100"/>
              <a:buFont typeface="Arial"/>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entire hello-world app</a:t>
            </a:r>
            <a:endParaRPr/>
          </a:p>
        </p:txBody>
      </p:sp>
      <p:sp>
        <p:nvSpPr>
          <p:cNvPr id="172" name="Google Shape;172;p12"/>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173" name="Google Shape;173;p12"/>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 name="Google Shape;174;p12"/>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333344"/>
                </a:solidFill>
                <a:latin typeface="Courier New"/>
                <a:ea typeface="Courier New"/>
                <a:cs typeface="Courier New"/>
                <a:sym typeface="Courier New"/>
              </a:rPr>
              <a:t># install once: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pip install fastapi uvicorn</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app.py</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from fastapi import FastAPI</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app = FastAPI()</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@app.get("/")</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def hello():</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return {"msg": "hi"}</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run it:</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uvicorn app:app --reload</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 name="Shape 179"/>
        <p:cNvGrpSpPr/>
        <p:nvPr/>
      </p:nvGrpSpPr>
      <p:grpSpPr>
        <a:xfrm>
          <a:off x="0" y="0"/>
          <a:ext cx="0" cy="0"/>
          <a:chOff x="0" y="0"/>
          <a:chExt cx="0" cy="0"/>
        </a:xfrm>
      </p:grpSpPr>
      <p:sp>
        <p:nvSpPr>
          <p:cNvPr id="180" name="Google Shape;180;g3debc54ff56_0_23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@app.get("/") actually does</a:t>
            </a:r>
            <a:endParaRPr/>
          </a:p>
        </p:txBody>
      </p:sp>
      <p:sp>
        <p:nvSpPr>
          <p:cNvPr id="181" name="Google Shape;181;g3debc54ff56_0_236"/>
          <p:cNvSpPr txBox="1"/>
          <p:nvPr/>
        </p:nvSpPr>
        <p:spPr>
          <a:xfrm>
            <a:off x="914400" y="1463040"/>
            <a:ext cx="10362900" cy="3971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The </a:t>
            </a:r>
            <a:r>
              <a:rPr b="1" i="0" lang="en-US" sz="2400" u="none" cap="none" strike="noStrike">
                <a:solidFill>
                  <a:srgbClr val="333344"/>
                </a:solidFill>
                <a:latin typeface="Courier Prime"/>
                <a:ea typeface="Courier Prime"/>
                <a:cs typeface="Courier Prime"/>
                <a:sym typeface="Courier Prime"/>
              </a:rPr>
              <a:t>`@app.get("/")`</a:t>
            </a:r>
            <a:r>
              <a:rPr b="0" i="0" lang="en-US" sz="2400" u="none" cap="none" strike="noStrike">
                <a:solidFill>
                  <a:srgbClr val="333344"/>
                </a:solidFill>
                <a:latin typeface="Calibri"/>
                <a:ea typeface="Calibri"/>
                <a:cs typeface="Calibri"/>
                <a:sym typeface="Calibri"/>
              </a:rPr>
              <a:t> line above the function is a </a:t>
            </a:r>
            <a:r>
              <a:rPr b="1" i="0" lang="en-US" sz="2400" u="none" cap="none" strike="noStrike">
                <a:solidFill>
                  <a:srgbClr val="333344"/>
                </a:solidFill>
                <a:latin typeface="Calibri"/>
                <a:ea typeface="Calibri"/>
                <a:cs typeface="Calibri"/>
                <a:sym typeface="Calibri"/>
              </a:rPr>
              <a:t>decorator</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decorator is Python syntax for 'wrap this function with something.'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@app.get("/")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def hello():</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return {"msg": "hi"}</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is equivalent to: 'take the function `</a:t>
            </a:r>
            <a:r>
              <a:rPr b="1" i="0" lang="en-US" sz="2400" u="none" cap="none" strike="noStrike">
                <a:solidFill>
                  <a:srgbClr val="333344"/>
                </a:solidFill>
                <a:latin typeface="Courier Prime"/>
                <a:ea typeface="Courier Prime"/>
                <a:cs typeface="Courier Prime"/>
                <a:sym typeface="Courier Prime"/>
              </a:rPr>
              <a:t>hello</a:t>
            </a:r>
            <a:r>
              <a:rPr b="0" i="0" lang="en-US" sz="2400" u="none" cap="none" strike="noStrike">
                <a:solidFill>
                  <a:srgbClr val="333344"/>
                </a:solidFill>
                <a:latin typeface="Calibri"/>
                <a:ea typeface="Calibri"/>
                <a:cs typeface="Calibri"/>
                <a:sym typeface="Calibri"/>
              </a:rPr>
              <a:t>`, and register it with the FastAPI app as the handler for </a:t>
            </a:r>
            <a:r>
              <a:rPr b="1" i="0" lang="en-US" sz="2400" u="none" cap="none" strike="noStrike">
                <a:solidFill>
                  <a:srgbClr val="333344"/>
                </a:solidFill>
                <a:latin typeface="Courier Prime"/>
                <a:ea typeface="Courier Prime"/>
                <a:cs typeface="Courier Prime"/>
                <a:sym typeface="Courier Prime"/>
              </a:rPr>
              <a:t>GET /</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@app.get("/") actually does</a:t>
            </a:r>
            <a:endParaRPr/>
          </a:p>
        </p:txBody>
      </p:sp>
      <p:sp>
        <p:nvSpPr>
          <p:cNvPr id="188" name="Google Shape;188;p13"/>
          <p:cNvSpPr txBox="1"/>
          <p:nvPr/>
        </p:nvSpPr>
        <p:spPr>
          <a:xfrm>
            <a:off x="914400" y="1463040"/>
            <a:ext cx="10362900" cy="640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The </a:t>
            </a:r>
            <a:r>
              <a:rPr b="1" i="0" lang="en-US" sz="2400" u="none" cap="none" strike="noStrike">
                <a:solidFill>
                  <a:srgbClr val="333344"/>
                </a:solidFill>
                <a:latin typeface="Courier Prime"/>
                <a:ea typeface="Courier Prime"/>
                <a:cs typeface="Courier Prime"/>
                <a:sym typeface="Courier Prime"/>
              </a:rPr>
              <a:t>`@app.get("/")`</a:t>
            </a:r>
            <a:r>
              <a:rPr b="0" i="0" lang="en-US" sz="2400" u="none" cap="none" strike="noStrike">
                <a:solidFill>
                  <a:srgbClr val="333344"/>
                </a:solidFill>
                <a:latin typeface="Calibri"/>
                <a:ea typeface="Calibri"/>
                <a:cs typeface="Calibri"/>
                <a:sym typeface="Calibri"/>
              </a:rPr>
              <a:t> line above the function is a </a:t>
            </a:r>
            <a:r>
              <a:rPr b="1" i="0" lang="en-US" sz="2400" u="none" cap="none" strike="noStrike">
                <a:solidFill>
                  <a:srgbClr val="333344"/>
                </a:solidFill>
                <a:latin typeface="Calibri"/>
                <a:ea typeface="Calibri"/>
                <a:cs typeface="Calibri"/>
                <a:sym typeface="Calibri"/>
              </a:rPr>
              <a:t>decorator</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decorator is Python syntax for 'wrap this function with something.'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@app.get("/")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def hello():</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return {"msg": "hi"}</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is equivalent to: 'take the function `</a:t>
            </a:r>
            <a:r>
              <a:rPr b="1" i="0" lang="en-US" sz="2400" u="none" cap="none" strike="noStrike">
                <a:solidFill>
                  <a:srgbClr val="333344"/>
                </a:solidFill>
                <a:latin typeface="Courier Prime"/>
                <a:ea typeface="Courier Prime"/>
                <a:cs typeface="Courier Prime"/>
                <a:sym typeface="Courier Prime"/>
              </a:rPr>
              <a:t>hello</a:t>
            </a:r>
            <a:r>
              <a:rPr b="0" i="0" lang="en-US" sz="2400" u="none" cap="none" strike="noStrike">
                <a:solidFill>
                  <a:srgbClr val="333344"/>
                </a:solidFill>
                <a:latin typeface="Calibri"/>
                <a:ea typeface="Calibri"/>
                <a:cs typeface="Calibri"/>
                <a:sym typeface="Calibri"/>
              </a:rPr>
              <a:t>`, and register it with the FastAPI app as the handler for </a:t>
            </a:r>
            <a:r>
              <a:rPr b="1" i="0" lang="en-US" sz="2400" u="none" cap="none" strike="noStrike">
                <a:solidFill>
                  <a:srgbClr val="333344"/>
                </a:solidFill>
                <a:latin typeface="Courier Prime"/>
                <a:ea typeface="Courier Prime"/>
                <a:cs typeface="Courier Prime"/>
                <a:sym typeface="Courier Prime"/>
              </a:rPr>
              <a:t>GET /</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FastAPI keeps a table of (method, path) -&gt;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When a request comes in, it looks up the handler and calls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This is the </a:t>
            </a:r>
            <a:r>
              <a:rPr b="1" i="0" lang="en-US" sz="2000" u="none" cap="none" strike="noStrike">
                <a:solidFill>
                  <a:srgbClr val="666677"/>
                </a:solidFill>
                <a:latin typeface="Calibri"/>
                <a:ea typeface="Calibri"/>
                <a:cs typeface="Calibri"/>
                <a:sym typeface="Calibri"/>
              </a:rPr>
              <a:t>routing</a:t>
            </a:r>
            <a:r>
              <a:rPr b="0" i="0" lang="en-US" sz="2000" u="none" cap="none" strike="noStrike">
                <a:solidFill>
                  <a:srgbClr val="666677"/>
                </a:solidFill>
                <a:latin typeface="Calibri"/>
                <a:ea typeface="Calibri"/>
                <a:cs typeface="Calibri"/>
                <a:sym typeface="Calibri"/>
              </a:rPr>
              <a:t> piece you would have had to write by hand.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Five more decorators you'll use: @app.post, @app.put, @app.patch,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@app.delete, @app.get - one per HTTP verb.</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g3debc54ff56_0_24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Wait, what's uvicorn?</a:t>
            </a:r>
            <a:endParaRPr/>
          </a:p>
        </p:txBody>
      </p:sp>
      <p:sp>
        <p:nvSpPr>
          <p:cNvPr id="195" name="Google Shape;195;g3debc54ff56_0_244"/>
          <p:cNvSpPr txBox="1"/>
          <p:nvPr/>
        </p:nvSpPr>
        <p:spPr>
          <a:xfrm>
            <a:off x="914400" y="1463040"/>
            <a:ext cx="10362900" cy="3124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FastAPI is a </a:t>
            </a:r>
            <a:r>
              <a:rPr b="1" i="0" lang="en-US" sz="2400" u="none" cap="none" strike="noStrike">
                <a:solidFill>
                  <a:srgbClr val="333344"/>
                </a:solidFill>
                <a:latin typeface="Calibri"/>
                <a:ea typeface="Calibri"/>
                <a:cs typeface="Calibri"/>
                <a:sym typeface="Calibri"/>
              </a:rPr>
              <a:t>library</a:t>
            </a:r>
            <a:r>
              <a:rPr b="0" i="0" lang="en-US" sz="2400" u="none" cap="none" strike="noStrike">
                <a:solidFill>
                  <a:srgbClr val="333344"/>
                </a:solidFill>
                <a:latin typeface="Calibri"/>
                <a:ea typeface="Calibri"/>
                <a:cs typeface="Calibri"/>
                <a:sym typeface="Calibri"/>
              </a:rPr>
              <a:t> for defining routes and handling requests.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does not actually listen on a network port itself.</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uvicorn</a:t>
            </a:r>
            <a:r>
              <a:rPr b="0" i="0" lang="en-US" sz="2400" u="none" cap="none" strike="noStrike">
                <a:solidFill>
                  <a:srgbClr val="333344"/>
                </a:solidFill>
                <a:latin typeface="Calibri"/>
                <a:ea typeface="Calibri"/>
                <a:cs typeface="Calibri"/>
                <a:sym typeface="Calibri"/>
              </a:rPr>
              <a:t> is a separate thing: an </a:t>
            </a:r>
            <a:r>
              <a:rPr b="1" i="0" lang="en-US" sz="2400" u="none" cap="none" strike="noStrike">
                <a:solidFill>
                  <a:srgbClr val="333344"/>
                </a:solidFill>
                <a:latin typeface="Calibri"/>
                <a:ea typeface="Calibri"/>
                <a:cs typeface="Calibri"/>
                <a:sym typeface="Calibri"/>
              </a:rPr>
              <a:t>ASGI server</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does the socket-level work we </a:t>
            </a:r>
            <a:r>
              <a:rPr lang="en-US" sz="2000">
                <a:solidFill>
                  <a:srgbClr val="666677"/>
                </a:solidFill>
                <a:latin typeface="Calibri"/>
                <a:ea typeface="Calibri"/>
                <a:cs typeface="Calibri"/>
                <a:sym typeface="Calibri"/>
              </a:rPr>
              <a:t>Clauded on Tuesday’s slide</a:t>
            </a:r>
            <a:r>
              <a:rPr b="0" i="0" lang="en-US" sz="2000" u="none" cap="none" strike="noStrike">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listens on a port, accepts connections, parses HTTP, calls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FastAPI with each request, writes the response bytes back.</a:t>
            </a:r>
            <a:endParaRPr/>
          </a:p>
          <a:p>
            <a:pPr indent="0" lvl="1" marL="457200" marR="0" rtl="0" algn="l">
              <a:spcBef>
                <a:spcPts val="60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1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Wait, what's uvicorn?</a:t>
            </a:r>
            <a:endParaRPr/>
          </a:p>
        </p:txBody>
      </p:sp>
      <p:sp>
        <p:nvSpPr>
          <p:cNvPr id="202" name="Google Shape;202;p14"/>
          <p:cNvSpPr txBox="1"/>
          <p:nvPr/>
        </p:nvSpPr>
        <p:spPr>
          <a:xfrm>
            <a:off x="914400" y="1463040"/>
            <a:ext cx="10362900" cy="511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FastAPI is a </a:t>
            </a:r>
            <a:r>
              <a:rPr b="1" i="0" lang="en-US" sz="2400" u="none" cap="none" strike="noStrike">
                <a:solidFill>
                  <a:srgbClr val="333344"/>
                </a:solidFill>
                <a:latin typeface="Calibri"/>
                <a:ea typeface="Calibri"/>
                <a:cs typeface="Calibri"/>
                <a:sym typeface="Calibri"/>
              </a:rPr>
              <a:t>library</a:t>
            </a:r>
            <a:r>
              <a:rPr b="0" i="0" lang="en-US" sz="2400" u="none" cap="none" strike="noStrike">
                <a:solidFill>
                  <a:srgbClr val="333344"/>
                </a:solidFill>
                <a:latin typeface="Calibri"/>
                <a:ea typeface="Calibri"/>
                <a:cs typeface="Calibri"/>
                <a:sym typeface="Calibri"/>
              </a:rPr>
              <a:t> for defining routes and handling requests.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does not actually listen on a network port itself.</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uvicorn</a:t>
            </a:r>
            <a:r>
              <a:rPr b="0" i="0" lang="en-US" sz="2400" u="none" cap="none" strike="noStrike">
                <a:solidFill>
                  <a:srgbClr val="333344"/>
                </a:solidFill>
                <a:latin typeface="Calibri"/>
                <a:ea typeface="Calibri"/>
                <a:cs typeface="Calibri"/>
                <a:sym typeface="Calibri"/>
              </a:rPr>
              <a:t> is a separate thing: an </a:t>
            </a:r>
            <a:r>
              <a:rPr b="1" i="0" lang="en-US" sz="2400" u="none" cap="none" strike="noStrike">
                <a:solidFill>
                  <a:srgbClr val="333344"/>
                </a:solidFill>
                <a:latin typeface="Calibri"/>
                <a:ea typeface="Calibri"/>
                <a:cs typeface="Calibri"/>
                <a:sym typeface="Calibri"/>
              </a:rPr>
              <a:t>ASGI server</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does the socket-level work we wrote by hand in Section 1:</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listens on a port, accepts connections, parses HTTP, calls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FastAPI with each request, writes the response bytes back.</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Why the split?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Your app code cares about routes, validation, business logic.</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uvicorn cares about sockets, HTTP framing, concurrency.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Each side can be swapped out independently.</a:t>
            </a:r>
            <a:endParaRPr/>
          </a:p>
          <a:p>
            <a:pPr indent="0" lvl="1" marL="457200" marR="0" rtl="0" algn="l">
              <a:spcBef>
                <a:spcPts val="60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sp>
        <p:nvSpPr>
          <p:cNvPr id="208" name="Google Shape;208;g3debc54ff56_0_25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Wait, what's uvicorn?</a:t>
            </a:r>
            <a:endParaRPr/>
          </a:p>
        </p:txBody>
      </p:sp>
      <p:sp>
        <p:nvSpPr>
          <p:cNvPr id="209" name="Google Shape;209;g3debc54ff56_0_251"/>
          <p:cNvSpPr txBox="1"/>
          <p:nvPr/>
        </p:nvSpPr>
        <p:spPr>
          <a:xfrm>
            <a:off x="914400" y="1463040"/>
            <a:ext cx="10362900" cy="4371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FastAPI is a </a:t>
            </a:r>
            <a:r>
              <a:rPr b="1" i="0" lang="en-US" sz="2400" u="none" cap="none" strike="noStrike">
                <a:solidFill>
                  <a:srgbClr val="333344"/>
                </a:solidFill>
                <a:latin typeface="Calibri"/>
                <a:ea typeface="Calibri"/>
                <a:cs typeface="Calibri"/>
                <a:sym typeface="Calibri"/>
              </a:rPr>
              <a:t>library</a:t>
            </a:r>
            <a:r>
              <a:rPr b="0" i="0" lang="en-US" sz="2400" u="none" cap="none" strike="noStrike">
                <a:solidFill>
                  <a:srgbClr val="333344"/>
                </a:solidFill>
                <a:latin typeface="Calibri"/>
                <a:ea typeface="Calibri"/>
                <a:cs typeface="Calibri"/>
                <a:sym typeface="Calibri"/>
              </a:rPr>
              <a:t> for defining routes and handling requests.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does not actually listen on a network port itself.</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uvicorn</a:t>
            </a:r>
            <a:r>
              <a:rPr b="0" i="0" lang="en-US" sz="2400" u="none" cap="none" strike="noStrike">
                <a:solidFill>
                  <a:srgbClr val="333344"/>
                </a:solidFill>
                <a:latin typeface="Calibri"/>
                <a:ea typeface="Calibri"/>
                <a:cs typeface="Calibri"/>
                <a:sym typeface="Calibri"/>
              </a:rPr>
              <a:t> is a separate thing: an </a:t>
            </a:r>
            <a:r>
              <a:rPr b="1" i="0" lang="en-US" sz="2400" u="none" cap="none" strike="noStrike">
                <a:solidFill>
                  <a:srgbClr val="333344"/>
                </a:solidFill>
                <a:latin typeface="Calibri"/>
                <a:ea typeface="Calibri"/>
                <a:cs typeface="Calibri"/>
                <a:sym typeface="Calibri"/>
              </a:rPr>
              <a:t>ASGI server</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does the socket-level work we wrote by hand in Section 1:</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listens on a port, accepts connections, parses HTTP, calls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FastAPI with each request, writes the response bytes back.</a:t>
            </a:r>
            <a:endParaRPr/>
          </a:p>
          <a:p>
            <a:pPr indent="0" lvl="0" marL="0" marR="0" rtl="0" algn="l">
              <a:spcBef>
                <a:spcPts val="600"/>
              </a:spcBef>
              <a:spcAft>
                <a:spcPts val="0"/>
              </a:spcAft>
              <a:buNone/>
            </a:pPr>
            <a:r>
              <a:t/>
            </a:r>
            <a:endParaRPr b="1" i="0" sz="2000" u="none" cap="none" strike="noStrike">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uvicorn app:app   --reload</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 ^^^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server  file var  auto-restart on code change</a:t>
            </a:r>
            <a:endParaRPr b="1">
              <a:latin typeface="Courier Prime"/>
              <a:ea typeface="Courier Prime"/>
              <a:cs typeface="Courier Prime"/>
              <a:sym typeface="Courier Prime"/>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 name="Shape 214"/>
        <p:cNvGrpSpPr/>
        <p:nvPr/>
      </p:nvGrpSpPr>
      <p:grpSpPr>
        <a:xfrm>
          <a:off x="0" y="0"/>
          <a:ext cx="0" cy="0"/>
          <a:chOff x="0" y="0"/>
          <a:chExt cx="0" cy="0"/>
        </a:xfrm>
      </p:grpSpPr>
      <p:sp>
        <p:nvSpPr>
          <p:cNvPr id="215" name="Google Shape;215;g3debc54ff56_0_25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Wait, where does `pip install` put things?</a:t>
            </a:r>
            <a:endParaRPr/>
          </a:p>
        </p:txBody>
      </p:sp>
      <p:sp>
        <p:nvSpPr>
          <p:cNvPr id="216" name="Google Shape;216;g3debc54ff56_0_257"/>
          <p:cNvSpPr txBox="1"/>
          <p:nvPr/>
        </p:nvSpPr>
        <p:spPr>
          <a:xfrm>
            <a:off x="914400" y="1463040"/>
            <a:ext cx="10362900" cy="754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When you run `pip install fastapi`, where does fastapi actually go?</a:t>
            </a:r>
            <a:endParaRPr/>
          </a:p>
          <a:p>
            <a:pPr indent="0" lvl="1" marL="457200" marR="0" rtl="0" algn="l">
              <a:spcBef>
                <a:spcPts val="600"/>
              </a:spcBef>
              <a:spcAft>
                <a:spcPts val="0"/>
              </a:spcAft>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sp>
        <p:nvSpPr>
          <p:cNvPr id="222" name="Google Shape;222;g3debc54ff56_0_26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Wait, where does `pip install` put things?</a:t>
            </a:r>
            <a:endParaRPr/>
          </a:p>
        </p:txBody>
      </p:sp>
      <p:sp>
        <p:nvSpPr>
          <p:cNvPr id="223" name="Google Shape;223;g3debc54ff56_0_264"/>
          <p:cNvSpPr txBox="1"/>
          <p:nvPr/>
        </p:nvSpPr>
        <p:spPr>
          <a:xfrm>
            <a:off x="914400" y="1463040"/>
            <a:ext cx="10362900" cy="203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When you run `pip install fastapi`, where does fastapi actually go?</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By default: into your system Python. All projects share one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giant pile of packages. This is bad.</a:t>
            </a:r>
            <a:endParaRPr/>
          </a:p>
          <a:p>
            <a:pPr indent="0" lvl="1" marL="457200" marR="0" rtl="0" algn="l">
              <a:spcBef>
                <a:spcPts val="600"/>
              </a:spcBef>
              <a:spcAft>
                <a:spcPts val="0"/>
              </a:spcAft>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 name="Shape 228"/>
        <p:cNvGrpSpPr/>
        <p:nvPr/>
      </p:nvGrpSpPr>
      <p:grpSpPr>
        <a:xfrm>
          <a:off x="0" y="0"/>
          <a:ext cx="0" cy="0"/>
          <a:chOff x="0" y="0"/>
          <a:chExt cx="0" cy="0"/>
        </a:xfrm>
      </p:grpSpPr>
      <p:sp>
        <p:nvSpPr>
          <p:cNvPr id="229" name="Google Shape;229;g3debc54ff56_0_27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Wait, where does `pip install` put things?</a:t>
            </a:r>
            <a:endParaRPr/>
          </a:p>
        </p:txBody>
      </p:sp>
      <p:sp>
        <p:nvSpPr>
          <p:cNvPr id="230" name="Google Shape;230;g3debc54ff56_0_271"/>
          <p:cNvSpPr txBox="1"/>
          <p:nvPr/>
        </p:nvSpPr>
        <p:spPr>
          <a:xfrm>
            <a:off x="914400" y="1463040"/>
            <a:ext cx="10362900" cy="203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When you run `pip install fastapi`, where does fastapi actually go?</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By default: into your system Python. All projects share one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giant pile of packages. This is bad.</a:t>
            </a:r>
            <a:endParaRPr/>
          </a:p>
          <a:p>
            <a:pPr indent="0" lvl="1" marL="457200" marR="0" rtl="0" algn="l">
              <a:spcBef>
                <a:spcPts val="600"/>
              </a:spcBef>
              <a:spcAft>
                <a:spcPts val="0"/>
              </a:spcAft>
              <a:buNone/>
            </a:pPr>
            <a:r>
              <a:t/>
            </a:r>
            <a:endParaRPr/>
          </a:p>
        </p:txBody>
      </p:sp>
      <p:pic>
        <p:nvPicPr>
          <p:cNvPr id="231" name="Google Shape;231;g3debc54ff56_0_271"/>
          <p:cNvPicPr preferRelativeResize="0"/>
          <p:nvPr/>
        </p:nvPicPr>
        <p:blipFill>
          <a:blip r:embed="rId3">
            <a:alphaModFix/>
          </a:blip>
          <a:stretch>
            <a:fillRect/>
          </a:stretch>
        </p:blipFill>
        <p:spPr>
          <a:xfrm>
            <a:off x="2866175" y="3272775"/>
            <a:ext cx="3306874" cy="34289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1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Wait, where does `pip install` put things?</a:t>
            </a:r>
            <a:endParaRPr/>
          </a:p>
        </p:txBody>
      </p:sp>
      <p:sp>
        <p:nvSpPr>
          <p:cNvPr id="238" name="Google Shape;238;p15"/>
          <p:cNvSpPr txBox="1"/>
          <p:nvPr/>
        </p:nvSpPr>
        <p:spPr>
          <a:xfrm>
            <a:off x="914400" y="1463040"/>
            <a:ext cx="10362900" cy="484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When you run `pip install fastapi`, where does fastapi actually go?</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By default: into your system Python. All projects share one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giant pile of packages. This is bad.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Imagine you have two projects on your laptop: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Project A needs fastapi 0.100</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Project B needs fastapi 0.115 (with a different API shape)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Share one system Python and you can only have one version installed.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Whichever one you pinned most recently wins. The other project breaks.</a:t>
            </a:r>
            <a:endParaRPr/>
          </a:p>
          <a:p>
            <a:pPr indent="0" lvl="1" marL="457200" marR="0" rtl="0" algn="l">
              <a:spcBef>
                <a:spcPts val="600"/>
              </a:spcBef>
              <a:spcAft>
                <a:spcPts val="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 name="Shape 243"/>
        <p:cNvGrpSpPr/>
        <p:nvPr/>
      </p:nvGrpSpPr>
      <p:grpSpPr>
        <a:xfrm>
          <a:off x="0" y="0"/>
          <a:ext cx="0" cy="0"/>
          <a:chOff x="0" y="0"/>
          <a:chExt cx="0" cy="0"/>
        </a:xfrm>
      </p:grpSpPr>
      <p:sp>
        <p:nvSpPr>
          <p:cNvPr id="244" name="Google Shape;244;g3debc54ff56_0_278"/>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Wait, where does `pip install` put things?</a:t>
            </a:r>
            <a:endParaRPr/>
          </a:p>
        </p:txBody>
      </p:sp>
      <p:sp>
        <p:nvSpPr>
          <p:cNvPr id="245" name="Google Shape;245;g3debc54ff56_0_278"/>
          <p:cNvSpPr txBox="1"/>
          <p:nvPr/>
        </p:nvSpPr>
        <p:spPr>
          <a:xfrm>
            <a:off x="914400" y="1463040"/>
            <a:ext cx="10362900" cy="504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When you run `pip install fastapi`, where does fastapi actually go?</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By default: into your system Python. All projects share one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giant pile of packages. This is bad.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Introducing </a:t>
            </a:r>
            <a:r>
              <a:rPr b="0" i="0" lang="en-US" sz="2400" u="none" cap="none" strike="noStrike">
                <a:solidFill>
                  <a:srgbClr val="333344"/>
                </a:solidFill>
                <a:latin typeface="Calibri"/>
                <a:ea typeface="Calibri"/>
                <a:cs typeface="Calibri"/>
                <a:sym typeface="Calibri"/>
              </a:rPr>
              <a:t>a </a:t>
            </a:r>
            <a:r>
              <a:rPr b="1" i="0" lang="en-US" sz="2400" u="none" cap="none" strike="noStrike">
                <a:solidFill>
                  <a:srgbClr val="333344"/>
                </a:solidFill>
                <a:latin typeface="Calibri"/>
                <a:ea typeface="Calibri"/>
                <a:cs typeface="Calibri"/>
                <a:sym typeface="Calibri"/>
              </a:rPr>
              <a:t>virtual environment</a:t>
            </a:r>
            <a:r>
              <a:rPr b="0" i="0" lang="en-US" sz="2400" u="none" cap="none" strike="noStrike">
                <a:solidFill>
                  <a:srgbClr val="333344"/>
                </a:solidFill>
                <a:latin typeface="Calibri"/>
                <a:ea typeface="Calibri"/>
                <a:cs typeface="Calibri"/>
                <a:sym typeface="Calibri"/>
              </a:rPr>
              <a:t>. A per-project folder that holds its own Python interpreter and its own set of installed packages.</a:t>
            </a:r>
            <a:r>
              <a:rPr lang="en-US" sz="2400">
                <a:solidFill>
                  <a:srgbClr val="333344"/>
                </a:solidFill>
                <a:latin typeface="Calibri"/>
                <a:ea typeface="Calibri"/>
                <a:cs typeface="Calibri"/>
                <a:sym typeface="Calibri"/>
              </a:rPr>
              <a:t>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Each project gets isolation. Each project pins what it needs.</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 name="Shape 250"/>
        <p:cNvGrpSpPr/>
        <p:nvPr/>
      </p:nvGrpSpPr>
      <p:grpSpPr>
        <a:xfrm>
          <a:off x="0" y="0"/>
          <a:ext cx="0" cy="0"/>
          <a:chOff x="0" y="0"/>
          <a:chExt cx="0" cy="0"/>
        </a:xfrm>
      </p:grpSpPr>
      <p:sp>
        <p:nvSpPr>
          <p:cNvPr id="251" name="Google Shape;251;p1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venv + requirements.txt: the standard loop</a:t>
            </a:r>
            <a:endParaRPr/>
          </a:p>
        </p:txBody>
      </p:sp>
      <p:sp>
        <p:nvSpPr>
          <p:cNvPr id="252" name="Google Shape;252;p16"/>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bash</a:t>
            </a:r>
            <a:endParaRPr/>
          </a:p>
        </p:txBody>
      </p:sp>
      <p:sp>
        <p:nvSpPr>
          <p:cNvPr id="253" name="Google Shape;253;p16"/>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4" name="Google Shape;254;p16"/>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one-time setup per project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cd chat-app/</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python3 -m venv venv              # creates ./venv/ folder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source venv/bin/activate          # activates it (prompt changes)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(venv) $ pip install fastapi uvicorn</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record exactly what you installed</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(venv) $ pip freeze &gt; requirements.txt</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requirements.txt is plain text, one package per line: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fastapi==0.115.0</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uvicorn==0.30.6</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pydantic==2.9.2</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later, on a different machine (or for a teammate):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python3 -m venv venv</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source venv/bin/activate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(venv) $ pip install -r requirements.txt    # reinstalls everything</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59" name="Shape 259"/>
        <p:cNvGrpSpPr/>
        <p:nvPr/>
      </p:nvGrpSpPr>
      <p:grpSpPr>
        <a:xfrm>
          <a:off x="0" y="0"/>
          <a:ext cx="0" cy="0"/>
          <a:chOff x="0" y="0"/>
          <a:chExt cx="0" cy="0"/>
        </a:xfrm>
      </p:grpSpPr>
      <p:sp>
        <p:nvSpPr>
          <p:cNvPr id="260" name="Google Shape;260;p17"/>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What Type Hints Buy You</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Path parameters: type-checked for free</a:t>
            </a:r>
            <a:endParaRPr/>
          </a:p>
        </p:txBody>
      </p:sp>
      <p:sp>
        <p:nvSpPr>
          <p:cNvPr id="267" name="Google Shape;267;p18"/>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68" name="Google Shape;268;p18"/>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9" name="Google Shape;269;p18"/>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333344"/>
                </a:solidFill>
                <a:latin typeface="Courier New"/>
                <a:ea typeface="Courier New"/>
                <a:cs typeface="Courier New"/>
                <a:sym typeface="Courier New"/>
              </a:rPr>
              <a:t>@app.get("/messages/{id}")</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def get_message(id: int):</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return {"id": id, "text": f"message {id}"}</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GET /messages/42  -&gt; {"id": 42, "text": "message 42"}</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GET /messages/hi  -&gt; 422 Unprocessable Entity</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{"detail": [{"msg": "value is not a valid</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integer", "type": "type_error.integer"}]}</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You wrote zero validation code. FastAPI read `id: int`,</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tried to cast the URL fragment to int, and returned 422</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automatically when it couldn't.</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 name="Shape 274"/>
        <p:cNvGrpSpPr/>
        <p:nvPr/>
      </p:nvGrpSpPr>
      <p:grpSpPr>
        <a:xfrm>
          <a:off x="0" y="0"/>
          <a:ext cx="0" cy="0"/>
          <a:chOff x="0" y="0"/>
          <a:chExt cx="0" cy="0"/>
        </a:xfrm>
      </p:grpSpPr>
      <p:sp>
        <p:nvSpPr>
          <p:cNvPr id="275" name="Google Shape;275;p1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Query parameters: same trick</a:t>
            </a:r>
            <a:endParaRPr/>
          </a:p>
        </p:txBody>
      </p:sp>
      <p:sp>
        <p:nvSpPr>
          <p:cNvPr id="276" name="Google Shape;276;p19"/>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77" name="Google Shape;277;p19"/>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8" name="Google Shape;278;p19"/>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333344"/>
                </a:solidFill>
                <a:latin typeface="Courier New"/>
                <a:ea typeface="Courier New"/>
                <a:cs typeface="Courier New"/>
                <a:sym typeface="Courier New"/>
              </a:rPr>
              <a:t>@app.get("/messages")</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def list_messages(</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limit: int = 20,</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channel: str | None = None,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 Any argument not in the path becomes a query parameter.</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 Defaults mean optional. Type hints drive validation.</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GET /messages                           -&gt; limit=20, channel=None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GET /messages?limit=5                   -&gt; limit=5,  channel=None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GET /messages?channel=general&amp;limit=50  -&gt; limit=50, channel="general"</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GET /messages?limit=abc                 -&gt; 422 (not an int)</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 name="Shape 283"/>
        <p:cNvGrpSpPr/>
        <p:nvPr/>
      </p:nvGrpSpPr>
      <p:grpSpPr>
        <a:xfrm>
          <a:off x="0" y="0"/>
          <a:ext cx="0" cy="0"/>
          <a:chOff x="0" y="0"/>
          <a:chExt cx="0" cy="0"/>
        </a:xfrm>
      </p:grpSpPr>
      <p:sp>
        <p:nvSpPr>
          <p:cNvPr id="284" name="Google Shape;284;p2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Pydantic: the type hint for a JSON body</a:t>
            </a:r>
            <a:endParaRPr/>
          </a:p>
        </p:txBody>
      </p:sp>
      <p:sp>
        <p:nvSpPr>
          <p:cNvPr id="285" name="Google Shape;285;p21"/>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86" name="Google Shape;286;p21"/>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21"/>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from pydantic import BaseModel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class MessageCreate(BaseModel):</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author: str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text: str</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@app.post("/messages")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def post_message(body: MessageCreate):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body.author and body.text are already validated strings.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FastAPI parsed the JSON, checked the shape, and handed us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a typed Python object.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return {"id": 1, "author": body.author, "text": body.text}</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POST /messages  {"author": "alice", "text": "hi"}</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-&gt; {"id": 1, "author": "alice", "text": "hi"}</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POST /messages  {"author": "alice"}         # missing text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-&gt; 422 with "text: field required" in the body</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292" name="Shape 292"/>
        <p:cNvGrpSpPr/>
        <p:nvPr/>
      </p:nvGrpSpPr>
      <p:grpSpPr>
        <a:xfrm>
          <a:off x="0" y="0"/>
          <a:ext cx="0" cy="0"/>
          <a:chOff x="0" y="0"/>
          <a:chExt cx="0" cy="0"/>
        </a:xfrm>
      </p:grpSpPr>
      <p:sp>
        <p:nvSpPr>
          <p:cNvPr id="293" name="Google Shape;293;p20"/>
          <p:cNvSpPr txBox="1"/>
          <p:nvPr/>
        </p:nvSpPr>
        <p:spPr>
          <a:xfrm>
            <a:off x="731520" y="365760"/>
            <a:ext cx="10728600"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Headers: also just function arguments</a:t>
            </a:r>
            <a:endParaRPr/>
          </a:p>
        </p:txBody>
      </p:sp>
      <p:sp>
        <p:nvSpPr>
          <p:cNvPr id="294" name="Google Shape;294;p20"/>
          <p:cNvSpPr txBox="1"/>
          <p:nvPr/>
        </p:nvSpPr>
        <p:spPr>
          <a:xfrm>
            <a:off x="9601200" y="1188720"/>
            <a:ext cx="1828800" cy="365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95" name="Google Shape;295;p2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6" name="Google Shape;296;p20"/>
          <p:cNvSpPr txBox="1"/>
          <p:nvPr/>
        </p:nvSpPr>
        <p:spPr>
          <a:xfrm>
            <a:off x="1005840" y="1645920"/>
            <a:ext cx="10179900"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from fastapi import Header</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@app.post("/messages")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post_message(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body: MessageCreate,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x_author: str = Header(),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The `= Header()` marker tells FastAPI: don't look for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this in the path or the query string; look in the request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headers. The argument name is mangled: `x_author` matches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the `X-Author` header. Underscore becomes dash, case is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ignored.</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{"author_from_header": x_author, "text": body.text}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curl -X POST http://localhost:8000/messages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-H "Content-Type: application/json"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-H "X-Author: alice"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-d '{"text": "hi"}'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-&gt; {"author_from_header": "alice", "text": "hi"}</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Missing the header -&gt; 422 automatically.</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Constraints: type hints with more metadata</a:t>
            </a:r>
            <a:endParaRPr/>
          </a:p>
        </p:txBody>
      </p:sp>
      <p:sp>
        <p:nvSpPr>
          <p:cNvPr id="303" name="Google Shape;303;p22"/>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304" name="Google Shape;304;p22"/>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5" name="Google Shape;305;p22"/>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from pydantic import BaseModel, Field</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class MessageCreate(BaseModel):</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author: str = Field(min_length=3, max_length=20,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pattern=r"^[a-zA-Z0-9_]+$")</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text:   str = Field(min_length=1, max_length=500)</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POST /messages  {"author": "al", "text": "hi"}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-&gt; 422  "author: String should have at least 3 characters"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POST /messages  {"author": "has spaces", "text": "hi"}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-&gt; 422  "author: String should match pattern ..."</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POST /messages  {"author": "alice", "text":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-&gt; 422  "text: String should have at least 1 character"</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 plain `str` says 'it's a string.'</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`Field(...)` says 'it's a string AND here are the rules.'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Same idea: more metadata on the hint, more validation for free.</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310" name="Shape 310"/>
        <p:cNvGrpSpPr/>
        <p:nvPr/>
      </p:nvGrpSpPr>
      <p:grpSpPr>
        <a:xfrm>
          <a:off x="0" y="0"/>
          <a:ext cx="0" cy="0"/>
          <a:chOff x="0" y="0"/>
          <a:chExt cx="0" cy="0"/>
        </a:xfrm>
      </p:grpSpPr>
      <p:sp>
        <p:nvSpPr>
          <p:cNvPr id="311" name="Google Shape;311;p2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Same idea for query parameters: Query()</a:t>
            </a:r>
            <a:endParaRPr/>
          </a:p>
        </p:txBody>
      </p:sp>
      <p:sp>
        <p:nvSpPr>
          <p:cNvPr id="312" name="Google Shape;312;p23"/>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313" name="Google Shape;313;p23"/>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4" name="Google Shape;314;p23"/>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from fastapi import Query</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@app.get("/messages")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list_messages(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limit: int = Query(50, ge=1, le=200),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offset: int = Query(0, ge=0),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ge = greater than or equal, le = less than or equal.</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Default limit is 50. Clamped to [1, 200]. Default offset 0, no max.</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GET /messages                -&gt; limit=50, offset=0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GET /messages?limit=10       -&gt; limit=10, offset=0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GET /messages?limit=0        -&gt; 422 (below ge=1)</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GET /messages?limit=999      -&gt; 422 (above le=200)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GET /messages?offset=-1      -&gt; 422 (below ge=0)</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`Field(...)` constrains a Pydantic model field.</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`Query(...)` constrains a query parameter.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`Path(...)`, `Header(...)`, `Body(...)` exist too - same pattern.</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9" name="Shape 319"/>
        <p:cNvGrpSpPr/>
        <p:nvPr/>
      </p:nvGrpSpPr>
      <p:grpSpPr>
        <a:xfrm>
          <a:off x="0" y="0"/>
          <a:ext cx="0" cy="0"/>
          <a:chOff x="0" y="0"/>
          <a:chExt cx="0" cy="0"/>
        </a:xfrm>
      </p:grpSpPr>
      <p:sp>
        <p:nvSpPr>
          <p:cNvPr id="320" name="Google Shape;320;p2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Returning data: FastAPI handles the JSON</a:t>
            </a:r>
            <a:endParaRPr/>
          </a:p>
        </p:txBody>
      </p:sp>
      <p:sp>
        <p:nvSpPr>
          <p:cNvPr id="321" name="Google Shape;321;p24"/>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322" name="Google Shape;322;p24"/>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3" name="Google Shape;323;p24"/>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333344"/>
                </a:solidFill>
                <a:latin typeface="Courier New"/>
                <a:ea typeface="Courier New"/>
                <a:cs typeface="Courier New"/>
                <a:sym typeface="Courier New"/>
              </a:rPr>
              <a:t>class MessageOut(BaseModel):</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id: int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author: str</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text: str</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timestamp: str</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@app.get("/messages/{id}", response_model=MessageOut)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get_message(id: int):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 You return a dict (or a Pydantic model, or a SQL row...).</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 FastAPI converts it to JSON based on the response_model hint.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"id": id,</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"author": "alice",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"text": "hi",</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"timestamp": "2026-04-11T14:22:00Z",</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8" name="Shape 328"/>
        <p:cNvGrpSpPr/>
        <p:nvPr/>
      </p:nvGrpSpPr>
      <p:grpSpPr>
        <a:xfrm>
          <a:off x="0" y="0"/>
          <a:ext cx="0" cy="0"/>
          <a:chOff x="0" y="0"/>
          <a:chExt cx="0" cy="0"/>
        </a:xfrm>
      </p:grpSpPr>
      <p:sp>
        <p:nvSpPr>
          <p:cNvPr id="329" name="Google Shape;329;p2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Free interactive docs at /docs</a:t>
            </a:r>
            <a:endParaRPr/>
          </a:p>
        </p:txBody>
      </p:sp>
      <p:sp>
        <p:nvSpPr>
          <p:cNvPr id="330" name="Google Shape;330;p25"/>
          <p:cNvSpPr txBox="1"/>
          <p:nvPr/>
        </p:nvSpPr>
        <p:spPr>
          <a:xfrm>
            <a:off x="914400" y="1463040"/>
            <a:ext cx="10362900" cy="598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Because FastAPI knows every endpoint's signature, it can generate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 interactive documentation page automatically.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Start uvicorn, then visit </a:t>
            </a:r>
            <a:r>
              <a:rPr b="1" i="0" lang="en-US" sz="2400" u="none" cap="none" strike="noStrike">
                <a:solidFill>
                  <a:srgbClr val="333344"/>
                </a:solidFill>
                <a:latin typeface="Calibri"/>
                <a:ea typeface="Calibri"/>
                <a:cs typeface="Calibri"/>
                <a:sym typeface="Calibri"/>
              </a:rPr>
              <a:t>http://localhost:8000/docs</a:t>
            </a:r>
            <a:r>
              <a:rPr b="0" i="0" lang="en-US" sz="2400" u="none" cap="none" strike="noStrike">
                <a:solidFill>
                  <a:srgbClr val="333344"/>
                </a:solidFill>
                <a:latin typeface="Calibri"/>
                <a:ea typeface="Calibri"/>
                <a:cs typeface="Calibri"/>
                <a:sym typeface="Calibri"/>
              </a:rPr>
              <a:t> in a browser.</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get: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list of every endpoint, grouped by path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request shape (path params, query params, body schema)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response shape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'Try it out' button that sends real requests from the browser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Nobody wrote this doc. </a:t>
            </a:r>
            <a:r>
              <a:rPr lang="en-US" sz="2400">
                <a:solidFill>
                  <a:srgbClr val="333344"/>
                </a:solidFill>
                <a:latin typeface="Calibri"/>
                <a:ea typeface="Calibri"/>
                <a:cs typeface="Calibri"/>
                <a:sym typeface="Calibri"/>
              </a:rPr>
              <a:t>It was generated entirely from reading your function signatures.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35" name="Shape 335"/>
        <p:cNvGrpSpPr/>
        <p:nvPr/>
      </p:nvGrpSpPr>
      <p:grpSpPr>
        <a:xfrm>
          <a:off x="0" y="0"/>
          <a:ext cx="0" cy="0"/>
          <a:chOff x="0" y="0"/>
          <a:chExt cx="0" cy="0"/>
        </a:xfrm>
      </p:grpSpPr>
      <p:sp>
        <p:nvSpPr>
          <p:cNvPr id="336" name="Google Shape;336;p26"/>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Building the Chat API</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1" name="Shape 341"/>
        <p:cNvGrpSpPr/>
        <p:nvPr/>
      </p:nvGrpSpPr>
      <p:grpSpPr>
        <a:xfrm>
          <a:off x="0" y="0"/>
          <a:ext cx="0" cy="0"/>
          <a:chOff x="0" y="0"/>
          <a:chExt cx="0" cy="0"/>
        </a:xfrm>
      </p:grpSpPr>
      <p:sp>
        <p:nvSpPr>
          <p:cNvPr id="342" name="Google Shape;342;p2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Project layout</a:t>
            </a:r>
            <a:endParaRPr/>
          </a:p>
        </p:txBody>
      </p:sp>
      <p:sp>
        <p:nvSpPr>
          <p:cNvPr id="343" name="Google Shape;343;p27"/>
          <p:cNvSpPr txBox="1"/>
          <p:nvPr/>
        </p:nvSpPr>
        <p:spPr>
          <a:xfrm>
            <a:off x="925875" y="1199275"/>
            <a:ext cx="10728600" cy="5818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For the chat API we'll split the code into three pyt</a:t>
            </a:r>
            <a:r>
              <a:rPr lang="en-US" sz="2400">
                <a:solidFill>
                  <a:srgbClr val="333344"/>
                </a:solidFill>
                <a:latin typeface="Calibri"/>
                <a:ea typeface="Calibri"/>
                <a:cs typeface="Calibri"/>
                <a:sym typeface="Calibri"/>
              </a:rPr>
              <a:t>hon</a:t>
            </a:r>
            <a:r>
              <a:rPr b="0" i="0" lang="en-US" sz="2400" u="none" cap="none" strike="noStrike">
                <a:solidFill>
                  <a:srgbClr val="333344"/>
                </a:solidFill>
                <a:latin typeface="Calibri"/>
                <a:ea typeface="Calibri"/>
                <a:cs typeface="Calibri"/>
                <a:sym typeface="Calibri"/>
              </a:rPr>
              <a:t> files plus the s</a:t>
            </a:r>
            <a:r>
              <a:rPr lang="en-US" sz="2400">
                <a:solidFill>
                  <a:srgbClr val="333344"/>
                </a:solidFill>
                <a:latin typeface="Calibri"/>
                <a:ea typeface="Calibri"/>
                <a:cs typeface="Calibri"/>
                <a:sym typeface="Calibri"/>
              </a:rPr>
              <a:t>upporting cast</a:t>
            </a:r>
            <a:r>
              <a:rPr b="0" i="0" lang="en-US" sz="2400" u="none" cap="none" strike="noStrike">
                <a:solidFill>
                  <a:srgbClr val="333344"/>
                </a:solidFill>
                <a:latin typeface="Calibri"/>
                <a:ea typeface="Calibri"/>
                <a:cs typeface="Calibri"/>
                <a:sym typeface="Calibri"/>
              </a:rPr>
              <a:t>:</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chat-app/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app.py          FastAPI app and route definitions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db.py           database connection and schema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schemas.py      Pydantic models (request and response shapes)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chat.db         the SQLite file itself (gitignored, created on first run)</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requirements.txt    pinned list of packages to install</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venv/               the virtual env (gitignored, not committed)</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Why split it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app.py</a:t>
            </a:r>
            <a:r>
              <a:rPr b="0" i="0" lang="en-US" sz="2000" u="none" cap="none" strike="noStrike">
                <a:solidFill>
                  <a:srgbClr val="666677"/>
                </a:solidFill>
                <a:latin typeface="Calibri"/>
                <a:ea typeface="Calibri"/>
                <a:cs typeface="Calibri"/>
                <a:sym typeface="Calibri"/>
              </a:rPr>
              <a:t> is the HTTP layer: routes, validation, error handling.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db.py</a:t>
            </a:r>
            <a:r>
              <a:rPr b="0" i="0" lang="en-US" sz="2000" u="none" cap="none" strike="noStrike">
                <a:solidFill>
                  <a:srgbClr val="666677"/>
                </a:solidFill>
                <a:latin typeface="Calibri"/>
                <a:ea typeface="Calibri"/>
                <a:cs typeface="Calibri"/>
                <a:sym typeface="Calibri"/>
              </a:rPr>
              <a:t> is the data layer: how we talk to SQLite.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schemas.py</a:t>
            </a:r>
            <a:r>
              <a:rPr b="0" i="0" lang="en-US" sz="2000" u="none" cap="none" strike="noStrike">
                <a:solidFill>
                  <a:srgbClr val="666677"/>
                </a:solidFill>
                <a:latin typeface="Calibri"/>
                <a:ea typeface="Calibri"/>
                <a:cs typeface="Calibri"/>
                <a:sym typeface="Calibri"/>
              </a:rPr>
              <a:t> is the contract layer: what the API accepts and returns.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8" name="Shape 348"/>
        <p:cNvGrpSpPr/>
        <p:nvPr/>
      </p:nvGrpSpPr>
      <p:grpSpPr>
        <a:xfrm>
          <a:off x="0" y="0"/>
          <a:ext cx="0" cy="0"/>
          <a:chOff x="0" y="0"/>
          <a:chExt cx="0" cy="0"/>
        </a:xfrm>
      </p:grpSpPr>
      <p:sp>
        <p:nvSpPr>
          <p:cNvPr id="349" name="Google Shape;349;p2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Upgrading from sqlite3 to SQLAlchemy</a:t>
            </a:r>
            <a:endParaRPr/>
          </a:p>
        </p:txBody>
      </p:sp>
      <p:sp>
        <p:nvSpPr>
          <p:cNvPr id="350" name="Google Shape;350;p28"/>
          <p:cNvSpPr txBox="1"/>
          <p:nvPr/>
        </p:nvSpPr>
        <p:spPr>
          <a:xfrm>
            <a:off x="914400" y="1108665"/>
            <a:ext cx="10362900" cy="6418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Last week</a:t>
            </a:r>
            <a:r>
              <a:rPr b="0" i="0" lang="en-US" sz="2400" u="none" cap="none" strike="noStrike">
                <a:solidFill>
                  <a:srgbClr val="333344"/>
                </a:solidFill>
                <a:latin typeface="Calibri"/>
                <a:ea typeface="Calibri"/>
                <a:cs typeface="Calibri"/>
                <a:sym typeface="Calibri"/>
              </a:rPr>
              <a:t> we used Python's stdlib `sqlite3` module directly.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conn = sqlite3.connect("chat.db")` and raw `conn.execute(...)</a:t>
            </a:r>
            <a:r>
              <a:rPr b="0" i="0" lang="en-US" sz="2000" u="none" cap="none" strike="noStrike">
                <a:solidFill>
                  <a:srgbClr val="666677"/>
                </a:solidFill>
                <a:latin typeface="Calibri"/>
                <a:ea typeface="Calibri"/>
                <a:cs typeface="Calibri"/>
                <a:sym typeface="Calibri"/>
              </a:rPr>
              <a: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For a real web server, we're going to use </a:t>
            </a:r>
            <a:r>
              <a:rPr b="1" i="0" lang="en-US" sz="2400" u="none" cap="none" strike="noStrike">
                <a:solidFill>
                  <a:srgbClr val="333344"/>
                </a:solidFill>
                <a:latin typeface="Calibri"/>
                <a:ea typeface="Calibri"/>
                <a:cs typeface="Calibri"/>
                <a:sym typeface="Calibri"/>
              </a:rPr>
              <a:t>SQLAlchemy</a:t>
            </a:r>
            <a:r>
              <a:rPr b="0" i="0" lang="en-US" sz="2400" u="none" cap="none" strike="noStrike">
                <a:solidFill>
                  <a:srgbClr val="333344"/>
                </a:solidFill>
                <a:latin typeface="Calibri"/>
                <a:ea typeface="Calibri"/>
                <a:cs typeface="Calibri"/>
                <a:sym typeface="Calibri"/>
              </a:rPr>
              <a:t> instead.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(Just its connection layer</a:t>
            </a:r>
            <a:r>
              <a:rPr lang="en-US" sz="2000">
                <a:solidFill>
                  <a:srgbClr val="666677"/>
                </a:solidFill>
                <a:latin typeface="Calibri"/>
                <a:ea typeface="Calibri"/>
                <a:cs typeface="Calibri"/>
                <a:sym typeface="Calibri"/>
              </a:rPr>
              <a:t> - n</a:t>
            </a:r>
            <a:r>
              <a:rPr b="0" i="0" lang="en-US" sz="2000" u="none" cap="none" strike="noStrike">
                <a:solidFill>
                  <a:srgbClr val="666677"/>
                </a:solidFill>
                <a:latin typeface="Calibri"/>
                <a:ea typeface="Calibri"/>
                <a:cs typeface="Calibri"/>
                <a:sym typeface="Calibri"/>
              </a:rPr>
              <a:t>o ORM.)</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Two reasons to switch now:</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Connection pooling.</a:t>
            </a:r>
            <a:r>
              <a:rPr b="0" i="0" lang="en-US" sz="2000" u="none" cap="none" strike="noStrike">
                <a:solidFill>
                  <a:srgbClr val="666677"/>
                </a:solidFill>
                <a:latin typeface="Calibri"/>
                <a:ea typeface="Calibri"/>
                <a:cs typeface="Calibri"/>
                <a:sym typeface="Calibri"/>
              </a:rPr>
              <a:t> A web server handles many requests at once.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Opening and closing a SQLite connection per request is wasteful.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SQLAlchemy keeps a pool of open connections and hands them out.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Dialect portability.</a:t>
            </a:r>
            <a:r>
              <a:rPr b="0" i="0" lang="en-US" sz="2000" u="none" cap="none" strike="noStrike">
                <a:solidFill>
                  <a:srgbClr val="666677"/>
                </a:solidFill>
                <a:latin typeface="Calibri"/>
                <a:ea typeface="Calibri"/>
                <a:cs typeface="Calibri"/>
                <a:sym typeface="Calibri"/>
              </a:rPr>
              <a:t> The same code works against SQLite,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Postgres, MySQL, etc. When you move off SQLite later, nothing in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your app.py has to change.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Everything else stays the same: `text("SELECT ...")` with bind params.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5" name="Shape 355"/>
        <p:cNvGrpSpPr/>
        <p:nvPr/>
      </p:nvGrpSpPr>
      <p:grpSpPr>
        <a:xfrm>
          <a:off x="0" y="0"/>
          <a:ext cx="0" cy="0"/>
          <a:chOff x="0" y="0"/>
          <a:chExt cx="0" cy="0"/>
        </a:xfrm>
      </p:grpSpPr>
      <p:sp>
        <p:nvSpPr>
          <p:cNvPr id="356" name="Google Shape;356;p2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db.py - connection and schema</a:t>
            </a:r>
            <a:endParaRPr/>
          </a:p>
        </p:txBody>
      </p:sp>
      <p:sp>
        <p:nvSpPr>
          <p:cNvPr id="357" name="Google Shape;357;p29"/>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358" name="Google Shape;358;p29"/>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9" name="Google Shape;359;p29"/>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db.py</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from sqlalchemy import create_engine, text</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engine = create_engine("sqlite:///chat.db")</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def init_db():</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with engine.connect() as conn: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conn.execute(text('''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CREATE TABLE IF NOT EXISTS messages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id        INTEGER PRIMARY KEY AUTOINCREMENT,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author    TEXT NOT NULL,</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text      TEXT NOT NULL,</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timestamp TEXT NOT NULL</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conn.commit()</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if __name__ == "__main__":</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init_db()</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4" name="Shape 364"/>
        <p:cNvGrpSpPr/>
        <p:nvPr/>
      </p:nvGrpSpPr>
      <p:grpSpPr>
        <a:xfrm>
          <a:off x="0" y="0"/>
          <a:ext cx="0" cy="0"/>
          <a:chOff x="0" y="0"/>
          <a:chExt cx="0" cy="0"/>
        </a:xfrm>
      </p:grpSpPr>
      <p:sp>
        <p:nvSpPr>
          <p:cNvPr id="365" name="Google Shape;365;g3debc54ff56_0_487"/>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db.py - the data access functions</a:t>
            </a:r>
            <a:endParaRPr/>
          </a:p>
        </p:txBody>
      </p:sp>
      <p:sp>
        <p:nvSpPr>
          <p:cNvPr id="366" name="Google Shape;366;g3debc54ff56_0_487"/>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367" name="Google Shape;367;g3debc54ff56_0_487"/>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8" name="Google Shape;368;g3debc54ff56_0_487"/>
          <p:cNvSpPr txBox="1"/>
          <p:nvPr/>
        </p:nvSpPr>
        <p:spPr>
          <a:xfrm>
            <a:off x="1005840" y="1645920"/>
            <a:ext cx="10179900" cy="4145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db.py  (part 2 of 2: queries)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list_messages() -&gt; list[dict]: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with engine.connect() as conn: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[dict(r) for r in conn.execute(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text("SELECT id, author, text, timestamp FROM 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).mappings().all()]</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create_message(author: str, content: str) -&gt; dict: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ts = datetime.now(timezone.utc).strftime("%Y-%m-%dT%H:%M:%SZ")</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with engine.begin() as conn: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 = conn.execute(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text("INSERT INTO messages (author, text, timestamp)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"VALUES (:author, :text, :ts)"),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{"author": author, "text": content, "ts": ts})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{"id": r.lastrowid, "author": author,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"text": content, "timestamp": ts}</a:t>
            </a:r>
            <a:endParaRPr/>
          </a:p>
          <a:p>
            <a:pPr indent="0" lvl="0" marL="0" marR="0" rtl="0" algn="l">
              <a:spcBef>
                <a:spcPts val="20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3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schemas.py - the contracts</a:t>
            </a:r>
            <a:endParaRPr/>
          </a:p>
        </p:txBody>
      </p:sp>
      <p:sp>
        <p:nvSpPr>
          <p:cNvPr id="375" name="Google Shape;375;p30"/>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376" name="Google Shape;376;p30"/>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7" name="Google Shape;377;p30"/>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schemas.py</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from pydantic import BaseModel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class MessageCreate(BaseModel):</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author: str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text: str</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class MessageOut(BaseModel):</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id: int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author: str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text: str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timestamp: str</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MessageCreate is what clients SEND us (POST body).</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MessageOut   is what we send BACK to clients.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These are contracts. The client promises to send a shape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that matches MessageCreate, we promise to return a shape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that matches MessageOut. FastAPI enforces both promises.</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2" name="Shape 382"/>
        <p:cNvGrpSpPr/>
        <p:nvPr/>
      </p:nvGrpSpPr>
      <p:grpSpPr>
        <a:xfrm>
          <a:off x="0" y="0"/>
          <a:ext cx="0" cy="0"/>
          <a:chOff x="0" y="0"/>
          <a:chExt cx="0" cy="0"/>
        </a:xfrm>
      </p:grpSpPr>
      <p:sp>
        <p:nvSpPr>
          <p:cNvPr id="383" name="Google Shape;383;g3debc54ff56_0_321"/>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app.py - the routes</a:t>
            </a:r>
            <a:endParaRPr/>
          </a:p>
        </p:txBody>
      </p:sp>
      <p:sp>
        <p:nvSpPr>
          <p:cNvPr id="384" name="Google Shape;384;g3debc54ff56_0_321"/>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385" name="Google Shape;385;g3debc54ff56_0_321"/>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6" name="Google Shape;386;g3debc54ff56_0_321"/>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app.py</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from fastapi import FastAPI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import db</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from schemas import MessageCreate, MessageOut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app = FastAPI()</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@app.get("/api/messages", response_model=list[MessageOut])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list_messages():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db.list_messages()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@app.post("/api/messages", response_model=MessageOut, status_code=201)</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create_message(body: MessageCreate):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db.create_message(body.author, body.text)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Notice what's NOT here: no `import sqlalchemy`, no SQL strings, no</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datetime. Each handler is one line - call the data layer, return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 result. FastAPI handles parsing/validation/serialization,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db.py handles storage, and app.py is just the seam between them.</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Running it end to end</a:t>
            </a:r>
            <a:endParaRPr/>
          </a:p>
        </p:txBody>
      </p:sp>
      <p:sp>
        <p:nvSpPr>
          <p:cNvPr id="393" name="Google Shape;393;p32"/>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bash</a:t>
            </a:r>
            <a:endParaRPr/>
          </a:p>
        </p:txBody>
      </p:sp>
      <p:sp>
        <p:nvSpPr>
          <p:cNvPr id="394" name="Google Shape;394;p32"/>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32"/>
          <p:cNvSpPr txBox="1"/>
          <p:nvPr/>
        </p:nvSpPr>
        <p:spPr>
          <a:xfrm>
            <a:off x="1005840" y="1645920"/>
            <a:ext cx="10179900" cy="440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Terminal 1: start the server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python db.py                    # one-time: create the table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uvicorn app:app --reload</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INFO:     Uvicorn running on http://127.0.0.1:8000</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INFO:     Application startup complete.</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Terminal 2: hit it with curl</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curl http://localhost:8000/api/messages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curl -X POST http://localhost:8000/api/messages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-H "Content-Type: application/json"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-d '{"author": "alice", "text": "first!"}'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{"id":1,"author":"alice","text":"first!","timestamp":"2026-04-11T14:22:00Z"}</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curl http://localhost:8000/api/messages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[{"id":1,"author":"alice","text":"first!","timestamp":"2026-04-11T14:22:00Z"}]</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0" name="Shape 400"/>
        <p:cNvGrpSpPr/>
        <p:nvPr/>
      </p:nvGrpSpPr>
      <p:grpSpPr>
        <a:xfrm>
          <a:off x="0" y="0"/>
          <a:ext cx="0" cy="0"/>
          <a:chOff x="0" y="0"/>
          <a:chExt cx="0" cy="0"/>
        </a:xfrm>
      </p:grpSpPr>
      <p:sp>
        <p:nvSpPr>
          <p:cNvPr id="401" name="Google Shape;401;g3debc54ff56_0_29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Returning errors the right way</a:t>
            </a:r>
            <a:endParaRPr/>
          </a:p>
        </p:txBody>
      </p:sp>
      <p:sp>
        <p:nvSpPr>
          <p:cNvPr id="402" name="Google Shape;402;g3debc54ff56_0_291"/>
          <p:cNvSpPr txBox="1"/>
          <p:nvPr/>
        </p:nvSpPr>
        <p:spPr>
          <a:xfrm>
            <a:off x="914388" y="1171215"/>
            <a:ext cx="10362900" cy="754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What should `DELETE /api/messages/42` do if message 42 doesn't exist?</a:t>
            </a:r>
            <a:endParaRPr/>
          </a:p>
          <a:p>
            <a:pPr indent="0" lvl="0" marL="0" marR="0" rtl="0" algn="l">
              <a:spcBef>
                <a:spcPts val="600"/>
              </a:spcBef>
              <a:spcAft>
                <a:spcPts val="0"/>
              </a:spcAft>
              <a:buNone/>
            </a:pPr>
            <a:r>
              <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7" name="Shape 407"/>
        <p:cNvGrpSpPr/>
        <p:nvPr/>
      </p:nvGrpSpPr>
      <p:grpSpPr>
        <a:xfrm>
          <a:off x="0" y="0"/>
          <a:ext cx="0" cy="0"/>
          <a:chOff x="0" y="0"/>
          <a:chExt cx="0" cy="0"/>
        </a:xfrm>
      </p:grpSpPr>
      <p:sp>
        <p:nvSpPr>
          <p:cNvPr id="408" name="Google Shape;408;p3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Returning errors the right way</a:t>
            </a:r>
            <a:endParaRPr/>
          </a:p>
        </p:txBody>
      </p:sp>
      <p:sp>
        <p:nvSpPr>
          <p:cNvPr id="409" name="Google Shape;409;p33"/>
          <p:cNvSpPr txBox="1"/>
          <p:nvPr/>
        </p:nvSpPr>
        <p:spPr>
          <a:xfrm>
            <a:off x="914388" y="1171215"/>
            <a:ext cx="10362900" cy="5217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What should `DELETE /api/messages/42` do if message 42 doesn't exist?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In FastAPI you `raise HTTPException`: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lang="en-US" sz="1700">
                <a:solidFill>
                  <a:srgbClr val="666677"/>
                </a:solidFill>
                <a:latin typeface="Courier Prime"/>
                <a:ea typeface="Courier Prime"/>
                <a:cs typeface="Courier Prime"/>
                <a:sym typeface="Courier Prime"/>
              </a:rPr>
              <a:t># app.py</a:t>
            </a:r>
            <a:endParaRPr b="1" sz="1700">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rPr b="1" lang="en-US" sz="1700">
                <a:solidFill>
                  <a:srgbClr val="666677"/>
                </a:solidFill>
                <a:latin typeface="Courier Prime"/>
                <a:ea typeface="Courier Prime"/>
                <a:cs typeface="Courier Prime"/>
                <a:sym typeface="Courier Prime"/>
              </a:rPr>
              <a:t>  from fastapi import HTTPException</a:t>
            </a:r>
            <a:endParaRPr b="1" sz="1700">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t/>
            </a:r>
            <a:endParaRPr b="1" sz="1700">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rPr b="1" lang="en-US" sz="1700">
                <a:solidFill>
                  <a:srgbClr val="666677"/>
                </a:solidFill>
                <a:latin typeface="Courier Prime"/>
                <a:ea typeface="Courier Prime"/>
                <a:cs typeface="Courier Prime"/>
                <a:sym typeface="Courier Prime"/>
              </a:rPr>
              <a:t>  @app.delete("/api/messages/{id}")</a:t>
            </a:r>
            <a:endParaRPr b="1" sz="1700">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rPr b="1" lang="en-US" sz="1700">
                <a:solidFill>
                  <a:srgbClr val="666677"/>
                </a:solidFill>
                <a:latin typeface="Courier Prime"/>
                <a:ea typeface="Courier Prime"/>
                <a:cs typeface="Courier Prime"/>
                <a:sym typeface="Courier Prime"/>
              </a:rPr>
              <a:t>  def delete_message(id: int):</a:t>
            </a:r>
            <a:endParaRPr b="1" sz="1700">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rPr b="1" lang="en-US" sz="1700">
                <a:solidFill>
                  <a:srgbClr val="666677"/>
                </a:solidFill>
                <a:latin typeface="Courier Prime"/>
                <a:ea typeface="Courier Prime"/>
                <a:cs typeface="Courier Prime"/>
                <a:sym typeface="Courier Prime"/>
              </a:rPr>
              <a:t>      if not db.delete_message(id):</a:t>
            </a:r>
            <a:endParaRPr b="1" sz="1700">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rPr b="1" lang="en-US" sz="1700">
                <a:solidFill>
                  <a:srgbClr val="666677"/>
                </a:solidFill>
                <a:latin typeface="Courier Prime"/>
                <a:ea typeface="Courier Prime"/>
                <a:cs typeface="Courier Prime"/>
                <a:sym typeface="Courier Prime"/>
              </a:rPr>
              <a:t>          raise HTTPException(404, "message not found")</a:t>
            </a:r>
            <a:endParaRPr b="1" sz="1700">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rPr b="1" lang="en-US" sz="1700">
                <a:solidFill>
                  <a:srgbClr val="666677"/>
                </a:solidFill>
                <a:latin typeface="Courier Prime"/>
                <a:ea typeface="Courier Prime"/>
                <a:cs typeface="Courier Prime"/>
                <a:sym typeface="Courier Prime"/>
              </a:rPr>
              <a:t>      return {"deleted": id}</a:t>
            </a:r>
            <a:endParaRPr b="1" sz="1700">
              <a:solidFill>
                <a:srgbClr val="666677"/>
              </a:solidFill>
              <a:latin typeface="Courier Prime"/>
              <a:ea typeface="Courier Prime"/>
              <a:cs typeface="Courier Prime"/>
              <a:sym typeface="Courier Prime"/>
            </a:endParaRPr>
          </a:p>
          <a:p>
            <a:pPr indent="0" lvl="1" marL="457200" marR="0" rtl="0" algn="l">
              <a:spcBef>
                <a:spcPts val="600"/>
              </a:spcBef>
              <a:spcAft>
                <a:spcPts val="0"/>
              </a:spcAft>
              <a:buNone/>
            </a:pPr>
            <a:r>
              <a:t/>
            </a:r>
            <a:endParaRPr b="1" sz="1700">
              <a:solidFill>
                <a:srgbClr val="666677"/>
              </a:solidFill>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FastAPI catches the exception and turns it into a proper HTTP response.</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4" name="Shape 414"/>
        <p:cNvGrpSpPr/>
        <p:nvPr/>
      </p:nvGrpSpPr>
      <p:grpSpPr>
        <a:xfrm>
          <a:off x="0" y="0"/>
          <a:ext cx="0" cy="0"/>
          <a:chOff x="0" y="0"/>
          <a:chExt cx="0" cy="0"/>
        </a:xfrm>
      </p:grpSpPr>
      <p:sp>
        <p:nvSpPr>
          <p:cNvPr id="415" name="Google Shape;415;p35"/>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Write PATCH /api/messages/{id}</a:t>
            </a:r>
            <a:endParaRPr/>
          </a:p>
        </p:txBody>
      </p:sp>
      <p:sp>
        <p:nvSpPr>
          <p:cNvPr id="416" name="Google Shape;416;p35"/>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7" name="Google Shape;417;p35"/>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35"/>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 schemas.py:</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class MessageUpdate(BaseModel):</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text: str</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app.py:</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@app.patch("/api/messages/{id}", response_model=MessageOut)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update_message(id: int, body: MessageUpdate):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with db.engine.begin() as conn:</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result = conn.execute(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text("UPDATE messages SET text = :text WHERE id = :id"),</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{"id": id, "text": body.text},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if result.rowcount == 0:</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raise HTTPException(404, "message not found")</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row = conn.execute(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text("SELECT id, author, text, timestamp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"FROM messages WHERE id = :id"),</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{"id": id},</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).mappings().first()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return dict(row)</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3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25" name="Google Shape;425;p36"/>
          <p:cNvSpPr txBox="1"/>
          <p:nvPr/>
        </p:nvSpPr>
        <p:spPr>
          <a:xfrm>
            <a:off x="914388" y="1129515"/>
            <a:ext cx="10362900" cy="504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What just happened:</a:t>
            </a:r>
            <a:endParaRPr b="0" sz="2400">
              <a:solidFill>
                <a:srgbClr val="333344"/>
              </a:solidFill>
              <a:latin typeface="Calibri"/>
              <a:ea typeface="Calibri"/>
              <a:cs typeface="Calibri"/>
              <a:sym typeface="Calibri"/>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Decorator</a:t>
            </a:r>
            <a:r>
              <a:rPr lang="en-US" sz="2000">
                <a:solidFill>
                  <a:srgbClr val="666677"/>
                </a:solidFill>
                <a:latin typeface="Calibri"/>
                <a:ea typeface="Calibri"/>
                <a:cs typeface="Calibri"/>
                <a:sym typeface="Calibri"/>
              </a:rPr>
              <a:t> -&gt; route. `</a:t>
            </a:r>
            <a:r>
              <a:rPr b="1" lang="en-US" sz="2000">
                <a:solidFill>
                  <a:srgbClr val="666677"/>
                </a:solidFill>
                <a:latin typeface="Courier Prime"/>
                <a:ea typeface="Courier Prime"/>
                <a:cs typeface="Courier Prime"/>
                <a:sym typeface="Courier Prime"/>
              </a:rPr>
              <a:t>@app.get("/path")</a:t>
            </a:r>
            <a:r>
              <a:rPr lang="en-US" sz="2000">
                <a:solidFill>
                  <a:srgbClr val="666677"/>
                </a:solidFill>
                <a:latin typeface="Calibri"/>
                <a:ea typeface="Calibri"/>
                <a:cs typeface="Calibri"/>
                <a:sym typeface="Calibri"/>
              </a:rPr>
              <a:t>` registers a handler.</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Type hints</a:t>
            </a:r>
            <a:r>
              <a:rPr lang="en-US" sz="2000">
                <a:solidFill>
                  <a:srgbClr val="666677"/>
                </a:solidFill>
                <a:latin typeface="Calibri"/>
                <a:ea typeface="Calibri"/>
                <a:cs typeface="Calibri"/>
                <a:sym typeface="Calibri"/>
              </a:rPr>
              <a:t> -&gt; validation + /docs. Path, query, body, response.</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Pydantic</a:t>
            </a:r>
            <a:r>
              <a:rPr lang="en-US" sz="2000">
                <a:solidFill>
                  <a:srgbClr val="666677"/>
                </a:solidFill>
                <a:latin typeface="Calibri"/>
                <a:ea typeface="Calibri"/>
                <a:cs typeface="Calibri"/>
                <a:sym typeface="Calibri"/>
              </a:rPr>
              <a:t> -&gt; request/response contracts. Shape promises, enforced.</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Layering</a:t>
            </a:r>
            <a:r>
              <a:rPr lang="en-US" sz="2000">
                <a:solidFill>
                  <a:srgbClr val="666677"/>
                </a:solidFill>
                <a:latin typeface="Calibri"/>
                <a:ea typeface="Calibri"/>
                <a:cs typeface="Calibri"/>
                <a:sym typeface="Calibri"/>
              </a:rPr>
              <a:t> -&gt; SQL stays in db.py; app.py is just routes + calls.</a:t>
            </a:r>
            <a:endParaRPr>
              <a:solidFill>
                <a:schemeClr val="dk1"/>
              </a:solidFill>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uvicorn</a:t>
            </a:r>
            <a:r>
              <a:rPr lang="en-US" sz="2000">
                <a:solidFill>
                  <a:srgbClr val="666677"/>
                </a:solidFill>
                <a:latin typeface="Calibri"/>
                <a:ea typeface="Calibri"/>
                <a:cs typeface="Calibri"/>
                <a:sym typeface="Calibri"/>
              </a:rPr>
              <a:t> -&gt; actually runs the HTTP server. FastAPI just defines the app.</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requirements.txt</a:t>
            </a:r>
            <a:r>
              <a:rPr lang="en-US" sz="2000">
                <a:solidFill>
                  <a:srgbClr val="666677"/>
                </a:solidFill>
                <a:latin typeface="Calibri"/>
                <a:ea typeface="Calibri"/>
                <a:cs typeface="Calibri"/>
                <a:sym typeface="Calibri"/>
              </a:rPr>
              <a:t> -&gt; defining an isolated environment</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Assignment 2: take your week-2 chat store and wrap it in a real HTTP API.</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GET, POST, DELETE (at minimum),</a:t>
            </a:r>
            <a:endParaRPr sz="2000">
              <a:solidFill>
                <a:srgbClr val="666677"/>
              </a:solidFill>
              <a:latin typeface="Calibri"/>
              <a:ea typeface="Calibri"/>
              <a:cs typeface="Calibri"/>
              <a:sym typeface="Calibri"/>
            </a:endParaRPr>
          </a:p>
          <a:p>
            <a:pPr indent="0" lvl="1" marL="0" marR="0" rtl="0" algn="l">
              <a:spcBef>
                <a:spcPts val="600"/>
              </a:spcBef>
              <a:spcAft>
                <a:spcPts val="0"/>
              </a:spcAft>
              <a:buNone/>
            </a:pPr>
            <a:r>
              <a:rPr lang="en-US" sz="2000">
                <a:solidFill>
                  <a:srgbClr val="666677"/>
                </a:solidFill>
                <a:latin typeface="Calibri"/>
                <a:ea typeface="Calibri"/>
                <a:cs typeface="Calibri"/>
                <a:sym typeface="Calibri"/>
              </a:rPr>
              <a:t>        </a:t>
            </a:r>
            <a:r>
              <a:rPr b="0" i="0" lang="en-US" sz="2000" u="none" cap="none" strike="noStrike">
                <a:solidFill>
                  <a:srgbClr val="666677"/>
                </a:solidFill>
                <a:latin typeface="Calibri"/>
                <a:ea typeface="Calibri"/>
                <a:cs typeface="Calibri"/>
                <a:sym typeface="Calibri"/>
              </a:rPr>
              <a:t>  Proper status codes, Pydantic schemas, HTTPException for errors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Test it with curl before writing any client code</a:t>
            </a:r>
            <a:endParaRPr/>
          </a:p>
          <a:p>
            <a:pPr indent="0" lvl="1" marL="457200" marR="0" rtl="0" algn="l">
              <a:spcBef>
                <a:spcPts val="600"/>
              </a:spcBef>
              <a:spcAft>
                <a:spcPts val="0"/>
              </a:spcAft>
              <a:buNone/>
            </a:pPr>
            <a:r>
              <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0" name="Shape 430"/>
        <p:cNvGrpSpPr/>
        <p:nvPr/>
      </p:nvGrpSpPr>
      <p:grpSpPr>
        <a:xfrm>
          <a:off x="0" y="0"/>
          <a:ext cx="0" cy="0"/>
          <a:chOff x="0" y="0"/>
          <a:chExt cx="0" cy="0"/>
        </a:xfrm>
      </p:grpSpPr>
      <p:sp>
        <p:nvSpPr>
          <p:cNvPr id="431" name="Google Shape;431;g3debc54ff56_0_29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32" name="Google Shape;432;g3debc54ff56_0_297"/>
          <p:cNvSpPr txBox="1"/>
          <p:nvPr/>
        </p:nvSpPr>
        <p:spPr>
          <a:xfrm>
            <a:off x="914388" y="1129515"/>
            <a:ext cx="10362900" cy="12315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week (4.x): </a:t>
            </a:r>
            <a:r>
              <a:rPr b="1" lang="en-US" sz="2400">
                <a:solidFill>
                  <a:srgbClr val="333344"/>
                </a:solidFill>
                <a:latin typeface="Calibri"/>
                <a:ea typeface="Calibri"/>
                <a:cs typeface="Calibri"/>
                <a:sym typeface="Calibri"/>
              </a:rPr>
              <a:t>testing</a:t>
            </a:r>
            <a:r>
              <a:rPr b="0" lang="en-US" sz="2400">
                <a:solidFill>
                  <a:srgbClr val="333344"/>
                </a:solidFill>
                <a:latin typeface="Calibri"/>
                <a:ea typeface="Calibri"/>
                <a:cs typeface="Calibri"/>
                <a:sym typeface="Calibri"/>
              </a:rPr>
              <a:t> this API with pytest.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How do you prove your endpoints do what they're supposed to do?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why is writing tests sometimes the thing that reveals the bug?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