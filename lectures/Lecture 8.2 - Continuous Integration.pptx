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5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31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  <p:sldId id="290" r:id="rId37"/>
    <p:sldId id="291" r:id="rId38"/>
    <p:sldId id="292" r:id="rId39"/>
    <p:sldId id="293" r:id="rId40"/>
    <p:sldId id="294" r:id="rId41"/>
    <p:sldId id="295" r:id="rId42"/>
    <p:sldId id="296" r:id="rId43"/>
    <p:sldId id="297" r:id="rId44"/>
    <p:sldId id="298" r:id="rId45"/>
    <p:sldId id="299" r:id="rId46"/>
    <p:sldId id="300" r:id="rId47"/>
    <p:sldId id="301" r:id="rId48"/>
    <p:sldId id="302" r:id="rId49"/>
    <p:sldId id="303" r:id="rId50"/>
    <p:sldId id="304" r:id="rId51"/>
    <p:sldId id="305" r:id="rId52"/>
  </p:sldIdLst>
  <p:sldSz cx="12192000" cy="6858000"/>
  <p:notesSz cx="6858000" cy="9144000"/>
  <p:embeddedFontLst>
    <p:embeddedFont>
      <p:font typeface="Courier Prime" pitchFamily="49" charset="77"/>
      <p:regular r:id="rId54"/>
      <p:bold r:id="rId55"/>
      <p:italic r:id="rId56"/>
      <p:boldItalic r:id="rId5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67" roundtripDataSignature="AMtx7mhtNmXuwXDpfbA9McnPz+orkqG5B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58"/>
  </p:normalViewPr>
  <p:slideViewPr>
    <p:cSldViewPr snapToGrid="0">
      <p:cViewPr varScale="1">
        <p:scale>
          <a:sx n="120" d="100"/>
          <a:sy n="120" d="100"/>
        </p:scale>
        <p:origin x="800" y="18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notesMaster" Target="notesMasters/notesMaster1.xml"/><Relationship Id="rId54" Type="http://schemas.openxmlformats.org/officeDocument/2006/relationships/font" Target="fonts/font1.fntdata"/><Relationship Id="rId55" Type="http://schemas.openxmlformats.org/officeDocument/2006/relationships/font" Target="fonts/font2.fntdata"/><Relationship Id="rId56" Type="http://schemas.openxmlformats.org/officeDocument/2006/relationships/font" Target="fonts/font3.fntdata"/><Relationship Id="rId57" Type="http://schemas.openxmlformats.org/officeDocument/2006/relationships/font" Target="fonts/font4.fntdata"/><Relationship Id="rId67" Type="http://customschemas.google.com/relationships/presentationmetadata" Target="metadata"/><Relationship Id="rId68" Type="http://schemas.openxmlformats.org/officeDocument/2006/relationships/presProps" Target="presProps.xml"/><Relationship Id="rId69" Type="http://schemas.openxmlformats.org/officeDocument/2006/relationships/viewProps" Target="viewProps.xml"/><Relationship Id="rId70" Type="http://schemas.openxmlformats.org/officeDocument/2006/relationships/theme" Target="theme/theme1.xml"/><Relationship Id="rId7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2" name="Google Shape;82;p1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/>
            </a:r>
            <a:endParaRPr dirty="0"/>
          </a:p>
        </p:txBody>
      </p:sp>
      <p:sp>
        <p:nvSpPr>
          <p:cNvPr id="83" name="Google Shape;83;p1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1" name="Google Shape;91;p2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/>
        </p:txBody>
      </p:sp>
      <p:sp>
        <p:nvSpPr>
          <p:cNvPr id="92" name="Google Shape;92;p2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7" name="Google Shape;97;p3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Ask: who's pushed code and forgotten to run tests first? Raise my hand too.</a:t>
            </a:r>
          </a:p>
        </p:txBody>
      </p:sp>
      <p:sp>
        <p:nvSpPr>
          <p:cNvPr id="98" name="Google Shape;98;p3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3e9a67dddcc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04" name="Google Shape;104;g3e9a67dddcc_0_0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Ask: who's pushed code and forgotten to run tests first? Raise my hand too.</a:t>
            </a:r>
          </a:p>
        </p:txBody>
      </p:sp>
      <p:sp>
        <p:nvSpPr>
          <p:cNvPr id="105" name="Google Shape;105;g3e9a67dddcc_0_0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11" name="Google Shape;111;p4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/>
        </p:txBody>
      </p:sp>
      <p:sp>
        <p:nvSpPr>
          <p:cNvPr id="112" name="Google Shape;112;p4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3e9a67dddcc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18" name="Google Shape;118;g3e9a67dddcc_0_6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9" name="Google Shape;119;g3e9a67dddcc_0_6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3e9a67dddcc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25" name="Google Shape;125;g3e9a67dddcc_0_12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6" name="Google Shape;126;g3e9a67dddcc_0_12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3e9a67dddcc_0_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32" name="Google Shape;132;g3e9a67dddcc_0_24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3" name="Google Shape;133;g3e9a67dddcc_0_24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7">
          <a:extLst>
            <a:ext uri="{FF2B5EF4-FFF2-40B4-BE49-F238E27FC236}">
              <a16:creationId xmlns:a16="http://schemas.microsoft.com/office/drawing/2014/main" id="{EC2F0F7F-F205-6951-9948-C000E6C80C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5:notes">
            <a:extLst>
              <a:ext uri="{FF2B5EF4-FFF2-40B4-BE49-F238E27FC236}">
                <a16:creationId xmlns:a16="http://schemas.microsoft.com/office/drawing/2014/main" id="{FBB3E51A-54FF-38BA-F94F-EC349CC780B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39" name="Google Shape;139;p5:notes">
            <a:extLst>
              <a:ext uri="{FF2B5EF4-FFF2-40B4-BE49-F238E27FC236}">
                <a16:creationId xmlns:a16="http://schemas.microsoft.com/office/drawing/2014/main" id="{C4023E84-7D82-74AC-4342-02D93781680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Blocked merge: the back half of today.</a:t>
            </a:r>
          </a:p>
        </p:txBody>
      </p:sp>
      <p:sp>
        <p:nvSpPr>
          <p:cNvPr id="140" name="Google Shape;140;p5:notes">
            <a:extLst>
              <a:ext uri="{FF2B5EF4-FFF2-40B4-BE49-F238E27FC236}">
                <a16:creationId xmlns:a16="http://schemas.microsoft.com/office/drawing/2014/main" id="{76481796-30A5-7F43-3D3F-1A346626C68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9987300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39" name="Google Shape;139;p5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Blocked merge: the back half of today.</a:t>
            </a:r>
          </a:p>
        </p:txBody>
      </p:sp>
      <p:sp>
        <p:nvSpPr>
          <p:cNvPr id="140" name="Google Shape;140;p5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e9b5ced2f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46" name="Google Shape;146;g3e9b5ced2ff_0_0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Blocked merge: the back half of today.</a:t>
            </a:r>
          </a:p>
        </p:txBody>
      </p:sp>
      <p:sp>
        <p:nvSpPr>
          <p:cNvPr id="147" name="Google Shape;147;g3e9b5ced2ff_0_0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e9b5ced2ff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54" name="Google Shape;154;g3e9b5ced2ff_0_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Blocked merge: the back half of today.</a:t>
            </a:r>
          </a:p>
        </p:txBody>
      </p:sp>
      <p:sp>
        <p:nvSpPr>
          <p:cNvPr id="155" name="Google Shape;155;g3e9b5ced2ff_0_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63" name="Google Shape;163;p6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/>
        </p:txBody>
      </p:sp>
      <p:sp>
        <p:nvSpPr>
          <p:cNvPr id="164" name="Google Shape;164;p6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69" name="Google Shape;169;p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Contrast with CircleCI / Jenkins: just a file in your repo.</a:t>
            </a:r>
          </a:p>
        </p:txBody>
      </p:sp>
      <p:sp>
        <p:nvSpPr>
          <p:cNvPr id="170" name="Google Shape;170;p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g3e9b5ced2ff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6" name="Google Shape;176;g3e9b5ced2ff_0_15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Say the hierarchy out loud: events trigger workflows, workflows contain jobs, jobs contain steps.</a:t>
            </a:r>
          </a:p>
        </p:txBody>
      </p:sp>
      <p:sp>
        <p:nvSpPr>
          <p:cNvPr id="177" name="Google Shape;177;g3e9b5ced2ff_0_15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g3e9b5ced2ff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83" name="Google Shape;183;g3e9b5ced2ff_0_21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Say the hierarchy out loud: events trigger workflows, workflows contain jobs, jobs contain steps.</a:t>
            </a:r>
          </a:p>
        </p:txBody>
      </p:sp>
      <p:sp>
        <p:nvSpPr>
          <p:cNvPr id="184" name="Google Shape;184;g3e9b5ced2ff_0_21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g3e9b5ced2ff_0_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90" name="Google Shape;190;g3e9b5ced2ff_0_2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Say the hierarchy out loud: events trigger workflows, workflows contain jobs, jobs contain steps.</a:t>
            </a:r>
          </a:p>
        </p:txBody>
      </p:sp>
      <p:sp>
        <p:nvSpPr>
          <p:cNvPr id="191" name="Google Shape;191;g3e9b5ced2ff_0_2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97" name="Google Shape;197;p8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Say the hierarchy out loud: events trigger workflows, workflows contain jobs, jobs contain steps.</a:t>
            </a:r>
          </a:p>
        </p:txBody>
      </p:sp>
      <p:sp>
        <p:nvSpPr>
          <p:cNvPr id="198" name="Google Shape;198;p8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04" name="Google Shape;204;p9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/>
        </p:txBody>
      </p:sp>
      <p:sp>
        <p:nvSpPr>
          <p:cNvPr id="205" name="Google Shape;205;p9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11" name="Google Shape;211;p10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Walk through line by line.</a:t>
            </a:r>
          </a:p>
        </p:txBody>
      </p:sp>
      <p:sp>
        <p:nvSpPr>
          <p:cNvPr id="212" name="Google Shape;212;p10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0" name="Google Shape;220;p11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/>
        </p:txBody>
      </p:sp>
      <p:sp>
        <p:nvSpPr>
          <p:cNvPr id="221" name="Google Shape;221;p11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g3e9b5ced2ff_0_1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7" name="Google Shape;227;g3e9b5ced2ff_0_148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`cache: pip`: first run same speed, later runs skip the download.</a:t>
            </a:r>
          </a:p>
        </p:txBody>
      </p:sp>
      <p:sp>
        <p:nvSpPr>
          <p:cNvPr id="228" name="Google Shape;228;g3e9b5ced2ff_0_148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36" name="Google Shape;236;p12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`cache: pip`: first run same speed, later runs skip the download.</a:t>
            </a:r>
          </a:p>
        </p:txBody>
      </p:sp>
      <p:sp>
        <p:nvSpPr>
          <p:cNvPr id="237" name="Google Shape;237;p12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g3e9b5ced2ff_0_1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5" name="Google Shape;245;g3e9b5ced2ff_0_156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/>
        </p:txBody>
      </p:sp>
      <p:sp>
        <p:nvSpPr>
          <p:cNvPr id="246" name="Google Shape;246;g3e9b5ced2ff_0_156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g3e9b5ced2ff_0_1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54" name="Google Shape;254;g3e9b5ced2ff_0_164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Answer (b): fresh VM, no repo without checkout; setup-python doesn't need code, pip does.</a:t>
            </a:r>
          </a:p>
        </p:txBody>
      </p:sp>
      <p:sp>
        <p:nvSpPr>
          <p:cNvPr id="255" name="Google Shape;255;g3e9b5ced2ff_0_164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63" name="Google Shape;263;p14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Same model as 8.1's 'container is just a process'. Workdir is $GITHUB_WORKSPACE if asked.</a:t>
            </a:r>
          </a:p>
        </p:txBody>
      </p:sp>
      <p:sp>
        <p:nvSpPr>
          <p:cNvPr id="264" name="Google Shape;264;p14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70" name="Google Shape;270;p15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Also OS matrix (ubuntu/macos/windows). Final project doesn't need this.</a:t>
            </a:r>
          </a:p>
        </p:txBody>
      </p:sp>
      <p:sp>
        <p:nvSpPr>
          <p:cNvPr id="271" name="Google Shape;271;p15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g3e9a67dddcc_0_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79" name="Google Shape;279;g3e9a67dddcc_0_72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Anything deterministic belongs in CI: ruff, eslint/prettier, mypy. Third lint step: `ruff format --check .`</a:t>
            </a:r>
          </a:p>
        </p:txBody>
      </p:sp>
      <p:sp>
        <p:nvSpPr>
          <p:cNvPr id="280" name="Google Shape;280;g3e9a67dddcc_0_72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88" name="Google Shape;288;p16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Anything deterministic belongs in CI: ruff, eslint/prettier, mypy. Third lint step: `ruff format --check .`</a:t>
            </a:r>
          </a:p>
        </p:txBody>
      </p:sp>
      <p:sp>
        <p:nvSpPr>
          <p:cNvPr id="289" name="Google Shape;289;p16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97" name="Google Shape;297;p1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/>
        </p:txBody>
      </p:sp>
      <p:sp>
        <p:nvSpPr>
          <p:cNvPr id="298" name="Google Shape;298;p1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03" name="Google Shape;303;p18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/>
        </p:txBody>
      </p:sp>
      <p:sp>
        <p:nvSpPr>
          <p:cNvPr id="304" name="Google Shape;304;p18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10" name="Google Shape;310;p19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Don't go deep, most teams will be on Railway.</a:t>
            </a:r>
          </a:p>
        </p:txBody>
      </p:sp>
      <p:sp>
        <p:nvSpPr>
          <p:cNvPr id="311" name="Google Shape;311;p19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g3e9a67dddcc_0_66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17" name="Google Shape;317;g3e9a67dddcc_0_66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/>
        </p:txBody>
      </p:sp>
      <p:sp>
        <p:nvSpPr>
          <p:cNvPr id="318" name="Google Shape;318;g3e9a67dddcc_0_66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24" name="Google Shape;324;p20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/>
        </p:txBody>
      </p:sp>
      <p:sp>
        <p:nvSpPr>
          <p:cNvPr id="325" name="Google Shape;325;p20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31" name="Google Shape;331;p21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Call on someone. Answer (d): key stays in git history, logs readable on any PR.</a:t>
            </a:r>
          </a:p>
        </p:txBody>
      </p:sp>
      <p:sp>
        <p:nvSpPr>
          <p:cNvPr id="332" name="Google Shape;332;p21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g3e9a67dddcc_0_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40" name="Google Shape;340;g3e9a67dddcc_0_60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Same pattern as 8.1's .env spot-the-bug. If time, show `***` masking in UI.</a:t>
            </a:r>
          </a:p>
        </p:txBody>
      </p:sp>
      <p:sp>
        <p:nvSpPr>
          <p:cNvPr id="341" name="Google Shape;341;g3e9a67dddcc_0_60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47" name="Google Shape;347;p22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Same pattern as 8.1's .env spot-the-bug. If time, show `***` masking in UI.</a:t>
            </a:r>
          </a:p>
        </p:txBody>
      </p:sp>
      <p:sp>
        <p:nvSpPr>
          <p:cNvPr id="348" name="Google Shape;348;p22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Google Shape;353;p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54" name="Google Shape;354;p23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Tell them: agents skip branch protection unless asked for it.</a:t>
            </a:r>
          </a:p>
        </p:txBody>
      </p:sp>
      <p:sp>
        <p:nvSpPr>
          <p:cNvPr id="355" name="Google Shape;355;p23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p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61" name="Google Shape;361;p24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/>
        </p:txBody>
      </p:sp>
      <p:sp>
        <p:nvSpPr>
          <p:cNvPr id="362" name="Google Shape;362;p24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Google Shape;366;p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67" name="Google Shape;367;p25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Two green PRs can still break main together. Fix: 'require branches up to date' checkbox.</a:t>
            </a:r>
          </a:p>
        </p:txBody>
      </p:sp>
      <p:sp>
        <p:nvSpPr>
          <p:cNvPr id="368" name="Google Shape;368;p25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g3e9a67dddcc_0_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74" name="Google Shape;374;g3e9a67dddcc_0_54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Two green PRs can still break main together. Fix: 'require branches up to date' checkbox.</a:t>
            </a:r>
          </a:p>
        </p:txBody>
      </p:sp>
      <p:sp>
        <p:nvSpPr>
          <p:cNvPr id="375" name="Google Shape;375;g3e9a67dddcc_0_54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Google Shape;380;g3e9a67dddcc_0_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81" name="Google Shape;381;g3e9a67dddcc_0_48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Self-review of your own PR catches dumb stuff too.</a:t>
            </a:r>
          </a:p>
        </p:txBody>
      </p:sp>
      <p:sp>
        <p:nvSpPr>
          <p:cNvPr id="382" name="Google Shape;382;g3e9a67dddcc_0_48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Google Shape;387;g3e9a67dddcc_0_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88" name="Google Shape;388;g3e9a67dddcc_0_36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Self-review of your own PR catches dumb stuff too.</a:t>
            </a:r>
          </a:p>
        </p:txBody>
      </p:sp>
      <p:sp>
        <p:nvSpPr>
          <p:cNvPr id="389" name="Google Shape;389;g3e9a67dddcc_0_36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Google Shape;394;g3e9a67dddcc_0_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95" name="Google Shape;395;g3e9a67dddcc_0_42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Self-review of your own PR catches dumb stuff too.</a:t>
            </a:r>
          </a:p>
        </p:txBody>
      </p:sp>
      <p:sp>
        <p:nvSpPr>
          <p:cNvPr id="396" name="Google Shape;396;g3e9a67dddcc_0_42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g3e9a67dddcc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02" name="Google Shape;402;g3e9a67dddcc_0_30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Self-review of your own PR catches dumb stuff too.</a:t>
            </a:r>
          </a:p>
        </p:txBody>
      </p:sp>
      <p:sp>
        <p:nvSpPr>
          <p:cNvPr id="403" name="Google Shape;403;g3e9a67dddcc_0_30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Google Shape;408;p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09" name="Google Shape;409;p26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Self-review of your own PR catches dumb stuff too.</a:t>
            </a:r>
          </a:p>
        </p:txBody>
      </p:sp>
      <p:sp>
        <p:nvSpPr>
          <p:cNvPr id="410" name="Google Shape;410;p26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Google Shape;415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16" name="Google Shape;416;p2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/>
          <a:p>
            <a:r>
              <a:t>name: Tests</a:t>
            </a:r>
          </a:p>
          <a:p/>
          <a:p>
            <a:r>
              <a:t>on: [push, pull_request]</a:t>
            </a:r>
          </a:p>
          <a:p/>
          <a:p>
            <a:r>
              <a:t>jobs:</a:t>
            </a:r>
          </a:p>
          <a:p>
            <a:r>
              <a:t>  test:</a:t>
            </a:r>
          </a:p>
          <a:p>
            <a:r>
              <a:t>    runs-on: ubuntu-latest</a:t>
            </a:r>
          </a:p>
          <a:p>
            <a:r>
              <a:t>    steps:</a:t>
            </a:r>
          </a:p>
          <a:p>
            <a:r>
              <a:t>      - uses: actions/checkout@v6</a:t>
            </a:r>
          </a:p>
          <a:p>
            <a:r>
              <a:t>      - uses: actions/setup-python@v6</a:t>
            </a:r>
          </a:p>
          <a:p>
            <a:r>
              <a:t>        with:</a:t>
            </a:r>
          </a:p>
          <a:p>
            <a:r>
              <a:t>          python-version: "3.12"</a:t>
            </a:r>
          </a:p>
          <a:p/>
          <a:p>
            <a:r>
              <a:t>      - run: pip install -r requirements.txt</a:t>
            </a:r>
          </a:p>
          <a:p>
            <a:r>
              <a:t>      - run: pytest</a:t>
            </a:r>
          </a:p>
        </p:txBody>
      </p:sp>
      <p:sp>
        <p:nvSpPr>
          <p:cNvPr id="417" name="Google Shape;417;p2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g3e9b5ced2ff_0_1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25" name="Google Shape;425;g3e9b5ced2ff_0_172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6" name="Google Shape;426;g3e9b5ced2ff_0_172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Google Shape;433;g3e9b5ced2ff_0_194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34" name="Google Shape;434;g3e9b5ced2ff_0_194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/>
        </p:txBody>
      </p:sp>
      <p:sp>
        <p:nvSpPr>
          <p:cNvPr id="435" name="Google Shape;435;g3e9b5ced2ff_0_194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Google Shape;442;p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43" name="Google Shape;443;p28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Point at the final comment block: branch protection is the step that matters.</a:t>
            </a:r>
          </a:p>
        </p:txBody>
      </p:sp>
      <p:sp>
        <p:nvSpPr>
          <p:cNvPr id="444" name="Google Shape;444;p28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" name="Google Shape;451;p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52" name="Google Shape;452;p29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Warn: next class on concurrency is a different kind of material.</a:t>
            </a:r>
          </a:p>
        </p:txBody>
      </p:sp>
      <p:sp>
        <p:nvSpPr>
          <p:cNvPr id="453" name="Google Shape;453;p29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3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3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2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2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33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33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3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3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3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34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34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3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3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3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35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35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35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3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3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3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3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36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36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36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36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3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3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3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3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3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3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3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38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38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38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3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3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3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39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39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39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3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3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3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40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0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4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4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4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41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41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4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4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4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30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30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3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3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3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5B21B6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1"/>
          <p:cNvSpPr txBox="1"/>
          <p:nvPr/>
        </p:nvSpPr>
        <p:spPr>
          <a:xfrm>
            <a:off x="914400" y="1645920"/>
            <a:ext cx="10362895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Lecture 8.2</a:t>
            </a:r>
            <a:endParaRPr/>
          </a:p>
        </p:txBody>
      </p:sp>
      <p:sp>
        <p:nvSpPr>
          <p:cNvPr id="87" name="Google Shape;87;p1"/>
          <p:cNvSpPr txBox="1"/>
          <p:nvPr/>
        </p:nvSpPr>
        <p:spPr>
          <a:xfrm>
            <a:off x="914400" y="2468880"/>
            <a:ext cx="10362895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CI/CD with GitHub Actions</a:t>
            </a:r>
            <a:endParaRPr/>
          </a:p>
        </p:txBody>
      </p:sp>
      <p:sp>
        <p:nvSpPr>
          <p:cNvPr id="88" name="Google Shape;88;p1"/>
          <p:cNvSpPr txBox="1"/>
          <p:nvPr/>
        </p:nvSpPr>
        <p:spPr>
          <a:xfrm>
            <a:off x="914400" y="4754880"/>
            <a:ext cx="1036289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Andy Aymeloglu - UATX Software Engineering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DE9FE"/>
        </a:solidFill>
        <a:effectLst/>
      </p:bgPr>
    </p:bg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"/>
          <p:cNvSpPr txBox="1"/>
          <p:nvPr/>
        </p:nvSpPr>
        <p:spPr>
          <a:xfrm>
            <a:off x="914400" y="2286000"/>
            <a:ext cx="10362900" cy="76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b="1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One Last Piece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3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We’re almost at the end</a:t>
            </a:r>
            <a:endParaRPr/>
          </a:p>
        </p:txBody>
      </p:sp>
      <p:sp>
        <p:nvSpPr>
          <p:cNvPr id="101" name="Google Shape;101;p3"/>
          <p:cNvSpPr txBox="1"/>
          <p:nvPr/>
        </p:nvSpPr>
        <p:spPr>
          <a:xfrm>
            <a:off x="914400" y="1463040"/>
            <a:ext cx="10362900" cy="200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Think back over the last few weeks:</a:t>
            </a:r>
            <a:endParaRPr sz="2400" b="0" i="0" u="none" strike="noStrike" cap="non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Four weeks ago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you learned to write tests with pytest.</a:t>
            </a:r>
            <a:r>
              <a:rPr lang="en-US"/>
              <a:t> </a:t>
            </a: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Last Thursday/Tuesday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you learned to deploy with Railway, with 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optional Docker control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e9a67dddcc_0_0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We’re almost at the end</a:t>
            </a:r>
            <a:endParaRPr/>
          </a:p>
        </p:txBody>
      </p:sp>
      <p:sp>
        <p:nvSpPr>
          <p:cNvPr id="108" name="Google Shape;108;g3e9a67dddcc_0_0"/>
          <p:cNvSpPr txBox="1"/>
          <p:nvPr/>
        </p:nvSpPr>
        <p:spPr>
          <a:xfrm>
            <a:off x="914400" y="1463040"/>
            <a:ext cx="10362900" cy="327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Think back over the last few weeks:</a:t>
            </a:r>
            <a:endParaRPr sz="2400" b="0" i="0" u="none" strike="noStrike" cap="none" dirty="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Four weeks ago</a:t>
            </a: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you learned to write tests with </a:t>
            </a:r>
            <a:r>
              <a:rPr lang="en-US" sz="2000" b="0" i="0" u="none" strike="noStrike" cap="none" dirty="0" err="1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pytest</a:t>
            </a: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r>
              <a:rPr lang="en-US" dirty="0"/>
              <a:t> </a:t>
            </a:r>
            <a:endParaRPr sz="2000" b="0" i="0" u="none" strike="noStrike" cap="none" dirty="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Last Thursday/Tuesday</a:t>
            </a: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you learned to deploy with Railway, with </a:t>
            </a:r>
            <a:r>
              <a:rPr lang="en-US" sz="2000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optional Docker control</a:t>
            </a:r>
            <a:endParaRPr dirty="0"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 dirty="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Nothing says "before the deploy, make sure the tests pass."</a:t>
            </a:r>
            <a:endParaRPr dirty="0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You just push and hope it's fine.</a:t>
            </a:r>
            <a:endParaRPr sz="2000" b="0" i="0" u="none" strike="noStrike" cap="none" dirty="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dirty="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2400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Time to connect them.</a:t>
            </a:r>
            <a:endParaRPr sz="2000" dirty="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4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If running tests is a chore, it won't happen every time</a:t>
            </a:r>
            <a:endParaRPr/>
          </a:p>
        </p:txBody>
      </p:sp>
      <p:sp>
        <p:nvSpPr>
          <p:cNvPr id="115" name="Google Shape;115;p4"/>
          <p:cNvSpPr txBox="1"/>
          <p:nvPr/>
        </p:nvSpPr>
        <p:spPr>
          <a:xfrm>
            <a:off x="914400" y="1463040"/>
            <a:ext cx="10362900" cy="487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I doubt you’</a:t>
            </a:r>
            <a:r>
              <a:rPr lang="en-US" sz="2400" b="1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ll run your tests before every push</a:t>
            </a: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dirty="0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Neither will your teammate. Neither will I.</a:t>
            </a:r>
            <a:endParaRPr dirty="0"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 dirty="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Humans are bad at repetitive chores, especially when the feedback loop is slow.</a:t>
            </a:r>
            <a:endParaRPr dirty="0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("wait 30 seconds for </a:t>
            </a:r>
            <a:r>
              <a:rPr lang="en-US" sz="2000" b="0" i="0" u="none" strike="noStrike" cap="none" dirty="0" err="1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pytest</a:t>
            </a: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") and the cost of</a:t>
            </a:r>
            <a:endParaRPr dirty="0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skipping is invisible ("I'm pretty sure this change is fine").</a:t>
            </a:r>
            <a:endParaRPr dirty="0"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 dirty="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Eventually someone pushes broken code to main. Railway deploys it.</a:t>
            </a:r>
            <a:endParaRPr dirty="0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The site breaks. Nobody notices for an hour. You spend the rest</a:t>
            </a:r>
            <a:endParaRPr dirty="0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of the day reverting and apologizing for it.</a:t>
            </a:r>
            <a:endParaRPr dirty="0"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 dirty="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This shit happens, then you choose to setup CI</a:t>
            </a:r>
            <a:endParaRPr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e9a67dddcc_0_6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Assignment 4</a:t>
            </a:r>
            <a:endParaRPr/>
          </a:p>
        </p:txBody>
      </p:sp>
      <p:sp>
        <p:nvSpPr>
          <p:cNvPr id="122" name="Google Shape;122;g3e9a67dddcc_0_6"/>
          <p:cNvSpPr txBox="1"/>
          <p:nvPr/>
        </p:nvSpPr>
        <p:spPr>
          <a:xfrm>
            <a:off x="914400" y="1463040"/>
            <a:ext cx="10362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All but a couple of you had a test directory</a:t>
            </a:r>
            <a:endParaRPr sz="200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3e9a67dddcc_0_12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Assignment 4</a:t>
            </a:r>
            <a:endParaRPr/>
          </a:p>
        </p:txBody>
      </p:sp>
      <p:sp>
        <p:nvSpPr>
          <p:cNvPr id="129" name="Google Shape;129;g3e9a67dddcc_0_12"/>
          <p:cNvSpPr txBox="1"/>
          <p:nvPr/>
        </p:nvSpPr>
        <p:spPr>
          <a:xfrm>
            <a:off x="914400" y="1463040"/>
            <a:ext cx="10362900" cy="172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All but a couple of you had a test directory</a:t>
            </a:r>
            <a:endParaRPr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Half of you had your agent write Playwright (frontend) tests - we didn’t even talk about that!</a:t>
            </a:r>
            <a:endParaRPr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g3e9a67dddcc_0_24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Assignment 4</a:t>
            </a:r>
            <a:endParaRPr/>
          </a:p>
        </p:txBody>
      </p:sp>
      <p:sp>
        <p:nvSpPr>
          <p:cNvPr id="136" name="Google Shape;136;g3e9a67dddcc_0_24"/>
          <p:cNvSpPr txBox="1"/>
          <p:nvPr/>
        </p:nvSpPr>
        <p:spPr>
          <a:xfrm>
            <a:off x="914400" y="1463040"/>
            <a:ext cx="10362900" cy="261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All but a couple of you had a test directory</a:t>
            </a:r>
            <a:endParaRPr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Half of you had your agent write Playwright (frontend) tests - we didn’t even talk about that!</a:t>
            </a:r>
            <a:endParaRPr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Zero of you configured them to run in Github</a:t>
            </a:r>
            <a:endParaRPr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>
          <a:extLst>
            <a:ext uri="{FF2B5EF4-FFF2-40B4-BE49-F238E27FC236}">
              <a16:creationId xmlns:a16="http://schemas.microsoft.com/office/drawing/2014/main" id="{BA86849A-4C6A-90A3-C481-FBD7883DD0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5">
            <a:extLst>
              <a:ext uri="{FF2B5EF4-FFF2-40B4-BE49-F238E27FC236}">
                <a16:creationId xmlns:a16="http://schemas.microsoft.com/office/drawing/2014/main" id="{009C0738-85F2-C348-2787-C7B6B0C74816}"/>
              </a:ext>
            </a:extLst>
          </p:cNvPr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Continuous Integration = tests, automatic</a:t>
            </a:r>
            <a:endParaRPr/>
          </a:p>
        </p:txBody>
      </p:sp>
      <p:sp>
        <p:nvSpPr>
          <p:cNvPr id="143" name="Google Shape;143;p5">
            <a:extLst>
              <a:ext uri="{FF2B5EF4-FFF2-40B4-BE49-F238E27FC236}">
                <a16:creationId xmlns:a16="http://schemas.microsoft.com/office/drawing/2014/main" id="{969C2213-8BF0-EF6A-C451-B042109F14C8}"/>
              </a:ext>
            </a:extLst>
          </p:cNvPr>
          <p:cNvSpPr txBox="1"/>
          <p:nvPr/>
        </p:nvSpPr>
        <p:spPr>
          <a:xfrm>
            <a:off x="914400" y="1463040"/>
            <a:ext cx="10362900" cy="3985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Continuous Integration (CI):</a:t>
            </a:r>
            <a:endParaRPr dirty="0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The practice of running your test suite automatically on every change, on a computer you</a:t>
            </a:r>
            <a:endParaRPr dirty="0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don't control, with the result reported back to you.</a:t>
            </a:r>
            <a:endParaRPr dirty="0"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 dirty="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The effect:</a:t>
            </a:r>
            <a:endParaRPr sz="2400" b="0" i="0" u="none" strike="noStrike" cap="none" dirty="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Nobody has to remember to run tests. The robot does it.</a:t>
            </a:r>
            <a:endParaRPr dirty="0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Results show up next to every commit on GitHub</a:t>
            </a:r>
            <a:endParaRPr dirty="0"/>
          </a:p>
          <a:p>
            <a:pPr marL="457200" lvl="1">
              <a:spcBef>
                <a:spcPts val="600"/>
              </a:spcBef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	A</a:t>
            </a:r>
            <a:r>
              <a:rPr lang="en-US" sz="2000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green check if </a:t>
            </a: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they pass, a red X if they don't.</a:t>
            </a:r>
            <a:endParaRPr dirty="0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Broken code gets caught in 30 seconds instead of 30 hours.</a:t>
            </a:r>
            <a:endParaRPr dirty="0"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 dirty="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8015848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5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Continuous Integration = tests, automatic</a:t>
            </a:r>
            <a:endParaRPr/>
          </a:p>
        </p:txBody>
      </p:sp>
      <p:sp>
        <p:nvSpPr>
          <p:cNvPr id="143" name="Google Shape;143;p5"/>
          <p:cNvSpPr txBox="1"/>
          <p:nvPr/>
        </p:nvSpPr>
        <p:spPr>
          <a:xfrm>
            <a:off x="914400" y="1463040"/>
            <a:ext cx="10362900" cy="481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Continuous Integration (CI):</a:t>
            </a:r>
            <a:endParaRPr dirty="0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The practice of running your test suite automatically on every change, on a computer you</a:t>
            </a:r>
            <a:endParaRPr dirty="0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don't control, with the result reported back to you.</a:t>
            </a:r>
            <a:endParaRPr dirty="0"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 dirty="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The effect:</a:t>
            </a:r>
            <a:endParaRPr sz="2400" b="0" i="0" u="none" strike="noStrike" cap="none" dirty="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Nobody has to remember to run tests. The robot does it.</a:t>
            </a:r>
            <a:endParaRPr dirty="0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Results show up next to every commit on GitHub</a:t>
            </a:r>
            <a:endParaRPr dirty="0"/>
          </a:p>
          <a:p>
            <a:pPr marL="457200" lvl="1">
              <a:spcBef>
                <a:spcPts val="600"/>
              </a:spcBef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	A</a:t>
            </a:r>
            <a:r>
              <a:rPr lang="en-US" sz="2000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green check if </a:t>
            </a: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they pass, a red X if they don't.</a:t>
            </a:r>
            <a:endParaRPr dirty="0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Broken code gets caught in 30 seconds instead of 30 hours.</a:t>
            </a:r>
            <a:endParaRPr dirty="0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Pull requests can be </a:t>
            </a:r>
            <a:r>
              <a:rPr lang="en-US" sz="2000" b="1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blocked from merging</a:t>
            </a: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until tests pass.</a:t>
            </a:r>
            <a:endParaRPr dirty="0"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 dirty="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</a:t>
            </a:r>
            <a:r>
              <a:rPr lang="en-US" sz="2400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e</a:t>
            </a: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last one is the feature that matters</a:t>
            </a:r>
            <a:endParaRPr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g3e9b5ced2ff_0_0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Continuous Integration = tests, automatic</a:t>
            </a:r>
            <a:endParaRPr/>
          </a:p>
        </p:txBody>
      </p:sp>
      <p:sp>
        <p:nvSpPr>
          <p:cNvPr id="150" name="Google Shape;150;g3e9b5ced2ff_0_0"/>
          <p:cNvSpPr txBox="1"/>
          <p:nvPr/>
        </p:nvSpPr>
        <p:spPr>
          <a:xfrm>
            <a:off x="914400" y="1463040"/>
            <a:ext cx="103629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51" name="Google Shape;151;g3e9b5ced2ff_0_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58675" y="1310025"/>
            <a:ext cx="10728602" cy="3792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3e9b5ced2ff_0_7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Continuous Integration = tests, automatic</a:t>
            </a:r>
            <a:endParaRPr/>
          </a:p>
        </p:txBody>
      </p:sp>
      <p:sp>
        <p:nvSpPr>
          <p:cNvPr id="158" name="Google Shape;158;g3e9b5ced2ff_0_7"/>
          <p:cNvSpPr txBox="1"/>
          <p:nvPr/>
        </p:nvSpPr>
        <p:spPr>
          <a:xfrm>
            <a:off x="914400" y="1463040"/>
            <a:ext cx="103629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59" name="Google Shape;159;g3e9b5ced2ff_0_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58675" y="1310025"/>
            <a:ext cx="10728602" cy="37927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0" name="Google Shape;160;g3e9b5ced2ff_0_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834963" y="1770850"/>
            <a:ext cx="8521726" cy="4099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DE9FE"/>
        </a:solidFill>
        <a:effectLst/>
      </p:bgPr>
    </p:bg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6"/>
          <p:cNvSpPr txBox="1"/>
          <p:nvPr/>
        </p:nvSpPr>
        <p:spPr>
          <a:xfrm>
            <a:off x="914400" y="2286000"/>
            <a:ext cx="10362895" cy="22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b="1" i="0" u="none" strike="noStrike" cap="non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GitHub Actions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7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What GitHub Actions is</a:t>
            </a:r>
            <a:endParaRPr/>
          </a:p>
        </p:txBody>
      </p:sp>
      <p:sp>
        <p:nvSpPr>
          <p:cNvPr id="173" name="Google Shape;173;p7"/>
          <p:cNvSpPr txBox="1"/>
          <p:nvPr/>
        </p:nvSpPr>
        <p:spPr>
          <a:xfrm>
            <a:off x="914400" y="1463040"/>
            <a:ext cx="10362900" cy="44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GitHub Actions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is a CI/CD system built into every GitHub repo.</a:t>
            </a:r>
            <a:endParaRPr sz="2400" b="0" i="0" u="none" strike="noStrike" cap="non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Free for public repos. 2000 minutes/month free for private.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No separate service to sign up for - it's already in your repo.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No separate dashboard - results show up on the commit page.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The deal: you drop a YAML file in </a:t>
            </a:r>
            <a:r>
              <a:rPr lang="en-US" sz="2400" b="1" i="0" u="none" strike="noStrike" cap="none">
                <a:solidFill>
                  <a:srgbClr val="333344"/>
                </a:solidFill>
                <a:latin typeface="Courier Prime"/>
                <a:ea typeface="Courier Prime"/>
                <a:cs typeface="Courier Prime"/>
                <a:sym typeface="Courier Prime"/>
              </a:rPr>
              <a:t>.github/workflows/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describing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"when this event happens, run these steps on a fresh computer."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GitHub finds the file automatically - just commit the file and push.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Push a commit, GitHub spins up an Ubuntu VM, runs your steps,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reports the result, tears down the VM. 30-90 seconds per run.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g3e9b5ced2ff_0_15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GitHub Action vocabulary</a:t>
            </a:r>
            <a:endParaRPr/>
          </a:p>
        </p:txBody>
      </p:sp>
      <p:sp>
        <p:nvSpPr>
          <p:cNvPr id="180" name="Google Shape;180;g3e9b5ced2ff_0_15"/>
          <p:cNvSpPr txBox="1"/>
          <p:nvPr/>
        </p:nvSpPr>
        <p:spPr>
          <a:xfrm>
            <a:off x="914400" y="1463040"/>
            <a:ext cx="10362900" cy="475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Almost every GHA tutorial uses these four words.</a:t>
            </a:r>
            <a:endParaRPr sz="2400" b="0" i="0" u="none" strike="noStrike" cap="non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Event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something that triggers a run (`push`,</a:t>
            </a:r>
            <a:r>
              <a:rPr lang="en-US"/>
              <a:t> 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`pull_request`, `schedule`, manual, etc.)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It's the same shape every time: Event -&gt; Workflow -&gt; Job -&gt; Step.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g3e9b5ced2ff_0_21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GitHub Action vocabulary</a:t>
            </a:r>
            <a:endParaRPr/>
          </a:p>
        </p:txBody>
      </p:sp>
      <p:sp>
        <p:nvSpPr>
          <p:cNvPr id="187" name="Google Shape;187;g3e9b5ced2ff_0_21"/>
          <p:cNvSpPr txBox="1"/>
          <p:nvPr/>
        </p:nvSpPr>
        <p:spPr>
          <a:xfrm>
            <a:off x="914400" y="1463040"/>
            <a:ext cx="10362900" cy="475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Almost every GHA tutorial uses these four words.</a:t>
            </a:r>
            <a:endParaRPr sz="2400" b="0" i="0" u="none" strike="noStrike" cap="non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Event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something that triggers a run (`push`,</a:t>
            </a:r>
            <a:r>
              <a:rPr lang="en-US"/>
              <a:t> 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`pull_request`, `schedule`, manual, etc.)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Workflow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a YAML file in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.github/workflows/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that says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 "when these events happen, do this."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It's the same shape every time: Event -&gt; Workflow -&gt; Job -&gt; Step.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g3e9b5ced2ff_0_27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GitHub Action vocabulary</a:t>
            </a:r>
            <a:endParaRPr/>
          </a:p>
        </p:txBody>
      </p:sp>
      <p:sp>
        <p:nvSpPr>
          <p:cNvPr id="194" name="Google Shape;194;g3e9b5ced2ff_0_27"/>
          <p:cNvSpPr txBox="1"/>
          <p:nvPr/>
        </p:nvSpPr>
        <p:spPr>
          <a:xfrm>
            <a:off x="914400" y="1463040"/>
            <a:ext cx="10362900" cy="475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Almost every GHA tutorial uses these four words.</a:t>
            </a:r>
            <a:endParaRPr sz="2400" b="0" i="0" u="none" strike="noStrike" cap="non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Event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something that triggers a run (`push`,</a:t>
            </a:r>
            <a:r>
              <a:rPr lang="en-US"/>
              <a:t> 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`pull_request`, `schedule`, manual, etc.)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Workflow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a YAML file in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.github/workflows/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that says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 "when these events happen, do this."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Job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a group of steps that run together on one fresh VM.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 Multiple jobs run in parallel.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It's the same shape every time: Event -&gt; Workflow -&gt; Job -&gt; Step.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8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GitHub Action vocabulary</a:t>
            </a:r>
            <a:endParaRPr/>
          </a:p>
        </p:txBody>
      </p:sp>
      <p:sp>
        <p:nvSpPr>
          <p:cNvPr id="201" name="Google Shape;201;p8"/>
          <p:cNvSpPr txBox="1"/>
          <p:nvPr/>
        </p:nvSpPr>
        <p:spPr>
          <a:xfrm>
            <a:off x="914400" y="1463040"/>
            <a:ext cx="10362900" cy="475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Almost every GHA tutorial uses these four words.</a:t>
            </a:r>
            <a:endParaRPr sz="2400" b="0" i="0" u="none" strike="noStrike" cap="non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Event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something that triggers a run (`push`,</a:t>
            </a:r>
            <a:r>
              <a:rPr lang="en-US"/>
              <a:t> 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`pull_request`, `schedule`, manual, etc.)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Workflow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a YAML file in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.github/workflows/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that says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 "when these events happen, do this."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Job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a group of steps that run together on one fresh VM.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 Multiple jobs run in parallel.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Step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one shell command, or one reusable "action."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It's the same shape every time: Event -&gt; Workflow -&gt; Job -&gt; Step.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9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Where the workflow file lives</a:t>
            </a:r>
            <a:endParaRPr/>
          </a:p>
        </p:txBody>
      </p:sp>
      <p:sp>
        <p:nvSpPr>
          <p:cNvPr id="208" name="Google Shape;208;p9"/>
          <p:cNvSpPr txBox="1"/>
          <p:nvPr/>
        </p:nvSpPr>
        <p:spPr>
          <a:xfrm>
            <a:off x="914400" y="1463040"/>
            <a:ext cx="10362900" cy="449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The file goes at this path in your repo:</a:t>
            </a:r>
            <a:endParaRPr sz="2400" b="0" i="0" u="none" strike="noStrike" cap="non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.github/workflows/test.yml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GitHub scans that directory every time you push.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Any .yml file in it gets registered as a workflow. 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You can have multiple 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files - one for tests, one for linting, etc.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One workflow per file, named by convention.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Filename is just a label - the actual behavior lives inside the YAML.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Commit the file, push, and GitHub starts running it next push.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0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A minimal pytest workflow</a:t>
            </a:r>
            <a:endParaRPr/>
          </a:p>
        </p:txBody>
      </p:sp>
      <p:sp>
        <p:nvSpPr>
          <p:cNvPr id="215" name="Google Shape;215;p10"/>
          <p:cNvSpPr txBox="1"/>
          <p:nvPr/>
        </p:nvSpPr>
        <p:spPr>
          <a:xfrm>
            <a:off x="9601200" y="118872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YAML</a:t>
            </a:r>
            <a:endParaRPr/>
          </a:p>
        </p:txBody>
      </p:sp>
      <p:sp>
        <p:nvSpPr>
          <p:cNvPr id="216" name="Google Shape;216;p10"/>
          <p:cNvSpPr/>
          <p:nvPr/>
        </p:nvSpPr>
        <p:spPr>
          <a:xfrm>
            <a:off x="731520" y="1463040"/>
            <a:ext cx="10728655" cy="4937760"/>
          </a:xfrm>
          <a:prstGeom prst="roundRect">
            <a:avLst>
              <a:gd name="adj" fmla="val 16667"/>
            </a:avLst>
          </a:prstGeom>
          <a:solidFill>
            <a:srgbClr val="F0F0F4"/>
          </a:solidFill>
          <a:ln w="12700" cap="flat" cmpd="sng">
            <a:solidFill>
              <a:srgbClr val="EEEE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10"/>
          <p:cNvSpPr txBox="1"/>
          <p:nvPr/>
        </p:nvSpPr>
        <p:spPr>
          <a:xfrm>
            <a:off x="1005840" y="1645920"/>
            <a:ext cx="10179900" cy="417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.github/workflows/test.yml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name: Tests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on: [push, pull_request]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jobs: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test: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runs-on: ubuntu-latest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steps: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- uses: actions/checkout@v</a:t>
            </a: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6</a:t>
            </a: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- uses: actions/setup-python@v</a:t>
            </a: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6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with: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python-version: "3.12"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- run: pip install -r requirements.txt</a:t>
            </a: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- run: pytest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11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What GitHub does when you push</a:t>
            </a:r>
            <a:endParaRPr/>
          </a:p>
        </p:txBody>
      </p:sp>
      <p:sp>
        <p:nvSpPr>
          <p:cNvPr id="224" name="Google Shape;224;p11"/>
          <p:cNvSpPr txBox="1"/>
          <p:nvPr/>
        </p:nvSpPr>
        <p:spPr>
          <a:xfrm>
            <a:off x="914400" y="1463040"/>
            <a:ext cx="10362900" cy="475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Here's the full sequence the first time you push after adding thi</a:t>
            </a: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s workflow:</a:t>
            </a: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1.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GitHub sees your push event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2.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Finds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.github/workflows/test.yml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in the repo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3.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Provisions a fresh Ubuntu VM in the cloud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4.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Runs the `checkout` action - clones your repo onto the VM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5.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Runs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setup-python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installs Python 3.12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6.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Runs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pip install -r requirements.txt</a:t>
            </a:r>
            <a:endParaRPr b="1">
              <a:latin typeface="Courier Prime"/>
              <a:ea typeface="Courier Prime"/>
              <a:cs typeface="Courier Prime"/>
              <a:sym typeface="Courier Prime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7.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Runs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pytest</a:t>
            </a:r>
            <a:endParaRPr b="1">
              <a:latin typeface="Courier Prime"/>
              <a:ea typeface="Courier Prime"/>
              <a:cs typeface="Courier Prime"/>
              <a:sym typeface="Courier Prime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8.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Reports the exit code as the workflow's status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9.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Tears down the VM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Total: (</a:t>
            </a: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hopefully) 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30-90 seconds. You see a green check next to the commit.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g3e9b5ced2ff_0_148"/>
          <p:cNvSpPr txBox="1"/>
          <p:nvPr/>
        </p:nvSpPr>
        <p:spPr>
          <a:xfrm>
            <a:off x="731520" y="365760"/>
            <a:ext cx="107286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With pip caching (faster repeat runs)</a:t>
            </a:r>
            <a:endParaRPr/>
          </a:p>
        </p:txBody>
      </p:sp>
      <p:sp>
        <p:nvSpPr>
          <p:cNvPr id="231" name="Google Shape;231;g3e9b5ced2ff_0_148"/>
          <p:cNvSpPr txBox="1"/>
          <p:nvPr/>
        </p:nvSpPr>
        <p:spPr>
          <a:xfrm>
            <a:off x="9601200" y="1188720"/>
            <a:ext cx="18288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YAML</a:t>
            </a:r>
            <a:endParaRPr/>
          </a:p>
        </p:txBody>
      </p:sp>
      <p:sp>
        <p:nvSpPr>
          <p:cNvPr id="232" name="Google Shape;232;g3e9b5ced2ff_0_148"/>
          <p:cNvSpPr/>
          <p:nvPr/>
        </p:nvSpPr>
        <p:spPr>
          <a:xfrm>
            <a:off x="731520" y="1463040"/>
            <a:ext cx="10728600" cy="4937700"/>
          </a:xfrm>
          <a:prstGeom prst="roundRect">
            <a:avLst>
              <a:gd name="adj" fmla="val 16667"/>
            </a:avLst>
          </a:prstGeom>
          <a:solidFill>
            <a:srgbClr val="F0F0F4"/>
          </a:solidFill>
          <a:ln w="12700" cap="flat" cmpd="sng">
            <a:solidFill>
              <a:srgbClr val="EEEE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g3e9b5ced2ff_0_148"/>
          <p:cNvSpPr txBox="1"/>
          <p:nvPr/>
        </p:nvSpPr>
        <p:spPr>
          <a:xfrm>
            <a:off x="1005840" y="1645920"/>
            <a:ext cx="10179900" cy="417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name: Tests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on: [push, pull_request]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jobs: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test: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runs-on: ubuntu-latest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steps: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- uses: actions/checkout@v</a:t>
            </a: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6</a:t>
            </a: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- uses: actions/setup-python@v</a:t>
            </a: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6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with: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python-version: "3.12"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</a:t>
            </a: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- run: pip install -r requirements.txt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- run: pytest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12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With pip caching (faster repeat runs)</a:t>
            </a:r>
            <a:endParaRPr/>
          </a:p>
        </p:txBody>
      </p:sp>
      <p:sp>
        <p:nvSpPr>
          <p:cNvPr id="240" name="Google Shape;240;p12"/>
          <p:cNvSpPr txBox="1"/>
          <p:nvPr/>
        </p:nvSpPr>
        <p:spPr>
          <a:xfrm>
            <a:off x="9601200" y="118872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YAML</a:t>
            </a:r>
            <a:endParaRPr/>
          </a:p>
        </p:txBody>
      </p:sp>
      <p:sp>
        <p:nvSpPr>
          <p:cNvPr id="241" name="Google Shape;241;p12"/>
          <p:cNvSpPr/>
          <p:nvPr/>
        </p:nvSpPr>
        <p:spPr>
          <a:xfrm>
            <a:off x="731520" y="1463040"/>
            <a:ext cx="10728655" cy="4937760"/>
          </a:xfrm>
          <a:prstGeom prst="roundRect">
            <a:avLst>
              <a:gd name="adj" fmla="val 16667"/>
            </a:avLst>
          </a:prstGeom>
          <a:solidFill>
            <a:srgbClr val="F0F0F4"/>
          </a:solidFill>
          <a:ln w="12700" cap="flat" cmpd="sng">
            <a:solidFill>
              <a:srgbClr val="EEEE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" name="Google Shape;242;p12"/>
          <p:cNvSpPr txBox="1"/>
          <p:nvPr/>
        </p:nvSpPr>
        <p:spPr>
          <a:xfrm>
            <a:off x="1005840" y="1645920"/>
            <a:ext cx="10179900" cy="417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name: Tests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on: [push, pull_request]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jobs: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test: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runs-on: ubuntu-latest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steps: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- uses: actions/checkout@v</a:t>
            </a: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6</a:t>
            </a: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- uses: actions/setup-python@v</a:t>
            </a: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6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with: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python-version: "3.12"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cache: pip                           # &lt;-- one-line speedup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- run: pip install -r requirements.txt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- run: pytest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g3e9b5ced2ff_0_156"/>
          <p:cNvSpPr txBox="1"/>
          <p:nvPr/>
        </p:nvSpPr>
        <p:spPr>
          <a:xfrm>
            <a:off x="731520" y="365760"/>
            <a:ext cx="10728600" cy="107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32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Predict: this workflow runs. What happens?</a:t>
            </a:r>
            <a:endParaRPr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200" b="1">
              <a:solidFill>
                <a:srgbClr val="1A1A2E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g3e9b5ced2ff_0_156"/>
          <p:cNvSpPr txBox="1"/>
          <p:nvPr/>
        </p:nvSpPr>
        <p:spPr>
          <a:xfrm>
            <a:off x="9601200" y="1188720"/>
            <a:ext cx="18288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YAML</a:t>
            </a:r>
            <a:endParaRPr/>
          </a:p>
        </p:txBody>
      </p:sp>
      <p:sp>
        <p:nvSpPr>
          <p:cNvPr id="250" name="Google Shape;250;g3e9b5ced2ff_0_156"/>
          <p:cNvSpPr/>
          <p:nvPr/>
        </p:nvSpPr>
        <p:spPr>
          <a:xfrm>
            <a:off x="731520" y="1463040"/>
            <a:ext cx="10728600" cy="4937700"/>
          </a:xfrm>
          <a:prstGeom prst="roundRect">
            <a:avLst>
              <a:gd name="adj" fmla="val 16667"/>
            </a:avLst>
          </a:prstGeom>
          <a:solidFill>
            <a:srgbClr val="F0F0F4"/>
          </a:solidFill>
          <a:ln w="12700" cap="flat" cmpd="sng">
            <a:solidFill>
              <a:srgbClr val="EEEE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g3e9b5ced2ff_0_156"/>
          <p:cNvSpPr txBox="1"/>
          <p:nvPr/>
        </p:nvSpPr>
        <p:spPr>
          <a:xfrm>
            <a:off x="1005840" y="1645920"/>
            <a:ext cx="10179900" cy="417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name: Tests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on: [push, pull_request]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jobs: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test: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runs-on: ubuntu-latest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steps: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- uses: actions/checkout@v</a:t>
            </a: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6</a:t>
            </a: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- uses: actions/setup-python@v</a:t>
            </a: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6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with: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python-version: "3.12"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</a:t>
            </a: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- run: pip install -r requirements.txt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- run: pytest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g3e9b5ced2ff_0_164"/>
          <p:cNvSpPr txBox="1"/>
          <p:nvPr/>
        </p:nvSpPr>
        <p:spPr>
          <a:xfrm>
            <a:off x="731520" y="365760"/>
            <a:ext cx="10728600" cy="107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Predict: this workflow runs. What happens?</a:t>
            </a:r>
            <a:endParaRPr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200" b="1">
              <a:solidFill>
                <a:srgbClr val="1A1A2E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8" name="Google Shape;258;g3e9b5ced2ff_0_164"/>
          <p:cNvSpPr txBox="1"/>
          <p:nvPr/>
        </p:nvSpPr>
        <p:spPr>
          <a:xfrm>
            <a:off x="9601200" y="1188720"/>
            <a:ext cx="18288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YAML</a:t>
            </a:r>
            <a:endParaRPr/>
          </a:p>
        </p:txBody>
      </p:sp>
      <p:sp>
        <p:nvSpPr>
          <p:cNvPr id="259" name="Google Shape;259;g3e9b5ced2ff_0_164"/>
          <p:cNvSpPr/>
          <p:nvPr/>
        </p:nvSpPr>
        <p:spPr>
          <a:xfrm>
            <a:off x="731520" y="1463040"/>
            <a:ext cx="10728600" cy="4937700"/>
          </a:xfrm>
          <a:prstGeom prst="roundRect">
            <a:avLst>
              <a:gd name="adj" fmla="val 16667"/>
            </a:avLst>
          </a:prstGeom>
          <a:solidFill>
            <a:srgbClr val="F0F0F4"/>
          </a:solidFill>
          <a:ln w="12700" cap="flat" cmpd="sng">
            <a:solidFill>
              <a:srgbClr val="EEEE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" name="Google Shape;260;g3e9b5ced2ff_0_164"/>
          <p:cNvSpPr txBox="1"/>
          <p:nvPr/>
        </p:nvSpPr>
        <p:spPr>
          <a:xfrm>
            <a:off x="1005840" y="1645920"/>
            <a:ext cx="10179900" cy="417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name: Tests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on: [push, pull_request]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jobs: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test: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runs-on: ubuntu-latest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steps: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- uses: actions/setup-python@v</a:t>
            </a: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6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with: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python-version: "3.12"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</a:t>
            </a: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- run: pip install -r requirements.txt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- run: pytest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p14"/>
          <p:cNvSpPr txBox="1"/>
          <p:nvPr/>
        </p:nvSpPr>
        <p:spPr>
          <a:xfrm>
            <a:off x="731520" y="365760"/>
            <a:ext cx="10728655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 dirty="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The fresh-VM model</a:t>
            </a:r>
            <a:endParaRPr dirty="0"/>
          </a:p>
        </p:txBody>
      </p:sp>
      <p:sp>
        <p:nvSpPr>
          <p:cNvPr id="267" name="Google Shape;267;p14"/>
          <p:cNvSpPr txBox="1"/>
          <p:nvPr/>
        </p:nvSpPr>
        <p:spPr>
          <a:xfrm>
            <a:off x="914397" y="1209000"/>
            <a:ext cx="10362900" cy="564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Every job starts on a clean VM that knows nothing about your code.</a:t>
            </a:r>
            <a:endParaRPr dirty="0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 dirty="0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actions/checkout@v</a:t>
            </a:r>
            <a:r>
              <a:rPr lang="en-US" sz="2000" b="1" dirty="0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6</a:t>
            </a: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is the step that clones the repo onto it.</a:t>
            </a:r>
            <a:endParaRPr dirty="0"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 dirty="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Without that step the working directory is empty</a:t>
            </a:r>
            <a:endParaRPr dirty="0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Any command </a:t>
            </a: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that touches your files (`pip install -r ...`, `</a:t>
            </a:r>
            <a:r>
              <a:rPr lang="en-US" sz="2000" b="0" i="0" u="none" strike="noStrike" cap="none" dirty="0" err="1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pytest</a:t>
            </a: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`) fails</a:t>
            </a:r>
            <a:endParaRPr dirty="0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because the files aren't there.</a:t>
            </a:r>
            <a:endParaRPr dirty="0"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 dirty="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Two things to take from this:</a:t>
            </a:r>
            <a:endParaRPr dirty="0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Every step runs on a VM that didn't exist 30 seconds ago.</a:t>
            </a:r>
            <a:endParaRPr dirty="0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Nothing carries over from your laptop.</a:t>
            </a:r>
            <a:endParaRPr dirty="0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Steps run top-down, and a non-zero exit halts the job.</a:t>
            </a:r>
            <a:endParaRPr dirty="0"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 dirty="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When CI breaks: what files exist on this VM right now, and what</a:t>
            </a:r>
            <a:endParaRPr dirty="0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is this command looking for?</a:t>
            </a:r>
            <a:endParaRPr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15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Matrix builds: same job, multiple environments</a:t>
            </a:r>
            <a:endParaRPr/>
          </a:p>
        </p:txBody>
      </p:sp>
      <p:sp>
        <p:nvSpPr>
          <p:cNvPr id="274" name="Google Shape;274;p15"/>
          <p:cNvSpPr txBox="1"/>
          <p:nvPr/>
        </p:nvSpPr>
        <p:spPr>
          <a:xfrm>
            <a:off x="9601200" y="118872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YAML</a:t>
            </a:r>
            <a:endParaRPr/>
          </a:p>
        </p:txBody>
      </p:sp>
      <p:sp>
        <p:nvSpPr>
          <p:cNvPr id="275" name="Google Shape;275;p15"/>
          <p:cNvSpPr/>
          <p:nvPr/>
        </p:nvSpPr>
        <p:spPr>
          <a:xfrm>
            <a:off x="731520" y="1463040"/>
            <a:ext cx="10728655" cy="4937760"/>
          </a:xfrm>
          <a:prstGeom prst="roundRect">
            <a:avLst>
              <a:gd name="adj" fmla="val 16667"/>
            </a:avLst>
          </a:prstGeom>
          <a:solidFill>
            <a:srgbClr val="F0F0F4"/>
          </a:solidFill>
          <a:ln w="12700" cap="flat" cmpd="sng">
            <a:solidFill>
              <a:srgbClr val="EEEE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" name="Google Shape;276;p15"/>
          <p:cNvSpPr txBox="1"/>
          <p:nvPr/>
        </p:nvSpPr>
        <p:spPr>
          <a:xfrm>
            <a:off x="1005840" y="1645920"/>
            <a:ext cx="10179900" cy="468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Same workflow, parameterized over Python versions: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jobs: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test: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runs-on: ubuntu-latest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strategy: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matrix: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python-version: ["3.11", "3.12"]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steps: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- uses: actions/checkout@v</a:t>
            </a: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6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- uses: actions/setup-python@v</a:t>
            </a: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6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with: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python-version: ${{ matrix.python-version }}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- run: pip install -r requirements.txt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- run: pytest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GitHub runs this job TWICE, in parallel: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  one VM with Python 3.11, one with 3.12. Both must pass.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g3e9a67dddcc_0_72"/>
          <p:cNvSpPr txBox="1"/>
          <p:nvPr/>
        </p:nvSpPr>
        <p:spPr>
          <a:xfrm>
            <a:off x="731520" y="365760"/>
            <a:ext cx="107286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Lint and format checks are jobs too</a:t>
            </a:r>
            <a:endParaRPr/>
          </a:p>
        </p:txBody>
      </p:sp>
      <p:sp>
        <p:nvSpPr>
          <p:cNvPr id="283" name="Google Shape;283;g3e9a67dddcc_0_72"/>
          <p:cNvSpPr txBox="1"/>
          <p:nvPr/>
        </p:nvSpPr>
        <p:spPr>
          <a:xfrm>
            <a:off x="9601200" y="1188720"/>
            <a:ext cx="18288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YAML</a:t>
            </a:r>
            <a:endParaRPr/>
          </a:p>
        </p:txBody>
      </p:sp>
      <p:sp>
        <p:nvSpPr>
          <p:cNvPr id="284" name="Google Shape;284;g3e9a67dddcc_0_72"/>
          <p:cNvSpPr/>
          <p:nvPr/>
        </p:nvSpPr>
        <p:spPr>
          <a:xfrm>
            <a:off x="731520" y="1463040"/>
            <a:ext cx="10728600" cy="4937700"/>
          </a:xfrm>
          <a:prstGeom prst="roundRect">
            <a:avLst>
              <a:gd name="adj" fmla="val 16667"/>
            </a:avLst>
          </a:prstGeom>
          <a:solidFill>
            <a:srgbClr val="F0F0F4"/>
          </a:solidFill>
          <a:ln w="12700" cap="flat" cmpd="sng">
            <a:solidFill>
              <a:srgbClr val="EEEE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g3e9a67dddcc_0_72"/>
          <p:cNvSpPr txBox="1"/>
          <p:nvPr/>
        </p:nvSpPr>
        <p:spPr>
          <a:xfrm>
            <a:off x="1005840" y="1645920"/>
            <a:ext cx="10179900" cy="271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Two jobs in one workflow file - they run in parallel.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jobs: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test: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runs-on: ubuntu-latest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steps: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- uses: actions/checkout@v</a:t>
            </a:r>
            <a:r>
              <a:rPr lang="en-US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6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- uses: actions/setup-python@v</a:t>
            </a:r>
            <a:r>
              <a:rPr lang="en-US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6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with: { python-version: "3.12" }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- run: pip install -r requirements.txt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- run: pytest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16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Lint and format checks are jobs too</a:t>
            </a:r>
            <a:endParaRPr/>
          </a:p>
        </p:txBody>
      </p:sp>
      <p:sp>
        <p:nvSpPr>
          <p:cNvPr id="292" name="Google Shape;292;p16"/>
          <p:cNvSpPr txBox="1"/>
          <p:nvPr/>
        </p:nvSpPr>
        <p:spPr>
          <a:xfrm>
            <a:off x="9601200" y="118872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YAML</a:t>
            </a:r>
            <a:endParaRPr/>
          </a:p>
        </p:txBody>
      </p:sp>
      <p:sp>
        <p:nvSpPr>
          <p:cNvPr id="293" name="Google Shape;293;p16"/>
          <p:cNvSpPr/>
          <p:nvPr/>
        </p:nvSpPr>
        <p:spPr>
          <a:xfrm>
            <a:off x="731520" y="1463040"/>
            <a:ext cx="10728655" cy="4937760"/>
          </a:xfrm>
          <a:prstGeom prst="roundRect">
            <a:avLst>
              <a:gd name="adj" fmla="val 16667"/>
            </a:avLst>
          </a:prstGeom>
          <a:solidFill>
            <a:srgbClr val="F0F0F4"/>
          </a:solidFill>
          <a:ln w="12700" cap="flat" cmpd="sng">
            <a:solidFill>
              <a:srgbClr val="EEEE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" name="Google Shape;294;p16"/>
          <p:cNvSpPr txBox="1"/>
          <p:nvPr/>
        </p:nvSpPr>
        <p:spPr>
          <a:xfrm>
            <a:off x="1005840" y="1645920"/>
            <a:ext cx="10179900" cy="464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Two jobs in one workflow file - they run in parallel.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jobs: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test: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runs-on: ubuntu-latest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steps: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- uses: actions/checkout@v</a:t>
            </a:r>
            <a:r>
              <a:rPr lang="en-US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6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- uses: actions/setup-python@v</a:t>
            </a:r>
            <a:r>
              <a:rPr lang="en-US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6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with: { python-version: "3.12" }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- run: pip install -r requirements.txt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- run: pytest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4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lint: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runs-on: ubuntu-latest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steps: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- uses: actions/checkout@v</a:t>
            </a:r>
            <a:r>
              <a:rPr lang="en-US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6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- uses: actions/setup-python@v</a:t>
            </a:r>
            <a:r>
              <a:rPr lang="en-US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6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with: { python-version: "3.12" }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- run: pip install ruff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- run: ruff check .</a:t>
            </a:r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DE9FE"/>
        </a:solidFill>
        <a:effectLst/>
      </p:bgPr>
    </p:bg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p17"/>
          <p:cNvSpPr txBox="1"/>
          <p:nvPr/>
        </p:nvSpPr>
        <p:spPr>
          <a:xfrm>
            <a:off x="914400" y="2286000"/>
            <a:ext cx="10362895" cy="22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b="1" i="0" u="none" strike="noStrike" cap="non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From CI to CD</a:t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p18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CI, CD, and the pipeline</a:t>
            </a:r>
            <a:endParaRPr/>
          </a:p>
        </p:txBody>
      </p:sp>
      <p:sp>
        <p:nvSpPr>
          <p:cNvPr id="307" name="Google Shape;307;p18"/>
          <p:cNvSpPr txBox="1"/>
          <p:nvPr/>
        </p:nvSpPr>
        <p:spPr>
          <a:xfrm>
            <a:off x="914400" y="1463040"/>
            <a:ext cx="10362900" cy="44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Two terms:</a:t>
            </a:r>
            <a:endParaRPr sz="2400" b="0" i="0" u="none" strike="noStrike" cap="non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CI (Continuous Integration)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run tests automatically on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 every change. What we just set up.</a:t>
            </a: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CD (Continuous Deployment)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deploy automatically when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 tests pass. What you want, but not yet what you have.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The ideal pipeline: </a:t>
            </a:r>
            <a:r>
              <a:rPr lang="en-US" sz="2400" b="1" i="0" u="none" strike="noStrike" cap="none">
                <a:solidFill>
                  <a:srgbClr val="333344"/>
                </a:solidFill>
                <a:latin typeface="Courier Prime"/>
                <a:ea typeface="Courier Prime"/>
                <a:cs typeface="Courier Prime"/>
                <a:sym typeface="Courier Prime"/>
              </a:rPr>
              <a:t>git push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-&gt; CI runs tests -&gt; tests pass -&gt; Railway deploys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Tests fail -&gt; nothing deploys.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Right now, Railway deploys on every push </a:t>
            </a:r>
            <a:r>
              <a:rPr lang="en-US" sz="2400" b="1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regardless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of CI result.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That's backwards. Time to make passing CI a prereq</a:t>
            </a:r>
            <a:r>
              <a:rPr lang="en-US"/>
              <a:t> 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for anything reaching main.</a:t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19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CD without a PaaS: CI builds the image</a:t>
            </a:r>
            <a:endParaRPr/>
          </a:p>
        </p:txBody>
      </p:sp>
      <p:sp>
        <p:nvSpPr>
          <p:cNvPr id="314" name="Google Shape;314;p19"/>
          <p:cNvSpPr txBox="1"/>
          <p:nvPr/>
        </p:nvSpPr>
        <p:spPr>
          <a:xfrm>
            <a:off x="914399" y="1280160"/>
            <a:ext cx="10362895" cy="53860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Railway does the whole deploy: it sees your push, builds the image,</a:t>
            </a:r>
            <a:endParaRPr dirty="0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and runs it. Your CI workflow just gates what reaches main.</a:t>
            </a:r>
            <a:endParaRPr dirty="0"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 dirty="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Without a PaaS, nothing builds or ships the image on its own. You add</a:t>
            </a:r>
            <a:endParaRPr dirty="0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it to the pipeline yourself, as one more job in the workflow:</a:t>
            </a:r>
            <a:endParaRPr sz="2000" b="0" i="0" u="none" strike="noStrike" cap="none" dirty="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On push to `main`, the job runs `docker build`, then `docker push`</a:t>
            </a:r>
            <a:endParaRPr dirty="0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 the image to a registry (GHCR is free for your repo).</a:t>
            </a:r>
            <a:endParaRPr dirty="0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Your server then `docker pull`s the new image and restarts.</a:t>
            </a:r>
            <a:endParaRPr dirty="0"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 dirty="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That runner is 8.1's build machine - a container building a container.</a:t>
            </a:r>
            <a:endParaRPr dirty="0"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400" b="0" i="0" u="none" strike="noStrike" cap="none" dirty="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Either way, you end up with the pipeline you want</a:t>
            </a:r>
            <a:endParaRPr dirty="0"/>
          </a:p>
          <a:p>
            <a:pPr marL="457200" lvl="1">
              <a:spcBef>
                <a:spcPts val="600"/>
              </a:spcBef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CI has to pass before any image reaches the server.</a:t>
            </a:r>
            <a:endParaRPr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g3e9a67dddcc_0_66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Branch protection: the gate</a:t>
            </a:r>
            <a:endParaRPr/>
          </a:p>
        </p:txBody>
      </p:sp>
      <p:sp>
        <p:nvSpPr>
          <p:cNvPr id="321" name="Google Shape;321;g3e9a67dddcc_0_66"/>
          <p:cNvSpPr txBox="1"/>
          <p:nvPr/>
        </p:nvSpPr>
        <p:spPr>
          <a:xfrm>
            <a:off x="914400" y="1463040"/>
            <a:ext cx="10362900" cy="363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The fix is </a:t>
            </a:r>
            <a:r>
              <a:rPr lang="en-US" sz="2400" b="1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branch protection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- a GitHub setting.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400" b="0" i="0" u="none" strike="noStrike" cap="non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Repo Settings -&gt; Branches -&gt; Add rule for `main`: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Require pull requests before merging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Require status checks to pass before merging</a:t>
            </a:r>
            <a:r>
              <a:rPr lang="en-US"/>
              <a:t> 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-&gt; pick your `Tests` workflow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Now the rule is that </a:t>
            </a:r>
            <a:r>
              <a:rPr lang="en-US" sz="2400" b="1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nothing lands on main unless CI is green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,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GitHub enforces it for you.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p20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Branch protection: the gate</a:t>
            </a:r>
            <a:endParaRPr/>
          </a:p>
        </p:txBody>
      </p:sp>
      <p:sp>
        <p:nvSpPr>
          <p:cNvPr id="328" name="Google Shape;328;p20"/>
          <p:cNvSpPr txBox="1"/>
          <p:nvPr/>
        </p:nvSpPr>
        <p:spPr>
          <a:xfrm>
            <a:off x="914400" y="1463040"/>
            <a:ext cx="10362900" cy="494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The fix is </a:t>
            </a:r>
            <a:r>
              <a:rPr lang="en-US" sz="2400" b="1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branch protection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- a GitHub setting.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400" b="0" i="0" u="none" strike="noStrike" cap="non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Repo Settings -&gt; Branches -&gt; Add rule for `main`: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Require pull requests before merging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Require status checks to pass before merging</a:t>
            </a:r>
            <a:r>
              <a:rPr lang="en-US"/>
              <a:t> 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-&gt; pick your `Tests` workflow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Now the rule is that </a:t>
            </a:r>
            <a:r>
              <a:rPr lang="en-US" sz="2400" b="1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nothing lands on main unless CI is green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,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GitHub enforces it for you.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Railway still auto-deploys on every push to main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No push to main happens unless the PR's CI is green.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Railway only 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ever sees commits that passed. CD gated on CI, with 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no 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Railway configuration.</a:t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21"/>
          <p:cNvSpPr txBox="1"/>
          <p:nvPr/>
        </p:nvSpPr>
        <p:spPr>
          <a:xfrm>
            <a:off x="731520" y="365760"/>
            <a:ext cx="107286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Spot the bug</a:t>
            </a:r>
            <a:endParaRPr/>
          </a:p>
        </p:txBody>
      </p:sp>
      <p:sp>
        <p:nvSpPr>
          <p:cNvPr id="335" name="Google Shape;335;p21"/>
          <p:cNvSpPr txBox="1"/>
          <p:nvPr/>
        </p:nvSpPr>
        <p:spPr>
          <a:xfrm>
            <a:off x="9601200" y="118872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YAML</a:t>
            </a:r>
            <a:endParaRPr/>
          </a:p>
        </p:txBody>
      </p:sp>
      <p:sp>
        <p:nvSpPr>
          <p:cNvPr id="336" name="Google Shape;336;p21"/>
          <p:cNvSpPr/>
          <p:nvPr/>
        </p:nvSpPr>
        <p:spPr>
          <a:xfrm>
            <a:off x="731520" y="1463040"/>
            <a:ext cx="10728655" cy="4937760"/>
          </a:xfrm>
          <a:prstGeom prst="roundRect">
            <a:avLst>
              <a:gd name="adj" fmla="val 16667"/>
            </a:avLst>
          </a:prstGeom>
          <a:solidFill>
            <a:srgbClr val="F0F0F4"/>
          </a:solidFill>
          <a:ln w="12700" cap="flat" cmpd="sng">
            <a:solidFill>
              <a:srgbClr val="EEEE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21"/>
          <p:cNvSpPr txBox="1"/>
          <p:nvPr/>
        </p:nvSpPr>
        <p:spPr>
          <a:xfrm>
            <a:off x="1005840" y="1645920"/>
            <a:ext cx="10179900" cy="458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u="none" strike="noStrike" cap="none" dirty="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.</a:t>
            </a:r>
            <a:r>
              <a:rPr lang="en-US" sz="1300" b="1" i="0" u="none" strike="noStrike" cap="none" dirty="0" err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github</a:t>
            </a:r>
            <a:r>
              <a:rPr lang="en-US" sz="1300" b="1" i="0" u="none" strike="noStrike" cap="none" dirty="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/workflows/</a:t>
            </a:r>
            <a:r>
              <a:rPr lang="en-US" sz="1300" b="1" i="0" u="none" strike="noStrike" cap="none" dirty="0" err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deploy.yml</a:t>
            </a:r>
            <a:endParaRPr dirty="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 i="0" u="none" strike="noStrike" cap="none" dirty="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jobs:</a:t>
            </a:r>
            <a:endParaRPr dirty="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 i="0" u="none" strike="noStrike" cap="none" dirty="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deploy:</a:t>
            </a:r>
            <a:endParaRPr dirty="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 i="0" u="none" strike="noStrike" cap="none" dirty="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runs-on: ubuntu-latest</a:t>
            </a:r>
            <a:endParaRPr dirty="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 i="0" u="none" strike="noStrike" cap="none" dirty="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steps:</a:t>
            </a:r>
            <a:endParaRPr dirty="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 i="0" u="none" strike="noStrike" cap="none" dirty="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- uses: actions/checkout@v</a:t>
            </a:r>
            <a:r>
              <a:rPr lang="en-US" sz="1300" b="1" dirty="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6</a:t>
            </a:r>
            <a:endParaRPr dirty="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 i="0" u="none" strike="noStrike" cap="none" dirty="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- name: Ship a release</a:t>
            </a:r>
            <a:endParaRPr dirty="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 i="0" u="none" strike="noStrike" cap="none" dirty="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env:</a:t>
            </a:r>
            <a:endParaRPr dirty="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 i="0" u="none" strike="noStrike" cap="none" dirty="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API_KEY: sk-live-9f3a8d2b7c1e4f5a6b9d0e2f</a:t>
            </a:r>
            <a:endParaRPr dirty="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 i="0" u="none" strike="noStrike" cap="none" dirty="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run: |</a:t>
            </a:r>
            <a:endParaRPr dirty="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 i="0" u="none" strike="noStrike" cap="none" dirty="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echo "Deploying with key: $API_KEY"</a:t>
            </a:r>
            <a:endParaRPr dirty="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 i="0" u="none" strike="noStrike" cap="none" dirty="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curl -X POST https://</a:t>
            </a:r>
            <a:r>
              <a:rPr lang="en-US" sz="1300" b="1" i="0" u="none" strike="noStrike" cap="none" dirty="0" err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api.example.com</a:t>
            </a:r>
            <a:r>
              <a:rPr lang="en-US" sz="1300" b="1" i="0" u="none" strike="noStrike" cap="none" dirty="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/deploy \</a:t>
            </a:r>
            <a:endParaRPr dirty="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 i="0" u="none" strike="noStrike" cap="none" dirty="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   -H "Authorization: Bearer $API_KEY"</a:t>
            </a:r>
            <a:endParaRPr dirty="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300" b="1" i="0" u="none" strike="noStrike" cap="none" dirty="0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 i="0" u="none" strike="noStrike" cap="none" dirty="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What's wrong here?</a:t>
            </a:r>
            <a:endParaRPr dirty="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 i="0" u="none" strike="noStrike" cap="none" dirty="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</a:t>
            </a:r>
            <a:endParaRPr dirty="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 i="0" u="none" strike="noStrike" cap="none" dirty="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  (a)  nothing - env: is how you pass values to a step</a:t>
            </a:r>
            <a:endParaRPr dirty="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 i="0" u="none" strike="noStrike" cap="none" dirty="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  (b)  the secret lives in the YAML, which lives in your repo</a:t>
            </a:r>
            <a:endParaRPr dirty="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 i="0" u="none" strike="noStrike" cap="none" dirty="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  (c)  echo prints it to the build log - public for any PR</a:t>
            </a:r>
            <a:endParaRPr dirty="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 i="0" u="none" strike="noStrike" cap="none" dirty="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  (d)  both (b) and (c)</a:t>
            </a:r>
            <a:endParaRPr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Google Shape;343;g3e9a67dddcc_0_60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Keep secrets out of the workflow file</a:t>
            </a:r>
            <a:endParaRPr/>
          </a:p>
        </p:txBody>
      </p:sp>
      <p:sp>
        <p:nvSpPr>
          <p:cNvPr id="344" name="Google Shape;344;g3e9a67dddcc_0_60"/>
          <p:cNvSpPr txBox="1"/>
          <p:nvPr/>
        </p:nvSpPr>
        <p:spPr>
          <a:xfrm>
            <a:off x="914400" y="1463040"/>
            <a:ext cx="10362900" cy="437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Two rules that make this safe by default:</a:t>
            </a:r>
            <a:endParaRPr sz="2400" b="0" i="0" u="none" strike="noStrike" cap="non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Never put real values in the YAML.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Anything in `.github/workflows/`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is in your repo, visible to anyone with read access, and stays in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git history forever - renaming the key later doesn't help.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Put them in Settings -&gt; Secrets and variables -&gt; Actions.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GitHub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encrypts them at rest, injects them at runtime, and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masks them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in build logs. Reference them as `${{ secrets.API_KEY }}`.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And don't `echo` or log a secret even after you've stored it properly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The masking is a safety net, not a feature.</a:t>
            </a:r>
            <a:endParaRPr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22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Keep secrets out of the workflow file</a:t>
            </a:r>
            <a:endParaRPr/>
          </a:p>
        </p:txBody>
      </p:sp>
      <p:sp>
        <p:nvSpPr>
          <p:cNvPr id="351" name="Google Shape;351;p22"/>
          <p:cNvSpPr txBox="1"/>
          <p:nvPr/>
        </p:nvSpPr>
        <p:spPr>
          <a:xfrm>
            <a:off x="914400" y="1463040"/>
            <a:ext cx="10362900" cy="475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Two rules that make this safe by default:</a:t>
            </a:r>
            <a:endParaRPr sz="2400" b="0" i="0" u="none" strike="noStrike" cap="non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Never put real values in the YAML.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Anything in `.github/workflows/`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is in your repo, visible to anyone with read access, and stays in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git history forever - renaming the key later doesn't help.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Put them in Settings -&gt; Secrets and variables -&gt; Actions.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GitHub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encrypts them at rest, injects them at runtime, and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masks them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in build logs. Reference them as `${{ secrets.API_KEY }}`.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And don't `echo` or log a secret even after you've stored it properly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The masking is a safety net, not a feature. 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Treat the build log as public,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because for a public repo it literally is.</a:t>
            </a:r>
            <a:endParaRPr b="1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23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Do this before you write any features</a:t>
            </a:r>
            <a:endParaRPr/>
          </a:p>
        </p:txBody>
      </p:sp>
      <p:sp>
        <p:nvSpPr>
          <p:cNvPr id="358" name="Google Shape;358;p23"/>
          <p:cNvSpPr txBox="1"/>
          <p:nvPr/>
        </p:nvSpPr>
        <p:spPr>
          <a:xfrm>
            <a:off x="914400" y="1280140"/>
            <a:ext cx="10362900" cy="526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Turn branch protection on for your final project repo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Do this before you start writing features.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Turn it on before you break main, not after - ideally day one,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before the team has anything to argue about.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The earlier it's a rule, the earlier it's a habit, and the less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there is to argue about later - it just quietly becomes how the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team writes PRs.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This is one of the best things you can do for team sanity.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Saves 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the whole team from the deploy-broke-main spiral that would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otherwise cost you half a day of project time.</a:t>
            </a:r>
            <a:endParaRPr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DE9FE"/>
        </a:solidFill>
        <a:effectLst/>
      </p:bgPr>
    </p:bg>
    <p:spTree>
      <p:nvGrpSpPr>
        <p:cNvPr id="1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24"/>
          <p:cNvSpPr txBox="1"/>
          <p:nvPr/>
        </p:nvSpPr>
        <p:spPr>
          <a:xfrm>
            <a:off x="914400" y="2286000"/>
            <a:ext cx="10362900" cy="76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b="1" i="0" u="none" strike="noStrike" cap="non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PR Review</a:t>
            </a:r>
            <a:endParaRPr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25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Your agent isn’t perfect</a:t>
            </a:r>
            <a:endParaRPr/>
          </a:p>
        </p:txBody>
      </p:sp>
      <p:sp>
        <p:nvSpPr>
          <p:cNvPr id="371" name="Google Shape;371;p25"/>
          <p:cNvSpPr txBox="1"/>
          <p:nvPr/>
        </p:nvSpPr>
        <p:spPr>
          <a:xfrm>
            <a:off x="914400" y="1463040"/>
            <a:ext cx="10362900" cy="437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The pull request itself is the part with the conversation. A PR is: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A unit of review.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Someone other than the author reads the diff.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A unit of history.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The PR description becomes the record of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 *why* the change exists - not just *what* changed.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A unit of CI.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The status checks above run against the merge of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 this branch into main, not just the branch on its own.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CI catches what tests can catch. Review catches everything else --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naming, scope, an API decision that boxes you in two months later.</a:t>
            </a: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g3e9a67dddcc_0_54"/>
          <p:cNvSpPr txBox="1"/>
          <p:nvPr/>
        </p:nvSpPr>
        <p:spPr>
          <a:xfrm>
            <a:off x="731520" y="365760"/>
            <a:ext cx="10728600" cy="12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36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Your agent isn’t perfect</a:t>
            </a:r>
            <a:endParaRPr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600" b="1">
              <a:solidFill>
                <a:srgbClr val="1A1A2E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8" name="Google Shape;378;g3e9a67dddcc_0_54"/>
          <p:cNvSpPr txBox="1"/>
          <p:nvPr/>
        </p:nvSpPr>
        <p:spPr>
          <a:xfrm>
            <a:off x="914400" y="1463040"/>
            <a:ext cx="10362900" cy="44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The pull request itself is the part with the conversation. A PR is: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A unit of review.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Someone other than the author reads the diff.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A unit of history.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The PR description becomes the record of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 *why* the change exists - not just *what* changed.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A unit of CI.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The status checks above run against the merge of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 this branch into main, not just the branch on its own.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CI catches what tests can catch. Review catches everything else --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naming, scope, an API decision that boxes you in two months later.</a:t>
            </a: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Yes, agents can also do PR reviews… </a:t>
            </a:r>
            <a:endParaRPr sz="200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Google Shape;384;g3e9a67dddcc_0_48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What a good PR looks like</a:t>
            </a:r>
            <a:endParaRPr/>
          </a:p>
        </p:txBody>
      </p:sp>
      <p:sp>
        <p:nvSpPr>
          <p:cNvPr id="385" name="Google Shape;385;g3e9a67dddcc_0_48"/>
          <p:cNvSpPr txBox="1"/>
          <p:nvPr/>
        </p:nvSpPr>
        <p:spPr>
          <a:xfrm>
            <a:off x="914400" y="1463040"/>
            <a:ext cx="103629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457200" marR="0" lvl="1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Small.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A few hundred lines max. Bigger diffs get skimmed, and</a:t>
            </a:r>
            <a:r>
              <a:rPr lang="en-US"/>
              <a:t> 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a skim isn't review.</a:t>
            </a:r>
            <a:endParaRPr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g3e9a67dddcc_0_36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What a good PR looks like</a:t>
            </a:r>
            <a:endParaRPr/>
          </a:p>
        </p:txBody>
      </p:sp>
      <p:sp>
        <p:nvSpPr>
          <p:cNvPr id="392" name="Google Shape;392;g3e9a67dddcc_0_36"/>
          <p:cNvSpPr txBox="1"/>
          <p:nvPr/>
        </p:nvSpPr>
        <p:spPr>
          <a:xfrm>
            <a:off x="914400" y="1463040"/>
            <a:ext cx="10362900" cy="146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457200" marR="0" lvl="1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Small.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A few hundred lines max. Bigger diffs get skimmed, and</a:t>
            </a:r>
            <a:r>
              <a:rPr lang="en-US"/>
              <a:t> 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a skim isn't review.</a:t>
            </a: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Scoped.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One thing. "Add login" or "fix the message-ordering bug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"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 not "add login + refactor the database + new color scheme."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g3e9a67dddcc_0_42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What a good PR looks like</a:t>
            </a:r>
            <a:endParaRPr/>
          </a:p>
        </p:txBody>
      </p:sp>
      <p:sp>
        <p:nvSpPr>
          <p:cNvPr id="399" name="Google Shape;399;g3e9a67dddcc_0_42"/>
          <p:cNvSpPr txBox="1"/>
          <p:nvPr/>
        </p:nvSpPr>
        <p:spPr>
          <a:xfrm>
            <a:off x="914400" y="1463040"/>
            <a:ext cx="10362900" cy="22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457200" marR="0" lvl="1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Small.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A few hundred lines max. Bigger diffs get skimmed, and</a:t>
            </a:r>
            <a:r>
              <a:rPr lang="en-US"/>
              <a:t> 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a skim isn't review.</a:t>
            </a: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Scoped.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One thing. "Add login" or "fix the message-ordering bug"</a:t>
            </a:r>
            <a:endParaRPr>
              <a:solidFill>
                <a:schemeClr val="dk1"/>
              </a:solidFill>
            </a:endParaRPr>
          </a:p>
          <a:p>
            <a:pPr marL="457200" lvl="1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 not "add login + refactor the database + new color scheme."</a:t>
            </a:r>
            <a:endParaRPr sz="2000" b="1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Described.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A few sentences in the body: what changes, why,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 and anything a reviewer should look at first.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g3e9a67dddcc_0_30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What a good PR looks like</a:t>
            </a:r>
            <a:endParaRPr/>
          </a:p>
        </p:txBody>
      </p:sp>
      <p:sp>
        <p:nvSpPr>
          <p:cNvPr id="406" name="Google Shape;406;g3e9a67dddcc_0_30"/>
          <p:cNvSpPr txBox="1"/>
          <p:nvPr/>
        </p:nvSpPr>
        <p:spPr>
          <a:xfrm>
            <a:off x="914400" y="1463040"/>
            <a:ext cx="10362900" cy="261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457200" marR="0" lvl="1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Small.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A few hundred lines max. Bigger diffs get skimmed, and</a:t>
            </a:r>
            <a:r>
              <a:rPr lang="en-US"/>
              <a:t> 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a skim isn't review.</a:t>
            </a: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Scoped.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One thing. "Add login" or "fix the message-ordering bug"</a:t>
            </a:r>
            <a:endParaRPr>
              <a:solidFill>
                <a:schemeClr val="dk1"/>
              </a:solidFill>
            </a:endParaRPr>
          </a:p>
          <a:p>
            <a:pPr marL="457200" lvl="1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 not "add login + refactor the database + new color scheme."</a:t>
            </a:r>
            <a:endParaRPr sz="2000" b="1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Described.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A few sentences in the body: what changes, why,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 and anything a reviewer should look at first.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Green.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CI passes before you ask anyone to look.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26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What a good PR looks like</a:t>
            </a:r>
            <a:endParaRPr/>
          </a:p>
        </p:txBody>
      </p:sp>
      <p:sp>
        <p:nvSpPr>
          <p:cNvPr id="413" name="Google Shape;413;p26"/>
          <p:cNvSpPr txBox="1"/>
          <p:nvPr/>
        </p:nvSpPr>
        <p:spPr>
          <a:xfrm>
            <a:off x="914400" y="1463040"/>
            <a:ext cx="10362900" cy="354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457200" marR="0" lvl="1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Small.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A few hundred lines max. Bigger diffs get skimmed, and</a:t>
            </a:r>
            <a:r>
              <a:rPr lang="en-US"/>
              <a:t> 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a skim isn't review.</a:t>
            </a: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Scoped.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One thing. "Add login" or "fix the message-ordering bug"</a:t>
            </a:r>
            <a:endParaRPr>
              <a:solidFill>
                <a:schemeClr val="dk1"/>
              </a:solidFill>
            </a:endParaRPr>
          </a:p>
          <a:p>
            <a:pPr marL="457200" lvl="1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 not "add login + refactor the database + new color scheme."</a:t>
            </a:r>
            <a:endParaRPr sz="2000" b="1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Described.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A few sentences in the body: what changes, why,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 and anything a reviewer should look at first.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Green.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CI passes before you ask anyone to look.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For the final project, every change goes through a PR</a:t>
            </a: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It's how the team stays oriented when three people are touching</a:t>
            </a:r>
            <a:r>
              <a:rPr lang="en-US"/>
              <a:t> 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the same code at once.</a:t>
            </a:r>
            <a:endParaRPr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4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Google Shape;419;p27"/>
          <p:cNvSpPr txBox="1"/>
          <p:nvPr/>
        </p:nvSpPr>
        <p:spPr>
          <a:xfrm>
            <a:off x="731520" y="27432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TRY IT  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Write the workflow for your final project</a:t>
            </a:r>
            <a:endParaRPr/>
          </a:p>
        </p:txBody>
      </p:sp>
      <p:sp>
        <p:nvSpPr>
          <p:cNvPr id="420" name="Google Shape;420;p27"/>
          <p:cNvSpPr/>
          <p:nvPr/>
        </p:nvSpPr>
        <p:spPr>
          <a:xfrm>
            <a:off x="640080" y="228600"/>
            <a:ext cx="1097280" cy="365760"/>
          </a:xfrm>
          <a:prstGeom prst="roundRect">
            <a:avLst>
              <a:gd name="adj" fmla="val 16667"/>
            </a:avLst>
          </a:prstGeom>
          <a:solidFill>
            <a:srgbClr val="5B21B6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1" name="Google Shape;421;p27"/>
          <p:cNvSpPr/>
          <p:nvPr/>
        </p:nvSpPr>
        <p:spPr>
          <a:xfrm>
            <a:off x="731520" y="1371600"/>
            <a:ext cx="10728655" cy="5029200"/>
          </a:xfrm>
          <a:prstGeom prst="roundRect">
            <a:avLst>
              <a:gd name="adj" fmla="val 16667"/>
            </a:avLst>
          </a:prstGeom>
          <a:solidFill>
            <a:srgbClr val="F0F0F4"/>
          </a:solidFill>
          <a:ln w="12700" cap="flat" cmpd="sng">
            <a:solidFill>
              <a:srgbClr val="EEEE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2" name="Google Shape;422;p27"/>
          <p:cNvSpPr txBox="1"/>
          <p:nvPr/>
        </p:nvSpPr>
        <p:spPr>
          <a:xfrm>
            <a:off x="1005840" y="1554480"/>
            <a:ext cx="10179900" cy="468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Goal: a .github/workflows/test.yml that runs pytest on every</a:t>
            </a:r>
            <a:endParaRPr sz="16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push and on every pull request, using Python 3.12.</a:t>
            </a:r>
            <a:endParaRPr sz="16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Fill in the blanks.</a:t>
            </a:r>
            <a:endParaRPr sz="16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name: Tests</a:t>
            </a:r>
            <a:endParaRPr sz="15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B0B0C0"/>
                </a:solidFill>
                <a:latin typeface="Courier New"/>
                <a:ea typeface="Courier New"/>
                <a:cs typeface="Courier New"/>
                <a:sym typeface="Courier New"/>
              </a:rPr>
              <a:t>on: [________, ________]</a:t>
            </a:r>
            <a:endParaRPr sz="16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>
              <a:solidFill>
                <a:srgbClr val="B0B0C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jobs:</a:t>
            </a:r>
            <a:endParaRPr sz="16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test:</a:t>
            </a:r>
            <a:endParaRPr sz="16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B0B0C0"/>
                </a:solidFill>
                <a:latin typeface="Courier New"/>
                <a:ea typeface="Courier New"/>
                <a:cs typeface="Courier New"/>
                <a:sym typeface="Courier New"/>
              </a:rPr>
              <a:t>    runs-on: ________</a:t>
            </a:r>
            <a:endParaRPr sz="1500" b="1">
              <a:solidFill>
                <a:srgbClr val="B0B0C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steps:</a:t>
            </a:r>
            <a:endParaRPr sz="16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B0B0C0"/>
                </a:solidFill>
                <a:latin typeface="Courier New"/>
                <a:ea typeface="Courier New"/>
                <a:cs typeface="Courier New"/>
                <a:sym typeface="Courier New"/>
              </a:rPr>
              <a:t>      - uses: actions/________@v6</a:t>
            </a:r>
            <a:endParaRPr sz="1500" b="1">
              <a:solidFill>
                <a:srgbClr val="B0B0C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- uses: actions/setup-python@v6</a:t>
            </a:r>
            <a:endParaRPr sz="16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with:</a:t>
            </a:r>
            <a:endParaRPr sz="16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B0B0C0"/>
                </a:solidFill>
                <a:latin typeface="Courier New"/>
                <a:ea typeface="Courier New"/>
                <a:cs typeface="Courier New"/>
                <a:sym typeface="Courier New"/>
              </a:rPr>
              <a:t>          python-version: ________</a:t>
            </a:r>
            <a:endParaRPr sz="16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>
              <a:solidFill>
                <a:srgbClr val="B0B0C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B0B0C0"/>
                </a:solidFill>
                <a:latin typeface="Courier New"/>
                <a:ea typeface="Courier New"/>
                <a:cs typeface="Courier New"/>
                <a:sym typeface="Courier New"/>
              </a:rPr>
              <a:t>      - run: _______________________</a:t>
            </a:r>
            <a:endParaRPr sz="1500" b="1">
              <a:solidFill>
                <a:srgbClr val="B0B0C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B0B0C0"/>
                </a:solidFill>
                <a:latin typeface="Courier New"/>
                <a:ea typeface="Courier New"/>
                <a:cs typeface="Courier New"/>
                <a:sym typeface="Courier New"/>
              </a:rPr>
              <a:t>      - run: ________</a:t>
            </a:r>
            <a:endParaRPr sz="160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4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8" name="Google Shape;428;g3e9b5ced2ff_0_172"/>
          <p:cNvSpPr txBox="1"/>
          <p:nvPr/>
        </p:nvSpPr>
        <p:spPr>
          <a:xfrm>
            <a:off x="731520" y="274320"/>
            <a:ext cx="10728600" cy="8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ANSWER  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And it works for frontend too</a:t>
            </a:r>
            <a:endParaRPr/>
          </a:p>
        </p:txBody>
      </p:sp>
      <p:sp>
        <p:nvSpPr>
          <p:cNvPr id="429" name="Google Shape;429;g3e9b5ced2ff_0_172"/>
          <p:cNvSpPr/>
          <p:nvPr/>
        </p:nvSpPr>
        <p:spPr>
          <a:xfrm>
            <a:off x="640080" y="228600"/>
            <a:ext cx="1188600" cy="365700"/>
          </a:xfrm>
          <a:prstGeom prst="roundRect">
            <a:avLst>
              <a:gd name="adj" fmla="val 16667"/>
            </a:avLst>
          </a:prstGeom>
          <a:solidFill>
            <a:srgbClr val="166534"/>
          </a:solidFill>
          <a:ln>
            <a:noFill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g3e9b5ced2ff_0_172"/>
          <p:cNvSpPr/>
          <p:nvPr/>
        </p:nvSpPr>
        <p:spPr>
          <a:xfrm>
            <a:off x="731520" y="1371600"/>
            <a:ext cx="10728600" cy="5029200"/>
          </a:xfrm>
          <a:prstGeom prst="roundRect">
            <a:avLst>
              <a:gd name="adj" fmla="val 16667"/>
            </a:avLst>
          </a:prstGeom>
          <a:solidFill>
            <a:srgbClr val="F0F0F4"/>
          </a:solidFill>
          <a:ln w="12700" cap="flat" cmpd="sng">
            <a:solidFill>
              <a:srgbClr val="EEEE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1" name="Google Shape;431;g3e9b5ced2ff_0_172"/>
          <p:cNvSpPr txBox="1"/>
          <p:nvPr/>
        </p:nvSpPr>
        <p:spPr>
          <a:xfrm>
            <a:off x="1005840" y="1554480"/>
            <a:ext cx="10179900" cy="444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name: Tests</a:t>
            </a:r>
            <a:endParaRPr sz="16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on: [push, pull_request]</a:t>
            </a:r>
            <a:endParaRPr sz="16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jobs:</a:t>
            </a:r>
            <a:endParaRPr sz="16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frontend-test:</a:t>
            </a:r>
            <a:endParaRPr sz="16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runs-on: ubuntu-latest</a:t>
            </a:r>
            <a:endParaRPr sz="16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steps:</a:t>
            </a:r>
            <a:endParaRPr sz="16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- uses: actions/checkout@v6</a:t>
            </a:r>
            <a:endParaRPr sz="15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- uses: actions/setup-node@v6</a:t>
            </a:r>
            <a:endParaRPr sz="16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with:</a:t>
            </a:r>
            <a:endParaRPr sz="16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node-version: 22</a:t>
            </a:r>
            <a:endParaRPr sz="16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- run: npm install --frozen-lockfile</a:t>
            </a:r>
            <a:endParaRPr sz="16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- run: npm run test</a:t>
            </a:r>
            <a:endParaRPr sz="16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60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g3e9b5ced2ff_0_194"/>
          <p:cNvSpPr txBox="1"/>
          <p:nvPr/>
        </p:nvSpPr>
        <p:spPr>
          <a:xfrm>
            <a:off x="731520" y="365760"/>
            <a:ext cx="107286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A</a:t>
            </a:r>
            <a:r>
              <a:rPr lang="en-US" sz="30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And other jobs</a:t>
            </a:r>
            <a:endParaRPr sz="3200" b="1">
              <a:solidFill>
                <a:srgbClr val="1A1A2E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8" name="Google Shape;438;g3e9b5ced2ff_0_194"/>
          <p:cNvSpPr txBox="1"/>
          <p:nvPr/>
        </p:nvSpPr>
        <p:spPr>
          <a:xfrm>
            <a:off x="9601200" y="1188720"/>
            <a:ext cx="18288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YAML</a:t>
            </a:r>
            <a:endParaRPr/>
          </a:p>
        </p:txBody>
      </p:sp>
      <p:sp>
        <p:nvSpPr>
          <p:cNvPr id="439" name="Google Shape;439;g3e9b5ced2ff_0_194"/>
          <p:cNvSpPr/>
          <p:nvPr/>
        </p:nvSpPr>
        <p:spPr>
          <a:xfrm>
            <a:off x="731520" y="1463040"/>
            <a:ext cx="10728600" cy="4937700"/>
          </a:xfrm>
          <a:prstGeom prst="roundRect">
            <a:avLst>
              <a:gd name="adj" fmla="val 16667"/>
            </a:avLst>
          </a:prstGeom>
          <a:solidFill>
            <a:srgbClr val="F0F0F4"/>
          </a:solidFill>
          <a:ln w="12700" cap="flat" cmpd="sng">
            <a:solidFill>
              <a:srgbClr val="EEEE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0" name="Google Shape;440;g3e9b5ced2ff_0_194"/>
          <p:cNvSpPr txBox="1"/>
          <p:nvPr/>
        </p:nvSpPr>
        <p:spPr>
          <a:xfrm>
            <a:off x="1005840" y="1645920"/>
            <a:ext cx="10179900" cy="417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.github/workflows/test.yml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name: Tests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on: [push, pull_request]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jobs: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</a:t>
            </a: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typecheck</a:t>
            </a: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runs-on: ubuntu-latest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steps: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- uses: actions/checkout@v</a:t>
            </a: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6</a:t>
            </a: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- uses: actions/setup-python@v</a:t>
            </a: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6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with: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python-version: "3.12"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- run: pip install -r requirements.txt</a:t>
            </a: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- run: </a:t>
            </a: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pyright</a:t>
            </a:r>
            <a:endParaRPr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FFFFF"/>
        </a:solidFill>
        <a:effectLst/>
      </p:bgPr>
    </p:bg>
    <p:spTree>
      <p:nvGrpSpPr>
        <p:cNvPr id="1" name="Shape 4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Google Shape;446;p28"/>
          <p:cNvSpPr txBox="1"/>
          <p:nvPr/>
        </p:nvSpPr>
        <p:spPr>
          <a:xfrm>
            <a:off x="731520" y="27432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ANSWER  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Write the workflow for your final project</a:t>
            </a:r>
            <a:endParaRPr/>
          </a:p>
        </p:txBody>
      </p:sp>
      <p:sp>
        <p:nvSpPr>
          <p:cNvPr id="447" name="Google Shape;447;p28"/>
          <p:cNvSpPr/>
          <p:nvPr/>
        </p:nvSpPr>
        <p:spPr>
          <a:xfrm>
            <a:off x="640080" y="228600"/>
            <a:ext cx="1188720" cy="365760"/>
          </a:xfrm>
          <a:prstGeom prst="roundRect">
            <a:avLst>
              <a:gd name="adj" fmla="val 16667"/>
            </a:avLst>
          </a:prstGeom>
          <a:solidFill>
            <a:srgbClr val="16653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28"/>
          <p:cNvSpPr/>
          <p:nvPr/>
        </p:nvSpPr>
        <p:spPr>
          <a:xfrm>
            <a:off x="731520" y="1371600"/>
            <a:ext cx="10728655" cy="5029200"/>
          </a:xfrm>
          <a:prstGeom prst="roundRect">
            <a:avLst>
              <a:gd name="adj" fmla="val 16667"/>
            </a:avLst>
          </a:prstGeom>
          <a:solidFill>
            <a:srgbClr val="F0F0F4"/>
          </a:solidFill>
          <a:ln w="12700" cap="flat" cmpd="sng">
            <a:solidFill>
              <a:srgbClr val="EEEE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9" name="Google Shape;449;p28"/>
          <p:cNvSpPr txBox="1"/>
          <p:nvPr/>
        </p:nvSpPr>
        <p:spPr>
          <a:xfrm>
            <a:off x="1005840" y="1554480"/>
            <a:ext cx="10179900" cy="435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name: Tests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3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on: [push, pull_request]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3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jobs: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test: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runs-on: ubuntu-latest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steps: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- uses: actions/checkout@v6</a:t>
            </a:r>
            <a:endParaRPr sz="13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- uses: actions/setup-python@v6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with: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python-version: "3.12"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3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- run: pip install -r requirements.txt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- run: pytest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3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Commit this file, push, and check the Actions tab on github.com.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Then go to Settings -&gt; Branches and require this workflow to pass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before merging PRs to main. Done.</a:t>
            </a:r>
            <a:endParaRPr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p29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Where this goes next</a:t>
            </a:r>
            <a:endParaRPr/>
          </a:p>
        </p:txBody>
      </p:sp>
      <p:sp>
        <p:nvSpPr>
          <p:cNvPr id="456" name="Google Shape;456;p29"/>
          <p:cNvSpPr txBox="1"/>
          <p:nvPr/>
        </p:nvSpPr>
        <p:spPr>
          <a:xfrm>
            <a:off x="914400" y="1463050"/>
            <a:ext cx="10821600" cy="481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Four things to walk away with:</a:t>
            </a:r>
            <a:endParaRPr sz="2400" b="1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CI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runs tests AND linters on every change. Anything deterministic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 belongs in a YAML file under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.github/workflows/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Branch protection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makes passing CI a prerequisite for main.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 CD then deploys only passing code.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PR review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is the human half - small, scoped, described, green.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 CI catches what tests catch; review catches everything else.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Secrets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never live in the YAML. Use Settings -&gt; Secrets, then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 `${{ secrets.NAME }}`.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Turn branch protection on for your final project repo </a:t>
            </a:r>
            <a:r>
              <a:rPr lang="en-US" sz="2400" b="1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today</a:t>
            </a: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Next: concurrency.</a:t>
            </a: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What happens when</a:t>
            </a: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two people visit your website simultaneously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8344</Words>
  <Application>Microsoft Macintosh PowerPoint</Application>
  <PresentationFormat>Widescreen</PresentationFormat>
  <Paragraphs>634</Paragraphs>
  <Slides>51</Slides>
  <Notes>51</Notes>
  <HiddenSlides>1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51</vt:i4>
      </vt:variant>
    </vt:vector>
  </HeadingPairs>
  <TitlesOfParts>
    <vt:vector size="56" baseType="lpstr">
      <vt:lpstr>Courier Prime</vt:lpstr>
      <vt:lpstr>Arial</vt:lpstr>
      <vt:lpstr>Calibri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Andrew Aymeloglu</cp:lastModifiedBy>
  <cp:revision>1</cp:revision>
  <dcterms:created xsi:type="dcterms:W3CDTF">2013-01-27T09:14:16Z</dcterms:created>
  <dcterms:modified xsi:type="dcterms:W3CDTF">2026-05-21T22:49:12Z</dcterms:modified>
</cp:coreProperties>
</file>