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31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</p:sldIdLst>
  <p:sldSz cx="12192000" cy="6858000"/>
  <p:notesSz cx="6858000" cy="9144000"/>
  <p:embeddedFontLst>
    <p:embeddedFont>
      <p:font typeface="Courier Prime" pitchFamily="49" charset="77"/>
      <p:regular r:id="rId54"/>
      <p:bold r:id="rId55"/>
      <p:italic r:id="rId56"/>
      <p:boldItalic r:id="rId5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7" roundtripDataSignature="AMtx7mhtNmXuwXDpfbA9McnPz+orkqG5B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font" Target="fonts/font1.fntdata"/><Relationship Id="rId55" Type="http://schemas.openxmlformats.org/officeDocument/2006/relationships/font" Target="fonts/font2.fntdata"/><Relationship Id="rId56" Type="http://schemas.openxmlformats.org/officeDocument/2006/relationships/font" Target="fonts/font3.fntdata"/><Relationship Id="rId57" Type="http://schemas.openxmlformats.org/officeDocument/2006/relationships/font" Target="fonts/font4.fntdata"/><Relationship Id="rId67" Type="http://customschemas.google.com/relationships/presentationmetadata" Target="metadata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/>
            </a:r>
            <a:endParaRPr dirty="0"/>
          </a:p>
        </p:txBody>
      </p:sp>
      <p:sp>
        <p:nvSpPr>
          <p:cNvPr id="83" name="Google Shape;83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92" name="Google Shape;92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Ask: who's pushed code and forgotten to run tests first? Raise my hand too.</a:t>
            </a:r>
          </a:p>
        </p:txBody>
      </p:sp>
      <p:sp>
        <p:nvSpPr>
          <p:cNvPr id="98" name="Google Shape;98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e9a67dddc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4" name="Google Shape;104;g3e9a67dddcc_0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Ask: who's pushed code and forgotten to run tests first? Raise my hand too.</a:t>
            </a:r>
          </a:p>
        </p:txBody>
      </p:sp>
      <p:sp>
        <p:nvSpPr>
          <p:cNvPr id="105" name="Google Shape;105;g3e9a67dddcc_0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12" name="Google Shape;112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e9a67dddc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8" name="Google Shape;118;g3e9a67dddcc_0_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g3e9a67dddcc_0_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e9a67dddc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5" name="Google Shape;125;g3e9a67dddcc_0_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g3e9a67dddcc_0_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e9a67dddcc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2" name="Google Shape;132;g3e9a67dddcc_0_2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g3e9a67dddcc_0_2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>
          <a:extLst>
            <a:ext uri="{FF2B5EF4-FFF2-40B4-BE49-F238E27FC236}">
              <a16:creationId xmlns:a16="http://schemas.microsoft.com/office/drawing/2014/main" id="{EC2F0F7F-F205-6951-9948-C000E6C80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:notes">
            <a:extLst>
              <a:ext uri="{FF2B5EF4-FFF2-40B4-BE49-F238E27FC236}">
                <a16:creationId xmlns:a16="http://schemas.microsoft.com/office/drawing/2014/main" id="{FBB3E51A-54FF-38BA-F94F-EC349CC780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9" name="Google Shape;139;p5:notes">
            <a:extLst>
              <a:ext uri="{FF2B5EF4-FFF2-40B4-BE49-F238E27FC236}">
                <a16:creationId xmlns:a16="http://schemas.microsoft.com/office/drawing/2014/main" id="{C4023E84-7D82-74AC-4342-02D9378168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Blocked merge: the back half of today.</a:t>
            </a:r>
          </a:p>
        </p:txBody>
      </p:sp>
      <p:sp>
        <p:nvSpPr>
          <p:cNvPr id="140" name="Google Shape;140;p5:notes">
            <a:extLst>
              <a:ext uri="{FF2B5EF4-FFF2-40B4-BE49-F238E27FC236}">
                <a16:creationId xmlns:a16="http://schemas.microsoft.com/office/drawing/2014/main" id="{76481796-30A5-7F43-3D3F-1A346626C68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98730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9" name="Google Shape;139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Blocked merge: the back half of today.</a:t>
            </a:r>
          </a:p>
        </p:txBody>
      </p:sp>
      <p:sp>
        <p:nvSpPr>
          <p:cNvPr id="140" name="Google Shape;140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e9b5ced2f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6" name="Google Shape;146;g3e9b5ced2ff_0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Blocked merge: the back half of today.</a:t>
            </a:r>
          </a:p>
        </p:txBody>
      </p:sp>
      <p:sp>
        <p:nvSpPr>
          <p:cNvPr id="147" name="Google Shape;147;g3e9b5ced2ff_0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e9b5ced2ff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4" name="Google Shape;154;g3e9b5ced2ff_0_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Blocked merge: the back half of today.</a:t>
            </a:r>
          </a:p>
        </p:txBody>
      </p:sp>
      <p:sp>
        <p:nvSpPr>
          <p:cNvPr id="155" name="Google Shape;155;g3e9b5ced2ff_0_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3" name="Google Shape;163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64" name="Google Shape;164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9" name="Google Shape;169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Contrast with CircleCI / Jenkins: just a file in your repo.</a:t>
            </a:r>
          </a:p>
        </p:txBody>
      </p:sp>
      <p:sp>
        <p:nvSpPr>
          <p:cNvPr id="170" name="Google Shape;170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e9b5ced2ff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6" name="Google Shape;176;g3e9b5ced2ff_0_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Say the hierarchy out loud: events trigger workflows, workflows contain jobs, jobs contain steps.</a:t>
            </a:r>
          </a:p>
        </p:txBody>
      </p:sp>
      <p:sp>
        <p:nvSpPr>
          <p:cNvPr id="177" name="Google Shape;177;g3e9b5ced2ff_0_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e9b5ced2f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3" name="Google Shape;183;g3e9b5ced2ff_0_2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Say the hierarchy out loud: events trigger workflows, workflows contain jobs, jobs contain steps.</a:t>
            </a:r>
          </a:p>
        </p:txBody>
      </p:sp>
      <p:sp>
        <p:nvSpPr>
          <p:cNvPr id="184" name="Google Shape;184;g3e9b5ced2ff_0_2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e9b5ced2f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0" name="Google Shape;190;g3e9b5ced2ff_0_2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Say the hierarchy out loud: events trigger workflows, workflows contain jobs, jobs contain steps.</a:t>
            </a:r>
          </a:p>
        </p:txBody>
      </p:sp>
      <p:sp>
        <p:nvSpPr>
          <p:cNvPr id="191" name="Google Shape;191;g3e9b5ced2ff_0_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7" name="Google Shape;197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Say the hierarchy out loud: events trigger workflows, workflows contain jobs, jobs contain steps.</a:t>
            </a:r>
          </a:p>
        </p:txBody>
      </p:sp>
      <p:sp>
        <p:nvSpPr>
          <p:cNvPr id="198" name="Google Shape;198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4" name="Google Shape;204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05" name="Google Shape;205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1" name="Google Shape;211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Walk through line by line.</a:t>
            </a:r>
          </a:p>
        </p:txBody>
      </p:sp>
      <p:sp>
        <p:nvSpPr>
          <p:cNvPr id="212" name="Google Shape;212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0" name="Google Shape;220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21" name="Google Shape;221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e9b5ced2ff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7" name="Google Shape;227;g3e9b5ced2ff_0_14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`cache: pip`: first run same speed, later runs skip the download.</a:t>
            </a:r>
          </a:p>
        </p:txBody>
      </p:sp>
      <p:sp>
        <p:nvSpPr>
          <p:cNvPr id="228" name="Google Shape;228;g3e9b5ced2ff_0_14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6" name="Google Shape;236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`cache: pip`: first run same speed, later runs skip the download.</a:t>
            </a:r>
          </a:p>
        </p:txBody>
      </p:sp>
      <p:sp>
        <p:nvSpPr>
          <p:cNvPr id="237" name="Google Shape;237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e9b5ced2ff_0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5" name="Google Shape;245;g3e9b5ced2ff_0_15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46" name="Google Shape;246;g3e9b5ced2ff_0_15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e9b5ced2ff_0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4" name="Google Shape;254;g3e9b5ced2ff_0_16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Answer (b): fresh VM, no repo without checkout; setup-python doesn't need code, pip does.</a:t>
            </a:r>
          </a:p>
        </p:txBody>
      </p:sp>
      <p:sp>
        <p:nvSpPr>
          <p:cNvPr id="255" name="Google Shape;255;g3e9b5ced2ff_0_16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3" name="Google Shape;263;p1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Same model as 8.1's 'container is just a process'. Workdir is $GITHUB_WORKSPACE if asked.</a:t>
            </a:r>
          </a:p>
        </p:txBody>
      </p:sp>
      <p:sp>
        <p:nvSpPr>
          <p:cNvPr id="264" name="Google Shape;264;p1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0" name="Google Shape;270;p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Also OS matrix (ubuntu/macos/windows). Final project doesn't need this.</a:t>
            </a:r>
          </a:p>
        </p:txBody>
      </p:sp>
      <p:sp>
        <p:nvSpPr>
          <p:cNvPr id="271" name="Google Shape;271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e9a67dddcc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9" name="Google Shape;279;g3e9a67dddcc_0_7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Anything deterministic belongs in CI: ruff, eslint/prettier, mypy. Third lint step: `ruff format --check .`</a:t>
            </a:r>
          </a:p>
        </p:txBody>
      </p:sp>
      <p:sp>
        <p:nvSpPr>
          <p:cNvPr id="280" name="Google Shape;280;g3e9a67dddcc_0_7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8" name="Google Shape;288;p1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Anything deterministic belongs in CI: ruff, eslint/prettier, mypy. Third lint step: `ruff format --check .`</a:t>
            </a:r>
          </a:p>
        </p:txBody>
      </p:sp>
      <p:sp>
        <p:nvSpPr>
          <p:cNvPr id="289" name="Google Shape;289;p1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7" name="Google Shape;297;p1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98" name="Google Shape;298;p1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3" name="Google Shape;303;p1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304" name="Google Shape;304;p1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0" name="Google Shape;310;p1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Don't go deep, most teams will be on Railway.</a:t>
            </a:r>
          </a:p>
        </p:txBody>
      </p:sp>
      <p:sp>
        <p:nvSpPr>
          <p:cNvPr id="311" name="Google Shape;311;p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e9a67dddc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7" name="Google Shape;317;g3e9a67dddcc_0_6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318" name="Google Shape;318;g3e9a67dddcc_0_6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4" name="Google Shape;324;p2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325" name="Google Shape;325;p2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1" name="Google Shape;331;p2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Call on someone. Answer (d): key stays in git history, logs readable on any PR.</a:t>
            </a:r>
          </a:p>
        </p:txBody>
      </p:sp>
      <p:sp>
        <p:nvSpPr>
          <p:cNvPr id="332" name="Google Shape;332;p2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e9a67dddcc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0" name="Google Shape;340;g3e9a67dddcc_0_6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Same pattern as 8.1's .env spot-the-bug. If time, show `***` masking in UI.</a:t>
            </a:r>
          </a:p>
        </p:txBody>
      </p:sp>
      <p:sp>
        <p:nvSpPr>
          <p:cNvPr id="341" name="Google Shape;341;g3e9a67dddcc_0_6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7" name="Google Shape;347;p2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Same pattern as 8.1's .env spot-the-bug. If time, show `***` masking in UI.</a:t>
            </a:r>
          </a:p>
        </p:txBody>
      </p:sp>
      <p:sp>
        <p:nvSpPr>
          <p:cNvPr id="348" name="Google Shape;348;p2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4" name="Google Shape;354;p2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Tell them: agents skip branch protection unless asked for it.</a:t>
            </a:r>
          </a:p>
        </p:txBody>
      </p:sp>
      <p:sp>
        <p:nvSpPr>
          <p:cNvPr id="355" name="Google Shape;355;p2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1" name="Google Shape;361;p2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362" name="Google Shape;362;p2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7" name="Google Shape;367;p2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Two green PRs can still break main together. Fix: 'require branches up to date' checkbox.</a:t>
            </a:r>
          </a:p>
        </p:txBody>
      </p:sp>
      <p:sp>
        <p:nvSpPr>
          <p:cNvPr id="368" name="Google Shape;368;p2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e9a67dddcc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4" name="Google Shape;374;g3e9a67dddcc_0_5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Two green PRs can still break main together. Fix: 'require branches up to date' checkbox.</a:t>
            </a:r>
          </a:p>
        </p:txBody>
      </p:sp>
      <p:sp>
        <p:nvSpPr>
          <p:cNvPr id="375" name="Google Shape;375;g3e9a67dddcc_0_5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e9a67dddcc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1" name="Google Shape;381;g3e9a67dddcc_0_4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Self-review of your own PR catches dumb stuff too.</a:t>
            </a:r>
          </a:p>
        </p:txBody>
      </p:sp>
      <p:sp>
        <p:nvSpPr>
          <p:cNvPr id="382" name="Google Shape;382;g3e9a67dddcc_0_4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e9a67dddc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8" name="Google Shape;388;g3e9a67dddcc_0_3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Self-review of your own PR catches dumb stuff too.</a:t>
            </a:r>
          </a:p>
        </p:txBody>
      </p:sp>
      <p:sp>
        <p:nvSpPr>
          <p:cNvPr id="389" name="Google Shape;389;g3e9a67dddcc_0_3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e9a67dddcc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5" name="Google Shape;395;g3e9a67dddcc_0_4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Self-review of your own PR catches dumb stuff too.</a:t>
            </a:r>
          </a:p>
        </p:txBody>
      </p:sp>
      <p:sp>
        <p:nvSpPr>
          <p:cNvPr id="396" name="Google Shape;396;g3e9a67dddcc_0_4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e9a67dddcc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2" name="Google Shape;402;g3e9a67dddcc_0_3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Self-review of your own PR catches dumb stuff too.</a:t>
            </a:r>
          </a:p>
        </p:txBody>
      </p:sp>
      <p:sp>
        <p:nvSpPr>
          <p:cNvPr id="403" name="Google Shape;403;g3e9a67dddcc_0_3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9" name="Google Shape;409;p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Self-review of your own PR catches dumb stuff too.</a:t>
            </a:r>
          </a:p>
        </p:txBody>
      </p:sp>
      <p:sp>
        <p:nvSpPr>
          <p:cNvPr id="410" name="Google Shape;410;p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6" name="Google Shape;416;p2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417" name="Google Shape;417;p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3e9b5ced2ff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5" name="Google Shape;425;g3e9b5ced2ff_0_17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g3e9b5ced2ff_0_17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3e9b5ced2ff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4" name="Google Shape;434;g3e9b5ced2ff_0_19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435" name="Google Shape;435;g3e9b5ced2ff_0_19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3" name="Google Shape;443;p2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Point at the final comment block: branch protection is the step that matters.</a:t>
            </a:r>
          </a:p>
        </p:txBody>
      </p:sp>
      <p:sp>
        <p:nvSpPr>
          <p:cNvPr id="444" name="Google Shape;444;p2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2" name="Google Shape;452;p2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Warn: next class on concurrency is a different kind of material.</a:t>
            </a:r>
          </a:p>
        </p:txBody>
      </p:sp>
      <p:sp>
        <p:nvSpPr>
          <p:cNvPr id="453" name="Google Shape;453;p2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2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2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4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4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35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6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36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36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36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8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8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38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3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3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9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9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9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3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0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4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4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4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1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1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4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4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4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3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8.2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CI/CD with GitHub Actions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 Software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 txBox="1"/>
          <p:nvPr/>
        </p:nvSpPr>
        <p:spPr>
          <a:xfrm>
            <a:off x="914400" y="2286000"/>
            <a:ext cx="103629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One Last Piece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We’re almost at the end</a:t>
            </a:r>
            <a:endParaRPr/>
          </a:p>
        </p:txBody>
      </p:sp>
      <p:sp>
        <p:nvSpPr>
          <p:cNvPr id="101" name="Google Shape;101;p3"/>
          <p:cNvSpPr txBox="1"/>
          <p:nvPr/>
        </p:nvSpPr>
        <p:spPr>
          <a:xfrm>
            <a:off x="914400" y="1463040"/>
            <a:ext cx="10362900" cy="20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Think back over the last few weeks: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Four weeks ago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you learned to write tests with pytest.</a:t>
            </a:r>
            <a:r>
              <a:rPr lang="en-US"/>
              <a:t> 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Last Thursday/Tuesday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you learned to deploy with Railway, with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optional Docker control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9a67dddcc_0_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We’re almost at the end</a:t>
            </a:r>
            <a:endParaRPr/>
          </a:p>
        </p:txBody>
      </p:sp>
      <p:sp>
        <p:nvSpPr>
          <p:cNvPr id="108" name="Google Shape;108;g3e9a67dddcc_0_0"/>
          <p:cNvSpPr txBox="1"/>
          <p:nvPr/>
        </p:nvSpPr>
        <p:spPr>
          <a:xfrm>
            <a:off x="914400" y="1463040"/>
            <a:ext cx="10362900" cy="32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Think back over the last few weeks:</a:t>
            </a: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Four weeks ago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you learned to write tests with 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pytest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lang="en-US" dirty="0"/>
              <a:t> </a:t>
            </a: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Last Thursday/Tuesday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you learned to deploy with Railway, with 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optional Docker control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Nothing says "before the deploy, make sure the tests pass."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just push and hope it's fine.</a:t>
            </a: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Time to connect them.</a:t>
            </a:r>
            <a:endParaRPr sz="2000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If running tests is a chore, it won't happen every time</a:t>
            </a:r>
            <a:endParaRPr/>
          </a:p>
        </p:txBody>
      </p:sp>
      <p:sp>
        <p:nvSpPr>
          <p:cNvPr id="115" name="Google Shape;115;p4"/>
          <p:cNvSpPr txBox="1"/>
          <p:nvPr/>
        </p:nvSpPr>
        <p:spPr>
          <a:xfrm>
            <a:off x="914400" y="1463040"/>
            <a:ext cx="10362900" cy="487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 doubt you’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ll run your tests before every push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Neither will your teammate. Neither will I.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Humans are bad at repetitive chores, especially when the feedback loop is slow.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("wait 30 seconds for 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pytest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") and the cost of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skipping is invisible ("I'm pretty sure this change is fine").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Eventually someone pushes broken code to main. Railway deploys it.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site breaks. Nobody notices for an hour. You spend the rest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of the day reverting and apologizing for it.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shit happens, then you choose to setup CI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9a67dddcc_0_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Assignment 4</a:t>
            </a:r>
            <a:endParaRPr/>
          </a:p>
        </p:txBody>
      </p:sp>
      <p:sp>
        <p:nvSpPr>
          <p:cNvPr id="122" name="Google Shape;122;g3e9a67dddcc_0_6"/>
          <p:cNvSpPr txBox="1"/>
          <p:nvPr/>
        </p:nvSpPr>
        <p:spPr>
          <a:xfrm>
            <a:off x="914400" y="1463040"/>
            <a:ext cx="10362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All but a couple of you had a test directory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e9a67dddcc_0_1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Assignment 4</a:t>
            </a:r>
            <a:endParaRPr/>
          </a:p>
        </p:txBody>
      </p:sp>
      <p:sp>
        <p:nvSpPr>
          <p:cNvPr id="129" name="Google Shape;129;g3e9a67dddcc_0_12"/>
          <p:cNvSpPr txBox="1"/>
          <p:nvPr/>
        </p:nvSpPr>
        <p:spPr>
          <a:xfrm>
            <a:off x="914400" y="1463040"/>
            <a:ext cx="10362900" cy="17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All but a couple of you had a test directory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Half of you had your agent write Playwright (frontend) tests - we didn’t even talk about that!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e9a67dddcc_0_2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Assignment 4</a:t>
            </a:r>
            <a:endParaRPr/>
          </a:p>
        </p:txBody>
      </p:sp>
      <p:sp>
        <p:nvSpPr>
          <p:cNvPr id="136" name="Google Shape;136;g3e9a67dddcc_0_24"/>
          <p:cNvSpPr txBox="1"/>
          <p:nvPr/>
        </p:nvSpPr>
        <p:spPr>
          <a:xfrm>
            <a:off x="914400" y="1463040"/>
            <a:ext cx="10362900" cy="261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All but a couple of you had a test directory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Half of you had your agent write Playwright (frontend) tests - we didn’t even talk about that!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Zero of you configured them to run in Github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BA86849A-4C6A-90A3-C481-FBD7883DD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">
            <a:extLst>
              <a:ext uri="{FF2B5EF4-FFF2-40B4-BE49-F238E27FC236}">
                <a16:creationId xmlns:a16="http://schemas.microsoft.com/office/drawing/2014/main" id="{009C0738-85F2-C348-2787-C7B6B0C74816}"/>
              </a:ext>
            </a:extLst>
          </p:cNvPr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Continuous Integration = tests, automatic</a:t>
            </a:r>
            <a:endParaRPr/>
          </a:p>
        </p:txBody>
      </p:sp>
      <p:sp>
        <p:nvSpPr>
          <p:cNvPr id="143" name="Google Shape;143;p5">
            <a:extLst>
              <a:ext uri="{FF2B5EF4-FFF2-40B4-BE49-F238E27FC236}">
                <a16:creationId xmlns:a16="http://schemas.microsoft.com/office/drawing/2014/main" id="{969C2213-8BF0-EF6A-C451-B042109F14C8}"/>
              </a:ext>
            </a:extLst>
          </p:cNvPr>
          <p:cNvSpPr txBox="1"/>
          <p:nvPr/>
        </p:nvSpPr>
        <p:spPr>
          <a:xfrm>
            <a:off x="914400" y="1463040"/>
            <a:ext cx="10362900" cy="3985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Continuous Integration (CI):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practice of running your test suite automatically on every change, on a computer you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don't control, with the result reported back to you.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effect:</a:t>
            </a: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Nobody has to remember to run tests. The robot does it.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Results show up next to every commit on GitHub</a:t>
            </a:r>
            <a:endParaRPr dirty="0"/>
          </a:p>
          <a:p>
            <a:pPr marL="457200" lvl="1">
              <a:spcBef>
                <a:spcPts val="600"/>
              </a:spcBef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	A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green check if 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they pass, a red X if they don't.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Broken code gets caught in 30 seconds instead of 30 hours.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015848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Continuous Integration = tests, automatic</a:t>
            </a:r>
            <a:endParaRPr/>
          </a:p>
        </p:txBody>
      </p:sp>
      <p:sp>
        <p:nvSpPr>
          <p:cNvPr id="143" name="Google Shape;143;p5"/>
          <p:cNvSpPr txBox="1"/>
          <p:nvPr/>
        </p:nvSpPr>
        <p:spPr>
          <a:xfrm>
            <a:off x="914400" y="1463040"/>
            <a:ext cx="10362900" cy="48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Continuous Integration (CI):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practice of running your test suite automatically on every change, on a computer you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don't control, with the result reported back to you.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effect:</a:t>
            </a: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Nobody has to remember to run tests. The robot does it.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Results show up next to every commit on GitHub</a:t>
            </a:r>
            <a:endParaRPr dirty="0"/>
          </a:p>
          <a:p>
            <a:pPr marL="457200" lvl="1">
              <a:spcBef>
                <a:spcPts val="600"/>
              </a:spcBef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	A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green check if 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they pass, a red X if they don't.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Broken code gets caught in 30 seconds instead of 30 hours.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Pull requests can be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blocked from merging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until tests pass.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last one is the feature that matters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e9b5ced2ff_0_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Continuous Integration = tests, automatic</a:t>
            </a:r>
            <a:endParaRPr/>
          </a:p>
        </p:txBody>
      </p:sp>
      <p:sp>
        <p:nvSpPr>
          <p:cNvPr id="150" name="Google Shape;150;g3e9b5ced2ff_0_0"/>
          <p:cNvSpPr txBox="1"/>
          <p:nvPr/>
        </p:nvSpPr>
        <p:spPr>
          <a:xfrm>
            <a:off x="914400" y="1463040"/>
            <a:ext cx="10362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1" name="Google Shape;151;g3e9b5ced2ff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8675" y="1310025"/>
            <a:ext cx="10728602" cy="3792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9b5ced2ff_0_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Continuous Integration = tests, automatic</a:t>
            </a:r>
            <a:endParaRPr/>
          </a:p>
        </p:txBody>
      </p:sp>
      <p:sp>
        <p:nvSpPr>
          <p:cNvPr id="158" name="Google Shape;158;g3e9b5ced2ff_0_7"/>
          <p:cNvSpPr txBox="1"/>
          <p:nvPr/>
        </p:nvSpPr>
        <p:spPr>
          <a:xfrm>
            <a:off x="914400" y="1463040"/>
            <a:ext cx="10362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9" name="Google Shape;159;g3e9b5ced2ff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8675" y="1310025"/>
            <a:ext cx="10728602" cy="3792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g3e9b5ced2ff_0_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34963" y="1770850"/>
            <a:ext cx="8521726" cy="4099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6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GitHub Actions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GitHub Actions is</a:t>
            </a:r>
            <a:endParaRPr/>
          </a:p>
        </p:txBody>
      </p:sp>
      <p:sp>
        <p:nvSpPr>
          <p:cNvPr id="173" name="Google Shape;173;p7"/>
          <p:cNvSpPr txBox="1"/>
          <p:nvPr/>
        </p:nvSpPr>
        <p:spPr>
          <a:xfrm>
            <a:off x="914400" y="1463040"/>
            <a:ext cx="10362900" cy="44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GitHub Actions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CI/CD system built into every GitHub repo.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Free for public repos. 2000 minutes/month free for private.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separate service to sign up for - it's already in your repo.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separate dashboard - results show up on the commit page.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deal: you drop a YAML file in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.github/workflows/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describing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"when this event happens, run these steps on a fresh computer."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GitHub finds the file automatically - just commit the file and push.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Push a commit, GitHub spins up an Ubuntu VM, runs your steps,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reports the result, tears down the VM. 30-90 seconds per run.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e9b5ced2ff_0_1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GitHub Action vocabulary</a:t>
            </a:r>
            <a:endParaRPr/>
          </a:p>
        </p:txBody>
      </p:sp>
      <p:sp>
        <p:nvSpPr>
          <p:cNvPr id="180" name="Google Shape;180;g3e9b5ced2ff_0_15"/>
          <p:cNvSpPr txBox="1"/>
          <p:nvPr/>
        </p:nvSpPr>
        <p:spPr>
          <a:xfrm>
            <a:off x="914400" y="1463040"/>
            <a:ext cx="10362900" cy="47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Almost every GHA tutorial uses these four words.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Event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something that triggers a run (`push`,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`pull_request`, `schedule`, manual, etc.)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It's the same shape every time: Event -&gt; Workflow -&gt; Job -&gt; Step.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e9b5ced2ff_0_2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GitHub Action vocabulary</a:t>
            </a:r>
            <a:endParaRPr/>
          </a:p>
        </p:txBody>
      </p:sp>
      <p:sp>
        <p:nvSpPr>
          <p:cNvPr id="187" name="Google Shape;187;g3e9b5ced2ff_0_21"/>
          <p:cNvSpPr txBox="1"/>
          <p:nvPr/>
        </p:nvSpPr>
        <p:spPr>
          <a:xfrm>
            <a:off x="914400" y="1463040"/>
            <a:ext cx="10362900" cy="47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Almost every GHA tutorial uses these four words.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Event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something that triggers a run (`push`,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`pull_request`, `schedule`, manual, etc.)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Workflow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YAML file in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.github/workflows/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says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"when these events happen, do this."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It's the same shape every time: Event -&gt; Workflow -&gt; Job -&gt; Step.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e9b5ced2ff_0_2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GitHub Action vocabulary</a:t>
            </a:r>
            <a:endParaRPr/>
          </a:p>
        </p:txBody>
      </p:sp>
      <p:sp>
        <p:nvSpPr>
          <p:cNvPr id="194" name="Google Shape;194;g3e9b5ced2ff_0_27"/>
          <p:cNvSpPr txBox="1"/>
          <p:nvPr/>
        </p:nvSpPr>
        <p:spPr>
          <a:xfrm>
            <a:off x="914400" y="1463040"/>
            <a:ext cx="10362900" cy="47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Almost every GHA tutorial uses these four words.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Event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something that triggers a run (`push`,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`pull_request`, `schedule`, manual, etc.)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Workflow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YAML file in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.github/workflows/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says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"when these events happen, do this."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Job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group of steps that run together on one fresh VM.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Multiple jobs run in parallel.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It's the same shape every time: Event -&gt; Workflow -&gt; Job -&gt; Step.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GitHub Action vocabulary</a:t>
            </a:r>
            <a:endParaRPr/>
          </a:p>
        </p:txBody>
      </p:sp>
      <p:sp>
        <p:nvSpPr>
          <p:cNvPr id="201" name="Google Shape;201;p8"/>
          <p:cNvSpPr txBox="1"/>
          <p:nvPr/>
        </p:nvSpPr>
        <p:spPr>
          <a:xfrm>
            <a:off x="914400" y="1463040"/>
            <a:ext cx="10362900" cy="47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Almost every GHA tutorial uses these four words.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Event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something that triggers a run (`push`,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`pull_request`, `schedule`, manual, etc.)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Workflow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YAML file in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.github/workflows/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says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"when these events happen, do this."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Job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group of steps that run together on one fresh VM.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Multiple jobs run in parallel.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Step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one shell command, or one reusable "action."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It's the same shape every time: Event -&gt; Workflow -&gt; Job -&gt; Step.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the workflow file lives</a:t>
            </a:r>
            <a:endParaRPr/>
          </a:p>
        </p:txBody>
      </p:sp>
      <p:sp>
        <p:nvSpPr>
          <p:cNvPr id="208" name="Google Shape;208;p9"/>
          <p:cNvSpPr txBox="1"/>
          <p:nvPr/>
        </p:nvSpPr>
        <p:spPr>
          <a:xfrm>
            <a:off x="914400" y="1463040"/>
            <a:ext cx="10362900" cy="44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file goes at this path in your repo: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.github/workflows/test.yml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GitHub scans that directory every time you push.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Any .yml file in it gets registered as a workflow. 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You can have multiple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files - one for tests, one for linting, etc.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One workflow per file, named by convention.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Filename is just a label - the actual behavior lives inside the YAML.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Commit the file, push, and GitHub starts running it next push.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minimal pytest workflow</a:t>
            </a:r>
            <a:endParaRPr/>
          </a:p>
        </p:txBody>
      </p:sp>
      <p:sp>
        <p:nvSpPr>
          <p:cNvPr id="215" name="Google Shape;215;p10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YAML</a:t>
            </a:r>
            <a:endParaRPr/>
          </a:p>
        </p:txBody>
      </p:sp>
      <p:sp>
        <p:nvSpPr>
          <p:cNvPr id="216" name="Google Shape;216;p10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0"/>
          <p:cNvSpPr txBox="1"/>
          <p:nvPr/>
        </p:nvSpPr>
        <p:spPr>
          <a:xfrm>
            <a:off x="1005840" y="1645920"/>
            <a:ext cx="10179900" cy="417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.github/workflows/test.yml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name: Tests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on: [push, pull_request]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test: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python-version: "3.12"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-r requirements.txt</a:t>
            </a: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pytest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GitHub does when you push</a:t>
            </a:r>
            <a:endParaRPr/>
          </a:p>
        </p:txBody>
      </p:sp>
      <p:sp>
        <p:nvSpPr>
          <p:cNvPr id="224" name="Google Shape;224;p11"/>
          <p:cNvSpPr txBox="1"/>
          <p:nvPr/>
        </p:nvSpPr>
        <p:spPr>
          <a:xfrm>
            <a:off x="914400" y="1463040"/>
            <a:ext cx="10362900" cy="47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Here's the full sequence the first time you push after adding thi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 workflow: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GitHub sees your push event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Finds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.github/workflows/test.yml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in the repo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Provisions a fresh Ubuntu VM in the cloud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Runs the `checkout` action - clones your repo onto the VM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5.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Runs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setup-python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installs Python 3.12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6.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Runs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pip install -r requirements.txt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7.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Runs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pytest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8.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Reports the exit code as the workflow's status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9.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Tears down the VM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Total: (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hopefully) 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30-90 seconds. You see a green check next to the commit.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e9b5ced2ff_0_148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With pip caching (faster repeat runs)</a:t>
            </a:r>
            <a:endParaRPr/>
          </a:p>
        </p:txBody>
      </p:sp>
      <p:sp>
        <p:nvSpPr>
          <p:cNvPr id="231" name="Google Shape;231;g3e9b5ced2ff_0_148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YAML</a:t>
            </a:r>
            <a:endParaRPr/>
          </a:p>
        </p:txBody>
      </p:sp>
      <p:sp>
        <p:nvSpPr>
          <p:cNvPr id="232" name="Google Shape;232;g3e9b5ced2ff_0_148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g3e9b5ced2ff_0_148"/>
          <p:cNvSpPr txBox="1"/>
          <p:nvPr/>
        </p:nvSpPr>
        <p:spPr>
          <a:xfrm>
            <a:off x="1005840" y="1645920"/>
            <a:ext cx="10179900" cy="417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name: Tests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on: [push, pull_request]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test: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python-version: "3.12"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pytest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With pip caching (faster repeat runs)</a:t>
            </a:r>
            <a:endParaRPr/>
          </a:p>
        </p:txBody>
      </p:sp>
      <p:sp>
        <p:nvSpPr>
          <p:cNvPr id="240" name="Google Shape;240;p12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YAML</a:t>
            </a:r>
            <a:endParaRPr/>
          </a:p>
        </p:txBody>
      </p:sp>
      <p:sp>
        <p:nvSpPr>
          <p:cNvPr id="241" name="Google Shape;241;p12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2"/>
          <p:cNvSpPr txBox="1"/>
          <p:nvPr/>
        </p:nvSpPr>
        <p:spPr>
          <a:xfrm>
            <a:off x="1005840" y="1645920"/>
            <a:ext cx="10179900" cy="417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name: Tests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on: [push, pull_request]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test: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python-version: "3.12"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cache: pip                           # &lt;-- one-line speedup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pytest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e9b5ced2ff_0_156"/>
          <p:cNvSpPr txBox="1"/>
          <p:nvPr/>
        </p:nvSpPr>
        <p:spPr>
          <a:xfrm>
            <a:off x="731520" y="365760"/>
            <a:ext cx="107286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Predict: this workflow runs. What happens?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b="1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g3e9b5ced2ff_0_156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YAML</a:t>
            </a:r>
            <a:endParaRPr/>
          </a:p>
        </p:txBody>
      </p:sp>
      <p:sp>
        <p:nvSpPr>
          <p:cNvPr id="250" name="Google Shape;250;g3e9b5ced2ff_0_156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g3e9b5ced2ff_0_156"/>
          <p:cNvSpPr txBox="1"/>
          <p:nvPr/>
        </p:nvSpPr>
        <p:spPr>
          <a:xfrm>
            <a:off x="1005840" y="1645920"/>
            <a:ext cx="10179900" cy="417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name: Tests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on: [push, pull_request]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test: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python-version: "3.12"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pytest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e9b5ced2ff_0_164"/>
          <p:cNvSpPr txBox="1"/>
          <p:nvPr/>
        </p:nvSpPr>
        <p:spPr>
          <a:xfrm>
            <a:off x="731520" y="365760"/>
            <a:ext cx="107286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Predict: this workflow runs. What happens?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b="1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g3e9b5ced2ff_0_164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YAML</a:t>
            </a:r>
            <a:endParaRPr/>
          </a:p>
        </p:txBody>
      </p:sp>
      <p:sp>
        <p:nvSpPr>
          <p:cNvPr id="259" name="Google Shape;259;g3e9b5ced2ff_0_164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g3e9b5ced2ff_0_164"/>
          <p:cNvSpPr txBox="1"/>
          <p:nvPr/>
        </p:nvSpPr>
        <p:spPr>
          <a:xfrm>
            <a:off x="1005840" y="1645920"/>
            <a:ext cx="10179900" cy="417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name: Tests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on: [push, pull_request]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test: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python-version: "3.12"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pytest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4"/>
          <p:cNvSpPr txBox="1"/>
          <p:nvPr/>
        </p:nvSpPr>
        <p:spPr>
          <a:xfrm>
            <a:off x="731520" y="365760"/>
            <a:ext cx="10728655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fresh-VM model</a:t>
            </a:r>
            <a:endParaRPr dirty="0"/>
          </a:p>
        </p:txBody>
      </p:sp>
      <p:sp>
        <p:nvSpPr>
          <p:cNvPr id="267" name="Google Shape;267;p14"/>
          <p:cNvSpPr txBox="1"/>
          <p:nvPr/>
        </p:nvSpPr>
        <p:spPr>
          <a:xfrm>
            <a:off x="914397" y="1209000"/>
            <a:ext cx="10362900" cy="564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job starts on a clean VM that knows nothing about your code.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actions/checkout@v</a:t>
            </a:r>
            <a:r>
              <a:rPr lang="en-US" sz="2000" b="1" dirty="0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6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is the step that clones the repo onto it.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Without that step the working directory is empty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Any command 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that touches your files (`pip install -r ...`, `</a:t>
            </a:r>
            <a:r>
              <a:rPr lang="en-US" sz="2000" b="0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pytest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`) fails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because the files aren't there.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Two things to take from this: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Every step runs on a VM that didn't exist 30 seconds ago.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Nothing carries over from your laptop.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Steps run top-down, and a non-zero exit halts the job.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CI breaks: what files exist on this VM right now, and what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is this command looking for?</a:t>
            </a:r>
            <a:endParaRPr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Matrix builds: same job, multiple environments</a:t>
            </a:r>
            <a:endParaRPr/>
          </a:p>
        </p:txBody>
      </p:sp>
      <p:sp>
        <p:nvSpPr>
          <p:cNvPr id="274" name="Google Shape;274;p15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YAML</a:t>
            </a:r>
            <a:endParaRPr/>
          </a:p>
        </p:txBody>
      </p:sp>
      <p:sp>
        <p:nvSpPr>
          <p:cNvPr id="275" name="Google Shape;275;p15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5"/>
          <p:cNvSpPr txBox="1"/>
          <p:nvPr/>
        </p:nvSpPr>
        <p:spPr>
          <a:xfrm>
            <a:off x="1005840" y="1645920"/>
            <a:ext cx="10179900" cy="46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Same workflow, parameterized over Python versions: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test: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strategy: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matrix: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python-version: ["3.11", "3.12"]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python-version: ${{ matrix.python-version }}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pytest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GitHub runs this job TWICE, in parallel: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one VM with Python 3.11, one with 3.12. Both must pass.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e9a67dddcc_0_72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Lint and format checks are jobs too</a:t>
            </a:r>
            <a:endParaRPr/>
          </a:p>
        </p:txBody>
      </p:sp>
      <p:sp>
        <p:nvSpPr>
          <p:cNvPr id="283" name="Google Shape;283;g3e9a67dddcc_0_72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YAML</a:t>
            </a:r>
            <a:endParaRPr/>
          </a:p>
        </p:txBody>
      </p:sp>
      <p:sp>
        <p:nvSpPr>
          <p:cNvPr id="284" name="Google Shape;284;g3e9a67dddcc_0_72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g3e9a67dddcc_0_72"/>
          <p:cNvSpPr txBox="1"/>
          <p:nvPr/>
        </p:nvSpPr>
        <p:spPr>
          <a:xfrm>
            <a:off x="1005840" y="1645920"/>
            <a:ext cx="10179900" cy="27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Two jobs in one workflow file - they run in parallel.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test: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</a:t>
            </a: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</a:t>
            </a: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 { python-version: "3.12"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pytest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Lint and format checks are jobs too</a:t>
            </a:r>
            <a:endParaRPr/>
          </a:p>
        </p:txBody>
      </p:sp>
      <p:sp>
        <p:nvSpPr>
          <p:cNvPr id="292" name="Google Shape;292;p16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YAML</a:t>
            </a:r>
            <a:endParaRPr/>
          </a:p>
        </p:txBody>
      </p:sp>
      <p:sp>
        <p:nvSpPr>
          <p:cNvPr id="293" name="Google Shape;293;p16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6"/>
          <p:cNvSpPr txBox="1"/>
          <p:nvPr/>
        </p:nvSpPr>
        <p:spPr>
          <a:xfrm>
            <a:off x="1005840" y="1645920"/>
            <a:ext cx="10179900" cy="46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Two jobs in one workflow file - they run in parallel.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test: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</a:t>
            </a: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</a:t>
            </a: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 { python-version: "3.12"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pytest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lint: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</a:t>
            </a: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</a:t>
            </a: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 { python-version: "3.12"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ruff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ruff check 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7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From CI to CD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CI, CD, and the pipeline</a:t>
            </a:r>
            <a:endParaRPr/>
          </a:p>
        </p:txBody>
      </p:sp>
      <p:sp>
        <p:nvSpPr>
          <p:cNvPr id="307" name="Google Shape;307;p18"/>
          <p:cNvSpPr txBox="1"/>
          <p:nvPr/>
        </p:nvSpPr>
        <p:spPr>
          <a:xfrm>
            <a:off x="914400" y="1463040"/>
            <a:ext cx="10362900" cy="44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Two terms: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CI (Continuous Integration)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run tests automatically on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every change. What we just set up.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CD (Continuous Deployment)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deploy automatically when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tests pass. What you want, but not yet what you have.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ideal pipeline: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push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-&gt; CI runs tests -&gt; tests pass -&gt; Railway deploys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Tests fail -&gt; nothing deploys.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Right now, Railway deploys on every push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regardless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of CI result.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That's backwards. Time to make passing CI a prereq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for anything reaching main.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CD without a PaaS: CI builds the image</a:t>
            </a:r>
            <a:endParaRPr/>
          </a:p>
        </p:txBody>
      </p:sp>
      <p:sp>
        <p:nvSpPr>
          <p:cNvPr id="314" name="Google Shape;314;p19"/>
          <p:cNvSpPr txBox="1"/>
          <p:nvPr/>
        </p:nvSpPr>
        <p:spPr>
          <a:xfrm>
            <a:off x="914399" y="1280160"/>
            <a:ext cx="10362895" cy="5386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Railway does the whole deploy: it sees your push, builds the image,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and runs it. Your CI workflow just gates what reaches main.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Without a PaaS, nothing builds or ships the image on its own. You add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to the pipeline yourself, as one more job in the workflow:</a:t>
            </a: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On push to `main`, the job runs `docker build`, then `docker push`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the image to a registry (GHCR is free for your repo).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Your server then `docker pull`s the new image and restarts.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 runner is 8.1's build machine - a container building a container.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Either way, you end up with the pipeline you want</a:t>
            </a:r>
            <a:endParaRPr dirty="0"/>
          </a:p>
          <a:p>
            <a:pPr marL="457200" lvl="1">
              <a:spcBef>
                <a:spcPts val="600"/>
              </a:spcBef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CI has to pass before any image reaches the server.</a:t>
            </a:r>
            <a:endParaRPr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e9a67dddcc_0_6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Branch protection: the gate</a:t>
            </a:r>
            <a:endParaRPr/>
          </a:p>
        </p:txBody>
      </p:sp>
      <p:sp>
        <p:nvSpPr>
          <p:cNvPr id="321" name="Google Shape;321;g3e9a67dddcc_0_66"/>
          <p:cNvSpPr txBox="1"/>
          <p:nvPr/>
        </p:nvSpPr>
        <p:spPr>
          <a:xfrm>
            <a:off x="914400" y="1463040"/>
            <a:ext cx="10362900" cy="36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fix is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branch protection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a GitHub setting.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Repo Settings -&gt; Branches -&gt; Add rule for `main`: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Require pull requests before merging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Require status checks to pass before merging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-&gt; pick your `Tests` workflow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Now the rule is that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nothing lands on main unless CI is green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GitHub enforces it for you.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2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Branch protection: the gate</a:t>
            </a:r>
            <a:endParaRPr/>
          </a:p>
        </p:txBody>
      </p:sp>
      <p:sp>
        <p:nvSpPr>
          <p:cNvPr id="328" name="Google Shape;328;p20"/>
          <p:cNvSpPr txBox="1"/>
          <p:nvPr/>
        </p:nvSpPr>
        <p:spPr>
          <a:xfrm>
            <a:off x="914400" y="1463040"/>
            <a:ext cx="10362900" cy="49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fix is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branch protection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a GitHub setting.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Repo Settings -&gt; Branches -&gt; Add rule for `main`: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Require pull requests before merging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Require status checks to pass before merging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-&gt; pick your `Tests` workflow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Now the rule is that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nothing lands on main unless CI is green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GitHub enforces it for you.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Railway still auto-deploys on every push to main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 push to main happens unless the PR's CI is green.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Railway only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ever sees commits that passed. CD gated on CI, with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no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Railway configuration.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21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Spot the bug</a:t>
            </a:r>
            <a:endParaRPr/>
          </a:p>
        </p:txBody>
      </p:sp>
      <p:sp>
        <p:nvSpPr>
          <p:cNvPr id="335" name="Google Shape;335;p21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YAML</a:t>
            </a:r>
            <a:endParaRPr/>
          </a:p>
        </p:txBody>
      </p:sp>
      <p:sp>
        <p:nvSpPr>
          <p:cNvPr id="336" name="Google Shape;336;p21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1"/>
          <p:cNvSpPr txBox="1"/>
          <p:nvPr/>
        </p:nvSpPr>
        <p:spPr>
          <a:xfrm>
            <a:off x="1005840" y="1645920"/>
            <a:ext cx="10179900" cy="45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</a:t>
            </a:r>
            <a:r>
              <a:rPr lang="en-US" sz="13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github</a:t>
            </a: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/workflows/</a:t>
            </a:r>
            <a:r>
              <a:rPr lang="en-US" sz="13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deploy.yml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deploy: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</a:t>
            </a:r>
            <a:r>
              <a:rPr lang="en-US" sz="1300" b="1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name: Ship a release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env: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API_KEY: sk-live-9f3a8d2b7c1e4f5a6b9d0e2f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run: |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echo "Deploying with key: $API_KEY"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curl -X POST https://</a:t>
            </a:r>
            <a:r>
              <a:rPr lang="en-US" sz="13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api.example.com</a:t>
            </a: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/deploy \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-H "Authorization: Bearer $API_KEY"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 i="0" u="none" strike="noStrike" cap="none" dirty="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What's wrong here?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(a)  nothing - env: is how you pass values to a step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(b)  the secret lives in the YAML, which lives in your repo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(c)  echo prints it to the build log - public for any PR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(d)  both (b) and (c)</a:t>
            </a:r>
            <a:endParaRPr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e9a67dddcc_0_6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Keep secrets out of the workflow file</a:t>
            </a:r>
            <a:endParaRPr/>
          </a:p>
        </p:txBody>
      </p:sp>
      <p:sp>
        <p:nvSpPr>
          <p:cNvPr id="344" name="Google Shape;344;g3e9a67dddcc_0_60"/>
          <p:cNvSpPr txBox="1"/>
          <p:nvPr/>
        </p:nvSpPr>
        <p:spPr>
          <a:xfrm>
            <a:off x="914400" y="1463040"/>
            <a:ext cx="10362900" cy="43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Two rules that make this safe by default: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Never put real values in the YAML.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Anything in `.github/workflows/`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is in your repo, visible to anyone with read access, and stays in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git history forever - renaming the key later doesn't help.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Put them in Settings -&gt; Secrets and variables -&gt; Actions.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GitHub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encrypts them at rest, injects them at runtime, and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masks them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in build logs. Reference them as `${{ secrets.API_KEY }}`.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And don't `echo` or log a secret even after you've stored it properly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masking is a safety net, not a feature.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Keep secrets out of the workflow file</a:t>
            </a:r>
            <a:endParaRPr/>
          </a:p>
        </p:txBody>
      </p:sp>
      <p:sp>
        <p:nvSpPr>
          <p:cNvPr id="351" name="Google Shape;351;p22"/>
          <p:cNvSpPr txBox="1"/>
          <p:nvPr/>
        </p:nvSpPr>
        <p:spPr>
          <a:xfrm>
            <a:off x="914400" y="1463040"/>
            <a:ext cx="10362900" cy="47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Two rules that make this safe by default: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Never put real values in the YAML.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Anything in `.github/workflows/`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is in your repo, visible to anyone with read access, and stays in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git history forever - renaming the key later doesn't help.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Put them in Settings -&gt; Secrets and variables -&gt; Actions.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GitHub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encrypts them at rest, injects them at runtime, and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masks them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in build logs. Reference them as `${{ secrets.API_KEY }}`.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And don't `echo` or log a secret even after you've stored it properly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masking is a safety net, not a feature. 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Treat the build log as public,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because for a public repo it literally is.</a:t>
            </a:r>
            <a:endParaRPr b="1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Do this before you write any features</a:t>
            </a:r>
            <a:endParaRPr/>
          </a:p>
        </p:txBody>
      </p:sp>
      <p:sp>
        <p:nvSpPr>
          <p:cNvPr id="358" name="Google Shape;358;p23"/>
          <p:cNvSpPr txBox="1"/>
          <p:nvPr/>
        </p:nvSpPr>
        <p:spPr>
          <a:xfrm>
            <a:off x="914400" y="1280140"/>
            <a:ext cx="10362900" cy="52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Turn branch protection on for your final project repo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Do this before you start writing features.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Turn it on before you break main, not after - ideally day one,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before the team has anything to argue about.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earlier it's a rule, the earlier it's a habit, and the less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there is to argue about later - it just quietly becomes how the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team writes PRs.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is one of the best things you can do for team sanity.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Saves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the whole team from the deploy-broke-main spiral that would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otherwise cost you half a day of project time.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4"/>
          <p:cNvSpPr txBox="1"/>
          <p:nvPr/>
        </p:nvSpPr>
        <p:spPr>
          <a:xfrm>
            <a:off x="914400" y="2286000"/>
            <a:ext cx="103629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PR Review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2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Your agent isn’t perfect</a:t>
            </a:r>
            <a:endParaRPr/>
          </a:p>
        </p:txBody>
      </p:sp>
      <p:sp>
        <p:nvSpPr>
          <p:cNvPr id="371" name="Google Shape;371;p25"/>
          <p:cNvSpPr txBox="1"/>
          <p:nvPr/>
        </p:nvSpPr>
        <p:spPr>
          <a:xfrm>
            <a:off x="914400" y="1463040"/>
            <a:ext cx="10362900" cy="43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pull request itself is the part with the conversation. A PR is: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unit of review.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Someone other than the author reads the diff.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unit of history.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PR description becomes the record of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*why* the change exists - not just *what* changed.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unit of CI.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status checks above run against the merge of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this branch into main, not just the branch on its own.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CI catches what tests can catch. Review catches everything else --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naming, scope, an API decision that boxes you in two months later.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e9a67dddcc_0_54"/>
          <p:cNvSpPr txBox="1"/>
          <p:nvPr/>
        </p:nvSpPr>
        <p:spPr>
          <a:xfrm>
            <a:off x="731520" y="365760"/>
            <a:ext cx="107286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Your agent isn’t perfect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 b="1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g3e9a67dddcc_0_54"/>
          <p:cNvSpPr txBox="1"/>
          <p:nvPr/>
        </p:nvSpPr>
        <p:spPr>
          <a:xfrm>
            <a:off x="914400" y="1463040"/>
            <a:ext cx="10362900" cy="44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pull request itself is the part with the conversation. A PR is: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unit of review.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Someone other than the author reads the diff.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unit of history.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PR description becomes the record of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*why* the change exists - not just *what* changed.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unit of CI.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status checks above run against the merge of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this branch into main, not just the branch on its own.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CI catches what tests can catch. Review catches everything else --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naming, scope, an API decision that boxes you in two months later.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Yes, agents can also do PR reviews… 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e9a67dddcc_0_4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a good PR looks like</a:t>
            </a:r>
            <a:endParaRPr/>
          </a:p>
        </p:txBody>
      </p:sp>
      <p:sp>
        <p:nvSpPr>
          <p:cNvPr id="385" name="Google Shape;385;g3e9a67dddcc_0_48"/>
          <p:cNvSpPr txBox="1"/>
          <p:nvPr/>
        </p:nvSpPr>
        <p:spPr>
          <a:xfrm>
            <a:off x="914400" y="1463040"/>
            <a:ext cx="10362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Small.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few hundred lines max. Bigger diffs get skimmed, and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skim isn't review.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e9a67dddcc_0_3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a good PR looks like</a:t>
            </a:r>
            <a:endParaRPr/>
          </a:p>
        </p:txBody>
      </p:sp>
      <p:sp>
        <p:nvSpPr>
          <p:cNvPr id="392" name="Google Shape;392;g3e9a67dddcc_0_36"/>
          <p:cNvSpPr txBox="1"/>
          <p:nvPr/>
        </p:nvSpPr>
        <p:spPr>
          <a:xfrm>
            <a:off x="914400" y="1463040"/>
            <a:ext cx="10362900" cy="14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Small.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few hundred lines max. Bigger diffs get skimmed, and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skim isn't review.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Scoped.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One thing. "Add login" or "fix the message-ordering bug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"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not "add login + refactor the database + new color scheme."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e9a67dddcc_0_4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a good PR looks like</a:t>
            </a:r>
            <a:endParaRPr/>
          </a:p>
        </p:txBody>
      </p:sp>
      <p:sp>
        <p:nvSpPr>
          <p:cNvPr id="399" name="Google Shape;399;g3e9a67dddcc_0_42"/>
          <p:cNvSpPr txBox="1"/>
          <p:nvPr/>
        </p:nvSpPr>
        <p:spPr>
          <a:xfrm>
            <a:off x="914400" y="1463040"/>
            <a:ext cx="10362900" cy="22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Small.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few hundred lines max. Bigger diffs get skimmed, and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skim isn't review.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Scoped.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One thing. "Add login" or "fix the message-ordering bug"</a:t>
            </a:r>
            <a:endParaRPr>
              <a:solidFill>
                <a:schemeClr val="dk1"/>
              </a:solidFill>
            </a:endParaRPr>
          </a:p>
          <a:p>
            <a:pPr marL="457200" lvl="1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not "add login + refactor the database + new color scheme."</a:t>
            </a:r>
            <a:endParaRPr sz="2000" b="1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Described.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few sentences in the body: what changes, why,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and anything a reviewer should look at first.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e9a67dddcc_0_3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a good PR looks like</a:t>
            </a:r>
            <a:endParaRPr/>
          </a:p>
        </p:txBody>
      </p:sp>
      <p:sp>
        <p:nvSpPr>
          <p:cNvPr id="406" name="Google Shape;406;g3e9a67dddcc_0_30"/>
          <p:cNvSpPr txBox="1"/>
          <p:nvPr/>
        </p:nvSpPr>
        <p:spPr>
          <a:xfrm>
            <a:off x="914400" y="1463040"/>
            <a:ext cx="10362900" cy="261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Small.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few hundred lines max. Bigger diffs get skimmed, and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skim isn't review.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Scoped.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One thing. "Add login" or "fix the message-ordering bug"</a:t>
            </a:r>
            <a:endParaRPr>
              <a:solidFill>
                <a:schemeClr val="dk1"/>
              </a:solidFill>
            </a:endParaRPr>
          </a:p>
          <a:p>
            <a:pPr marL="457200" lvl="1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not "add login + refactor the database + new color scheme."</a:t>
            </a:r>
            <a:endParaRPr sz="2000" b="1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Described.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few sentences in the body: what changes, why,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and anything a reviewer should look at first.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Green.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CI passes before you ask anyone to look.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2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a good PR looks like</a:t>
            </a:r>
            <a:endParaRPr/>
          </a:p>
        </p:txBody>
      </p:sp>
      <p:sp>
        <p:nvSpPr>
          <p:cNvPr id="413" name="Google Shape;413;p26"/>
          <p:cNvSpPr txBox="1"/>
          <p:nvPr/>
        </p:nvSpPr>
        <p:spPr>
          <a:xfrm>
            <a:off x="914400" y="1463040"/>
            <a:ext cx="10362900" cy="35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Small.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few hundred lines max. Bigger diffs get skimmed, and</a:t>
            </a:r>
            <a:r>
              <a:rPr lang="en-US"/>
              <a:t>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 skim isn't review.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Scoped.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One thing. "Add login" or "fix the message-ordering bug"</a:t>
            </a:r>
            <a:endParaRPr>
              <a:solidFill>
                <a:schemeClr val="dk1"/>
              </a:solidFill>
            </a:endParaRPr>
          </a:p>
          <a:p>
            <a:pPr marL="457200" lvl="1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not "add login + refactor the database + new color scheme."</a:t>
            </a:r>
            <a:endParaRPr sz="2000" b="1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Described.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few sentences in the body: what changes, why,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and anything a reviewer should look at first.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Green.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CI passes before you ask anyone to look.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For the final project, every change goes through a PR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It's how the team stays oriented when three people are touching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the same code at once.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27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Write the workflow for your final project</a:t>
            </a:r>
            <a:endParaRPr/>
          </a:p>
        </p:txBody>
      </p:sp>
      <p:sp>
        <p:nvSpPr>
          <p:cNvPr id="420" name="Google Shape;420;p27"/>
          <p:cNvSpPr/>
          <p:nvPr/>
        </p:nvSpPr>
        <p:spPr>
          <a:xfrm>
            <a:off x="640080" y="228600"/>
            <a:ext cx="1097280" cy="365760"/>
          </a:xfrm>
          <a:prstGeom prst="roundRect">
            <a:avLst>
              <a:gd name="adj" fmla="val 16667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27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7"/>
          <p:cNvSpPr txBox="1"/>
          <p:nvPr/>
        </p:nvSpPr>
        <p:spPr>
          <a:xfrm>
            <a:off x="1005840" y="1554480"/>
            <a:ext cx="10179900" cy="46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Goal: a .github/workflows/test.yml that runs pytest on every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push and on every pull request, using Python 3.12.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Fill in the blanks.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name: Tests</a:t>
            </a: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on: [________, ________]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test: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________</a:t>
            </a:r>
            <a:endParaRPr sz="15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actions/________@v6</a:t>
            </a:r>
            <a:endParaRPr sz="15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actions/setup-python@v6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    python-version: ________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_______________________</a:t>
            </a:r>
            <a:endParaRPr sz="1500" b="1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________</a:t>
            </a:r>
            <a:endParaRPr sz="160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3e9b5ced2ff_0_172"/>
          <p:cNvSpPr txBox="1"/>
          <p:nvPr/>
        </p:nvSpPr>
        <p:spPr>
          <a:xfrm>
            <a:off x="731520" y="274320"/>
            <a:ext cx="107286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And it works for frontend too</a:t>
            </a:r>
            <a:endParaRPr/>
          </a:p>
        </p:txBody>
      </p:sp>
      <p:sp>
        <p:nvSpPr>
          <p:cNvPr id="429" name="Google Shape;429;g3e9b5ced2ff_0_172"/>
          <p:cNvSpPr/>
          <p:nvPr/>
        </p:nvSpPr>
        <p:spPr>
          <a:xfrm>
            <a:off x="640080" y="228600"/>
            <a:ext cx="1188600" cy="365700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g3e9b5ced2ff_0_172"/>
          <p:cNvSpPr/>
          <p:nvPr/>
        </p:nvSpPr>
        <p:spPr>
          <a:xfrm>
            <a:off x="731520" y="1371600"/>
            <a:ext cx="10728600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g3e9b5ced2ff_0_172"/>
          <p:cNvSpPr txBox="1"/>
          <p:nvPr/>
        </p:nvSpPr>
        <p:spPr>
          <a:xfrm>
            <a:off x="1005840" y="1554480"/>
            <a:ext cx="10179900" cy="444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name: Tests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on: [push, pull_request]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frontend-test: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actions/checkout@v6</a:t>
            </a: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actions/setup-node@v6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node-version: 22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npm install --frozen-lockfile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npm run test</a:t>
            </a:r>
            <a:endParaRPr sz="16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6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e9b5ced2ff_0_194"/>
          <p:cNvSpPr txBox="1"/>
          <p:nvPr/>
        </p:nvSpPr>
        <p:spPr>
          <a:xfrm>
            <a:off x="731520" y="365760"/>
            <a:ext cx="10728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And other jobs</a:t>
            </a:r>
            <a:endParaRPr sz="3200" b="1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g3e9b5ced2ff_0_194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YAML</a:t>
            </a:r>
            <a:endParaRPr/>
          </a:p>
        </p:txBody>
      </p:sp>
      <p:sp>
        <p:nvSpPr>
          <p:cNvPr id="439" name="Google Shape;439;g3e9b5ced2ff_0_194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g3e9b5ced2ff_0_194"/>
          <p:cNvSpPr txBox="1"/>
          <p:nvPr/>
        </p:nvSpPr>
        <p:spPr>
          <a:xfrm>
            <a:off x="1005840" y="1645920"/>
            <a:ext cx="10179900" cy="417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.github/workflows/test.yml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name: Tests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on: [push, pull_request]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typecheck</a:t>
            </a: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python-version: "3.12"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-r requirements.txt</a:t>
            </a: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pyright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28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Write the workflow for your final project</a:t>
            </a:r>
            <a:endParaRPr/>
          </a:p>
        </p:txBody>
      </p:sp>
      <p:sp>
        <p:nvSpPr>
          <p:cNvPr id="447" name="Google Shape;447;p28"/>
          <p:cNvSpPr/>
          <p:nvPr/>
        </p:nvSpPr>
        <p:spPr>
          <a:xfrm>
            <a:off x="640080" y="228600"/>
            <a:ext cx="1188720" cy="365760"/>
          </a:xfrm>
          <a:prstGeom prst="roundRect">
            <a:avLst>
              <a:gd name="adj" fmla="val 16667"/>
            </a:avLst>
          </a:prstGeom>
          <a:solidFill>
            <a:srgbClr val="16653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8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8"/>
          <p:cNvSpPr txBox="1"/>
          <p:nvPr/>
        </p:nvSpPr>
        <p:spPr>
          <a:xfrm>
            <a:off x="1005840" y="1554480"/>
            <a:ext cx="10179900" cy="43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name: Tests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on: [push, pull_request]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jobs: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test: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runs-on: ubuntu-latest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steps: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actions/checkout@v6</a:t>
            </a: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uses: actions/setup-python@v6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with: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python-version: "3.12"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pip install -r requirements.txt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- run: pytest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Commit this file, push, and check the Actions tab on github.com.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Then go to Settings -&gt; Branches and require this workflow to pass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before merging PRs to main. Done.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2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this goes next</a:t>
            </a:r>
            <a:endParaRPr/>
          </a:p>
        </p:txBody>
      </p:sp>
      <p:sp>
        <p:nvSpPr>
          <p:cNvPr id="456" name="Google Shape;456;p29"/>
          <p:cNvSpPr txBox="1"/>
          <p:nvPr/>
        </p:nvSpPr>
        <p:spPr>
          <a:xfrm>
            <a:off x="914400" y="1463050"/>
            <a:ext cx="10821600" cy="48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Four things to walk away with:</a:t>
            </a:r>
            <a:endParaRPr sz="2400" b="1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CI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runs tests AND linters on every change. Anything deterministic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belongs in a YAML file under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.github/workflows/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Branch protection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makes passing CI a prerequisite for main.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CD then deploys only passing code.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PR review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is the human half - small, scoped, described, green.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CI catches what tests catch; review catches everything else.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Secrets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never live in the YAML. Use Settings -&gt; Secrets, then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`${{ secrets.NAME }}`.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Turn branch protection on for your final project repo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today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Next: concurrency.</a:t>
            </a:r>
            <a:r>
              <a:rPr lang="en-US" sz="2400" b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What happens when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two people visit your website simultaneously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8344</Words>
  <Application>Microsoft Macintosh PowerPoint</Application>
  <PresentationFormat>Widescreen</PresentationFormat>
  <Paragraphs>634</Paragraphs>
  <Slides>51</Slides>
  <Notes>51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6" baseType="lpstr">
      <vt:lpstr>Courier Prime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Andrew Aymeloglu</cp:lastModifiedBy>
  <cp:revision>1</cp:revision>
  <dcterms:created xsi:type="dcterms:W3CDTF">2013-01-27T09:14:16Z</dcterms:created>
  <dcterms:modified xsi:type="dcterms:W3CDTF">2026-05-21T22:49:12Z</dcterms:modified>
</cp:coreProperties>
</file>