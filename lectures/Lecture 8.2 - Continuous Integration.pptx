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31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Lst>
  <p:sldSz cx="12192000" cy="6858000"/>
  <p:notesSz cx="6858000" cy="9144000"/>
  <p:embeddedFontLst>
    <p:embeddedFont>
      <p:font typeface="Courier Prime" pitchFamily="49" charset="77"/>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7" roundtripDataSignature="AMtx7mhtNmXuwXDpfbA9McnPz+orkqG5B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font" Target="fonts/font1.fntdata"/><Relationship Id="rId55" Type="http://schemas.openxmlformats.org/officeDocument/2006/relationships/font" Target="fonts/font2.fntdata"/><Relationship Id="rId56" Type="http://schemas.openxmlformats.org/officeDocument/2006/relationships/font" Target="fonts/font3.fntdata"/><Relationship Id="rId57" Type="http://schemas.openxmlformats.org/officeDocument/2006/relationships/font" Target="fonts/font4.fntdata"/><Relationship Id="rId67" Type="http://customschemas.google.com/relationships/presentationmetadata" Target="metadata"/><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
            </a:r>
            <a:endParaRPr dirty="0"/>
          </a:p>
        </p:txBody>
      </p:sp>
      <p:sp>
        <p:nvSpPr>
          <p:cNvPr id="83" name="Google Shape;83;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Open with the callback that motivates today. Tests and deployment have been sitting as two separate skills that don't really help each other, and that's the gap we're closing.</a:t>
            </a:r>
            <a:endParaRPr dirty="0"/>
          </a:p>
        </p:txBody>
      </p:sp>
      <p:sp>
        <p:nvSpPr>
          <p:cNvPr id="92" name="Google Shape;92;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callback structure sets up the thesis really directly. Tests on one side, deploys on the other, no glue between them...and students should feel the gap before the solution gets named. Ask the room: 'who has ever pushed code and forgotten to run the tests first?' Every hand goes up, including mine.</a:t>
            </a:r>
            <a:endParaRPr dirty="0"/>
          </a:p>
        </p:txBody>
      </p:sp>
      <p:sp>
        <p:nvSpPr>
          <p:cNvPr id="98" name="Google Shape;98;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e9a67dddcc_0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 name="Google Shape;104;g3e9a67dddcc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callback structure sets up the thesis really directly. Tests on one side, deploys on the other, no glue between them...and students should feel the gap before the solution gets named. Ask the room: 'who has ever pushed code and forgotten to run the tests first?' Every hand goes up, including mine.</a:t>
            </a:r>
            <a:endParaRPr dirty="0"/>
          </a:p>
        </p:txBody>
      </p:sp>
      <p:sp>
        <p:nvSpPr>
          <p:cNvPr id="105" name="Google Shape;105;g3e9a67dddcc_0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 name="Google Shape;111;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Students really do need to feel the inevitability here. It's not a hypothetical, it's the kind of thing that tends to catch a team out sooner or later, often right around when everyone's getting comfortable and starts skipping the test run. The fix isn't 'try harder to remember to run tests' because that has never worked for any engineer ever...the fix is to take the chore away from humans entirely.</a:t>
            </a:r>
            <a:endParaRPr dirty="0"/>
          </a:p>
        </p:txBody>
      </p:sp>
      <p:sp>
        <p:nvSpPr>
          <p:cNvPr id="112" name="Google Shape;112;p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e9a67dddcc_0_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g3e9a67dddcc_0_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g3e9a67dddcc_0_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e9a67dddcc_0_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5" name="Google Shape;125;g3e9a67dddcc_0_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e9a67dddcc_0_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e9a67dddcc_0_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2" name="Google Shape;132;g3e9a67dddcc_0_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g3e9a67dddcc_0_2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EC2F0F7F-F205-6951-9948-C000E6C80C4B}"/>
            </a:ext>
          </a:extLst>
        </p:cNvPr>
        <p:cNvGrpSpPr/>
        <p:nvPr/>
      </p:nvGrpSpPr>
      <p:grpSpPr>
        <a:xfrm>
          <a:off x="0" y="0"/>
          <a:ext cx="0" cy="0"/>
          <a:chOff x="0" y="0"/>
          <a:chExt cx="0" cy="0"/>
        </a:xfrm>
      </p:grpSpPr>
      <p:sp>
        <p:nvSpPr>
          <p:cNvPr id="138" name="Google Shape;138;p5:notes">
            <a:extLst>
              <a:ext uri="{FF2B5EF4-FFF2-40B4-BE49-F238E27FC236}">
                <a16:creationId xmlns:a16="http://schemas.microsoft.com/office/drawing/2014/main" id="{FBB3E51A-54FF-38BA-F94F-EC349CC780B9}"/>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 name="Google Shape;139;p5:notes">
            <a:extLst>
              <a:ext uri="{FF2B5EF4-FFF2-40B4-BE49-F238E27FC236}">
                <a16:creationId xmlns:a16="http://schemas.microsoft.com/office/drawing/2014/main" id="{C4023E84-7D82-74AC-4342-02D937816806}"/>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value prop is really just 'take the chore away from humans.' The green check / red X next to commits is the thing students will see in the UI and intuitively get - CI makes test results visible in the same place the code lives. The blocked-merge feature is the one that actually changes team behavior, which is why we spend the back half of the lecture on it.</a:t>
            </a:r>
            <a:endParaRPr dirty="0"/>
          </a:p>
        </p:txBody>
      </p:sp>
      <p:sp>
        <p:nvSpPr>
          <p:cNvPr id="140" name="Google Shape;140;p5:notes">
            <a:extLst>
              <a:ext uri="{FF2B5EF4-FFF2-40B4-BE49-F238E27FC236}">
                <a16:creationId xmlns:a16="http://schemas.microsoft.com/office/drawing/2014/main" id="{76481796-30A5-7F43-3D3F-1A346626C687}"/>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9873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 name="Google Shape;13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value prop is really just 'take the chore away from humans.' The green check / red X next to commits is the thing students will see in the UI and intuitively get - CI makes test results visible in the same place the code lives. The blocked-merge feature is the one that actually changes team behavior, which is why we spend the back half of the lecture on it.</a:t>
            </a:r>
            <a:endParaRPr dirty="0"/>
          </a:p>
        </p:txBody>
      </p:sp>
      <p:sp>
        <p:nvSpPr>
          <p:cNvPr id="140" name="Google Shape;140;p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e9b5ced2ff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g3e9b5ced2ff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value prop is really just 'take the chore away from humans.' The green check / red X next to commits is the thing students will see in the UI and intuitively get - CI makes test results visible in the same place the code lives. The blocked-merge feature is the one that actually changes team behavior, which is why we spend the back half of the lecture on it.</a:t>
            </a:r>
            <a:endParaRPr dirty="0"/>
          </a:p>
        </p:txBody>
      </p:sp>
      <p:sp>
        <p:nvSpPr>
          <p:cNvPr id="147" name="Google Shape;147;g3e9b5ced2ff_0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e9b5ced2ff_0_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4" name="Google Shape;154;g3e9b5ced2ff_0_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value prop is really just 'take the chore away from humans.' The green check / red X next to commits is the thing students will see in the UI and intuitively get - CI makes test results visible in the same place the code lives. The blocked-merge feature is the one that actually changes team behavior, which is why we spend the back half of the lecture on it.</a:t>
            </a:r>
            <a:endParaRPr dirty="0"/>
          </a:p>
        </p:txBody>
      </p:sp>
      <p:sp>
        <p:nvSpPr>
          <p:cNvPr id="155" name="Google Shape;155;g3e9b5ced2ff_0_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3" name="Google Shape;163;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GitHub's built-in CI/CD. No separate service to sign up for, no separate auth, just add a YAML file and push.</a:t>
            </a:r>
            <a:endParaRPr dirty="0"/>
          </a:p>
        </p:txBody>
      </p:sp>
      <p:sp>
        <p:nvSpPr>
          <p:cNvPr id="164" name="Google Shape;164;p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9" name="Google Shape;169;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surprise for students coming from other CI systems like </a:t>
            </a:r>
            <a:r>
              <a:rPr lang="en-US" dirty="0" err="1"/>
              <a:t>CircleCI</a:t>
            </a:r>
            <a:r>
              <a:rPr lang="en-US" dirty="0"/>
              <a:t> or Jenkins is really 'it's just a file in your repo.' No separate service, no separate auth, no separate dashboard...drop the file, push, and it's running. That simplicity is a huge part of why GHA took over as the default for small projects.</a:t>
            </a:r>
            <a:endParaRPr dirty="0"/>
          </a:p>
        </p:txBody>
      </p:sp>
      <p:sp>
        <p:nvSpPr>
          <p:cNvPr id="170" name="Google Shape;170;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e9b5ced2ff_0_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6" name="Google Shape;176;g3e9b5ced2ff_0_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four-word vocabulary is really the scaffolding for every CI lecture or tutorial they'll ever read - memorize once, recognize forever. Reinforce the hierarchy out loud: events trigger workflows, workflows contain jobs, jobs contain steps...once that shape is in their heads the YAML on the next slide stops looking intimidating.</a:t>
            </a:r>
            <a:endParaRPr dirty="0"/>
          </a:p>
        </p:txBody>
      </p:sp>
      <p:sp>
        <p:nvSpPr>
          <p:cNvPr id="177" name="Google Shape;177;g3e9b5ced2ff_0_1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e9b5ced2ff_0_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 name="Google Shape;183;g3e9b5ced2ff_0_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four-word vocabulary is really the scaffolding for every CI lecture or tutorial they'll ever read - memorize once, recognize forever. Reinforce the hierarchy out loud: events trigger workflows, workflows contain jobs, jobs contain steps...once that shape is in their heads the YAML on the next slide stops looking intimidating.</a:t>
            </a:r>
            <a:endParaRPr dirty="0"/>
          </a:p>
        </p:txBody>
      </p:sp>
      <p:sp>
        <p:nvSpPr>
          <p:cNvPr id="184" name="Google Shape;184;g3e9b5ced2ff_0_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e9b5ced2ff_0_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0" name="Google Shape;190;g3e9b5ced2ff_0_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four-word vocabulary is really the scaffolding for every CI lecture or tutorial they'll ever read - memorize once, recognize forever. Reinforce the hierarchy out loud: events trigger workflows, workflows contain jobs, jobs contain steps...once that shape is in their heads the YAML on the next slide stops looking intimidating.</a:t>
            </a:r>
            <a:endParaRPr dirty="0"/>
          </a:p>
        </p:txBody>
      </p:sp>
      <p:sp>
        <p:nvSpPr>
          <p:cNvPr id="191" name="Google Shape;191;g3e9b5ced2ff_0_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7" name="Google Shape;197;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four-word vocabulary is really the scaffolding for every CI lecture or tutorial they'll ever read - memorize once, recognize forever. Reinforce the hierarchy out loud: events trigger workflows, workflows contain jobs, jobs contain steps...once that shape is in their heads the YAML on the next slide stops looking intimidating.</a:t>
            </a:r>
            <a:endParaRPr dirty="0"/>
          </a:p>
        </p:txBody>
      </p:sp>
      <p:sp>
        <p:nvSpPr>
          <p:cNvPr id="198" name="Google Shape;198;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It's easy to get stuck on where the file goes and what to name it the first time - it's a silly little blocker but a real one. The .</a:t>
            </a:r>
            <a:r>
              <a:rPr lang="en-US" dirty="0" err="1"/>
              <a:t>github</a:t>
            </a:r>
            <a:r>
              <a:rPr lang="en-US" dirty="0"/>
              <a:t>/workflows/ path is a GitHub convention and GHA really won't find workflows anywhere else, so getting that path right is the whole battle. Filenames inside the folder are just labels.</a:t>
            </a:r>
            <a:endParaRPr dirty="0"/>
          </a:p>
        </p:txBody>
      </p:sp>
      <p:sp>
        <p:nvSpPr>
          <p:cNvPr id="205" name="Google Shape;205;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1" name="Google Shape;211;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each line. `name` is a label that shows up in the GitHub UI. `on` is the list of events that trigger this workflow - push and </a:t>
            </a:r>
            <a:r>
              <a:rPr lang="en-US" dirty="0" err="1"/>
              <a:t>pull_request</a:t>
            </a:r>
            <a:r>
              <a:rPr lang="en-US" dirty="0"/>
              <a:t> covers basically everything. `jobs` is a </a:t>
            </a:r>
            <a:r>
              <a:rPr lang="en-US" dirty="0" err="1"/>
              <a:t>dict</a:t>
            </a:r>
            <a:r>
              <a:rPr lang="en-US" dirty="0"/>
              <a:t> of jobs, and here we just have one named 'test'. `runs-on` picks the OS of the fresh VM. The four steps really are the whole thing: check out the code, set up Python, install deps, run </a:t>
            </a:r>
            <a:r>
              <a:rPr lang="en-US" dirty="0" err="1"/>
              <a:t>pytest</a:t>
            </a:r>
            <a:r>
              <a:rPr lang="en-US" dirty="0"/>
              <a:t>. Maybe 15 lines total, which is </a:t>
            </a:r>
            <a:r>
              <a:rPr lang="en-US" dirty="0" err="1"/>
              <a:t>kinda</a:t>
            </a:r>
            <a:r>
              <a:rPr lang="en-US" dirty="0"/>
              <a:t> astonishing given what it does.</a:t>
            </a:r>
            <a:endParaRPr dirty="0"/>
          </a:p>
        </p:txBody>
      </p:sp>
      <p:sp>
        <p:nvSpPr>
          <p:cNvPr id="212" name="Google Shape;212;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0" name="Google Shape;220;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Walking through the steps really makes 'CI' feel concrete instead of magical. It's not magic, it's a shell script running on a throwaway VM that GitHub provisions and tears down around each run...and when students believe they understand exactly what happens when they push, they stop being scared of the YAML.</a:t>
            </a:r>
            <a:endParaRPr dirty="0"/>
          </a:p>
        </p:txBody>
      </p:sp>
      <p:sp>
        <p:nvSpPr>
          <p:cNvPr id="221" name="Google Shape;221;p1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e9b5ced2ff_0_14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7" name="Google Shape;227;g3e9b5ced2ff_0_14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Adding `cache: pip` to the setup-python step makes pip reuse its download cache across runs. First run is the same speed, but every subsequent run skips the download step and goes way faster...small change, real speedup, and really just a good default habit for any Python workflow you write from now on.</a:t>
            </a:r>
            <a:endParaRPr dirty="0"/>
          </a:p>
        </p:txBody>
      </p:sp>
      <p:sp>
        <p:nvSpPr>
          <p:cNvPr id="228" name="Google Shape;228;g3e9b5ced2ff_0_14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6" name="Google Shape;236;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Adding `cache: pip` to the setup-python step makes pip reuse its download cache across runs. First run is the same speed, but every subsequent run skips the download step and goes way faster...small change, real speedup, and really just a good default habit for any Python workflow you write from now on.</a:t>
            </a:r>
            <a:endParaRPr dirty="0"/>
          </a:p>
        </p:txBody>
      </p:sp>
      <p:sp>
        <p:nvSpPr>
          <p:cNvPr id="237" name="Google Shape;237;p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e9b5ced2ff_0_15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 name="Google Shape;245;g3e9b5ced2ff_0_15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Adding `cache: pip` to the setup-python step makes pip reuse its download cache across runs. First run is the same speed, but every subsequent run skips the download step and goes way faster...small change, real speedup, and really just a good default habit for any Python workflow you write from now on.</a:t>
            </a:r>
            <a:endParaRPr dirty="0"/>
          </a:p>
        </p:txBody>
      </p:sp>
      <p:sp>
        <p:nvSpPr>
          <p:cNvPr id="246" name="Google Shape;246;g3e9b5ced2ff_0_15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e9b5ced2ff_0_16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4" name="Google Shape;254;g3e9b5ced2ff_0_16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 You push a commit. What does the Actions tab show?</a:t>
            </a:r>
            <a:endParaRPr dirty="0"/>
          </a:p>
          <a:p>
            <a:pPr marL="0" lvl="0" indent="0" algn="l" rtl="0">
              <a:spcBef>
                <a:spcPts val="0"/>
              </a:spcBef>
              <a:spcAft>
                <a:spcPts val="0"/>
              </a:spcAft>
              <a:buNone/>
            </a:pPr>
            <a:r>
              <a:rPr lang="en-US" dirty="0"/>
              <a:t>#</a:t>
            </a:r>
            <a:endParaRPr dirty="0"/>
          </a:p>
          <a:p>
            <a:pPr marL="0" lvl="0" indent="0" algn="l" rtl="0">
              <a:spcBef>
                <a:spcPts val="0"/>
              </a:spcBef>
              <a:spcAft>
                <a:spcPts val="0"/>
              </a:spcAft>
              <a:buNone/>
            </a:pPr>
            <a:r>
              <a:rPr lang="en-US" dirty="0"/>
              <a:t>#   (a)  green check - the workflow runs fine</a:t>
            </a:r>
            <a:endParaRPr dirty="0"/>
          </a:p>
          <a:p>
            <a:pPr marL="0" lvl="0" indent="0" algn="l" rtl="0">
              <a:spcBef>
                <a:spcPts val="0"/>
              </a:spcBef>
              <a:spcAft>
                <a:spcPts val="0"/>
              </a:spcAft>
              <a:buNone/>
            </a:pPr>
            <a:r>
              <a:rPr lang="en-US" dirty="0"/>
              <a:t>#   (b)  red X on `pip install` (no </a:t>
            </a:r>
            <a:r>
              <a:rPr lang="en-US" dirty="0" err="1"/>
              <a:t>requirements.txt</a:t>
            </a:r>
            <a:r>
              <a:rPr lang="en-US" dirty="0"/>
              <a:t>)</a:t>
            </a:r>
            <a:endParaRPr dirty="0"/>
          </a:p>
          <a:p>
            <a:pPr marL="0" lvl="0" indent="0" algn="l" rtl="0">
              <a:spcBef>
                <a:spcPts val="0"/>
              </a:spcBef>
              <a:spcAft>
                <a:spcPts val="0"/>
              </a:spcAft>
              <a:buNone/>
            </a:pPr>
            <a:r>
              <a:rPr lang="en-US" dirty="0"/>
              <a:t>#   (c)  red X on `</a:t>
            </a:r>
            <a:r>
              <a:rPr lang="en-US" dirty="0" err="1"/>
              <a:t>pytest</a:t>
            </a:r>
            <a:r>
              <a:rPr lang="en-US" dirty="0"/>
              <a:t>` (no tests found)</a:t>
            </a:r>
            <a:endParaRPr dirty="0"/>
          </a:p>
          <a:p>
            <a:pPr marL="0" lvl="0" indent="0" algn="l" rtl="0">
              <a:spcBef>
                <a:spcPts val="0"/>
              </a:spcBef>
              <a:spcAft>
                <a:spcPts val="0"/>
              </a:spcAft>
              <a:buNone/>
            </a:pPr>
            <a:r>
              <a:rPr lang="en-US" dirty="0"/>
              <a:t>#   (d)  red X on `setup-python` (it needs the repo first)</a:t>
            </a: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100"/>
              <a:buFont typeface="Arial"/>
              <a:buNone/>
            </a:pPr>
            <a:r>
              <a:rPr lang="en-US" dirty="0">
                <a:solidFill>
                  <a:schemeClr val="dk1"/>
                </a:solidFill>
              </a:rPr>
              <a:t>The runner is a brand-new Ubuntu VM with literally nothing on it - no repo, no files, nothing. `setup-python` happily installs Python because that step doesn't need your code. Then `pip install -r </a:t>
            </a:r>
            <a:r>
              <a:rPr lang="en-US" dirty="0" err="1">
                <a:solidFill>
                  <a:schemeClr val="dk1"/>
                </a:solidFill>
              </a:rPr>
              <a:t>requirements.txt</a:t>
            </a:r>
            <a:r>
              <a:rPr lang="en-US" dirty="0">
                <a:solidFill>
                  <a:schemeClr val="dk1"/>
                </a:solidFill>
              </a:rPr>
              <a:t>` looks for the file in the working directory, doesn't find it, exits non-zero, and the job halts.</a:t>
            </a:r>
            <a:endParaRPr dirty="0"/>
          </a:p>
          <a:p>
            <a:pPr marL="0" lvl="0" indent="0" algn="l" rtl="0">
              <a:spcBef>
                <a:spcPts val="0"/>
              </a:spcBef>
              <a:spcAft>
                <a:spcPts val="0"/>
              </a:spcAft>
              <a:buNone/>
            </a:pPr>
            <a:endParaRPr dirty="0"/>
          </a:p>
        </p:txBody>
      </p:sp>
      <p:sp>
        <p:nvSpPr>
          <p:cNvPr id="255" name="Google Shape;255;g3e9b5ced2ff_0_16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3" name="Google Shape;263;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mental model is the same as the 8.1 'container is just a process' moment. Demystify the runner - it's not magic, it's an Ubuntu VM with nothing on it that runs your shell commands in order. Once students believe that, CI debugging stops being scary and starts being 'add a print, look at the log.' This is also the slide to mention that the working directory ($GITHUB_WORKSPACE) is where checkout drops the repo, in case anyone asks.</a:t>
            </a:r>
            <a:endParaRPr dirty="0"/>
          </a:p>
        </p:txBody>
      </p:sp>
      <p:sp>
        <p:nvSpPr>
          <p:cNvPr id="264" name="Google Shape;264;p1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0" name="Google Shape;270;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Matrix is the GHA way of running one job across multiple environments without duplicating the YAML. The common cases are Python versions (libraries that need to work on both 3.11 and 3.12), OS (`ubuntu-latest`, `</a:t>
            </a:r>
            <a:r>
              <a:rPr lang="en-US" dirty="0" err="1"/>
              <a:t>macos</a:t>
            </a:r>
            <a:r>
              <a:rPr lang="en-US" dirty="0"/>
              <a:t>-latest`, `windows-latest`), or any combination. Both runs go in parallel on separate VMs, both have to pass for the workflow to be green. For the final project you really don't need this - you're targeting one Python version on one Linux box - but you'll see it constantly in the wild on open-source libraries, and now you know what it does.</a:t>
            </a:r>
            <a:endParaRPr dirty="0"/>
          </a:p>
        </p:txBody>
      </p:sp>
      <p:sp>
        <p:nvSpPr>
          <p:cNvPr id="271" name="Google Shape;271;p1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e9a67dddcc_0_7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9" name="Google Shape;279;g3e9a67dddcc_0_7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rule worth pulling out: anything deterministic that fails the same way every time belongs in CI. Tests are the obvious case but linters and formatters are right there with them - ruff for Python, </a:t>
            </a:r>
            <a:r>
              <a:rPr lang="en-US" dirty="0" err="1"/>
              <a:t>eslint+prettier</a:t>
            </a:r>
            <a:r>
              <a:rPr lang="en-US" dirty="0"/>
              <a:t> for the JS side, </a:t>
            </a:r>
            <a:r>
              <a:rPr lang="en-US" dirty="0" err="1"/>
              <a:t>mypy</a:t>
            </a:r>
            <a:r>
              <a:rPr lang="en-US" dirty="0"/>
              <a:t> if you've added type checking. Two jobs in one file run in parallel on separate VMs, so adding lint doesn't slow tests down at all. Mention that `ruff format --check .` can be a third step in the lint job to enforce formatting too - fails CI if anyone committed unformatted code, which is the cheapest possible way to end formatting </a:t>
            </a:r>
            <a:r>
              <a:rPr lang="en-US" dirty="0" err="1"/>
              <a:t>bikeshedding</a:t>
            </a:r>
            <a:r>
              <a:rPr lang="en-US" dirty="0"/>
              <a:t> on a team forever.</a:t>
            </a:r>
            <a:endParaRPr dirty="0"/>
          </a:p>
        </p:txBody>
      </p:sp>
      <p:sp>
        <p:nvSpPr>
          <p:cNvPr id="280" name="Google Shape;280;g3e9a67dddcc_0_7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8" name="Google Shape;288;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rule worth pulling out: anything deterministic that fails the same way every time belongs in CI. Tests are the obvious case but linters and formatters are right there with them - ruff for Python, </a:t>
            </a:r>
            <a:r>
              <a:rPr lang="en-US" dirty="0" err="1"/>
              <a:t>eslint+prettier</a:t>
            </a:r>
            <a:r>
              <a:rPr lang="en-US" dirty="0"/>
              <a:t> for the JS side, </a:t>
            </a:r>
            <a:r>
              <a:rPr lang="en-US" dirty="0" err="1"/>
              <a:t>mypy</a:t>
            </a:r>
            <a:r>
              <a:rPr lang="en-US" dirty="0"/>
              <a:t> if you've added type checking. Two jobs in one file run in parallel on separate VMs, so adding lint doesn't slow tests down at all. Mention that `ruff format --check .` can be a third step in the lint job to enforce formatting too - fails CI if anyone committed unformatted code, which is the cheapest possible way to end formatting </a:t>
            </a:r>
            <a:r>
              <a:rPr lang="en-US" dirty="0" err="1"/>
              <a:t>bikeshedding</a:t>
            </a:r>
            <a:r>
              <a:rPr lang="en-US" dirty="0"/>
              <a:t> on a team forever.</a:t>
            </a:r>
            <a:endParaRPr dirty="0"/>
          </a:p>
        </p:txBody>
      </p:sp>
      <p:sp>
        <p:nvSpPr>
          <p:cNvPr id="289" name="Google Shape;289;p1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7" name="Google Shape;297;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actual payoff: wiring CI to the deploy pipeline so the two halves from the opening finally connect.</a:t>
            </a:r>
            <a:endParaRPr dirty="0"/>
          </a:p>
        </p:txBody>
      </p:sp>
      <p:sp>
        <p:nvSpPr>
          <p:cNvPr id="298" name="Google Shape;298;p1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CI and CD really do get conflated in casual usage but they're different. CI is automatic testing, CD is automatic deployment, and the ideal is both with CD gated on CI...Railway alone gives you CD without the gate, which is </a:t>
            </a:r>
            <a:r>
              <a:rPr lang="en-US" dirty="0" err="1"/>
              <a:t>kinda</a:t>
            </a:r>
            <a:r>
              <a:rPr lang="en-US" dirty="0"/>
              <a:t> the worst of both worlds if you think about it. We're about to add the gate.</a:t>
            </a:r>
            <a:endParaRPr dirty="0"/>
          </a:p>
        </p:txBody>
      </p:sp>
      <p:sp>
        <p:nvSpPr>
          <p:cNvPr id="304" name="Google Shape;304;p1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0" name="Google Shape;310;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deck's CD story has been Railway all along, which is fine because Railway is the recommended default and it really does the build-and-run for you. But a team that picks a plain server instead has a real gap: nothing builds or ships the image unless they wire it up. The fix is one more job in the same workflow file - on a push to main, build the image and push it to a registry, with GHCR the obvious pick since it's free and already tied to the repo. The server side is a docker pull and a restart, triggered however they like. The callback worth making out loud: the Actions runner doing this build is exactly 8.1's build machine, and it's itself a container, so you've got a container building and shipping another container. Don't go deep here, most teams will be on Railway - the point is that the non-PaaS path isn't a separate skill, it's the registry round-trip from 8.1 with a workflow job wrapped around it.</a:t>
            </a:r>
            <a:endParaRPr dirty="0"/>
          </a:p>
        </p:txBody>
      </p:sp>
      <p:sp>
        <p:nvSpPr>
          <p:cNvPr id="311" name="Google Shape;311;p1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e9a67dddcc_0_6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7" name="Google Shape;317;g3e9a67dddcc_0_6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Branch protection is really what ties everything together. You don't configure Railway at all - you configure GitHub to never let bad code reach main in the first place. Railway just keeps doing its 'deploy on push' thing and it only ever sees passing code, because failing code never makes it to main.</a:t>
            </a:r>
            <a:endParaRPr dirty="0"/>
          </a:p>
        </p:txBody>
      </p:sp>
      <p:sp>
        <p:nvSpPr>
          <p:cNvPr id="318" name="Google Shape;318;g3e9a67dddcc_0_6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4" name="Google Shape;324;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Branch protection is really what ties everything together. You don't configure Railway at all - you configure GitHub to never let bad code reach main in the first place. Railway just keeps doing its 'deploy on push' thing and it only ever sees passing code, because failing code never makes it to main.</a:t>
            </a:r>
            <a:endParaRPr dirty="0"/>
          </a:p>
        </p:txBody>
      </p:sp>
      <p:sp>
        <p:nvSpPr>
          <p:cNvPr id="325" name="Google Shape;325;p2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1" name="Google Shape;331;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Call-on-someone. The answer is (d). Walk both bugs out. Bug one is the hardcoded literal: anything under .</a:t>
            </a:r>
            <a:r>
              <a:rPr lang="en-US" dirty="0" err="1"/>
              <a:t>github</a:t>
            </a:r>
            <a:r>
              <a:rPr lang="en-US" dirty="0"/>
              <a:t>/workflows/ lives in your repo, and on a public repo that means anyone on the internet can read it - including past versions in git history, so renaming the key in a follow-up commit doesn't help. Bug two is the echo: build logs are public for any PR on a public repo, and even on a private repo every collaborator can read them. The echo would print the actual secret value into that log forever. The combination - store it in source AND print it - is the exact pair that has burned more real teams than any other single CI mistake. Next slide is the safe pattern.</a:t>
            </a:r>
            <a:endParaRPr dirty="0"/>
          </a:p>
        </p:txBody>
      </p:sp>
      <p:sp>
        <p:nvSpPr>
          <p:cNvPr id="332" name="Google Shape;332;p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e9a67dddcc_0_6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0" name="Google Shape;340;g3e9a67dddcc_0_6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takeaway is the same pattern as the 8.1 .env spot-the-bug: if you don't tell the system the value is sensitive, it will treat it like any other string and print it where you don't want it printed. GitHub Secrets is the channel that knows, the same way --env-file and Railway's dashboard were the channels that knew for runtime config in 7.2 and 8.1. The masking-in-logs thing is worth showing in the UI if you have time - GHA shows `***` instead of the secret value in any log line that contains it, which is a nice second line of defense but really shouldn't be the first.</a:t>
            </a:r>
            <a:endParaRPr dirty="0"/>
          </a:p>
        </p:txBody>
      </p:sp>
      <p:sp>
        <p:nvSpPr>
          <p:cNvPr id="341" name="Google Shape;341;g3e9a67dddcc_0_6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7" name="Google Shape;347;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takeaway is the same pattern as the 8.1 .env spot-the-bug: if you don't tell the system the value is sensitive, it will treat it like any other string and print it where you don't want it printed. GitHub Secrets is the channel that knows, the same way --env-file and Railway's dashboard were the channels that knew for runtime config in 7.2 and 8.1. The masking-in-logs thing is worth showing in the UI if you have time - GHA shows `***` instead of the secret value in any log line that contains it, which is a nice second line of defense but really shouldn't be the first.</a:t>
            </a:r>
            <a:endParaRPr dirty="0"/>
          </a:p>
        </p:txBody>
      </p:sp>
      <p:sp>
        <p:nvSpPr>
          <p:cNvPr id="348" name="Google Shape;348;p2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4" name="Google Shape;354;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It's not extra credit, it's the thing that keeps your team functional under pressure...and it's just a lot cheaper to never break main than it is to recover from it once you have. Push your coding agent on this one too, because a lot of agents will skip branch protection unless you specifically ask for it.</a:t>
            </a:r>
            <a:endParaRPr dirty="0"/>
          </a:p>
        </p:txBody>
      </p:sp>
      <p:sp>
        <p:nvSpPr>
          <p:cNvPr id="355" name="Google Shape;355;p2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1" name="Google Shape;361;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Pivot from the technical floor to the cultural one. Branch protection is the switch that runs in the background. PR review is the conversation that happens on top of it, and it's the half of 'shipping with confidence' that CI can't do for you.</a:t>
            </a:r>
            <a:endParaRPr dirty="0"/>
          </a:p>
        </p:txBody>
      </p:sp>
      <p:sp>
        <p:nvSpPr>
          <p:cNvPr id="362" name="Google Shape;362;p2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7" name="Google Shape;367;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framing to push here: branch protection alone gives you a gate, but it's a dumb gate. It checks 'is CI green' and waves anything green through. The actual quality control is the human reading the PR - which means the PR has to be shaped so a human can actually read it, which is the next slide. The 'merge of this branch into main, not the branch alone' bullet is worth highlighting: GHA tests the merged state, which is why two PRs that both pass CI independently can still break main when both are merged. The standard fix is 'require branches to be up to date with main before merging,' which is one more checkbox in the branch protection rule.</a:t>
            </a:r>
            <a:endParaRPr dirty="0"/>
          </a:p>
        </p:txBody>
      </p:sp>
      <p:sp>
        <p:nvSpPr>
          <p:cNvPr id="368" name="Google Shape;368;p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e9a67dddcc_0_5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4" name="Google Shape;374;g3e9a67dddcc_0_5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framing to push here: branch protection alone gives you a gate, but it's a dumb gate. It checks 'is CI green' and waves anything green through. The actual quality control is the human reading the PR - which means the PR has to be shaped so a human can actually read it, which is the next slide. The 'merge of this branch into main, not the branch alone' bullet is worth highlighting: GHA tests the merged state, which is why two PRs that both pass CI independently can still break main when both are merged. The standard fix is 'require branches to be up to date with main before merging,' which is one more checkbox in the branch protection rule.</a:t>
            </a:r>
            <a:endParaRPr dirty="0"/>
          </a:p>
        </p:txBody>
      </p:sp>
      <p:sp>
        <p:nvSpPr>
          <p:cNvPr id="375" name="Google Shape;375;g3e9a67dddcc_0_5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e9a67dddcc_0_4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1" name="Google Shape;381;g3e9a67dddcc_0_4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four shape rules are really just 'make the PR cheap to review.' Small + scoped means the reviewer can hold the whole diff in their head. Described means they don't have to reverse-engineer your intent. Green means they're not wasting their time looking at broken code. Each one is individually small, all four together change a team's review culture entirely. The 'especially your own' bit is the one to land hard - a PR you opened against yourself is still useful because it forces you to look at your own diff with fresh eyes before it hits main, which catches a surprising amount of dumb stuff. And on a 3-person team it gives the other two a real chance to flag issues they'd otherwise only discover after the fact.</a:t>
            </a:r>
            <a:endParaRPr dirty="0"/>
          </a:p>
        </p:txBody>
      </p:sp>
      <p:sp>
        <p:nvSpPr>
          <p:cNvPr id="382" name="Google Shape;382;g3e9a67dddcc_0_4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e9a67dddcc_0_3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8" name="Google Shape;388;g3e9a67dddcc_0_3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four shape rules are really just 'make the PR cheap to review.' Small + scoped means the reviewer can hold the whole diff in their head. Described means they don't have to reverse-engineer your intent. Green means they're not wasting their time looking at broken code. Each one is individually small, all four together change a team's review culture entirely. The 'especially your own' bit is the one to land hard - a PR you opened against yourself is still useful because it forces you to look at your own diff with fresh eyes before it hits main, which catches a surprising amount of dumb stuff. And on a 3-person team it gives the other two a real chance to flag issues they'd otherwise only discover after the fact.</a:t>
            </a:r>
            <a:endParaRPr dirty="0"/>
          </a:p>
        </p:txBody>
      </p:sp>
      <p:sp>
        <p:nvSpPr>
          <p:cNvPr id="389" name="Google Shape;389;g3e9a67dddcc_0_3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e9a67dddcc_0_4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5" name="Google Shape;395;g3e9a67dddcc_0_4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four shape rules are really just 'make the PR cheap to review.' Small + scoped means the reviewer can hold the whole diff in their head. Described means they don't have to reverse-engineer your intent. Green means they're not wasting their time looking at broken code. Each one is individually small, all four together change a team's review culture entirely. The 'especially your own' bit is the one to land hard - a PR you opened against yourself is still useful because it forces you to look at your own diff with fresh eyes before it hits main, which catches a surprising amount of dumb stuff. And on a 3-person team it gives the other two a real chance to flag issues they'd otherwise only discover after the fact.</a:t>
            </a:r>
            <a:endParaRPr dirty="0"/>
          </a:p>
        </p:txBody>
      </p:sp>
      <p:sp>
        <p:nvSpPr>
          <p:cNvPr id="396" name="Google Shape;396;g3e9a67dddcc_0_4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e9a67dddcc_0_3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2" name="Google Shape;402;g3e9a67dddcc_0_3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four shape rules are really just 'make the PR cheap to review.' Small + scoped means the reviewer can hold the whole diff in their head. Described means they don't have to reverse-engineer your intent. Green means they're not wasting their time looking at broken code. Each one is individually small, all four together change a team's review culture entirely. The 'especially your own' bit is the one to land hard - a PR you opened against yourself is still useful because it forces you to look at your own diff with fresh eyes before it hits main, which catches a surprising amount of dumb stuff. And on a 3-person team it gives the other two a real chance to flag issues they'd otherwise only discover after the fact.</a:t>
            </a:r>
            <a:endParaRPr dirty="0"/>
          </a:p>
        </p:txBody>
      </p:sp>
      <p:sp>
        <p:nvSpPr>
          <p:cNvPr id="403" name="Google Shape;403;g3e9a67dddcc_0_3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9" name="Google Shape;409;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four shape rules are really just 'make the PR cheap to review.' Small + scoped means the reviewer can hold the whole diff in their head. Described means they don't have to reverse-engineer your intent. Green means they're not wasting their time looking at broken code. Each one is individually small, all four together change a team's review culture entirely. The 'especially your own' bit is the one to land hard - a PR you opened against yourself is still useful because it forces you to look at your own diff with fresh eyes before it hits main, which catches a surprising amount of dumb stuff. And on a 3-person team it gives the other two a real chance to flag issues they'd otherwise only discover after the fact.</a:t>
            </a:r>
            <a:endParaRPr dirty="0"/>
          </a:p>
        </p:txBody>
      </p:sp>
      <p:sp>
        <p:nvSpPr>
          <p:cNvPr id="410" name="Google Shape;410;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6" name="Google Shape;416;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name: Tests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on: [push, </a:t>
            </a:r>
            <a:r>
              <a:rPr lang="en-US" dirty="0" err="1"/>
              <a:t>pull_request</a:t>
            </a:r>
            <a:r>
              <a:rPr lang="en-US" dirty="0"/>
              <a: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jobs:</a:t>
            </a:r>
            <a:endParaRPr dirty="0"/>
          </a:p>
          <a:p>
            <a:pPr marL="0" lvl="0" indent="0" algn="l" rtl="0">
              <a:spcBef>
                <a:spcPts val="0"/>
              </a:spcBef>
              <a:spcAft>
                <a:spcPts val="0"/>
              </a:spcAft>
              <a:buNone/>
            </a:pPr>
            <a:r>
              <a:rPr lang="en-US" dirty="0"/>
              <a:t>  test:</a:t>
            </a:r>
            <a:endParaRPr dirty="0"/>
          </a:p>
          <a:p>
            <a:pPr marL="0" lvl="0" indent="0" algn="l" rtl="0">
              <a:spcBef>
                <a:spcPts val="0"/>
              </a:spcBef>
              <a:spcAft>
                <a:spcPts val="0"/>
              </a:spcAft>
              <a:buNone/>
            </a:pPr>
            <a:r>
              <a:rPr lang="en-US" dirty="0"/>
              <a:t>    runs-on: ubuntu-latest</a:t>
            </a:r>
            <a:endParaRPr dirty="0"/>
          </a:p>
          <a:p>
            <a:pPr marL="0" lvl="0" indent="0" algn="l" rtl="0">
              <a:spcBef>
                <a:spcPts val="0"/>
              </a:spcBef>
              <a:spcAft>
                <a:spcPts val="0"/>
              </a:spcAft>
              <a:buNone/>
            </a:pPr>
            <a:r>
              <a:rPr lang="en-US" dirty="0"/>
              <a:t>    steps:</a:t>
            </a:r>
            <a:endParaRPr dirty="0"/>
          </a:p>
          <a:p>
            <a:pPr marL="0" lvl="0" indent="0" algn="l" rtl="0">
              <a:spcBef>
                <a:spcPts val="0"/>
              </a:spcBef>
              <a:spcAft>
                <a:spcPts val="0"/>
              </a:spcAft>
              <a:buNone/>
            </a:pPr>
            <a:r>
              <a:rPr lang="en-US" dirty="0"/>
              <a:t>      - uses: actions/checkout@v6</a:t>
            </a:r>
            <a:endParaRPr dirty="0"/>
          </a:p>
          <a:p>
            <a:pPr marL="0" lvl="0" indent="0" algn="l" rtl="0">
              <a:spcBef>
                <a:spcPts val="0"/>
              </a:spcBef>
              <a:spcAft>
                <a:spcPts val="0"/>
              </a:spcAft>
              <a:buNone/>
            </a:pPr>
            <a:r>
              <a:rPr lang="en-US" dirty="0"/>
              <a:t>      - uses: actions/setup-python@v6</a:t>
            </a:r>
            <a:endParaRPr dirty="0"/>
          </a:p>
          <a:p>
            <a:pPr marL="0" lvl="0" indent="0" algn="l" rtl="0">
              <a:spcBef>
                <a:spcPts val="0"/>
              </a:spcBef>
              <a:spcAft>
                <a:spcPts val="0"/>
              </a:spcAft>
              <a:buNone/>
            </a:pPr>
            <a:r>
              <a:rPr lang="en-US" dirty="0"/>
              <a:t>        with:</a:t>
            </a:r>
            <a:endParaRPr dirty="0"/>
          </a:p>
          <a:p>
            <a:pPr marL="0" lvl="0" indent="0" algn="l" rtl="0">
              <a:spcBef>
                <a:spcPts val="0"/>
              </a:spcBef>
              <a:spcAft>
                <a:spcPts val="0"/>
              </a:spcAft>
              <a:buNone/>
            </a:pPr>
            <a:r>
              <a:rPr lang="en-US" dirty="0"/>
              <a:t>          python-version: "3.12"</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      - run: pip install -r </a:t>
            </a:r>
            <a:r>
              <a:rPr lang="en-US" dirty="0" err="1"/>
              <a:t>requirements.txt</a:t>
            </a:r>
            <a:endParaRPr dirty="0"/>
          </a:p>
          <a:p>
            <a:pPr marL="0" lvl="0" indent="0" algn="l" rtl="0">
              <a:spcBef>
                <a:spcPts val="0"/>
              </a:spcBef>
              <a:spcAft>
                <a:spcPts val="0"/>
              </a:spcAft>
              <a:buNone/>
            </a:pPr>
            <a:r>
              <a:rPr lang="en-US" dirty="0"/>
              <a:t>      - run: </a:t>
            </a:r>
            <a:r>
              <a:rPr lang="en-US" dirty="0" err="1"/>
              <a:t>pytest</a:t>
            </a:r>
            <a:endParaRPr dirty="0"/>
          </a:p>
          <a:p>
            <a:pPr marL="0" lvl="0" indent="0" algn="l" rtl="0">
              <a:spcBef>
                <a:spcPts val="0"/>
              </a:spcBef>
              <a:spcAft>
                <a:spcPts val="0"/>
              </a:spcAft>
              <a:buNone/>
            </a:pPr>
            <a:endParaRPr dirty="0"/>
          </a:p>
        </p:txBody>
      </p:sp>
      <p:sp>
        <p:nvSpPr>
          <p:cNvPr id="417" name="Google Shape;417;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e9b5ced2ff_0_17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5" name="Google Shape;425;g3e9b5ced2ff_0_17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g3e9b5ced2ff_0_17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3e9b5ced2ff_0_19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4" name="Google Shape;434;g3e9b5ced2ff_0_19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Same shape as every other job - checkout, set up Python, install, run the tool. Pyright here is the type checker, but anything deterministic with a command-line entry point and a meaningful exit code can be its own job, and jobs run in parallel on separate VMs, so extra checks are basically free.</a:t>
            </a:r>
            <a:r>
              <a:rPr lang="en-US" dirty="0" err="1"/>
              <a:t/>
            </a:r>
            <a:r>
              <a:rPr lang="en-US" dirty="0"/>
              <a:t/>
            </a:r>
            <a:r>
              <a:rPr lang="en-US" dirty="0" err="1"/>
              <a:t/>
            </a:r>
            <a:r>
              <a:rPr lang="en-US" dirty="0"/>
              <a:t/>
            </a:r>
            <a:r>
              <a:rPr lang="en-US" dirty="0" err="1"/>
              <a:t/>
            </a:r>
            <a:r>
              <a:rPr lang="en-US" dirty="0"/>
              <a:t/>
            </a:r>
            <a:r>
              <a:rPr lang="en-US" dirty="0" err="1"/>
              <a:t/>
            </a:r>
            <a:r>
              <a:rPr lang="en-US" dirty="0"/>
              <a:t/>
            </a:r>
            <a:endParaRPr dirty="0"/>
          </a:p>
        </p:txBody>
      </p:sp>
      <p:sp>
        <p:nvSpPr>
          <p:cNvPr id="435" name="Google Shape;435;g3e9b5ced2ff_0_19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2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3" name="Google Shape;443;p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Walk through each answer, and then really point at the final comment block. The second step - turning on branch protection - is the one that actually makes CI valuable in the first place. Having the workflow without the branch protection rule is kinda like having a lock you never turn...technically installed, practically useless.</a:t>
            </a:r>
            <a:endParaRPr/>
          </a:p>
        </p:txBody>
      </p:sp>
      <p:sp>
        <p:nvSpPr>
          <p:cNvPr id="444" name="Google Shape;444;p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2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2" name="Google Shape;452;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Four-point recap rather than three - the deck is bigger now, the new pieces are CI as a place for more than tests (lint slides), the PR review half (Section 5), and secrets-as-a-channel (the spot-the-bug). The action item is still branch protection on day one because it's the only thing in here that's a single toggle in the UI. Concurrency next class is a real gear-shift from these practical deploy lectures - worth flagging so students know to bring a different kind of attention.</a:t>
            </a:r>
            <a:endParaRPr dirty="0"/>
          </a:p>
        </p:txBody>
      </p:sp>
      <p:sp>
        <p:nvSpPr>
          <p:cNvPr id="453" name="Google Shape;453;p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3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9"/>
          <p:cNvSpPr>
            <a:spLocks noGrp="1"/>
          </p:cNvSpPr>
          <p:nvPr>
            <p:ph type="pic" idx="2"/>
          </p:nvPr>
        </p:nvSpPr>
        <p:spPr>
          <a:xfrm>
            <a:off x="1792288" y="612775"/>
            <a:ext cx="5486400" cy="4114800"/>
          </a:xfrm>
          <a:prstGeom prst="rect">
            <a:avLst/>
          </a:prstGeom>
          <a:noFill/>
          <a:ln>
            <a:noFill/>
          </a:ln>
        </p:spPr>
      </p:sp>
      <p:sp>
        <p:nvSpPr>
          <p:cNvPr id="64" name="Google Shape;64;p3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
        <p:cNvGrpSpPr/>
        <p:nvPr/>
      </p:nvGrpSpPr>
      <p:grpSpPr>
        <a:xfrm>
          <a:off x="0" y="0"/>
          <a:ext cx="0" cy="0"/>
          <a:chOff x="0" y="0"/>
          <a:chExt cx="0" cy="0"/>
        </a:xfrm>
      </p:grpSpPr>
      <p:sp>
        <p:nvSpPr>
          <p:cNvPr id="85" name="Google Shape;85;p1"/>
          <p:cNvSpPr/>
          <p:nvPr/>
        </p:nvSpPr>
        <p:spPr>
          <a:xfrm>
            <a:off x="0" y="0"/>
            <a:ext cx="12191695" cy="137160"/>
          </a:xfrm>
          <a:prstGeom prst="rect">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
          <p:cNvSpPr txBox="1"/>
          <p:nvPr/>
        </p:nvSpPr>
        <p:spPr>
          <a:xfrm>
            <a:off x="914400" y="1645920"/>
            <a:ext cx="10362895"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5B21B6"/>
                </a:solidFill>
                <a:latin typeface="Calibri"/>
                <a:ea typeface="Calibri"/>
                <a:cs typeface="Calibri"/>
                <a:sym typeface="Calibri"/>
              </a:rPr>
              <a:t>Lecture 8.2</a:t>
            </a:r>
            <a:endParaRPr/>
          </a:p>
        </p:txBody>
      </p:sp>
      <p:sp>
        <p:nvSpPr>
          <p:cNvPr id="87" name="Google Shape;87;p1"/>
          <p:cNvSpPr txBox="1"/>
          <p:nvPr/>
        </p:nvSpPr>
        <p:spPr>
          <a:xfrm>
            <a:off x="914400" y="2468880"/>
            <a:ext cx="10362895" cy="182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i="0" u="none" strike="noStrike" cap="none">
                <a:solidFill>
                  <a:srgbClr val="1A1A2E"/>
                </a:solidFill>
                <a:latin typeface="Calibri"/>
                <a:ea typeface="Calibri"/>
                <a:cs typeface="Calibri"/>
                <a:sym typeface="Calibri"/>
              </a:rPr>
              <a:t>CI/CD with GitHub Actions</a:t>
            </a:r>
            <a:endParaRPr/>
          </a:p>
        </p:txBody>
      </p:sp>
      <p:sp>
        <p:nvSpPr>
          <p:cNvPr id="88" name="Google Shape;88;p1"/>
          <p:cNvSpPr txBox="1"/>
          <p:nvPr/>
        </p:nvSpPr>
        <p:spPr>
          <a:xfrm>
            <a:off x="914400" y="4754880"/>
            <a:ext cx="1036289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Andy Aymeloglu - UATX Software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93"/>
        <p:cNvGrpSpPr/>
        <p:nvPr/>
      </p:nvGrpSpPr>
      <p:grpSpPr>
        <a:xfrm>
          <a:off x="0" y="0"/>
          <a:ext cx="0" cy="0"/>
          <a:chOff x="0" y="0"/>
          <a:chExt cx="0" cy="0"/>
        </a:xfrm>
      </p:grpSpPr>
      <p:sp>
        <p:nvSpPr>
          <p:cNvPr id="94" name="Google Shape;94;p2"/>
          <p:cNvSpPr txBox="1"/>
          <p:nvPr/>
        </p:nvSpPr>
        <p:spPr>
          <a:xfrm>
            <a:off x="914400" y="2286000"/>
            <a:ext cx="10362900" cy="76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a:solidFill>
                  <a:srgbClr val="5B21B6"/>
                </a:solidFill>
                <a:latin typeface="Calibri"/>
                <a:ea typeface="Calibri"/>
                <a:cs typeface="Calibri"/>
                <a:sym typeface="Calibri"/>
              </a:rPr>
              <a:t>One Last Piece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9"/>
        <p:cNvGrpSpPr/>
        <p:nvPr/>
      </p:nvGrpSpPr>
      <p:grpSpPr>
        <a:xfrm>
          <a:off x="0" y="0"/>
          <a:ext cx="0" cy="0"/>
          <a:chOff x="0" y="0"/>
          <a:chExt cx="0" cy="0"/>
        </a:xfrm>
      </p:grpSpPr>
      <p:sp>
        <p:nvSpPr>
          <p:cNvPr id="100" name="Google Shape;100;p3"/>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We’re almost at the end</a:t>
            </a:r>
            <a:endParaRPr/>
          </a:p>
        </p:txBody>
      </p:sp>
      <p:sp>
        <p:nvSpPr>
          <p:cNvPr id="101" name="Google Shape;101;p3"/>
          <p:cNvSpPr txBox="1"/>
          <p:nvPr/>
        </p:nvSpPr>
        <p:spPr>
          <a:xfrm>
            <a:off x="914400" y="1463040"/>
            <a:ext cx="10362900" cy="200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Think back over the last few weeks: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a:solidFill>
                  <a:srgbClr val="666677"/>
                </a:solidFill>
                <a:latin typeface="Calibri"/>
                <a:ea typeface="Calibri"/>
                <a:cs typeface="Calibri"/>
                <a:sym typeface="Calibri"/>
              </a:rPr>
              <a:t>Four weeks ago</a:t>
            </a:r>
            <a:r>
              <a:rPr lang="en-US" sz="2000" b="0" i="0" u="none" strike="noStrike" cap="none">
                <a:solidFill>
                  <a:srgbClr val="666677"/>
                </a:solidFill>
                <a:latin typeface="Calibri"/>
                <a:ea typeface="Calibri"/>
                <a:cs typeface="Calibri"/>
                <a:sym typeface="Calibri"/>
              </a:rPr>
              <a:t> - you learned to write tests with pytest.</a:t>
            </a:r>
            <a:r>
              <a:rPr lang="en-US"/>
              <a:t> </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a:solidFill>
                  <a:srgbClr val="666677"/>
                </a:solidFill>
                <a:latin typeface="Calibri"/>
                <a:ea typeface="Calibri"/>
                <a:cs typeface="Calibri"/>
                <a:sym typeface="Calibri"/>
              </a:rPr>
              <a:t>Last Thursday/Tuesday</a:t>
            </a:r>
            <a:r>
              <a:rPr lang="en-US" sz="2000" b="0" i="0" u="none" strike="noStrike" cap="none">
                <a:solidFill>
                  <a:srgbClr val="666677"/>
                </a:solidFill>
                <a:latin typeface="Calibri"/>
                <a:ea typeface="Calibri"/>
                <a:cs typeface="Calibri"/>
                <a:sym typeface="Calibri"/>
              </a:rPr>
              <a:t> - you learned to deploy with Railway, with </a:t>
            </a:r>
            <a:r>
              <a:rPr lang="en-US" sz="2000">
                <a:solidFill>
                  <a:srgbClr val="666677"/>
                </a:solidFill>
                <a:latin typeface="Calibri"/>
                <a:ea typeface="Calibri"/>
                <a:cs typeface="Calibri"/>
                <a:sym typeface="Calibri"/>
              </a:rPr>
              <a:t>optional Docker control</a:t>
            </a:r>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6"/>
        <p:cNvGrpSpPr/>
        <p:nvPr/>
      </p:nvGrpSpPr>
      <p:grpSpPr>
        <a:xfrm>
          <a:off x="0" y="0"/>
          <a:ext cx="0" cy="0"/>
          <a:chOff x="0" y="0"/>
          <a:chExt cx="0" cy="0"/>
        </a:xfrm>
      </p:grpSpPr>
      <p:sp>
        <p:nvSpPr>
          <p:cNvPr id="107" name="Google Shape;107;g3e9a67dddcc_0_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We’re almost at the end</a:t>
            </a:r>
            <a:endParaRPr/>
          </a:p>
        </p:txBody>
      </p:sp>
      <p:sp>
        <p:nvSpPr>
          <p:cNvPr id="108" name="Google Shape;108;g3e9a67dddcc_0_0"/>
          <p:cNvSpPr txBox="1"/>
          <p:nvPr/>
        </p:nvSpPr>
        <p:spPr>
          <a:xfrm>
            <a:off x="914400" y="1463040"/>
            <a:ext cx="10362900" cy="3278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Think back over the last few weeks:</a:t>
            </a:r>
            <a:endParaRPr sz="2400" b="0" i="0" u="none" strike="noStrike" cap="none" dirty="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dirty="0">
                <a:solidFill>
                  <a:srgbClr val="666677"/>
                </a:solidFill>
                <a:latin typeface="Calibri"/>
                <a:ea typeface="Calibri"/>
                <a:cs typeface="Calibri"/>
                <a:sym typeface="Calibri"/>
              </a:rPr>
              <a:t>Four weeks ago</a:t>
            </a:r>
            <a:r>
              <a:rPr lang="en-US" sz="2000" b="0" i="0" u="none" strike="noStrike" cap="none" dirty="0">
                <a:solidFill>
                  <a:srgbClr val="666677"/>
                </a:solidFill>
                <a:latin typeface="Calibri"/>
                <a:ea typeface="Calibri"/>
                <a:cs typeface="Calibri"/>
                <a:sym typeface="Calibri"/>
              </a:rPr>
              <a:t> - you learned to write tests with </a:t>
            </a:r>
            <a:r>
              <a:rPr lang="en-US" sz="2000" b="0" i="0" u="none" strike="noStrike" cap="none" dirty="0" err="1">
                <a:solidFill>
                  <a:srgbClr val="666677"/>
                </a:solidFill>
                <a:latin typeface="Calibri"/>
                <a:ea typeface="Calibri"/>
                <a:cs typeface="Calibri"/>
                <a:sym typeface="Calibri"/>
              </a:rPr>
              <a:t>pytest</a:t>
            </a:r>
            <a:r>
              <a:rPr lang="en-US" sz="2000" b="0" i="0" u="none" strike="noStrike" cap="none" dirty="0">
                <a:solidFill>
                  <a:srgbClr val="666677"/>
                </a:solidFill>
                <a:latin typeface="Calibri"/>
                <a:ea typeface="Calibri"/>
                <a:cs typeface="Calibri"/>
                <a:sym typeface="Calibri"/>
              </a:rPr>
              <a:t>.</a:t>
            </a:r>
            <a:r>
              <a:rPr lang="en-US" dirty="0"/>
              <a:t> </a:t>
            </a:r>
            <a:endParaRPr sz="2000" b="0" i="0" u="none" strike="noStrike" cap="none" dirty="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dirty="0">
                <a:solidFill>
                  <a:srgbClr val="666677"/>
                </a:solidFill>
                <a:latin typeface="Calibri"/>
                <a:ea typeface="Calibri"/>
                <a:cs typeface="Calibri"/>
                <a:sym typeface="Calibri"/>
              </a:rPr>
              <a:t>Last Thursday/Tuesday</a:t>
            </a:r>
            <a:r>
              <a:rPr lang="en-US" sz="2000" b="0" i="0" u="none" strike="noStrike" cap="none" dirty="0">
                <a:solidFill>
                  <a:srgbClr val="666677"/>
                </a:solidFill>
                <a:latin typeface="Calibri"/>
                <a:ea typeface="Calibri"/>
                <a:cs typeface="Calibri"/>
                <a:sym typeface="Calibri"/>
              </a:rPr>
              <a:t> - you learned to deploy with Railway, with </a:t>
            </a:r>
            <a:r>
              <a:rPr lang="en-US" sz="2000" dirty="0">
                <a:solidFill>
                  <a:srgbClr val="666677"/>
                </a:solidFill>
                <a:latin typeface="Calibri"/>
                <a:ea typeface="Calibri"/>
                <a:cs typeface="Calibri"/>
                <a:sym typeface="Calibri"/>
              </a:rPr>
              <a:t>optional Docker control</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Nothing says "before the deploy, make sure the tests pass."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You just push and hope it's fine.</a:t>
            </a:r>
            <a:endParaRPr sz="2000" b="0" i="0" u="none" strike="noStrike" cap="none" dirty="0">
              <a:solidFill>
                <a:srgbClr val="666677"/>
              </a:solidFill>
              <a:latin typeface="Calibri"/>
              <a:ea typeface="Calibri"/>
              <a:cs typeface="Calibri"/>
              <a:sym typeface="Calibri"/>
            </a:endParaRPr>
          </a:p>
          <a:p>
            <a:pPr marL="457200" marR="0" lvl="1" indent="0" algn="l" rtl="0">
              <a:spcBef>
                <a:spcPts val="600"/>
              </a:spcBef>
              <a:spcAft>
                <a:spcPts val="0"/>
              </a:spcAft>
              <a:buNone/>
            </a:pPr>
            <a:endParaRPr sz="2000" dirty="0">
              <a:solidFill>
                <a:srgbClr val="666677"/>
              </a:solidFill>
              <a:latin typeface="Calibri"/>
              <a:ea typeface="Calibri"/>
              <a:cs typeface="Calibri"/>
              <a:sym typeface="Calibri"/>
            </a:endParaRPr>
          </a:p>
          <a:p>
            <a:pPr marL="0" lvl="0" indent="0" algn="l" rtl="0">
              <a:spcBef>
                <a:spcPts val="600"/>
              </a:spcBef>
              <a:spcAft>
                <a:spcPts val="0"/>
              </a:spcAft>
              <a:buClr>
                <a:schemeClr val="dk1"/>
              </a:buClr>
              <a:buFont typeface="Arial"/>
              <a:buNone/>
            </a:pPr>
            <a:r>
              <a:rPr lang="en-US" sz="2400" dirty="0">
                <a:solidFill>
                  <a:srgbClr val="333344"/>
                </a:solidFill>
                <a:latin typeface="Calibri"/>
                <a:ea typeface="Calibri"/>
                <a:cs typeface="Calibri"/>
                <a:sym typeface="Calibri"/>
              </a:rPr>
              <a:t>Time to connect them.</a:t>
            </a:r>
            <a:endParaRPr sz="2000" dirty="0">
              <a:solidFill>
                <a:srgbClr val="666677"/>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3"/>
        <p:cNvGrpSpPr/>
        <p:nvPr/>
      </p:nvGrpSpPr>
      <p:grpSpPr>
        <a:xfrm>
          <a:off x="0" y="0"/>
          <a:ext cx="0" cy="0"/>
          <a:chOff x="0" y="0"/>
          <a:chExt cx="0" cy="0"/>
        </a:xfrm>
      </p:grpSpPr>
      <p:sp>
        <p:nvSpPr>
          <p:cNvPr id="114" name="Google Shape;114;p4"/>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If running tests is a chore, it won't happen every time</a:t>
            </a:r>
            <a:endParaRPr/>
          </a:p>
        </p:txBody>
      </p:sp>
      <p:sp>
        <p:nvSpPr>
          <p:cNvPr id="115" name="Google Shape;115;p4"/>
          <p:cNvSpPr txBox="1"/>
          <p:nvPr/>
        </p:nvSpPr>
        <p:spPr>
          <a:xfrm>
            <a:off x="914400" y="1463040"/>
            <a:ext cx="10362900" cy="4879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rgbClr val="333344"/>
                </a:solidFill>
                <a:latin typeface="Calibri"/>
                <a:ea typeface="Calibri"/>
                <a:cs typeface="Calibri"/>
                <a:sym typeface="Calibri"/>
              </a:rPr>
              <a:t>I doubt you’</a:t>
            </a:r>
            <a:r>
              <a:rPr lang="en-US" sz="2400" b="1" i="0" u="none" strike="noStrike" cap="none" dirty="0">
                <a:solidFill>
                  <a:srgbClr val="333344"/>
                </a:solidFill>
                <a:latin typeface="Calibri"/>
                <a:ea typeface="Calibri"/>
                <a:cs typeface="Calibri"/>
                <a:sym typeface="Calibri"/>
              </a:rPr>
              <a:t>ll run your tests before every push</a:t>
            </a:r>
            <a:r>
              <a:rPr lang="en-US" sz="2400" b="0" i="0" u="none" strike="noStrike" cap="none" dirty="0">
                <a:solidFill>
                  <a:srgbClr val="333344"/>
                </a:solidFill>
                <a:latin typeface="Calibri"/>
                <a:ea typeface="Calibri"/>
                <a:cs typeface="Calibri"/>
                <a:sym typeface="Calibri"/>
              </a:rPr>
              <a: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Neither will your teammate. Neither will I.</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Humans are bad at repetitive chores, especially when the feedback loop is slow.</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("wait 30 seconds for </a:t>
            </a:r>
            <a:r>
              <a:rPr lang="en-US" sz="2000" b="0" i="0" u="none" strike="noStrike" cap="none" dirty="0" err="1">
                <a:solidFill>
                  <a:srgbClr val="666677"/>
                </a:solidFill>
                <a:latin typeface="Calibri"/>
                <a:ea typeface="Calibri"/>
                <a:cs typeface="Calibri"/>
                <a:sym typeface="Calibri"/>
              </a:rPr>
              <a:t>pytest</a:t>
            </a:r>
            <a:r>
              <a:rPr lang="en-US" sz="2000" b="0" i="0" u="none" strike="noStrike" cap="none" dirty="0">
                <a:solidFill>
                  <a:srgbClr val="666677"/>
                </a:solidFill>
                <a:latin typeface="Calibri"/>
                <a:ea typeface="Calibri"/>
                <a:cs typeface="Calibri"/>
                <a:sym typeface="Calibri"/>
              </a:rPr>
              <a:t>") and the cost of</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skipping is invisible ("I'm pretty sure this change is fine").</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Eventually someone pushes broken code to main. Railway deploys it.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The site breaks. Nobody notices for an hour. You spend the rest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of the day reverting and apologizing for it.</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1" indent="0" algn="l" rtl="0">
              <a:spcBef>
                <a:spcPts val="600"/>
              </a:spcBef>
              <a:spcAft>
                <a:spcPts val="0"/>
              </a:spcAft>
              <a:buNone/>
            </a:pPr>
            <a:r>
              <a:rPr lang="en-US" sz="2400" dirty="0">
                <a:solidFill>
                  <a:srgbClr val="333344"/>
                </a:solidFill>
                <a:latin typeface="Calibri"/>
                <a:ea typeface="Calibri"/>
                <a:cs typeface="Calibri"/>
                <a:sym typeface="Calibri"/>
              </a:rPr>
              <a:t>This shit happens, then you choose to setup CI</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
        <p:cNvGrpSpPr/>
        <p:nvPr/>
      </p:nvGrpSpPr>
      <p:grpSpPr>
        <a:xfrm>
          <a:off x="0" y="0"/>
          <a:ext cx="0" cy="0"/>
          <a:chOff x="0" y="0"/>
          <a:chExt cx="0" cy="0"/>
        </a:xfrm>
      </p:grpSpPr>
      <p:sp>
        <p:nvSpPr>
          <p:cNvPr id="121" name="Google Shape;121;g3e9a67dddcc_0_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Assignment 4</a:t>
            </a:r>
            <a:endParaRPr/>
          </a:p>
        </p:txBody>
      </p:sp>
      <p:sp>
        <p:nvSpPr>
          <p:cNvPr id="122" name="Google Shape;122;g3e9a67dddcc_0_6"/>
          <p:cNvSpPr txBox="1"/>
          <p:nvPr/>
        </p:nvSpPr>
        <p:spPr>
          <a:xfrm>
            <a:off x="914400" y="1463040"/>
            <a:ext cx="10362900" cy="461700"/>
          </a:xfrm>
          <a:prstGeom prst="rect">
            <a:avLst/>
          </a:prstGeom>
          <a:noFill/>
          <a:ln>
            <a:noFill/>
          </a:ln>
        </p:spPr>
        <p:txBody>
          <a:bodyPr spcFirstLastPara="1" wrap="square" lIns="91425" tIns="45700" rIns="91425" bIns="45700" anchor="t" anchorCtr="0">
            <a:spAutoFit/>
          </a:bodyPr>
          <a:lstStyle/>
          <a:p>
            <a:pPr marL="0" lvl="0" indent="0" algn="l" rtl="0">
              <a:spcBef>
                <a:spcPts val="600"/>
              </a:spcBef>
              <a:spcAft>
                <a:spcPts val="0"/>
              </a:spcAft>
              <a:buNone/>
            </a:pPr>
            <a:r>
              <a:rPr lang="en-US" sz="2400">
                <a:solidFill>
                  <a:srgbClr val="333344"/>
                </a:solidFill>
                <a:latin typeface="Calibri"/>
                <a:ea typeface="Calibri"/>
                <a:cs typeface="Calibri"/>
                <a:sym typeface="Calibri"/>
              </a:rPr>
              <a:t>All but a couple of you had a test directory</a:t>
            </a:r>
            <a:endParaRPr sz="2000">
              <a:solidFill>
                <a:srgbClr val="666677"/>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7"/>
        <p:cNvGrpSpPr/>
        <p:nvPr/>
      </p:nvGrpSpPr>
      <p:grpSpPr>
        <a:xfrm>
          <a:off x="0" y="0"/>
          <a:ext cx="0" cy="0"/>
          <a:chOff x="0" y="0"/>
          <a:chExt cx="0" cy="0"/>
        </a:xfrm>
      </p:grpSpPr>
      <p:sp>
        <p:nvSpPr>
          <p:cNvPr id="128" name="Google Shape;128;g3e9a67dddcc_0_1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Assignment 4</a:t>
            </a:r>
            <a:endParaRPr/>
          </a:p>
        </p:txBody>
      </p:sp>
      <p:sp>
        <p:nvSpPr>
          <p:cNvPr id="129" name="Google Shape;129;g3e9a67dddcc_0_12"/>
          <p:cNvSpPr txBox="1"/>
          <p:nvPr/>
        </p:nvSpPr>
        <p:spPr>
          <a:xfrm>
            <a:off x="914400" y="1463040"/>
            <a:ext cx="10362900" cy="1723800"/>
          </a:xfrm>
          <a:prstGeom prst="rect">
            <a:avLst/>
          </a:prstGeom>
          <a:noFill/>
          <a:ln>
            <a:noFill/>
          </a:ln>
        </p:spPr>
        <p:txBody>
          <a:bodyPr spcFirstLastPara="1" wrap="square" lIns="91425" tIns="45700" rIns="91425" bIns="45700" anchor="t" anchorCtr="0">
            <a:spAutoFit/>
          </a:bodyPr>
          <a:lstStyle/>
          <a:p>
            <a:pPr marL="0" lvl="0" indent="0" algn="l" rtl="0">
              <a:spcBef>
                <a:spcPts val="600"/>
              </a:spcBef>
              <a:spcAft>
                <a:spcPts val="0"/>
              </a:spcAft>
              <a:buNone/>
            </a:pPr>
            <a:r>
              <a:rPr lang="en-US" sz="2400">
                <a:solidFill>
                  <a:srgbClr val="333344"/>
                </a:solidFill>
                <a:latin typeface="Calibri"/>
                <a:ea typeface="Calibri"/>
                <a:cs typeface="Calibri"/>
                <a:sym typeface="Calibri"/>
              </a:rPr>
              <a:t>All but a couple of you had a test directory</a:t>
            </a:r>
            <a:endParaRPr sz="2400">
              <a:solidFill>
                <a:srgbClr val="333344"/>
              </a:solidFill>
              <a:latin typeface="Calibri"/>
              <a:ea typeface="Calibri"/>
              <a:cs typeface="Calibri"/>
              <a:sym typeface="Calibri"/>
            </a:endParaRPr>
          </a:p>
          <a:p>
            <a:pPr marL="0" lvl="0" indent="0" algn="l" rtl="0">
              <a:spcBef>
                <a:spcPts val="600"/>
              </a:spcBef>
              <a:spcAft>
                <a:spcPts val="0"/>
              </a:spcAft>
              <a:buNone/>
            </a:pPr>
            <a:endParaRPr sz="2400">
              <a:solidFill>
                <a:srgbClr val="333344"/>
              </a:solidFill>
              <a:latin typeface="Calibri"/>
              <a:ea typeface="Calibri"/>
              <a:cs typeface="Calibri"/>
              <a:sym typeface="Calibri"/>
            </a:endParaRPr>
          </a:p>
          <a:p>
            <a:pPr marL="0" lvl="0" indent="0" algn="l" rtl="0">
              <a:spcBef>
                <a:spcPts val="600"/>
              </a:spcBef>
              <a:spcAft>
                <a:spcPts val="0"/>
              </a:spcAft>
              <a:buNone/>
            </a:pPr>
            <a:r>
              <a:rPr lang="en-US" sz="2400">
                <a:solidFill>
                  <a:srgbClr val="333344"/>
                </a:solidFill>
                <a:latin typeface="Calibri"/>
                <a:ea typeface="Calibri"/>
                <a:cs typeface="Calibri"/>
                <a:sym typeface="Calibri"/>
              </a:rPr>
              <a:t>Half of you had your agent write Playwright (frontend) tests - we didn’t even talk about that!</a:t>
            </a:r>
            <a:endParaRPr sz="2400">
              <a:solidFill>
                <a:srgbClr val="333344"/>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4"/>
        <p:cNvGrpSpPr/>
        <p:nvPr/>
      </p:nvGrpSpPr>
      <p:grpSpPr>
        <a:xfrm>
          <a:off x="0" y="0"/>
          <a:ext cx="0" cy="0"/>
          <a:chOff x="0" y="0"/>
          <a:chExt cx="0" cy="0"/>
        </a:xfrm>
      </p:grpSpPr>
      <p:sp>
        <p:nvSpPr>
          <p:cNvPr id="135" name="Google Shape;135;g3e9a67dddcc_0_24"/>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Assignment 4</a:t>
            </a:r>
            <a:endParaRPr/>
          </a:p>
        </p:txBody>
      </p:sp>
      <p:sp>
        <p:nvSpPr>
          <p:cNvPr id="136" name="Google Shape;136;g3e9a67dddcc_0_24"/>
          <p:cNvSpPr txBox="1"/>
          <p:nvPr/>
        </p:nvSpPr>
        <p:spPr>
          <a:xfrm>
            <a:off x="914400" y="1463040"/>
            <a:ext cx="10362900" cy="2616600"/>
          </a:xfrm>
          <a:prstGeom prst="rect">
            <a:avLst/>
          </a:prstGeom>
          <a:noFill/>
          <a:ln>
            <a:noFill/>
          </a:ln>
        </p:spPr>
        <p:txBody>
          <a:bodyPr spcFirstLastPara="1" wrap="square" lIns="91425" tIns="45700" rIns="91425" bIns="45700" anchor="t" anchorCtr="0">
            <a:spAutoFit/>
          </a:bodyPr>
          <a:lstStyle/>
          <a:p>
            <a:pPr marL="0" lvl="0" indent="0" algn="l" rtl="0">
              <a:spcBef>
                <a:spcPts val="600"/>
              </a:spcBef>
              <a:spcAft>
                <a:spcPts val="0"/>
              </a:spcAft>
              <a:buNone/>
            </a:pPr>
            <a:r>
              <a:rPr lang="en-US" sz="2400">
                <a:solidFill>
                  <a:srgbClr val="333344"/>
                </a:solidFill>
                <a:latin typeface="Calibri"/>
                <a:ea typeface="Calibri"/>
                <a:cs typeface="Calibri"/>
                <a:sym typeface="Calibri"/>
              </a:rPr>
              <a:t>All but a couple of you had a test directory</a:t>
            </a:r>
            <a:endParaRPr sz="2400">
              <a:solidFill>
                <a:srgbClr val="333344"/>
              </a:solidFill>
              <a:latin typeface="Calibri"/>
              <a:ea typeface="Calibri"/>
              <a:cs typeface="Calibri"/>
              <a:sym typeface="Calibri"/>
            </a:endParaRPr>
          </a:p>
          <a:p>
            <a:pPr marL="0" lvl="0" indent="0" algn="l" rtl="0">
              <a:spcBef>
                <a:spcPts val="600"/>
              </a:spcBef>
              <a:spcAft>
                <a:spcPts val="0"/>
              </a:spcAft>
              <a:buNone/>
            </a:pPr>
            <a:endParaRPr sz="2400">
              <a:solidFill>
                <a:srgbClr val="333344"/>
              </a:solidFill>
              <a:latin typeface="Calibri"/>
              <a:ea typeface="Calibri"/>
              <a:cs typeface="Calibri"/>
              <a:sym typeface="Calibri"/>
            </a:endParaRPr>
          </a:p>
          <a:p>
            <a:pPr marL="0" lvl="0" indent="0" algn="l" rtl="0">
              <a:spcBef>
                <a:spcPts val="600"/>
              </a:spcBef>
              <a:spcAft>
                <a:spcPts val="0"/>
              </a:spcAft>
              <a:buNone/>
            </a:pPr>
            <a:r>
              <a:rPr lang="en-US" sz="2400">
                <a:solidFill>
                  <a:srgbClr val="333344"/>
                </a:solidFill>
                <a:latin typeface="Calibri"/>
                <a:ea typeface="Calibri"/>
                <a:cs typeface="Calibri"/>
                <a:sym typeface="Calibri"/>
              </a:rPr>
              <a:t>Half of you had your agent write Playwright (frontend) tests - we didn’t even talk about that!</a:t>
            </a:r>
            <a:endParaRPr sz="2400">
              <a:solidFill>
                <a:srgbClr val="333344"/>
              </a:solidFill>
              <a:latin typeface="Calibri"/>
              <a:ea typeface="Calibri"/>
              <a:cs typeface="Calibri"/>
              <a:sym typeface="Calibri"/>
            </a:endParaRPr>
          </a:p>
          <a:p>
            <a:pPr marL="0" lvl="0" indent="0" algn="l" rtl="0">
              <a:spcBef>
                <a:spcPts val="600"/>
              </a:spcBef>
              <a:spcAft>
                <a:spcPts val="0"/>
              </a:spcAft>
              <a:buNone/>
            </a:pPr>
            <a:endParaRPr sz="2400">
              <a:solidFill>
                <a:srgbClr val="333344"/>
              </a:solidFill>
              <a:latin typeface="Calibri"/>
              <a:ea typeface="Calibri"/>
              <a:cs typeface="Calibri"/>
              <a:sym typeface="Calibri"/>
            </a:endParaRPr>
          </a:p>
          <a:p>
            <a:pPr marL="0" lvl="0" indent="0" algn="l" rtl="0">
              <a:spcBef>
                <a:spcPts val="600"/>
              </a:spcBef>
              <a:spcAft>
                <a:spcPts val="0"/>
              </a:spcAft>
              <a:buNone/>
            </a:pPr>
            <a:r>
              <a:rPr lang="en-US" sz="2400">
                <a:solidFill>
                  <a:srgbClr val="333344"/>
                </a:solidFill>
                <a:latin typeface="Calibri"/>
                <a:ea typeface="Calibri"/>
                <a:cs typeface="Calibri"/>
                <a:sym typeface="Calibri"/>
              </a:rPr>
              <a:t>Zero of you configured them to run in Github</a:t>
            </a:r>
            <a:endParaRPr sz="2400">
              <a:solidFill>
                <a:srgbClr val="333344"/>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BA86849A-4C6A-90A3-C481-FBD7883DD065}"/>
            </a:ext>
          </a:extLst>
        </p:cNvPr>
        <p:cNvGrpSpPr/>
        <p:nvPr/>
      </p:nvGrpSpPr>
      <p:grpSpPr>
        <a:xfrm>
          <a:off x="0" y="0"/>
          <a:ext cx="0" cy="0"/>
          <a:chOff x="0" y="0"/>
          <a:chExt cx="0" cy="0"/>
        </a:xfrm>
      </p:grpSpPr>
      <p:sp>
        <p:nvSpPr>
          <p:cNvPr id="142" name="Google Shape;142;p5">
            <a:extLst>
              <a:ext uri="{FF2B5EF4-FFF2-40B4-BE49-F238E27FC236}">
                <a16:creationId xmlns:a16="http://schemas.microsoft.com/office/drawing/2014/main" id="{009C0738-85F2-C348-2787-C7B6B0C74816}"/>
              </a:ext>
            </a:extLst>
          </p:cNvPr>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Continuous Integration = tests, automatic</a:t>
            </a:r>
            <a:endParaRPr/>
          </a:p>
        </p:txBody>
      </p:sp>
      <p:sp>
        <p:nvSpPr>
          <p:cNvPr id="143" name="Google Shape;143;p5">
            <a:extLst>
              <a:ext uri="{FF2B5EF4-FFF2-40B4-BE49-F238E27FC236}">
                <a16:creationId xmlns:a16="http://schemas.microsoft.com/office/drawing/2014/main" id="{969C2213-8BF0-EF6A-C451-B042109F14C8}"/>
              </a:ext>
            </a:extLst>
          </p:cNvPr>
          <p:cNvSpPr txBox="1"/>
          <p:nvPr/>
        </p:nvSpPr>
        <p:spPr>
          <a:xfrm>
            <a:off x="914400" y="1463040"/>
            <a:ext cx="10362900" cy="39856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dirty="0">
                <a:solidFill>
                  <a:srgbClr val="333344"/>
                </a:solidFill>
                <a:latin typeface="Calibri"/>
                <a:ea typeface="Calibri"/>
                <a:cs typeface="Calibri"/>
                <a:sym typeface="Calibri"/>
              </a:rPr>
              <a:t>Continuous Integration (CI):</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The practice of running your test suite automatically on every change, on a computer you</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don't control, with the result reported back to you.</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The effect:</a:t>
            </a:r>
            <a:endParaRPr sz="2400" b="0" i="0" u="none" strike="noStrike" cap="none" dirty="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Nobody has to remember to run tests. The robot does it.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Results show up next to every commit on GitHub</a:t>
            </a:r>
            <a:endParaRPr dirty="0"/>
          </a:p>
          <a:p>
            <a:pPr marL="457200" lvl="1">
              <a:spcBef>
                <a:spcPts val="600"/>
              </a:spcBef>
            </a:pPr>
            <a:r>
              <a:rPr lang="en-US" sz="2000" b="0" i="0" u="none" strike="noStrike" cap="none" dirty="0">
                <a:solidFill>
                  <a:srgbClr val="666677"/>
                </a:solidFill>
                <a:latin typeface="Calibri"/>
                <a:ea typeface="Calibri"/>
                <a:cs typeface="Calibri"/>
                <a:sym typeface="Calibri"/>
              </a:rPr>
              <a:t> 	A</a:t>
            </a:r>
            <a:r>
              <a:rPr lang="en-US" sz="2000" dirty="0">
                <a:solidFill>
                  <a:srgbClr val="666677"/>
                </a:solidFill>
                <a:latin typeface="Calibri"/>
                <a:ea typeface="Calibri"/>
                <a:cs typeface="Calibri"/>
                <a:sym typeface="Calibri"/>
              </a:rPr>
              <a:t> green check if </a:t>
            </a:r>
            <a:r>
              <a:rPr lang="en-US" sz="2000" b="0" i="0" u="none" strike="noStrike" cap="none" dirty="0">
                <a:solidFill>
                  <a:srgbClr val="666677"/>
                </a:solidFill>
                <a:latin typeface="Calibri"/>
                <a:ea typeface="Calibri"/>
                <a:cs typeface="Calibri"/>
                <a:sym typeface="Calibri"/>
              </a:rPr>
              <a:t>they pass, a red X if they don't.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Broken code gets caught in 30 seconds instead of 30 hours.</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p:txBody>
      </p:sp>
    </p:spTree>
    <p:extLst>
      <p:ext uri="{BB962C8B-B14F-4D97-AF65-F5344CB8AC3E}">
        <p14:creationId xmlns:p14="http://schemas.microsoft.com/office/powerpoint/2010/main" val="3801584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1"/>
        <p:cNvGrpSpPr/>
        <p:nvPr/>
      </p:nvGrpSpPr>
      <p:grpSpPr>
        <a:xfrm>
          <a:off x="0" y="0"/>
          <a:ext cx="0" cy="0"/>
          <a:chOff x="0" y="0"/>
          <a:chExt cx="0" cy="0"/>
        </a:xfrm>
      </p:grpSpPr>
      <p:sp>
        <p:nvSpPr>
          <p:cNvPr id="142" name="Google Shape;142;p5"/>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Continuous Integration = tests, automatic</a:t>
            </a:r>
            <a:endParaRPr/>
          </a:p>
        </p:txBody>
      </p:sp>
      <p:sp>
        <p:nvSpPr>
          <p:cNvPr id="143" name="Google Shape;143;p5"/>
          <p:cNvSpPr txBox="1"/>
          <p:nvPr/>
        </p:nvSpPr>
        <p:spPr>
          <a:xfrm>
            <a:off x="914400" y="1463040"/>
            <a:ext cx="10362900" cy="481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dirty="0">
                <a:solidFill>
                  <a:srgbClr val="333344"/>
                </a:solidFill>
                <a:latin typeface="Calibri"/>
                <a:ea typeface="Calibri"/>
                <a:cs typeface="Calibri"/>
                <a:sym typeface="Calibri"/>
              </a:rPr>
              <a:t>Continuous Integration (CI):</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The practice of running your test suite automatically on every change, on a computer you</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don't control, with the result reported back to you.</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The effect:</a:t>
            </a:r>
            <a:endParaRPr sz="2400" b="0" i="0" u="none" strike="noStrike" cap="none" dirty="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Nobody has to remember to run tests. The robot does it.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Results show up next to every commit on GitHub</a:t>
            </a:r>
            <a:endParaRPr dirty="0"/>
          </a:p>
          <a:p>
            <a:pPr marL="457200" lvl="1">
              <a:spcBef>
                <a:spcPts val="600"/>
              </a:spcBef>
            </a:pPr>
            <a:r>
              <a:rPr lang="en-US" sz="2000" b="0" i="0" u="none" strike="noStrike" cap="none" dirty="0">
                <a:solidFill>
                  <a:srgbClr val="666677"/>
                </a:solidFill>
                <a:latin typeface="Calibri"/>
                <a:ea typeface="Calibri"/>
                <a:cs typeface="Calibri"/>
                <a:sym typeface="Calibri"/>
              </a:rPr>
              <a:t> 	A</a:t>
            </a:r>
            <a:r>
              <a:rPr lang="en-US" sz="2000" dirty="0">
                <a:solidFill>
                  <a:srgbClr val="666677"/>
                </a:solidFill>
                <a:latin typeface="Calibri"/>
                <a:ea typeface="Calibri"/>
                <a:cs typeface="Calibri"/>
                <a:sym typeface="Calibri"/>
              </a:rPr>
              <a:t> green check if </a:t>
            </a:r>
            <a:r>
              <a:rPr lang="en-US" sz="2000" b="0" i="0" u="none" strike="noStrike" cap="none" dirty="0">
                <a:solidFill>
                  <a:srgbClr val="666677"/>
                </a:solidFill>
                <a:latin typeface="Calibri"/>
                <a:ea typeface="Calibri"/>
                <a:cs typeface="Calibri"/>
                <a:sym typeface="Calibri"/>
              </a:rPr>
              <a:t>they pass, a red X if they don't.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Broken code gets caught in 30 seconds instead of 30 hours.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Pull requests can be </a:t>
            </a:r>
            <a:r>
              <a:rPr lang="en-US" sz="2000" b="1" i="0" u="none" strike="noStrike" cap="none" dirty="0">
                <a:solidFill>
                  <a:srgbClr val="666677"/>
                </a:solidFill>
                <a:latin typeface="Calibri"/>
                <a:ea typeface="Calibri"/>
                <a:cs typeface="Calibri"/>
                <a:sym typeface="Calibri"/>
              </a:rPr>
              <a:t>blocked from merging</a:t>
            </a:r>
            <a:r>
              <a:rPr lang="en-US" sz="2000" b="0" i="0" u="none" strike="noStrike" cap="none" dirty="0">
                <a:solidFill>
                  <a:srgbClr val="666677"/>
                </a:solidFill>
                <a:latin typeface="Calibri"/>
                <a:ea typeface="Calibri"/>
                <a:cs typeface="Calibri"/>
                <a:sym typeface="Calibri"/>
              </a:rPr>
              <a:t> until tests pass.</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Th</a:t>
            </a:r>
            <a:r>
              <a:rPr lang="en-US" sz="2400" dirty="0">
                <a:solidFill>
                  <a:srgbClr val="333344"/>
                </a:solidFill>
                <a:latin typeface="Calibri"/>
                <a:ea typeface="Calibri"/>
                <a:cs typeface="Calibri"/>
                <a:sym typeface="Calibri"/>
              </a:rPr>
              <a:t>e</a:t>
            </a:r>
            <a:r>
              <a:rPr lang="en-US" sz="2400" b="0" i="0" u="none" strike="noStrike" cap="none" dirty="0">
                <a:solidFill>
                  <a:srgbClr val="333344"/>
                </a:solidFill>
                <a:latin typeface="Calibri"/>
                <a:ea typeface="Calibri"/>
                <a:cs typeface="Calibri"/>
                <a:sym typeface="Calibri"/>
              </a:rPr>
              <a:t> last one is the feature that matters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8"/>
        <p:cNvGrpSpPr/>
        <p:nvPr/>
      </p:nvGrpSpPr>
      <p:grpSpPr>
        <a:xfrm>
          <a:off x="0" y="0"/>
          <a:ext cx="0" cy="0"/>
          <a:chOff x="0" y="0"/>
          <a:chExt cx="0" cy="0"/>
        </a:xfrm>
      </p:grpSpPr>
      <p:sp>
        <p:nvSpPr>
          <p:cNvPr id="149" name="Google Shape;149;g3e9b5ced2ff_0_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Continuous Integration = tests, automatic</a:t>
            </a:r>
            <a:endParaRPr/>
          </a:p>
        </p:txBody>
      </p:sp>
      <p:sp>
        <p:nvSpPr>
          <p:cNvPr id="150" name="Google Shape;150;g3e9b5ced2ff_0_0"/>
          <p:cNvSpPr txBox="1"/>
          <p:nvPr/>
        </p:nvSpPr>
        <p:spPr>
          <a:xfrm>
            <a:off x="914400" y="1463040"/>
            <a:ext cx="103629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endParaRPr/>
          </a:p>
        </p:txBody>
      </p:sp>
      <p:pic>
        <p:nvPicPr>
          <p:cNvPr id="151" name="Google Shape;151;g3e9b5ced2ff_0_0"/>
          <p:cNvPicPr preferRelativeResize="0"/>
          <p:nvPr/>
        </p:nvPicPr>
        <p:blipFill>
          <a:blip r:embed="rId3">
            <a:alphaModFix/>
          </a:blip>
          <a:stretch>
            <a:fillRect/>
          </a:stretch>
        </p:blipFill>
        <p:spPr>
          <a:xfrm>
            <a:off x="658675" y="1310025"/>
            <a:ext cx="10728602" cy="3792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6"/>
        <p:cNvGrpSpPr/>
        <p:nvPr/>
      </p:nvGrpSpPr>
      <p:grpSpPr>
        <a:xfrm>
          <a:off x="0" y="0"/>
          <a:ext cx="0" cy="0"/>
          <a:chOff x="0" y="0"/>
          <a:chExt cx="0" cy="0"/>
        </a:xfrm>
      </p:grpSpPr>
      <p:sp>
        <p:nvSpPr>
          <p:cNvPr id="157" name="Google Shape;157;g3e9b5ced2ff_0_7"/>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Continuous Integration = tests, automatic</a:t>
            </a:r>
            <a:endParaRPr/>
          </a:p>
        </p:txBody>
      </p:sp>
      <p:sp>
        <p:nvSpPr>
          <p:cNvPr id="158" name="Google Shape;158;g3e9b5ced2ff_0_7"/>
          <p:cNvSpPr txBox="1"/>
          <p:nvPr/>
        </p:nvSpPr>
        <p:spPr>
          <a:xfrm>
            <a:off x="914400" y="1463040"/>
            <a:ext cx="103629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endParaRPr/>
          </a:p>
        </p:txBody>
      </p:sp>
      <p:pic>
        <p:nvPicPr>
          <p:cNvPr id="159" name="Google Shape;159;g3e9b5ced2ff_0_7"/>
          <p:cNvPicPr preferRelativeResize="0"/>
          <p:nvPr/>
        </p:nvPicPr>
        <p:blipFill>
          <a:blip r:embed="rId3">
            <a:alphaModFix/>
          </a:blip>
          <a:stretch>
            <a:fillRect/>
          </a:stretch>
        </p:blipFill>
        <p:spPr>
          <a:xfrm>
            <a:off x="658675" y="1310025"/>
            <a:ext cx="10728602" cy="3792725"/>
          </a:xfrm>
          <a:prstGeom prst="rect">
            <a:avLst/>
          </a:prstGeom>
          <a:noFill/>
          <a:ln>
            <a:noFill/>
          </a:ln>
        </p:spPr>
      </p:pic>
      <p:pic>
        <p:nvPicPr>
          <p:cNvPr id="160" name="Google Shape;160;g3e9b5ced2ff_0_7"/>
          <p:cNvPicPr preferRelativeResize="0"/>
          <p:nvPr/>
        </p:nvPicPr>
        <p:blipFill>
          <a:blip r:embed="rId4">
            <a:alphaModFix/>
          </a:blip>
          <a:stretch>
            <a:fillRect/>
          </a:stretch>
        </p:blipFill>
        <p:spPr>
          <a:xfrm>
            <a:off x="1834963" y="1770850"/>
            <a:ext cx="8521726" cy="4099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165"/>
        <p:cNvGrpSpPr/>
        <p:nvPr/>
      </p:nvGrpSpPr>
      <p:grpSpPr>
        <a:xfrm>
          <a:off x="0" y="0"/>
          <a:ext cx="0" cy="0"/>
          <a:chOff x="0" y="0"/>
          <a:chExt cx="0" cy="0"/>
        </a:xfrm>
      </p:grpSpPr>
      <p:sp>
        <p:nvSpPr>
          <p:cNvPr id="166" name="Google Shape;166;p6"/>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GitHub Actions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
        <p:cNvGrpSpPr/>
        <p:nvPr/>
      </p:nvGrpSpPr>
      <p:grpSpPr>
        <a:xfrm>
          <a:off x="0" y="0"/>
          <a:ext cx="0" cy="0"/>
          <a:chOff x="0" y="0"/>
          <a:chExt cx="0" cy="0"/>
        </a:xfrm>
      </p:grpSpPr>
      <p:sp>
        <p:nvSpPr>
          <p:cNvPr id="172" name="Google Shape;172;p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GitHub Actions is</a:t>
            </a:r>
            <a:endParaRPr/>
          </a:p>
        </p:txBody>
      </p:sp>
      <p:sp>
        <p:nvSpPr>
          <p:cNvPr id="173" name="Google Shape;173;p7"/>
          <p:cNvSpPr txBox="1"/>
          <p:nvPr/>
        </p:nvSpPr>
        <p:spPr>
          <a:xfrm>
            <a:off x="914400" y="1463040"/>
            <a:ext cx="10362900" cy="443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GitHub Actions</a:t>
            </a:r>
            <a:r>
              <a:rPr lang="en-US" sz="2400" b="0" i="0" u="none" strike="noStrike" cap="none">
                <a:solidFill>
                  <a:srgbClr val="333344"/>
                </a:solidFill>
                <a:latin typeface="Calibri"/>
                <a:ea typeface="Calibri"/>
                <a:cs typeface="Calibri"/>
                <a:sym typeface="Calibri"/>
              </a:rPr>
              <a:t> is a CI/CD system built into every GitHub repo.</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Free for public repos. 2000 minutes/month free for private.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No separate service to sign up for - it's already in your repo.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No separate dashboard - results show up on the commit page.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deal: you drop a YAML file in </a:t>
            </a:r>
            <a:r>
              <a:rPr lang="en-US" sz="2400" b="1" i="0" u="none" strike="noStrike" cap="none">
                <a:solidFill>
                  <a:srgbClr val="333344"/>
                </a:solidFill>
                <a:latin typeface="Courier Prime"/>
                <a:ea typeface="Courier Prime"/>
                <a:cs typeface="Courier Prime"/>
                <a:sym typeface="Courier Prime"/>
              </a:rPr>
              <a:t>.github/workflows/</a:t>
            </a:r>
            <a:r>
              <a:rPr lang="en-US" sz="2400" b="0" i="0" u="none" strike="noStrike" cap="none">
                <a:solidFill>
                  <a:srgbClr val="333344"/>
                </a:solidFill>
                <a:latin typeface="Calibri"/>
                <a:ea typeface="Calibri"/>
                <a:cs typeface="Calibri"/>
                <a:sym typeface="Calibri"/>
              </a:rPr>
              <a:t> describing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"when this event happens, run these steps on a fresh computer."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GitHub finds the file automatically - just commit the file and push.</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Push a commit, GitHub spins up an Ubuntu VM, runs your steps,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reports the result, tears down the VM. 30-90 seconds per run.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8"/>
        <p:cNvGrpSpPr/>
        <p:nvPr/>
      </p:nvGrpSpPr>
      <p:grpSpPr>
        <a:xfrm>
          <a:off x="0" y="0"/>
          <a:ext cx="0" cy="0"/>
          <a:chOff x="0" y="0"/>
          <a:chExt cx="0" cy="0"/>
        </a:xfrm>
      </p:grpSpPr>
      <p:sp>
        <p:nvSpPr>
          <p:cNvPr id="179" name="Google Shape;179;g3e9b5ced2ff_0_15"/>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GitHub Action vocabulary</a:t>
            </a:r>
            <a:endParaRPr/>
          </a:p>
        </p:txBody>
      </p:sp>
      <p:sp>
        <p:nvSpPr>
          <p:cNvPr id="180" name="Google Shape;180;g3e9b5ced2ff_0_15"/>
          <p:cNvSpPr txBox="1"/>
          <p:nvPr/>
        </p:nvSpPr>
        <p:spPr>
          <a:xfrm>
            <a:off x="914400" y="1463040"/>
            <a:ext cx="10362900" cy="475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Almost every GHA tutorial uses these four words.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Event</a:t>
            </a:r>
            <a:r>
              <a:rPr lang="en-US" sz="2000" b="0" i="0" u="none" strike="noStrike" cap="none">
                <a:solidFill>
                  <a:srgbClr val="666677"/>
                </a:solidFill>
                <a:latin typeface="Calibri"/>
                <a:ea typeface="Calibri"/>
                <a:cs typeface="Calibri"/>
                <a:sym typeface="Calibri"/>
              </a:rPr>
              <a:t> - something that triggers a run (`push`,</a:t>
            </a:r>
            <a:r>
              <a:rPr lang="en-US"/>
              <a:t> </a:t>
            </a:r>
            <a:r>
              <a:rPr lang="en-US" sz="2000" b="0" i="0" u="none" strike="noStrike" cap="none">
                <a:solidFill>
                  <a:srgbClr val="666677"/>
                </a:solidFill>
                <a:latin typeface="Calibri"/>
                <a:ea typeface="Calibri"/>
                <a:cs typeface="Calibri"/>
                <a:sym typeface="Calibri"/>
              </a:rPr>
              <a:t>`pull_request`, `schedule`, manual, etc.)</a:t>
            </a:r>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It's the same shape every time: Event -&gt; Workflow -&gt; Job -&gt; Step.</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5"/>
        <p:cNvGrpSpPr/>
        <p:nvPr/>
      </p:nvGrpSpPr>
      <p:grpSpPr>
        <a:xfrm>
          <a:off x="0" y="0"/>
          <a:ext cx="0" cy="0"/>
          <a:chOff x="0" y="0"/>
          <a:chExt cx="0" cy="0"/>
        </a:xfrm>
      </p:grpSpPr>
      <p:sp>
        <p:nvSpPr>
          <p:cNvPr id="186" name="Google Shape;186;g3e9b5ced2ff_0_21"/>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GitHub Action vocabulary</a:t>
            </a:r>
            <a:endParaRPr/>
          </a:p>
        </p:txBody>
      </p:sp>
      <p:sp>
        <p:nvSpPr>
          <p:cNvPr id="187" name="Google Shape;187;g3e9b5ced2ff_0_21"/>
          <p:cNvSpPr txBox="1"/>
          <p:nvPr/>
        </p:nvSpPr>
        <p:spPr>
          <a:xfrm>
            <a:off x="914400" y="1463040"/>
            <a:ext cx="10362900" cy="475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Almost every GHA tutorial uses these four words.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Event</a:t>
            </a:r>
            <a:r>
              <a:rPr lang="en-US" sz="2000" b="0" i="0" u="none" strike="noStrike" cap="none">
                <a:solidFill>
                  <a:srgbClr val="666677"/>
                </a:solidFill>
                <a:latin typeface="Calibri"/>
                <a:ea typeface="Calibri"/>
                <a:cs typeface="Calibri"/>
                <a:sym typeface="Calibri"/>
              </a:rPr>
              <a:t> - something that triggers a run (`push`,</a:t>
            </a:r>
            <a:r>
              <a:rPr lang="en-US"/>
              <a:t> </a:t>
            </a:r>
            <a:r>
              <a:rPr lang="en-US" sz="2000" b="0" i="0" u="none" strike="noStrike" cap="none">
                <a:solidFill>
                  <a:srgbClr val="666677"/>
                </a:solidFill>
                <a:latin typeface="Calibri"/>
                <a:ea typeface="Calibri"/>
                <a:cs typeface="Calibri"/>
                <a:sym typeface="Calibri"/>
              </a:rPr>
              <a:t>`pull_request`, `schedule`, manual, etc.)</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Workflow</a:t>
            </a:r>
            <a:r>
              <a:rPr lang="en-US" sz="2000" b="0" i="0" u="none" strike="noStrike" cap="none">
                <a:solidFill>
                  <a:srgbClr val="666677"/>
                </a:solidFill>
                <a:latin typeface="Calibri"/>
                <a:ea typeface="Calibri"/>
                <a:cs typeface="Calibri"/>
                <a:sym typeface="Calibri"/>
              </a:rPr>
              <a:t> - a YAML file in </a:t>
            </a:r>
            <a:r>
              <a:rPr lang="en-US" sz="2000" b="1" i="0" u="none" strike="noStrike" cap="none">
                <a:solidFill>
                  <a:srgbClr val="666677"/>
                </a:solidFill>
                <a:latin typeface="Courier Prime"/>
                <a:ea typeface="Courier Prime"/>
                <a:cs typeface="Courier Prime"/>
                <a:sym typeface="Courier Prime"/>
              </a:rPr>
              <a:t>.github/workflows/</a:t>
            </a:r>
            <a:r>
              <a:rPr lang="en-US" sz="2000" b="0" i="0" u="none" strike="noStrike" cap="none">
                <a:solidFill>
                  <a:srgbClr val="666677"/>
                </a:solidFill>
                <a:latin typeface="Calibri"/>
                <a:ea typeface="Calibri"/>
                <a:cs typeface="Calibri"/>
                <a:sym typeface="Calibri"/>
              </a:rPr>
              <a:t> that says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"when these events happen, do this."</a:t>
            </a:r>
            <a:endParaRPr/>
          </a:p>
          <a:p>
            <a:pPr marL="0" marR="0" lvl="0" indent="0" algn="l" rtl="0">
              <a:spcBef>
                <a:spcPts val="600"/>
              </a:spcBef>
              <a:spcAft>
                <a:spcPts val="0"/>
              </a:spcAft>
              <a:buNone/>
            </a:pPr>
            <a:endParaRPr sz="2000">
              <a:solidFill>
                <a:srgbClr val="666677"/>
              </a:solidFill>
              <a:latin typeface="Calibri"/>
              <a:ea typeface="Calibri"/>
              <a:cs typeface="Calibri"/>
              <a:sym typeface="Calibri"/>
            </a:endParaRPr>
          </a:p>
          <a:p>
            <a:pPr marL="0" marR="0" lvl="0" indent="0" algn="l" rtl="0">
              <a:spcBef>
                <a:spcPts val="600"/>
              </a:spcBef>
              <a:spcAft>
                <a:spcPts val="0"/>
              </a:spcAft>
              <a:buNone/>
            </a:pPr>
            <a:endParaRPr sz="2000">
              <a:solidFill>
                <a:srgbClr val="666677"/>
              </a:solidFill>
              <a:latin typeface="Calibri"/>
              <a:ea typeface="Calibri"/>
              <a:cs typeface="Calibri"/>
              <a:sym typeface="Calibri"/>
            </a:endParaRPr>
          </a:p>
          <a:p>
            <a:pPr marL="0" marR="0" lvl="0" indent="0" algn="l" rtl="0">
              <a:spcBef>
                <a:spcPts val="600"/>
              </a:spcBef>
              <a:spcAft>
                <a:spcPts val="0"/>
              </a:spcAft>
              <a:buNone/>
            </a:pPr>
            <a:endParaRPr sz="2000">
              <a:solidFill>
                <a:srgbClr val="666677"/>
              </a:solidFill>
              <a:latin typeface="Calibri"/>
              <a:ea typeface="Calibri"/>
              <a:cs typeface="Calibri"/>
              <a:sym typeface="Calibri"/>
            </a:endParaRPr>
          </a:p>
          <a:p>
            <a:pPr marL="0" marR="0" lvl="0" indent="0" algn="l" rtl="0">
              <a:spcBef>
                <a:spcPts val="600"/>
              </a:spcBef>
              <a:spcAft>
                <a:spcPts val="0"/>
              </a:spcAft>
              <a:buNone/>
            </a:pPr>
            <a:endParaRPr sz="2000">
              <a:solidFill>
                <a:srgbClr val="666677"/>
              </a:solidFill>
              <a:latin typeface="Calibri"/>
              <a:ea typeface="Calibri"/>
              <a:cs typeface="Calibri"/>
              <a:sym typeface="Calibri"/>
            </a:endParaRPr>
          </a:p>
          <a:p>
            <a:pPr marL="0" marR="0" lvl="0" indent="0" algn="l" rtl="0">
              <a:spcBef>
                <a:spcPts val="600"/>
              </a:spcBef>
              <a:spcAft>
                <a:spcPts val="0"/>
              </a:spcAft>
              <a:buNone/>
            </a:pPr>
            <a:endParaRPr sz="2000">
              <a:solidFill>
                <a:srgbClr val="666677"/>
              </a:solidFill>
              <a:latin typeface="Calibri"/>
              <a:ea typeface="Calibri"/>
              <a:cs typeface="Calibri"/>
              <a:sym typeface="Calibri"/>
            </a:endParaRPr>
          </a:p>
          <a:p>
            <a:pPr marL="0" marR="0" lvl="0" indent="0" algn="l" rtl="0">
              <a:spcBef>
                <a:spcPts val="600"/>
              </a:spcBef>
              <a:spcAft>
                <a:spcPts val="0"/>
              </a:spcAft>
              <a:buNone/>
            </a:pPr>
            <a:endParaRPr sz="200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It's the same shape every time: Event -&gt; Workflow -&gt; Job -&gt; Step.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2"/>
        <p:cNvGrpSpPr/>
        <p:nvPr/>
      </p:nvGrpSpPr>
      <p:grpSpPr>
        <a:xfrm>
          <a:off x="0" y="0"/>
          <a:ext cx="0" cy="0"/>
          <a:chOff x="0" y="0"/>
          <a:chExt cx="0" cy="0"/>
        </a:xfrm>
      </p:grpSpPr>
      <p:sp>
        <p:nvSpPr>
          <p:cNvPr id="193" name="Google Shape;193;g3e9b5ced2ff_0_27"/>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GitHub Action vocabulary</a:t>
            </a:r>
            <a:endParaRPr/>
          </a:p>
        </p:txBody>
      </p:sp>
      <p:sp>
        <p:nvSpPr>
          <p:cNvPr id="194" name="Google Shape;194;g3e9b5ced2ff_0_27"/>
          <p:cNvSpPr txBox="1"/>
          <p:nvPr/>
        </p:nvSpPr>
        <p:spPr>
          <a:xfrm>
            <a:off x="914400" y="1463040"/>
            <a:ext cx="10362900" cy="475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Almost every GHA tutorial uses these four words.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Event</a:t>
            </a:r>
            <a:r>
              <a:rPr lang="en-US" sz="2000" b="0" i="0" u="none" strike="noStrike" cap="none">
                <a:solidFill>
                  <a:srgbClr val="666677"/>
                </a:solidFill>
                <a:latin typeface="Calibri"/>
                <a:ea typeface="Calibri"/>
                <a:cs typeface="Calibri"/>
                <a:sym typeface="Calibri"/>
              </a:rPr>
              <a:t> - something that triggers a run (`push`,</a:t>
            </a:r>
            <a:r>
              <a:rPr lang="en-US"/>
              <a:t> </a:t>
            </a:r>
            <a:r>
              <a:rPr lang="en-US" sz="2000" b="0" i="0" u="none" strike="noStrike" cap="none">
                <a:solidFill>
                  <a:srgbClr val="666677"/>
                </a:solidFill>
                <a:latin typeface="Calibri"/>
                <a:ea typeface="Calibri"/>
                <a:cs typeface="Calibri"/>
                <a:sym typeface="Calibri"/>
              </a:rPr>
              <a:t>`pull_request`, `schedule`, manual, etc.)</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Workflow</a:t>
            </a:r>
            <a:r>
              <a:rPr lang="en-US" sz="2000" b="0" i="0" u="none" strike="noStrike" cap="none">
                <a:solidFill>
                  <a:srgbClr val="666677"/>
                </a:solidFill>
                <a:latin typeface="Calibri"/>
                <a:ea typeface="Calibri"/>
                <a:cs typeface="Calibri"/>
                <a:sym typeface="Calibri"/>
              </a:rPr>
              <a:t> - a YAML file in </a:t>
            </a:r>
            <a:r>
              <a:rPr lang="en-US" sz="2000" b="1" i="0" u="none" strike="noStrike" cap="none">
                <a:solidFill>
                  <a:srgbClr val="666677"/>
                </a:solidFill>
                <a:latin typeface="Courier Prime"/>
                <a:ea typeface="Courier Prime"/>
                <a:cs typeface="Courier Prime"/>
                <a:sym typeface="Courier Prime"/>
              </a:rPr>
              <a:t>.github/workflows/</a:t>
            </a:r>
            <a:r>
              <a:rPr lang="en-US" sz="2000" b="0" i="0" u="none" strike="noStrike" cap="none">
                <a:solidFill>
                  <a:srgbClr val="666677"/>
                </a:solidFill>
                <a:latin typeface="Calibri"/>
                <a:ea typeface="Calibri"/>
                <a:cs typeface="Calibri"/>
                <a:sym typeface="Calibri"/>
              </a:rPr>
              <a:t> that says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"when these events happen, do this."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Job</a:t>
            </a:r>
            <a:r>
              <a:rPr lang="en-US" sz="2000" b="0" i="0" u="none" strike="noStrike" cap="none">
                <a:solidFill>
                  <a:srgbClr val="666677"/>
                </a:solidFill>
                <a:latin typeface="Calibri"/>
                <a:ea typeface="Calibri"/>
                <a:cs typeface="Calibri"/>
                <a:sym typeface="Calibri"/>
              </a:rPr>
              <a:t> - a group of steps that run together on one fresh VM.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Multiple jobs run in parallel.</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endParaRPr sz="2000">
              <a:solidFill>
                <a:srgbClr val="666677"/>
              </a:solidFill>
              <a:latin typeface="Calibri"/>
              <a:ea typeface="Calibri"/>
              <a:cs typeface="Calibri"/>
              <a:sym typeface="Calibri"/>
            </a:endParaRPr>
          </a:p>
          <a:p>
            <a:pPr marL="0" marR="0" lvl="0" indent="0" algn="l" rtl="0">
              <a:spcBef>
                <a:spcPts val="600"/>
              </a:spcBef>
              <a:spcAft>
                <a:spcPts val="0"/>
              </a:spcAft>
              <a:buNone/>
            </a:pPr>
            <a:endParaRPr sz="200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It's the same shape every time: Event -&gt; Workflow -&gt; Job -&gt; Step.</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9"/>
        <p:cNvGrpSpPr/>
        <p:nvPr/>
      </p:nvGrpSpPr>
      <p:grpSpPr>
        <a:xfrm>
          <a:off x="0" y="0"/>
          <a:ext cx="0" cy="0"/>
          <a:chOff x="0" y="0"/>
          <a:chExt cx="0" cy="0"/>
        </a:xfrm>
      </p:grpSpPr>
      <p:sp>
        <p:nvSpPr>
          <p:cNvPr id="200" name="Google Shape;200;p8"/>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GitHub Action vocabulary</a:t>
            </a:r>
            <a:endParaRPr/>
          </a:p>
        </p:txBody>
      </p:sp>
      <p:sp>
        <p:nvSpPr>
          <p:cNvPr id="201" name="Google Shape;201;p8"/>
          <p:cNvSpPr txBox="1"/>
          <p:nvPr/>
        </p:nvSpPr>
        <p:spPr>
          <a:xfrm>
            <a:off x="914400" y="1463040"/>
            <a:ext cx="10362900" cy="475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Almost every GHA tutorial uses these four words.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Event</a:t>
            </a:r>
            <a:r>
              <a:rPr lang="en-US" sz="2000" b="0" i="0" u="none" strike="noStrike" cap="none">
                <a:solidFill>
                  <a:srgbClr val="666677"/>
                </a:solidFill>
                <a:latin typeface="Calibri"/>
                <a:ea typeface="Calibri"/>
                <a:cs typeface="Calibri"/>
                <a:sym typeface="Calibri"/>
              </a:rPr>
              <a:t> - something that triggers a run (`push`,</a:t>
            </a:r>
            <a:r>
              <a:rPr lang="en-US"/>
              <a:t> </a:t>
            </a:r>
            <a:r>
              <a:rPr lang="en-US" sz="2000" b="0" i="0" u="none" strike="noStrike" cap="none">
                <a:solidFill>
                  <a:srgbClr val="666677"/>
                </a:solidFill>
                <a:latin typeface="Calibri"/>
                <a:ea typeface="Calibri"/>
                <a:cs typeface="Calibri"/>
                <a:sym typeface="Calibri"/>
              </a:rPr>
              <a:t>`pull_request`, `schedule`, manual, etc.)</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Workflow</a:t>
            </a:r>
            <a:r>
              <a:rPr lang="en-US" sz="2000" b="0" i="0" u="none" strike="noStrike" cap="none">
                <a:solidFill>
                  <a:srgbClr val="666677"/>
                </a:solidFill>
                <a:latin typeface="Calibri"/>
                <a:ea typeface="Calibri"/>
                <a:cs typeface="Calibri"/>
                <a:sym typeface="Calibri"/>
              </a:rPr>
              <a:t> - a YAML file in </a:t>
            </a:r>
            <a:r>
              <a:rPr lang="en-US" sz="2000" b="1" i="0" u="none" strike="noStrike" cap="none">
                <a:solidFill>
                  <a:srgbClr val="666677"/>
                </a:solidFill>
                <a:latin typeface="Courier Prime"/>
                <a:ea typeface="Courier Prime"/>
                <a:cs typeface="Courier Prime"/>
                <a:sym typeface="Courier Prime"/>
              </a:rPr>
              <a:t>.github/workflows/</a:t>
            </a:r>
            <a:r>
              <a:rPr lang="en-US" sz="2000" b="0" i="0" u="none" strike="noStrike" cap="none">
                <a:solidFill>
                  <a:srgbClr val="666677"/>
                </a:solidFill>
                <a:latin typeface="Calibri"/>
                <a:ea typeface="Calibri"/>
                <a:cs typeface="Calibri"/>
                <a:sym typeface="Calibri"/>
              </a:rPr>
              <a:t> that says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"when these events happen, do this."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Job</a:t>
            </a:r>
            <a:r>
              <a:rPr lang="en-US" sz="2000" b="0" i="0" u="none" strike="noStrike" cap="none">
                <a:solidFill>
                  <a:srgbClr val="666677"/>
                </a:solidFill>
                <a:latin typeface="Calibri"/>
                <a:ea typeface="Calibri"/>
                <a:cs typeface="Calibri"/>
                <a:sym typeface="Calibri"/>
              </a:rPr>
              <a:t> - a group of steps that run together on one fresh VM.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Multiple jobs run in parallel.</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Step</a:t>
            </a:r>
            <a:r>
              <a:rPr lang="en-US" sz="2000" b="0" i="0" u="none" strike="noStrike" cap="none">
                <a:solidFill>
                  <a:srgbClr val="666677"/>
                </a:solidFill>
                <a:latin typeface="Calibri"/>
                <a:ea typeface="Calibri"/>
                <a:cs typeface="Calibri"/>
                <a:sym typeface="Calibri"/>
              </a:rPr>
              <a:t> - one shell command, or one reusable "action."</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It's the same shape every time: Event -&gt; Workflow -&gt; Job -&gt; Step.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6"/>
        <p:cNvGrpSpPr/>
        <p:nvPr/>
      </p:nvGrpSpPr>
      <p:grpSpPr>
        <a:xfrm>
          <a:off x="0" y="0"/>
          <a:ext cx="0" cy="0"/>
          <a:chOff x="0" y="0"/>
          <a:chExt cx="0" cy="0"/>
        </a:xfrm>
      </p:grpSpPr>
      <p:sp>
        <p:nvSpPr>
          <p:cNvPr id="207" name="Google Shape;207;p9"/>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Where the workflow file lives</a:t>
            </a:r>
            <a:endParaRPr/>
          </a:p>
        </p:txBody>
      </p:sp>
      <p:sp>
        <p:nvSpPr>
          <p:cNvPr id="208" name="Google Shape;208;p9"/>
          <p:cNvSpPr txBox="1"/>
          <p:nvPr/>
        </p:nvSpPr>
        <p:spPr>
          <a:xfrm>
            <a:off x="914400" y="1463040"/>
            <a:ext cx="10362900" cy="4494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The file goes at this path in your repo:</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.github/workflows/test.yml</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GitHub scans that directory every time you push.</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Any .yml file in it gets registered as a workflow.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You can have multiple </a:t>
            </a:r>
            <a:r>
              <a:rPr lang="en-US" sz="2000" b="0" i="0" u="none" strike="noStrike" cap="none">
                <a:solidFill>
                  <a:srgbClr val="666677"/>
                </a:solidFill>
                <a:latin typeface="Calibri"/>
                <a:ea typeface="Calibri"/>
                <a:cs typeface="Calibri"/>
                <a:sym typeface="Calibri"/>
              </a:rPr>
              <a:t>files - one for tests, one for linting, etc.</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One workflow per file, named by convention.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Filename is just a label - the actual behavior lives inside the YAML.</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Commit the file, push, and GitHub starts running it next push.</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3"/>
        <p:cNvGrpSpPr/>
        <p:nvPr/>
      </p:nvGrpSpPr>
      <p:grpSpPr>
        <a:xfrm>
          <a:off x="0" y="0"/>
          <a:ext cx="0" cy="0"/>
          <a:chOff x="0" y="0"/>
          <a:chExt cx="0" cy="0"/>
        </a:xfrm>
      </p:grpSpPr>
      <p:sp>
        <p:nvSpPr>
          <p:cNvPr id="214" name="Google Shape;214;p10"/>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A minimal pytest workflow</a:t>
            </a:r>
            <a:endParaRPr/>
          </a:p>
        </p:txBody>
      </p:sp>
      <p:sp>
        <p:nvSpPr>
          <p:cNvPr id="215" name="Google Shape;215;p10"/>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YAML</a:t>
            </a:r>
            <a:endParaRPr/>
          </a:p>
        </p:txBody>
      </p:sp>
      <p:sp>
        <p:nvSpPr>
          <p:cNvPr id="216" name="Google Shape;216;p10"/>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10"/>
          <p:cNvSpPr txBox="1"/>
          <p:nvPr/>
        </p:nvSpPr>
        <p:spPr>
          <a:xfrm>
            <a:off x="1005840" y="1645920"/>
            <a:ext cx="10179900" cy="4171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.github/workflows/test.yml</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name: Tests</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on: [push, pull_request]</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jobs: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test: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runs-on: ubuntu-latest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steps: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uses: actions/checkout@v</a:t>
            </a:r>
            <a:r>
              <a:rPr lang="en-US" sz="1500" b="1">
                <a:solidFill>
                  <a:srgbClr val="333344"/>
                </a:solidFill>
                <a:latin typeface="Courier New"/>
                <a:ea typeface="Courier New"/>
                <a:cs typeface="Courier New"/>
                <a:sym typeface="Courier New"/>
              </a:rPr>
              <a:t>6</a:t>
            </a: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uses: actions/setup-python@v</a:t>
            </a:r>
            <a:r>
              <a:rPr lang="en-US" sz="1500" b="1">
                <a:solidFill>
                  <a:srgbClr val="333344"/>
                </a:solidFill>
                <a:latin typeface="Courier New"/>
                <a:ea typeface="Courier New"/>
                <a:cs typeface="Courier New"/>
                <a:sym typeface="Courier New"/>
              </a:rPr>
              <a:t>6</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with:</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python-version: "3.12"</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run: pip install -r requirements.txt</a:t>
            </a: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run: pytest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2"/>
        <p:cNvGrpSpPr/>
        <p:nvPr/>
      </p:nvGrpSpPr>
      <p:grpSpPr>
        <a:xfrm>
          <a:off x="0" y="0"/>
          <a:ext cx="0" cy="0"/>
          <a:chOff x="0" y="0"/>
          <a:chExt cx="0" cy="0"/>
        </a:xfrm>
      </p:grpSpPr>
      <p:sp>
        <p:nvSpPr>
          <p:cNvPr id="223" name="Google Shape;223;p11"/>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GitHub does when you push</a:t>
            </a:r>
            <a:endParaRPr/>
          </a:p>
        </p:txBody>
      </p:sp>
      <p:sp>
        <p:nvSpPr>
          <p:cNvPr id="224" name="Google Shape;224;p11"/>
          <p:cNvSpPr txBox="1"/>
          <p:nvPr/>
        </p:nvSpPr>
        <p:spPr>
          <a:xfrm>
            <a:off x="914400" y="1463040"/>
            <a:ext cx="10362900" cy="475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Here's the full sequence the first time you push after adding thi</a:t>
            </a:r>
            <a:r>
              <a:rPr lang="en-US" sz="2400">
                <a:solidFill>
                  <a:srgbClr val="333344"/>
                </a:solidFill>
                <a:latin typeface="Calibri"/>
                <a:ea typeface="Calibri"/>
                <a:cs typeface="Calibri"/>
                <a:sym typeface="Calibri"/>
              </a:rPr>
              <a:t>s workflow:</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a:t>
            </a:r>
            <a:r>
              <a:rPr lang="en-US" sz="2000" b="0" i="0" u="none" strike="noStrike" cap="none">
                <a:solidFill>
                  <a:srgbClr val="666677"/>
                </a:solidFill>
                <a:latin typeface="Calibri"/>
                <a:ea typeface="Calibri"/>
                <a:cs typeface="Calibri"/>
                <a:sym typeface="Calibri"/>
              </a:rPr>
              <a:t> GitHub sees your push event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a:t>
            </a:r>
            <a:r>
              <a:rPr lang="en-US" sz="2000" b="0" i="0" u="none" strike="noStrike" cap="none">
                <a:solidFill>
                  <a:srgbClr val="666677"/>
                </a:solidFill>
                <a:latin typeface="Calibri"/>
                <a:ea typeface="Calibri"/>
                <a:cs typeface="Calibri"/>
                <a:sym typeface="Calibri"/>
              </a:rPr>
              <a:t> Finds </a:t>
            </a:r>
            <a:r>
              <a:rPr lang="en-US" sz="2000" b="1" i="0" u="none" strike="noStrike" cap="none">
                <a:solidFill>
                  <a:srgbClr val="666677"/>
                </a:solidFill>
                <a:latin typeface="Courier Prime"/>
                <a:ea typeface="Courier Prime"/>
                <a:cs typeface="Courier Prime"/>
                <a:sym typeface="Courier Prime"/>
              </a:rPr>
              <a:t>.github/workflows/test.yml</a:t>
            </a:r>
            <a:r>
              <a:rPr lang="en-US" sz="2000" b="0" i="0" u="none" strike="noStrike" cap="none">
                <a:solidFill>
                  <a:srgbClr val="666677"/>
                </a:solidFill>
                <a:latin typeface="Calibri"/>
                <a:ea typeface="Calibri"/>
                <a:cs typeface="Calibri"/>
                <a:sym typeface="Calibri"/>
              </a:rPr>
              <a:t> in the repo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3.</a:t>
            </a:r>
            <a:r>
              <a:rPr lang="en-US" sz="2000" b="0" i="0" u="none" strike="noStrike" cap="none">
                <a:solidFill>
                  <a:srgbClr val="666677"/>
                </a:solidFill>
                <a:latin typeface="Calibri"/>
                <a:ea typeface="Calibri"/>
                <a:cs typeface="Calibri"/>
                <a:sym typeface="Calibri"/>
              </a:rPr>
              <a:t> Provisions a fresh Ubuntu VM in the cloud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4.</a:t>
            </a:r>
            <a:r>
              <a:rPr lang="en-US" sz="2000" b="0" i="0" u="none" strike="noStrike" cap="none">
                <a:solidFill>
                  <a:srgbClr val="666677"/>
                </a:solidFill>
                <a:latin typeface="Calibri"/>
                <a:ea typeface="Calibri"/>
                <a:cs typeface="Calibri"/>
                <a:sym typeface="Calibri"/>
              </a:rPr>
              <a:t> Runs the `checkout` action - clones your repo onto the VM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5.</a:t>
            </a:r>
            <a:r>
              <a:rPr lang="en-US" sz="2000" b="0" i="0" u="none" strike="noStrike" cap="none">
                <a:solidFill>
                  <a:srgbClr val="666677"/>
                </a:solidFill>
                <a:latin typeface="Calibri"/>
                <a:ea typeface="Calibri"/>
                <a:cs typeface="Calibri"/>
                <a:sym typeface="Calibri"/>
              </a:rPr>
              <a:t> Runs </a:t>
            </a:r>
            <a:r>
              <a:rPr lang="en-US" sz="2000" b="1" i="0" u="none" strike="noStrike" cap="none">
                <a:solidFill>
                  <a:srgbClr val="666677"/>
                </a:solidFill>
                <a:latin typeface="Courier Prime"/>
                <a:ea typeface="Courier Prime"/>
                <a:cs typeface="Courier Prime"/>
                <a:sym typeface="Courier Prime"/>
              </a:rPr>
              <a:t>setup-python</a:t>
            </a:r>
            <a:r>
              <a:rPr lang="en-US" sz="2000" b="0" i="0" u="none" strike="noStrike" cap="none">
                <a:solidFill>
                  <a:srgbClr val="666677"/>
                </a:solidFill>
                <a:latin typeface="Calibri"/>
                <a:ea typeface="Calibri"/>
                <a:cs typeface="Calibri"/>
                <a:sym typeface="Calibri"/>
              </a:rPr>
              <a:t> - installs Python 3.12</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6.</a:t>
            </a:r>
            <a:r>
              <a:rPr lang="en-US" sz="2000" b="0" i="0" u="none" strike="noStrike" cap="none">
                <a:solidFill>
                  <a:srgbClr val="666677"/>
                </a:solidFill>
                <a:latin typeface="Calibri"/>
                <a:ea typeface="Calibri"/>
                <a:cs typeface="Calibri"/>
                <a:sym typeface="Calibri"/>
              </a:rPr>
              <a:t> Runs </a:t>
            </a:r>
            <a:r>
              <a:rPr lang="en-US" sz="2000" b="1" i="0" u="none" strike="noStrike" cap="none">
                <a:solidFill>
                  <a:srgbClr val="666677"/>
                </a:solidFill>
                <a:latin typeface="Courier Prime"/>
                <a:ea typeface="Courier Prime"/>
                <a:cs typeface="Courier Prime"/>
                <a:sym typeface="Courier Prime"/>
              </a:rPr>
              <a:t>pip install -r requirements.txt</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7.</a:t>
            </a:r>
            <a:r>
              <a:rPr lang="en-US" sz="2000" b="0" i="0" u="none" strike="noStrike" cap="none">
                <a:solidFill>
                  <a:srgbClr val="666677"/>
                </a:solidFill>
                <a:latin typeface="Calibri"/>
                <a:ea typeface="Calibri"/>
                <a:cs typeface="Calibri"/>
                <a:sym typeface="Calibri"/>
              </a:rPr>
              <a:t> Runs </a:t>
            </a:r>
            <a:r>
              <a:rPr lang="en-US" sz="2000" b="1" i="0" u="none" strike="noStrike" cap="none">
                <a:solidFill>
                  <a:srgbClr val="666677"/>
                </a:solidFill>
                <a:latin typeface="Courier Prime"/>
                <a:ea typeface="Courier Prime"/>
                <a:cs typeface="Courier Prime"/>
                <a:sym typeface="Courier Prime"/>
              </a:rPr>
              <a:t>pytest</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8.</a:t>
            </a:r>
            <a:r>
              <a:rPr lang="en-US" sz="2000" b="0" i="0" u="none" strike="noStrike" cap="none">
                <a:solidFill>
                  <a:srgbClr val="666677"/>
                </a:solidFill>
                <a:latin typeface="Calibri"/>
                <a:ea typeface="Calibri"/>
                <a:cs typeface="Calibri"/>
                <a:sym typeface="Calibri"/>
              </a:rPr>
              <a:t> Reports the exit code as the workflow's status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9.</a:t>
            </a:r>
            <a:r>
              <a:rPr lang="en-US" sz="2000" b="0" i="0" u="none" strike="noStrike" cap="none">
                <a:solidFill>
                  <a:srgbClr val="666677"/>
                </a:solidFill>
                <a:latin typeface="Calibri"/>
                <a:ea typeface="Calibri"/>
                <a:cs typeface="Calibri"/>
                <a:sym typeface="Calibri"/>
              </a:rPr>
              <a:t> Tears down the VM</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Total: (</a:t>
            </a:r>
            <a:r>
              <a:rPr lang="en-US" sz="2400">
                <a:solidFill>
                  <a:srgbClr val="333344"/>
                </a:solidFill>
                <a:latin typeface="Calibri"/>
                <a:ea typeface="Calibri"/>
                <a:cs typeface="Calibri"/>
                <a:sym typeface="Calibri"/>
              </a:rPr>
              <a:t>hopefully) </a:t>
            </a:r>
            <a:r>
              <a:rPr lang="en-US" sz="2400" b="0" i="0" u="none" strike="noStrike" cap="none">
                <a:solidFill>
                  <a:srgbClr val="333344"/>
                </a:solidFill>
                <a:latin typeface="Calibri"/>
                <a:ea typeface="Calibri"/>
                <a:cs typeface="Calibri"/>
                <a:sym typeface="Calibri"/>
              </a:rPr>
              <a:t>30-90 seconds. You see a green check next to the commit.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9"/>
        <p:cNvGrpSpPr/>
        <p:nvPr/>
      </p:nvGrpSpPr>
      <p:grpSpPr>
        <a:xfrm>
          <a:off x="0" y="0"/>
          <a:ext cx="0" cy="0"/>
          <a:chOff x="0" y="0"/>
          <a:chExt cx="0" cy="0"/>
        </a:xfrm>
      </p:grpSpPr>
      <p:sp>
        <p:nvSpPr>
          <p:cNvPr id="230" name="Google Shape;230;g3e9b5ced2ff_0_148"/>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With pip caching (faster repeat runs)</a:t>
            </a:r>
            <a:endParaRPr/>
          </a:p>
        </p:txBody>
      </p:sp>
      <p:sp>
        <p:nvSpPr>
          <p:cNvPr id="231" name="Google Shape;231;g3e9b5ced2ff_0_148"/>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YAML</a:t>
            </a:r>
            <a:endParaRPr/>
          </a:p>
        </p:txBody>
      </p:sp>
      <p:sp>
        <p:nvSpPr>
          <p:cNvPr id="232" name="Google Shape;232;g3e9b5ced2ff_0_148"/>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3" name="Google Shape;233;g3e9b5ced2ff_0_148"/>
          <p:cNvSpPr txBox="1"/>
          <p:nvPr/>
        </p:nvSpPr>
        <p:spPr>
          <a:xfrm>
            <a:off x="1005840" y="1645920"/>
            <a:ext cx="10179900" cy="4171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name: Tests</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on: [push, pull_request]</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jobs: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test: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runs-on: ubuntu-latest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steps: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uses: actions/checkout@v</a:t>
            </a:r>
            <a:r>
              <a:rPr lang="en-US" sz="1500" b="1">
                <a:solidFill>
                  <a:srgbClr val="333344"/>
                </a:solidFill>
                <a:latin typeface="Courier New"/>
                <a:ea typeface="Courier New"/>
                <a:cs typeface="Courier New"/>
                <a:sym typeface="Courier New"/>
              </a:rPr>
              <a:t>6</a:t>
            </a: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uses: actions/setup-python@v</a:t>
            </a:r>
            <a:r>
              <a:rPr lang="en-US" sz="1500" b="1">
                <a:solidFill>
                  <a:srgbClr val="333344"/>
                </a:solidFill>
                <a:latin typeface="Courier New"/>
                <a:ea typeface="Courier New"/>
                <a:cs typeface="Courier New"/>
                <a:sym typeface="Courier New"/>
              </a:rPr>
              <a:t>6</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with:</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python-version: "3.12"</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t>
            </a:r>
            <a:r>
              <a:rPr lang="en-US" sz="1500" b="1">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run: pip install -r requirements.txt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run: pytest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8"/>
        <p:cNvGrpSpPr/>
        <p:nvPr/>
      </p:nvGrpSpPr>
      <p:grpSpPr>
        <a:xfrm>
          <a:off x="0" y="0"/>
          <a:ext cx="0" cy="0"/>
          <a:chOff x="0" y="0"/>
          <a:chExt cx="0" cy="0"/>
        </a:xfrm>
      </p:grpSpPr>
      <p:sp>
        <p:nvSpPr>
          <p:cNvPr id="239" name="Google Shape;239;p12"/>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With pip caching (faster repeat runs)</a:t>
            </a:r>
            <a:endParaRPr/>
          </a:p>
        </p:txBody>
      </p:sp>
      <p:sp>
        <p:nvSpPr>
          <p:cNvPr id="240" name="Google Shape;240;p12"/>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YAML</a:t>
            </a:r>
            <a:endParaRPr/>
          </a:p>
        </p:txBody>
      </p:sp>
      <p:sp>
        <p:nvSpPr>
          <p:cNvPr id="241" name="Google Shape;241;p12"/>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2" name="Google Shape;242;p12"/>
          <p:cNvSpPr txBox="1"/>
          <p:nvPr/>
        </p:nvSpPr>
        <p:spPr>
          <a:xfrm>
            <a:off x="1005840" y="1645920"/>
            <a:ext cx="10179900" cy="4171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name: Tests</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on: [push, pull_request]</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jobs: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test: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runs-on: ubuntu-latest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steps: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uses: actions/checkout@v</a:t>
            </a:r>
            <a:r>
              <a:rPr lang="en-US" sz="1500" b="1">
                <a:solidFill>
                  <a:srgbClr val="333344"/>
                </a:solidFill>
                <a:latin typeface="Courier New"/>
                <a:ea typeface="Courier New"/>
                <a:cs typeface="Courier New"/>
                <a:sym typeface="Courier New"/>
              </a:rPr>
              <a:t>6</a:t>
            </a: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uses: actions/setup-python@v</a:t>
            </a:r>
            <a:r>
              <a:rPr lang="en-US" sz="1500" b="1">
                <a:solidFill>
                  <a:srgbClr val="333344"/>
                </a:solidFill>
                <a:latin typeface="Courier New"/>
                <a:ea typeface="Courier New"/>
                <a:cs typeface="Courier New"/>
                <a:sym typeface="Courier New"/>
              </a:rPr>
              <a:t>6</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with:</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python-version: "3.12"</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cache: pip                           # &lt;-- one-line speedup</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run: pip install -r requirements.txt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run: pytest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7"/>
        <p:cNvGrpSpPr/>
        <p:nvPr/>
      </p:nvGrpSpPr>
      <p:grpSpPr>
        <a:xfrm>
          <a:off x="0" y="0"/>
          <a:ext cx="0" cy="0"/>
          <a:chOff x="0" y="0"/>
          <a:chExt cx="0" cy="0"/>
        </a:xfrm>
      </p:grpSpPr>
      <p:sp>
        <p:nvSpPr>
          <p:cNvPr id="248" name="Google Shape;248;g3e9b5ced2ff_0_156"/>
          <p:cNvSpPr txBox="1"/>
          <p:nvPr/>
        </p:nvSpPr>
        <p:spPr>
          <a:xfrm>
            <a:off x="731520" y="365760"/>
            <a:ext cx="10728600" cy="10773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Font typeface="Arial"/>
              <a:buNone/>
            </a:pPr>
            <a:r>
              <a:rPr lang="en-US" sz="3200" b="1">
                <a:solidFill>
                  <a:srgbClr val="1A1A2E"/>
                </a:solidFill>
                <a:latin typeface="Calibri"/>
                <a:ea typeface="Calibri"/>
                <a:cs typeface="Calibri"/>
                <a:sym typeface="Calibri"/>
              </a:rPr>
              <a:t>Predict: this workflow runs. What happens?</a:t>
            </a:r>
            <a:endParaRPr>
              <a:solidFill>
                <a:schemeClr val="dk1"/>
              </a:solidFill>
            </a:endParaRPr>
          </a:p>
          <a:p>
            <a:pPr marL="0" marR="0" lvl="0" indent="0" algn="l" rtl="0">
              <a:spcBef>
                <a:spcPts val="0"/>
              </a:spcBef>
              <a:spcAft>
                <a:spcPts val="0"/>
              </a:spcAft>
              <a:buNone/>
            </a:pPr>
            <a:endParaRPr sz="3200" b="1">
              <a:solidFill>
                <a:srgbClr val="1A1A2E"/>
              </a:solidFill>
              <a:latin typeface="Calibri"/>
              <a:ea typeface="Calibri"/>
              <a:cs typeface="Calibri"/>
              <a:sym typeface="Calibri"/>
            </a:endParaRPr>
          </a:p>
        </p:txBody>
      </p:sp>
      <p:sp>
        <p:nvSpPr>
          <p:cNvPr id="249" name="Google Shape;249;g3e9b5ced2ff_0_156"/>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YAML</a:t>
            </a:r>
            <a:endParaRPr/>
          </a:p>
        </p:txBody>
      </p:sp>
      <p:sp>
        <p:nvSpPr>
          <p:cNvPr id="250" name="Google Shape;250;g3e9b5ced2ff_0_156"/>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g3e9b5ced2ff_0_156"/>
          <p:cNvSpPr txBox="1"/>
          <p:nvPr/>
        </p:nvSpPr>
        <p:spPr>
          <a:xfrm>
            <a:off x="1005840" y="1645920"/>
            <a:ext cx="10179900" cy="4171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name: Tests</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on: [push, pull_request]</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jobs: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test: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runs-on: ubuntu-latest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steps: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uses: actions/checkout@v</a:t>
            </a:r>
            <a:r>
              <a:rPr lang="en-US" sz="1500" b="1">
                <a:solidFill>
                  <a:srgbClr val="333344"/>
                </a:solidFill>
                <a:latin typeface="Courier New"/>
                <a:ea typeface="Courier New"/>
                <a:cs typeface="Courier New"/>
                <a:sym typeface="Courier New"/>
              </a:rPr>
              <a:t>6</a:t>
            </a: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uses: actions/setup-python@v</a:t>
            </a:r>
            <a:r>
              <a:rPr lang="en-US" sz="1500" b="1">
                <a:solidFill>
                  <a:srgbClr val="333344"/>
                </a:solidFill>
                <a:latin typeface="Courier New"/>
                <a:ea typeface="Courier New"/>
                <a:cs typeface="Courier New"/>
                <a:sym typeface="Courier New"/>
              </a:rPr>
              <a:t>6</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with:</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python-version: "3.12"</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t>
            </a:r>
            <a:r>
              <a:rPr lang="en-US" sz="1500" b="1">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run: pip install -r requirements.txt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run: pytest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6"/>
        <p:cNvGrpSpPr/>
        <p:nvPr/>
      </p:nvGrpSpPr>
      <p:grpSpPr>
        <a:xfrm>
          <a:off x="0" y="0"/>
          <a:ext cx="0" cy="0"/>
          <a:chOff x="0" y="0"/>
          <a:chExt cx="0" cy="0"/>
        </a:xfrm>
      </p:grpSpPr>
      <p:sp>
        <p:nvSpPr>
          <p:cNvPr id="257" name="Google Shape;257;g3e9b5ced2ff_0_164"/>
          <p:cNvSpPr txBox="1"/>
          <p:nvPr/>
        </p:nvSpPr>
        <p:spPr>
          <a:xfrm>
            <a:off x="731520" y="365760"/>
            <a:ext cx="10728600" cy="10773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3200" b="1">
                <a:solidFill>
                  <a:srgbClr val="1A1A2E"/>
                </a:solidFill>
                <a:latin typeface="Calibri"/>
                <a:ea typeface="Calibri"/>
                <a:cs typeface="Calibri"/>
                <a:sym typeface="Calibri"/>
              </a:rPr>
              <a:t>Predict: this workflow runs. What happens?</a:t>
            </a:r>
            <a:endParaRPr>
              <a:solidFill>
                <a:schemeClr val="dk1"/>
              </a:solidFill>
            </a:endParaRPr>
          </a:p>
          <a:p>
            <a:pPr marL="0" marR="0" lvl="0" indent="0" algn="l" rtl="0">
              <a:spcBef>
                <a:spcPts val="0"/>
              </a:spcBef>
              <a:spcAft>
                <a:spcPts val="0"/>
              </a:spcAft>
              <a:buNone/>
            </a:pPr>
            <a:endParaRPr sz="3200" b="1">
              <a:solidFill>
                <a:srgbClr val="1A1A2E"/>
              </a:solidFill>
              <a:latin typeface="Calibri"/>
              <a:ea typeface="Calibri"/>
              <a:cs typeface="Calibri"/>
              <a:sym typeface="Calibri"/>
            </a:endParaRPr>
          </a:p>
        </p:txBody>
      </p:sp>
      <p:sp>
        <p:nvSpPr>
          <p:cNvPr id="258" name="Google Shape;258;g3e9b5ced2ff_0_164"/>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YAML</a:t>
            </a:r>
            <a:endParaRPr/>
          </a:p>
        </p:txBody>
      </p:sp>
      <p:sp>
        <p:nvSpPr>
          <p:cNvPr id="259" name="Google Shape;259;g3e9b5ced2ff_0_164"/>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g3e9b5ced2ff_0_164"/>
          <p:cNvSpPr txBox="1"/>
          <p:nvPr/>
        </p:nvSpPr>
        <p:spPr>
          <a:xfrm>
            <a:off x="1005840" y="1645920"/>
            <a:ext cx="10179900" cy="4171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name: Tests</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on: [push, pull_request]</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jobs: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test: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runs-on: ubuntu-latest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steps:</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a:t>
            </a: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uses: actions/setup-python@v</a:t>
            </a:r>
            <a:r>
              <a:rPr lang="en-US" sz="1500" b="1">
                <a:solidFill>
                  <a:srgbClr val="333344"/>
                </a:solidFill>
                <a:latin typeface="Courier New"/>
                <a:ea typeface="Courier New"/>
                <a:cs typeface="Courier New"/>
                <a:sym typeface="Courier New"/>
              </a:rPr>
              <a:t>6</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with:</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python-version: "3.12"</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t>
            </a:r>
            <a:r>
              <a:rPr lang="en-US" sz="1500" b="1">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run: pip install -r requirements.txt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run: pytest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5"/>
        <p:cNvGrpSpPr/>
        <p:nvPr/>
      </p:nvGrpSpPr>
      <p:grpSpPr>
        <a:xfrm>
          <a:off x="0" y="0"/>
          <a:ext cx="0" cy="0"/>
          <a:chOff x="0" y="0"/>
          <a:chExt cx="0" cy="0"/>
        </a:xfrm>
      </p:grpSpPr>
      <p:sp>
        <p:nvSpPr>
          <p:cNvPr id="266" name="Google Shape;266;p14"/>
          <p:cNvSpPr txBox="1"/>
          <p:nvPr/>
        </p:nvSpPr>
        <p:spPr>
          <a:xfrm>
            <a:off x="731520" y="365760"/>
            <a:ext cx="10728655"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dirty="0">
                <a:solidFill>
                  <a:srgbClr val="1A1A2E"/>
                </a:solidFill>
                <a:latin typeface="Calibri"/>
                <a:ea typeface="Calibri"/>
                <a:cs typeface="Calibri"/>
                <a:sym typeface="Calibri"/>
              </a:rPr>
              <a:t>The fresh-VM model</a:t>
            </a:r>
            <a:endParaRPr dirty="0"/>
          </a:p>
        </p:txBody>
      </p:sp>
      <p:sp>
        <p:nvSpPr>
          <p:cNvPr id="267" name="Google Shape;267;p14"/>
          <p:cNvSpPr txBox="1"/>
          <p:nvPr/>
        </p:nvSpPr>
        <p:spPr>
          <a:xfrm>
            <a:off x="914397" y="1209000"/>
            <a:ext cx="10362900" cy="5649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Every job starts on a clean VM that knows nothing about your code.</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ourier Prime"/>
                <a:ea typeface="Courier Prime"/>
                <a:cs typeface="Courier Prime"/>
                <a:sym typeface="Courier Prime"/>
              </a:rPr>
              <a:t>actions/checkout@v</a:t>
            </a:r>
            <a:r>
              <a:rPr lang="en-US" sz="2000" b="1" dirty="0">
                <a:solidFill>
                  <a:srgbClr val="666677"/>
                </a:solidFill>
                <a:latin typeface="Courier Prime"/>
                <a:ea typeface="Courier Prime"/>
                <a:cs typeface="Courier Prime"/>
                <a:sym typeface="Courier Prime"/>
              </a:rPr>
              <a:t>6</a:t>
            </a:r>
            <a:r>
              <a:rPr lang="en-US" sz="2000" b="0" i="0" u="none" strike="noStrike" cap="none" dirty="0">
                <a:solidFill>
                  <a:srgbClr val="666677"/>
                </a:solidFill>
                <a:latin typeface="Calibri"/>
                <a:ea typeface="Calibri"/>
                <a:cs typeface="Calibri"/>
                <a:sym typeface="Calibri"/>
              </a:rPr>
              <a:t> is the step that clones the repo onto it.</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Without that step the working directory is empty</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dirty="0">
                <a:solidFill>
                  <a:srgbClr val="666677"/>
                </a:solidFill>
                <a:latin typeface="Calibri"/>
                <a:ea typeface="Calibri"/>
                <a:cs typeface="Calibri"/>
                <a:sym typeface="Calibri"/>
              </a:rPr>
              <a:t>Any command </a:t>
            </a:r>
            <a:r>
              <a:rPr lang="en-US" sz="2000" b="0" i="0" u="none" strike="noStrike" cap="none" dirty="0">
                <a:solidFill>
                  <a:srgbClr val="666677"/>
                </a:solidFill>
                <a:latin typeface="Calibri"/>
                <a:ea typeface="Calibri"/>
                <a:cs typeface="Calibri"/>
                <a:sym typeface="Calibri"/>
              </a:rPr>
              <a:t>that touches your files (`pip install -r ...`, `</a:t>
            </a:r>
            <a:r>
              <a:rPr lang="en-US" sz="2000" b="0" i="0" u="none" strike="noStrike" cap="none" dirty="0" err="1">
                <a:solidFill>
                  <a:srgbClr val="666677"/>
                </a:solidFill>
                <a:latin typeface="Calibri"/>
                <a:ea typeface="Calibri"/>
                <a:cs typeface="Calibri"/>
                <a:sym typeface="Calibri"/>
              </a:rPr>
              <a:t>pytest</a:t>
            </a:r>
            <a:r>
              <a:rPr lang="en-US" sz="2000" b="0" i="0" u="none" strike="noStrike" cap="none" dirty="0">
                <a:solidFill>
                  <a:srgbClr val="666677"/>
                </a:solidFill>
                <a:latin typeface="Calibri"/>
                <a:ea typeface="Calibri"/>
                <a:cs typeface="Calibri"/>
                <a:sym typeface="Calibri"/>
              </a:rPr>
              <a:t>`) fails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because the files aren't there.</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Two things to take from this: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Every step runs on a VM that didn't exist 30 seconds ago.</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Nothing carries over from your laptop.</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Steps run top-down, and a non-zero exit halts the job.</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When CI breaks: what files exist on this VM right now, and what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is this command looking for?</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2"/>
        <p:cNvGrpSpPr/>
        <p:nvPr/>
      </p:nvGrpSpPr>
      <p:grpSpPr>
        <a:xfrm>
          <a:off x="0" y="0"/>
          <a:ext cx="0" cy="0"/>
          <a:chOff x="0" y="0"/>
          <a:chExt cx="0" cy="0"/>
        </a:xfrm>
      </p:grpSpPr>
      <p:sp>
        <p:nvSpPr>
          <p:cNvPr id="273" name="Google Shape;273;p15"/>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Matrix builds: same job, multiple environments</a:t>
            </a:r>
            <a:endParaRPr/>
          </a:p>
        </p:txBody>
      </p:sp>
      <p:sp>
        <p:nvSpPr>
          <p:cNvPr id="274" name="Google Shape;274;p15"/>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YAML</a:t>
            </a:r>
            <a:endParaRPr/>
          </a:p>
        </p:txBody>
      </p:sp>
      <p:sp>
        <p:nvSpPr>
          <p:cNvPr id="275" name="Google Shape;275;p15"/>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6" name="Google Shape;276;p15"/>
          <p:cNvSpPr txBox="1"/>
          <p:nvPr/>
        </p:nvSpPr>
        <p:spPr>
          <a:xfrm>
            <a:off x="1005840" y="1645920"/>
            <a:ext cx="10179900" cy="4684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Same workflow, parameterized over Python versions: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jobs: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test: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runs-on: ubuntu-latest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strategy:</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matrix:</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python-version: ["3.11", "3.12"]</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steps: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uses: actions/checkout@v</a:t>
            </a:r>
            <a:r>
              <a:rPr lang="en-US" sz="1500" b="1">
                <a:solidFill>
                  <a:srgbClr val="333344"/>
                </a:solidFill>
                <a:latin typeface="Courier New"/>
                <a:ea typeface="Courier New"/>
                <a:cs typeface="Courier New"/>
                <a:sym typeface="Courier New"/>
              </a:rPr>
              <a:t>6</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uses: actions/setup-python@v</a:t>
            </a:r>
            <a:r>
              <a:rPr lang="en-US" sz="1500" b="1">
                <a:solidFill>
                  <a:srgbClr val="333344"/>
                </a:solidFill>
                <a:latin typeface="Courier New"/>
                <a:ea typeface="Courier New"/>
                <a:cs typeface="Courier New"/>
                <a:sym typeface="Courier New"/>
              </a:rPr>
              <a:t>6</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with:</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python-version: ${{ matrix.python-version }}</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run: pip install -r requirements.txt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run: pytest</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GitHub runs this job TWICE, in parallel:</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one VM with Python 3.11, one with 3.12. Both must pass.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1"/>
        <p:cNvGrpSpPr/>
        <p:nvPr/>
      </p:nvGrpSpPr>
      <p:grpSpPr>
        <a:xfrm>
          <a:off x="0" y="0"/>
          <a:ext cx="0" cy="0"/>
          <a:chOff x="0" y="0"/>
          <a:chExt cx="0" cy="0"/>
        </a:xfrm>
      </p:grpSpPr>
      <p:sp>
        <p:nvSpPr>
          <p:cNvPr id="282" name="Google Shape;282;g3e9a67dddcc_0_72"/>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Lint and format checks are jobs too</a:t>
            </a:r>
            <a:endParaRPr/>
          </a:p>
        </p:txBody>
      </p:sp>
      <p:sp>
        <p:nvSpPr>
          <p:cNvPr id="283" name="Google Shape;283;g3e9a67dddcc_0_72"/>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YAML</a:t>
            </a:r>
            <a:endParaRPr/>
          </a:p>
        </p:txBody>
      </p:sp>
      <p:sp>
        <p:nvSpPr>
          <p:cNvPr id="284" name="Google Shape;284;g3e9a67dddcc_0_72"/>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5" name="Google Shape;285;g3e9a67dddcc_0_72"/>
          <p:cNvSpPr txBox="1"/>
          <p:nvPr/>
        </p:nvSpPr>
        <p:spPr>
          <a:xfrm>
            <a:off x="1005840" y="1645920"/>
            <a:ext cx="10179900" cy="2719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333344"/>
                </a:solidFill>
                <a:latin typeface="Courier New"/>
                <a:ea typeface="Courier New"/>
                <a:cs typeface="Courier New"/>
                <a:sym typeface="Courier New"/>
              </a:rPr>
              <a:t># Two jobs in one workflow file - they run in parallel.</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jobs:</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test: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runs-on: ubuntu-latest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steps:</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uses: actions/checkout@v</a:t>
            </a:r>
            <a:r>
              <a:rPr lang="en-US" b="1">
                <a:solidFill>
                  <a:srgbClr val="333344"/>
                </a:solidFill>
                <a:latin typeface="Courier New"/>
                <a:ea typeface="Courier New"/>
                <a:cs typeface="Courier New"/>
                <a:sym typeface="Courier New"/>
              </a:rPr>
              <a:t>6</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uses: actions/setup-python@v</a:t>
            </a:r>
            <a:r>
              <a:rPr lang="en-US" b="1">
                <a:solidFill>
                  <a:srgbClr val="333344"/>
                </a:solidFill>
                <a:latin typeface="Courier New"/>
                <a:ea typeface="Courier New"/>
                <a:cs typeface="Courier New"/>
                <a:sym typeface="Courier New"/>
              </a:rPr>
              <a:t>6</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with: { python-version: "3.12"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run: pip install -r requirements.txt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run: pytest</a:t>
            </a:r>
            <a:endParaRPr/>
          </a:p>
          <a:p>
            <a:pPr marL="0" marR="0" lvl="0" indent="0" algn="l" rtl="0">
              <a:spcBef>
                <a:spcPts val="20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0"/>
        <p:cNvGrpSpPr/>
        <p:nvPr/>
      </p:nvGrpSpPr>
      <p:grpSpPr>
        <a:xfrm>
          <a:off x="0" y="0"/>
          <a:ext cx="0" cy="0"/>
          <a:chOff x="0" y="0"/>
          <a:chExt cx="0" cy="0"/>
        </a:xfrm>
      </p:grpSpPr>
      <p:sp>
        <p:nvSpPr>
          <p:cNvPr id="291" name="Google Shape;291;p1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Lint and format checks are jobs too</a:t>
            </a:r>
            <a:endParaRPr/>
          </a:p>
        </p:txBody>
      </p:sp>
      <p:sp>
        <p:nvSpPr>
          <p:cNvPr id="292" name="Google Shape;292;p16"/>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YAML</a:t>
            </a:r>
            <a:endParaRPr/>
          </a:p>
        </p:txBody>
      </p:sp>
      <p:sp>
        <p:nvSpPr>
          <p:cNvPr id="293" name="Google Shape;293;p16"/>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4" name="Google Shape;294;p16"/>
          <p:cNvSpPr txBox="1"/>
          <p:nvPr/>
        </p:nvSpPr>
        <p:spPr>
          <a:xfrm>
            <a:off x="1005840" y="1645920"/>
            <a:ext cx="10179900" cy="4648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333344"/>
                </a:solidFill>
                <a:latin typeface="Courier New"/>
                <a:ea typeface="Courier New"/>
                <a:cs typeface="Courier New"/>
                <a:sym typeface="Courier New"/>
              </a:rPr>
              <a:t># Two jobs in one workflow file - they run in parallel.</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jobs:</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test: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runs-on: ubuntu-latest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steps:</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uses: actions/checkout@v</a:t>
            </a:r>
            <a:r>
              <a:rPr lang="en-US" b="1">
                <a:solidFill>
                  <a:srgbClr val="333344"/>
                </a:solidFill>
                <a:latin typeface="Courier New"/>
                <a:ea typeface="Courier New"/>
                <a:cs typeface="Courier New"/>
                <a:sym typeface="Courier New"/>
              </a:rPr>
              <a:t>6</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uses: actions/setup-python@v</a:t>
            </a:r>
            <a:r>
              <a:rPr lang="en-US" b="1">
                <a:solidFill>
                  <a:srgbClr val="333344"/>
                </a:solidFill>
                <a:latin typeface="Courier New"/>
                <a:ea typeface="Courier New"/>
                <a:cs typeface="Courier New"/>
                <a:sym typeface="Courier New"/>
              </a:rPr>
              <a:t>6</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with: { python-version: "3.12"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run: pip install -r requirements.txt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run: pytest</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lint: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runs-on: ubuntu-latest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steps:</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uses: actions/checkout@v</a:t>
            </a:r>
            <a:r>
              <a:rPr lang="en-US" b="1">
                <a:solidFill>
                  <a:srgbClr val="333344"/>
                </a:solidFill>
                <a:latin typeface="Courier New"/>
                <a:ea typeface="Courier New"/>
                <a:cs typeface="Courier New"/>
                <a:sym typeface="Courier New"/>
              </a:rPr>
              <a:t>6</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uses: actions/setup-python@v</a:t>
            </a:r>
            <a:r>
              <a:rPr lang="en-US" b="1">
                <a:solidFill>
                  <a:srgbClr val="333344"/>
                </a:solidFill>
                <a:latin typeface="Courier New"/>
                <a:ea typeface="Courier New"/>
                <a:cs typeface="Courier New"/>
                <a:sym typeface="Courier New"/>
              </a:rPr>
              <a:t>6</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with: { python-version: "3.12"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run: pip install ruff</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run: ruff check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299"/>
        <p:cNvGrpSpPr/>
        <p:nvPr/>
      </p:nvGrpSpPr>
      <p:grpSpPr>
        <a:xfrm>
          <a:off x="0" y="0"/>
          <a:ext cx="0" cy="0"/>
          <a:chOff x="0" y="0"/>
          <a:chExt cx="0" cy="0"/>
        </a:xfrm>
      </p:grpSpPr>
      <p:sp>
        <p:nvSpPr>
          <p:cNvPr id="300" name="Google Shape;300;p17"/>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From CI to CD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5"/>
        <p:cNvGrpSpPr/>
        <p:nvPr/>
      </p:nvGrpSpPr>
      <p:grpSpPr>
        <a:xfrm>
          <a:off x="0" y="0"/>
          <a:ext cx="0" cy="0"/>
          <a:chOff x="0" y="0"/>
          <a:chExt cx="0" cy="0"/>
        </a:xfrm>
      </p:grpSpPr>
      <p:sp>
        <p:nvSpPr>
          <p:cNvPr id="306" name="Google Shape;306;p18"/>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CI, CD, and the pipeline</a:t>
            </a:r>
            <a:endParaRPr/>
          </a:p>
        </p:txBody>
      </p:sp>
      <p:sp>
        <p:nvSpPr>
          <p:cNvPr id="307" name="Google Shape;307;p18"/>
          <p:cNvSpPr txBox="1"/>
          <p:nvPr/>
        </p:nvSpPr>
        <p:spPr>
          <a:xfrm>
            <a:off x="914400" y="1463040"/>
            <a:ext cx="10362900" cy="443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Two terms: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CI (Continuous Integration)</a:t>
            </a:r>
            <a:r>
              <a:rPr lang="en-US" sz="2000" b="0" i="0" u="none" strike="noStrike" cap="none">
                <a:solidFill>
                  <a:srgbClr val="666677"/>
                </a:solidFill>
                <a:latin typeface="Calibri"/>
                <a:ea typeface="Calibri"/>
                <a:cs typeface="Calibri"/>
                <a:sym typeface="Calibri"/>
              </a:rPr>
              <a:t> - run tests automatically 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every change. What we just set up.</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CD (Continuous Deployment)</a:t>
            </a:r>
            <a:r>
              <a:rPr lang="en-US" sz="2000" b="0" i="0" u="none" strike="noStrike" cap="none">
                <a:solidFill>
                  <a:srgbClr val="666677"/>
                </a:solidFill>
                <a:latin typeface="Calibri"/>
                <a:ea typeface="Calibri"/>
                <a:cs typeface="Calibri"/>
                <a:sym typeface="Calibri"/>
              </a:rPr>
              <a:t> - deploy automatically when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tests pass. What you want, but not yet what you have.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ideal pipeline: </a:t>
            </a:r>
            <a:r>
              <a:rPr lang="en-US" sz="2400" b="1" i="0" u="none" strike="noStrike" cap="none">
                <a:solidFill>
                  <a:srgbClr val="333344"/>
                </a:solidFill>
                <a:latin typeface="Courier Prime"/>
                <a:ea typeface="Courier Prime"/>
                <a:cs typeface="Courier Prime"/>
                <a:sym typeface="Courier Prime"/>
              </a:rPr>
              <a:t>git push</a:t>
            </a:r>
            <a:r>
              <a:rPr lang="en-US" sz="2400" b="0" i="0" u="none" strike="noStrike" cap="none">
                <a:solidFill>
                  <a:srgbClr val="333344"/>
                </a:solidFill>
                <a:latin typeface="Calibri"/>
                <a:ea typeface="Calibri"/>
                <a:cs typeface="Calibri"/>
                <a:sym typeface="Calibri"/>
              </a:rPr>
              <a:t> -&gt; CI runs tests -&gt; tests pass -&gt; Railway deploys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Tests fail -&gt; nothing deploys.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Right now, Railway deploys on every push </a:t>
            </a:r>
            <a:r>
              <a:rPr lang="en-US" sz="2400" b="1" i="0" u="none" strike="noStrike" cap="none">
                <a:solidFill>
                  <a:srgbClr val="333344"/>
                </a:solidFill>
                <a:latin typeface="Calibri"/>
                <a:ea typeface="Calibri"/>
                <a:cs typeface="Calibri"/>
                <a:sym typeface="Calibri"/>
              </a:rPr>
              <a:t>regardless</a:t>
            </a:r>
            <a:r>
              <a:rPr lang="en-US" sz="2400" b="0" i="0" u="none" strike="noStrike" cap="none">
                <a:solidFill>
                  <a:srgbClr val="333344"/>
                </a:solidFill>
                <a:latin typeface="Calibri"/>
                <a:ea typeface="Calibri"/>
                <a:cs typeface="Calibri"/>
                <a:sym typeface="Calibri"/>
              </a:rPr>
              <a:t> of CI result.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That's backwards. Time to make passing CI a prereq</a:t>
            </a:r>
            <a:r>
              <a:rPr lang="en-US"/>
              <a:t> </a:t>
            </a:r>
            <a:r>
              <a:rPr lang="en-US" sz="2000" b="0" i="0" u="none" strike="noStrike" cap="none">
                <a:solidFill>
                  <a:srgbClr val="666677"/>
                </a:solidFill>
                <a:latin typeface="Calibri"/>
                <a:ea typeface="Calibri"/>
                <a:cs typeface="Calibri"/>
                <a:sym typeface="Calibri"/>
              </a:rPr>
              <a:t>for anything reaching main.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2"/>
        <p:cNvGrpSpPr/>
        <p:nvPr/>
      </p:nvGrpSpPr>
      <p:grpSpPr>
        <a:xfrm>
          <a:off x="0" y="0"/>
          <a:ext cx="0" cy="0"/>
          <a:chOff x="0" y="0"/>
          <a:chExt cx="0" cy="0"/>
        </a:xfrm>
      </p:grpSpPr>
      <p:sp>
        <p:nvSpPr>
          <p:cNvPr id="313" name="Google Shape;313;p19"/>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CD without a PaaS: CI builds the image</a:t>
            </a:r>
            <a:endParaRPr/>
          </a:p>
        </p:txBody>
      </p:sp>
      <p:sp>
        <p:nvSpPr>
          <p:cNvPr id="314" name="Google Shape;314;p19"/>
          <p:cNvSpPr txBox="1"/>
          <p:nvPr/>
        </p:nvSpPr>
        <p:spPr>
          <a:xfrm>
            <a:off x="914399" y="1280160"/>
            <a:ext cx="10362895" cy="53860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Railway does the whole deploy: it sees your push, builds the image,</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and runs it. Your CI workflow just gates what reaches main.</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Without a PaaS, nothing builds or ships the image on its own. You add</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it to the pipeline yourself, as one more job in the workflow:</a:t>
            </a:r>
            <a:endParaRPr sz="2000" b="0" i="0" u="none" strike="noStrike" cap="none" dirty="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On push to `main`, the job runs `docker build`, then `docker push`</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the image to a registry (GHCR is free for your repo).</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Your server then `docker pull`s the new image and restarts.</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That runner is 8.1's build machine - a container building a container.</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Either way, you end up with the pipeline you want</a:t>
            </a:r>
            <a:endParaRPr dirty="0"/>
          </a:p>
          <a:p>
            <a:pPr marL="457200" lvl="1">
              <a:spcBef>
                <a:spcPts val="600"/>
              </a:spcBef>
            </a:pPr>
            <a:r>
              <a:rPr lang="en-US" sz="2000" b="0" i="0" u="none" strike="noStrike" cap="none" dirty="0">
                <a:solidFill>
                  <a:srgbClr val="666677"/>
                </a:solidFill>
                <a:latin typeface="Calibri"/>
                <a:ea typeface="Calibri"/>
                <a:cs typeface="Calibri"/>
                <a:sym typeface="Calibri"/>
              </a:rPr>
              <a:t>CI has to pass before any image reaches the server.</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9"/>
        <p:cNvGrpSpPr/>
        <p:nvPr/>
      </p:nvGrpSpPr>
      <p:grpSpPr>
        <a:xfrm>
          <a:off x="0" y="0"/>
          <a:ext cx="0" cy="0"/>
          <a:chOff x="0" y="0"/>
          <a:chExt cx="0" cy="0"/>
        </a:xfrm>
      </p:grpSpPr>
      <p:sp>
        <p:nvSpPr>
          <p:cNvPr id="320" name="Google Shape;320;g3e9a67dddcc_0_6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Branch protection: the gate</a:t>
            </a:r>
            <a:endParaRPr/>
          </a:p>
        </p:txBody>
      </p:sp>
      <p:sp>
        <p:nvSpPr>
          <p:cNvPr id="321" name="Google Shape;321;g3e9a67dddcc_0_66"/>
          <p:cNvSpPr txBox="1"/>
          <p:nvPr/>
        </p:nvSpPr>
        <p:spPr>
          <a:xfrm>
            <a:off x="914400" y="1463040"/>
            <a:ext cx="10362900" cy="3632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The fix is </a:t>
            </a:r>
            <a:r>
              <a:rPr lang="en-US" sz="2400" b="1" i="0" u="none" strike="noStrike" cap="none">
                <a:solidFill>
                  <a:srgbClr val="333344"/>
                </a:solidFill>
                <a:latin typeface="Calibri"/>
                <a:ea typeface="Calibri"/>
                <a:cs typeface="Calibri"/>
                <a:sym typeface="Calibri"/>
              </a:rPr>
              <a:t>branch protection</a:t>
            </a:r>
            <a:r>
              <a:rPr lang="en-US" sz="2400" b="0" i="0" u="none" strike="noStrike" cap="none">
                <a:solidFill>
                  <a:srgbClr val="333344"/>
                </a:solidFill>
                <a:latin typeface="Calibri"/>
                <a:ea typeface="Calibri"/>
                <a:cs typeface="Calibri"/>
                <a:sym typeface="Calibri"/>
              </a:rPr>
              <a:t> - a GitHub setting.</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Repo Settings -&gt; Branches -&gt; Add rule for `main`: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Require pull requests before merging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Require status checks to pass before merging</a:t>
            </a:r>
            <a:r>
              <a:rPr lang="en-US"/>
              <a:t> </a:t>
            </a:r>
            <a:r>
              <a:rPr lang="en-US" sz="2000" b="0" i="0" u="none" strike="noStrike" cap="none">
                <a:solidFill>
                  <a:srgbClr val="666677"/>
                </a:solidFill>
                <a:latin typeface="Calibri"/>
                <a:ea typeface="Calibri"/>
                <a:cs typeface="Calibri"/>
                <a:sym typeface="Calibri"/>
              </a:rPr>
              <a:t>-&gt; pick your `Tests` workflow</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Now the rule is that </a:t>
            </a:r>
            <a:r>
              <a:rPr lang="en-US" sz="2400" b="1" i="0" u="none" strike="noStrike" cap="none">
                <a:solidFill>
                  <a:srgbClr val="333344"/>
                </a:solidFill>
                <a:latin typeface="Calibri"/>
                <a:ea typeface="Calibri"/>
                <a:cs typeface="Calibri"/>
                <a:sym typeface="Calibri"/>
              </a:rPr>
              <a:t>nothing lands on main unless CI is green</a:t>
            </a:r>
            <a:r>
              <a:rPr lang="en-US" sz="2400" b="0" i="0" u="none" strike="noStrike" cap="none">
                <a:solidFill>
                  <a:srgbClr val="333344"/>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GitHub enforces it for you.</a:t>
            </a:r>
            <a:endParaRPr/>
          </a:p>
          <a:p>
            <a:pPr marL="457200" marR="0" lvl="1" indent="0" algn="l" rtl="0">
              <a:spcBef>
                <a:spcPts val="600"/>
              </a:spcBef>
              <a:spcAft>
                <a:spcPts val="0"/>
              </a:spcAft>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6"/>
        <p:cNvGrpSpPr/>
        <p:nvPr/>
      </p:nvGrpSpPr>
      <p:grpSpPr>
        <a:xfrm>
          <a:off x="0" y="0"/>
          <a:ext cx="0" cy="0"/>
          <a:chOff x="0" y="0"/>
          <a:chExt cx="0" cy="0"/>
        </a:xfrm>
      </p:grpSpPr>
      <p:sp>
        <p:nvSpPr>
          <p:cNvPr id="327" name="Google Shape;327;p20"/>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Branch protection: the gate</a:t>
            </a:r>
            <a:endParaRPr/>
          </a:p>
        </p:txBody>
      </p:sp>
      <p:sp>
        <p:nvSpPr>
          <p:cNvPr id="328" name="Google Shape;328;p20"/>
          <p:cNvSpPr txBox="1"/>
          <p:nvPr/>
        </p:nvSpPr>
        <p:spPr>
          <a:xfrm>
            <a:off x="914400" y="1463040"/>
            <a:ext cx="10362900" cy="494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The fix is </a:t>
            </a:r>
            <a:r>
              <a:rPr lang="en-US" sz="2400" b="1" i="0" u="none" strike="noStrike" cap="none">
                <a:solidFill>
                  <a:srgbClr val="333344"/>
                </a:solidFill>
                <a:latin typeface="Calibri"/>
                <a:ea typeface="Calibri"/>
                <a:cs typeface="Calibri"/>
                <a:sym typeface="Calibri"/>
              </a:rPr>
              <a:t>branch protection</a:t>
            </a:r>
            <a:r>
              <a:rPr lang="en-US" sz="2400" b="0" i="0" u="none" strike="noStrike" cap="none">
                <a:solidFill>
                  <a:srgbClr val="333344"/>
                </a:solidFill>
                <a:latin typeface="Calibri"/>
                <a:ea typeface="Calibri"/>
                <a:cs typeface="Calibri"/>
                <a:sym typeface="Calibri"/>
              </a:rPr>
              <a:t> - a GitHub setting.</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Repo Settings -&gt; Branches -&gt; Add rule for `main`: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Require pull requests before merging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Require status checks to pass before merging</a:t>
            </a:r>
            <a:r>
              <a:rPr lang="en-US"/>
              <a:t> </a:t>
            </a:r>
            <a:r>
              <a:rPr lang="en-US" sz="2000" b="0" i="0" u="none" strike="noStrike" cap="none">
                <a:solidFill>
                  <a:srgbClr val="666677"/>
                </a:solidFill>
                <a:latin typeface="Calibri"/>
                <a:ea typeface="Calibri"/>
                <a:cs typeface="Calibri"/>
                <a:sym typeface="Calibri"/>
              </a:rPr>
              <a:t>-&gt; pick your `Tests` workflow</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Now the rule is that </a:t>
            </a:r>
            <a:r>
              <a:rPr lang="en-US" sz="2400" b="1" i="0" u="none" strike="noStrike" cap="none">
                <a:solidFill>
                  <a:srgbClr val="333344"/>
                </a:solidFill>
                <a:latin typeface="Calibri"/>
                <a:ea typeface="Calibri"/>
                <a:cs typeface="Calibri"/>
                <a:sym typeface="Calibri"/>
              </a:rPr>
              <a:t>nothing lands on main unless CI is green</a:t>
            </a:r>
            <a:r>
              <a:rPr lang="en-US" sz="2400" b="0" i="0" u="none" strike="noStrike" cap="none">
                <a:solidFill>
                  <a:srgbClr val="333344"/>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GitHub enforces it for you.</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Railway still auto-deploys on every push to main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No push to main happens unless the PR's CI is green.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Railway only </a:t>
            </a:r>
            <a:r>
              <a:rPr lang="en-US" sz="2000" b="0" i="0" u="none" strike="noStrike" cap="none">
                <a:solidFill>
                  <a:srgbClr val="666677"/>
                </a:solidFill>
                <a:latin typeface="Calibri"/>
                <a:ea typeface="Calibri"/>
                <a:cs typeface="Calibri"/>
                <a:sym typeface="Calibri"/>
              </a:rPr>
              <a:t>ever sees commits that passed. CD gated on CI, with </a:t>
            </a:r>
            <a:r>
              <a:rPr lang="en-US" sz="2000">
                <a:solidFill>
                  <a:srgbClr val="666677"/>
                </a:solidFill>
                <a:latin typeface="Calibri"/>
                <a:ea typeface="Calibri"/>
                <a:cs typeface="Calibri"/>
                <a:sym typeface="Calibri"/>
              </a:rPr>
              <a:t>no </a:t>
            </a:r>
            <a:r>
              <a:rPr lang="en-US" sz="2000" b="0" i="0" u="none" strike="noStrike" cap="none">
                <a:solidFill>
                  <a:srgbClr val="666677"/>
                </a:solidFill>
                <a:latin typeface="Calibri"/>
                <a:ea typeface="Calibri"/>
                <a:cs typeface="Calibri"/>
                <a:sym typeface="Calibri"/>
              </a:rPr>
              <a:t>Railway configuration.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3"/>
        <p:cNvGrpSpPr/>
        <p:nvPr/>
      </p:nvGrpSpPr>
      <p:grpSpPr>
        <a:xfrm>
          <a:off x="0" y="0"/>
          <a:ext cx="0" cy="0"/>
          <a:chOff x="0" y="0"/>
          <a:chExt cx="0" cy="0"/>
        </a:xfrm>
      </p:grpSpPr>
      <p:sp>
        <p:nvSpPr>
          <p:cNvPr id="334" name="Google Shape;334;p21"/>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Spot the bug</a:t>
            </a:r>
            <a:endParaRPr/>
          </a:p>
        </p:txBody>
      </p:sp>
      <p:sp>
        <p:nvSpPr>
          <p:cNvPr id="335" name="Google Shape;335;p21"/>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YAML</a:t>
            </a:r>
            <a:endParaRPr/>
          </a:p>
        </p:txBody>
      </p:sp>
      <p:sp>
        <p:nvSpPr>
          <p:cNvPr id="336" name="Google Shape;336;p21"/>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7" name="Google Shape;337;p21"/>
          <p:cNvSpPr txBox="1"/>
          <p:nvPr/>
        </p:nvSpPr>
        <p:spPr>
          <a:xfrm>
            <a:off x="1005840" y="1645920"/>
            <a:ext cx="10179900" cy="4581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i="0" u="none" strike="noStrike" cap="none" dirty="0">
                <a:solidFill>
                  <a:srgbClr val="333344"/>
                </a:solidFill>
                <a:latin typeface="Courier New"/>
                <a:ea typeface="Courier New"/>
                <a:cs typeface="Courier New"/>
                <a:sym typeface="Courier New"/>
              </a:rPr>
              <a:t># .</a:t>
            </a:r>
            <a:r>
              <a:rPr lang="en-US" sz="1300" b="1" i="0" u="none" strike="noStrike" cap="none" dirty="0" err="1">
                <a:solidFill>
                  <a:srgbClr val="333344"/>
                </a:solidFill>
                <a:latin typeface="Courier New"/>
                <a:ea typeface="Courier New"/>
                <a:cs typeface="Courier New"/>
                <a:sym typeface="Courier New"/>
              </a:rPr>
              <a:t>github</a:t>
            </a:r>
            <a:r>
              <a:rPr lang="en-US" sz="1300" b="1" i="0" u="none" strike="noStrike" cap="none" dirty="0">
                <a:solidFill>
                  <a:srgbClr val="333344"/>
                </a:solidFill>
                <a:latin typeface="Courier New"/>
                <a:ea typeface="Courier New"/>
                <a:cs typeface="Courier New"/>
                <a:sym typeface="Courier New"/>
              </a:rPr>
              <a:t>/workflows/</a:t>
            </a:r>
            <a:r>
              <a:rPr lang="en-US" sz="1300" b="1" i="0" u="none" strike="noStrike" cap="none" dirty="0" err="1">
                <a:solidFill>
                  <a:srgbClr val="333344"/>
                </a:solidFill>
                <a:latin typeface="Courier New"/>
                <a:ea typeface="Courier New"/>
                <a:cs typeface="Courier New"/>
                <a:sym typeface="Courier New"/>
              </a:rPr>
              <a:t>deploy.yml</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jobs:</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deploy:</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runs-on: ubuntu-latest</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steps:</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 uses: actions/checkout@v</a:t>
            </a:r>
            <a:r>
              <a:rPr lang="en-US" sz="1300" b="1" dirty="0">
                <a:solidFill>
                  <a:srgbClr val="333344"/>
                </a:solidFill>
                <a:latin typeface="Courier New"/>
                <a:ea typeface="Courier New"/>
                <a:cs typeface="Courier New"/>
                <a:sym typeface="Courier New"/>
              </a:rPr>
              <a:t>6</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 name: Ship a release</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env:</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API_KEY: sk-live-9f3a8d2b7c1e4f5a6b9d0e2f</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run: |</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echo "Deploying with key: $API_KEY"</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curl -X POST https://</a:t>
            </a:r>
            <a:r>
              <a:rPr lang="en-US" sz="1300" b="1" i="0" u="none" strike="noStrike" cap="none" dirty="0" err="1">
                <a:solidFill>
                  <a:srgbClr val="333344"/>
                </a:solidFill>
                <a:latin typeface="Courier New"/>
                <a:ea typeface="Courier New"/>
                <a:cs typeface="Courier New"/>
                <a:sym typeface="Courier New"/>
              </a:rPr>
              <a:t>api.example.com</a:t>
            </a:r>
            <a:r>
              <a:rPr lang="en-US" sz="1300" b="1" i="0" u="none" strike="noStrike" cap="none" dirty="0">
                <a:solidFill>
                  <a:srgbClr val="333344"/>
                </a:solidFill>
                <a:latin typeface="Courier New"/>
                <a:ea typeface="Courier New"/>
                <a:cs typeface="Courier New"/>
                <a:sym typeface="Courier New"/>
              </a:rPr>
              <a:t>/deploy \</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-H "Authorization: Bearer $API_KEY"</a:t>
            </a:r>
            <a:endParaRPr dirty="0"/>
          </a:p>
          <a:p>
            <a:pPr marL="0" marR="0" lvl="0" indent="0" algn="l" rtl="0">
              <a:spcBef>
                <a:spcPts val="200"/>
              </a:spcBef>
              <a:spcAft>
                <a:spcPts val="0"/>
              </a:spcAft>
              <a:buNone/>
            </a:pPr>
            <a:endParaRPr sz="1300" b="1" i="0" u="none" strike="noStrike" cap="none" dirty="0">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What's wrong here?</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(a)  nothing - env: is how you pass values to a step</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(b)  the secret lives in the YAML, which lives in your repo</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(c)  echo prints it to the build log - public for any PR</a:t>
            </a:r>
            <a:endParaRPr dirty="0"/>
          </a:p>
          <a:p>
            <a:pPr marL="0" marR="0" lvl="0" indent="0" algn="l" rtl="0">
              <a:spcBef>
                <a:spcPts val="200"/>
              </a:spcBef>
              <a:spcAft>
                <a:spcPts val="0"/>
              </a:spcAft>
              <a:buNone/>
            </a:pPr>
            <a:r>
              <a:rPr lang="en-US" sz="1300" b="1" i="0" u="none" strike="noStrike" cap="none" dirty="0">
                <a:solidFill>
                  <a:srgbClr val="333344"/>
                </a:solidFill>
                <a:latin typeface="Courier New"/>
                <a:ea typeface="Courier New"/>
                <a:cs typeface="Courier New"/>
                <a:sym typeface="Courier New"/>
              </a:rPr>
              <a:t>#   (d)  both (b) and (c)</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2"/>
        <p:cNvGrpSpPr/>
        <p:nvPr/>
      </p:nvGrpSpPr>
      <p:grpSpPr>
        <a:xfrm>
          <a:off x="0" y="0"/>
          <a:ext cx="0" cy="0"/>
          <a:chOff x="0" y="0"/>
          <a:chExt cx="0" cy="0"/>
        </a:xfrm>
      </p:grpSpPr>
      <p:sp>
        <p:nvSpPr>
          <p:cNvPr id="343" name="Google Shape;343;g3e9a67dddcc_0_6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Keep secrets out of the workflow file</a:t>
            </a:r>
            <a:endParaRPr/>
          </a:p>
        </p:txBody>
      </p:sp>
      <p:sp>
        <p:nvSpPr>
          <p:cNvPr id="344" name="Google Shape;344;g3e9a67dddcc_0_60"/>
          <p:cNvSpPr txBox="1"/>
          <p:nvPr/>
        </p:nvSpPr>
        <p:spPr>
          <a:xfrm>
            <a:off x="914400" y="1463040"/>
            <a:ext cx="10362900" cy="4371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Two rules that make this safe by default:</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Never put real values in the YAML.</a:t>
            </a:r>
            <a:r>
              <a:rPr lang="en-US" sz="2000" b="0" i="0" u="none" strike="noStrike" cap="none">
                <a:solidFill>
                  <a:srgbClr val="666677"/>
                </a:solidFill>
                <a:latin typeface="Calibri"/>
                <a:ea typeface="Calibri"/>
                <a:cs typeface="Calibri"/>
                <a:sym typeface="Calibri"/>
              </a:rPr>
              <a:t> Anything in `.github/workflows/`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is in your repo, visible to anyone with read access, and stays in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git history forever - renaming the key later doesn't help.</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Put them in Settings -&gt; Secrets and variables -&gt; Actions.</a:t>
            </a:r>
            <a:r>
              <a:rPr lang="en-US" sz="2000" b="0" i="0" u="none" strike="noStrike" cap="none">
                <a:solidFill>
                  <a:srgbClr val="666677"/>
                </a:solidFill>
                <a:latin typeface="Calibri"/>
                <a:ea typeface="Calibri"/>
                <a:cs typeface="Calibri"/>
                <a:sym typeface="Calibri"/>
              </a:rPr>
              <a:t> GitHub</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encrypts them at rest, injects them at runtime, and </a:t>
            </a:r>
            <a:r>
              <a:rPr lang="en-US" sz="2000" b="1" i="0" u="none" strike="noStrike" cap="none">
                <a:solidFill>
                  <a:srgbClr val="666677"/>
                </a:solidFill>
                <a:latin typeface="Calibri"/>
                <a:ea typeface="Calibri"/>
                <a:cs typeface="Calibri"/>
                <a:sym typeface="Calibri"/>
              </a:rPr>
              <a:t>masks them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in build logs. Reference them as `${{ secrets.API_KEY }}`.</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And don't `echo` or log a secret even after you've stored it properly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masking is a safety net, not a feature.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9"/>
        <p:cNvGrpSpPr/>
        <p:nvPr/>
      </p:nvGrpSpPr>
      <p:grpSpPr>
        <a:xfrm>
          <a:off x="0" y="0"/>
          <a:ext cx="0" cy="0"/>
          <a:chOff x="0" y="0"/>
          <a:chExt cx="0" cy="0"/>
        </a:xfrm>
      </p:grpSpPr>
      <p:sp>
        <p:nvSpPr>
          <p:cNvPr id="350" name="Google Shape;350;p22"/>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Keep secrets out of the workflow file</a:t>
            </a:r>
            <a:endParaRPr/>
          </a:p>
        </p:txBody>
      </p:sp>
      <p:sp>
        <p:nvSpPr>
          <p:cNvPr id="351" name="Google Shape;351;p22"/>
          <p:cNvSpPr txBox="1"/>
          <p:nvPr/>
        </p:nvSpPr>
        <p:spPr>
          <a:xfrm>
            <a:off x="914400" y="1463040"/>
            <a:ext cx="10362900" cy="475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Two rules that make this safe by default:</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Never put real values in the YAML.</a:t>
            </a:r>
            <a:r>
              <a:rPr lang="en-US" sz="2000" b="0" i="0" u="none" strike="noStrike" cap="none">
                <a:solidFill>
                  <a:srgbClr val="666677"/>
                </a:solidFill>
                <a:latin typeface="Calibri"/>
                <a:ea typeface="Calibri"/>
                <a:cs typeface="Calibri"/>
                <a:sym typeface="Calibri"/>
              </a:rPr>
              <a:t> Anything in `.github/workflows/`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is in your repo, visible to anyone with read access, and stays in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git history forever - renaming the key later doesn't help.</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Put them in Settings -&gt; Secrets and variables -&gt; Actions.</a:t>
            </a:r>
            <a:r>
              <a:rPr lang="en-US" sz="2000" b="0" i="0" u="none" strike="noStrike" cap="none">
                <a:solidFill>
                  <a:srgbClr val="666677"/>
                </a:solidFill>
                <a:latin typeface="Calibri"/>
                <a:ea typeface="Calibri"/>
                <a:cs typeface="Calibri"/>
                <a:sym typeface="Calibri"/>
              </a:rPr>
              <a:t> GitHub</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encrypts them at rest, injects them at runtime, and </a:t>
            </a:r>
            <a:r>
              <a:rPr lang="en-US" sz="2000" b="1" i="0" u="none" strike="noStrike" cap="none">
                <a:solidFill>
                  <a:srgbClr val="666677"/>
                </a:solidFill>
                <a:latin typeface="Calibri"/>
                <a:ea typeface="Calibri"/>
                <a:cs typeface="Calibri"/>
                <a:sym typeface="Calibri"/>
              </a:rPr>
              <a:t>masks them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in build logs. Reference them as `${{ secrets.API_KEY }}`.</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And don't `echo` or log a secret even after you've stored it properly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masking is a safety net, not a feature. </a:t>
            </a:r>
            <a:endParaRPr/>
          </a:p>
          <a:p>
            <a:pPr marL="457200" marR="0" lvl="1" indent="0" algn="l" rtl="0">
              <a:spcBef>
                <a:spcPts val="600"/>
              </a:spcBef>
              <a:spcAft>
                <a:spcPts val="0"/>
              </a:spcAft>
              <a:buNone/>
            </a:pPr>
            <a:r>
              <a:rPr lang="en-US" sz="2000" b="1" i="0" u="none" strike="noStrike" cap="none">
                <a:solidFill>
                  <a:srgbClr val="666677"/>
                </a:solidFill>
                <a:latin typeface="Calibri"/>
                <a:ea typeface="Calibri"/>
                <a:cs typeface="Calibri"/>
                <a:sym typeface="Calibri"/>
              </a:rPr>
              <a:t>  </a:t>
            </a:r>
            <a:r>
              <a:rPr lang="en-US" sz="2000" b="1">
                <a:solidFill>
                  <a:srgbClr val="666677"/>
                </a:solidFill>
                <a:latin typeface="Calibri"/>
                <a:ea typeface="Calibri"/>
                <a:cs typeface="Calibri"/>
                <a:sym typeface="Calibri"/>
              </a:rPr>
              <a:t>Treat the build log as public, </a:t>
            </a:r>
            <a:r>
              <a:rPr lang="en-US" sz="2000" b="1" i="0" u="none" strike="noStrike" cap="none">
                <a:solidFill>
                  <a:srgbClr val="666677"/>
                </a:solidFill>
                <a:latin typeface="Calibri"/>
                <a:ea typeface="Calibri"/>
                <a:cs typeface="Calibri"/>
                <a:sym typeface="Calibri"/>
              </a:rPr>
              <a:t>because for a public repo it literally is.</a:t>
            </a:r>
            <a:endParaRPr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6"/>
        <p:cNvGrpSpPr/>
        <p:nvPr/>
      </p:nvGrpSpPr>
      <p:grpSpPr>
        <a:xfrm>
          <a:off x="0" y="0"/>
          <a:ext cx="0" cy="0"/>
          <a:chOff x="0" y="0"/>
          <a:chExt cx="0" cy="0"/>
        </a:xfrm>
      </p:grpSpPr>
      <p:sp>
        <p:nvSpPr>
          <p:cNvPr id="357" name="Google Shape;357;p23"/>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Do this before you write any features</a:t>
            </a:r>
            <a:endParaRPr/>
          </a:p>
        </p:txBody>
      </p:sp>
      <p:sp>
        <p:nvSpPr>
          <p:cNvPr id="358" name="Google Shape;358;p23"/>
          <p:cNvSpPr txBox="1"/>
          <p:nvPr/>
        </p:nvSpPr>
        <p:spPr>
          <a:xfrm>
            <a:off x="914400" y="1280140"/>
            <a:ext cx="10362900" cy="526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Turn branch protection on for your final project repo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Do this before you start writing features.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Turn it on before you break main, not after - ideally day one,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before the team has anything to argue about.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earlier it's a rule, the earlier it's a habit, and the less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there is to argue about later - it just quietly becomes how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team writes PRs.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This is one of the best things you can do for team sanity.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Saves </a:t>
            </a:r>
            <a:r>
              <a:rPr lang="en-US" sz="2000" b="0" i="0" u="none" strike="noStrike" cap="none">
                <a:solidFill>
                  <a:srgbClr val="666677"/>
                </a:solidFill>
                <a:latin typeface="Calibri"/>
                <a:ea typeface="Calibri"/>
                <a:cs typeface="Calibri"/>
                <a:sym typeface="Calibri"/>
              </a:rPr>
              <a:t>the whole team from the deploy-broke-main spiral that would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otherwise cost you half a day of project time.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363"/>
        <p:cNvGrpSpPr/>
        <p:nvPr/>
      </p:nvGrpSpPr>
      <p:grpSpPr>
        <a:xfrm>
          <a:off x="0" y="0"/>
          <a:ext cx="0" cy="0"/>
          <a:chOff x="0" y="0"/>
          <a:chExt cx="0" cy="0"/>
        </a:xfrm>
      </p:grpSpPr>
      <p:sp>
        <p:nvSpPr>
          <p:cNvPr id="364" name="Google Shape;364;p24"/>
          <p:cNvSpPr txBox="1"/>
          <p:nvPr/>
        </p:nvSpPr>
        <p:spPr>
          <a:xfrm>
            <a:off x="914400" y="2286000"/>
            <a:ext cx="10362900" cy="76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PR Review</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9"/>
        <p:cNvGrpSpPr/>
        <p:nvPr/>
      </p:nvGrpSpPr>
      <p:grpSpPr>
        <a:xfrm>
          <a:off x="0" y="0"/>
          <a:ext cx="0" cy="0"/>
          <a:chOff x="0" y="0"/>
          <a:chExt cx="0" cy="0"/>
        </a:xfrm>
      </p:grpSpPr>
      <p:sp>
        <p:nvSpPr>
          <p:cNvPr id="370" name="Google Shape;370;p25"/>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Your agent isn’t perfect</a:t>
            </a:r>
            <a:endParaRPr/>
          </a:p>
        </p:txBody>
      </p:sp>
      <p:sp>
        <p:nvSpPr>
          <p:cNvPr id="371" name="Google Shape;371;p25"/>
          <p:cNvSpPr txBox="1"/>
          <p:nvPr/>
        </p:nvSpPr>
        <p:spPr>
          <a:xfrm>
            <a:off x="914400" y="1463040"/>
            <a:ext cx="10362900" cy="43713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pull request itself is the part with the conversation. A PR is: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 unit of review.</a:t>
            </a:r>
            <a:r>
              <a:rPr lang="en-US" sz="2000" b="0" i="0" u="none" strike="noStrike" cap="none">
                <a:solidFill>
                  <a:srgbClr val="666677"/>
                </a:solidFill>
                <a:latin typeface="Calibri"/>
                <a:ea typeface="Calibri"/>
                <a:cs typeface="Calibri"/>
                <a:sym typeface="Calibri"/>
              </a:rPr>
              <a:t> Someone other than the author reads the diff.</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 unit of history.</a:t>
            </a:r>
            <a:r>
              <a:rPr lang="en-US" sz="2000" b="0" i="0" u="none" strike="noStrike" cap="none">
                <a:solidFill>
                  <a:srgbClr val="666677"/>
                </a:solidFill>
                <a:latin typeface="Calibri"/>
                <a:ea typeface="Calibri"/>
                <a:cs typeface="Calibri"/>
                <a:sym typeface="Calibri"/>
              </a:rPr>
              <a:t> The PR description becomes the record of</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*why* the change exists - not just *what* changed.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 unit of CI.</a:t>
            </a:r>
            <a:r>
              <a:rPr lang="en-US" sz="2000" b="0" i="0" u="none" strike="noStrike" cap="none">
                <a:solidFill>
                  <a:srgbClr val="666677"/>
                </a:solidFill>
                <a:latin typeface="Calibri"/>
                <a:ea typeface="Calibri"/>
                <a:cs typeface="Calibri"/>
                <a:sym typeface="Calibri"/>
              </a:rPr>
              <a:t> The status checks above run against the merge of</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this branch into main, not just the branch on its own.</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CI catches what tests can catch. Review catches everything else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naming, scope, an API decision that boxes you in two months later.</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a:p>
            <a:pPr marL="0" marR="0" lvl="1" indent="0" algn="l" rtl="0">
              <a:spcBef>
                <a:spcPts val="600"/>
              </a:spcBef>
              <a:spcAft>
                <a:spcPts val="0"/>
              </a:spcAft>
              <a:buNone/>
            </a:pPr>
            <a:endParaRPr sz="2000">
              <a:solidFill>
                <a:srgbClr val="666677"/>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6"/>
        <p:cNvGrpSpPr/>
        <p:nvPr/>
      </p:nvGrpSpPr>
      <p:grpSpPr>
        <a:xfrm>
          <a:off x="0" y="0"/>
          <a:ext cx="0" cy="0"/>
          <a:chOff x="0" y="0"/>
          <a:chExt cx="0" cy="0"/>
        </a:xfrm>
      </p:grpSpPr>
      <p:sp>
        <p:nvSpPr>
          <p:cNvPr id="377" name="Google Shape;377;g3e9a67dddcc_0_54"/>
          <p:cNvSpPr txBox="1"/>
          <p:nvPr/>
        </p:nvSpPr>
        <p:spPr>
          <a:xfrm>
            <a:off x="731520" y="365760"/>
            <a:ext cx="10728600" cy="12006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Font typeface="Arial"/>
              <a:buNone/>
            </a:pPr>
            <a:r>
              <a:rPr lang="en-US" sz="3600" b="1">
                <a:solidFill>
                  <a:srgbClr val="1A1A2E"/>
                </a:solidFill>
                <a:latin typeface="Calibri"/>
                <a:ea typeface="Calibri"/>
                <a:cs typeface="Calibri"/>
                <a:sym typeface="Calibri"/>
              </a:rPr>
              <a:t>Your agent isn’t perfect</a:t>
            </a:r>
            <a:endParaRPr>
              <a:solidFill>
                <a:schemeClr val="dk1"/>
              </a:solidFill>
            </a:endParaRPr>
          </a:p>
          <a:p>
            <a:pPr marL="0" marR="0" lvl="0" indent="0" algn="l" rtl="0">
              <a:spcBef>
                <a:spcPts val="0"/>
              </a:spcBef>
              <a:spcAft>
                <a:spcPts val="0"/>
              </a:spcAft>
              <a:buNone/>
            </a:pPr>
            <a:endParaRPr sz="3600" b="1">
              <a:solidFill>
                <a:srgbClr val="1A1A2E"/>
              </a:solidFill>
              <a:latin typeface="Calibri"/>
              <a:ea typeface="Calibri"/>
              <a:cs typeface="Calibri"/>
              <a:sym typeface="Calibri"/>
            </a:endParaRPr>
          </a:p>
        </p:txBody>
      </p:sp>
      <p:sp>
        <p:nvSpPr>
          <p:cNvPr id="378" name="Google Shape;378;g3e9a67dddcc_0_54"/>
          <p:cNvSpPr txBox="1"/>
          <p:nvPr/>
        </p:nvSpPr>
        <p:spPr>
          <a:xfrm>
            <a:off x="914400" y="1463040"/>
            <a:ext cx="10362900" cy="44331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pull request itself is the part with the conversation. A PR is: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 unit of review.</a:t>
            </a:r>
            <a:r>
              <a:rPr lang="en-US" sz="2000" b="0" i="0" u="none" strike="noStrike" cap="none">
                <a:solidFill>
                  <a:srgbClr val="666677"/>
                </a:solidFill>
                <a:latin typeface="Calibri"/>
                <a:ea typeface="Calibri"/>
                <a:cs typeface="Calibri"/>
                <a:sym typeface="Calibri"/>
              </a:rPr>
              <a:t> Someone other than the author reads the diff.</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 unit of history.</a:t>
            </a:r>
            <a:r>
              <a:rPr lang="en-US" sz="2000" b="0" i="0" u="none" strike="noStrike" cap="none">
                <a:solidFill>
                  <a:srgbClr val="666677"/>
                </a:solidFill>
                <a:latin typeface="Calibri"/>
                <a:ea typeface="Calibri"/>
                <a:cs typeface="Calibri"/>
                <a:sym typeface="Calibri"/>
              </a:rPr>
              <a:t> The PR description becomes the record of</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*why* the change exists - not just *what* changed.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 unit of CI.</a:t>
            </a:r>
            <a:r>
              <a:rPr lang="en-US" sz="2000" b="0" i="0" u="none" strike="noStrike" cap="none">
                <a:solidFill>
                  <a:srgbClr val="666677"/>
                </a:solidFill>
                <a:latin typeface="Calibri"/>
                <a:ea typeface="Calibri"/>
                <a:cs typeface="Calibri"/>
                <a:sym typeface="Calibri"/>
              </a:rPr>
              <a:t> The status checks above run against the merge of</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this branch into main, not just the branch on its own.</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CI catches what tests can catch. Review catches everything else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naming, scope, an API decision that boxes you in two months later.</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a:p>
            <a:pPr marL="0" lvl="0" indent="0" algn="l" rtl="0">
              <a:spcBef>
                <a:spcPts val="600"/>
              </a:spcBef>
              <a:spcAft>
                <a:spcPts val="0"/>
              </a:spcAft>
              <a:buClr>
                <a:schemeClr val="dk1"/>
              </a:buClr>
              <a:buFont typeface="Arial"/>
              <a:buNone/>
            </a:pPr>
            <a:r>
              <a:rPr lang="en-US" sz="2400">
                <a:solidFill>
                  <a:srgbClr val="333344"/>
                </a:solidFill>
                <a:latin typeface="Calibri"/>
                <a:ea typeface="Calibri"/>
                <a:cs typeface="Calibri"/>
                <a:sym typeface="Calibri"/>
              </a:rPr>
              <a:t>Yes, agents can also do PR reviews… </a:t>
            </a:r>
            <a:endParaRPr sz="2000">
              <a:solidFill>
                <a:srgbClr val="666677"/>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3"/>
        <p:cNvGrpSpPr/>
        <p:nvPr/>
      </p:nvGrpSpPr>
      <p:grpSpPr>
        <a:xfrm>
          <a:off x="0" y="0"/>
          <a:ext cx="0" cy="0"/>
          <a:chOff x="0" y="0"/>
          <a:chExt cx="0" cy="0"/>
        </a:xfrm>
      </p:grpSpPr>
      <p:sp>
        <p:nvSpPr>
          <p:cNvPr id="384" name="Google Shape;384;g3e9a67dddcc_0_48"/>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a good PR looks like</a:t>
            </a:r>
            <a:endParaRPr/>
          </a:p>
        </p:txBody>
      </p:sp>
      <p:sp>
        <p:nvSpPr>
          <p:cNvPr id="385" name="Google Shape;385;g3e9a67dddcc_0_48"/>
          <p:cNvSpPr txBox="1"/>
          <p:nvPr/>
        </p:nvSpPr>
        <p:spPr>
          <a:xfrm>
            <a:off x="914400" y="1463040"/>
            <a:ext cx="10362900" cy="40020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Small.</a:t>
            </a:r>
            <a:r>
              <a:rPr lang="en-US" sz="2000" b="0" i="0" u="none" strike="noStrike" cap="none">
                <a:solidFill>
                  <a:srgbClr val="666677"/>
                </a:solidFill>
                <a:latin typeface="Calibri"/>
                <a:ea typeface="Calibri"/>
                <a:cs typeface="Calibri"/>
                <a:sym typeface="Calibri"/>
              </a:rPr>
              <a:t> A few hundred lines max. Bigger diffs get skimmed, and</a:t>
            </a:r>
            <a:r>
              <a:rPr lang="en-US"/>
              <a:t> </a:t>
            </a:r>
            <a:r>
              <a:rPr lang="en-US" sz="2000" b="0" i="0" u="none" strike="noStrike" cap="none">
                <a:solidFill>
                  <a:srgbClr val="666677"/>
                </a:solidFill>
                <a:latin typeface="Calibri"/>
                <a:ea typeface="Calibri"/>
                <a:cs typeface="Calibri"/>
                <a:sym typeface="Calibri"/>
              </a:rPr>
              <a:t>a skim isn't review.</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0"/>
        <p:cNvGrpSpPr/>
        <p:nvPr/>
      </p:nvGrpSpPr>
      <p:grpSpPr>
        <a:xfrm>
          <a:off x="0" y="0"/>
          <a:ext cx="0" cy="0"/>
          <a:chOff x="0" y="0"/>
          <a:chExt cx="0" cy="0"/>
        </a:xfrm>
      </p:grpSpPr>
      <p:sp>
        <p:nvSpPr>
          <p:cNvPr id="391" name="Google Shape;391;g3e9a67dddcc_0_3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a good PR looks like</a:t>
            </a:r>
            <a:endParaRPr/>
          </a:p>
        </p:txBody>
      </p:sp>
      <p:sp>
        <p:nvSpPr>
          <p:cNvPr id="392" name="Google Shape;392;g3e9a67dddcc_0_36"/>
          <p:cNvSpPr txBox="1"/>
          <p:nvPr/>
        </p:nvSpPr>
        <p:spPr>
          <a:xfrm>
            <a:off x="914400" y="1463040"/>
            <a:ext cx="10362900" cy="146220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Small.</a:t>
            </a:r>
            <a:r>
              <a:rPr lang="en-US" sz="2000" b="0" i="0" u="none" strike="noStrike" cap="none">
                <a:solidFill>
                  <a:srgbClr val="666677"/>
                </a:solidFill>
                <a:latin typeface="Calibri"/>
                <a:ea typeface="Calibri"/>
                <a:cs typeface="Calibri"/>
                <a:sym typeface="Calibri"/>
              </a:rPr>
              <a:t> A few hundred lines max. Bigger diffs get skimmed, and</a:t>
            </a:r>
            <a:r>
              <a:rPr lang="en-US"/>
              <a:t> </a:t>
            </a:r>
            <a:r>
              <a:rPr lang="en-US" sz="2000" b="0" i="0" u="none" strike="noStrike" cap="none">
                <a:solidFill>
                  <a:srgbClr val="666677"/>
                </a:solidFill>
                <a:latin typeface="Calibri"/>
                <a:ea typeface="Calibri"/>
                <a:cs typeface="Calibri"/>
                <a:sym typeface="Calibri"/>
              </a:rPr>
              <a:t>a skim isn't review.</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Scoped.</a:t>
            </a:r>
            <a:r>
              <a:rPr lang="en-US" sz="2000" b="0" i="0" u="none" strike="noStrike" cap="none">
                <a:solidFill>
                  <a:srgbClr val="666677"/>
                </a:solidFill>
                <a:latin typeface="Calibri"/>
                <a:ea typeface="Calibri"/>
                <a:cs typeface="Calibri"/>
                <a:sym typeface="Calibri"/>
              </a:rPr>
              <a:t> One thing. "Add login" or "fix the message-ordering bug</a:t>
            </a:r>
            <a:r>
              <a:rPr lang="en-US" sz="2000">
                <a:solidFill>
                  <a:srgbClr val="666677"/>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not "add login + refactor the database + new color scheme."</a:t>
            </a:r>
            <a:endParaRPr/>
          </a:p>
          <a:p>
            <a:pPr marL="457200" marR="0" lvl="1" indent="0" algn="l" rtl="0">
              <a:spcBef>
                <a:spcPts val="600"/>
              </a:spcBef>
              <a:spcAft>
                <a:spcPts val="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7"/>
        <p:cNvGrpSpPr/>
        <p:nvPr/>
      </p:nvGrpSpPr>
      <p:grpSpPr>
        <a:xfrm>
          <a:off x="0" y="0"/>
          <a:ext cx="0" cy="0"/>
          <a:chOff x="0" y="0"/>
          <a:chExt cx="0" cy="0"/>
        </a:xfrm>
      </p:grpSpPr>
      <p:sp>
        <p:nvSpPr>
          <p:cNvPr id="398" name="Google Shape;398;g3e9a67dddcc_0_4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a good PR looks like</a:t>
            </a:r>
            <a:endParaRPr/>
          </a:p>
        </p:txBody>
      </p:sp>
      <p:sp>
        <p:nvSpPr>
          <p:cNvPr id="399" name="Google Shape;399;g3e9a67dddcc_0_42"/>
          <p:cNvSpPr txBox="1"/>
          <p:nvPr/>
        </p:nvSpPr>
        <p:spPr>
          <a:xfrm>
            <a:off x="914400" y="1463040"/>
            <a:ext cx="10362900" cy="223200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Small.</a:t>
            </a:r>
            <a:r>
              <a:rPr lang="en-US" sz="2000" b="0" i="0" u="none" strike="noStrike" cap="none">
                <a:solidFill>
                  <a:srgbClr val="666677"/>
                </a:solidFill>
                <a:latin typeface="Calibri"/>
                <a:ea typeface="Calibri"/>
                <a:cs typeface="Calibri"/>
                <a:sym typeface="Calibri"/>
              </a:rPr>
              <a:t> A few hundred lines max. Bigger diffs get skimmed, and</a:t>
            </a:r>
            <a:r>
              <a:rPr lang="en-US"/>
              <a:t> </a:t>
            </a:r>
            <a:r>
              <a:rPr lang="en-US" sz="2000" b="0" i="0" u="none" strike="noStrike" cap="none">
                <a:solidFill>
                  <a:srgbClr val="666677"/>
                </a:solidFill>
                <a:latin typeface="Calibri"/>
                <a:ea typeface="Calibri"/>
                <a:cs typeface="Calibri"/>
                <a:sym typeface="Calibri"/>
              </a:rPr>
              <a:t>a skim isn't review.</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a:solidFill>
                  <a:srgbClr val="666677"/>
                </a:solidFill>
                <a:latin typeface="Calibri"/>
                <a:ea typeface="Calibri"/>
                <a:cs typeface="Calibri"/>
                <a:sym typeface="Calibri"/>
              </a:rPr>
              <a:t>Scoped.</a:t>
            </a:r>
            <a:r>
              <a:rPr lang="en-US" sz="2000">
                <a:solidFill>
                  <a:srgbClr val="666677"/>
                </a:solidFill>
                <a:latin typeface="Calibri"/>
                <a:ea typeface="Calibri"/>
                <a:cs typeface="Calibri"/>
                <a:sym typeface="Calibri"/>
              </a:rPr>
              <a:t> One thing. "Add login" or "fix the message-ordering bug"</a:t>
            </a:r>
            <a:endParaRPr>
              <a:solidFill>
                <a:schemeClr val="dk1"/>
              </a:solidFill>
            </a:endParaRPr>
          </a:p>
          <a:p>
            <a:pPr marL="457200" lvl="1" indent="0" algn="l" rtl="0">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not "add login + refactor the database + new color scheme."</a:t>
            </a:r>
            <a:endParaRPr sz="2000" b="1">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Described.</a:t>
            </a:r>
            <a:r>
              <a:rPr lang="en-US" sz="2000" b="0" i="0" u="none" strike="noStrike" cap="none">
                <a:solidFill>
                  <a:srgbClr val="666677"/>
                </a:solidFill>
                <a:latin typeface="Calibri"/>
                <a:ea typeface="Calibri"/>
                <a:cs typeface="Calibri"/>
                <a:sym typeface="Calibri"/>
              </a:rPr>
              <a:t> A few sentences in the body: what changes, why,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and anything a reviewer should look at first.</a:t>
            </a:r>
            <a:endParaRPr/>
          </a:p>
          <a:p>
            <a:pPr marL="457200" marR="0" lvl="1" indent="0" algn="l" rtl="0">
              <a:spcBef>
                <a:spcPts val="600"/>
              </a:spcBef>
              <a:spcAft>
                <a:spcPts val="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4"/>
        <p:cNvGrpSpPr/>
        <p:nvPr/>
      </p:nvGrpSpPr>
      <p:grpSpPr>
        <a:xfrm>
          <a:off x="0" y="0"/>
          <a:ext cx="0" cy="0"/>
          <a:chOff x="0" y="0"/>
          <a:chExt cx="0" cy="0"/>
        </a:xfrm>
      </p:grpSpPr>
      <p:sp>
        <p:nvSpPr>
          <p:cNvPr id="405" name="Google Shape;405;g3e9a67dddcc_0_3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a good PR looks like</a:t>
            </a:r>
            <a:endParaRPr/>
          </a:p>
        </p:txBody>
      </p:sp>
      <p:sp>
        <p:nvSpPr>
          <p:cNvPr id="406" name="Google Shape;406;g3e9a67dddcc_0_30"/>
          <p:cNvSpPr txBox="1"/>
          <p:nvPr/>
        </p:nvSpPr>
        <p:spPr>
          <a:xfrm>
            <a:off x="914400" y="1463040"/>
            <a:ext cx="10362900" cy="261660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Small.</a:t>
            </a:r>
            <a:r>
              <a:rPr lang="en-US" sz="2000" b="0" i="0" u="none" strike="noStrike" cap="none">
                <a:solidFill>
                  <a:srgbClr val="666677"/>
                </a:solidFill>
                <a:latin typeface="Calibri"/>
                <a:ea typeface="Calibri"/>
                <a:cs typeface="Calibri"/>
                <a:sym typeface="Calibri"/>
              </a:rPr>
              <a:t> A few hundred lines max. Bigger diffs get skimmed, and</a:t>
            </a:r>
            <a:r>
              <a:rPr lang="en-US"/>
              <a:t> </a:t>
            </a:r>
            <a:r>
              <a:rPr lang="en-US" sz="2000" b="0" i="0" u="none" strike="noStrike" cap="none">
                <a:solidFill>
                  <a:srgbClr val="666677"/>
                </a:solidFill>
                <a:latin typeface="Calibri"/>
                <a:ea typeface="Calibri"/>
                <a:cs typeface="Calibri"/>
                <a:sym typeface="Calibri"/>
              </a:rPr>
              <a:t>a skim isn't review.</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a:solidFill>
                  <a:srgbClr val="666677"/>
                </a:solidFill>
                <a:latin typeface="Calibri"/>
                <a:ea typeface="Calibri"/>
                <a:cs typeface="Calibri"/>
                <a:sym typeface="Calibri"/>
              </a:rPr>
              <a:t>Scoped.</a:t>
            </a:r>
            <a:r>
              <a:rPr lang="en-US" sz="2000">
                <a:solidFill>
                  <a:srgbClr val="666677"/>
                </a:solidFill>
                <a:latin typeface="Calibri"/>
                <a:ea typeface="Calibri"/>
                <a:cs typeface="Calibri"/>
                <a:sym typeface="Calibri"/>
              </a:rPr>
              <a:t> One thing. "Add login" or "fix the message-ordering bug"</a:t>
            </a:r>
            <a:endParaRPr>
              <a:solidFill>
                <a:schemeClr val="dk1"/>
              </a:solidFill>
            </a:endParaRPr>
          </a:p>
          <a:p>
            <a:pPr marL="457200" lvl="1" indent="0" algn="l" rtl="0">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not "add login + refactor the database + new color scheme."</a:t>
            </a:r>
            <a:endParaRPr sz="2000" b="1">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Described.</a:t>
            </a:r>
            <a:r>
              <a:rPr lang="en-US" sz="2000" b="0" i="0" u="none" strike="noStrike" cap="none">
                <a:solidFill>
                  <a:srgbClr val="666677"/>
                </a:solidFill>
                <a:latin typeface="Calibri"/>
                <a:ea typeface="Calibri"/>
                <a:cs typeface="Calibri"/>
                <a:sym typeface="Calibri"/>
              </a:rPr>
              <a:t> A few sentences in the body: what changes, why,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and anything a reviewer should look at first.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Green.</a:t>
            </a:r>
            <a:r>
              <a:rPr lang="en-US" sz="2000" b="0" i="0" u="none" strike="noStrike" cap="none">
                <a:solidFill>
                  <a:srgbClr val="666677"/>
                </a:solidFill>
                <a:latin typeface="Calibri"/>
                <a:ea typeface="Calibri"/>
                <a:cs typeface="Calibri"/>
                <a:sym typeface="Calibri"/>
              </a:rPr>
              <a:t> CI passes before you ask anyone to look.</a:t>
            </a:r>
            <a:endParaRPr/>
          </a:p>
          <a:p>
            <a:pPr marL="457200" marR="0" lvl="1" indent="0" algn="l" rtl="0">
              <a:spcBef>
                <a:spcPts val="600"/>
              </a:spcBef>
              <a:spcAft>
                <a:spcPts val="0"/>
              </a:spcAft>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1"/>
        <p:cNvGrpSpPr/>
        <p:nvPr/>
      </p:nvGrpSpPr>
      <p:grpSpPr>
        <a:xfrm>
          <a:off x="0" y="0"/>
          <a:ext cx="0" cy="0"/>
          <a:chOff x="0" y="0"/>
          <a:chExt cx="0" cy="0"/>
        </a:xfrm>
      </p:grpSpPr>
      <p:sp>
        <p:nvSpPr>
          <p:cNvPr id="412" name="Google Shape;412;p2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a good PR looks like</a:t>
            </a:r>
            <a:endParaRPr/>
          </a:p>
        </p:txBody>
      </p:sp>
      <p:sp>
        <p:nvSpPr>
          <p:cNvPr id="413" name="Google Shape;413;p26"/>
          <p:cNvSpPr txBox="1"/>
          <p:nvPr/>
        </p:nvSpPr>
        <p:spPr>
          <a:xfrm>
            <a:off x="914400" y="1463040"/>
            <a:ext cx="10362900" cy="354030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Small.</a:t>
            </a:r>
            <a:r>
              <a:rPr lang="en-US" sz="2000" b="0" i="0" u="none" strike="noStrike" cap="none">
                <a:solidFill>
                  <a:srgbClr val="666677"/>
                </a:solidFill>
                <a:latin typeface="Calibri"/>
                <a:ea typeface="Calibri"/>
                <a:cs typeface="Calibri"/>
                <a:sym typeface="Calibri"/>
              </a:rPr>
              <a:t> A few hundred lines max. Bigger diffs get skimmed, and</a:t>
            </a:r>
            <a:r>
              <a:rPr lang="en-US"/>
              <a:t> </a:t>
            </a:r>
            <a:r>
              <a:rPr lang="en-US" sz="2000">
                <a:solidFill>
                  <a:srgbClr val="666677"/>
                </a:solidFill>
                <a:latin typeface="Calibri"/>
                <a:ea typeface="Calibri"/>
                <a:cs typeface="Calibri"/>
                <a:sym typeface="Calibri"/>
              </a:rPr>
              <a:t>a skim isn't review.</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a:solidFill>
                  <a:srgbClr val="666677"/>
                </a:solidFill>
                <a:latin typeface="Calibri"/>
                <a:ea typeface="Calibri"/>
                <a:cs typeface="Calibri"/>
                <a:sym typeface="Calibri"/>
              </a:rPr>
              <a:t>Scoped.</a:t>
            </a:r>
            <a:r>
              <a:rPr lang="en-US" sz="2000">
                <a:solidFill>
                  <a:srgbClr val="666677"/>
                </a:solidFill>
                <a:latin typeface="Calibri"/>
                <a:ea typeface="Calibri"/>
                <a:cs typeface="Calibri"/>
                <a:sym typeface="Calibri"/>
              </a:rPr>
              <a:t> One thing. "Add login" or "fix the message-ordering bug"</a:t>
            </a:r>
            <a:endParaRPr>
              <a:solidFill>
                <a:schemeClr val="dk1"/>
              </a:solidFill>
            </a:endParaRPr>
          </a:p>
          <a:p>
            <a:pPr marL="457200" lvl="1" indent="0" algn="l" rtl="0">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not "add login + refactor the database + new color scheme."</a:t>
            </a:r>
            <a:endParaRPr sz="2000" b="1">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Described.</a:t>
            </a:r>
            <a:r>
              <a:rPr lang="en-US" sz="2000" b="0" i="0" u="none" strike="noStrike" cap="none">
                <a:solidFill>
                  <a:srgbClr val="666677"/>
                </a:solidFill>
                <a:latin typeface="Calibri"/>
                <a:ea typeface="Calibri"/>
                <a:cs typeface="Calibri"/>
                <a:sym typeface="Calibri"/>
              </a:rPr>
              <a:t> A few sentences in the body: what changes, why,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and anything a reviewer should look at first.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Green.</a:t>
            </a:r>
            <a:r>
              <a:rPr lang="en-US" sz="2000" b="0" i="0" u="none" strike="noStrike" cap="none">
                <a:solidFill>
                  <a:srgbClr val="666677"/>
                </a:solidFill>
                <a:latin typeface="Calibri"/>
                <a:ea typeface="Calibri"/>
                <a:cs typeface="Calibri"/>
                <a:sym typeface="Calibri"/>
              </a:rPr>
              <a:t> CI passes before you ask anyone to look.</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For the final project, every change goes through a PR</a:t>
            </a:r>
            <a:r>
              <a:rPr lang="en-US" sz="2400">
                <a:solidFill>
                  <a:srgbClr val="333344"/>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It's how the team stays oriented when three people are touching</a:t>
            </a:r>
            <a:r>
              <a:rPr lang="en-US"/>
              <a:t> </a:t>
            </a:r>
            <a:r>
              <a:rPr lang="en-US" sz="2000" b="0" i="0" u="none" strike="noStrike" cap="none">
                <a:solidFill>
                  <a:srgbClr val="666677"/>
                </a:solidFill>
                <a:latin typeface="Calibri"/>
                <a:ea typeface="Calibri"/>
                <a:cs typeface="Calibri"/>
                <a:sym typeface="Calibri"/>
              </a:rPr>
              <a:t>the same code at once.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8"/>
        <p:cNvGrpSpPr/>
        <p:nvPr/>
      </p:nvGrpSpPr>
      <p:grpSpPr>
        <a:xfrm>
          <a:off x="0" y="0"/>
          <a:ext cx="0" cy="0"/>
          <a:chOff x="0" y="0"/>
          <a:chExt cx="0" cy="0"/>
        </a:xfrm>
      </p:grpSpPr>
      <p:sp>
        <p:nvSpPr>
          <p:cNvPr id="419" name="Google Shape;419;p27"/>
          <p:cNvSpPr txBox="1"/>
          <p:nvPr/>
        </p:nvSpPr>
        <p:spPr>
          <a:xfrm>
            <a:off x="731520" y="27432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FFFFFF"/>
                </a:solidFill>
                <a:latin typeface="Calibri"/>
                <a:ea typeface="Calibri"/>
                <a:cs typeface="Calibri"/>
                <a:sym typeface="Calibri"/>
              </a:rPr>
              <a:t>TRY IT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Write the workflow for your final project</a:t>
            </a:r>
            <a:endParaRPr/>
          </a:p>
        </p:txBody>
      </p:sp>
      <p:sp>
        <p:nvSpPr>
          <p:cNvPr id="420" name="Google Shape;420;p27"/>
          <p:cNvSpPr/>
          <p:nvPr/>
        </p:nvSpPr>
        <p:spPr>
          <a:xfrm>
            <a:off x="640080" y="228600"/>
            <a:ext cx="1097280" cy="365760"/>
          </a:xfrm>
          <a:prstGeom prst="roundRect">
            <a:avLst>
              <a:gd name="adj" fmla="val 16667"/>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21" name="Google Shape;421;p27"/>
          <p:cNvSpPr/>
          <p:nvPr/>
        </p:nvSpPr>
        <p:spPr>
          <a:xfrm>
            <a:off x="731520" y="1371600"/>
            <a:ext cx="10728655"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22" name="Google Shape;422;p27"/>
          <p:cNvSpPr txBox="1"/>
          <p:nvPr/>
        </p:nvSpPr>
        <p:spPr>
          <a:xfrm>
            <a:off x="1005840" y="1554480"/>
            <a:ext cx="10179900" cy="4684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a:solidFill>
                  <a:srgbClr val="333344"/>
                </a:solidFill>
                <a:latin typeface="Courier New"/>
                <a:ea typeface="Courier New"/>
                <a:cs typeface="Courier New"/>
                <a:sym typeface="Courier New"/>
              </a:rPr>
              <a:t># Goal: a .github/workflows/test.yml that runs pytest on every</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push and on every pull request, using Python 3.12.</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Fill in the blanks.</a:t>
            </a:r>
            <a:endParaRPr sz="1600"/>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name: Tests</a:t>
            </a: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B0B0C0"/>
                </a:solidFill>
                <a:latin typeface="Courier New"/>
                <a:ea typeface="Courier New"/>
                <a:cs typeface="Courier New"/>
                <a:sym typeface="Courier New"/>
              </a:rPr>
              <a:t>on: [________, ________]</a:t>
            </a:r>
            <a:endParaRPr sz="1600"/>
          </a:p>
          <a:p>
            <a:pPr marL="0" marR="0" lvl="0" indent="0" algn="l" rtl="0">
              <a:spcBef>
                <a:spcPts val="200"/>
              </a:spcBef>
              <a:spcAft>
                <a:spcPts val="0"/>
              </a:spcAft>
              <a:buNone/>
            </a:pPr>
            <a:endParaRPr sz="15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jobs:</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test:</a:t>
            </a:r>
            <a:endParaRPr sz="1600"/>
          </a:p>
          <a:p>
            <a:pPr marL="0" marR="0" lvl="0" indent="0" algn="l" rtl="0">
              <a:spcBef>
                <a:spcPts val="200"/>
              </a:spcBef>
              <a:spcAft>
                <a:spcPts val="0"/>
              </a:spcAft>
              <a:buNone/>
            </a:pPr>
            <a:r>
              <a:rPr lang="en-US" sz="1500" b="1">
                <a:solidFill>
                  <a:srgbClr val="B0B0C0"/>
                </a:solidFill>
                <a:latin typeface="Courier New"/>
                <a:ea typeface="Courier New"/>
                <a:cs typeface="Courier New"/>
                <a:sym typeface="Courier New"/>
              </a:rPr>
              <a:t>    runs-on: ________</a:t>
            </a:r>
            <a:endParaRPr sz="15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steps:</a:t>
            </a:r>
            <a:endParaRPr sz="1600"/>
          </a:p>
          <a:p>
            <a:pPr marL="0" marR="0" lvl="0" indent="0" algn="l" rtl="0">
              <a:spcBef>
                <a:spcPts val="200"/>
              </a:spcBef>
              <a:spcAft>
                <a:spcPts val="0"/>
              </a:spcAft>
              <a:buNone/>
            </a:pPr>
            <a:r>
              <a:rPr lang="en-US" sz="1500" b="1">
                <a:solidFill>
                  <a:srgbClr val="B0B0C0"/>
                </a:solidFill>
                <a:latin typeface="Courier New"/>
                <a:ea typeface="Courier New"/>
                <a:cs typeface="Courier New"/>
                <a:sym typeface="Courier New"/>
              </a:rPr>
              <a:t>      - uses: actions/________@v6</a:t>
            </a:r>
            <a:endParaRPr sz="15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 uses: actions/setup-python@v6</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with:</a:t>
            </a:r>
            <a:endParaRPr sz="1600"/>
          </a:p>
          <a:p>
            <a:pPr marL="0" marR="0" lvl="0" indent="0" algn="l" rtl="0">
              <a:spcBef>
                <a:spcPts val="200"/>
              </a:spcBef>
              <a:spcAft>
                <a:spcPts val="0"/>
              </a:spcAft>
              <a:buNone/>
            </a:pPr>
            <a:r>
              <a:rPr lang="en-US" sz="1500" b="1">
                <a:solidFill>
                  <a:srgbClr val="B0B0C0"/>
                </a:solidFill>
                <a:latin typeface="Courier New"/>
                <a:ea typeface="Courier New"/>
                <a:cs typeface="Courier New"/>
                <a:sym typeface="Courier New"/>
              </a:rPr>
              <a:t>          python-version: ________</a:t>
            </a:r>
            <a:endParaRPr sz="1600"/>
          </a:p>
          <a:p>
            <a:pPr marL="0" marR="0" lvl="0" indent="0" algn="l" rtl="0">
              <a:spcBef>
                <a:spcPts val="200"/>
              </a:spcBef>
              <a:spcAft>
                <a:spcPts val="0"/>
              </a:spcAft>
              <a:buNone/>
            </a:pPr>
            <a:endParaRPr sz="15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B0B0C0"/>
                </a:solidFill>
                <a:latin typeface="Courier New"/>
                <a:ea typeface="Courier New"/>
                <a:cs typeface="Courier New"/>
                <a:sym typeface="Courier New"/>
              </a:rPr>
              <a:t>      - run: _______________________</a:t>
            </a:r>
            <a:endParaRPr sz="15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B0B0C0"/>
                </a:solidFill>
                <a:latin typeface="Courier New"/>
                <a:ea typeface="Courier New"/>
                <a:cs typeface="Courier New"/>
                <a:sym typeface="Courier New"/>
              </a:rPr>
              <a:t>      - run: ________</a:t>
            </a:r>
            <a:endParaRPr sz="16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7"/>
        <p:cNvGrpSpPr/>
        <p:nvPr/>
      </p:nvGrpSpPr>
      <p:grpSpPr>
        <a:xfrm>
          <a:off x="0" y="0"/>
          <a:ext cx="0" cy="0"/>
          <a:chOff x="0" y="0"/>
          <a:chExt cx="0" cy="0"/>
        </a:xfrm>
      </p:grpSpPr>
      <p:sp>
        <p:nvSpPr>
          <p:cNvPr id="428" name="Google Shape;428;g3e9b5ced2ff_0_172"/>
          <p:cNvSpPr txBox="1"/>
          <p:nvPr/>
        </p:nvSpPr>
        <p:spPr>
          <a:xfrm>
            <a:off x="731520" y="274320"/>
            <a:ext cx="10728600" cy="800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FFFFFF"/>
                </a:solidFill>
                <a:latin typeface="Calibri"/>
                <a:ea typeface="Calibri"/>
                <a:cs typeface="Calibri"/>
                <a:sym typeface="Calibri"/>
              </a:rPr>
              <a:t>ANSWER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And it works for frontend too</a:t>
            </a:r>
            <a:endParaRPr/>
          </a:p>
        </p:txBody>
      </p:sp>
      <p:sp>
        <p:nvSpPr>
          <p:cNvPr id="429" name="Google Shape;429;g3e9b5ced2ff_0_172"/>
          <p:cNvSpPr/>
          <p:nvPr/>
        </p:nvSpPr>
        <p:spPr>
          <a:xfrm>
            <a:off x="640080" y="228600"/>
            <a:ext cx="1188600" cy="365700"/>
          </a:xfrm>
          <a:prstGeom prst="roundRect">
            <a:avLst>
              <a:gd name="adj" fmla="val 16667"/>
            </a:avLst>
          </a:prstGeom>
          <a:solidFill>
            <a:srgbClr val="166534"/>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30" name="Google Shape;430;g3e9b5ced2ff_0_172"/>
          <p:cNvSpPr/>
          <p:nvPr/>
        </p:nvSpPr>
        <p:spPr>
          <a:xfrm>
            <a:off x="731520" y="1371600"/>
            <a:ext cx="10728600"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31" name="Google Shape;431;g3e9b5ced2ff_0_172"/>
          <p:cNvSpPr txBox="1"/>
          <p:nvPr/>
        </p:nvSpPr>
        <p:spPr>
          <a:xfrm>
            <a:off x="1005840" y="1554480"/>
            <a:ext cx="10179900" cy="4443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a:solidFill>
                  <a:srgbClr val="333344"/>
                </a:solidFill>
                <a:latin typeface="Courier New"/>
                <a:ea typeface="Courier New"/>
                <a:cs typeface="Courier New"/>
                <a:sym typeface="Courier New"/>
              </a:rPr>
              <a:t>name: Tests</a:t>
            </a:r>
            <a:endParaRPr sz="1600"/>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on: [push, pull_request]</a:t>
            </a:r>
            <a:endParaRPr sz="1600"/>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jobs:</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frontend-test:</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runs-on: ubuntu-latest</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steps:</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 uses: actions/checkout@v6</a:t>
            </a: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 uses: actions/setup-node@v6</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with:</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node-version: 22</a:t>
            </a:r>
            <a:endParaRPr sz="1600"/>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 run: npm install --frozen-lockfile</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 run: npm run test</a:t>
            </a:r>
            <a:endParaRPr sz="1600"/>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6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6"/>
        <p:cNvGrpSpPr/>
        <p:nvPr/>
      </p:nvGrpSpPr>
      <p:grpSpPr>
        <a:xfrm>
          <a:off x="0" y="0"/>
          <a:ext cx="0" cy="0"/>
          <a:chOff x="0" y="0"/>
          <a:chExt cx="0" cy="0"/>
        </a:xfrm>
      </p:grpSpPr>
      <p:sp>
        <p:nvSpPr>
          <p:cNvPr id="437" name="Google Shape;437;g3e9b5ced2ff_0_194"/>
          <p:cNvSpPr txBox="1"/>
          <p:nvPr/>
        </p:nvSpPr>
        <p:spPr>
          <a:xfrm>
            <a:off x="731520" y="365760"/>
            <a:ext cx="10728600" cy="5541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Font typeface="Arial"/>
              <a:buNone/>
            </a:pPr>
            <a:r>
              <a:rPr lang="en-US" sz="1600" b="1">
                <a:solidFill>
                  <a:schemeClr val="lt1"/>
                </a:solidFill>
                <a:latin typeface="Calibri"/>
                <a:ea typeface="Calibri"/>
                <a:cs typeface="Calibri"/>
                <a:sym typeface="Calibri"/>
              </a:rPr>
              <a:t>A</a:t>
            </a:r>
            <a:r>
              <a:rPr lang="en-US" sz="3000" b="1">
                <a:solidFill>
                  <a:srgbClr val="1A1A2E"/>
                </a:solidFill>
                <a:latin typeface="Calibri"/>
                <a:ea typeface="Calibri"/>
                <a:cs typeface="Calibri"/>
                <a:sym typeface="Calibri"/>
              </a:rPr>
              <a:t>And other jobs</a:t>
            </a:r>
            <a:endParaRPr sz="3200" b="1">
              <a:solidFill>
                <a:srgbClr val="1A1A2E"/>
              </a:solidFill>
              <a:latin typeface="Calibri"/>
              <a:ea typeface="Calibri"/>
              <a:cs typeface="Calibri"/>
              <a:sym typeface="Calibri"/>
            </a:endParaRPr>
          </a:p>
        </p:txBody>
      </p:sp>
      <p:sp>
        <p:nvSpPr>
          <p:cNvPr id="438" name="Google Shape;438;g3e9b5ced2ff_0_194"/>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YAML</a:t>
            </a:r>
            <a:endParaRPr/>
          </a:p>
        </p:txBody>
      </p:sp>
      <p:sp>
        <p:nvSpPr>
          <p:cNvPr id="439" name="Google Shape;439;g3e9b5ced2ff_0_194"/>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0" name="Google Shape;440;g3e9b5ced2ff_0_194"/>
          <p:cNvSpPr txBox="1"/>
          <p:nvPr/>
        </p:nvSpPr>
        <p:spPr>
          <a:xfrm>
            <a:off x="1005840" y="1645920"/>
            <a:ext cx="10179900" cy="4171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.github/workflows/test.yml</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name: Tests</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on: [push, pull_request]</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jobs: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t>
            </a:r>
            <a:r>
              <a:rPr lang="en-US" sz="1500" b="1">
                <a:solidFill>
                  <a:srgbClr val="333344"/>
                </a:solidFill>
                <a:latin typeface="Courier New"/>
                <a:ea typeface="Courier New"/>
                <a:cs typeface="Courier New"/>
                <a:sym typeface="Courier New"/>
              </a:rPr>
              <a:t>typecheck</a:t>
            </a:r>
            <a:r>
              <a:rPr lang="en-US" sz="15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runs-on: ubuntu-latest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steps: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uses: actions/checkout@v</a:t>
            </a:r>
            <a:r>
              <a:rPr lang="en-US" sz="1500" b="1">
                <a:solidFill>
                  <a:srgbClr val="333344"/>
                </a:solidFill>
                <a:latin typeface="Courier New"/>
                <a:ea typeface="Courier New"/>
                <a:cs typeface="Courier New"/>
                <a:sym typeface="Courier New"/>
              </a:rPr>
              <a:t>6</a:t>
            </a: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uses: actions/setup-python@v</a:t>
            </a:r>
            <a:r>
              <a:rPr lang="en-US" sz="1500" b="1">
                <a:solidFill>
                  <a:srgbClr val="333344"/>
                </a:solidFill>
                <a:latin typeface="Courier New"/>
                <a:ea typeface="Courier New"/>
                <a:cs typeface="Courier New"/>
                <a:sym typeface="Courier New"/>
              </a:rPr>
              <a:t>6</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with:</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python-version: "3.12"</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run: pip install -r requirements.txt</a:t>
            </a: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run: </a:t>
            </a:r>
            <a:r>
              <a:rPr lang="en-US" sz="1500" b="1">
                <a:solidFill>
                  <a:srgbClr val="333344"/>
                </a:solidFill>
                <a:latin typeface="Courier New"/>
                <a:ea typeface="Courier New"/>
                <a:cs typeface="Courier New"/>
                <a:sym typeface="Courier New"/>
              </a:rPr>
              <a:t>pyright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Shape 445"/>
        <p:cNvGrpSpPr/>
        <p:nvPr/>
      </p:nvGrpSpPr>
      <p:grpSpPr>
        <a:xfrm>
          <a:off x="0" y="0"/>
          <a:ext cx="0" cy="0"/>
          <a:chOff x="0" y="0"/>
          <a:chExt cx="0" cy="0"/>
        </a:xfrm>
      </p:grpSpPr>
      <p:sp>
        <p:nvSpPr>
          <p:cNvPr id="446" name="Google Shape;446;p28"/>
          <p:cNvSpPr txBox="1"/>
          <p:nvPr/>
        </p:nvSpPr>
        <p:spPr>
          <a:xfrm>
            <a:off x="731520" y="27432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FFFFFF"/>
                </a:solidFill>
                <a:latin typeface="Calibri"/>
                <a:ea typeface="Calibri"/>
                <a:cs typeface="Calibri"/>
                <a:sym typeface="Calibri"/>
              </a:rPr>
              <a:t>ANSWER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Write the workflow for your final project</a:t>
            </a:r>
            <a:endParaRPr/>
          </a:p>
        </p:txBody>
      </p:sp>
      <p:sp>
        <p:nvSpPr>
          <p:cNvPr id="447" name="Google Shape;447;p28"/>
          <p:cNvSpPr/>
          <p:nvPr/>
        </p:nvSpPr>
        <p:spPr>
          <a:xfrm>
            <a:off x="640080" y="228600"/>
            <a:ext cx="1188720" cy="365760"/>
          </a:xfrm>
          <a:prstGeom prst="roundRect">
            <a:avLst>
              <a:gd name="adj" fmla="val 16667"/>
            </a:avLst>
          </a:prstGeom>
          <a:solidFill>
            <a:srgbClr val="166534"/>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48" name="Google Shape;448;p28"/>
          <p:cNvSpPr/>
          <p:nvPr/>
        </p:nvSpPr>
        <p:spPr>
          <a:xfrm>
            <a:off x="731520" y="1371600"/>
            <a:ext cx="10728655"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49" name="Google Shape;449;p28"/>
          <p:cNvSpPr txBox="1"/>
          <p:nvPr/>
        </p:nvSpPr>
        <p:spPr>
          <a:xfrm>
            <a:off x="1005840" y="1554480"/>
            <a:ext cx="10179900" cy="4356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a:solidFill>
                  <a:srgbClr val="333344"/>
                </a:solidFill>
                <a:latin typeface="Courier New"/>
                <a:ea typeface="Courier New"/>
                <a:cs typeface="Courier New"/>
                <a:sym typeface="Courier New"/>
              </a:rPr>
              <a:t>name: Tests</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on: [push, pull_request]</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jobs:</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test: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runs-on: ubuntu-latest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steps:</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 uses: actions/checkout@v6</a:t>
            </a: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 uses: actions/setup-python@v6</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with:</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python-version: "3.12"</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 run: pip install -r requirements.txt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 run: pytest</a:t>
            </a:r>
            <a:endParaRPr/>
          </a:p>
          <a:p>
            <a:pPr marL="0" marR="0" lvl="0" indent="0" algn="l" rtl="0">
              <a:spcBef>
                <a:spcPts val="200"/>
              </a:spcBef>
              <a:spcAft>
                <a:spcPts val="0"/>
              </a:spcAft>
              <a:buNone/>
            </a:pPr>
            <a:endParaRPr sz="13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Commit this file, push, and check the Actions tab on github.com.</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Then go to Settings -&gt; Branches and require this workflow to pass</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before merging PRs to main. Done.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4"/>
        <p:cNvGrpSpPr/>
        <p:nvPr/>
      </p:nvGrpSpPr>
      <p:grpSpPr>
        <a:xfrm>
          <a:off x="0" y="0"/>
          <a:ext cx="0" cy="0"/>
          <a:chOff x="0" y="0"/>
          <a:chExt cx="0" cy="0"/>
        </a:xfrm>
      </p:grpSpPr>
      <p:sp>
        <p:nvSpPr>
          <p:cNvPr id="455" name="Google Shape;455;p29"/>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Where this goes next</a:t>
            </a:r>
            <a:endParaRPr/>
          </a:p>
        </p:txBody>
      </p:sp>
      <p:sp>
        <p:nvSpPr>
          <p:cNvPr id="456" name="Google Shape;456;p29"/>
          <p:cNvSpPr txBox="1"/>
          <p:nvPr/>
        </p:nvSpPr>
        <p:spPr>
          <a:xfrm>
            <a:off x="914400" y="1463050"/>
            <a:ext cx="10821600" cy="481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333344"/>
                </a:solidFill>
                <a:latin typeface="Calibri"/>
                <a:ea typeface="Calibri"/>
                <a:cs typeface="Calibri"/>
                <a:sym typeface="Calibri"/>
              </a:rPr>
              <a:t>Four things to walk away with:</a:t>
            </a:r>
            <a:endParaRPr sz="2400" b="1">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CI</a:t>
            </a:r>
            <a:r>
              <a:rPr lang="en-US" sz="2000" b="0" i="0" u="none" strike="noStrike" cap="none">
                <a:solidFill>
                  <a:srgbClr val="666677"/>
                </a:solidFill>
                <a:latin typeface="Calibri"/>
                <a:ea typeface="Calibri"/>
                <a:cs typeface="Calibri"/>
                <a:sym typeface="Calibri"/>
              </a:rPr>
              <a:t> runs tests AND linters on every change. Anything deterministic</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belongs in a YAML file under </a:t>
            </a:r>
            <a:r>
              <a:rPr lang="en-US" sz="2000" b="1" i="0" u="none" strike="noStrike" cap="none">
                <a:solidFill>
                  <a:srgbClr val="666677"/>
                </a:solidFill>
                <a:latin typeface="Courier Prime"/>
                <a:ea typeface="Courier Prime"/>
                <a:cs typeface="Courier Prime"/>
                <a:sym typeface="Courier Prime"/>
              </a:rPr>
              <a:t>.github/workflows/</a:t>
            </a:r>
            <a:r>
              <a:rPr lang="en-US" sz="2000" b="0" i="0" u="none" strike="noStrike" cap="none">
                <a:solidFill>
                  <a:srgbClr val="666677"/>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Branch protection</a:t>
            </a:r>
            <a:r>
              <a:rPr lang="en-US" sz="2000" b="0" i="0" u="none" strike="noStrike" cap="none">
                <a:solidFill>
                  <a:srgbClr val="666677"/>
                </a:solidFill>
                <a:latin typeface="Calibri"/>
                <a:ea typeface="Calibri"/>
                <a:cs typeface="Calibri"/>
                <a:sym typeface="Calibri"/>
              </a:rPr>
              <a:t> makes passing CI a prerequisite for main.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CD then deploys only passing code.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PR review</a:t>
            </a:r>
            <a:r>
              <a:rPr lang="en-US" sz="2000" b="0" i="0" u="none" strike="noStrike" cap="none">
                <a:solidFill>
                  <a:srgbClr val="666677"/>
                </a:solidFill>
                <a:latin typeface="Calibri"/>
                <a:ea typeface="Calibri"/>
                <a:cs typeface="Calibri"/>
                <a:sym typeface="Calibri"/>
              </a:rPr>
              <a:t> is the human half - small, scoped, described, green.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CI catches what tests catch; review catches everything else.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Secrets</a:t>
            </a:r>
            <a:r>
              <a:rPr lang="en-US" sz="2000" b="0" i="0" u="none" strike="noStrike" cap="none">
                <a:solidFill>
                  <a:srgbClr val="666677"/>
                </a:solidFill>
                <a:latin typeface="Calibri"/>
                <a:ea typeface="Calibri"/>
                <a:cs typeface="Calibri"/>
                <a:sym typeface="Calibri"/>
              </a:rPr>
              <a:t> never live in the YAML. Use Settings -&gt; Secrets, then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 secrets.NAME }}`.</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Turn branch protection on for your final project repo </a:t>
            </a:r>
            <a:r>
              <a:rPr lang="en-US" sz="2400" b="1">
                <a:solidFill>
                  <a:srgbClr val="333344"/>
                </a:solidFill>
                <a:latin typeface="Calibri"/>
                <a:ea typeface="Calibri"/>
                <a:cs typeface="Calibri"/>
                <a:sym typeface="Calibri"/>
              </a:rPr>
              <a:t>today</a:t>
            </a:r>
            <a:r>
              <a:rPr lang="en-US" sz="2400" b="0">
                <a:solidFill>
                  <a:srgbClr val="333344"/>
                </a:solidFill>
                <a:latin typeface="Calibri"/>
                <a:ea typeface="Calibri"/>
                <a:cs typeface="Calibri"/>
                <a:sym typeface="Calibri"/>
              </a:rPr>
              <a:t>.</a:t>
            </a:r>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Next: concurrency.</a:t>
            </a:r>
            <a:r>
              <a:rPr lang="en-US" sz="2400" b="0">
                <a:solidFill>
                  <a:srgbClr val="333344"/>
                </a:solidFill>
                <a:latin typeface="Calibri"/>
                <a:ea typeface="Calibri"/>
                <a:cs typeface="Calibri"/>
                <a:sym typeface="Calibri"/>
              </a:rPr>
              <a:t> What happens when</a:t>
            </a:r>
            <a:r>
              <a:rPr lang="en-US" sz="2400">
                <a:solidFill>
                  <a:srgbClr val="333344"/>
                </a:solidFill>
                <a:latin typeface="Calibri"/>
                <a:ea typeface="Calibri"/>
                <a:cs typeface="Calibri"/>
                <a:sym typeface="Calibri"/>
              </a:rPr>
              <a:t> two people visit your website simultaneously</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8344</Words>
  <Application>Microsoft Macintosh PowerPoint</Application>
  <PresentationFormat>Widescreen</PresentationFormat>
  <Paragraphs>634</Paragraphs>
  <Slides>51</Slides>
  <Notes>51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Courier Prime</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Andrew Aymeloglu</cp:lastModifiedBy>
  <cp:revision>1</cp:revision>
  <dcterms:created xsi:type="dcterms:W3CDTF">2013-01-27T09:14:16Z</dcterms:created>
  <dcterms:modified xsi:type="dcterms:W3CDTF">2026-05-21T22:49:12Z</dcterms:modified>
</cp:coreProperties>
</file>