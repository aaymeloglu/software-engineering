
<file path=[Content_Types].xml><?xml version="1.0" encoding="utf-8"?>
<Types xmlns="http://schemas.openxmlformats.org/package/2006/content-types">
  <Default Extension="fntdata" ContentType="application/x-fontdata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48" r:id="rId1"/>
  </p:sldMasterIdLst>
  <p:notesMasterIdLst>
    <p:notesMasterId r:id="rId58"/>
  </p:notesMasterIdLst>
  <p:sldIdLst>
    <p:sldId id="256" r:id="rId2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</p:sldIdLst>
  <p:sldSz cx="12192000" cy="6858000"/>
  <p:notesSz cx="6858000" cy="9144000"/>
  <p:embeddedFontLst>
    <p:embeddedFont>
      <p:font typeface="Courier Prime" pitchFamily="49" charset="77"/>
      <p:regular r:id="rId59"/>
      <p:bold r:id="rId60"/>
      <p:italic r:id="rId61"/>
      <p:boldItalic r:id="rId62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66" roundtripDataSignature="AMtx7mgMd20Mu25bWg6BqdlbkE6HNvbmY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11"/>
    <p:restoredTop sz="94658"/>
  </p:normalViewPr>
  <p:slideViewPr>
    <p:cSldViewPr snapToGrid="0">
      <p:cViewPr varScale="1">
        <p:scale>
          <a:sx n="120" d="100"/>
          <a:sy n="120" d="100"/>
        </p:scale>
        <p:origin x="800" y="18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6" Type="http://schemas.openxmlformats.org/officeDocument/2006/relationships/slide" Target="slides/slide2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17" Type="http://schemas.openxmlformats.org/officeDocument/2006/relationships/slide" Target="slides/slide13.xml"/><Relationship Id="rId18" Type="http://schemas.openxmlformats.org/officeDocument/2006/relationships/slide" Target="slides/slide14.xml"/><Relationship Id="rId19" Type="http://schemas.openxmlformats.org/officeDocument/2006/relationships/slide" Target="slides/slide15.xml"/><Relationship Id="rId20" Type="http://schemas.openxmlformats.org/officeDocument/2006/relationships/slide" Target="slides/slide16.xml"/><Relationship Id="rId21" Type="http://schemas.openxmlformats.org/officeDocument/2006/relationships/slide" Target="slides/slide17.xml"/><Relationship Id="rId22" Type="http://schemas.openxmlformats.org/officeDocument/2006/relationships/slide" Target="slides/slide18.xml"/><Relationship Id="rId23" Type="http://schemas.openxmlformats.org/officeDocument/2006/relationships/slide" Target="slides/slide19.xml"/><Relationship Id="rId24" Type="http://schemas.openxmlformats.org/officeDocument/2006/relationships/slide" Target="slides/slide20.xml"/><Relationship Id="rId25" Type="http://schemas.openxmlformats.org/officeDocument/2006/relationships/slide" Target="slides/slide21.xml"/><Relationship Id="rId26" Type="http://schemas.openxmlformats.org/officeDocument/2006/relationships/slide" Target="slides/slide22.xml"/><Relationship Id="rId27" Type="http://schemas.openxmlformats.org/officeDocument/2006/relationships/slide" Target="slides/slide23.xml"/><Relationship Id="rId28" Type="http://schemas.openxmlformats.org/officeDocument/2006/relationships/slide" Target="slides/slide24.xml"/><Relationship Id="rId29" Type="http://schemas.openxmlformats.org/officeDocument/2006/relationships/slide" Target="slides/slide25.xml"/><Relationship Id="rId30" Type="http://schemas.openxmlformats.org/officeDocument/2006/relationships/slide" Target="slides/slide26.xml"/><Relationship Id="rId31" Type="http://schemas.openxmlformats.org/officeDocument/2006/relationships/slide" Target="slides/slide27.xml"/><Relationship Id="rId32" Type="http://schemas.openxmlformats.org/officeDocument/2006/relationships/slide" Target="slides/slide28.xml"/><Relationship Id="rId33" Type="http://schemas.openxmlformats.org/officeDocument/2006/relationships/slide" Target="slides/slide29.xml"/><Relationship Id="rId34" Type="http://schemas.openxmlformats.org/officeDocument/2006/relationships/slide" Target="slides/slide30.xml"/><Relationship Id="rId35" Type="http://schemas.openxmlformats.org/officeDocument/2006/relationships/slide" Target="slides/slide31.xml"/><Relationship Id="rId36" Type="http://schemas.openxmlformats.org/officeDocument/2006/relationships/slide" Target="slides/slide32.xml"/><Relationship Id="rId37" Type="http://schemas.openxmlformats.org/officeDocument/2006/relationships/slide" Target="slides/slide33.xml"/><Relationship Id="rId38" Type="http://schemas.openxmlformats.org/officeDocument/2006/relationships/slide" Target="slides/slide34.xml"/><Relationship Id="rId39" Type="http://schemas.openxmlformats.org/officeDocument/2006/relationships/slide" Target="slides/slide35.xml"/><Relationship Id="rId40" Type="http://schemas.openxmlformats.org/officeDocument/2006/relationships/slide" Target="slides/slide36.xml"/><Relationship Id="rId41" Type="http://schemas.openxmlformats.org/officeDocument/2006/relationships/slide" Target="slides/slide37.xml"/><Relationship Id="rId42" Type="http://schemas.openxmlformats.org/officeDocument/2006/relationships/slide" Target="slides/slide38.xml"/><Relationship Id="rId43" Type="http://schemas.openxmlformats.org/officeDocument/2006/relationships/slide" Target="slides/slide39.xml"/><Relationship Id="rId44" Type="http://schemas.openxmlformats.org/officeDocument/2006/relationships/slide" Target="slides/slide40.xml"/><Relationship Id="rId45" Type="http://schemas.openxmlformats.org/officeDocument/2006/relationships/slide" Target="slides/slide41.xml"/><Relationship Id="rId46" Type="http://schemas.openxmlformats.org/officeDocument/2006/relationships/slide" Target="slides/slide42.xml"/><Relationship Id="rId47" Type="http://schemas.openxmlformats.org/officeDocument/2006/relationships/slide" Target="slides/slide43.xml"/><Relationship Id="rId48" Type="http://schemas.openxmlformats.org/officeDocument/2006/relationships/slide" Target="slides/slide44.xml"/><Relationship Id="rId49" Type="http://schemas.openxmlformats.org/officeDocument/2006/relationships/slide" Target="slides/slide45.xml"/><Relationship Id="rId50" Type="http://schemas.openxmlformats.org/officeDocument/2006/relationships/slide" Target="slides/slide46.xml"/><Relationship Id="rId51" Type="http://schemas.openxmlformats.org/officeDocument/2006/relationships/slide" Target="slides/slide47.xml"/><Relationship Id="rId52" Type="http://schemas.openxmlformats.org/officeDocument/2006/relationships/slide" Target="slides/slide48.xml"/><Relationship Id="rId53" Type="http://schemas.openxmlformats.org/officeDocument/2006/relationships/slide" Target="slides/slide49.xml"/><Relationship Id="rId54" Type="http://schemas.openxmlformats.org/officeDocument/2006/relationships/slide" Target="slides/slide50.xml"/><Relationship Id="rId55" Type="http://schemas.openxmlformats.org/officeDocument/2006/relationships/slide" Target="slides/slide51.xml"/><Relationship Id="rId56" Type="http://schemas.openxmlformats.org/officeDocument/2006/relationships/slide" Target="slides/slide52.xml"/><Relationship Id="rId57" Type="http://schemas.openxmlformats.org/officeDocument/2006/relationships/slide" Target="slides/slide53.xml"/><Relationship Id="rId58" Type="http://schemas.openxmlformats.org/officeDocument/2006/relationships/notesMaster" Target="notesMasters/notesMaster1.xml"/><Relationship Id="rId59" Type="http://schemas.openxmlformats.org/officeDocument/2006/relationships/font" Target="fonts/font1.fntdata"/><Relationship Id="rId60" Type="http://schemas.openxmlformats.org/officeDocument/2006/relationships/font" Target="fonts/font2.fntdata"/><Relationship Id="rId61" Type="http://schemas.openxmlformats.org/officeDocument/2006/relationships/font" Target="fonts/font3.fntdata"/><Relationship Id="rId62" Type="http://schemas.openxmlformats.org/officeDocument/2006/relationships/font" Target="fonts/font4.fntdata"/><Relationship Id="rId66" Type="http://customschemas.google.com/relationships/presentationmetadata" Target="metadata"/><Relationship Id="rId67" Type="http://schemas.openxmlformats.org/officeDocument/2006/relationships/presProps" Target="presProps.xml"/><Relationship Id="rId68" Type="http://schemas.openxmlformats.org/officeDocument/2006/relationships/viewProps" Target="viewProps.xml"/><Relationship Id="rId69" Type="http://schemas.openxmlformats.org/officeDocument/2006/relationships/theme" Target="theme/theme1.xml"/><Relationship Id="rId7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225" y="685800"/>
            <a:ext cx="457222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82" name="Google Shape;82;p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83" name="Google Shape;83;p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18" name="Google Shape;118;p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 open, ask for guesses.</a:t>
            </a:r>
          </a:p>
        </p:txBody>
      </p:sp>
      <p:sp>
        <p:nvSpPr>
          <p:cNvPr id="119" name="Google Shape;119;p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g3ec891ba402_1_2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24" name="Google Shape;124;g3ec891ba402_1_2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25" name="Google Shape;125;g3ec891ba402_1_2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ec891ba402_1_2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1" name="Google Shape;131;g3ec891ba402_1_2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32" name="Google Shape;132;g3ec891ba402_1_2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38" name="Google Shape;138;p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39" name="Google Shape;139;p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45" name="Google Shape;145;p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46" name="Google Shape;146;p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g3ec891ba402_1_4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1" name="Google Shape;151;g3ec891ba402_1_4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52" name="Google Shape;152;g3ec891ba402_1_4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58" name="Google Shape;158;p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159" name="Google Shape;159;p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65" name="Google Shape;165;p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line by line. `max_tokens` caps response length. Run it, show output.</a:t>
            </a:r>
          </a:p>
        </p:txBody>
      </p:sp>
      <p:sp>
        <p:nvSpPr>
          <p:cNvPr id="166" name="Google Shape;166;p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g3ec891ba402_1_2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4" name="Google Shape;174;g3ec891ba402_1_23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ChatGPT / Claude.ai only feel stateful because the UI resends the list.</a:t>
            </a:r>
          </a:p>
        </p:txBody>
      </p:sp>
      <p:sp>
        <p:nvSpPr>
          <p:cNvPr id="175" name="Google Shape;175;g3ec891ba402_1_23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ec891ba402_1_2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1" name="Google Shape;181;g3ec891ba402_1_24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ChatGPT / Claude.ai only feel stateful because the UI resends the list.</a:t>
            </a:r>
          </a:p>
        </p:txBody>
      </p:sp>
      <p:sp>
        <p:nvSpPr>
          <p:cNvPr id="182" name="Google Shape;182;g3ec891ba402_1_24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88" name="Google Shape;188;p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ChatGPT / Claude.ai only feel stateful because the UI resends the list.</a:t>
            </a:r>
          </a:p>
        </p:txBody>
      </p:sp>
      <p:sp>
        <p:nvSpPr>
          <p:cNvPr id="189" name="Google Shape;189;p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" name="Google Shape;194;g3ec891ba402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95" name="Google Shape;195;g3ec891ba402_0_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Print `messages` after each turn to show it growing by two.</a:t>
            </a:r>
          </a:p>
        </p:txBody>
      </p:sp>
      <p:sp>
        <p:nvSpPr>
          <p:cNvPr id="196" name="Google Shape;196;g3ec891ba402_0_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g3ec891ba402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04" name="Google Shape;204;g3ec891ba402_0_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Print `messages` after each turn to show it growing by two.</a:t>
            </a:r>
          </a:p>
        </p:txBody>
      </p:sp>
      <p:sp>
        <p:nvSpPr>
          <p:cNvPr id="205" name="Google Shape;205;g3ec891ba402_0_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Google Shape;21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13" name="Google Shape;213;p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Print `messages` after each turn to show it growing by two.</a:t>
            </a:r>
          </a:p>
        </p:txBody>
      </p:sp>
      <p:sp>
        <p:nvSpPr>
          <p:cNvPr id="214" name="Google Shape;214;p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-1166813" y="0"/>
            <a:ext cx="5334001" cy="3000375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2" name="Google Shape;222;p1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Walk each out loud; all three wrong. Answer: all five sent, no server state.</a:t>
            </a:r>
          </a:p>
        </p:txBody>
      </p:sp>
      <p:sp>
        <p:nvSpPr>
          <p:cNvPr id="223" name="Google Shape;223;p1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0" name="Google Shape;230;g3ec891ba402_1_4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1" name="Google Shape;231;g3ec891ba402_1_42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Mention prompt caching (caches the prefix) as the cost lever; don't go deep.</a:t>
            </a:r>
          </a:p>
        </p:txBody>
      </p:sp>
      <p:sp>
        <p:nvSpPr>
          <p:cNvPr id="232" name="Google Shape;232;g3ec891ba402_1_42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ec891ba402_1_4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38" name="Google Shape;238;g3ec891ba402_1_43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Mention prompt caching (caches the prefix) as the cost lever; don't go deep.</a:t>
            </a:r>
          </a:p>
        </p:txBody>
      </p:sp>
      <p:sp>
        <p:nvSpPr>
          <p:cNvPr id="239" name="Google Shape;239;g3ec891ba402_1_43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5" name="Google Shape;245;p1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Mention prompt caching (caches the prefix) as the cost lever; don't go deep.</a:t>
            </a:r>
          </a:p>
        </p:txBody>
      </p:sp>
      <p:sp>
        <p:nvSpPr>
          <p:cNvPr id="246" name="Google Shape;246;p1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g3ec891ba402_1_1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2" name="Google Shape;252;g3ec891ba402_1_1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Get a couple of guesses first; don't reveal. Next slide answers.</a:t>
            </a:r>
          </a:p>
        </p:txBody>
      </p:sp>
      <p:sp>
        <p:nvSpPr>
          <p:cNvPr id="253" name="Google Shape;253;g3ec891ba402_1_1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59" name="Google Shape;259;p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60" name="Google Shape;260;p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65" name="Google Shape;265;p1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266" name="Google Shape;266;p1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g3ec891ba402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2" name="Google Shape;272;g3ec891ba402_0_3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Trace it twice. Step 3 is where the security questions live.</a:t>
            </a:r>
          </a:p>
        </p:txBody>
      </p:sp>
      <p:sp>
        <p:nvSpPr>
          <p:cNvPr id="273" name="Google Shape;273;g3ec891ba402_0_3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8" name="Google Shape;278;g3ec891ba402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79" name="Google Shape;279;g3ec891ba402_0_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Trace it twice. Step 3 is where the security questions live.</a:t>
            </a:r>
          </a:p>
        </p:txBody>
      </p:sp>
      <p:sp>
        <p:nvSpPr>
          <p:cNvPr id="280" name="Google Shape;280;g3ec891ba402_0_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g3ec891ba402_0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86" name="Google Shape;286;g3ec891ba402_0_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Trace it twice. Step 3 is where the security questions live.</a:t>
            </a:r>
          </a:p>
        </p:txBody>
      </p:sp>
      <p:sp>
        <p:nvSpPr>
          <p:cNvPr id="287" name="Google Shape;287;g3ec891ba402_0_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1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93" name="Google Shape;293;p1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Trace it twice. Step 3 is where the security questions live.</a:t>
            </a:r>
          </a:p>
        </p:txBody>
      </p:sp>
      <p:sp>
        <p:nvSpPr>
          <p:cNvPr id="294" name="Google Shape;294;p1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9" name="Google Shape;299;p1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0" name="Google Shape;300;p1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Description decides when the model calls it. Same JSON Schema FastAPI's OpenAPI docs use.</a:t>
            </a:r>
          </a:p>
        </p:txBody>
      </p:sp>
      <p:sp>
        <p:nvSpPr>
          <p:cNvPr id="301" name="Google Shape;301;p1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8" name="Google Shape;308;p1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09" name="Google Shape;309;p1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Nothing has run yet, just JSON output. The `id` gets quoted back in step 4.</a:t>
            </a:r>
          </a:p>
        </p:txBody>
      </p:sp>
      <p:sp>
        <p:nvSpPr>
          <p:cNvPr id="310" name="Google Shape;310;p1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18" name="Google Shape;318;p1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Point out tool_result goes under role user. Full loop: `while stop_reason == 'tool_use'`.</a:t>
            </a:r>
          </a:p>
        </p:txBody>
      </p:sp>
      <p:sp>
        <p:nvSpPr>
          <p:cNvPr id="319" name="Google Shape;319;p1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27" name="Google Shape;327;p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 (b). Two risks: prompt injection via fetched content, and plain model mistakes.</a:t>
            </a:r>
          </a:p>
        </p:txBody>
      </p:sp>
      <p:sp>
        <p:nvSpPr>
          <p:cNvPr id="328" name="Google Shape;328;p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g3ec891ba402_0_4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g3ec891ba402_0_4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Claude Code: same tools, plus a permission prompt. Ask final-project teams for their worst case.</a:t>
            </a:r>
          </a:p>
        </p:txBody>
      </p:sp>
      <p:sp>
        <p:nvSpPr>
          <p:cNvPr id="337" name="Google Shape;337;g3ec891ba402_0_4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g3ec891ba402_0_5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43" name="Google Shape;343;g3ec891ba402_0_5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Claude Code: same tools, plus a permission prompt. Ask final-project teams for their worst case.</a:t>
            </a:r>
          </a:p>
        </p:txBody>
      </p:sp>
      <p:sp>
        <p:nvSpPr>
          <p:cNvPr id="344" name="Google Shape;344;g3ec891ba402_0_5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9" name="Google Shape;349;g3ec891ba402_0_5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0" name="Google Shape;350;g3ec891ba402_0_5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Claude Code: same tools, plus a permission prompt. Ask final-project teams for their worst case.</a:t>
            </a:r>
          </a:p>
        </p:txBody>
      </p:sp>
      <p:sp>
        <p:nvSpPr>
          <p:cNvPr id="351" name="Google Shape;351;g3ec891ba402_0_5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g3ec891ba402_0_6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57" name="Google Shape;357;g3ec891ba402_0_6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Claude Code: same tools, plus a permission prompt. Ask final-project teams for their worst case.</a:t>
            </a:r>
          </a:p>
        </p:txBody>
      </p:sp>
      <p:sp>
        <p:nvSpPr>
          <p:cNvPr id="358" name="Google Shape;358;g3ec891ba402_0_6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3" name="Google Shape;363;p19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64" name="Google Shape;364;p19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Claude Code: same tools, plus a permission prompt. Ask final-project teams for their worst case.</a:t>
            </a:r>
          </a:p>
        </p:txBody>
      </p:sp>
      <p:sp>
        <p:nvSpPr>
          <p:cNvPr id="365" name="Google Shape;365;p19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0" name="Google Shape;370;p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1" name="Google Shape;371;p2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Live code this section.</a:t>
            </a:r>
          </a:p>
        </p:txBody>
      </p:sp>
      <p:sp>
        <p:nvSpPr>
          <p:cNvPr id="372" name="Google Shape;372;p2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77" name="Google Shape;377;p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Move quickly, all plumbing; loop is next slide.</a:t>
            </a:r>
          </a:p>
        </p:txBody>
      </p:sp>
      <p:sp>
        <p:nvSpPr>
          <p:cNvPr id="378" name="Google Shape;378;p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5" name="Google Shape;385;p2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86" name="Google Shape;386;p2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List comprehension handles multiple tool calls per turn. Same code works with real tools.</a:t>
            </a:r>
          </a:p>
        </p:txBody>
      </p:sp>
      <p:sp>
        <p:nvSpPr>
          <p:cNvPr id="387" name="Google Shape;387;p2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p23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95" name="Google Shape;395;p23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Run live, print each tool call. Fallback: pre-recorded transcript, walk it line by line.</a:t>
            </a:r>
          </a:p>
        </p:txBody>
      </p:sp>
      <p:sp>
        <p:nvSpPr>
          <p:cNvPr id="396" name="Google Shape;396;p23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1" name="Google Shape;401;g3ec891ba402_1_521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2" name="Google Shape;402;g3ec891ba402_1_521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rule as SQL injection (since 1998): attacker strings never become control flow.</a:t>
            </a:r>
          </a:p>
        </p:txBody>
      </p:sp>
      <p:sp>
        <p:nvSpPr>
          <p:cNvPr id="403" name="Google Shape;403;g3ec891ba402_1_521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8" name="Google Shape;408;g3ec891ba402_1_4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09" name="Google Shape;409;g3ec891ba402_1_44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Same rule as SQL injection (since 1998): attacker strings never become control flow.</a:t>
            </a:r>
          </a:p>
        </p:txBody>
      </p:sp>
      <p:sp>
        <p:nvSpPr>
          <p:cNvPr id="410" name="Google Shape;410;g3ec891ba402_1_44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5" name="Google Shape;415;g3ec891ba402_1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16" name="Google Shape;416;g3ec891ba402_1_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Ask: what tools would an agent in your final project need? Take a few answers.</a:t>
            </a:r>
          </a:p>
        </p:txBody>
      </p:sp>
      <p:sp>
        <p:nvSpPr>
          <p:cNvPr id="417" name="Google Shape;417;g3ec891ba402_1_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1" name="Google Shape;421;g3ec891ba402_1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2" name="Google Shape;422;g3ec891ba402_1_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MCP: Anthropic, late 2024. Under the hood it's JSON-RPC: 'list tools', 'run this one'.</a:t>
            </a:r>
          </a:p>
        </p:txBody>
      </p:sp>
      <p:sp>
        <p:nvSpPr>
          <p:cNvPr id="423" name="Google Shape;423;g3ec891ba402_1_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ec891ba402_1_18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29" name="Google Shape;429;g3ec891ba402_1_18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Cold-call. Answer: a tool definition, same shape as the step 1 slide.</a:t>
            </a:r>
          </a:p>
        </p:txBody>
      </p:sp>
      <p:sp>
        <p:nvSpPr>
          <p:cNvPr id="430" name="Google Shape;430;g3ec891ba402_1_18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7" name="Google Shape;437;g3ec891ba402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38" name="Google Shape;438;g3ec891ba402_1_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Skip the async/stdio plumbing. `list_tools` is step 1, `call_tool` is step 3.</a:t>
            </a:r>
          </a:p>
        </p:txBody>
      </p:sp>
      <p:sp>
        <p:nvSpPr>
          <p:cNvPr id="439" name="Google Shape;439;g3ec891ba402_1_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6" name="Google Shape;446;g3ec891ba402_1_3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47" name="Google Shape;447;g3ec891ba402_1_3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Example: a team whose app posts messages exposes `post_message`, run from Claude Desktop. Optional.</a:t>
            </a:r>
          </a:p>
        </p:txBody>
      </p:sp>
      <p:sp>
        <p:nvSpPr>
          <p:cNvPr id="448" name="Google Shape;448;g3ec891ba402_1_3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ec891ba402_1_40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54" name="Google Shape;454;g3ec891ba402_1_40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Tie to the 9.2 dependency / committed-secret stories.</a:t>
            </a:r>
          </a:p>
        </p:txBody>
      </p:sp>
      <p:sp>
        <p:nvSpPr>
          <p:cNvPr id="455" name="Google Shape;455;g3ec891ba402_1_40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0" name="Google Shape;460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1" name="Google Shape;461;p2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62" name="Google Shape;462;p2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6" name="Google Shape;466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67" name="Google Shape;467;p25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68" name="Google Shape;468;p25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ec891ba402_1_204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74" name="Google Shape;474;g3ec891ba402_1_204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Name each, don't go deep. Pre-filter model for tool selection; Claude Code caches and summarizes.</a:t>
            </a:r>
          </a:p>
        </p:txBody>
      </p:sp>
      <p:sp>
        <p:nvSpPr>
          <p:cNvPr id="475" name="Google Shape;475;g3ec891ba402_1_204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1" name="Google Shape;481;g3ec891ba402_1_2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82" name="Google Shape;482;g3ec891ba402_1_212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Name each, don't go deep. Pre-filter model for tool selection; Claude Code caches and summarizes.</a:t>
            </a:r>
          </a:p>
        </p:txBody>
      </p:sp>
      <p:sp>
        <p:nvSpPr>
          <p:cNvPr id="483" name="Google Shape;483;g3ec891ba402_1_212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9" name="Google Shape;489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0" name="Google Shape;490;p26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t>Name each, don't go deep. Pre-filter model for tool selection; Claude Code caches and summarizes.</a:t>
            </a:r>
          </a:p>
        </p:txBody>
      </p:sp>
      <p:sp>
        <p:nvSpPr>
          <p:cNvPr id="491" name="Google Shape;491;p26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7" name="Google Shape;49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0" y="0"/>
            <a:ext cx="3000000" cy="3000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98" name="Google Shape;498;p27:notes"/>
          <p:cNvSpPr txBox="1">
            <a:spLocks noGrp="1"/>
          </p:cNvSpPr>
          <p:nvPr>
            <p:ph type="body" idx="1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/>
        </p:txBody>
      </p:sp>
      <p:sp>
        <p:nvSpPr>
          <p:cNvPr id="499" name="Google Shape;499;p27:notes"/>
          <p:cNvSpPr txBox="1">
            <a:spLocks noGrp="1"/>
          </p:cNvSpPr>
          <p:nvPr>
            <p:ph type="sldNum" idx="12"/>
          </p:nvPr>
        </p:nvSpPr>
        <p:spPr>
          <a:xfrm>
            <a:off x="0" y="0"/>
            <a:ext cx="3000000" cy="3000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3" name="Google Shape;13;p2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" name="Google Shape;14;p2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0"/>
          <p:cNvSpPr txBox="1"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30"/>
          <p:cNvSpPr txBox="1"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18" name="Google Shape;18;p30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p30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30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31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31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4" name="Google Shape;24;p31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5" name="Google Shape;25;p31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6" name="Google Shape;26;p31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32"/>
          <p:cNvSpPr txBox="1"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sz="4000" b="1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32"/>
          <p:cNvSpPr txBox="1"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marL="914400" lvl="1" indent="-2286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marL="1371600" lvl="2" indent="-228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marL="1828800" lvl="3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marL="2286000" lvl="4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marL="2743200" lvl="5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marL="3200400" lvl="6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marL="3657600" lvl="7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marL="4114800" lvl="8" indent="-228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0" name="Google Shape;30;p32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1" name="Google Shape;31;p32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2" name="Google Shape;32;p32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33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5" name="Google Shape;35;p33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6" name="Google Shape;36;p33"/>
          <p:cNvSpPr txBox="1">
            <a:spLocks noGrp="1"/>
          </p:cNvSpPr>
          <p:nvPr>
            <p:ph type="body" idx="2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marL="914400" lvl="1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marL="1371600" lvl="2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>
            <a:endParaRPr/>
          </a:p>
        </p:txBody>
      </p:sp>
      <p:sp>
        <p:nvSpPr>
          <p:cNvPr id="37" name="Google Shape;37;p33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8" name="Google Shape;38;p33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9" name="Google Shape;39;p33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4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2" name="Google Shape;42;p34"/>
          <p:cNvSpPr txBox="1"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34"/>
          <p:cNvSpPr txBox="1">
            <a:spLocks noGrp="1"/>
          </p:cNvSpPr>
          <p:nvPr>
            <p:ph type="body" idx="2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4" name="Google Shape;44;p34"/>
          <p:cNvSpPr txBox="1">
            <a:spLocks noGrp="1"/>
          </p:cNvSpPr>
          <p:nvPr>
            <p:ph type="body" idx="3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5" name="Google Shape;45;p34"/>
          <p:cNvSpPr txBox="1">
            <a:spLocks noGrp="1"/>
          </p:cNvSpPr>
          <p:nvPr>
            <p:ph type="body" idx="4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marL="2286000" lvl="4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marL="2743200" lvl="5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marL="3200400" lvl="6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marL="3657600" lvl="7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marL="4114800" lvl="8" indent="-330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>
            <a:endParaRPr/>
          </a:p>
        </p:txBody>
      </p:sp>
      <p:sp>
        <p:nvSpPr>
          <p:cNvPr id="46" name="Google Shape;46;p34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7" name="Google Shape;47;p34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8" name="Google Shape;48;p34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35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35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2" name="Google Shape;52;p35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3" name="Google Shape;53;p35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 txBox="1"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6" name="Google Shape;56;p36"/>
          <p:cNvSpPr txBox="1">
            <a:spLocks noGrp="1"/>
          </p:cNvSpPr>
          <p:nvPr>
            <p:ph type="body" idx="1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marL="1371600" lvl="2" indent="-3810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marL="2286000" lvl="4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marL="2743200" lvl="5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7" name="Google Shape;57;p36"/>
          <p:cNvSpPr txBox="1">
            <a:spLocks noGrp="1"/>
          </p:cNvSpPr>
          <p:nvPr>
            <p:ph type="body" idx="2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58" name="Google Shape;58;p36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9" name="Google Shape;59;p36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0" name="Google Shape;60;p36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37"/>
          <p:cNvSpPr txBox="1"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sz="2000" b="1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37"/>
          <p:cNvSpPr>
            <a:spLocks noGrp="1"/>
          </p:cNvSpPr>
          <p:nvPr>
            <p:ph type="pic" idx="2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37"/>
          <p:cNvSpPr txBox="1">
            <a:spLocks noGrp="1"/>
          </p:cNvSpPr>
          <p:nvPr>
            <p:ph type="body" idx="1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marL="914400" lvl="1" indent="-2286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marL="1371600" lvl="2" indent="-228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marL="1828800" lvl="3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marL="2286000" lvl="4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marL="2743200" lvl="5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marL="3200400" lvl="6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marL="3657600" lvl="7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marL="4114800" lvl="8" indent="-228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>
            <a:endParaRPr/>
          </a:p>
        </p:txBody>
      </p:sp>
      <p:sp>
        <p:nvSpPr>
          <p:cNvPr id="65" name="Google Shape;65;p37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6" name="Google Shape;66;p37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7" name="Google Shape;67;p37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3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38"/>
          <p:cNvSpPr txBox="1">
            <a:spLocks noGrp="1"/>
          </p:cNvSpPr>
          <p:nvPr>
            <p:ph type="body" idx="1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1" name="Google Shape;71;p3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2" name="Google Shape;72;p3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3" name="Google Shape;73;p3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39"/>
          <p:cNvSpPr txBox="1">
            <a:spLocks noGrp="1"/>
          </p:cNvSpPr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39"/>
          <p:cNvSpPr txBox="1">
            <a:spLocks noGrp="1"/>
          </p:cNvSpPr>
          <p:nvPr>
            <p:ph type="body" idx="1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marL="1371600" lvl="2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marL="2286000" lvl="4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marL="2743200" lvl="5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7" name="Google Shape;77;p39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8" name="Google Shape;78;p39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9" name="Google Shape;79;p39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8"/>
          <p:cNvSpPr txBox="1"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/>
          </a:p>
        </p:txBody>
      </p:sp>
      <p:sp>
        <p:nvSpPr>
          <p:cNvPr id="7" name="Google Shape;7;p28"/>
          <p:cNvSpPr txBox="1"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31800" algn="l" rtl="0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sz="3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406400" algn="l" rtl="0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81000" algn="l" rtl="0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55600" algn="l" rtl="0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p28"/>
          <p:cNvSpPr txBox="1">
            <a:spLocks noGrp="1"/>
          </p:cNvSpPr>
          <p:nvPr>
            <p:ph type="dt" idx="10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9" name="Google Shape;9;p28"/>
          <p:cNvSpPr txBox="1">
            <a:spLocks noGrp="1"/>
          </p:cNvSpPr>
          <p:nvPr>
            <p:ph type="ftr" idx="11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400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0" name="Google Shape;10;p28"/>
          <p:cNvSpPr txBox="1">
            <a:spLocks noGrp="1"/>
          </p:cNvSpPr>
          <p:nvPr>
            <p:ph type="sldNum" idx="12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spcBef>
                <a:spcPts val="0"/>
              </a:spcBef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3" Type="http://schemas.openxmlformats.org/officeDocument/2006/relationships/image" Target="../media/image1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3" Type="http://schemas.openxmlformats.org/officeDocument/2006/relationships/image" Target="../media/image2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3" Type="http://schemas.openxmlformats.org/officeDocument/2006/relationships/image" Target="../media/image3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"/>
          <p:cNvSpPr/>
          <p:nvPr/>
        </p:nvSpPr>
        <p:spPr>
          <a:xfrm>
            <a:off x="0" y="0"/>
            <a:ext cx="12191695" cy="137160"/>
          </a:xfrm>
          <a:prstGeom prst="rect">
            <a:avLst/>
          </a:prstGeom>
          <a:solidFill>
            <a:srgbClr val="5B21B6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6" name="Google Shape;86;p1"/>
          <p:cNvSpPr txBox="1"/>
          <p:nvPr/>
        </p:nvSpPr>
        <p:spPr>
          <a:xfrm>
            <a:off x="914400" y="1645920"/>
            <a:ext cx="10362895" cy="7315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Lecture 10.1</a:t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914400" y="2468880"/>
            <a:ext cx="10362895" cy="1828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Building an Agent</a:t>
            </a:r>
            <a:endParaRPr/>
          </a:p>
        </p:txBody>
      </p:sp>
      <p:sp>
        <p:nvSpPr>
          <p:cNvPr id="88" name="Google Shape;88;p1"/>
          <p:cNvSpPr txBox="1"/>
          <p:nvPr/>
        </p:nvSpPr>
        <p:spPr>
          <a:xfrm>
            <a:off x="914400" y="4754880"/>
            <a:ext cx="1036289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Andy Aymeloglu - UATX Software Engineering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2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What’s inside the Claude Code box?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7" name="Google Shape;127;g3ec891ba402_1_22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agent is a loop around an LLM, with tools</a:t>
            </a:r>
            <a:endParaRPr/>
          </a:p>
        </p:txBody>
      </p:sp>
      <p:sp>
        <p:nvSpPr>
          <p:cNvPr id="128" name="Google Shape;128;g3ec891ba402_1_220"/>
          <p:cNvSpPr txBox="1"/>
          <p:nvPr/>
        </p:nvSpPr>
        <p:spPr>
          <a:xfrm>
            <a:off x="914400" y="1463040"/>
            <a:ext cx="10362900" cy="235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ust two pieces, and both of them are small: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loop.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call the model, get a response back, decide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to do next, and call it again. The model itself has no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memory - YOU carry the conversation across calls, in a list.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g3ec891ba402_1_2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agent is a loop around an LLM, with tools</a:t>
            </a:r>
            <a:endParaRPr/>
          </a:p>
        </p:txBody>
      </p:sp>
      <p:sp>
        <p:nvSpPr>
          <p:cNvPr id="135" name="Google Shape;135;g3ec891ba402_1_226"/>
          <p:cNvSpPr txBox="1"/>
          <p:nvPr/>
        </p:nvSpPr>
        <p:spPr>
          <a:xfrm>
            <a:off x="914400" y="1463040"/>
            <a:ext cx="10362900" cy="42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ust two pieces, and both of them are small: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loop.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call the model, get a response back, decide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to do next, and call it again. The model itself has no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memory - YOU carry the conversation across calls, in a list.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tools.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Functions you let the model invoke - reading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file, running a command, querying a database. The model picks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it wants to call, you actually run it, and you hand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result back.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agent is a loop around an LLM, with tools</a:t>
            </a:r>
            <a:endParaRPr/>
          </a:p>
        </p:txBody>
      </p:sp>
      <p:sp>
        <p:nvSpPr>
          <p:cNvPr id="142" name="Google Shape;142;p4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J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ust two pieces, and both of them are small: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loop.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call the model, get a response back, decide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to do next, and call it again. The model itself has no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memory - YOU carry the conversation across calls, in a list.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The tools.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Functions you let the model invoke - reading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file, running a command, querying a database. The model picks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what it wants to call, you actually run it, and you hand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result back.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 engineering all lives in the tools and the prompting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he loop itself is about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ten lines.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5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The Loop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g3ec891ba402_1_42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LLM is just an HTTP API</a:t>
            </a:r>
            <a:endParaRPr/>
          </a:p>
        </p:txBody>
      </p:sp>
      <p:sp>
        <p:nvSpPr>
          <p:cNvPr id="155" name="Google Shape;155;g3ec891ba402_1_422"/>
          <p:cNvSpPr txBox="1"/>
          <p:nvPr/>
        </p:nvSpPr>
        <p:spPr>
          <a:xfrm>
            <a:off x="914400" y="1463040"/>
            <a:ext cx="10362900" cy="29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 API is an HTTP endpoint that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914400" marR="0" lvl="0" indent="-355600" algn="l" rtl="0">
              <a:spcBef>
                <a:spcPts val="60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takes some input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-355600" algn="l" rtl="0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runs something on a server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-355600" algn="l" rtl="0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gives you back some output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That’s all an LLM API is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The Claude API endpoint takes a JSON body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with a list of messages, and returns a JSON body with the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next message.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LLM is just an HTTP API</a:t>
            </a:r>
            <a:endParaRPr/>
          </a:p>
        </p:txBody>
      </p:sp>
      <p:sp>
        <p:nvSpPr>
          <p:cNvPr id="162" name="Google Shape;162;p6"/>
          <p:cNvSpPr txBox="1"/>
          <p:nvPr/>
        </p:nvSpPr>
        <p:spPr>
          <a:xfrm>
            <a:off x="914400" y="1463040"/>
            <a:ext cx="10362900" cy="527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 API is an HTTP endpoint that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:</a:t>
            </a:r>
            <a:endParaRPr/>
          </a:p>
          <a:p>
            <a:pPr marL="914400" marR="0" lvl="0" indent="-355600" algn="l" rtl="0">
              <a:spcBef>
                <a:spcPts val="60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takes some input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-355600" algn="l" rtl="0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runs something on a server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914400" lvl="0" indent="-355600" algn="l" rtl="0">
              <a:spcBef>
                <a:spcPts val="0"/>
              </a:spcBef>
              <a:spcAft>
                <a:spcPts val="0"/>
              </a:spcAft>
              <a:buClr>
                <a:srgbClr val="666677"/>
              </a:buClr>
              <a:buSzPts val="2000"/>
              <a:buFont typeface="Calibri"/>
              <a:buChar char="●"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gives you back some output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That’s all an LLM API is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 The Claude API endpoint takes a JSON body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with a list of messages, and returns a JSON body with the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next message.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POST  https://api.anthropic.com/v1/messages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Input:  a list of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{role, content}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objects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Output: one more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{role: "assistant", content: ...}</a:t>
            </a:r>
            <a:endParaRPr b="1"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One API call, one response</a:t>
            </a:r>
            <a:endParaRPr/>
          </a:p>
        </p:txBody>
      </p:sp>
      <p:sp>
        <p:nvSpPr>
          <p:cNvPr id="169" name="Google Shape;169;p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170" name="Google Shape;170;p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1" name="Google Shape;171;p7"/>
          <p:cNvSpPr txBox="1"/>
          <p:nvPr/>
        </p:nvSpPr>
        <p:spPr>
          <a:xfrm>
            <a:off x="1005840" y="1645920"/>
            <a:ext cx="10179900" cy="3899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anthropic import Anthropic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client = Anthropic()                    # reads ANTHROPIC_API_KEY from env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response = client.messages.create(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model="claude-opus-4-</a:t>
            </a:r>
            <a:r>
              <a:rPr lang="en-US" sz="15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8</a:t>
            </a: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max_tokens=1024,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messages=[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{"role": "user", "content": "What is the capital of France?"},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],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print(response.content[0].text)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-&gt; "The capital of France is Paris."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g3ec891ba402_1_2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Multi-turn work, and the model has no memory</a:t>
            </a:r>
            <a:endParaRPr/>
          </a:p>
        </p:txBody>
      </p:sp>
      <p:sp>
        <p:nvSpPr>
          <p:cNvPr id="178" name="Google Shape;178;g3ec891ba402_1_234"/>
          <p:cNvSpPr txBox="1"/>
          <p:nvPr/>
        </p:nvSpPr>
        <p:spPr>
          <a:xfrm>
            <a:off x="914400" y="1463040"/>
            <a:ext cx="10362900" cy="1139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agent does multi-turn work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"read this file, then summarize the bug, then propose a fix" is three turns at minimum.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g3ec891ba402_1_24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Multi-turn work, and the model has no memory</a:t>
            </a:r>
            <a:endParaRPr/>
          </a:p>
        </p:txBody>
      </p:sp>
      <p:sp>
        <p:nvSpPr>
          <p:cNvPr id="185" name="Google Shape;185;g3ec891ba402_1_240"/>
          <p:cNvSpPr txBox="1"/>
          <p:nvPr/>
        </p:nvSpPr>
        <p:spPr>
          <a:xfrm>
            <a:off x="914400" y="1463040"/>
            <a:ext cx="10362900" cy="2739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agent does multi-turn work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"read this file, then summarize the bug, then propose a fix" is three turns at minimum.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 model has no memory</a:t>
            </a:r>
            <a:endParaRPr b="1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call to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messages.create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stateless, so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 has no idea you called it 30 seconds ago.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8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Multi-turn work, and the model has no memory</a:t>
            </a:r>
            <a:endParaRPr/>
          </a:p>
        </p:txBody>
      </p:sp>
      <p:sp>
        <p:nvSpPr>
          <p:cNvPr id="192" name="Google Shape;192;p8"/>
          <p:cNvSpPr txBox="1"/>
          <p:nvPr/>
        </p:nvSpPr>
        <p:spPr>
          <a:xfrm>
            <a:off x="914400" y="1463040"/>
            <a:ext cx="10362900" cy="4433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 agent does multi-turn work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"read this file, then summarize the bug, then propose a fix" is three turns at minimum.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 model has no memory</a:t>
            </a:r>
            <a:endParaRPr b="1"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Every call to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messages.create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is stateless, so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server has no idea you called it 30 seconds ago.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Which means if you want turn two to know anything about turn one,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 have to *send turn one again*, plus turn two, and so on...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whole conversation lives in your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messages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list, on your si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You're the one keeping state, not the server.</a:t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g3ec891ba402_0_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loop</a:t>
            </a:r>
            <a:endParaRPr/>
          </a:p>
        </p:txBody>
      </p:sp>
      <p:sp>
        <p:nvSpPr>
          <p:cNvPr id="199" name="Google Shape;199;g3ec891ba402_0_10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00" name="Google Shape;200;g3ec891ba402_0_10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1" name="Google Shape;201;g3ec891ba402_0_10"/>
          <p:cNvSpPr txBox="1"/>
          <p:nvPr/>
        </p:nvSpPr>
        <p:spPr>
          <a:xfrm>
            <a:off x="1005840" y="1645920"/>
            <a:ext cx="10179900" cy="17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messages =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while True: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user_input = input("&gt; 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user_input: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break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ec891ba402_0_2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loop</a:t>
            </a:r>
            <a:endParaRPr/>
          </a:p>
        </p:txBody>
      </p:sp>
      <p:sp>
        <p:nvSpPr>
          <p:cNvPr id="208" name="Google Shape;208;g3ec891ba402_0_2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09" name="Google Shape;209;g3ec891ba402_0_2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g3ec891ba402_0_2"/>
          <p:cNvSpPr txBox="1"/>
          <p:nvPr/>
        </p:nvSpPr>
        <p:spPr>
          <a:xfrm>
            <a:off x="1005840" y="1645920"/>
            <a:ext cx="10179900" cy="368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messages =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while True: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user_input = input("&gt; 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user_input: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break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messages.append({"role": "user", "content": user_input})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response = client.messages.create(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model="claude-opus-4-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8</a:t>
            </a: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max_tokens=1024,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messages=messages,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9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loop</a:t>
            </a:r>
            <a:endParaRPr/>
          </a:p>
        </p:txBody>
      </p:sp>
      <p:sp>
        <p:nvSpPr>
          <p:cNvPr id="217" name="Google Shape;217;p9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18" name="Google Shape;218;p9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9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messages = []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while True: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user_input = input("&gt; ")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not user_input: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break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messages.append({"role": "user", "content": user_input})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response = client.messages.create(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model="claude-opus-4-</a:t>
            </a:r>
            <a:r>
              <a:rPr lang="en-US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8</a:t>
            </a: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max_tokens=1024,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messages=messages,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reply = response.content[0].text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messages.append({"role": "assistant", "content": reply})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print(reply)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10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hat does </a:t>
            </a:r>
            <a:r>
              <a:rPr lang="en-US" sz="3200" b="1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next turn</a:t>
            </a:r>
            <a:r>
              <a:rPr lang="en-US" sz="3200" b="1" i="0" u="none" strike="noStrike" cap="none" dirty="0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see?</a:t>
            </a:r>
            <a:endParaRPr dirty="0"/>
          </a:p>
        </p:txBody>
      </p:sp>
      <p:sp>
        <p:nvSpPr>
          <p:cNvPr id="226" name="Google Shape;226;p10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227" name="Google Shape;227;p10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8" name="Google Shape;228;p10"/>
          <p:cNvSpPr txBox="1"/>
          <p:nvPr/>
        </p:nvSpPr>
        <p:spPr>
          <a:xfrm>
            <a:off x="1005840" y="1645920"/>
            <a:ext cx="10180015" cy="43498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After three turns of chat: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messages = [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{"role": "user",      "content": "My name is Andy."},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{"role": "assistant", "content": "Nice to meet you, Andy."},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{"role": "user",      "content": "I have a dog named Pickle."},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{"role": "assistant", "content": "Pickle is a great name!"},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{"role": "user",      "content": "What's my dog's name?"},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 dirty="0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call </a:t>
            </a:r>
            <a:r>
              <a:rPr lang="en-US" sz="1700" b="1" i="0" u="none" strike="noStrike" cap="none" dirty="0" err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client.messages.create</a:t>
            </a: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(messages=messages).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Some wrong models of what get sent: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just turn 5, plus a session ID that ties back to turns 1-4</a:t>
            </a:r>
            <a:endParaRPr dirty="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all five messages, but the server keeps state from last time</a:t>
            </a: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 dirty="0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just the last user message; the rest is implicit</a:t>
            </a:r>
            <a:endParaRPr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g3ec891ba402_1_42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carrying the messages list buys you</a:t>
            </a:r>
            <a:endParaRPr/>
          </a:p>
        </p:txBody>
      </p:sp>
      <p:sp>
        <p:nvSpPr>
          <p:cNvPr id="235" name="Google Shape;235;g3ec891ba402_1_428"/>
          <p:cNvSpPr txBox="1"/>
          <p:nvPr/>
        </p:nvSpPr>
        <p:spPr>
          <a:xfrm>
            <a:off x="914400" y="1280140"/>
            <a:ext cx="10362900" cy="16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Because YOU carry the messages list, you can do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stuff the model can’t.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Edit the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Drop turns the model got wrong, inject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system message, or replay a conversation from a saved transcript.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1" name="Google Shape;241;g3ec891ba402_1_4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carrying the messages list buys you</a:t>
            </a:r>
            <a:endParaRPr/>
          </a:p>
        </p:txBody>
      </p:sp>
      <p:sp>
        <p:nvSpPr>
          <p:cNvPr id="242" name="Google Shape;242;g3ec891ba402_1_434"/>
          <p:cNvSpPr txBox="1"/>
          <p:nvPr/>
        </p:nvSpPr>
        <p:spPr>
          <a:xfrm>
            <a:off x="914400" y="1280140"/>
            <a:ext cx="10362900" cy="2770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Because YOU carry the messages list, you can do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stuff the model can’t.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Edit the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Drop turns the model got wrong, inject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system message, or replay a conversation from a saved transcript.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Take the same messages list, try two different next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prompts off it, and compare them to pick the better one - same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model, no back-and-forth.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endParaRPr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1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carrying the messages list buys you</a:t>
            </a:r>
            <a:endParaRPr/>
          </a:p>
        </p:txBody>
      </p:sp>
      <p:sp>
        <p:nvSpPr>
          <p:cNvPr id="249" name="Google Shape;249;p11"/>
          <p:cNvSpPr txBox="1"/>
          <p:nvPr/>
        </p:nvSpPr>
        <p:spPr>
          <a:xfrm>
            <a:off x="914400" y="12801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Because YOU carry the messages list, you can do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stuff the model can’t.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Edit the history.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Drop turns the model got wrong, inject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system message, or replay a conversation from a saved transcript.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Branch.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Take the same messages list, try two different next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prompts off it, and compare them to pick the better one - same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model, no back-and-forth.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Persist.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Save the list to a database between sessions and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load it back later, since it's just JSON anyway.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Yeah, statelessness costs you tokens - you re-send everything every turn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W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hat you get back is total control over the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context, and that's a pretty good trade.</a:t>
            </a:r>
            <a:endParaRPr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g3ec891ba402_1_121"/>
          <p:cNvSpPr txBox="1"/>
          <p:nvPr/>
        </p:nvSpPr>
        <p:spPr>
          <a:xfrm>
            <a:off x="5303520" y="457200"/>
            <a:ext cx="1584600" cy="12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72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?</a:t>
            </a:r>
            <a:endParaRPr/>
          </a:p>
        </p:txBody>
      </p:sp>
      <p:sp>
        <p:nvSpPr>
          <p:cNvPr id="256" name="Google Shape;256;g3ec891ba402_1_121"/>
          <p:cNvSpPr txBox="1"/>
          <p:nvPr/>
        </p:nvSpPr>
        <p:spPr>
          <a:xfrm>
            <a:off x="1371600" y="2011680"/>
            <a:ext cx="9448500" cy="166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“Claude”</a:t>
            </a:r>
            <a:r>
              <a:rPr lang="en-US" sz="34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 is a process on Anthropic's server - it can't see your laptop. </a:t>
            </a: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But it can answer questions about </a:t>
            </a:r>
            <a:r>
              <a:rPr lang="en-US" sz="3400" b="1">
                <a:solidFill>
                  <a:srgbClr val="1A1A2E"/>
                </a:solidFill>
                <a:latin typeface="Courier Prime"/>
                <a:ea typeface="Courier Prime"/>
                <a:cs typeface="Courier Prime"/>
                <a:sym typeface="Courier Prime"/>
              </a:rPr>
              <a:t>app.py</a:t>
            </a:r>
            <a:r>
              <a:rPr lang="en-US" sz="34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. How?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12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Tools</a:t>
            </a:r>
            <a:endParaRPr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1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How does Cursor read a file off your disk?</a:t>
            </a:r>
            <a:endParaRPr/>
          </a:p>
        </p:txBody>
      </p:sp>
      <p:sp>
        <p:nvSpPr>
          <p:cNvPr id="269" name="Google Shape;269;p13"/>
          <p:cNvSpPr txBox="1"/>
          <p:nvPr/>
        </p:nvSpPr>
        <p:spPr>
          <a:xfrm>
            <a:off x="914400" y="1463040"/>
            <a:ext cx="10362900" cy="5264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Open Cursor, tell it "read app.py and tell me what's broken,"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This works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file ends up in front of the model somehow.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But remember where the model actually lives: behind an HTTP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endpoint at api.anthropic.com. It can't reach into your laptop,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mount your filesystem, or read your files. It's just a process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on some server, talking JSON, same as in 3.1.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the file had to get there some other way. And the way it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happened is that the model *asked* for it - Cursor read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file locally, on your machine, and handed the contents back.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little back-and-forth is all tool use is.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5" name="Google Shape;275;g3ec891ba402_0_38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 use is a four-step round-trip</a:t>
            </a:r>
            <a:endParaRPr/>
          </a:p>
        </p:txBody>
      </p:sp>
      <p:sp>
        <p:nvSpPr>
          <p:cNvPr id="276" name="Google Shape;276;g3ec891ba402_0_38"/>
          <p:cNvSpPr txBox="1"/>
          <p:nvPr/>
        </p:nvSpPr>
        <p:spPr>
          <a:xfrm>
            <a:off x="914400" y="1463040"/>
            <a:ext cx="10362900" cy="107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tell the model what tools exist. "You have access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read_file(path)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run_bash(cmd)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 Names + schemas.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g3ec891ba402_0_2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 use is a four-step round-trip</a:t>
            </a:r>
            <a:endParaRPr/>
          </a:p>
        </p:txBody>
      </p:sp>
      <p:sp>
        <p:nvSpPr>
          <p:cNvPr id="283" name="Google Shape;283;g3ec891ba402_0_20"/>
          <p:cNvSpPr txBox="1"/>
          <p:nvPr/>
        </p:nvSpPr>
        <p:spPr>
          <a:xfrm>
            <a:off x="914400" y="1463040"/>
            <a:ext cx="10362900" cy="2616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tell the model what tools exist. "You have access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read_file(path)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run_bash(cmd)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 Names + schemas.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model decides it wants to call one. Its response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comes back not as text but as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tool_use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block: "call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path=\"app.py\"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ec891ba402_0_2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 use is a four-step round-trip</a:t>
            </a:r>
            <a:endParaRPr/>
          </a:p>
        </p:txBody>
      </p:sp>
      <p:sp>
        <p:nvSpPr>
          <p:cNvPr id="290" name="Google Shape;290;g3ec891ba402_0_26"/>
          <p:cNvSpPr txBox="1"/>
          <p:nvPr/>
        </p:nvSpPr>
        <p:spPr>
          <a:xfrm>
            <a:off x="914400" y="1463040"/>
            <a:ext cx="10362900" cy="377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tell the model what tools exist. "You have access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read_file(path)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run_bash(cmd)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 Names + schemas.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model decides it wants to call one. Its response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comes back not as text but as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tool_use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block: "call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path=\"app.py\"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execute it. Run the actual Python function on your side.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Get back a string. The model didn't touch your disk;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 code did.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14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 use is a four-step round-trip</a:t>
            </a:r>
            <a:endParaRPr/>
          </a:p>
        </p:txBody>
      </p:sp>
      <p:sp>
        <p:nvSpPr>
          <p:cNvPr id="297" name="Google Shape;297;p14"/>
          <p:cNvSpPr txBox="1"/>
          <p:nvPr/>
        </p:nvSpPr>
        <p:spPr>
          <a:xfrm>
            <a:off x="914400" y="1463040"/>
            <a:ext cx="10362900" cy="463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1.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tell the model what tools exist. "You have access to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read_file(path)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run_bash(cmd)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 Names + schemas.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2.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model decides it wants to call one. Its response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comes back not as text but as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tool_use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block: "call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path=\"app.py\"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3.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execute it. Run the actual Python function on your side.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Get back a string. The model didn't touch your disk;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YOUR code did.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4.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append the result to messages as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tool_result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block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and call the model again. Now it can read the file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contents and decide what to do next.</a:t>
            </a:r>
            <a:endParaRPr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Step 1: defining a tool</a:t>
            </a:r>
            <a:endParaRPr/>
          </a:p>
        </p:txBody>
      </p:sp>
      <p:sp>
        <p:nvSpPr>
          <p:cNvPr id="304" name="Google Shape;304;p15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05" name="Google Shape;305;p15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6" name="Google Shape;306;p15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tools = [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"name": "read_file",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"description": "Read and return the contents of a text file.",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"input_schema":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"type": "object",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"properties":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"path":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"type": "string",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"description": "Path relative to project root.",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"required": ["path"],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That's the contract. The model now knows the tool exists, what it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does, and exactly what shape of arguments it should produce.</a:t>
            </a:r>
            <a:endParaRPr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2" name="Google Shape;312;p1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Step 2: the model asks to call it</a:t>
            </a:r>
            <a:endParaRPr/>
          </a:p>
        </p:txBody>
      </p:sp>
      <p:sp>
        <p:nvSpPr>
          <p:cNvPr id="313" name="Google Shape;313;p16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14" name="Google Shape;314;p16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16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send messages + tools to the API: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response = client.messages.create(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model="claude-opus-4-8",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max_tokens=1024,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tools=tools,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messages=[{"role": "user", "content": "what's in app.py?"}],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The response.content is now a list of BLOCKS, not just text.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One of them is a tool_use block: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for block in response.content: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print(block.type, block)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tool_use ToolUseBlock(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id="toolu_01ABcd...",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name="read_file",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input={"path": "app.py"},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)</a:t>
            </a:r>
            <a:endParaRPr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1" name="Google Shape;321;p1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Steps 3 + 4: you execute, you feed back</a:t>
            </a:r>
            <a:endParaRPr/>
          </a:p>
        </p:txBody>
      </p:sp>
      <p:sp>
        <p:nvSpPr>
          <p:cNvPr id="322" name="Google Shape;322;p17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23" name="Google Shape;323;p17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4" name="Google Shape;324;p17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for block in response.content: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block.type == "tool_use":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Step 3: YOU run the actual function.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result = read_file(**block.input)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Step 4: append the request and the result to messages,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then call the model again so it can see the answer.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messages.append({"role": "assistant", "content": response.content})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messages.append({"role": "user", "content": [{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"type": "tool_result",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"tool_use_id": block.id,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"content": result,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}]})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5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response = client.messages.create(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model="claude-opus-4-8",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max_tokens=1024, tools=tools, messages=messages,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5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This time the model sees the file contents and answers the user.</a:t>
            </a:r>
            <a:endParaRPr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0" name="Google Shape;330;p1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What’s sketchy about this?</a:t>
            </a:r>
            <a:endParaRPr/>
          </a:p>
        </p:txBody>
      </p:sp>
      <p:sp>
        <p:nvSpPr>
          <p:cNvPr id="331" name="Google Shape;331;p18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32" name="Google Shape;332;p18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3" name="Google Shape;333;p18"/>
          <p:cNvSpPr txBox="1"/>
          <p:nvPr/>
        </p:nvSpPr>
        <p:spPr>
          <a:xfrm>
            <a:off x="1005840" y="1645920"/>
            <a:ext cx="10180015" cy="4572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import subprocess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run_bash(cmd: str) -&gt; str: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"""Run a shell command and return its output."""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result = subprocess.run(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cmd,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shell=True,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capture_output=True,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text=True,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result.stdout + result.stderr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Wired into the agent loop, called automatically whenever the model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asks. What is wrong with this tool?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(a)  nothing - the model is smart enough to only ask for safe commands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(b)  shell=True lets the model run any command (`rm -rf ~`, curl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      exfil, anything the shell can do)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(c)  capture_output=True hides errors from the user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  (d)  it should be async</a:t>
            </a:r>
            <a:endParaRPr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ec891ba402_0_4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Tools are authorized access</a:t>
            </a:r>
            <a:endParaRPr/>
          </a:p>
        </p:txBody>
      </p:sp>
      <p:sp>
        <p:nvSpPr>
          <p:cNvPr id="340" name="Google Shape;340;g3ec891ba402_0_44"/>
          <p:cNvSpPr txBox="1"/>
          <p:nvPr/>
        </p:nvSpPr>
        <p:spPr>
          <a:xfrm>
            <a:off x="914400" y="1463040"/>
            <a:ext cx="10362900" cy="46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Providing a tool to an agent == providing the tool to the users of the agent</a:t>
            </a:r>
            <a:endParaRPr b="1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6" name="Google Shape;346;g3ec891ba402_0_5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Tools are authorized access</a:t>
            </a:r>
            <a:endParaRPr/>
          </a:p>
        </p:txBody>
      </p:sp>
      <p:sp>
        <p:nvSpPr>
          <p:cNvPr id="347" name="Google Shape;347;g3ec891ba402_0_50"/>
          <p:cNvSpPr txBox="1"/>
          <p:nvPr/>
        </p:nvSpPr>
        <p:spPr>
          <a:xfrm>
            <a:off x="914400" y="1463040"/>
            <a:ext cx="10362900" cy="1800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Providing a tool to an agent == providing the tool to the users of the agent</a:t>
            </a: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Treat every tool the way you'd treat an API endpoint exposed on the internet</a:t>
            </a:r>
            <a:endParaRPr sz="2400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endParaRPr sz="2400" b="1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3" name="Google Shape;353;g3ec891ba402_0_56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Tools are authorized access</a:t>
            </a:r>
            <a:endParaRPr/>
          </a:p>
        </p:txBody>
      </p:sp>
      <p:sp>
        <p:nvSpPr>
          <p:cNvPr id="354" name="Google Shape;354;g3ec891ba402_0_56"/>
          <p:cNvSpPr txBox="1"/>
          <p:nvPr/>
        </p:nvSpPr>
        <p:spPr>
          <a:xfrm>
            <a:off x="914400" y="1463040"/>
            <a:ext cx="10362900" cy="16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few habits worth keeping: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Narrow tools beat broad ones.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read_file_in_project_di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</a:t>
            </a:r>
            <a:endParaRPr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is a lot safer than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narrower the contract,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less damage a confused or compromised agent can do.</a:t>
            </a:r>
            <a:endParaRPr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g3ec891ba402_0_6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Tools are authorized access</a:t>
            </a:r>
            <a:endParaRPr/>
          </a:p>
        </p:txBody>
      </p:sp>
      <p:sp>
        <p:nvSpPr>
          <p:cNvPr id="361" name="Google Shape;361;g3ec891ba402_0_62"/>
          <p:cNvSpPr txBox="1"/>
          <p:nvPr/>
        </p:nvSpPr>
        <p:spPr>
          <a:xfrm>
            <a:off x="914400" y="1463040"/>
            <a:ext cx="10362900" cy="2385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few habits worth keeping: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Narrow tools beat broad ones.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read_file_in_project_di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</a:t>
            </a:r>
            <a:endParaRPr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is a lot safer than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narrower the contract,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less damage a confused or compromised agent can do.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Sandbox the dangerous ones.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 them inside a container,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chroot, a throwaway VM, anywhere the blast radius stays put.</a:t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7" name="Google Shape;367;p19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Tools are authorized access</a:t>
            </a:r>
            <a:endParaRPr/>
          </a:p>
        </p:txBody>
      </p:sp>
      <p:sp>
        <p:nvSpPr>
          <p:cNvPr id="368" name="Google Shape;368;p19"/>
          <p:cNvSpPr txBox="1"/>
          <p:nvPr/>
        </p:nvSpPr>
        <p:spPr>
          <a:xfrm>
            <a:off x="914400" y="1463040"/>
            <a:ext cx="10362900" cy="3540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few habits worth keeping: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Narrow tools beat broad ones.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read_file_in_project_di</a:t>
            </a:r>
            <a:r>
              <a:rPr lang="en-US" sz="2000" b="1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</a:t>
            </a:r>
            <a:endParaRPr>
              <a:latin typeface="Courier Prime"/>
              <a:ea typeface="Courier Prime"/>
              <a:cs typeface="Courier Prime"/>
              <a:sym typeface="Courier Prime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is a lot safer than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narrower the contract,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the less damage a confused or compromised agent can do.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Sandbox the dangerous ones.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Run them inside a container,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chroot, a throwaway VM, anywhere the blast radius stays put.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Confirm before anything destructive.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For anything that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deletes, writes outside the working tree, or calls out to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world, pop a y/n first - that's exactly why Claude Code asks.</a:t>
            </a:r>
            <a:endParaRPr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3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4" name="Google Shape;374;p20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Build it</a:t>
            </a:r>
            <a:endParaRPr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Google Shape;380;p21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agent (1/2): setup</a:t>
            </a:r>
            <a:endParaRPr/>
          </a:p>
        </p:txBody>
      </p:sp>
      <p:sp>
        <p:nvSpPr>
          <p:cNvPr id="381" name="Google Shape;381;p21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82" name="Google Shape;382;p21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83" name="Google Shape;383;p21"/>
          <p:cNvSpPr txBox="1"/>
          <p:nvPr/>
        </p:nvSpPr>
        <p:spPr>
          <a:xfrm>
            <a:off x="1005840" y="1645920"/>
            <a:ext cx="10179900" cy="430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client = Anthropic()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read_file(path):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open(path).read()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r>
              <a:rPr lang="en-US" sz="18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Yes, this is the scary shell=True tool</a:t>
            </a:r>
            <a:endParaRPr sz="1800" b="1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def run_bash(cmd):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subprocess.run(cmd, shell=True, capture_output=True, text=True)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return r.stdout + r.stderr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TOOLS_BY_NAME = {"read_file": read_file, "run_bash": run_bash}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TOOLS = [...]   # the schemas from earlier, one entry per function</a:t>
            </a:r>
            <a:endParaRPr sz="1500"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8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8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messages = [{"role": "user", "content": input("&gt; ")}]</a:t>
            </a:r>
            <a:endParaRPr sz="1500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9" name="Google Shape;389;p22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 working agent (2/2): the loop</a:t>
            </a:r>
            <a:endParaRPr/>
          </a:p>
        </p:txBody>
      </p:sp>
      <p:sp>
        <p:nvSpPr>
          <p:cNvPr id="390" name="Google Shape;390;p22"/>
          <p:cNvSpPr txBox="1"/>
          <p:nvPr/>
        </p:nvSpPr>
        <p:spPr>
          <a:xfrm>
            <a:off x="9601200" y="1188720"/>
            <a:ext cx="1828800" cy="3657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391" name="Google Shape;391;p22"/>
          <p:cNvSpPr/>
          <p:nvPr/>
        </p:nvSpPr>
        <p:spPr>
          <a:xfrm>
            <a:off x="731520" y="1463040"/>
            <a:ext cx="10728655" cy="493776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92" name="Google Shape;392;p22"/>
          <p:cNvSpPr txBox="1"/>
          <p:nvPr/>
        </p:nvSpPr>
        <p:spPr>
          <a:xfrm>
            <a:off x="1005840" y="1645920"/>
            <a:ext cx="10179900" cy="458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while True: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 = client.messages.create(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model="claude-opus-4-</a:t>
            </a:r>
            <a:r>
              <a:rPr lang="en-US" sz="1300" b="1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8</a:t>
            </a: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max_tokens=4096,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tools=TOOLS,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messages=messages,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messages.append({"role": "assistant", "content": r.content})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if r.stop_reason != "tool_use":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print(next(b.text for b in r.content if b.type == "text"))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break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3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results = [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{"type": "tool_result",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"tool_use_id": b.id,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"content": TOOLS_BY_NAME[b.name](**b.input)}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for b in r.content if b.type == "tool_use"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3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messages.append({"role": "user", "content": results})</a:t>
            </a:r>
            <a:endParaRPr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p23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Try it: find the longest function in this repo</a:t>
            </a:r>
            <a:endParaRPr/>
          </a:p>
        </p:txBody>
      </p:sp>
      <p:sp>
        <p:nvSpPr>
          <p:cNvPr id="399" name="Google Shape;399;p23"/>
          <p:cNvSpPr txBox="1"/>
          <p:nvPr/>
        </p:nvSpPr>
        <p:spPr>
          <a:xfrm>
            <a:off x="914400" y="1463040"/>
            <a:ext cx="10362900" cy="5202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Boot the agent and at the prompt type: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&gt; find the longest function in this codebase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Then watch what it actually does: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Calls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run_bash("find . -name '*.py'")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to list the files.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Calls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read_file(...)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on each one.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Counts lines per function (or runs a grep, or writes a little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script to do it).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Comes back with "the longest one is `foo` in bar.py, 84 lines."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That's maybe three to ten tool calls with no human typing anything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between, which is an agent doing real work...and there's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nothing in there you haven't already seen.</a:t>
            </a:r>
            <a:endParaRPr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5" name="Google Shape;405;g3ec891ba402_1_521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modern frontier: prompt injection</a:t>
            </a:r>
            <a:endParaRPr/>
          </a:p>
        </p:txBody>
      </p:sp>
      <p:sp>
        <p:nvSpPr>
          <p:cNvPr id="406" name="Google Shape;406;g3ec891ba402_1_521"/>
          <p:cNvSpPr txBox="1"/>
          <p:nvPr/>
        </p:nvSpPr>
        <p:spPr>
          <a:xfrm>
            <a:off x="914400" y="1463040"/>
            <a:ext cx="10362900" cy="2678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Documented cases in just the last two years: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ChatGPT plugins exfiltrating chat history via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&lt;img&gt;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tags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in markdown the model was asked to summarize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Bing Chat tricked into revealing its full system prompt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Coding agents persuaded by README files to push their own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repo's secrets to attacker-controlled forks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2" name="Google Shape;412;g3ec891ba402_1_44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The modern frontier: prompt injection</a:t>
            </a:r>
            <a:endParaRPr/>
          </a:p>
        </p:txBody>
      </p:sp>
      <p:sp>
        <p:nvSpPr>
          <p:cNvPr id="413" name="Google Shape;413;g3ec891ba402_1_440"/>
          <p:cNvSpPr txBox="1"/>
          <p:nvPr/>
        </p:nvSpPr>
        <p:spPr>
          <a:xfrm>
            <a:off x="914400" y="1463040"/>
            <a:ext cx="10362900" cy="427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Documented cases in just the last two years: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ChatGPT plugins exfiltrating chat history via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&lt;img&gt;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tags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in markdown the model was asked to summarize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Bing Chat tricked into revealing its full system prompt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Coding agents persuaded by README files to push their own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repo's secrets to attacker-controlled forks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This i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 SQL injection, in English, against an LLM.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mitigation isn't "better filter." It's the same lesson: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U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ntrusted input must not become part of the program's structure.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9" name="Google Shape;419;g3ec891ba402_1_0"/>
          <p:cNvSpPr txBox="1"/>
          <p:nvPr/>
        </p:nvSpPr>
        <p:spPr>
          <a:xfrm>
            <a:off x="914400" y="2286000"/>
            <a:ext cx="10362900" cy="769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Tools you didn't write</a:t>
            </a:r>
            <a:endParaRPr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Google Shape;425;g3ec891ba402_1_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Most of the tools you want already exist</a:t>
            </a:r>
            <a:endParaRPr/>
          </a:p>
        </p:txBody>
      </p:sp>
      <p:sp>
        <p:nvSpPr>
          <p:cNvPr id="426" name="Google Shape;426;g3ec891ba402_1_12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Here's the thing - somebody already wrote the GitHub tool,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Postgres tool, the Slack tool, the browser tool, and they keep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them working as those APIs change. You don't want to reinvent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any of that, and you really don't want to maintain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MCP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(the Model Context Protocol)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- standard for plugging in others’ tools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he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tools move OUT of your code and into a separate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server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our agent becomes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client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that connects to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The four-step round-trip from earlier doesn't change.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MCP standardizes WHERE the tools live and how you ask for them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ny agent can talk to any server without custom glue.</a:t>
            </a:r>
            <a:endParaRPr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ec891ba402_1_18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An MCP server hands your agent this. What is it?</a:t>
            </a:r>
            <a:endParaRPr/>
          </a:p>
        </p:txBody>
      </p:sp>
      <p:sp>
        <p:nvSpPr>
          <p:cNvPr id="433" name="Google Shape;433;g3ec891ba402_1_18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JSON</a:t>
            </a:r>
            <a:endParaRPr/>
          </a:p>
        </p:txBody>
      </p:sp>
      <p:sp>
        <p:nvSpPr>
          <p:cNvPr id="434" name="Google Shape;434;g3ec891ba402_1_18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35" name="Google Shape;435;g3ec891ba402_1_18"/>
          <p:cNvSpPr txBox="1"/>
          <p:nvPr/>
        </p:nvSpPr>
        <p:spPr>
          <a:xfrm>
            <a:off x="1005840" y="1645920"/>
            <a:ext cx="10179900" cy="466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"name": "create_issue",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"description": "Open a new issue on a GitHub repository.",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"input_schema":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"type": "object",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"properties": {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"repo":  {"type": "string"},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"title": {"type": "string"},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"body":  {"type": "string"}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},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"required": ["repo", "title"]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}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7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You didn't write this tool. The GitHub MCP server did. So what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7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IS this blob, and where have you seen its exact shape before?</a:t>
            </a:r>
            <a:endParaRPr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1" name="Google Shape;441;g3ec891ba402_1_26"/>
          <p:cNvSpPr txBox="1"/>
          <p:nvPr/>
        </p:nvSpPr>
        <p:spPr>
          <a:xfrm>
            <a:off x="731520" y="365760"/>
            <a:ext cx="10728600" cy="585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2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Connecting to a server: the tools just show up</a:t>
            </a:r>
            <a:endParaRPr/>
          </a:p>
        </p:txBody>
      </p:sp>
      <p:sp>
        <p:nvSpPr>
          <p:cNvPr id="442" name="Google Shape;442;g3ec891ba402_1_26"/>
          <p:cNvSpPr txBox="1"/>
          <p:nvPr/>
        </p:nvSpPr>
        <p:spPr>
          <a:xfrm>
            <a:off x="9601200" y="1188720"/>
            <a:ext cx="18288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0" i="0" u="none" strike="noStrike" cap="none">
                <a:solidFill>
                  <a:srgbClr val="5B21B6"/>
                </a:solidFill>
                <a:latin typeface="Courier New"/>
                <a:ea typeface="Courier New"/>
                <a:cs typeface="Courier New"/>
                <a:sym typeface="Courier New"/>
              </a:rPr>
              <a:t>Python</a:t>
            </a:r>
            <a:endParaRPr/>
          </a:p>
        </p:txBody>
      </p:sp>
      <p:sp>
        <p:nvSpPr>
          <p:cNvPr id="443" name="Google Shape;443;g3ec891ba402_1_26"/>
          <p:cNvSpPr/>
          <p:nvPr/>
        </p:nvSpPr>
        <p:spPr>
          <a:xfrm>
            <a:off x="731520" y="1463040"/>
            <a:ext cx="10728600" cy="4937700"/>
          </a:xfrm>
          <a:prstGeom prst="roundRect">
            <a:avLst>
              <a:gd name="adj" fmla="val 16667"/>
            </a:avLst>
          </a:prstGeom>
          <a:solidFill>
            <a:srgbClr val="F0F0F4"/>
          </a:solidFill>
          <a:ln w="12700" cap="flat" cmpd="sng">
            <a:solidFill>
              <a:srgbClr val="EEEEF0"/>
            </a:solidFill>
            <a:prstDash val="solid"/>
            <a:round/>
            <a:headEnd type="none" w="sm" len="sm"/>
            <a:tailEnd type="none" w="sm" len="sm"/>
          </a:ln>
          <a:effectLst>
            <a:outerShdw blurRad="40000" dist="23000" dir="5400000" rotWithShape="0">
              <a:srgbClr val="000000">
                <a:alpha val="34900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1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44" name="Google Shape;444;g3ec891ba402_1_26"/>
          <p:cNvSpPr txBox="1"/>
          <p:nvPr/>
        </p:nvSpPr>
        <p:spPr>
          <a:xfrm>
            <a:off x="1005840" y="1645920"/>
            <a:ext cx="10179900" cy="4648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mcp import ClientSession, StdioServerParameters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from mcp.client.stdio import stdio_client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# Launch someone else's GitHub server and connect to it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params = StdioServerParameters(command="npx",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args=["-y", "@modelcontextprotocol/server-github"])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async with stdio_client(params) as (read, write):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async with ClientSession(read, write) as session: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await session.initialize()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"What tools do you have?" -&gt; a list of schemas like the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last slide. Hand them straight to the model as its tools.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tools = await session.list_tools()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endParaRPr sz="1400" b="1" i="0" u="none" strike="noStrike" cap="none">
              <a:solidFill>
                <a:srgbClr val="333344"/>
              </a:solidFill>
              <a:latin typeface="Courier New"/>
              <a:ea typeface="Courier New"/>
              <a:cs typeface="Courier New"/>
              <a:sym typeface="Courier New"/>
            </a:endParaRPr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When the model picks one, you route the call to the SERVER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# instead of running your own function.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await session.call_tool("create_issue", {"repo": "...",</a:t>
            </a:r>
            <a:endParaRPr/>
          </a:p>
          <a:p>
            <a:pPr marL="0" marR="0" lvl="0" indent="0" algn="l" rtl="0"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1400" b="1" i="0" u="none" strike="noStrike" cap="none">
                <a:solidFill>
                  <a:srgbClr val="333344"/>
                </a:solidFill>
                <a:latin typeface="Courier New"/>
                <a:ea typeface="Courier New"/>
                <a:cs typeface="Courier New"/>
                <a:sym typeface="Courier New"/>
              </a:rPr>
              <a:t>                                                 "title": "..."})</a:t>
            </a:r>
            <a:endParaRPr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0" name="Google Shape;450;g3ec891ba402_1_3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Works in both directions</a:t>
            </a:r>
            <a:endParaRPr/>
          </a:p>
        </p:txBody>
      </p:sp>
      <p:sp>
        <p:nvSpPr>
          <p:cNvPr id="451" name="Google Shape;451;g3ec891ba402_1_34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Consuming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is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 the prior slide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our agent connects to servers other people maintain - GitHub, a database, a browser.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tool list grows without you writing any tools.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Exposing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goes the other way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Y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ou wrap YOUR app as an MCP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Now someone else's agent - Claude Desktop,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Cursor, whatever - can use it.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That second one is a real option for your final project. 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Expose a couple of your app's actions as MCP tools and you can drive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whole thing from Claude Desktop, no UI required - which is a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pretty different way to think about what your app even IS.</a:t>
            </a:r>
            <a:endParaRPr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ec891ba402_1_40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Every server you add is more authorized access</a:t>
            </a:r>
            <a:endParaRPr/>
          </a:p>
        </p:txBody>
      </p:sp>
      <p:sp>
        <p:nvSpPr>
          <p:cNvPr id="458" name="Google Shape;458;g3ec891ba402_1_40"/>
          <p:cNvSpPr txBox="1"/>
          <p:nvPr/>
        </p:nvSpPr>
        <p:spPr>
          <a:xfrm>
            <a:off x="914400" y="1463040"/>
            <a:ext cx="10362900" cy="4817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Straight back to the tools-are-authorized-access idea, because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MCP raises the stakes on it. When you connect a server, you're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handing its tools - and whoever wrote them - the same standing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in your agent that your own functions have.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And now it's literally 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someone else's code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 running on your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behalf, often as a process on your machine. A sketchy MCP server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is a sketchy dependency that can also read whatever you point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your agent at - same trust question as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ourier Prime"/>
                <a:ea typeface="Courier Prime"/>
                <a:cs typeface="Courier Prime"/>
                <a:sym typeface="Courier Prime"/>
              </a:rPr>
              <a:t>npm install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bigger blast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radius.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C</a:t>
            </a: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onnect servers you'd vouch for, keep the dangerous ones </a:t>
            </a: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sandboxed.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very server and to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ol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you add widens what a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prompt-injected agent could reach.</a:t>
            </a:r>
            <a:endParaRPr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DE9FE"/>
        </a:solidFill>
        <a:effectLst/>
      </p:bgPr>
    </p:bg>
    <p:spTree>
      <p:nvGrpSpPr>
        <p:cNvPr id="1" name="Shape 4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" name="Google Shape;464;p24"/>
          <p:cNvSpPr txBox="1"/>
          <p:nvPr/>
        </p:nvSpPr>
        <p:spPr>
          <a:xfrm>
            <a:off x="914400" y="2286000"/>
            <a:ext cx="10362895" cy="228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1" i="0" u="none" strike="noStrike" cap="none">
                <a:solidFill>
                  <a:srgbClr val="5B21B6"/>
                </a:solidFill>
                <a:latin typeface="Calibri"/>
                <a:ea typeface="Calibri"/>
                <a:cs typeface="Calibri"/>
                <a:sym typeface="Calibri"/>
              </a:rPr>
              <a:t>Where this goes</a:t>
            </a:r>
            <a:endParaRPr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0" name="Google Shape;470;p25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Cursor and Claude Code are this loop, bigger</a:t>
            </a:r>
            <a:endParaRPr/>
          </a:p>
        </p:txBody>
      </p:sp>
      <p:sp>
        <p:nvSpPr>
          <p:cNvPr id="471" name="Google Shape;471;p25"/>
          <p:cNvSpPr txBox="1"/>
          <p:nvPr/>
        </p:nvSpPr>
        <p:spPr>
          <a:xfrm>
            <a:off x="914400" y="1463040"/>
            <a:ext cx="10362900" cy="39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So here's what's actually inside the agent you've been leaning on all semester.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same loop - append to messages, call the model, parse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response, run the tools, repeat.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much longer tool list - read, write, edit, bash, glob, grep,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web fetch, sometimes browser control, sometimes more.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Sharper prompting, and a system prompt that knows your codebase.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 permission system that gates the destructive tools.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Some context management to survive really long sessions.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Everything else is just tools, polish, optimizations</a:t>
            </a:r>
            <a:endParaRPr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ec891ba402_1_204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gets harder at scale</a:t>
            </a:r>
            <a:endParaRPr/>
          </a:p>
        </p:txBody>
      </p:sp>
      <p:sp>
        <p:nvSpPr>
          <p:cNvPr id="478" name="Google Shape;478;g3ec891ba402_1_204"/>
          <p:cNvSpPr txBox="1"/>
          <p:nvPr/>
        </p:nvSpPr>
        <p:spPr>
          <a:xfrm>
            <a:off x="914400" y="1463040"/>
            <a:ext cx="10362900" cy="200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handful of things start to bite once the tool list grows: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Tool selection.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a few tools the model almost always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picks the right one. With 50 it starts picking wrong, so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descriptions matter way more and sometimes you end up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splitting tools into groups or defer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loading them.</a:t>
            </a:r>
            <a:endParaRPr/>
          </a:p>
        </p:txBody>
      </p:sp>
      <p:pic>
        <p:nvPicPr>
          <p:cNvPr id="479" name="Google Shape;479;g3ec891ba402_1_20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332395" y="3677925"/>
            <a:ext cx="5299200" cy="2673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5" name="Google Shape;485;g3ec891ba402_1_212"/>
          <p:cNvSpPr txBox="1"/>
          <p:nvPr/>
        </p:nvSpPr>
        <p:spPr>
          <a:xfrm>
            <a:off x="731520" y="365760"/>
            <a:ext cx="107286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gets harder at scale</a:t>
            </a:r>
            <a:endParaRPr/>
          </a:p>
        </p:txBody>
      </p:sp>
      <p:sp>
        <p:nvSpPr>
          <p:cNvPr id="486" name="Google Shape;486;g3ec891ba402_1_212"/>
          <p:cNvSpPr txBox="1"/>
          <p:nvPr/>
        </p:nvSpPr>
        <p:spPr>
          <a:xfrm>
            <a:off x="914400" y="1463040"/>
            <a:ext cx="10362900" cy="190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handful of things start to bite once the tool list grows: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Context length.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Long sessions just eat tokens - you're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re-sending the whole history every turn, so eventually you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have to summarize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, cache,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or trim it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or you spend lots of dollars and time.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endParaRPr/>
          </a:p>
        </p:txBody>
      </p:sp>
      <p:pic>
        <p:nvPicPr>
          <p:cNvPr id="487" name="Google Shape;487;g3ec891ba402_1_21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743200" y="3301850"/>
            <a:ext cx="9050500" cy="23941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4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3" name="Google Shape;493;p26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What gets harder at scale</a:t>
            </a:r>
            <a:endParaRPr/>
          </a:p>
        </p:txBody>
      </p:sp>
      <p:sp>
        <p:nvSpPr>
          <p:cNvPr id="494" name="Google Shape;494;p26"/>
          <p:cNvSpPr txBox="1"/>
          <p:nvPr/>
        </p:nvSpPr>
        <p:spPr>
          <a:xfrm>
            <a:off x="914400" y="1463040"/>
            <a:ext cx="10362900" cy="161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A handful of things start to bite once the tool list grows: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 recovery.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Tools fail - files don't exist, commands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error out, the network drops.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A good agent reads the error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and tries something else; a bad one gives up or just loops.</a:t>
            </a: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This requires you to provide good errors…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id="495" name="Google Shape;495;p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684250" y="3526122"/>
            <a:ext cx="8415776" cy="24716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1" name="Google Shape;501;p27"/>
          <p:cNvSpPr txBox="1"/>
          <p:nvPr/>
        </p:nvSpPr>
        <p:spPr>
          <a:xfrm>
            <a:off x="731520" y="365760"/>
            <a:ext cx="10728655" cy="91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3600" b="1" i="0" u="none" strike="noStrike" cap="none">
                <a:solidFill>
                  <a:srgbClr val="1A1A2E"/>
                </a:solidFill>
                <a:latin typeface="Calibri"/>
                <a:ea typeface="Calibri"/>
                <a:cs typeface="Calibri"/>
                <a:sym typeface="Calibri"/>
              </a:rPr>
              <a:t>Where this goes next</a:t>
            </a:r>
            <a:endParaRPr/>
          </a:p>
        </p:txBody>
      </p:sp>
      <p:sp>
        <p:nvSpPr>
          <p:cNvPr id="502" name="Google Shape;502;p27"/>
          <p:cNvSpPr txBox="1"/>
          <p:nvPr/>
        </p:nvSpPr>
        <p:spPr>
          <a:xfrm>
            <a:off x="914400" y="1463040"/>
            <a:ext cx="10362900" cy="437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400" b="0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If you take three things out of today:</a:t>
            </a:r>
            <a:endParaRPr sz="2400" b="0" i="0" u="none" strike="noStrike" cap="none">
              <a:solidFill>
                <a:srgbClr val="333344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An agent is a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loop over an LLM call, with tools.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The model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has no memory, so you're the one carrying the messages list.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Tools are authorized access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- the narrower the tool, the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smaller the blast radius when something goes sideways.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The agents you use every day are </a:t>
            </a:r>
            <a:r>
              <a:rPr lang="en-US" sz="2000" b="1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this same loop, just bigger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  - no hidden runtime under there, only more tools and polish.</a:t>
            </a:r>
            <a:endParaRPr/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endParaRPr sz="2000" b="0" i="0" u="none" strike="noStrike" cap="none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Next time: demo day, plus </a:t>
            </a:r>
            <a:r>
              <a:rPr lang="en-US" sz="2400" b="1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where we go from here</a:t>
            </a:r>
            <a:r>
              <a:rPr lang="en-US" sz="2400" b="1" i="0" u="none" strike="noStrike" cap="none">
                <a:solidFill>
                  <a:srgbClr val="333344"/>
                </a:solidFill>
                <a:latin typeface="Calibri"/>
                <a:ea typeface="Calibri"/>
                <a:cs typeface="Calibri"/>
                <a:sym typeface="Calibri"/>
              </a:rPr>
              <a:t>.</a:t>
            </a:r>
            <a:endParaRPr/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Bring your final project - we'll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demo them all</a:t>
            </a:r>
            <a:endParaRPr sz="2000">
              <a:solidFill>
                <a:srgbClr val="666677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57200" marR="0" lvl="1" indent="0" algn="l" rtl="0"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 T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hen we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’ll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close out the </a:t>
            </a:r>
            <a:r>
              <a:rPr lang="en-US" sz="2000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quarter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 with a tour of where all</a:t>
            </a:r>
            <a:r>
              <a:rPr lang="en-US"/>
              <a:t> </a:t>
            </a:r>
            <a:r>
              <a:rPr lang="en-US" sz="2000" b="0" i="0" u="none" strike="noStrike" cap="none">
                <a:solidFill>
                  <a:srgbClr val="666677"/>
                </a:solidFill>
                <a:latin typeface="Calibri"/>
                <a:ea typeface="Calibri"/>
                <a:cs typeface="Calibri"/>
                <a:sym typeface="Calibri"/>
              </a:rPr>
              <a:t>this connects to the rest of CS.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236</TotalTime>
  <Words>11090</Words>
  <Application>Microsoft Macintosh PowerPoint</Application>
  <PresentationFormat>Widescreen</PresentationFormat>
  <Paragraphs>663</Paragraphs>
  <Slides>56</Slides>
  <Notes>56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56</vt:i4>
      </vt:variant>
    </vt:vector>
  </HeadingPairs>
  <TitlesOfParts>
    <vt:vector size="61" baseType="lpstr">
      <vt:lpstr>Courier Prime</vt:lpstr>
      <vt:lpstr>Arial</vt:lpstr>
      <vt:lpstr>Calibri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Andrew Aymeloglu</cp:lastModifiedBy>
  <cp:revision>3</cp:revision>
  <dcterms:created xsi:type="dcterms:W3CDTF">2013-01-27T09:14:16Z</dcterms:created>
  <dcterms:modified xsi:type="dcterms:W3CDTF">2026-06-02T22:35:35Z</dcterms:modified>
</cp:coreProperties>
</file>