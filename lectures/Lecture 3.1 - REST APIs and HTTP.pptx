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embeddedFontLst>
    <p:embeddedFont>
      <p:font typeface="Courier Prime" pitchFamily="49" charset="77"/>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6" roundtripDataSignature="AMtx7mg8ekrBkWfsuRfpKkH1LLGZHpD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font" Target="fonts/font1.fntdata"/><Relationship Id="rId46" Type="http://schemas.openxmlformats.org/officeDocument/2006/relationships/font" Target="fonts/font2.fntdata"/><Relationship Id="rId47" Type="http://schemas.openxmlformats.org/officeDocument/2006/relationships/font" Target="fonts/font3.fntdata"/><Relationship Id="rId48" Type="http://schemas.openxmlformats.org/officeDocument/2006/relationships/font" Target="fonts/font4.fntdata"/><Relationship Id="rId56" Type="http://customschemas.google.com/relationships/presentationmetadata" Target="metadata"/><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Frame REST as the answer to a design problem, not a reference manual.</a:t>
            </a:r>
            <a:endParaRPr/>
          </a:p>
        </p:txBody>
      </p:sp>
      <p:sp>
        <p:nvSpPr>
          <p:cNvPr id="92" name="Google Shape;92;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d5effa7ec8_1_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g3d5effa7ec8_1_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whole lecture hinges on framing this as a design problem. Resist the urge to jump to 'REST is an architectural style.' Stay with the conversation metaphor.</a:t>
            </a:r>
            <a:endParaRPr/>
          </a:p>
        </p:txBody>
      </p:sp>
      <p:sp>
        <p:nvSpPr>
          <p:cNvPr id="98" name="Google Shape;98;g3d5effa7ec8_1_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 name="Google Shape;104;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whole lecture hinges on framing this as a design problem. Resist the urge to jump to 'REST is an architectural style.' Stay with the conversation metaphor. Today: how people learned to design that conversation well.</a:t>
            </a:r>
            <a:endParaRPr/>
          </a:p>
          <a:p>
            <a:pPr marL="0" lvl="0" indent="0" algn="l" rtl="0">
              <a:spcBef>
                <a:spcPts val="0"/>
              </a:spcBef>
              <a:spcAft>
                <a:spcPts val="0"/>
              </a:spcAft>
              <a:buNone/>
            </a:pPr>
            <a:endParaRPr/>
          </a:p>
        </p:txBody>
      </p:sp>
      <p:sp>
        <p:nvSpPr>
          <p:cNvPr id="105" name="Google Shape;105;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1" name="Google Shape;111;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TCP = Transfer Control Protocol</a:t>
            </a:r>
            <a:endParaRPr/>
          </a:p>
          <a:p>
            <a:pPr marL="0" lvl="0" indent="0" algn="l" rtl="0">
              <a:spcBef>
                <a:spcPts val="0"/>
              </a:spcBef>
              <a:spcAft>
                <a:spcPts val="0"/>
              </a:spcAft>
              <a:buNone/>
            </a:pPr>
            <a:r>
              <a:rPr lang="en-US"/>
              <a:t>TLS = Transport Layer Security</a:t>
            </a:r>
            <a:endParaRPr/>
          </a:p>
        </p:txBody>
      </p:sp>
      <p:sp>
        <p:nvSpPr>
          <p:cNvPr id="112" name="Google Shape;112;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Stateless in the sense that each exchange is self-contained. We'll come back to why that matters.</a:t>
            </a:r>
            <a:endParaRPr/>
          </a:p>
        </p:txBody>
      </p:sp>
      <p:sp>
        <p:nvSpPr>
          <p:cNvPr id="119" name="Google Shape;119;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5" name="Google Shape;12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Short section. Name RPC, name the pains, move on. Don't dwell.</a:t>
            </a:r>
            <a:endParaRPr/>
          </a:p>
        </p:txBody>
      </p:sp>
      <p:sp>
        <p:nvSpPr>
          <p:cNvPr id="126" name="Google Shape;126;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d5effa7ec8_1_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1" name="Google Shape;131;g3d5effa7ec8_1_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One line on RPC, one example, move on. Do NOT get into CORBA/SOAP/XML-RPC archaeology.</a:t>
            </a:r>
            <a:endParaRPr/>
          </a:p>
        </p:txBody>
      </p:sp>
      <p:sp>
        <p:nvSpPr>
          <p:cNvPr id="132" name="Google Shape;132;g3d5effa7ec8_1_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8" name="Google Shape;138;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One line on RPC, one example, move on. Do NOT get into CORBA/SOAP/XML-RPC archaeology.</a:t>
            </a:r>
            <a:endParaRPr/>
          </a:p>
        </p:txBody>
      </p:sp>
      <p:sp>
        <p:nvSpPr>
          <p:cNvPr id="139" name="Google Shape;139;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d5effa7ec8_1_3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5" name="Google Shape;145;g3d5effa7ec8_1_3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These three pains are the motivation for everything in Section 4.</a:t>
            </a:r>
            <a:endParaRPr/>
          </a:p>
        </p:txBody>
      </p:sp>
      <p:sp>
        <p:nvSpPr>
          <p:cNvPr id="146" name="Google Shape;146;g3d5effa7ec8_1_3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d5effa7ec8_1_3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g3d5effa7ec8_1_3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These three pains are the motivation for everything in Section 4.</a:t>
            </a:r>
            <a:endParaRPr/>
          </a:p>
        </p:txBody>
      </p:sp>
      <p:sp>
        <p:nvSpPr>
          <p:cNvPr id="153" name="Google Shape;153;g3d5effa7ec8_1_3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 name="Google Shape;159;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These three pains are the motivation for everything in Section 4.</a:t>
            </a:r>
            <a:endParaRPr/>
          </a:p>
        </p:txBody>
      </p:sp>
      <p:sp>
        <p:nvSpPr>
          <p:cNvPr id="160" name="Google Shape;160;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6" name="Google Shape;166;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Fish for: (a) NAMING - did they land on something like /messages or     /channels/general/messages? This is the URL-as-resource intuition. (b) VERBS - did they distinguish 'read' from 'write' from 'delete'     somehow? This is the HTTP method intuition. (c) STATE - did anyone ask 'how does the server know who I am?'     Good! That's the stateless/auth question. The goal is for Section 4 to feel like validation of what they already said, not a lecture from the mountaintop.</a:t>
            </a:r>
            <a:endParaRPr/>
          </a:p>
        </p:txBody>
      </p:sp>
      <p:sp>
        <p:nvSpPr>
          <p:cNvPr id="167" name="Google Shape;167;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d5effa7ec8_1_3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4" name="Google Shape;174;g3d5effa7ec8_1_3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g3d5effa7ec8_1_36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2" name="Google Shape;182;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 name="Google Shape;183;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d5effa7ec8_1_34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g3d5effa7ec8_1_34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constraint should be paired with the pain from Section 2 that it prevents. Uniform interface kills verb proliferation. Statelessness kills hidden-state coupling. Client-server lets frontend and backend teams actually work in parallel.</a:t>
            </a:r>
            <a:endParaRPr/>
          </a:p>
        </p:txBody>
      </p:sp>
      <p:sp>
        <p:nvSpPr>
          <p:cNvPr id="191" name="Google Shape;191;g3d5effa7ec8_1_34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d5effa7ec8_1_35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7" name="Google Shape;197;g3d5effa7ec8_1_35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constraint should be paired with the pain from Section 2 that it prevents. Uniform interface kills verb proliferation. Statelessness kills hidden-state coupling. Client-server lets frontend and backend teams actually work in parallel.</a:t>
            </a:r>
            <a:endParaRPr/>
          </a:p>
        </p:txBody>
      </p:sp>
      <p:sp>
        <p:nvSpPr>
          <p:cNvPr id="198" name="Google Shape;198;g3d5effa7ec8_1_35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constraint should be paired with the pain from Section 2 that it prevents. Uniform interface kills verb proliferation. Statelessness kills hidden-state coupling. Client-server lets frontend and backend teams actually work in parallel.</a:t>
            </a:r>
            <a:endParaRPr/>
          </a:p>
        </p:txBody>
      </p:sp>
      <p:sp>
        <p:nvSpPr>
          <p:cNvPr id="205" name="Google Shape;205;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1" name="Google Shape;211;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scalable web service on earth runs on this trick.</a:t>
            </a:r>
            <a:endParaRPr/>
          </a:p>
          <a:p>
            <a:pPr marL="0" lvl="0" indent="0" algn="l" rtl="0">
              <a:spcBef>
                <a:spcPts val="0"/>
              </a:spcBef>
              <a:spcAft>
                <a:spcPts val="0"/>
              </a:spcAft>
              <a:buNone/>
            </a:pPr>
            <a:endParaRPr/>
          </a:p>
        </p:txBody>
      </p:sp>
      <p:sp>
        <p:nvSpPr>
          <p:cNvPr id="212" name="Google Shape;212;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8" name="Google Shape;218;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Now the mechanics. Connect each piece back to a constraint.</a:t>
            </a:r>
            <a:endParaRPr/>
          </a:p>
        </p:txBody>
      </p:sp>
      <p:sp>
        <p:nvSpPr>
          <p:cNvPr id="219" name="Google Shape;219;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d5effa7ec8_1_3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g3d5effa7ec8_1_3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uniform interface constraint made concrete. The URL is for naming. The HTTP method carries the action. Connect to the student's instincts from the discussion.</a:t>
            </a:r>
            <a:endParaRPr/>
          </a:p>
        </p:txBody>
      </p:sp>
      <p:sp>
        <p:nvSpPr>
          <p:cNvPr id="225" name="Google Shape;225;g3d5effa7ec8_1_3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uniform interface constraint made concrete. The URL is for naming. The HTTP method carries the action. Connect to the student's instincts from the discussion.</a:t>
            </a:r>
            <a:endParaRPr/>
          </a:p>
        </p:txBody>
      </p:sp>
      <p:sp>
        <p:nvSpPr>
          <p:cNvPr id="232" name="Google Shape;232;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d5effa7ec8_1_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8" name="Google Shape;238;g3d5effa7ec8_1_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Idempotence sounds abstract until you tie it to network unreliability. The moment a student's phone drops signal mid-request, they care a lot about whether retrying is safe.</a:t>
            </a:r>
            <a:endParaRPr/>
          </a:p>
        </p:txBody>
      </p:sp>
      <p:sp>
        <p:nvSpPr>
          <p:cNvPr id="239" name="Google Shape;239;g3d5effa7ec8_1_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5" name="Google Shape;245;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Idempotence sounds abstract until you tie it to network unreliability. The moment a student's phone drops signal mid-request, they care a lot about whether retrying is safe.</a:t>
            </a:r>
            <a:endParaRPr/>
          </a:p>
        </p:txBody>
      </p:sp>
      <p:sp>
        <p:nvSpPr>
          <p:cNvPr id="246" name="Google Shape;246;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2" name="Google Shape;252;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table that makes REST click. Every entry is URL + method = one clear meaning. No one invented new verbs. Nothing is ambiguous. Walk through a few and ask the class what each does.</a:t>
            </a:r>
            <a:endParaRPr/>
          </a:p>
        </p:txBody>
      </p:sp>
      <p:sp>
        <p:nvSpPr>
          <p:cNvPr id="253" name="Google Shape;253;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1" name="Google Shape;261;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Status codes are another uniform-interface win. Every REST API on earth uses this same numbering. Clients don't have to parse error messages: they can branch on the code.</a:t>
            </a:r>
            <a:endParaRPr/>
          </a:p>
        </p:txBody>
      </p:sp>
      <p:sp>
        <p:nvSpPr>
          <p:cNvPr id="262" name="Google Shape;262;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8" name="Google Shape;268;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Keep headers brief. Students mostly need to recognize Content-Type and Authorization for now. The rest is 'you'll see these in the wild; don't be scared of them.'</a:t>
            </a:r>
            <a:endParaRPr/>
          </a:p>
        </p:txBody>
      </p:sp>
      <p:sp>
        <p:nvSpPr>
          <p:cNvPr id="269" name="Google Shape;269;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5" name="Google Shape;275;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Students already met JSON in 2.1. This slide is a reminder, not a new introduction. Main point: JSON is the default wire format, and that choice is boring enough that you stop thinking about it.</a:t>
            </a:r>
            <a:endParaRPr/>
          </a:p>
        </p:txBody>
      </p:sp>
      <p:sp>
        <p:nvSpPr>
          <p:cNvPr id="276" name="Google Shape;276;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2" name="Google Shape;282;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Now zoom all the way in. Show a raw HTTP exchange. The point is to demystify: nothing here is magic, it is all plain text.</a:t>
            </a:r>
            <a:endParaRPr/>
          </a:p>
        </p:txBody>
      </p:sp>
      <p:sp>
        <p:nvSpPr>
          <p:cNvPr id="283" name="Google Shape;283;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what goes across the TCP connection. Literally these bytes. Request line, then headers, then a blank line, then the body. That's the whole protocol. Walk through each line.</a:t>
            </a:r>
            <a:endParaRPr/>
          </a:p>
        </p:txBody>
      </p:sp>
      <p:sp>
        <p:nvSpPr>
          <p:cNvPr id="289" name="Google Shape;289;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7" name="Google Shape;297;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201 because a new resource was created. The response body echoes back the canonical representation, including the server-assigned id and timestamp. This is a common REST pattern: POST returns the created resource.</a:t>
            </a:r>
            <a:endParaRPr/>
          </a:p>
        </p:txBody>
      </p:sp>
      <p:sp>
        <p:nvSpPr>
          <p:cNvPr id="298" name="Google Shape;298;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d5effa7ec8_1_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6" name="Google Shape;306;g3d5effa7ec8_1_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curl is the no-nonsense command-line HTTP client. -v shows you the raw request and response with &gt; and &lt; prefixes. When you're debugging an API, this is usually the first tool you reach for. Assignment 2 will have you use it.</a:t>
            </a:r>
            <a:endParaRPr/>
          </a:p>
        </p:txBody>
      </p:sp>
      <p:sp>
        <p:nvSpPr>
          <p:cNvPr id="307" name="Google Shape;307;g3d5effa7ec8_1_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5" name="Google Shape;315;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curl is the no-nonsense command-line HTTP client. -v shows you the raw request and response with &gt; and &lt; prefixes. When you're debugging an API, this is usually the first tool you reach for. Assignment 2 will have you use it.</a:t>
            </a:r>
            <a:endParaRPr/>
          </a:p>
        </p:txBody>
      </p:sp>
      <p:sp>
        <p:nvSpPr>
          <p:cNvPr id="316" name="Google Shape;316;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4" name="Google Shape;324;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Give the class 2 minutes. This is a reading comprehension exercise: can they parse a raw HTTP request and say what it means? If they can do this, they understand REST at the level they need for assignment 2.</a:t>
            </a:r>
            <a:endParaRPr/>
          </a:p>
        </p:txBody>
      </p:sp>
      <p:sp>
        <p:nvSpPr>
          <p:cNvPr id="325" name="Google Shape;325;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3" name="Google Shape;333;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Key teaching moment on idempotence: the client could send this twice (say, because their network dropped and they retried) and the server's state ends up the same either way. That is the entire point of the idempotence property.</a:t>
            </a:r>
            <a:endParaRPr/>
          </a:p>
        </p:txBody>
      </p:sp>
      <p:sp>
        <p:nvSpPr>
          <p:cNvPr id="334" name="Google Shape;334;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2" name="Google Shape;342;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Forward reference to 3.2 so students know where this is going, and a concrete pointer to the assignment so the lecture content feels connected to work they'll actually do.</a:t>
            </a:r>
            <a:endParaRPr/>
          </a:p>
        </p:txBody>
      </p:sp>
      <p:sp>
        <p:nvSpPr>
          <p:cNvPr id="343" name="Google Shape;343;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3d5effa7ec8_1_3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9" name="Google Shape;349;g3d5effa7ec8_1_3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Forward reference to 3.2 so students know where this is going, and a concrete pointer to the assignment so the lecture content feels connected to work they'll actually do.</a:t>
            </a:r>
            <a:endParaRPr/>
          </a:p>
        </p:txBody>
      </p:sp>
      <p:sp>
        <p:nvSpPr>
          <p:cNvPr id="350" name="Google Shape;350;g3d5effa7ec8_1_3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d5effa7ec8_1_5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6" name="Google Shape;356;g3d5effa7ec8_1_5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Short section. The goal is for students to feel the misery of writing a handler by hand, then want the framework. Don't dwell - one ugly code slide is enough.</a:t>
            </a:r>
            <a:endParaRPr/>
          </a:p>
        </p:txBody>
      </p:sp>
      <p:sp>
        <p:nvSpPr>
          <p:cNvPr id="357" name="Google Shape;357;g3d5effa7ec8_1_5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d5effa7ec8_1_5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2" name="Google Shape;362;g3d5effa7ec8_1_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Deliberate callback to 3.1 so students have the wire-level content fresh in mind. We are going to build up to a framework by showing what's hiding behind it.</a:t>
            </a:r>
            <a:endParaRPr/>
          </a:p>
        </p:txBody>
      </p:sp>
      <p:sp>
        <p:nvSpPr>
          <p:cNvPr id="363" name="Google Shape;363;g3d5effa7ec8_1_5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d5effa7ec8_1_6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9" name="Google Shape;369;g3d5effa7ec8_1_6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list is deliberately long. The point is that this is a LOT of manual work for one endpoint.</a:t>
            </a:r>
            <a:endParaRPr/>
          </a:p>
          <a:p>
            <a:pPr marL="0" lvl="0" indent="0" algn="l" rtl="0">
              <a:spcBef>
                <a:spcPts val="0"/>
              </a:spcBef>
              <a:spcAft>
                <a:spcPts val="0"/>
              </a:spcAft>
              <a:buNone/>
            </a:pPr>
            <a:endParaRPr/>
          </a:p>
          <a:p>
            <a:pPr marL="0" lvl="0" indent="0" algn="l" rtl="0">
              <a:spcBef>
                <a:spcPts val="0"/>
              </a:spcBef>
              <a:spcAft>
                <a:spcPts val="0"/>
              </a:spcAft>
              <a:buNone/>
            </a:pPr>
            <a:r>
              <a:rPr lang="en-US"/>
              <a:t>That's the minimum. Per request. Before thinking about errors.</a:t>
            </a:r>
            <a:endParaRPr/>
          </a:p>
          <a:p>
            <a:pPr marL="0" lvl="0" indent="0" algn="l" rtl="0">
              <a:spcBef>
                <a:spcPts val="0"/>
              </a:spcBef>
              <a:spcAft>
                <a:spcPts val="0"/>
              </a:spcAft>
              <a:buNone/>
            </a:pPr>
            <a:endParaRPr/>
          </a:p>
        </p:txBody>
      </p:sp>
      <p:sp>
        <p:nvSpPr>
          <p:cNvPr id="370" name="Google Shape;370;g3d5effa7ec8_1_6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3d5effa7ec8_1_6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6" name="Google Shape;376;g3d5effa7ec8_1_6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Walk through this live. Every line is doing something a framework would do for you. No routing (just an if), no body parsing, no JSON, no error handling, no concurrency (one request at a time), no graceful shutdown. And this is just the 'hello world' of web servers.</a:t>
            </a:r>
            <a:endParaRPr/>
          </a:p>
          <a:p>
            <a:pPr marL="0" lvl="0" indent="0" algn="l" rtl="0">
              <a:spcBef>
                <a:spcPts val="0"/>
              </a:spcBef>
              <a:spcAft>
                <a:spcPts val="0"/>
              </a:spcAft>
              <a:buNone/>
            </a:pPr>
            <a:endParaRPr/>
          </a:p>
          <a:p>
            <a:pPr marL="0" lvl="0" indent="0" algn="l" rtl="0">
              <a:spcBef>
                <a:spcPts val="0"/>
              </a:spcBef>
              <a:spcAft>
                <a:spcPts val="0"/>
              </a:spcAft>
              <a:buNone/>
            </a:pPr>
            <a:r>
              <a:rPr lang="en-US"/>
              <a:t>I needed help to write this one.</a:t>
            </a:r>
            <a:endParaRPr/>
          </a:p>
        </p:txBody>
      </p:sp>
      <p:sp>
        <p:nvSpPr>
          <p:cNvPr id="377" name="Google Shape;377;g3d5effa7ec8_1_6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3d5effa7ec8_1_7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5" name="Google Shape;385;g3d5effa7ec8_1_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Transition slide. We've seen the misery. We're about to see the way out. Tee up the type hints pivot without actually introducing FastAPI yet.</a:t>
            </a:r>
            <a:endParaRPr/>
          </a:p>
        </p:txBody>
      </p:sp>
      <p:sp>
        <p:nvSpPr>
          <p:cNvPr id="386" name="Google Shape;386;g3d5effa7ec8_1_7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0"/>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0"/>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2"/>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2"/>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3"/>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3"/>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4"/>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4"/>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4"/>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4"/>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6"/>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6"/>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6"/>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7"/>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7"/>
          <p:cNvSpPr>
            <a:spLocks noGrp="1"/>
          </p:cNvSpPr>
          <p:nvPr>
            <p:ph type="pic" idx="2"/>
          </p:nvPr>
        </p:nvSpPr>
        <p:spPr>
          <a:xfrm>
            <a:off x="1792288" y="612775"/>
            <a:ext cx="5486400" cy="4114800"/>
          </a:xfrm>
          <a:prstGeom prst="rect">
            <a:avLst/>
          </a:prstGeom>
          <a:noFill/>
          <a:ln>
            <a:noFill/>
          </a:ln>
        </p:spPr>
      </p:sp>
      <p:sp>
        <p:nvSpPr>
          <p:cNvPr id="64" name="Google Shape;64;p37"/>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8"/>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9"/>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9"/>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8"/>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3.1</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REST APIs and HTTP</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93"/>
        <p:cNvGrpSpPr/>
        <p:nvPr/>
      </p:nvGrpSpPr>
      <p:grpSpPr>
        <a:xfrm>
          <a:off x="0" y="0"/>
          <a:ext cx="0" cy="0"/>
          <a:chOff x="0" y="0"/>
          <a:chExt cx="0" cy="0"/>
        </a:xfrm>
      </p:grpSpPr>
      <p:sp>
        <p:nvSpPr>
          <p:cNvPr id="94" name="Google Shape;94;p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Two Computers. One Conversation.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9"/>
        <p:cNvGrpSpPr/>
        <p:nvPr/>
      </p:nvGrpSpPr>
      <p:grpSpPr>
        <a:xfrm>
          <a:off x="0" y="0"/>
          <a:ext cx="0" cy="0"/>
          <a:chOff x="0" y="0"/>
          <a:chExt cx="0" cy="0"/>
        </a:xfrm>
      </p:grpSpPr>
      <p:sp>
        <p:nvSpPr>
          <p:cNvPr id="100" name="Google Shape;100;g3d5effa7ec8_1_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problem we're actually solving</a:t>
            </a:r>
            <a:endParaRPr/>
          </a:p>
        </p:txBody>
      </p:sp>
      <p:sp>
        <p:nvSpPr>
          <p:cNvPr id="101" name="Google Shape;101;g3d5effa7ec8_1_2"/>
          <p:cNvSpPr txBox="1"/>
          <p:nvPr/>
        </p:nvSpPr>
        <p:spPr>
          <a:xfrm>
            <a:off x="914400" y="1463040"/>
            <a:ext cx="103629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have a chat app. It runs in a browser.</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messages live on a server somewhere in a data center.</a:t>
            </a:r>
            <a:endParaRPr/>
          </a:p>
          <a:p>
            <a:pPr marL="0" marR="0" lvl="0" indent="0" algn="l" rtl="0">
              <a:spcBef>
                <a:spcPts val="60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6"/>
        <p:cNvGrpSpPr/>
        <p:nvPr/>
      </p:nvGrpSpPr>
      <p:grpSpPr>
        <a:xfrm>
          <a:off x="0" y="0"/>
          <a:ext cx="0" cy="0"/>
          <a:chOff x="0" y="0"/>
          <a:chExt cx="0" cy="0"/>
        </a:xfrm>
      </p:grpSpPr>
      <p:sp>
        <p:nvSpPr>
          <p:cNvPr id="107" name="Google Shape;107;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problem we're actually solving</a:t>
            </a:r>
            <a:endParaRPr/>
          </a:p>
        </p:txBody>
      </p:sp>
      <p:sp>
        <p:nvSpPr>
          <p:cNvPr id="108" name="Google Shape;108;p3"/>
          <p:cNvSpPr txBox="1"/>
          <p:nvPr/>
        </p:nvSpPr>
        <p:spPr>
          <a:xfrm>
            <a:off x="914400" y="1463040"/>
            <a:ext cx="10362900" cy="4956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have a chat app. It runs in a browser.</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messages live on a server somewhere in a data center.</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 time someone opens the app, you need to get those messages out of the server and into the browser.</a:t>
            </a:r>
            <a:endParaRPr sz="1800"/>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 time someone sends one, you need the reverse.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These two computers have to have a </a:t>
            </a:r>
            <a:r>
              <a:rPr lang="en-US" sz="2400" b="1" i="0" u="none" strike="noStrike" cap="none">
                <a:solidFill>
                  <a:srgbClr val="333344"/>
                </a:solidFill>
                <a:latin typeface="Calibri"/>
                <a:ea typeface="Calibri"/>
                <a:cs typeface="Calibri"/>
                <a:sym typeface="Calibri"/>
              </a:rPr>
              <a:t>conversation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 does that conversation look like?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Who starts it? Who talks next? What do they say?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3"/>
        <p:cNvGrpSpPr/>
        <p:nvPr/>
      </p:nvGrpSpPr>
      <p:grpSpPr>
        <a:xfrm>
          <a:off x="0" y="0"/>
          <a:ext cx="0" cy="0"/>
          <a:chOff x="0" y="0"/>
          <a:chExt cx="0" cy="0"/>
        </a:xfrm>
      </p:grpSpPr>
      <p:sp>
        <p:nvSpPr>
          <p:cNvPr id="114" name="Google Shape;114;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network doesn't give you much</a:t>
            </a:r>
            <a:endParaRPr/>
          </a:p>
        </p:txBody>
      </p:sp>
      <p:sp>
        <p:nvSpPr>
          <p:cNvPr id="115" name="Google Shape;115;p4"/>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At the bottom, the internet is just </a:t>
            </a:r>
            <a:r>
              <a:rPr lang="en-US" sz="2400" b="1" i="0" u="none" strike="noStrike" cap="none">
                <a:solidFill>
                  <a:srgbClr val="333344"/>
                </a:solidFill>
                <a:latin typeface="Calibri"/>
                <a:ea typeface="Calibri"/>
                <a:cs typeface="Calibri"/>
                <a:sym typeface="Calibri"/>
              </a:rPr>
              <a:t>packets</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Small chunks of bytes, each tagged with a destination address.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Packets can be dropped, duplicated, delivered out of order.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There is no 'connection'. There is no 'message'. Just packets.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TCP</a:t>
            </a:r>
            <a:r>
              <a:rPr lang="en-US" sz="2400" b="0" i="0" u="none" strike="noStrike" cap="none">
                <a:solidFill>
                  <a:srgbClr val="333344"/>
                </a:solidFill>
                <a:latin typeface="Calibri"/>
                <a:ea typeface="Calibri"/>
                <a:cs typeface="Calibri"/>
                <a:sym typeface="Calibri"/>
              </a:rPr>
              <a:t> is a layer above packets that gives you reliable byte streams.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Two computers agree to pretend they have a phone line between them.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TCP handles retransmission, ordering, and flow control underneath.</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still not enough. A byte stream is just... bytes.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When does one message end and the next begin?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Who talks first? What counts as a question versus an answer?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How do you say 'I want X' vs 'here is X'?</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
        <p:cNvGrpSpPr/>
        <p:nvPr/>
      </p:nvGrpSpPr>
      <p:grpSpPr>
        <a:xfrm>
          <a:off x="0" y="0"/>
          <a:ext cx="0" cy="0"/>
          <a:chOff x="0" y="0"/>
          <a:chExt cx="0" cy="0"/>
        </a:xfrm>
      </p:grpSpPr>
      <p:sp>
        <p:nvSpPr>
          <p:cNvPr id="121" name="Google Shape;121;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HTTP: a protocol for conversations</a:t>
            </a:r>
            <a:endParaRPr/>
          </a:p>
        </p:txBody>
      </p:sp>
      <p:sp>
        <p:nvSpPr>
          <p:cNvPr id="122" name="Google Shape;122;p5"/>
          <p:cNvSpPr txBox="1"/>
          <p:nvPr/>
        </p:nvSpPr>
        <p:spPr>
          <a:xfrm>
            <a:off x="914400" y="1463040"/>
            <a:ext cx="10362900" cy="534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HTTP is the set of rules two </a:t>
            </a:r>
            <a:r>
              <a:rPr lang="en-US" sz="2400" i="0" u="none" strike="noStrike" cap="none">
                <a:solidFill>
                  <a:schemeClr val="dk1"/>
                </a:solidFill>
                <a:latin typeface="Calibri"/>
                <a:ea typeface="Calibri"/>
                <a:cs typeface="Calibri"/>
                <a:sym typeface="Calibri"/>
              </a:rPr>
              <a:t>computers use to have a conversation over TCP. It is a </a:t>
            </a:r>
            <a:r>
              <a:rPr lang="en-US" sz="2400" b="1" i="0" u="none" strike="noStrike" cap="none">
                <a:solidFill>
                  <a:schemeClr val="dk1"/>
                </a:solidFill>
                <a:latin typeface="Calibri"/>
                <a:ea typeface="Calibri"/>
                <a:cs typeface="Calibri"/>
                <a:sym typeface="Calibri"/>
              </a:rPr>
              <a:t>request-response</a:t>
            </a:r>
            <a:r>
              <a:rPr lang="en-US" sz="2400" i="0" u="none" strike="noStrike" cap="none">
                <a:solidFill>
                  <a:schemeClr val="dk1"/>
                </a:solidFill>
                <a:latin typeface="Calibri"/>
                <a:ea typeface="Calibri"/>
                <a:cs typeface="Calibri"/>
                <a:sym typeface="Calibri"/>
              </a:rPr>
              <a:t> protocol.</a:t>
            </a:r>
            <a:endParaRPr sz="2400">
              <a:solidFill>
                <a:schemeClr val="dk1"/>
              </a:solidFill>
              <a:latin typeface="Calibri"/>
              <a:ea typeface="Calibri"/>
              <a:cs typeface="Calibri"/>
              <a:sym typeface="Calibri"/>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One side (the </a:t>
            </a:r>
            <a:r>
              <a:rPr lang="en-US" sz="2400" b="1" i="0" u="none" strike="noStrike" cap="none">
                <a:solidFill>
                  <a:srgbClr val="333344"/>
                </a:solidFill>
                <a:latin typeface="Calibri"/>
                <a:ea typeface="Calibri"/>
                <a:cs typeface="Calibri"/>
                <a:sym typeface="Calibri"/>
              </a:rPr>
              <a:t>client</a:t>
            </a:r>
            <a:r>
              <a:rPr lang="en-US" sz="2400" b="0" i="0" u="none" strike="noStrike" cap="none">
                <a:solidFill>
                  <a:srgbClr val="333344"/>
                </a:solidFill>
                <a:latin typeface="Calibri"/>
                <a:ea typeface="Calibri"/>
                <a:cs typeface="Calibri"/>
                <a:sym typeface="Calibri"/>
              </a:rPr>
              <a:t>) sends a request.</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One side (the </a:t>
            </a:r>
            <a:r>
              <a:rPr lang="en-US" sz="2400" b="1" i="0" u="none" strike="noStrike" cap="none">
                <a:solidFill>
                  <a:srgbClr val="333344"/>
                </a:solidFill>
                <a:latin typeface="Calibri"/>
                <a:ea typeface="Calibri"/>
                <a:cs typeface="Calibri"/>
                <a:sym typeface="Calibri"/>
              </a:rPr>
              <a:t>server</a:t>
            </a:r>
            <a:r>
              <a:rPr lang="en-US" sz="2400" b="0" i="0" u="none" strike="noStrike" cap="none">
                <a:solidFill>
                  <a:srgbClr val="333344"/>
                </a:solidFill>
                <a:latin typeface="Calibri"/>
                <a:ea typeface="Calibri"/>
                <a:cs typeface="Calibri"/>
                <a:sym typeface="Calibri"/>
              </a:rPr>
              <a:t>) sends back exactly one response.</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Then the conversation is over.</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it. That's the protocol.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page you load, every API call, every image on the web: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one request, one response, done.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Everything else today is about what goes </a:t>
            </a:r>
            <a:r>
              <a:rPr lang="en-US" sz="2400" b="1" i="0" u="none" strike="noStrike" cap="none">
                <a:solidFill>
                  <a:srgbClr val="333344"/>
                </a:solidFill>
                <a:latin typeface="Calibri"/>
                <a:ea typeface="Calibri"/>
                <a:cs typeface="Calibri"/>
                <a:sym typeface="Calibri"/>
              </a:rPr>
              <a:t>inside</a:t>
            </a:r>
            <a:r>
              <a:rPr lang="en-US" sz="2400" b="0" i="0" u="none" strike="noStrike" cap="none">
                <a:solidFill>
                  <a:srgbClr val="333344"/>
                </a:solidFill>
                <a:latin typeface="Calibri"/>
                <a:ea typeface="Calibri"/>
                <a:cs typeface="Calibri"/>
                <a:sym typeface="Calibri"/>
              </a:rPr>
              <a:t> that request</a:t>
            </a:r>
            <a:endParaRPr/>
          </a:p>
          <a:p>
            <a:pPr marL="457200" marR="0" lvl="1"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27"/>
        <p:cNvGrpSpPr/>
        <p:nvPr/>
      </p:nvGrpSpPr>
      <p:grpSpPr>
        <a:xfrm>
          <a:off x="0" y="0"/>
          <a:ext cx="0" cy="0"/>
          <a:chOff x="0" y="0"/>
          <a:chExt cx="0" cy="0"/>
        </a:xfrm>
      </p:grpSpPr>
      <p:sp>
        <p:nvSpPr>
          <p:cNvPr id="128" name="Google Shape;128;p6"/>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Obvious First Instinct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3"/>
        <p:cNvGrpSpPr/>
        <p:nvPr/>
      </p:nvGrpSpPr>
      <p:grpSpPr>
        <a:xfrm>
          <a:off x="0" y="0"/>
          <a:ext cx="0" cy="0"/>
          <a:chOff x="0" y="0"/>
          <a:chExt cx="0" cy="0"/>
        </a:xfrm>
      </p:grpSpPr>
      <p:sp>
        <p:nvSpPr>
          <p:cNvPr id="134" name="Google Shape;134;g3d5effa7ec8_1_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"Just make it feel like a function call"</a:t>
            </a:r>
            <a:endParaRPr/>
          </a:p>
        </p:txBody>
      </p:sp>
      <p:sp>
        <p:nvSpPr>
          <p:cNvPr id="135" name="Google Shape;135;g3d5effa7ec8_1_8"/>
          <p:cNvSpPr txBox="1"/>
          <p:nvPr/>
        </p:nvSpPr>
        <p:spPr>
          <a:xfrm>
            <a:off x="914400" y="1463040"/>
            <a:ext cx="10362900" cy="3109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tempting move: make a network call look like a local function call.</a:t>
            </a:r>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 On the client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user = get_user(42)</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send_message(channel="general", text="hi")</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Somewhere on the server, those functions really ru</a:t>
            </a:r>
            <a:r>
              <a:rPr lang="en-US" sz="2400" b="0" i="0" u="none" strike="noStrike" cap="none">
                <a:solidFill>
                  <a:schemeClr val="dk1"/>
                </a:solidFill>
                <a:latin typeface="Calibri"/>
                <a:ea typeface="Calibri"/>
                <a:cs typeface="Calibri"/>
                <a:sym typeface="Calibri"/>
              </a:rPr>
              <a:t>n,</a:t>
            </a:r>
            <a:r>
              <a:rPr lang="en-US" sz="2400">
                <a:solidFill>
                  <a:schemeClr val="dk1"/>
                </a:solidFill>
              </a:rPr>
              <a:t> </a:t>
            </a:r>
            <a:r>
              <a:rPr lang="en-US" sz="2400" b="0" i="0" u="none" strike="noStrike" cap="none">
                <a:solidFill>
                  <a:schemeClr val="dk1"/>
                </a:solidFill>
                <a:latin typeface="Calibri"/>
                <a:ea typeface="Calibri"/>
                <a:cs typeface="Calibri"/>
                <a:sym typeface="Calibri"/>
              </a:rPr>
              <a:t>and the answer comes back as if nothing weird happened.</a:t>
            </a:r>
            <a:endParaRPr sz="2400">
              <a:solidFill>
                <a:schemeClr val="dk1"/>
              </a:solidFill>
            </a:endParaRPr>
          </a:p>
          <a:p>
            <a:pPr marL="457200" marR="0" lvl="1" indent="0" algn="l" rtl="0">
              <a:spcBef>
                <a:spcPts val="60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0"/>
        <p:cNvGrpSpPr/>
        <p:nvPr/>
      </p:nvGrpSpPr>
      <p:grpSpPr>
        <a:xfrm>
          <a:off x="0" y="0"/>
          <a:ext cx="0" cy="0"/>
          <a:chOff x="0" y="0"/>
          <a:chExt cx="0" cy="0"/>
        </a:xfrm>
      </p:grpSpPr>
      <p:sp>
        <p:nvSpPr>
          <p:cNvPr id="141" name="Google Shape;141;p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"Just make it feel like a function call"</a:t>
            </a:r>
            <a:endParaRPr/>
          </a:p>
        </p:txBody>
      </p:sp>
      <p:sp>
        <p:nvSpPr>
          <p:cNvPr id="142" name="Google Shape;142;p7"/>
          <p:cNvSpPr txBox="1"/>
          <p:nvPr/>
        </p:nvSpPr>
        <p:spPr>
          <a:xfrm>
            <a:off x="914400" y="1463040"/>
            <a:ext cx="10362900" cy="4325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tempting move: make a network call look like a local function call.</a:t>
            </a:r>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 On the client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user = get_user(42)</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send_message(channel="general", text="hi")</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Somewhere on the server, those functions really ru</a:t>
            </a:r>
            <a:r>
              <a:rPr lang="en-US" sz="2400" b="0" i="0" u="none" strike="noStrike" cap="none">
                <a:solidFill>
                  <a:schemeClr val="dk1"/>
                </a:solidFill>
                <a:latin typeface="Calibri"/>
                <a:ea typeface="Calibri"/>
                <a:cs typeface="Calibri"/>
                <a:sym typeface="Calibri"/>
              </a:rPr>
              <a:t>n,</a:t>
            </a:r>
            <a:r>
              <a:rPr lang="en-US" sz="2400">
                <a:solidFill>
                  <a:schemeClr val="dk1"/>
                </a:solidFill>
              </a:rPr>
              <a:t> </a:t>
            </a:r>
            <a:r>
              <a:rPr lang="en-US" sz="2400" b="0" i="0" u="none" strike="noStrike" cap="none">
                <a:solidFill>
                  <a:schemeClr val="dk1"/>
                </a:solidFill>
                <a:latin typeface="Calibri"/>
                <a:ea typeface="Calibri"/>
                <a:cs typeface="Calibri"/>
                <a:sym typeface="Calibri"/>
              </a:rPr>
              <a:t>and the answer comes back as if nothing weird happened.</a:t>
            </a:r>
            <a:endParaRPr sz="2400">
              <a:solidFill>
                <a:schemeClr val="dk1"/>
              </a:solidFill>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idea has a name: </a:t>
            </a:r>
            <a:r>
              <a:rPr lang="en-US" sz="2400" b="1" i="0" u="none" strike="noStrike" cap="none">
                <a:solidFill>
                  <a:srgbClr val="333344"/>
                </a:solidFill>
                <a:latin typeface="Calibri"/>
                <a:ea typeface="Calibri"/>
                <a:cs typeface="Calibri"/>
                <a:sym typeface="Calibri"/>
              </a:rPr>
              <a:t>RPC</a:t>
            </a:r>
            <a:r>
              <a:rPr lang="en-US" sz="2400" b="0" i="0" u="none" strike="noStrike" cap="none">
                <a:solidFill>
                  <a:srgbClr val="333344"/>
                </a:solidFill>
                <a:latin typeface="Calibri"/>
                <a:ea typeface="Calibri"/>
                <a:cs typeface="Calibri"/>
                <a:sym typeface="Calibri"/>
              </a:rPr>
              <a:t>, for Remote Procedure Call.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People have tried variations of it since the 1980s.</a:t>
            </a:r>
            <a:endParaRPr/>
          </a:p>
          <a:p>
            <a:pPr marL="457200" marR="0" lvl="1" indent="0" algn="l" rtl="0">
              <a:spcBef>
                <a:spcPts val="60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
        <p:cNvGrpSpPr/>
        <p:nvPr/>
      </p:nvGrpSpPr>
      <p:grpSpPr>
        <a:xfrm>
          <a:off x="0" y="0"/>
          <a:ext cx="0" cy="0"/>
          <a:chOff x="0" y="0"/>
          <a:chExt cx="0" cy="0"/>
        </a:xfrm>
      </p:grpSpPr>
      <p:sp>
        <p:nvSpPr>
          <p:cNvPr id="148" name="Google Shape;148;g3d5effa7ec8_1_32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breaks when you build on RPC</a:t>
            </a:r>
            <a:endParaRPr/>
          </a:p>
        </p:txBody>
      </p:sp>
      <p:sp>
        <p:nvSpPr>
          <p:cNvPr id="149" name="Google Shape;149;g3d5effa7ec8_1_322"/>
          <p:cNvSpPr txBox="1"/>
          <p:nvPr/>
        </p:nvSpPr>
        <p:spPr>
          <a:xfrm>
            <a:off x="914400" y="1463040"/>
            <a:ext cx="10362900" cy="1908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1. Tight coupling.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client has to know exactly what functions the server exposes,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exactly the right argument names and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Rename one argument on the server and every client in the world breaks.</a:t>
            </a:r>
            <a:endParaRPr/>
          </a:p>
          <a:p>
            <a:pPr marL="457200" marR="0" lvl="1" indent="0" algn="l" rtl="0">
              <a:spcBef>
                <a:spcPts val="60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4"/>
        <p:cNvGrpSpPr/>
        <p:nvPr/>
      </p:nvGrpSpPr>
      <p:grpSpPr>
        <a:xfrm>
          <a:off x="0" y="0"/>
          <a:ext cx="0" cy="0"/>
          <a:chOff x="0" y="0"/>
          <a:chExt cx="0" cy="0"/>
        </a:xfrm>
      </p:grpSpPr>
      <p:sp>
        <p:nvSpPr>
          <p:cNvPr id="155" name="Google Shape;155;g3d5effa7ec8_1_32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breaks when you build on RPC</a:t>
            </a:r>
            <a:endParaRPr/>
          </a:p>
        </p:txBody>
      </p:sp>
      <p:sp>
        <p:nvSpPr>
          <p:cNvPr id="156" name="Google Shape;156;g3d5effa7ec8_1_328"/>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1. Tight coupling.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client has to know exactly what functions the server exposes,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exactly the right argument names and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Rename one argument on the server and every client in the world breaks.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 Verb proliferation.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team invents their own names: getUser, fetchUser, loadUser,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readUserById, retrieveUserRecord. No shared vocabulary.</a:t>
            </a:r>
            <a:endParaRPr/>
          </a:p>
          <a:p>
            <a:pPr marL="457200" marR="0" lvl="1" indent="0" algn="l" rtl="0">
              <a:spcBef>
                <a:spcPts val="60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
        <p:cNvGrpSpPr/>
        <p:nvPr/>
      </p:nvGrpSpPr>
      <p:grpSpPr>
        <a:xfrm>
          <a:off x="0" y="0"/>
          <a:ext cx="0" cy="0"/>
          <a:chOff x="0" y="0"/>
          <a:chExt cx="0" cy="0"/>
        </a:xfrm>
      </p:grpSpPr>
      <p:sp>
        <p:nvSpPr>
          <p:cNvPr id="162" name="Google Shape;162;p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breaks when you build on RPC</a:t>
            </a:r>
            <a:endParaRPr/>
          </a:p>
        </p:txBody>
      </p:sp>
      <p:sp>
        <p:nvSpPr>
          <p:cNvPr id="163" name="Google Shape;163;p8"/>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1. Tight coupling.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client has to know exactly what functions the server exposes,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exactly the right argument names and types.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Rename one argument on the server and every client in the world breaks.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 Verb proliferation.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team invents their own names: getUser, fetchUser, loadUser,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readUserById, retrieveUserRecord. No shared vocabulary.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3. Hidden state.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"Remember that I'm logged in." "Remember my cart." "Remember what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page of results I was on." The server accumulates memory about each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client, and now you can't just spin up a second server.</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68"/>
        <p:cNvGrpSpPr/>
        <p:nvPr/>
      </p:nvGrpSpPr>
      <p:grpSpPr>
        <a:xfrm>
          <a:off x="0" y="0"/>
          <a:ext cx="0" cy="0"/>
          <a:chOff x="0" y="0"/>
          <a:chExt cx="0" cy="0"/>
        </a:xfrm>
      </p:grpSpPr>
      <p:sp>
        <p:nvSpPr>
          <p:cNvPr id="169" name="Google Shape;169;p9"/>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i="0" u="none" strike="noStrike" cap="none">
                <a:solidFill>
                  <a:srgbClr val="5B21B6"/>
                </a:solidFill>
                <a:latin typeface="Calibri"/>
                <a:ea typeface="Calibri"/>
                <a:cs typeface="Calibri"/>
                <a:sym typeface="Calibri"/>
              </a:rPr>
              <a:t>?</a:t>
            </a:r>
            <a:endParaRPr/>
          </a:p>
        </p:txBody>
      </p:sp>
      <p:sp>
        <p:nvSpPr>
          <p:cNvPr id="170" name="Google Shape;170;p9"/>
          <p:cNvSpPr txBox="1"/>
          <p:nvPr/>
        </p:nvSpPr>
        <p:spPr>
          <a:xfrm>
            <a:off x="1371600" y="2011680"/>
            <a:ext cx="9448500" cy="615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i="0" u="none" strike="noStrike" cap="none">
                <a:solidFill>
                  <a:srgbClr val="1A1A2E"/>
                </a:solidFill>
                <a:latin typeface="Calibri"/>
                <a:ea typeface="Calibri"/>
                <a:cs typeface="Calibri"/>
                <a:sym typeface="Calibri"/>
              </a:rPr>
              <a:t>Design the protocol for </a:t>
            </a:r>
            <a:r>
              <a:rPr lang="en-US" sz="3400" b="1">
                <a:solidFill>
                  <a:srgbClr val="1A1A2E"/>
                </a:solidFill>
                <a:latin typeface="Calibri"/>
                <a:ea typeface="Calibri"/>
                <a:cs typeface="Calibri"/>
                <a:sym typeface="Calibri"/>
              </a:rPr>
              <a:t>a</a:t>
            </a:r>
            <a:r>
              <a:rPr lang="en-US" sz="3400" b="1" i="0" u="none" strike="noStrike" cap="none">
                <a:solidFill>
                  <a:srgbClr val="1A1A2E"/>
                </a:solidFill>
                <a:latin typeface="Calibri"/>
                <a:ea typeface="Calibri"/>
                <a:cs typeface="Calibri"/>
                <a:sym typeface="Calibri"/>
              </a:rPr>
              <a:t> chat app yourself.</a:t>
            </a:r>
            <a:endParaRPr/>
          </a:p>
        </p:txBody>
      </p:sp>
      <p:sp>
        <p:nvSpPr>
          <p:cNvPr id="171" name="Google Shape;171;p9"/>
          <p:cNvSpPr txBox="1"/>
          <p:nvPr/>
        </p:nvSpPr>
        <p:spPr>
          <a:xfrm>
            <a:off x="1828800" y="4572000"/>
            <a:ext cx="8534100" cy="144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i="0" u="none" strike="noStrike" cap="none">
                <a:solidFill>
                  <a:srgbClr val="666677"/>
                </a:solidFill>
                <a:latin typeface="Calibri"/>
                <a:ea typeface="Calibri"/>
                <a:cs typeface="Calibri"/>
                <a:sym typeface="Calibri"/>
              </a:rPr>
              <a:t>How would you handle: getting the last 20 messages in #general, posting a new message, and deleting one you regret? What do you call things? How do you say what you want to do? What does the server have to remember between your requests?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6"/>
        <p:cNvGrpSpPr/>
        <p:nvPr/>
      </p:nvGrpSpPr>
      <p:grpSpPr>
        <a:xfrm>
          <a:off x="0" y="0"/>
          <a:ext cx="0" cy="0"/>
          <a:chOff x="0" y="0"/>
          <a:chExt cx="0" cy="0"/>
        </a:xfrm>
      </p:grpSpPr>
      <p:sp>
        <p:nvSpPr>
          <p:cNvPr id="177" name="Google Shape;177;g3d5effa7ec8_1_36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Somebody already had this argument</a:t>
            </a:r>
            <a:endParaRPr/>
          </a:p>
        </p:txBody>
      </p:sp>
      <p:sp>
        <p:nvSpPr>
          <p:cNvPr id="178" name="Google Shape;178;g3d5effa7ec8_1_360"/>
          <p:cNvSpPr txBox="1"/>
          <p:nvPr/>
        </p:nvSpPr>
        <p:spPr>
          <a:xfrm>
            <a:off x="914400" y="1463040"/>
            <a:ext cx="10362900" cy="2816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In 2000, a researcher named </a:t>
            </a:r>
            <a:r>
              <a:rPr lang="en-US" sz="2400" b="1" i="0" u="none" strike="noStrike" cap="none">
                <a:solidFill>
                  <a:srgbClr val="333344"/>
                </a:solidFill>
                <a:latin typeface="Calibri"/>
                <a:ea typeface="Calibri"/>
                <a:cs typeface="Calibri"/>
                <a:sym typeface="Calibri"/>
              </a:rPr>
              <a:t>Roy Fielding </a:t>
            </a:r>
            <a:r>
              <a:rPr lang="en-US" sz="2400">
                <a:solidFill>
                  <a:srgbClr val="333344"/>
                </a:solidFill>
                <a:latin typeface="Calibri"/>
                <a:ea typeface="Calibri"/>
                <a:cs typeface="Calibri"/>
                <a:sym typeface="Calibri"/>
              </a:rPr>
              <a:t>(co-author of HTTP)</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 wrote a dissertatio</a:t>
            </a:r>
            <a:r>
              <a:rPr lang="en-US" sz="2400">
                <a:solidFill>
                  <a:srgbClr val="333344"/>
                </a:solidFill>
                <a:latin typeface="Calibri"/>
                <a:ea typeface="Calibri"/>
                <a:cs typeface="Calibri"/>
                <a:sym typeface="Calibri"/>
              </a:rPr>
              <a:t>n about this problem.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observation: </a:t>
            </a:r>
            <a:r>
              <a:rPr lang="en-US" sz="2400" b="1" i="0" u="none" strike="noStrike" cap="none">
                <a:solidFill>
                  <a:srgbClr val="333344"/>
                </a:solidFill>
                <a:latin typeface="Calibri"/>
                <a:ea typeface="Calibri"/>
                <a:cs typeface="Calibri"/>
                <a:sym typeface="Calibri"/>
              </a:rPr>
              <a:t>the web already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Billions of documents. Billions of browsers.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Never goes down for maintenance, s</a:t>
            </a:r>
            <a:r>
              <a:rPr lang="en-US" sz="2000" b="0" i="0" u="none" strike="noStrike" cap="none">
                <a:solidFill>
                  <a:srgbClr val="666677"/>
                </a:solidFill>
                <a:latin typeface="Calibri"/>
                <a:ea typeface="Calibri"/>
                <a:cs typeface="Calibri"/>
                <a:sym typeface="Calibri"/>
              </a:rPr>
              <a:t>ervers come and go.</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pic>
        <p:nvPicPr>
          <p:cNvPr id="179" name="Google Shape;179;g3d5effa7ec8_1_360"/>
          <p:cNvPicPr preferRelativeResize="0"/>
          <p:nvPr/>
        </p:nvPicPr>
        <p:blipFill>
          <a:blip r:embed="rId3">
            <a:alphaModFix/>
          </a:blip>
          <a:stretch>
            <a:fillRect/>
          </a:stretch>
        </p:blipFill>
        <p:spPr>
          <a:xfrm>
            <a:off x="8970069" y="575750"/>
            <a:ext cx="2848125" cy="34535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4"/>
        <p:cNvGrpSpPr/>
        <p:nvPr/>
      </p:nvGrpSpPr>
      <p:grpSpPr>
        <a:xfrm>
          <a:off x="0" y="0"/>
          <a:ext cx="0" cy="0"/>
          <a:chOff x="0" y="0"/>
          <a:chExt cx="0" cy="0"/>
        </a:xfrm>
      </p:grpSpPr>
      <p:sp>
        <p:nvSpPr>
          <p:cNvPr id="185" name="Google Shape;185;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Somebody already had this argument</a:t>
            </a:r>
            <a:endParaRPr/>
          </a:p>
        </p:txBody>
      </p:sp>
      <p:sp>
        <p:nvSpPr>
          <p:cNvPr id="186" name="Google Shape;186;p11"/>
          <p:cNvSpPr txBox="1"/>
          <p:nvPr/>
        </p:nvSpPr>
        <p:spPr>
          <a:xfrm>
            <a:off x="914400" y="1463040"/>
            <a:ext cx="10362900" cy="4863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In 2000, a researcher named </a:t>
            </a:r>
            <a:r>
              <a:rPr lang="en-US" sz="2400" b="1" i="0" u="none" strike="noStrike" cap="none">
                <a:solidFill>
                  <a:srgbClr val="333344"/>
                </a:solidFill>
                <a:latin typeface="Calibri"/>
                <a:ea typeface="Calibri"/>
                <a:cs typeface="Calibri"/>
                <a:sym typeface="Calibri"/>
              </a:rPr>
              <a:t>Roy Fielding </a:t>
            </a:r>
            <a:r>
              <a:rPr lang="en-US" sz="2400">
                <a:solidFill>
                  <a:srgbClr val="333344"/>
                </a:solidFill>
                <a:latin typeface="Calibri"/>
                <a:ea typeface="Calibri"/>
                <a:cs typeface="Calibri"/>
                <a:sym typeface="Calibri"/>
              </a:rPr>
              <a:t>(co-author of HTTP)</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 wrote a dissertatio</a:t>
            </a:r>
            <a:r>
              <a:rPr lang="en-US" sz="2400">
                <a:solidFill>
                  <a:srgbClr val="333344"/>
                </a:solidFill>
                <a:latin typeface="Calibri"/>
                <a:ea typeface="Calibri"/>
                <a:cs typeface="Calibri"/>
                <a:sym typeface="Calibri"/>
              </a:rPr>
              <a:t>n about this problem.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observation: </a:t>
            </a:r>
            <a:r>
              <a:rPr lang="en-US" sz="2400" b="1" i="0" u="none" strike="noStrike" cap="none">
                <a:solidFill>
                  <a:srgbClr val="333344"/>
                </a:solidFill>
                <a:latin typeface="Calibri"/>
                <a:ea typeface="Calibri"/>
                <a:cs typeface="Calibri"/>
                <a:sym typeface="Calibri"/>
              </a:rPr>
              <a:t>the web already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Billions of documents. Billions of browsers.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Never goes down for maintenance, s</a:t>
            </a:r>
            <a:r>
              <a:rPr lang="en-US" sz="2000" b="0" i="0" u="none" strike="noStrike" cap="none">
                <a:solidFill>
                  <a:srgbClr val="666677"/>
                </a:solidFill>
                <a:latin typeface="Calibri"/>
                <a:ea typeface="Calibri"/>
                <a:cs typeface="Calibri"/>
                <a:sym typeface="Calibri"/>
              </a:rPr>
              <a:t>ervers come and go.</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Whatever design the web uses, copy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Don't invent a new architecture for APIs</a:t>
            </a:r>
            <a:r>
              <a:rPr lang="en-US" sz="2000">
                <a:solidFill>
                  <a:srgbClr val="666677"/>
                </a:solidFill>
                <a:latin typeface="Calibri"/>
                <a:ea typeface="Calibri"/>
                <a:cs typeface="Calibri"/>
                <a:sym typeface="Calibri"/>
              </a:rPr>
              <a:t>; take one that already scales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He called the result </a:t>
            </a:r>
            <a:r>
              <a:rPr lang="en-US" sz="2400" b="1" i="0" u="none" strike="noStrike" cap="none">
                <a:solidFill>
                  <a:srgbClr val="333344"/>
                </a:solidFill>
                <a:latin typeface="Calibri"/>
                <a:ea typeface="Calibri"/>
                <a:cs typeface="Calibri"/>
                <a:sym typeface="Calibri"/>
              </a:rPr>
              <a:t>REST</a:t>
            </a:r>
            <a:r>
              <a:rPr lang="en-US" sz="2400" b="0" i="0" u="none" strike="noStrike" cap="none">
                <a:solidFill>
                  <a:srgbClr val="333344"/>
                </a:solidFill>
                <a:latin typeface="Calibri"/>
                <a:ea typeface="Calibri"/>
                <a:cs typeface="Calibri"/>
                <a:sym typeface="Calibri"/>
              </a:rPr>
              <a:t>: Representational State Transfer.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pic>
        <p:nvPicPr>
          <p:cNvPr id="187" name="Google Shape;187;p11"/>
          <p:cNvPicPr preferRelativeResize="0"/>
          <p:nvPr/>
        </p:nvPicPr>
        <p:blipFill>
          <a:blip r:embed="rId3">
            <a:alphaModFix/>
          </a:blip>
          <a:stretch>
            <a:fillRect/>
          </a:stretch>
        </p:blipFill>
        <p:spPr>
          <a:xfrm>
            <a:off x="8970069" y="575750"/>
            <a:ext cx="2848125" cy="34535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2"/>
        <p:cNvGrpSpPr/>
        <p:nvPr/>
      </p:nvGrpSpPr>
      <p:grpSpPr>
        <a:xfrm>
          <a:off x="0" y="0"/>
          <a:ext cx="0" cy="0"/>
          <a:chOff x="0" y="0"/>
          <a:chExt cx="0" cy="0"/>
        </a:xfrm>
      </p:grpSpPr>
      <p:sp>
        <p:nvSpPr>
          <p:cNvPr id="193" name="Google Shape;193;g3d5effa7ec8_1_346"/>
          <p:cNvSpPr txBox="1"/>
          <p:nvPr/>
        </p:nvSpPr>
        <p:spPr>
          <a:xfrm>
            <a:off x="731520" y="365760"/>
            <a:ext cx="10728600" cy="1200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Font typeface="Arial"/>
              <a:buNone/>
            </a:pPr>
            <a:r>
              <a:rPr lang="en-US" sz="3600" b="1">
                <a:solidFill>
                  <a:srgbClr val="1A1A2E"/>
                </a:solidFill>
                <a:latin typeface="Calibri"/>
                <a:ea typeface="Calibri"/>
                <a:cs typeface="Calibri"/>
                <a:sym typeface="Calibri"/>
              </a:rPr>
              <a:t>Four principles to live by</a:t>
            </a:r>
            <a:endParaRPr>
              <a:solidFill>
                <a:schemeClr val="dk1"/>
              </a:solidFill>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194" name="Google Shape;194;g3d5effa7ec8_1_346"/>
          <p:cNvSpPr txBox="1"/>
          <p:nvPr/>
        </p:nvSpPr>
        <p:spPr>
          <a:xfrm>
            <a:off x="914400" y="1094590"/>
            <a:ext cx="103629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Uniform interface.</a:t>
            </a:r>
            <a:r>
              <a:rPr lang="en-US" sz="2400" b="0" i="0" u="none" strike="noStrike" cap="none">
                <a:solidFill>
                  <a:srgbClr val="333344"/>
                </a:solidFill>
                <a:latin typeface="Calibri"/>
                <a:ea typeface="Calibri"/>
                <a:cs typeface="Calibri"/>
                <a:sym typeface="Calibri"/>
              </a:rPr>
              <a:t> Everyone uses the same small set of verbs.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custom getUser/fetchUser/loadUser nonsense.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client written today still works tomorrow.</a:t>
            </a:r>
            <a:endParaRPr/>
          </a:p>
          <a:p>
            <a:pPr marL="457200" marR="0" lvl="1" indent="0" algn="l" rtl="0">
              <a:spcBef>
                <a:spcPts val="6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9"/>
        <p:cNvGrpSpPr/>
        <p:nvPr/>
      </p:nvGrpSpPr>
      <p:grpSpPr>
        <a:xfrm>
          <a:off x="0" y="0"/>
          <a:ext cx="0" cy="0"/>
          <a:chOff x="0" y="0"/>
          <a:chExt cx="0" cy="0"/>
        </a:xfrm>
      </p:grpSpPr>
      <p:sp>
        <p:nvSpPr>
          <p:cNvPr id="200" name="Google Shape;200;g3d5effa7ec8_1_352"/>
          <p:cNvSpPr txBox="1"/>
          <p:nvPr/>
        </p:nvSpPr>
        <p:spPr>
          <a:xfrm>
            <a:off x="731520" y="365760"/>
            <a:ext cx="10728600" cy="17547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3600" b="1">
                <a:solidFill>
                  <a:srgbClr val="1A1A2E"/>
                </a:solidFill>
                <a:latin typeface="Calibri"/>
                <a:ea typeface="Calibri"/>
                <a:cs typeface="Calibri"/>
                <a:sym typeface="Calibri"/>
              </a:rPr>
              <a:t>Four principles to live by</a:t>
            </a:r>
            <a:endParaRPr>
              <a:solidFill>
                <a:schemeClr val="dk1"/>
              </a:solidFill>
            </a:endParaRPr>
          </a:p>
          <a:p>
            <a:pPr marL="0" lvl="0" indent="0" algn="l" rtl="0">
              <a:spcBef>
                <a:spcPts val="0"/>
              </a:spcBef>
              <a:spcAft>
                <a:spcPts val="0"/>
              </a:spcAft>
              <a:buClr>
                <a:schemeClr val="dk1"/>
              </a:buClr>
              <a:buFont typeface="Arial"/>
              <a:buNone/>
            </a:pPr>
            <a:endParaRPr sz="3600" b="1">
              <a:solidFill>
                <a:srgbClr val="1A1A2E"/>
              </a:solidFill>
              <a:latin typeface="Calibri"/>
              <a:ea typeface="Calibri"/>
              <a:cs typeface="Calibri"/>
              <a:sym typeface="Calibri"/>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201" name="Google Shape;201;g3d5effa7ec8_1_352"/>
          <p:cNvSpPr txBox="1"/>
          <p:nvPr/>
        </p:nvSpPr>
        <p:spPr>
          <a:xfrm>
            <a:off x="914400" y="1094590"/>
            <a:ext cx="10362900" cy="312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Uniform interface.</a:t>
            </a:r>
            <a:r>
              <a:rPr lang="en-US" sz="2400" b="0" i="0" u="none" strike="noStrike" cap="none">
                <a:solidFill>
                  <a:srgbClr val="333344"/>
                </a:solidFill>
                <a:latin typeface="Calibri"/>
                <a:ea typeface="Calibri"/>
                <a:cs typeface="Calibri"/>
                <a:sym typeface="Calibri"/>
              </a:rPr>
              <a:t> Everyone uses the same small set of verbs.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custom getUser/fetchUser/loadUser nonsense.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client written today still works tomorrow.</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Stateless.</a:t>
            </a:r>
            <a:r>
              <a:rPr lang="en-US" sz="2400" b="0" i="0" u="none" strike="noStrike" cap="none">
                <a:solidFill>
                  <a:srgbClr val="333344"/>
                </a:solidFill>
                <a:latin typeface="Calibri"/>
                <a:ea typeface="Calibri"/>
                <a:cs typeface="Calibri"/>
                <a:sym typeface="Calibri"/>
              </a:rPr>
              <a:t> Every request is self-contained.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server doesn't remember you between 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it crashes mid-conversation, the next server just picks up.</a:t>
            </a:r>
            <a:endParaRPr/>
          </a:p>
          <a:p>
            <a:pPr marL="457200" marR="0" lvl="1" indent="0" algn="l" rtl="0">
              <a:spcBef>
                <a:spcPts val="60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6"/>
        <p:cNvGrpSpPr/>
        <p:nvPr/>
      </p:nvGrpSpPr>
      <p:grpSpPr>
        <a:xfrm>
          <a:off x="0" y="0"/>
          <a:ext cx="0" cy="0"/>
          <a:chOff x="0" y="0"/>
          <a:chExt cx="0" cy="0"/>
        </a:xfrm>
      </p:grpSpPr>
      <p:sp>
        <p:nvSpPr>
          <p:cNvPr id="207" name="Google Shape;207;p12"/>
          <p:cNvSpPr txBox="1"/>
          <p:nvPr/>
        </p:nvSpPr>
        <p:spPr>
          <a:xfrm>
            <a:off x="731520" y="365760"/>
            <a:ext cx="10728600" cy="1200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Font typeface="Arial"/>
              <a:buNone/>
            </a:pPr>
            <a:r>
              <a:rPr lang="en-US" sz="3600" b="1">
                <a:solidFill>
                  <a:srgbClr val="1A1A2E"/>
                </a:solidFill>
                <a:latin typeface="Calibri"/>
                <a:ea typeface="Calibri"/>
                <a:cs typeface="Calibri"/>
                <a:sym typeface="Calibri"/>
              </a:rPr>
              <a:t>Four principles to live by</a:t>
            </a:r>
            <a:endParaRPr>
              <a:solidFill>
                <a:schemeClr val="dk1"/>
              </a:solidFill>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208" name="Google Shape;208;p12"/>
          <p:cNvSpPr txBox="1"/>
          <p:nvPr/>
        </p:nvSpPr>
        <p:spPr>
          <a:xfrm>
            <a:off x="914400" y="1094590"/>
            <a:ext cx="10362900" cy="5649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Uniform interface.</a:t>
            </a:r>
            <a:r>
              <a:rPr lang="en-US" sz="2400" b="0" i="0" u="none" strike="noStrike" cap="none">
                <a:solidFill>
                  <a:srgbClr val="333344"/>
                </a:solidFill>
                <a:latin typeface="Calibri"/>
                <a:ea typeface="Calibri"/>
                <a:cs typeface="Calibri"/>
                <a:sym typeface="Calibri"/>
              </a:rPr>
              <a:t> Everyone uses the same small set of verbs.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custom getUser/fetchUser/loadUser nonsense.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client written today still works tomorrow.</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Stateless.</a:t>
            </a:r>
            <a:r>
              <a:rPr lang="en-US" sz="2400" b="0" i="0" u="none" strike="noStrike" cap="none">
                <a:solidFill>
                  <a:srgbClr val="333344"/>
                </a:solidFill>
                <a:latin typeface="Calibri"/>
                <a:ea typeface="Calibri"/>
                <a:cs typeface="Calibri"/>
                <a:sym typeface="Calibri"/>
              </a:rPr>
              <a:t> Every request is self-contained.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server doesn't remember you between 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it crashes mid-conversation, the next server just picks up.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Client-server.</a:t>
            </a:r>
            <a:r>
              <a:rPr lang="en-US" sz="2400" b="0" i="0" u="none" strike="noStrike" cap="none">
                <a:solidFill>
                  <a:srgbClr val="333344"/>
                </a:solidFill>
                <a:latin typeface="Calibri"/>
                <a:ea typeface="Calibri"/>
                <a:cs typeface="Calibri"/>
                <a:sym typeface="Calibri"/>
              </a:rPr>
              <a:t> Clean separation of concerns.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frontend can be rewritten without touching the backend, and vice versa.</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Cacheable.</a:t>
            </a:r>
            <a:r>
              <a:rPr lang="en-US" sz="2400" b="0" i="0" u="none" strike="noStrike" cap="none">
                <a:solidFill>
                  <a:srgbClr val="333344"/>
                </a:solidFill>
                <a:latin typeface="Calibri"/>
                <a:ea typeface="Calibri"/>
                <a:cs typeface="Calibri"/>
                <a:sym typeface="Calibri"/>
              </a:rPr>
              <a:t> Responses can be marked reusable.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two people ask for the same thing, the second answer can come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from a cache anywhere along the path. Huge scaling win.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3"/>
        <p:cNvGrpSpPr/>
        <p:nvPr/>
      </p:nvGrpSpPr>
      <p:grpSpPr>
        <a:xfrm>
          <a:off x="0" y="0"/>
          <a:ext cx="0" cy="0"/>
          <a:chOff x="0" y="0"/>
          <a:chExt cx="0" cy="0"/>
        </a:xfrm>
      </p:grpSpPr>
      <p:sp>
        <p:nvSpPr>
          <p:cNvPr id="214" name="Google Shape;214;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Statelessness is the one that matters most</a:t>
            </a:r>
            <a:endParaRPr/>
          </a:p>
        </p:txBody>
      </p:sp>
      <p:sp>
        <p:nvSpPr>
          <p:cNvPr id="215" name="Google Shape;215;p13"/>
          <p:cNvSpPr txBox="1"/>
          <p:nvPr/>
        </p:nvSpPr>
        <p:spPr>
          <a:xfrm>
            <a:off x="914400" y="1463040"/>
            <a:ext cx="10362900" cy="555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Of the four, </a:t>
            </a:r>
            <a:r>
              <a:rPr lang="en-US" sz="2400" b="1" i="0" u="none" strike="noStrike" cap="none">
                <a:solidFill>
                  <a:srgbClr val="333344"/>
                </a:solidFill>
                <a:latin typeface="Calibri"/>
                <a:ea typeface="Calibri"/>
                <a:cs typeface="Calibri"/>
                <a:sym typeface="Calibri"/>
              </a:rPr>
              <a:t>stateless</a:t>
            </a:r>
            <a:r>
              <a:rPr lang="en-US" sz="2400" b="0" i="0" u="none" strike="noStrike" cap="none">
                <a:solidFill>
                  <a:srgbClr val="333344"/>
                </a:solidFill>
                <a:latin typeface="Calibri"/>
                <a:ea typeface="Calibri"/>
                <a:cs typeface="Calibri"/>
                <a:sym typeface="Calibri"/>
              </a:rPr>
              <a:t> is the rule you'll feel the most.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'Each request is self-contained' means: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the request needs to know who you are, it carries that info itself.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the request needs to know which page of results, it says so.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server looks at one request and has everything it needs to answer.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This is what allows large websites to scale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can run 1,000 copies of your server behind a load balancer.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Any request can go to any server. They're interchangeable.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one crashes, the next request just goes somewhere else.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Nobody has to coordinate. Nobody has to share memory.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20"/>
        <p:cNvGrpSpPr/>
        <p:nvPr/>
      </p:nvGrpSpPr>
      <p:grpSpPr>
        <a:xfrm>
          <a:off x="0" y="0"/>
          <a:ext cx="0" cy="0"/>
          <a:chOff x="0" y="0"/>
          <a:chExt cx="0" cy="0"/>
        </a:xfrm>
      </p:grpSpPr>
      <p:sp>
        <p:nvSpPr>
          <p:cNvPr id="221" name="Google Shape;221;p14"/>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What REST Actually Looks Like</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6"/>
        <p:cNvGrpSpPr/>
        <p:nvPr/>
      </p:nvGrpSpPr>
      <p:grpSpPr>
        <a:xfrm>
          <a:off x="0" y="0"/>
          <a:ext cx="0" cy="0"/>
          <a:chOff x="0" y="0"/>
          <a:chExt cx="0" cy="0"/>
        </a:xfrm>
      </p:grpSpPr>
      <p:sp>
        <p:nvSpPr>
          <p:cNvPr id="227" name="Google Shape;227;g3d5effa7ec8_1_31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URLs name things. Things are nouns.</a:t>
            </a:r>
            <a:endParaRPr/>
          </a:p>
        </p:txBody>
      </p:sp>
      <p:sp>
        <p:nvSpPr>
          <p:cNvPr id="228" name="Google Shape;228;g3d5effa7ec8_1_316"/>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REST URL identifies a </a:t>
            </a:r>
            <a:r>
              <a:rPr lang="en-US" sz="2400" b="1" i="0" u="none" strike="noStrike" cap="none">
                <a:solidFill>
                  <a:srgbClr val="333344"/>
                </a:solidFill>
                <a:latin typeface="Calibri"/>
                <a:ea typeface="Calibri"/>
                <a:cs typeface="Calibri"/>
                <a:sym typeface="Calibri"/>
              </a:rPr>
              <a:t>resource</a:t>
            </a:r>
            <a:r>
              <a:rPr lang="en-US" sz="2400" b="0" i="0" u="none" strike="noStrike" cap="none">
                <a:solidFill>
                  <a:srgbClr val="333344"/>
                </a:solidFill>
                <a:latin typeface="Calibri"/>
                <a:ea typeface="Calibri"/>
                <a:cs typeface="Calibri"/>
                <a:sym typeface="Calibri"/>
              </a:rPr>
              <a:t>: a thing you can get or change.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Resources are </a:t>
            </a:r>
            <a:r>
              <a:rPr lang="en-US" sz="2000" b="1" i="0" u="none" strike="noStrike" cap="none">
                <a:solidFill>
                  <a:srgbClr val="666677"/>
                </a:solidFill>
                <a:latin typeface="Calibri"/>
                <a:ea typeface="Calibri"/>
                <a:cs typeface="Calibri"/>
                <a:sym typeface="Calibri"/>
              </a:rPr>
              <a:t>nouns</a:t>
            </a:r>
            <a:r>
              <a:rPr lang="en-US" sz="2000" b="0" i="0" u="none" strike="noStrike" cap="none">
                <a:solidFill>
                  <a:srgbClr val="666677"/>
                </a:solidFill>
                <a:latin typeface="Calibri"/>
                <a:ea typeface="Calibri"/>
                <a:cs typeface="Calibri"/>
                <a:sym typeface="Calibri"/>
              </a:rPr>
              <a:t>, not actions.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Good (nouns):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/channels/general/messages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/users/alice</a:t>
            </a:r>
            <a:endParaRPr/>
          </a:p>
          <a:p>
            <a:pPr marL="0" marR="0" lvl="0" indent="0" algn="l" rtl="0">
              <a:spcBef>
                <a:spcPts val="600"/>
              </a:spcBef>
              <a:spcAft>
                <a:spcPts val="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URLs name things. Things are nouns.</a:t>
            </a:r>
            <a:endParaRPr/>
          </a:p>
        </p:txBody>
      </p:sp>
      <p:sp>
        <p:nvSpPr>
          <p:cNvPr id="235" name="Google Shape;235;p15"/>
          <p:cNvSpPr txBox="1"/>
          <p:nvPr/>
        </p:nvSpPr>
        <p:spPr>
          <a:xfrm>
            <a:off x="914400" y="1463040"/>
            <a:ext cx="10362900" cy="588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REST URL identifies a </a:t>
            </a:r>
            <a:r>
              <a:rPr lang="en-US" sz="2400" b="1" i="0" u="none" strike="noStrike" cap="none">
                <a:solidFill>
                  <a:srgbClr val="333344"/>
                </a:solidFill>
                <a:latin typeface="Calibri"/>
                <a:ea typeface="Calibri"/>
                <a:cs typeface="Calibri"/>
                <a:sym typeface="Calibri"/>
              </a:rPr>
              <a:t>resource</a:t>
            </a:r>
            <a:r>
              <a:rPr lang="en-US" sz="2400" b="0" i="0" u="none" strike="noStrike" cap="none">
                <a:solidFill>
                  <a:srgbClr val="333344"/>
                </a:solidFill>
                <a:latin typeface="Calibri"/>
                <a:ea typeface="Calibri"/>
                <a:cs typeface="Calibri"/>
                <a:sym typeface="Calibri"/>
              </a:rPr>
              <a:t>: a thing you can get or change.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Resources are </a:t>
            </a:r>
            <a:r>
              <a:rPr lang="en-US" sz="2000" b="1" i="0" u="none" strike="noStrike" cap="none">
                <a:solidFill>
                  <a:srgbClr val="666677"/>
                </a:solidFill>
                <a:latin typeface="Calibri"/>
                <a:ea typeface="Calibri"/>
                <a:cs typeface="Calibri"/>
                <a:sym typeface="Calibri"/>
              </a:rPr>
              <a:t>nouns</a:t>
            </a:r>
            <a:r>
              <a:rPr lang="en-US" sz="2000" b="0" i="0" u="none" strike="noStrike" cap="none">
                <a:solidFill>
                  <a:srgbClr val="666677"/>
                </a:solidFill>
                <a:latin typeface="Calibri"/>
                <a:ea typeface="Calibri"/>
                <a:cs typeface="Calibri"/>
                <a:sym typeface="Calibri"/>
              </a:rPr>
              <a:t>, not actions.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Good (nouns):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/messages/42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/channels/general/messages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/users/alice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Bad (verbs buried in the URL):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/getMessages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/deleteMessageById?id=42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/loadUserProfile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0"/>
        <p:cNvGrpSpPr/>
        <p:nvPr/>
      </p:nvGrpSpPr>
      <p:grpSpPr>
        <a:xfrm>
          <a:off x="0" y="0"/>
          <a:ext cx="0" cy="0"/>
          <a:chOff x="0" y="0"/>
          <a:chExt cx="0" cy="0"/>
        </a:xfrm>
      </p:grpSpPr>
      <p:sp>
        <p:nvSpPr>
          <p:cNvPr id="241" name="Google Shape;241;g3d5effa7ec8_1_1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HTTP methods: the shared verb set</a:t>
            </a:r>
            <a:endParaRPr/>
          </a:p>
        </p:txBody>
      </p:sp>
      <p:sp>
        <p:nvSpPr>
          <p:cNvPr id="242" name="Google Shape;242;g3d5effa7ec8_1_14"/>
          <p:cNvSpPr txBox="1"/>
          <p:nvPr/>
        </p:nvSpPr>
        <p:spPr>
          <a:xfrm>
            <a:off x="914400" y="1463040"/>
            <a:ext cx="10362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REST API uses the same five verbs.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GET</a:t>
            </a:r>
            <a:r>
              <a:rPr lang="en-US" sz="2000" b="0" i="0" u="none" strike="noStrike" cap="none">
                <a:solidFill>
                  <a:srgbClr val="666677"/>
                </a:solidFill>
                <a:latin typeface="Calibri"/>
                <a:ea typeface="Calibri"/>
                <a:cs typeface="Calibri"/>
                <a:sym typeface="Calibri"/>
              </a:rPr>
              <a:t>     Read a resource. No body. No side effects. Safe to retry.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POST</a:t>
            </a:r>
            <a:r>
              <a:rPr lang="en-US" sz="2000" b="0" i="0" u="none" strike="noStrike" cap="none">
                <a:solidFill>
                  <a:srgbClr val="666677"/>
                </a:solidFill>
                <a:latin typeface="Calibri"/>
                <a:ea typeface="Calibri"/>
                <a:cs typeface="Calibri"/>
                <a:sym typeface="Calibri"/>
              </a:rPr>
              <a:t>    Create a new resource. Has a body. Not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PUT</a:t>
            </a:r>
            <a:r>
              <a:rPr lang="en-US" sz="2000" b="0" i="0" u="none" strike="noStrike" cap="none">
                <a:solidFill>
                  <a:srgbClr val="666677"/>
                </a:solidFill>
                <a:latin typeface="Calibri"/>
                <a:ea typeface="Calibri"/>
                <a:cs typeface="Calibri"/>
                <a:sym typeface="Calibri"/>
              </a:rPr>
              <a:t>     Replace an existing resource. Has a body.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PATCH</a:t>
            </a:r>
            <a:r>
              <a:rPr lang="en-US" sz="2000" b="0" i="0" u="none" strike="noStrike" cap="none">
                <a:solidFill>
                  <a:srgbClr val="666677"/>
                </a:solidFill>
                <a:latin typeface="Calibri"/>
                <a:ea typeface="Calibri"/>
                <a:cs typeface="Calibri"/>
                <a:sym typeface="Calibri"/>
              </a:rPr>
              <a:t>   Modify part of an existing resource. Has a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DELETE</a:t>
            </a:r>
            <a:r>
              <a:rPr lang="en-US" sz="2000" b="0" i="0" u="none" strike="noStrike" cap="none">
                <a:solidFill>
                  <a:srgbClr val="666677"/>
                </a:solidFill>
                <a:latin typeface="Calibri"/>
                <a:ea typeface="Calibri"/>
                <a:cs typeface="Calibri"/>
                <a:sym typeface="Calibri"/>
              </a:rPr>
              <a:t>  Remove a resource. No body needed.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Idempotent</a:t>
            </a:r>
            <a:r>
              <a:rPr lang="en-US" sz="2400" b="0" i="0" u="none" strike="noStrike" cap="none">
                <a:solidFill>
                  <a:srgbClr val="333344"/>
                </a:solidFill>
                <a:latin typeface="Calibri"/>
                <a:ea typeface="Calibri"/>
                <a:cs typeface="Calibri"/>
                <a:sym typeface="Calibri"/>
              </a:rPr>
              <a:t> means: doing it twice has the same effect as doing it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 is idempotent (reading twice is fine).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 is idempotent (deleting an already-deleted thing is a no-op).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POST is not (posting the same comment twice creates two comments).</a:t>
            </a:r>
            <a:endParaRPr/>
          </a:p>
          <a:p>
            <a:pPr marL="0" marR="0" lvl="0" indent="0" algn="l" rtl="0">
              <a:spcBef>
                <a:spcPts val="60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7"/>
        <p:cNvGrpSpPr/>
        <p:nvPr/>
      </p:nvGrpSpPr>
      <p:grpSpPr>
        <a:xfrm>
          <a:off x="0" y="0"/>
          <a:ext cx="0" cy="0"/>
          <a:chOff x="0" y="0"/>
          <a:chExt cx="0" cy="0"/>
        </a:xfrm>
      </p:grpSpPr>
      <p:sp>
        <p:nvSpPr>
          <p:cNvPr id="248" name="Google Shape;248;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HTTP methods: the shared verb set</a:t>
            </a:r>
            <a:endParaRPr/>
          </a:p>
        </p:txBody>
      </p:sp>
      <p:sp>
        <p:nvSpPr>
          <p:cNvPr id="249" name="Google Shape;249;p16"/>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REST API uses the same five verbs.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GET</a:t>
            </a:r>
            <a:r>
              <a:rPr lang="en-US" sz="2000" b="0" i="0" u="none" strike="noStrike" cap="none">
                <a:solidFill>
                  <a:srgbClr val="666677"/>
                </a:solidFill>
                <a:latin typeface="Calibri"/>
                <a:ea typeface="Calibri"/>
                <a:cs typeface="Calibri"/>
                <a:sym typeface="Calibri"/>
              </a:rPr>
              <a:t>     Read a resource. No body. No side effects. Safe to retry.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POST</a:t>
            </a:r>
            <a:r>
              <a:rPr lang="en-US" sz="2000" b="0" i="0" u="none" strike="noStrike" cap="none">
                <a:solidFill>
                  <a:srgbClr val="666677"/>
                </a:solidFill>
                <a:latin typeface="Calibri"/>
                <a:ea typeface="Calibri"/>
                <a:cs typeface="Calibri"/>
                <a:sym typeface="Calibri"/>
              </a:rPr>
              <a:t>    Create a new resource. Has a body. Not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PUT</a:t>
            </a:r>
            <a:r>
              <a:rPr lang="en-US" sz="2000" b="0" i="0" u="none" strike="noStrike" cap="none">
                <a:solidFill>
                  <a:srgbClr val="666677"/>
                </a:solidFill>
                <a:latin typeface="Calibri"/>
                <a:ea typeface="Calibri"/>
                <a:cs typeface="Calibri"/>
                <a:sym typeface="Calibri"/>
              </a:rPr>
              <a:t>     Replace an existing resource. Has a body. Idempotent.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PATCH</a:t>
            </a:r>
            <a:r>
              <a:rPr lang="en-US" sz="2000" b="0" i="0" u="none" strike="noStrike" cap="none">
                <a:solidFill>
                  <a:srgbClr val="666677"/>
                </a:solidFill>
                <a:latin typeface="Calibri"/>
                <a:ea typeface="Calibri"/>
                <a:cs typeface="Calibri"/>
                <a:sym typeface="Calibri"/>
              </a:rPr>
              <a:t>   Modify part of an existing resource. Has a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DELETE</a:t>
            </a:r>
            <a:r>
              <a:rPr lang="en-US" sz="2000" b="0" i="0" u="none" strike="noStrike" cap="none">
                <a:solidFill>
                  <a:srgbClr val="666677"/>
                </a:solidFill>
                <a:latin typeface="Calibri"/>
                <a:ea typeface="Calibri"/>
                <a:cs typeface="Calibri"/>
                <a:sym typeface="Calibri"/>
              </a:rPr>
              <a:t>  Remove a resource. No body needed.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Idempotent</a:t>
            </a:r>
            <a:r>
              <a:rPr lang="en-US" sz="2400" b="0" i="0" u="none" strike="noStrike" cap="none">
                <a:solidFill>
                  <a:srgbClr val="333344"/>
                </a:solidFill>
                <a:latin typeface="Calibri"/>
                <a:ea typeface="Calibri"/>
                <a:cs typeface="Calibri"/>
                <a:sym typeface="Calibri"/>
              </a:rPr>
              <a:t> means: doing it twice has the same effect as doing it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GET is idempotent (reading twice is fine).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DELETE is idempotent (deleting an already-deleted thing is a no-op).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POST is not (posting the same comment twice creates two comments).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matters because the network is unreliable</a:t>
            </a:r>
            <a:r>
              <a:rPr lang="en-US" sz="2400">
                <a:solidFill>
                  <a:srgbClr val="333344"/>
                </a:solidFill>
                <a:latin typeface="Calibri"/>
                <a:ea typeface="Calibri"/>
                <a:cs typeface="Calibri"/>
                <a:sym typeface="Calibri"/>
              </a:rPr>
              <a:t>.</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4"/>
        <p:cNvGrpSpPr/>
        <p:nvPr/>
      </p:nvGrpSpPr>
      <p:grpSpPr>
        <a:xfrm>
          <a:off x="0" y="0"/>
          <a:ext cx="0" cy="0"/>
          <a:chOff x="0" y="0"/>
          <a:chExt cx="0" cy="0"/>
        </a:xfrm>
      </p:grpSpPr>
      <p:sp>
        <p:nvSpPr>
          <p:cNvPr id="255" name="Google Shape;255;p1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URL + method together: the full vocabulary</a:t>
            </a:r>
            <a:endParaRPr/>
          </a:p>
        </p:txBody>
      </p:sp>
      <p:sp>
        <p:nvSpPr>
          <p:cNvPr id="256" name="Google Shape;256;p1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HTTP</a:t>
            </a:r>
            <a:endParaRPr/>
          </a:p>
        </p:txBody>
      </p:sp>
      <p:sp>
        <p:nvSpPr>
          <p:cNvPr id="257" name="Google Shape;257;p1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8" name="Google Shape;258;p17"/>
          <p:cNvSpPr txBox="1"/>
          <p:nvPr/>
        </p:nvSpPr>
        <p:spPr>
          <a:xfrm>
            <a:off x="1005840" y="164592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GET    /messages                  List all messages</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/messages/42               Read message 42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POST   /messages                  Create a new message</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PUT    /messages/42               Replace message 42 entirely</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PATCH  /messages/42               Edit part of message 42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DELETE /messages/42               Delete message 42</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/channels                  List all channels</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/channels/general          Read the 'general' channel</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/channels/general/messages List messages in 'general'</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POST   /channels/general/messages Send a message to 'general'</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GET    /users/alice               Read alice's profile</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PATCH  /users/alice               Update alice's profile</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3"/>
        <p:cNvGrpSpPr/>
        <p:nvPr/>
      </p:nvGrpSpPr>
      <p:grpSpPr>
        <a:xfrm>
          <a:off x="0" y="0"/>
          <a:ext cx="0" cy="0"/>
          <a:chOff x="0" y="0"/>
          <a:chExt cx="0" cy="0"/>
        </a:xfrm>
      </p:grpSpPr>
      <p:sp>
        <p:nvSpPr>
          <p:cNvPr id="264" name="Google Shape;264;p1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Status codes: a shared vocabulary for outcomes</a:t>
            </a:r>
            <a:endParaRPr/>
          </a:p>
        </p:txBody>
      </p:sp>
      <p:sp>
        <p:nvSpPr>
          <p:cNvPr id="265" name="Google Shape;265;p18"/>
          <p:cNvSpPr txBox="1"/>
          <p:nvPr/>
        </p:nvSpPr>
        <p:spPr>
          <a:xfrm>
            <a:off x="914400" y="1463040"/>
            <a:ext cx="10362900" cy="5525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HTTP response starts with a three-digit status code.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first digit tells you what family it's in.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2xx</a:t>
            </a:r>
            <a:r>
              <a:rPr lang="en-US" sz="2000" b="0" i="0" u="none" strike="noStrike" cap="none">
                <a:solidFill>
                  <a:srgbClr val="666677"/>
                </a:solidFill>
                <a:latin typeface="Calibri"/>
                <a:ea typeface="Calibri"/>
                <a:cs typeface="Calibri"/>
                <a:sym typeface="Calibri"/>
              </a:rPr>
              <a:t>  Success. Everything worked.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3xx</a:t>
            </a:r>
            <a:r>
              <a:rPr lang="en-US" sz="2000" b="0" i="0" u="none" strike="noStrike" cap="none">
                <a:solidFill>
                  <a:srgbClr val="666677"/>
                </a:solidFill>
                <a:latin typeface="Calibri"/>
                <a:ea typeface="Calibri"/>
                <a:cs typeface="Calibri"/>
                <a:sym typeface="Calibri"/>
              </a:rPr>
              <a:t>  Redirect. Look somewhere else for the answer.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4xx</a:t>
            </a:r>
            <a:r>
              <a:rPr lang="en-US" sz="2000" b="0" i="0" u="none" strike="noStrike" cap="none">
                <a:solidFill>
                  <a:srgbClr val="666677"/>
                </a:solidFill>
                <a:latin typeface="Calibri"/>
                <a:ea typeface="Calibri"/>
                <a:cs typeface="Calibri"/>
                <a:sym typeface="Calibri"/>
              </a:rPr>
              <a:t>  You messed up. Bad request, not allowed, not found.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5xx</a:t>
            </a:r>
            <a:r>
              <a:rPr lang="en-US" sz="2000" b="0" i="0" u="none" strike="noStrike" cap="none">
                <a:solidFill>
                  <a:srgbClr val="666677"/>
                </a:solidFill>
                <a:latin typeface="Calibri"/>
                <a:ea typeface="Calibri"/>
                <a:cs typeface="Calibri"/>
                <a:sym typeface="Calibri"/>
              </a:rPr>
              <a:t>  I messed up. Server-side problem.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ones you'll actually use this semester: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200</a:t>
            </a:r>
            <a:r>
              <a:rPr lang="en-US" sz="2000" b="0" i="0" u="none" strike="noStrike" cap="none">
                <a:solidFill>
                  <a:srgbClr val="666677"/>
                </a:solidFill>
                <a:latin typeface="Calibri"/>
                <a:ea typeface="Calibri"/>
                <a:cs typeface="Calibri"/>
                <a:sym typeface="Calibri"/>
              </a:rPr>
              <a:t> OK                    	</a:t>
            </a:r>
            <a:r>
              <a:rPr lang="en-US" sz="2000" b="1" i="0" u="none" strike="noStrike" cap="none">
                <a:solidFill>
                  <a:srgbClr val="666677"/>
                </a:solidFill>
                <a:latin typeface="Calibri"/>
                <a:ea typeface="Calibri"/>
                <a:cs typeface="Calibri"/>
                <a:sym typeface="Calibri"/>
              </a:rPr>
              <a:t>400</a:t>
            </a:r>
            <a:r>
              <a:rPr lang="en-US" sz="2000" b="0" i="0" u="none" strike="noStrike" cap="none">
                <a:solidFill>
                  <a:srgbClr val="666677"/>
                </a:solidFill>
                <a:latin typeface="Calibri"/>
                <a:ea typeface="Calibri"/>
                <a:cs typeface="Calibri"/>
                <a:sym typeface="Calibri"/>
              </a:rPr>
              <a:t> Bad Request                                   </a:t>
            </a:r>
            <a:r>
              <a:rPr lang="en-US" sz="2000" b="1">
                <a:solidFill>
                  <a:srgbClr val="666677"/>
                </a:solidFill>
                <a:latin typeface="Calibri"/>
                <a:ea typeface="Calibri"/>
                <a:cs typeface="Calibri"/>
                <a:sym typeface="Calibri"/>
              </a:rPr>
              <a:t>404</a:t>
            </a:r>
            <a:r>
              <a:rPr lang="en-US" sz="2000">
                <a:solidFill>
                  <a:srgbClr val="666677"/>
                </a:solidFill>
                <a:latin typeface="Calibri"/>
                <a:ea typeface="Calibri"/>
                <a:cs typeface="Calibri"/>
                <a:sym typeface="Calibri"/>
              </a:rPr>
              <a:t> Not Found</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201</a:t>
            </a:r>
            <a:r>
              <a:rPr lang="en-US" sz="2000" b="0" i="0" u="none" strike="noStrike" cap="none">
                <a:solidFill>
                  <a:srgbClr val="666677"/>
                </a:solidFill>
                <a:latin typeface="Calibri"/>
                <a:ea typeface="Calibri"/>
                <a:cs typeface="Calibri"/>
                <a:sym typeface="Calibri"/>
              </a:rPr>
              <a:t> Created                </a:t>
            </a:r>
            <a:r>
              <a:rPr lang="en-US" sz="2000" b="1" i="0" u="none" strike="noStrike" cap="none">
                <a:solidFill>
                  <a:srgbClr val="666677"/>
                </a:solidFill>
                <a:latin typeface="Calibri"/>
                <a:ea typeface="Calibri"/>
                <a:cs typeface="Calibri"/>
                <a:sym typeface="Calibri"/>
              </a:rPr>
              <a:t>401</a:t>
            </a:r>
            <a:r>
              <a:rPr lang="en-US" sz="2000" b="0" i="0" u="none" strike="noStrike" cap="none">
                <a:solidFill>
                  <a:srgbClr val="666677"/>
                </a:solidFill>
                <a:latin typeface="Calibri"/>
                <a:ea typeface="Calibri"/>
                <a:cs typeface="Calibri"/>
                <a:sym typeface="Calibri"/>
              </a:rPr>
              <a:t> Unauthorized (not logged in)     </a:t>
            </a:r>
            <a:r>
              <a:rPr lang="en-US" sz="2000" b="1">
                <a:solidFill>
                  <a:srgbClr val="666677"/>
                </a:solidFill>
                <a:latin typeface="Calibri"/>
                <a:ea typeface="Calibri"/>
                <a:cs typeface="Calibri"/>
                <a:sym typeface="Calibri"/>
              </a:rPr>
              <a:t>409</a:t>
            </a:r>
            <a:r>
              <a:rPr lang="en-US" sz="2000">
                <a:solidFill>
                  <a:srgbClr val="666677"/>
                </a:solidFill>
                <a:latin typeface="Calibri"/>
                <a:ea typeface="Calibri"/>
                <a:cs typeface="Calibri"/>
                <a:sym typeface="Calibri"/>
              </a:rPr>
              <a:t> Conflict</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204</a:t>
            </a:r>
            <a:r>
              <a:rPr lang="en-US" sz="2000" b="0" i="0" u="none" strike="noStrike" cap="none">
                <a:solidFill>
                  <a:srgbClr val="666677"/>
                </a:solidFill>
                <a:latin typeface="Calibri"/>
                <a:ea typeface="Calibri"/>
                <a:cs typeface="Calibri"/>
                <a:sym typeface="Calibri"/>
              </a:rPr>
              <a:t> No Content         </a:t>
            </a:r>
            <a:r>
              <a:rPr lang="en-US" sz="2000" b="1" i="0" u="none" strike="noStrike" cap="none">
                <a:solidFill>
                  <a:srgbClr val="666677"/>
                </a:solidFill>
                <a:latin typeface="Calibri"/>
                <a:ea typeface="Calibri"/>
                <a:cs typeface="Calibri"/>
                <a:sym typeface="Calibri"/>
              </a:rPr>
              <a:t>403</a:t>
            </a:r>
            <a:r>
              <a:rPr lang="en-US" sz="2000" b="0" i="0" u="none" strike="noStrike" cap="none">
                <a:solidFill>
                  <a:srgbClr val="666677"/>
                </a:solidFill>
                <a:latin typeface="Calibri"/>
                <a:ea typeface="Calibri"/>
                <a:cs typeface="Calibri"/>
                <a:sym typeface="Calibri"/>
              </a:rPr>
              <a:t> Forbidden (logged in, can't)        </a:t>
            </a:r>
            <a:r>
              <a:rPr lang="en-US" sz="2000" b="1">
                <a:solidFill>
                  <a:srgbClr val="666677"/>
                </a:solidFill>
                <a:latin typeface="Calibri"/>
                <a:ea typeface="Calibri"/>
                <a:cs typeface="Calibri"/>
                <a:sym typeface="Calibri"/>
              </a:rPr>
              <a:t>500</a:t>
            </a:r>
            <a:r>
              <a:rPr lang="en-US" sz="2000">
                <a:solidFill>
                  <a:srgbClr val="666677"/>
                </a:solidFill>
                <a:latin typeface="Calibri"/>
                <a:ea typeface="Calibri"/>
                <a:cs typeface="Calibri"/>
                <a:sym typeface="Calibri"/>
              </a:rPr>
              <a:t> Internal Server Error</a:t>
            </a:r>
            <a:endParaRPr>
              <a:solidFill>
                <a:schemeClr val="dk1"/>
              </a:solidFill>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0"/>
        <p:cNvGrpSpPr/>
        <p:nvPr/>
      </p:nvGrpSpPr>
      <p:grpSpPr>
        <a:xfrm>
          <a:off x="0" y="0"/>
          <a:ext cx="0" cy="0"/>
          <a:chOff x="0" y="0"/>
          <a:chExt cx="0" cy="0"/>
        </a:xfrm>
      </p:grpSpPr>
      <p:sp>
        <p:nvSpPr>
          <p:cNvPr id="271" name="Google Shape;271;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Headers: metadata that rides along</a:t>
            </a:r>
            <a:endParaRPr/>
          </a:p>
        </p:txBody>
      </p:sp>
      <p:sp>
        <p:nvSpPr>
          <p:cNvPr id="272" name="Google Shape;272;p19"/>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request or response can carry </a:t>
            </a:r>
            <a:r>
              <a:rPr lang="en-US" sz="2400" b="1" i="0" u="none" strike="noStrike" cap="none">
                <a:solidFill>
                  <a:srgbClr val="333344"/>
                </a:solidFill>
                <a:latin typeface="Calibri"/>
                <a:ea typeface="Calibri"/>
                <a:cs typeface="Calibri"/>
                <a:sym typeface="Calibri"/>
              </a:rPr>
              <a:t>headers</a:t>
            </a:r>
            <a:r>
              <a:rPr lang="en-US" sz="2400" b="0" i="0" u="none" strike="noStrike" cap="none">
                <a:solidFill>
                  <a:srgbClr val="333344"/>
                </a:solidFill>
                <a:latin typeface="Calibri"/>
                <a:ea typeface="Calibri"/>
                <a:cs typeface="Calibri"/>
                <a:sym typeface="Calibri"/>
              </a:rPr>
              <a:t>: key-value metadata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isn't part of the body but describes the exchange.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ones that matter most: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Content-Type</a:t>
            </a:r>
            <a:r>
              <a:rPr lang="en-US" sz="2000" b="0" i="0" u="none" strike="noStrike" cap="none">
                <a:solidFill>
                  <a:srgbClr val="666677"/>
                </a:solidFill>
                <a:latin typeface="Calibri"/>
                <a:ea typeface="Calibri"/>
                <a:cs typeface="Calibri"/>
                <a:sym typeface="Calibri"/>
              </a:rPr>
              <a:t>    what format the body is in (application/json)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Content-Length</a:t>
            </a:r>
            <a:r>
              <a:rPr lang="en-US" sz="2000" b="0" i="0" u="none" strike="noStrike" cap="none">
                <a:solidFill>
                  <a:srgbClr val="666677"/>
                </a:solidFill>
                <a:latin typeface="Calibri"/>
                <a:ea typeface="Calibri"/>
                <a:cs typeface="Calibri"/>
                <a:sym typeface="Calibri"/>
              </a:rPr>
              <a:t>  how many bytes the body is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Authorization</a:t>
            </a:r>
            <a:r>
              <a:rPr lang="en-US" sz="2000" b="0" i="0" u="none" strike="noStrike" cap="none">
                <a:solidFill>
                  <a:srgbClr val="666677"/>
                </a:solidFill>
                <a:latin typeface="Calibri"/>
                <a:ea typeface="Calibri"/>
                <a:cs typeface="Calibri"/>
                <a:sym typeface="Calibri"/>
              </a:rPr>
              <a:t>   who is making this request (we'll see this in 3.2)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Accept</a:t>
            </a:r>
            <a:r>
              <a:rPr lang="en-US" sz="2000" b="0" i="0" u="none" strike="noStrike" cap="none">
                <a:solidFill>
                  <a:srgbClr val="666677"/>
                </a:solidFill>
                <a:latin typeface="Calibri"/>
                <a:ea typeface="Calibri"/>
                <a:cs typeface="Calibri"/>
                <a:sym typeface="Calibri"/>
              </a:rPr>
              <a:t>          what formats the client is willing to receive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Cache-Control</a:t>
            </a:r>
            <a:r>
              <a:rPr lang="en-US" sz="2000" b="0" i="0" u="none" strike="noStrike" cap="none">
                <a:solidFill>
                  <a:srgbClr val="666677"/>
                </a:solidFill>
                <a:latin typeface="Calibri"/>
                <a:ea typeface="Calibri"/>
                <a:cs typeface="Calibri"/>
                <a:sym typeface="Calibri"/>
              </a:rPr>
              <a:t>   hints to caches about whether to store this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Think of headers as the envelope.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body is the letter. Headers are the stamps and return address.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7"/>
        <p:cNvGrpSpPr/>
        <p:nvPr/>
      </p:nvGrpSpPr>
      <p:grpSpPr>
        <a:xfrm>
          <a:off x="0" y="0"/>
          <a:ext cx="0" cy="0"/>
          <a:chOff x="0" y="0"/>
          <a:chExt cx="0" cy="0"/>
        </a:xfrm>
      </p:grpSpPr>
      <p:sp>
        <p:nvSpPr>
          <p:cNvPr id="278" name="Google Shape;278;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JSON: the body of almost every modern API</a:t>
            </a:r>
            <a:endParaRPr/>
          </a:p>
        </p:txBody>
      </p:sp>
      <p:sp>
        <p:nvSpPr>
          <p:cNvPr id="279" name="Google Shape;279;p20"/>
          <p:cNvSpPr txBox="1"/>
          <p:nvPr/>
        </p:nvSpPr>
        <p:spPr>
          <a:xfrm>
            <a:off x="914400" y="1463050"/>
            <a:ext cx="10851600" cy="5325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HTTP can carry any bytes in the body. What goes in there?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In 2026, the answer is almost always </a:t>
            </a:r>
            <a:r>
              <a:rPr lang="en-US" sz="2400" b="1" i="0" u="none" strike="noStrike" cap="none">
                <a:solidFill>
                  <a:srgbClr val="333344"/>
                </a:solidFill>
                <a:latin typeface="Calibri"/>
                <a:ea typeface="Calibri"/>
                <a:cs typeface="Calibri"/>
                <a:sym typeface="Calibri"/>
              </a:rPr>
              <a:t>JSON</a:t>
            </a:r>
            <a:r>
              <a:rPr lang="en-US" sz="2400" b="0" i="0" u="none" strike="noStrike" cap="none">
                <a:solidFill>
                  <a:srgbClr val="333344"/>
                </a:solidFill>
                <a:latin typeface="Calibri"/>
                <a:ea typeface="Calibri"/>
                <a:cs typeface="Calibri"/>
                <a:sym typeface="Calibri"/>
              </a:rPr>
              <a: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"id": 42,</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"channel": "general",</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"author": "alice",</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"text": "hi everyone",</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"timestamp": "2026-04-11T14:22:00Z"</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I</a:t>
            </a:r>
            <a:r>
              <a:rPr lang="en-US" sz="2400" b="0" i="0" u="none" strike="noStrike" cap="none">
                <a:solidFill>
                  <a:srgbClr val="333344"/>
                </a:solidFill>
                <a:latin typeface="Calibri"/>
                <a:ea typeface="Calibri"/>
                <a:cs typeface="Calibri"/>
                <a:sym typeface="Calibri"/>
              </a:rPr>
              <a:t>t maps cleanly to dicts and lists in every language</a:t>
            </a:r>
            <a:r>
              <a:rPr lang="en-US" sz="2400">
                <a:solidFill>
                  <a:srgbClr val="333344"/>
                </a:solidFill>
                <a:latin typeface="Calibri"/>
                <a:ea typeface="Calibri"/>
                <a:cs typeface="Calibri"/>
                <a:sym typeface="Calibri"/>
              </a:rPr>
              <a:t>. Everyone’s got a </a:t>
            </a:r>
            <a:r>
              <a:rPr lang="en-US" sz="2400" b="1">
                <a:solidFill>
                  <a:srgbClr val="333344"/>
                </a:solidFill>
                <a:latin typeface="Courier Prime"/>
                <a:ea typeface="Courier Prime"/>
                <a:cs typeface="Courier Prime"/>
                <a:sym typeface="Courier Prime"/>
              </a:rPr>
              <a:t>json.loads</a:t>
            </a:r>
            <a:r>
              <a:rPr lang="en-US" sz="2400">
                <a:solidFill>
                  <a:srgbClr val="333344"/>
                </a:solidFill>
                <a:latin typeface="Courier Prime"/>
                <a:ea typeface="Courier Prime"/>
                <a:cs typeface="Courier Prime"/>
                <a:sym typeface="Courier Prime"/>
              </a:rPr>
              <a:t>.</a:t>
            </a:r>
            <a:endParaRPr>
              <a:latin typeface="Courier Prime"/>
              <a:ea typeface="Courier Prime"/>
              <a:cs typeface="Courier Prime"/>
              <a:sym typeface="Courier Prime"/>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84"/>
        <p:cNvGrpSpPr/>
        <p:nvPr/>
      </p:nvGrpSpPr>
      <p:grpSpPr>
        <a:xfrm>
          <a:off x="0" y="0"/>
          <a:ext cx="0" cy="0"/>
          <a:chOff x="0" y="0"/>
          <a:chExt cx="0" cy="0"/>
        </a:xfrm>
      </p:grpSpPr>
      <p:sp>
        <p:nvSpPr>
          <p:cNvPr id="285" name="Google Shape;285;p21"/>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What It Actually Looks Like on the Wire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0"/>
        <p:cNvGrpSpPr/>
        <p:nvPr/>
      </p:nvGrpSpPr>
      <p:grpSpPr>
        <a:xfrm>
          <a:off x="0" y="0"/>
          <a:ext cx="0" cy="0"/>
          <a:chOff x="0" y="0"/>
          <a:chExt cx="0" cy="0"/>
        </a:xfrm>
      </p:grpSpPr>
      <p:sp>
        <p:nvSpPr>
          <p:cNvPr id="291" name="Google Shape;291;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real HTTP request, byte for byte</a:t>
            </a:r>
            <a:endParaRPr/>
          </a:p>
        </p:txBody>
      </p:sp>
      <p:sp>
        <p:nvSpPr>
          <p:cNvPr id="292" name="Google Shape;292;p2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HTTP/1.1</a:t>
            </a:r>
            <a:endParaRPr/>
          </a:p>
        </p:txBody>
      </p:sp>
      <p:sp>
        <p:nvSpPr>
          <p:cNvPr id="293" name="Google Shape;293;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4" name="Google Shape;294;p22"/>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POST /channels/general/messages HTTP/1.1</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Host: chat.example.com</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Content-Type: application/json</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Content-Length: 58</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Authorization: Bearer abc123xyz</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{"author": "alice", "text": "hi everyone, just joined"}</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9"/>
        <p:cNvGrpSpPr/>
        <p:nvPr/>
      </p:nvGrpSpPr>
      <p:grpSpPr>
        <a:xfrm>
          <a:off x="0" y="0"/>
          <a:ext cx="0" cy="0"/>
          <a:chOff x="0" y="0"/>
          <a:chExt cx="0" cy="0"/>
        </a:xfrm>
      </p:grpSpPr>
      <p:sp>
        <p:nvSpPr>
          <p:cNvPr id="300" name="Google Shape;300;p2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And the server's response, byte for byte</a:t>
            </a:r>
            <a:endParaRPr/>
          </a:p>
        </p:txBody>
      </p:sp>
      <p:sp>
        <p:nvSpPr>
          <p:cNvPr id="301" name="Google Shape;301;p23"/>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HTTP/1.1</a:t>
            </a:r>
            <a:endParaRPr/>
          </a:p>
        </p:txBody>
      </p:sp>
      <p:sp>
        <p:nvSpPr>
          <p:cNvPr id="302" name="Google Shape;302;p23"/>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3" name="Google Shape;303;p23"/>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HTTP/1.1 201 Created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Content-Type: application/json</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Content-Length: 94</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"id": 847,</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"author": "alice",</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"text": "hi everyone, just joined",</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"timestamp": "2026-04-11T14:22:00Z"</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8"/>
        <p:cNvGrpSpPr/>
        <p:nvPr/>
      </p:nvGrpSpPr>
      <p:grpSpPr>
        <a:xfrm>
          <a:off x="0" y="0"/>
          <a:ext cx="0" cy="0"/>
          <a:chOff x="0" y="0"/>
          <a:chExt cx="0" cy="0"/>
        </a:xfrm>
      </p:grpSpPr>
      <p:sp>
        <p:nvSpPr>
          <p:cNvPr id="309" name="Google Shape;309;g3d5effa7ec8_1_2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Seeing this for yourself: curl -v</a:t>
            </a:r>
            <a:endParaRPr/>
          </a:p>
        </p:txBody>
      </p:sp>
      <p:sp>
        <p:nvSpPr>
          <p:cNvPr id="310" name="Google Shape;310;g3d5effa7ec8_1_2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11" name="Google Shape;311;g3d5effa7ec8_1_2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2" name="Google Shape;312;g3d5effa7ec8_1_20"/>
          <p:cNvSpPr txBox="1"/>
          <p:nvPr/>
        </p:nvSpPr>
        <p:spPr>
          <a:xfrm>
            <a:off x="1005840" y="1645920"/>
            <a:ext cx="10179900" cy="610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curl -v https://chat.example.com/channels/general/messages</a:t>
            </a:r>
            <a:endParaRPr/>
          </a:p>
          <a:p>
            <a:pPr marL="0" marR="0" lvl="0" indent="0" algn="l" rtl="0">
              <a:spcBef>
                <a:spcPts val="200"/>
              </a:spcBef>
              <a:spcAft>
                <a:spcPts val="0"/>
              </a:spcAft>
              <a:buNone/>
            </a:pP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7"/>
        <p:cNvGrpSpPr/>
        <p:nvPr/>
      </p:nvGrpSpPr>
      <p:grpSpPr>
        <a:xfrm>
          <a:off x="0" y="0"/>
          <a:ext cx="0" cy="0"/>
          <a:chOff x="0" y="0"/>
          <a:chExt cx="0" cy="0"/>
        </a:xfrm>
      </p:grpSpPr>
      <p:sp>
        <p:nvSpPr>
          <p:cNvPr id="318" name="Google Shape;318;p2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Seeing this for yourself: curl -v</a:t>
            </a:r>
            <a:endParaRPr/>
          </a:p>
        </p:txBody>
      </p:sp>
      <p:sp>
        <p:nvSpPr>
          <p:cNvPr id="319" name="Google Shape;319;p2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a:t>
            </a:r>
            <a:endParaRPr/>
          </a:p>
        </p:txBody>
      </p:sp>
      <p:sp>
        <p:nvSpPr>
          <p:cNvPr id="320" name="Google Shape;320;p2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1" name="Google Shape;321;p24"/>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curl -v https://chat.example.com/channels/general/messages</a:t>
            </a:r>
            <a:endParaRPr/>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GET /channels/general/messages HTTP/1.1</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Host: chat.example.com</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User-Agent: curl/8.1.2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 Accept: */*</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&gt;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 HTTP/1.1 200 OK</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 Content-Type: application/json</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 Content-Length: 312</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&lt;</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[{"id": 845, "author": "bob", "text": "morning!"},</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{"id": 846, "author": "carol", "text": "morning bob"},</a:t>
            </a:r>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6"/>
        <p:cNvGrpSpPr/>
        <p:nvPr/>
      </p:nvGrpSpPr>
      <p:grpSpPr>
        <a:xfrm>
          <a:off x="0" y="0"/>
          <a:ext cx="0" cy="0"/>
          <a:chOff x="0" y="0"/>
          <a:chExt cx="0" cy="0"/>
        </a:xfrm>
      </p:grpSpPr>
      <p:sp>
        <p:nvSpPr>
          <p:cNvPr id="327" name="Google Shape;327;p25"/>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Read this request. What is it asking for?</a:t>
            </a:r>
            <a:endParaRPr/>
          </a:p>
        </p:txBody>
      </p:sp>
      <p:sp>
        <p:nvSpPr>
          <p:cNvPr id="328" name="Google Shape;328;p25"/>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29" name="Google Shape;329;p25"/>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0" name="Google Shape;330;p25"/>
          <p:cNvSpPr txBox="1"/>
          <p:nvPr/>
        </p:nvSpPr>
        <p:spPr>
          <a:xfrm>
            <a:off x="1005840" y="1554480"/>
            <a:ext cx="10179900" cy="4376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a:solidFill>
                  <a:srgbClr val="333344"/>
                </a:solidFill>
                <a:latin typeface="Courier New"/>
                <a:ea typeface="Courier New"/>
                <a:cs typeface="Courier New"/>
                <a:sym typeface="Courier New"/>
              </a:rPr>
              <a:t>DELETE /channels/general/messages/42 HTTP/1.1</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Host: chat.example.com</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Authorization: Bearer abc123xyz</a:t>
            </a:r>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Answer the following:</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1. What HTTP method?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2. What resource is being acted on?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3. In plain English, what is the client asking the server to do?   </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4. Is this request idempotent? Why or why not?</a:t>
            </a:r>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5"/>
        <p:cNvGrpSpPr/>
        <p:nvPr/>
      </p:nvGrpSpPr>
      <p:grpSpPr>
        <a:xfrm>
          <a:off x="0" y="0"/>
          <a:ext cx="0" cy="0"/>
          <a:chOff x="0" y="0"/>
          <a:chExt cx="0" cy="0"/>
        </a:xfrm>
      </p:grpSpPr>
      <p:sp>
        <p:nvSpPr>
          <p:cNvPr id="336" name="Google Shape;336;p26"/>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Read this request. What is it asking for?</a:t>
            </a:r>
            <a:endParaRPr/>
          </a:p>
        </p:txBody>
      </p:sp>
      <p:sp>
        <p:nvSpPr>
          <p:cNvPr id="337" name="Google Shape;337;p26"/>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8" name="Google Shape;338;p26"/>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9" name="Google Shape;339;p26"/>
          <p:cNvSpPr txBox="1"/>
          <p:nvPr/>
        </p:nvSpPr>
        <p:spPr>
          <a:xfrm>
            <a:off x="1005840" y="1554480"/>
            <a:ext cx="10180015" cy="46634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DELETE /channels/general/messages/42 HTTP/1.1</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Host: chat.example.com</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Authorization: Bearer abc123xyz</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Answers: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1. What HTTP method? DELETE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2. What resource is being acted on? message 42 in the general channel</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3. In plain English, what is the client asking the server to do?</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Delete message 42 from the #general channel, on behalf of</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the user identified by the bearer token abc123xyz.</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4. Is this request idempotent? Why or why not?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YES. Deleting an already-deleted message is a no-op, so</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retrying this request is safe.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4"/>
        <p:cNvGrpSpPr/>
        <p:nvPr/>
      </p:nvGrpSpPr>
      <p:grpSpPr>
        <a:xfrm>
          <a:off x="0" y="0"/>
          <a:ext cx="0" cy="0"/>
          <a:chOff x="0" y="0"/>
          <a:chExt cx="0" cy="0"/>
        </a:xfrm>
      </p:grpSpPr>
      <p:sp>
        <p:nvSpPr>
          <p:cNvPr id="345" name="Google Shape;345;p2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Where this goes next</a:t>
            </a:r>
            <a:endParaRPr/>
          </a:p>
        </p:txBody>
      </p:sp>
      <p:sp>
        <p:nvSpPr>
          <p:cNvPr id="346" name="Google Shape;346;p27"/>
          <p:cNvSpPr txBox="1"/>
          <p:nvPr/>
        </p:nvSpPr>
        <p:spPr>
          <a:xfrm>
            <a:off x="914400" y="1463040"/>
            <a:ext cx="10362900" cy="4787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We’ve covered</a:t>
            </a:r>
            <a:r>
              <a:rPr lang="en-US" sz="2400" b="0">
                <a:solidFill>
                  <a:srgbClr val="333344"/>
                </a:solidFill>
                <a:latin typeface="Calibri"/>
                <a:ea typeface="Calibri"/>
                <a:cs typeface="Calibri"/>
                <a:sym typeface="Calibri"/>
              </a:rPr>
              <a:t> </a:t>
            </a:r>
            <a:r>
              <a:rPr lang="en-US" sz="2400" b="1">
                <a:solidFill>
                  <a:srgbClr val="333344"/>
                </a:solidFill>
                <a:latin typeface="Calibri"/>
                <a:ea typeface="Calibri"/>
                <a:cs typeface="Calibri"/>
                <a:sym typeface="Calibri"/>
              </a:rPr>
              <a:t>what</a:t>
            </a:r>
            <a:r>
              <a:rPr lang="en-US" sz="2400" b="0">
                <a:solidFill>
                  <a:srgbClr val="333344"/>
                </a:solidFill>
                <a:latin typeface="Calibri"/>
                <a:ea typeface="Calibri"/>
                <a:cs typeface="Calibri"/>
                <a:sym typeface="Calibri"/>
              </a:rPr>
              <a:t> a REST API is, and </a:t>
            </a:r>
            <a:r>
              <a:rPr lang="en-US" sz="2400" b="1">
                <a:solidFill>
                  <a:srgbClr val="333344"/>
                </a:solidFill>
                <a:latin typeface="Calibri"/>
                <a:ea typeface="Calibri"/>
                <a:cs typeface="Calibri"/>
                <a:sym typeface="Calibri"/>
              </a:rPr>
              <a:t>why</a:t>
            </a:r>
            <a:r>
              <a:rPr lang="en-US" sz="2400" b="0">
                <a:solidFill>
                  <a:srgbClr val="333344"/>
                </a:solidFill>
                <a:latin typeface="Calibri"/>
                <a:ea typeface="Calibri"/>
                <a:cs typeface="Calibri"/>
                <a:sym typeface="Calibri"/>
              </a:rPr>
              <a:t> it looks the way it does.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a:t>
            </a:r>
            <a:r>
              <a:rPr lang="en-US" sz="2400">
                <a:solidFill>
                  <a:srgbClr val="333344"/>
                </a:solidFill>
                <a:latin typeface="Calibri"/>
                <a:ea typeface="Calibri"/>
                <a:cs typeface="Calibri"/>
                <a:sym typeface="Calibri"/>
              </a:rPr>
              <a:t>ow we</a:t>
            </a:r>
            <a:r>
              <a:rPr lang="en-US" sz="2400" b="0">
                <a:solidFill>
                  <a:srgbClr val="333344"/>
                </a:solidFill>
                <a:latin typeface="Calibri"/>
                <a:ea typeface="Calibri"/>
                <a:cs typeface="Calibri"/>
                <a:sym typeface="Calibri"/>
              </a:rPr>
              <a:t> actually build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Python framework: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define endpoints by writing regular Python functions.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Pydantic handles validation. uvicorn runs the server.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Assignment 2 </a:t>
            </a:r>
            <a:r>
              <a:rPr lang="en-US" sz="2400">
                <a:solidFill>
                  <a:srgbClr val="333344"/>
                </a:solidFill>
                <a:latin typeface="Calibri"/>
                <a:ea typeface="Calibri"/>
                <a:cs typeface="Calibri"/>
                <a:sym typeface="Calibri"/>
              </a:rPr>
              <a:t>builds off these two classes.</a:t>
            </a:r>
            <a:r>
              <a:rPr lang="en-US" sz="2400" b="0">
                <a:solidFill>
                  <a:srgbClr val="333344"/>
                </a:solidFill>
                <a:latin typeface="Calibri"/>
                <a:ea typeface="Calibri"/>
                <a:cs typeface="Calibri"/>
                <a:sym typeface="Calibri"/>
              </a:rPr>
              <a:t> You will: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Turn your week-2 </a:t>
            </a:r>
            <a:r>
              <a:rPr lang="en-US" sz="2000">
                <a:solidFill>
                  <a:srgbClr val="666677"/>
                </a:solidFill>
                <a:latin typeface="Calibri"/>
                <a:ea typeface="Calibri"/>
                <a:cs typeface="Calibri"/>
                <a:sym typeface="Calibri"/>
              </a:rPr>
              <a:t>BBS</a:t>
            </a:r>
            <a:r>
              <a:rPr lang="en-US" sz="2000" b="0" i="0" u="none" strike="noStrike" cap="none">
                <a:solidFill>
                  <a:srgbClr val="666677"/>
                </a:solidFill>
                <a:latin typeface="Calibri"/>
                <a:ea typeface="Calibri"/>
                <a:cs typeface="Calibri"/>
                <a:sym typeface="Calibri"/>
              </a:rPr>
              <a:t> into a real HTTP API</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 GET, POST, DELETE, proper status codes, JSON bodies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Test it with curl before writing any client code</a:t>
            </a:r>
            <a:endParaRPr/>
          </a:p>
          <a:p>
            <a:pPr marL="0" marR="0" lvl="0" indent="0" algn="l" rtl="0">
              <a:spcBef>
                <a:spcPts val="600"/>
              </a:spcBef>
              <a:spcAft>
                <a:spcPts val="0"/>
              </a:spcAft>
              <a:buNone/>
            </a:pP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1"/>
        <p:cNvGrpSpPr/>
        <p:nvPr/>
      </p:nvGrpSpPr>
      <p:grpSpPr>
        <a:xfrm>
          <a:off x="0" y="0"/>
          <a:ext cx="0" cy="0"/>
          <a:chOff x="0" y="0"/>
          <a:chExt cx="0" cy="0"/>
        </a:xfrm>
      </p:grpSpPr>
      <p:sp>
        <p:nvSpPr>
          <p:cNvPr id="352" name="Google Shape;352;g3d5effa7ec8_1_3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Where this goes next</a:t>
            </a:r>
            <a:endParaRPr/>
          </a:p>
        </p:txBody>
      </p:sp>
      <p:sp>
        <p:nvSpPr>
          <p:cNvPr id="353" name="Google Shape;353;g3d5effa7ec8_1_36"/>
          <p:cNvSpPr txBox="1"/>
          <p:nvPr/>
        </p:nvSpPr>
        <p:spPr>
          <a:xfrm>
            <a:off x="914400" y="1463040"/>
            <a:ext cx="10362900" cy="334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We’ve covered</a:t>
            </a:r>
            <a:r>
              <a:rPr lang="en-US" sz="2400" b="0">
                <a:solidFill>
                  <a:srgbClr val="333344"/>
                </a:solidFill>
                <a:latin typeface="Calibri"/>
                <a:ea typeface="Calibri"/>
                <a:cs typeface="Calibri"/>
                <a:sym typeface="Calibri"/>
              </a:rPr>
              <a:t> </a:t>
            </a:r>
            <a:r>
              <a:rPr lang="en-US" sz="2400" b="1">
                <a:solidFill>
                  <a:srgbClr val="333344"/>
                </a:solidFill>
                <a:latin typeface="Calibri"/>
                <a:ea typeface="Calibri"/>
                <a:cs typeface="Calibri"/>
                <a:sym typeface="Calibri"/>
              </a:rPr>
              <a:t>what</a:t>
            </a:r>
            <a:r>
              <a:rPr lang="en-US" sz="2400" b="0">
                <a:solidFill>
                  <a:srgbClr val="333344"/>
                </a:solidFill>
                <a:latin typeface="Calibri"/>
                <a:ea typeface="Calibri"/>
                <a:cs typeface="Calibri"/>
                <a:sym typeface="Calibri"/>
              </a:rPr>
              <a:t> a REST API is, and </a:t>
            </a:r>
            <a:r>
              <a:rPr lang="en-US" sz="2400" b="1">
                <a:solidFill>
                  <a:srgbClr val="333344"/>
                </a:solidFill>
                <a:latin typeface="Calibri"/>
                <a:ea typeface="Calibri"/>
                <a:cs typeface="Calibri"/>
                <a:sym typeface="Calibri"/>
              </a:rPr>
              <a:t>why</a:t>
            </a:r>
            <a:r>
              <a:rPr lang="en-US" sz="2400" b="0">
                <a:solidFill>
                  <a:srgbClr val="333344"/>
                </a:solidFill>
                <a:latin typeface="Calibri"/>
                <a:ea typeface="Calibri"/>
                <a:cs typeface="Calibri"/>
                <a:sym typeface="Calibri"/>
              </a:rPr>
              <a:t> it looks the way it does.</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lvl="0" indent="0" algn="l" rtl="0">
              <a:spcBef>
                <a:spcPts val="600"/>
              </a:spcBef>
              <a:spcAft>
                <a:spcPts val="0"/>
              </a:spcAft>
              <a:buNone/>
            </a:pPr>
            <a:r>
              <a:rPr lang="en-US" sz="2400">
                <a:solidFill>
                  <a:srgbClr val="333344"/>
                </a:solidFill>
                <a:latin typeface="Calibri"/>
                <a:ea typeface="Calibri"/>
                <a:cs typeface="Calibri"/>
                <a:sym typeface="Calibri"/>
              </a:rPr>
              <a:t>Now we actually build one.</a:t>
            </a:r>
            <a:endParaRPr sz="240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Python framework: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define endpoints by writing regular Python functions.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Pydantic handles validation. uvicorn runs the server.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When in doubt, keep asking: </a:t>
            </a:r>
            <a:r>
              <a:rPr lang="en-US" sz="2400" b="1">
                <a:solidFill>
                  <a:srgbClr val="333344"/>
                </a:solidFill>
                <a:latin typeface="Calibri"/>
                <a:ea typeface="Calibri"/>
                <a:cs typeface="Calibri"/>
                <a:sym typeface="Calibri"/>
              </a:rPr>
              <a:t>what's the noun? what's the verb?</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58"/>
        <p:cNvGrpSpPr/>
        <p:nvPr/>
      </p:nvGrpSpPr>
      <p:grpSpPr>
        <a:xfrm>
          <a:off x="0" y="0"/>
          <a:ext cx="0" cy="0"/>
          <a:chOff x="0" y="0"/>
          <a:chExt cx="0" cy="0"/>
        </a:xfrm>
      </p:grpSpPr>
      <p:sp>
        <p:nvSpPr>
          <p:cNvPr id="359" name="Google Shape;359;g3d5effa7ec8_1_50"/>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From the Raw Bytes to a Response</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4"/>
        <p:cNvGrpSpPr/>
        <p:nvPr/>
      </p:nvGrpSpPr>
      <p:grpSpPr>
        <a:xfrm>
          <a:off x="0" y="0"/>
          <a:ext cx="0" cy="0"/>
          <a:chOff x="0" y="0"/>
          <a:chExt cx="0" cy="0"/>
        </a:xfrm>
      </p:grpSpPr>
      <p:sp>
        <p:nvSpPr>
          <p:cNvPr id="365" name="Google Shape;365;g3d5effa7ec8_1_5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Remember these bytes?</a:t>
            </a:r>
            <a:endParaRPr/>
          </a:p>
        </p:txBody>
      </p:sp>
      <p:sp>
        <p:nvSpPr>
          <p:cNvPr id="366" name="Google Shape;366;g3d5effa7ec8_1_55"/>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Previously</a:t>
            </a:r>
            <a:r>
              <a:rPr lang="en-US" sz="2400" b="0" i="0" u="none" strike="noStrike" cap="none">
                <a:solidFill>
                  <a:srgbClr val="333344"/>
                </a:solidFill>
                <a:latin typeface="Calibri"/>
                <a:ea typeface="Calibri"/>
                <a:cs typeface="Calibri"/>
                <a:sym typeface="Calibri"/>
              </a:rPr>
              <a:t> we stared at a real HTTP request on the wire: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POST /channels/general/messages HTTP/1.1</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Host: chat.example.com</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Content-Type: application/json</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Content-Length: 58</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Authorization: Bearer abc123xyz</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1" i="0" u="none" strike="noStrike" cap="none">
              <a:solidFill>
                <a:srgbClr val="666677"/>
              </a:solidFill>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{"author": "alice", "text": "hi everyone, just joined"}</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Next</a:t>
            </a:r>
            <a:r>
              <a:rPr lang="en-US" sz="2400" b="0" i="0" u="none" strike="noStrike" cap="none">
                <a:solidFill>
                  <a:srgbClr val="333344"/>
                </a:solidFill>
                <a:latin typeface="Calibri"/>
                <a:ea typeface="Calibri"/>
                <a:cs typeface="Calibri"/>
                <a:sym typeface="Calibri"/>
              </a:rPr>
              <a:t>: what does it take to write Python code that </a:t>
            </a:r>
            <a:r>
              <a:rPr lang="en-US" sz="2400" b="1" i="0" u="none" strike="noStrike" cap="none">
                <a:solidFill>
                  <a:srgbClr val="333344"/>
                </a:solidFill>
                <a:latin typeface="Calibri"/>
                <a:ea typeface="Calibri"/>
                <a:cs typeface="Calibri"/>
                <a:sym typeface="Calibri"/>
              </a:rPr>
              <a:t>answers</a:t>
            </a:r>
            <a:r>
              <a:rPr lang="en-US" sz="2400" b="0" i="0" u="none" strike="noStrike" cap="none">
                <a:solidFill>
                  <a:srgbClr val="333344"/>
                </a:solidFill>
                <a:latin typeface="Calibri"/>
                <a:ea typeface="Calibri"/>
                <a:cs typeface="Calibri"/>
                <a:sym typeface="Calibri"/>
              </a:rPr>
              <a:t> one?</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1"/>
        <p:cNvGrpSpPr/>
        <p:nvPr/>
      </p:nvGrpSpPr>
      <p:grpSpPr>
        <a:xfrm>
          <a:off x="0" y="0"/>
          <a:ext cx="0" cy="0"/>
          <a:chOff x="0" y="0"/>
          <a:chExt cx="0" cy="0"/>
        </a:xfrm>
      </p:grpSpPr>
      <p:sp>
        <p:nvSpPr>
          <p:cNvPr id="372" name="Google Shape;372;g3d5effa7ec8_1_6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would it take in pure Python?</a:t>
            </a:r>
            <a:endParaRPr/>
          </a:p>
        </p:txBody>
      </p:sp>
      <p:sp>
        <p:nvSpPr>
          <p:cNvPr id="373" name="Google Shape;373;g3d5effa7ec8_1_61"/>
          <p:cNvSpPr txBox="1"/>
          <p:nvPr/>
        </p:nvSpPr>
        <p:spPr>
          <a:xfrm>
            <a:off x="914400" y="1184040"/>
            <a:ext cx="10362900" cy="543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To respond to one HTTP request with nothing but the standard library:</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 Open a TCP socket and listen on a port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2. Accept an incoming connection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3. Read bytes off the socket until you have a full request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4. Parse the request line (method, path, version) from text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5. Parse the headers (key: value lines)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6. Figure out which of your functions handles this URL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7. Call that function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8. Turn the return value into HTTP response bytes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9. Write those bytes back to the socket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10. Close the connection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8"/>
        <p:cNvGrpSpPr/>
        <p:nvPr/>
      </p:nvGrpSpPr>
      <p:grpSpPr>
        <a:xfrm>
          <a:off x="0" y="0"/>
          <a:ext cx="0" cy="0"/>
          <a:chOff x="0" y="0"/>
          <a:chExt cx="0" cy="0"/>
        </a:xfrm>
      </p:grpSpPr>
      <p:sp>
        <p:nvSpPr>
          <p:cNvPr id="379" name="Google Shape;379;g3d5effa7ec8_1_6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working handler, the hard way</a:t>
            </a:r>
            <a:endParaRPr/>
          </a:p>
        </p:txBody>
      </p:sp>
      <p:sp>
        <p:nvSpPr>
          <p:cNvPr id="380" name="Google Shape;380;g3d5effa7ec8_1_67"/>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81" name="Google Shape;381;g3d5effa7ec8_1_67"/>
          <p:cNvSpPr/>
          <p:nvPr/>
        </p:nvSpPr>
        <p:spPr>
          <a:xfrm>
            <a:off x="731500" y="960127"/>
            <a:ext cx="10728600" cy="57216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82" name="Google Shape;382;g3d5effa7ec8_1_67"/>
          <p:cNvSpPr txBox="1"/>
          <p:nvPr/>
        </p:nvSpPr>
        <p:spPr>
          <a:xfrm>
            <a:off x="1005840" y="1142995"/>
            <a:ext cx="10179900" cy="5484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import socket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sock = socket.socket()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sock.bind(("127.0.0.1", 8000))</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sock.listen()</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while 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 _ = sock.accept()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req = conn.recv(4096).decode()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request line looks like: "GET /ping HTTP/1.1"</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first_line = req.split("\r\n")[0]</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method, path, _ = first_line.split(" ")</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method == "GET" and path == "/ping":</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body = "pong"</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resp =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"HTTP/1.1 200 OK\r\n"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f"Content-Length: {len(body)}\r\n"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"Content-Type: text/plain\r\n"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body</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conn.sendall(resp.encode())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conn.close()</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7"/>
        <p:cNvGrpSpPr/>
        <p:nvPr/>
      </p:nvGrpSpPr>
      <p:grpSpPr>
        <a:xfrm>
          <a:off x="0" y="0"/>
          <a:ext cx="0" cy="0"/>
          <a:chOff x="0" y="0"/>
          <a:chExt cx="0" cy="0"/>
        </a:xfrm>
      </p:grpSpPr>
      <p:sp>
        <p:nvSpPr>
          <p:cNvPr id="388" name="Google Shape;388;g3d5effa7ec8_1_7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 could keep going...</a:t>
            </a:r>
            <a:endParaRPr/>
          </a:p>
        </p:txBody>
      </p:sp>
      <p:sp>
        <p:nvSpPr>
          <p:cNvPr id="389" name="Google Shape;389;g3d5effa7ec8_1_75"/>
          <p:cNvSpPr txBox="1"/>
          <p:nvPr/>
        </p:nvSpPr>
        <p:spPr>
          <a:xfrm>
            <a:off x="914388" y="1213415"/>
            <a:ext cx="10362900" cy="555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That handler only does ONE thing: </a:t>
            </a:r>
            <a:r>
              <a:rPr lang="en-US" sz="2400" b="1" i="0" u="none" strike="noStrike" cap="none">
                <a:solidFill>
                  <a:srgbClr val="333344"/>
                </a:solidFill>
                <a:latin typeface="Courier Prime"/>
                <a:ea typeface="Courier Prime"/>
                <a:cs typeface="Courier Prime"/>
                <a:sym typeface="Courier Prime"/>
              </a:rPr>
              <a:t>GET /ping</a:t>
            </a:r>
            <a:r>
              <a:rPr lang="en-US" sz="2400" b="0" i="0" u="none" strike="noStrike" cap="none">
                <a:solidFill>
                  <a:srgbClr val="333344"/>
                </a:solidFill>
                <a:latin typeface="Calibri"/>
                <a:ea typeface="Calibri"/>
                <a:cs typeface="Calibri"/>
                <a:sym typeface="Calibri"/>
              </a:rPr>
              <a:t> returns </a:t>
            </a:r>
            <a:r>
              <a:rPr lang="en-US" sz="2400" b="1" i="0" u="none" strike="noStrike" cap="none">
                <a:solidFill>
                  <a:srgbClr val="333344"/>
                </a:solidFill>
                <a:latin typeface="Courier Prime"/>
                <a:ea typeface="Courier Prime"/>
                <a:cs typeface="Courier Prime"/>
                <a:sym typeface="Courier Prime"/>
              </a:rPr>
              <a:t>"pong"</a:t>
            </a:r>
            <a:r>
              <a:rPr lang="en-US" sz="2400" b="0" i="0" u="none" strike="noStrike" cap="none">
                <a:solidFill>
                  <a:srgbClr val="333344"/>
                </a:solidFill>
                <a:latin typeface="Calibri"/>
                <a:ea typeface="Calibri"/>
                <a:cs typeface="Calibri"/>
                <a:sym typeface="Calibri"/>
              </a:rPr>
              <a: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 build a real chat API, you'd need to write, from scratch: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Routing</a:t>
            </a:r>
            <a:r>
              <a:rPr lang="en-US" sz="2000" b="0" i="0" u="none" strike="noStrike" cap="none">
                <a:solidFill>
                  <a:srgbClr val="666677"/>
                </a:solidFill>
                <a:latin typeface="Calibri"/>
                <a:ea typeface="Calibri"/>
                <a:cs typeface="Calibri"/>
                <a:sym typeface="Calibri"/>
              </a:rPr>
              <a:t> - a table mapping (method, path) to functions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Path parameters</a:t>
            </a:r>
            <a:r>
              <a:rPr lang="en-US" sz="2000" b="0" i="0" u="none" strike="noStrike" cap="none">
                <a:solidFill>
                  <a:srgbClr val="666677"/>
                </a:solidFill>
                <a:latin typeface="Calibri"/>
                <a:ea typeface="Calibri"/>
                <a:cs typeface="Calibri"/>
                <a:sym typeface="Calibri"/>
              </a:rPr>
              <a:t> - /messages/42 needs to extract the 42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Body parsing</a:t>
            </a:r>
            <a:r>
              <a:rPr lang="en-US" sz="2000" b="0" i="0" u="none" strike="noStrike" cap="none">
                <a:solidFill>
                  <a:srgbClr val="666677"/>
                </a:solidFill>
                <a:latin typeface="Calibri"/>
                <a:ea typeface="Calibri"/>
                <a:cs typeface="Calibri"/>
                <a:sym typeface="Calibri"/>
              </a:rPr>
              <a:t> - JSON in, JSON out, with useful errors when it's wrong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Validation</a:t>
            </a:r>
            <a:r>
              <a:rPr lang="en-US" sz="2000" b="0" i="0" u="none" strike="noStrike" cap="none">
                <a:solidFill>
                  <a:srgbClr val="666677"/>
                </a:solidFill>
                <a:latin typeface="Calibri"/>
                <a:ea typeface="Calibri"/>
                <a:cs typeface="Calibri"/>
                <a:sym typeface="Calibri"/>
              </a:rPr>
              <a:t> - is this actually a string? a number in range?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Error handling</a:t>
            </a:r>
            <a:r>
              <a:rPr lang="en-US" sz="2000" b="0" i="0" u="none" strike="noStrike" cap="none">
                <a:solidFill>
                  <a:srgbClr val="666677"/>
                </a:solidFill>
                <a:latin typeface="Calibri"/>
                <a:ea typeface="Calibri"/>
                <a:cs typeface="Calibri"/>
                <a:sym typeface="Calibri"/>
              </a:rPr>
              <a:t> - turn exceptions into proper HTTP responses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Docs</a:t>
            </a:r>
            <a:r>
              <a:rPr lang="en-US" sz="2000" b="0" i="0" u="none" strike="noStrike" cap="none">
                <a:solidFill>
                  <a:srgbClr val="666677"/>
                </a:solidFill>
                <a:latin typeface="Calibri"/>
                <a:ea typeface="Calibri"/>
                <a:cs typeface="Calibri"/>
                <a:sym typeface="Calibri"/>
              </a:rPr>
              <a:t> - so the frontend team knows what endpoints exist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Concurrency</a:t>
            </a:r>
            <a:r>
              <a:rPr lang="en-US" sz="2000" b="0" i="0" u="none" strike="noStrike" cap="none">
                <a:solidFill>
                  <a:srgbClr val="666677"/>
                </a:solidFill>
                <a:latin typeface="Calibri"/>
                <a:ea typeface="Calibri"/>
                <a:cs typeface="Calibri"/>
                <a:sym typeface="Calibri"/>
              </a:rPr>
              <a:t> - handle more than one request at a time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Or you could use a framework that already did all of that.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Today that framework is </a:t>
            </a:r>
            <a:r>
              <a:rPr lang="en-US" sz="2000" b="1" i="0" u="none" strike="noStrike" cap="none">
                <a:solidFill>
                  <a:srgbClr val="666677"/>
                </a:solidFill>
                <a:latin typeface="Calibri"/>
                <a:ea typeface="Calibri"/>
                <a:cs typeface="Calibri"/>
                <a:sym typeface="Calibri"/>
              </a:rPr>
              <a:t>FastAPI</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4748</Words>
  <Application>Microsoft Macintosh PowerPoint</Application>
  <PresentationFormat>Widescreen</PresentationFormat>
  <Paragraphs>471</Paragraphs>
  <Slides>42</Slides>
  <Notes>42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Courier Prime</vt:lpstr>
      <vt:lpstr>Courier New</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2026-04-14T23:28:11Z</dcterms:modified>
</cp:coreProperties>
</file>