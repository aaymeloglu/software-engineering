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embeddedFontLst>
    <p:embeddedFont>
      <p:font typeface="Courier Prime" pitchFamily="49" charset="77"/>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8ekrBkWfsuRfpKkH1LLGZHpD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56" Type="http://customschemas.google.com/relationships/presentationmetadata" Target="metadata"/><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Frame REST as an answer to a design problem. Nobody needs the reference-manual version of this.</a:t>
            </a:r>
            <a:endParaRPr/>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d5effa7ec8_1_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g3d5effa7ec8_1_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whole lecture hinges on framing this as a design problem. Resist the urge to jump to 'REST is an architectural style.' Stay with the conversation metaphor.</a:t>
            </a:r>
            <a:endParaRPr/>
          </a:p>
        </p:txBody>
      </p:sp>
      <p:sp>
        <p:nvSpPr>
          <p:cNvPr id="98" name="Google Shape;98;g3d5effa7ec8_1_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whole lecture hinges on framing this as a design problem. Resist the urge to jump to 'REST is an architectural style.' Stay with the conversation metaphor. Today: how people learned to design that conversation well.</a:t>
            </a:r>
            <a:endParaRPr/>
          </a:p>
          <a:p>
            <a:pPr marL="0" lvl="0" indent="0" algn="l" rtl="0">
              <a:spcBef>
                <a:spcPts val="0"/>
              </a:spcBef>
              <a:spcAft>
                <a:spcPts val="0"/>
              </a:spcAft>
              <a:buNone/>
            </a:pPr>
            <a:endParaRPr/>
          </a:p>
        </p:txBody>
      </p:sp>
      <p:sp>
        <p:nvSpPr>
          <p:cNvPr id="105" name="Google Shape;105;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TCP = Transfer Control Protocol</a:t>
            </a:r>
            <a:endParaRPr/>
          </a:p>
          <a:p>
            <a:pPr marL="0" lvl="0" indent="0" algn="l" rtl="0">
              <a:spcBef>
                <a:spcPts val="0"/>
              </a:spcBef>
              <a:spcAft>
                <a:spcPts val="0"/>
              </a:spcAft>
              <a:buNone/>
            </a:pPr>
            <a:r>
              <a:rPr lang="en-US"/>
              <a:t>TLS = Transport Layer Security</a:t>
            </a:r>
            <a:endParaRPr/>
          </a:p>
        </p:txBody>
      </p:sp>
      <p:sp>
        <p:nvSpPr>
          <p:cNvPr id="112" name="Google Shape;11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Stateless in the sense that each exchange is self-contained. We'll come back to why that matters.</a:t>
            </a:r>
            <a:endParaRPr/>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 name="Google Shape;12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Short section. Name RPC, name the pains, move on. Don't dwell.</a:t>
            </a:r>
            <a:endParaRPr/>
          </a:p>
        </p:txBody>
      </p:sp>
      <p:sp>
        <p:nvSpPr>
          <p:cNvPr id="126" name="Google Shape;126;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5effa7ec8_1_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 name="Google Shape;131;g3d5effa7ec8_1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line on RPC, one example, move on. Do NOT get into CORBA/SOAP/XML-RPC archaeology.</a:t>
            </a:r>
            <a:endParaRPr/>
          </a:p>
        </p:txBody>
      </p:sp>
      <p:sp>
        <p:nvSpPr>
          <p:cNvPr id="132" name="Google Shape;132;g3d5effa7ec8_1_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8" name="Google Shape;138;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line on RPC, one example, move on. Do NOT get into CORBA/SOAP/XML-RPC archaeology.</a:t>
            </a:r>
            <a:endParaRPr/>
          </a:p>
        </p:txBody>
      </p:sp>
      <p:sp>
        <p:nvSpPr>
          <p:cNvPr id="139" name="Google Shape;139;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5effa7ec8_1_3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g3d5effa7ec8_1_3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pains are the motivation for everything in Section 4.</a:t>
            </a:r>
            <a:endParaRPr/>
          </a:p>
        </p:txBody>
      </p:sp>
      <p:sp>
        <p:nvSpPr>
          <p:cNvPr id="146" name="Google Shape;146;g3d5effa7ec8_1_3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d5effa7ec8_1_3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d5effa7ec8_1_3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pains are the motivation for everything in Section 4.</a:t>
            </a:r>
            <a:endParaRPr/>
          </a:p>
        </p:txBody>
      </p:sp>
      <p:sp>
        <p:nvSpPr>
          <p:cNvPr id="153" name="Google Shape;153;g3d5effa7ec8_1_3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pains are the motivation for everything in Section 4.</a:t>
            </a:r>
            <a:endParaRPr/>
          </a:p>
        </p:txBody>
      </p:sp>
      <p:sp>
        <p:nvSpPr>
          <p:cNvPr id="160" name="Google Shape;160;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6" name="Google Shape;166;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Fish for: (a) NAMING - did they land on something like /messages or     /channels/general/messages? This is the URL-as-resource intuition. (b) VERBS - did they distinguish 'read' from 'write' from 'delete'     somehow? This is the HTTP method intuition. (c) STATE - did anyone ask 'how does the server know who I am?'     Good! That's the stateless/auth question. The goal is for Section 4 to feel like validation of what they already said, not a lecture from the mountaintop.</a:t>
            </a:r>
            <a:endParaRPr/>
          </a:p>
        </p:txBody>
      </p:sp>
      <p:sp>
        <p:nvSpPr>
          <p:cNvPr id="167" name="Google Shape;167;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d5effa7ec8_1_3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 name="Google Shape;174;g3d5effa7ec8_1_3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g3d5effa7ec8_1_3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2" name="Google Shape;182;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d5effa7ec8_1_34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g3d5effa7ec8_1_3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constraint should get paired with the pain from Section 2 that it prevents - the uniform interface is what kills verb proliferation, statelessness is what kills the hidden-state coupling, and client-server is what lets a frontend team and a backend team actually work at the same time without stepping on each other.</a:t>
            </a:r>
            <a:endParaRPr/>
          </a:p>
        </p:txBody>
      </p:sp>
      <p:sp>
        <p:nvSpPr>
          <p:cNvPr id="191" name="Google Shape;191;g3d5effa7ec8_1_34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d5effa7ec8_1_35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7" name="Google Shape;197;g3d5effa7ec8_1_35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constraint should get paired with the pain from Section 2 that it prevents - the uniform interface is what kills verb proliferation, statelessness is what kills the hidden-state coupling, and client-server is what lets a frontend team and a backend team actually work at the same time without stepping on each other.</a:t>
            </a:r>
            <a:endParaRPr/>
          </a:p>
        </p:txBody>
      </p:sp>
      <p:sp>
        <p:nvSpPr>
          <p:cNvPr id="198" name="Google Shape;198;g3d5effa7ec8_1_35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constraint should get paired with the pain from Section 2 that it prevents - the uniform interface is what kills verb proliferation, statelessness is what kills the hidden-state coupling, and client-server is what lets a frontend team and a backend team actually work at the same time without stepping on each other.</a:t>
            </a:r>
            <a:endParaRPr/>
          </a:p>
        </p:txBody>
      </p:sp>
      <p:sp>
        <p:nvSpPr>
          <p:cNvPr id="205" name="Google Shape;20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1" name="Google Shape;211;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Basically every scalable web service running today leans on this.</a:t>
            </a:r>
            <a:endParaRPr/>
          </a:p>
          <a:p>
            <a:pPr marL="0" lvl="0" indent="0" algn="l" rtl="0">
              <a:spcBef>
                <a:spcPts val="0"/>
              </a:spcBef>
              <a:spcAft>
                <a:spcPts val="0"/>
              </a:spcAft>
              <a:buNone/>
            </a:pPr>
            <a:endParaRPr/>
          </a:p>
        </p:txBody>
      </p:sp>
      <p:sp>
        <p:nvSpPr>
          <p:cNvPr id="212" name="Google Shape;212;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Now the mechanics. Connect each piece back to a constraint.</a:t>
            </a:r>
            <a:endParaRPr/>
          </a:p>
        </p:txBody>
      </p:sp>
      <p:sp>
        <p:nvSpPr>
          <p:cNvPr id="219" name="Google Shape;219;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d5effa7ec8_1_3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g3d5effa7ec8_1_3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uniform interface constraint made concrete, with the URL doing the naming and the HTTP method carrying the action. Tie it back to whatever they came up with in the discussion.</a:t>
            </a:r>
            <a:endParaRPr/>
          </a:p>
        </p:txBody>
      </p:sp>
      <p:sp>
        <p:nvSpPr>
          <p:cNvPr id="225" name="Google Shape;225;g3d5effa7ec8_1_3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uniform interface constraint made concrete, with the URL doing the naming and the HTTP method carrying the action. Tie it back to whatever they came up with in the discussion.</a:t>
            </a:r>
            <a:endParaRPr/>
          </a:p>
        </p:txBody>
      </p:sp>
      <p:sp>
        <p:nvSpPr>
          <p:cNvPr id="232" name="Google Shape;232;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d5effa7ec8_1_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g3d5effa7ec8_1_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Idempotence sounds abstract until you tie it to network unreliability. The moment a student's phone drops signal mid-request, they care a lot about whether retrying is safe.</a:t>
            </a:r>
            <a:endParaRPr/>
          </a:p>
        </p:txBody>
      </p:sp>
      <p:sp>
        <p:nvSpPr>
          <p:cNvPr id="239" name="Google Shape;239;g3d5effa7ec8_1_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Idempotence sounds abstract until you tie it to network unreliability. The moment a student's phone drops signal mid-request, they care a lot about whether retrying is safe.</a:t>
            </a:r>
            <a:endParaRPr/>
          </a:p>
        </p:txBody>
      </p:sp>
      <p:sp>
        <p:nvSpPr>
          <p:cNvPr id="246" name="Google Shape;246;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2" name="Google Shape;252;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table that makes REST click for people. Every entry is a URL plus a method adding up to exactly one meaning, nobody had to invent a new verb, and there's nothing ambiguous anywhere in it. Walk a few and ask the class what each one does.</a:t>
            </a:r>
            <a:endParaRPr/>
          </a:p>
        </p:txBody>
      </p:sp>
      <p:sp>
        <p:nvSpPr>
          <p:cNvPr id="253" name="Google Shape;253;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1" name="Google Shape;261;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Status codes are another uniform-interface win, and everybody uses the same numbering, which means a client never has to parse an error message to find out what happened - it just branches on the code.</a:t>
            </a:r>
            <a:endParaRPr/>
          </a:p>
        </p:txBody>
      </p:sp>
      <p:sp>
        <p:nvSpPr>
          <p:cNvPr id="262" name="Google Shape;262;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8" name="Google Shape;268;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Keep headers brief. Students mostly need to recognize Content-Type and Authorization for now. The rest is 'you'll see these in the wild; don't be scared of them.'</a:t>
            </a:r>
            <a:endParaRPr/>
          </a:p>
        </p:txBody>
      </p:sp>
      <p:sp>
        <p:nvSpPr>
          <p:cNvPr id="269" name="Google Shape;269;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5" name="Google Shape;275;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Students already met JSON in 2.1. This slide is a reminder, not a new introduction. Main point: JSON is the default wire format, and that choice is boring enough that you stop thinking about it.</a:t>
            </a:r>
            <a:endParaRPr/>
          </a:p>
        </p:txBody>
      </p:sp>
      <p:sp>
        <p:nvSpPr>
          <p:cNvPr id="276" name="Google Shape;276;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2" name="Google Shape;282;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Now zoom all the way in and show them a raw exchange. It's all plain text, and seeing that once does more than any amount of me saying so.</a:t>
            </a:r>
            <a:endParaRPr/>
          </a:p>
        </p:txBody>
      </p:sp>
      <p:sp>
        <p:nvSpPr>
          <p:cNvPr id="283" name="Google Shape;283;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what actually goes across the TCP connection, literally these bytes - request line, then headers, then a blank line, then the body, and that's the entire protocol. Walk each line.</a:t>
            </a:r>
            <a:endParaRPr/>
          </a:p>
        </p:txBody>
      </p:sp>
      <p:sp>
        <p:nvSpPr>
          <p:cNvPr id="289" name="Google Shape;289;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201 because a new resource was created. The response body echoes back the canonical representation, including the server-assigned id and timestamp. This is a common REST pattern: POST returns the created resource.</a:t>
            </a:r>
            <a:endParaRPr/>
          </a:p>
        </p:txBody>
      </p:sp>
      <p:sp>
        <p:nvSpPr>
          <p:cNvPr id="298" name="Google Shape;298;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d5effa7ec8_1_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6" name="Google Shape;306;g3d5effa7ec8_1_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curl is the no-nonsense command-line HTTP client. -v shows you the raw request and response with &gt; and &lt; prefixes. When you're debugging an API, this is usually the first tool you reach for. Assignment 2 will have you use it.</a:t>
            </a:r>
            <a:endParaRPr/>
          </a:p>
        </p:txBody>
      </p:sp>
      <p:sp>
        <p:nvSpPr>
          <p:cNvPr id="307" name="Google Shape;307;g3d5effa7ec8_1_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5" name="Google Shape;315;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curl is the no-nonsense command-line HTTP client. -v shows you the raw request and response with &gt; and &lt; prefixes. When you're debugging an API, this is usually the first tool you reach for. Assignment 2 will have you use it.</a:t>
            </a:r>
            <a:endParaRPr/>
          </a:p>
        </p:txBody>
      </p:sp>
      <p:sp>
        <p:nvSpPr>
          <p:cNvPr id="316" name="Google Shape;316;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4" name="Google Shape;324;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Give the class 2 minutes. This is a reading comprehension exercise: can they parse a raw HTTP request and say what it means? If they can do this, they understand REST at the level they need for assignment 2.</a:t>
            </a:r>
            <a:endParaRPr/>
          </a:p>
        </p:txBody>
      </p:sp>
      <p:sp>
        <p:nvSpPr>
          <p:cNvPr id="325" name="Google Shape;325;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3" name="Google Shape;333;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Good moment for idempotence: the client could send this exact thing twice, say their network dropped and the phone retried on its own, and the server ends up in the same state either way...which is the whole reason anybody cares about the property.</a:t>
            </a:r>
            <a:endParaRPr/>
          </a:p>
        </p:txBody>
      </p:sp>
      <p:sp>
        <p:nvSpPr>
          <p:cNvPr id="334" name="Google Shape;334;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2" name="Google Shape;342;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Forward reference to 3.2 so students know where this is going, and a concrete pointer to the assignment so the lecture content feels connected to work they'll actually do.</a:t>
            </a:r>
            <a:endParaRPr/>
          </a:p>
        </p:txBody>
      </p:sp>
      <p:sp>
        <p:nvSpPr>
          <p:cNvPr id="343" name="Google Shape;343;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d5effa7ec8_1_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9" name="Google Shape;349;g3d5effa7ec8_1_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Forward reference to 3.2 so students know where this is going, and a concrete pointer to the assignment so the lecture content feels connected to work they'll actually do.</a:t>
            </a:r>
            <a:endParaRPr/>
          </a:p>
        </p:txBody>
      </p:sp>
      <p:sp>
        <p:nvSpPr>
          <p:cNvPr id="350" name="Google Shape;350;g3d5effa7ec8_1_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d5effa7ec8_1_5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6" name="Google Shape;356;g3d5effa7ec8_1_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Short section. The goal is for students to feel the misery of writing a handler by hand, then want the framework. Don't dwell - one ugly code slide is enough.</a:t>
            </a:r>
            <a:endParaRPr/>
          </a:p>
        </p:txBody>
      </p:sp>
      <p:sp>
        <p:nvSpPr>
          <p:cNvPr id="357" name="Google Shape;357;g3d5effa7ec8_1_5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d5effa7ec8_1_5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2" name="Google Shape;362;g3d5effa7ec8_1_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Deliberate callback to 3.1 so students have the wire-level content fresh in mind. We are going to build up to a framework by showing what's hiding behind it.</a:t>
            </a:r>
            <a:endParaRPr/>
          </a:p>
        </p:txBody>
      </p:sp>
      <p:sp>
        <p:nvSpPr>
          <p:cNvPr id="363" name="Google Shape;363;g3d5effa7ec8_1_5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d5effa7ec8_1_6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9" name="Google Shape;369;g3d5effa7ec8_1_6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list is deliberately long, because it really is a LOT of manual work for one endpoint.</a:t>
            </a:r>
            <a:endParaRPr/>
          </a:p>
          <a:p>
            <a:pPr marL="0" lvl="0" indent="0" algn="l" rtl="0">
              <a:spcBef>
                <a:spcPts val="0"/>
              </a:spcBef>
              <a:spcAft>
                <a:spcPts val="0"/>
              </a:spcAft>
              <a:buNone/>
            </a:pPr>
            <a:endParaRPr/>
          </a:p>
          <a:p>
            <a:pPr marL="0" lvl="0" indent="0" algn="l" rtl="0">
              <a:spcBef>
                <a:spcPts val="0"/>
              </a:spcBef>
              <a:spcAft>
                <a:spcPts val="0"/>
              </a:spcAft>
              <a:buNone/>
            </a:pPr>
            <a:r>
              <a:rPr lang="en-US"/>
              <a:t>That's the minimum, per request, before you've thought about errors at all.</a:t>
            </a:r>
            <a:endParaRPr/>
          </a:p>
          <a:p>
            <a:pPr marL="0" lvl="0" indent="0" algn="l" rtl="0">
              <a:spcBef>
                <a:spcPts val="0"/>
              </a:spcBef>
              <a:spcAft>
                <a:spcPts val="0"/>
              </a:spcAft>
              <a:buNone/>
            </a:pPr>
            <a:endParaRPr/>
          </a:p>
        </p:txBody>
      </p:sp>
      <p:sp>
        <p:nvSpPr>
          <p:cNvPr id="370" name="Google Shape;370;g3d5effa7ec8_1_6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d5effa7ec8_1_6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6" name="Google Shape;376;g3d5effa7ec8_1_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this one live. Every line is doing something a framework would otherwise do for you - no routing beyond an if, no body parsing, no JSON, no error handling, no concurrency at all since it takes one request at a time, and no graceful shutdown. And this is the 'hello world' of web servers.</a:t>
            </a:r>
            <a:endParaRPr/>
          </a:p>
          <a:p>
            <a:pPr marL="0" lvl="0" indent="0" algn="l" rtl="0">
              <a:spcBef>
                <a:spcPts val="0"/>
              </a:spcBef>
              <a:spcAft>
                <a:spcPts val="0"/>
              </a:spcAft>
              <a:buNone/>
            </a:pPr>
            <a:endParaRPr/>
          </a:p>
          <a:p>
            <a:pPr marL="0" lvl="0" indent="0" algn="l" rtl="0">
              <a:spcBef>
                <a:spcPts val="0"/>
              </a:spcBef>
              <a:spcAft>
                <a:spcPts val="0"/>
              </a:spcAft>
              <a:buNone/>
            </a:pPr>
            <a:r>
              <a:rPr lang="en-US"/>
              <a:t>I needed help to write this one.</a:t>
            </a:r>
            <a:endParaRPr/>
          </a:p>
        </p:txBody>
      </p:sp>
      <p:sp>
        <p:nvSpPr>
          <p:cNvPr id="377" name="Google Shape;377;g3d5effa7ec8_1_6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d5effa7ec8_1_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5" name="Google Shape;385;g3d5effa7ec8_1_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Transition slide - they've felt the misery now, so tee up the type hints pivot without actually introducing FastAPI yet.</a:t>
            </a:r>
            <a:endParaRPr/>
          </a:p>
        </p:txBody>
      </p:sp>
      <p:sp>
        <p:nvSpPr>
          <p:cNvPr id="386" name="Google Shape;386;g3d5effa7ec8_1_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3"/>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3"/>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4"/>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4"/>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6"/>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6"/>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6"/>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7"/>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7"/>
          <p:cNvSpPr>
            <a:spLocks noGrp="1"/>
          </p:cNvSpPr>
          <p:nvPr>
            <p:ph type="pic" idx="2"/>
          </p:nvPr>
        </p:nvSpPr>
        <p:spPr>
          <a:xfrm>
            <a:off x="1792288" y="612775"/>
            <a:ext cx="5486400" cy="4114800"/>
          </a:xfrm>
          <a:prstGeom prst="rect">
            <a:avLst/>
          </a:prstGeom>
          <a:noFill/>
          <a:ln>
            <a:noFill/>
          </a:ln>
        </p:spPr>
      </p:sp>
      <p:sp>
        <p:nvSpPr>
          <p:cNvPr id="64" name="Google Shape;64;p37"/>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8"/>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8"/>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3.1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REST APIs and HTTP</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Two Computers. One Conversation.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9"/>
        <p:cNvGrpSpPr/>
        <p:nvPr/>
      </p:nvGrpSpPr>
      <p:grpSpPr>
        <a:xfrm>
          <a:off x="0" y="0"/>
          <a:ext cx="0" cy="0"/>
          <a:chOff x="0" y="0"/>
          <a:chExt cx="0" cy="0"/>
        </a:xfrm>
      </p:grpSpPr>
      <p:sp>
        <p:nvSpPr>
          <p:cNvPr id="100" name="Google Shape;100;g3d5effa7ec8_1_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problem we're actually solving</a:t>
            </a:r>
            <a:endParaRPr/>
          </a:p>
        </p:txBody>
      </p:sp>
      <p:sp>
        <p:nvSpPr>
          <p:cNvPr id="101" name="Google Shape;101;g3d5effa7ec8_1_2"/>
          <p:cNvSpPr txBox="1"/>
          <p:nvPr/>
        </p:nvSpPr>
        <p:spPr>
          <a:xfrm>
            <a:off x="914400" y="1463040"/>
            <a:ext cx="103629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 a chat app. It runs in a browser.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messages live on a server somewhere in a data center.</a:t>
            </a:r>
            <a:endParaRPr/>
          </a:p>
          <a:p>
            <a:pPr marL="0" marR="0" lvl="0" indent="0" algn="l" rtl="0">
              <a:spcBef>
                <a:spcPts val="60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problem we're actually solving</a:t>
            </a:r>
            <a:endParaRPr/>
          </a:p>
        </p:txBody>
      </p:sp>
      <p:sp>
        <p:nvSpPr>
          <p:cNvPr id="108" name="Google Shape;108;p3"/>
          <p:cNvSpPr txBox="1"/>
          <p:nvPr/>
        </p:nvSpPr>
        <p:spPr>
          <a:xfrm>
            <a:off x="914400" y="1463040"/>
            <a:ext cx="10362900" cy="4956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 a chat app. It runs in a browser.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messages live on a server somewhere in a data center.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time someone opens the app, you need to get those messages out of the server and into the browser.</a:t>
            </a:r>
            <a:endParaRPr sz="1800"/>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time someone sends one, you need the reverse.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These two computers have to have a </a:t>
            </a:r>
            <a:r>
              <a:rPr lang="en-US" sz="2400" b="1" i="0" u="none" strike="noStrike" cap="none">
                <a:solidFill>
                  <a:srgbClr val="333344"/>
                </a:solidFill>
                <a:latin typeface="Calibri"/>
                <a:ea typeface="Calibri"/>
                <a:cs typeface="Calibri"/>
                <a:sym typeface="Calibri"/>
              </a:rPr>
              <a:t>conversation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does that conversation look like?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 starts it? Who talks next? What do they say?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
        <p:cNvGrpSpPr/>
        <p:nvPr/>
      </p:nvGrpSpPr>
      <p:grpSpPr>
        <a:xfrm>
          <a:off x="0" y="0"/>
          <a:ext cx="0" cy="0"/>
          <a:chOff x="0" y="0"/>
          <a:chExt cx="0" cy="0"/>
        </a:xfrm>
      </p:grpSpPr>
      <p:sp>
        <p:nvSpPr>
          <p:cNvPr id="114" name="Google Shape;114;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network doesn't give you much</a:t>
            </a:r>
            <a:endParaRPr/>
          </a:p>
        </p:txBody>
      </p:sp>
      <p:sp>
        <p:nvSpPr>
          <p:cNvPr id="115" name="Google Shape;115;p4"/>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At the bottom, the internet is just </a:t>
            </a:r>
            <a:r>
              <a:rPr lang="en-US" sz="2400" b="1" i="0" u="none" strike="noStrike" cap="none">
                <a:solidFill>
                  <a:srgbClr val="333344"/>
                </a:solidFill>
                <a:latin typeface="Calibri"/>
                <a:ea typeface="Calibri"/>
                <a:cs typeface="Calibri"/>
                <a:sym typeface="Calibri"/>
              </a:rPr>
              <a:t>packets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Small chunks of bytes, each tagged with a destination address.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Packets can be dropped, duplicated, delivered out of order.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There is no 'connection'. There is no 'message'. Just packets.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TCP</a:t>
            </a:r>
            <a:r>
              <a:rPr lang="en-US" sz="2400" b="0" i="0" u="none" strike="noStrike" cap="none">
                <a:solidFill>
                  <a:srgbClr val="333344"/>
                </a:solidFill>
                <a:latin typeface="Calibri"/>
                <a:ea typeface="Calibri"/>
                <a:cs typeface="Calibri"/>
                <a:sym typeface="Calibri"/>
              </a:rPr>
              <a:t> is a layer above packets that gives you reliable byte streams.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Two computers agree to pretend they have a phone line between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TCP handles retransmission, ordering, and flow control underneath.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still not enough. A byte stream is just... bytes.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does one message end and the next begin?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 talks first? What counts as a question versus an answer?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How do you say 'I want X' vs 'here is X'?</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a protocol for conversations</a:t>
            </a:r>
            <a:endParaRPr/>
          </a:p>
        </p:txBody>
      </p:sp>
      <p:sp>
        <p:nvSpPr>
          <p:cNvPr id="122" name="Google Shape;122;p5"/>
          <p:cNvSpPr txBox="1"/>
          <p:nvPr/>
        </p:nvSpPr>
        <p:spPr>
          <a:xfrm>
            <a:off x="914400" y="1463040"/>
            <a:ext cx="10362900" cy="534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HTTP is the set of rules two </a:t>
            </a:r>
            <a:r>
              <a:rPr lang="en-US" sz="2400" i="0" u="none" strike="noStrike" cap="none">
                <a:solidFill>
                  <a:schemeClr val="dk1"/>
                </a:solidFill>
                <a:latin typeface="Calibri"/>
                <a:ea typeface="Calibri"/>
                <a:cs typeface="Calibri"/>
                <a:sym typeface="Calibri"/>
              </a:rPr>
              <a:t>computers use to have a conversation over TCP. It is a </a:t>
            </a:r>
            <a:r>
              <a:rPr lang="en-US" sz="2400" b="1" i="0" u="none" strike="noStrike" cap="none">
                <a:solidFill>
                  <a:schemeClr val="dk1"/>
                </a:solidFill>
                <a:latin typeface="Calibri"/>
                <a:ea typeface="Calibri"/>
                <a:cs typeface="Calibri"/>
                <a:sym typeface="Calibri"/>
              </a:rPr>
              <a:t>request-response</a:t>
            </a:r>
            <a:r>
              <a:rPr lang="en-US" sz="2400" i="0" u="none" strike="noStrike" cap="none">
                <a:solidFill>
                  <a:schemeClr val="dk1"/>
                </a:solidFill>
                <a:latin typeface="Calibri"/>
                <a:ea typeface="Calibri"/>
                <a:cs typeface="Calibri"/>
                <a:sym typeface="Calibri"/>
              </a:rPr>
              <a:t> protocol.</a:t>
            </a:r>
            <a:endParaRPr sz="2400">
              <a:solidFill>
                <a:schemeClr val="dk1"/>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side (the </a:t>
            </a:r>
            <a:r>
              <a:rPr lang="en-US" sz="2400" b="1" i="0" u="none" strike="noStrike" cap="none">
                <a:solidFill>
                  <a:srgbClr val="333344"/>
                </a:solidFill>
                <a:latin typeface="Calibri"/>
                <a:ea typeface="Calibri"/>
                <a:cs typeface="Calibri"/>
                <a:sym typeface="Calibri"/>
              </a:rPr>
              <a:t>client</a:t>
            </a:r>
            <a:r>
              <a:rPr lang="en-US" sz="2400" b="0" i="0" u="none" strike="noStrike" cap="none">
                <a:solidFill>
                  <a:srgbClr val="333344"/>
                </a:solidFill>
                <a:latin typeface="Calibri"/>
                <a:ea typeface="Calibri"/>
                <a:cs typeface="Calibri"/>
                <a:sym typeface="Calibri"/>
              </a:rPr>
              <a:t>) sends a request.</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side (the </a:t>
            </a:r>
            <a:r>
              <a:rPr lang="en-US" sz="2400" b="1" i="0" u="none" strike="noStrike" cap="none">
                <a:solidFill>
                  <a:srgbClr val="333344"/>
                </a:solidFill>
                <a:latin typeface="Calibri"/>
                <a:ea typeface="Calibri"/>
                <a:cs typeface="Calibri"/>
                <a:sym typeface="Calibri"/>
              </a:rPr>
              <a:t>server</a:t>
            </a:r>
            <a:r>
              <a:rPr lang="en-US" sz="2400" b="0" i="0" u="none" strike="noStrike" cap="none">
                <a:solidFill>
                  <a:srgbClr val="333344"/>
                </a:solidFill>
                <a:latin typeface="Calibri"/>
                <a:ea typeface="Calibri"/>
                <a:cs typeface="Calibri"/>
                <a:sym typeface="Calibri"/>
              </a:rPr>
              <a:t>) sends back exactly one response.</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Then the conversation is over.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it. That's the protocol.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page you load, every API call, every image on the web: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one request, one response, done.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Everything else today is about what goes </a:t>
            </a:r>
            <a:r>
              <a:rPr lang="en-US" sz="2400" b="1" i="0" u="none" strike="noStrike" cap="none">
                <a:solidFill>
                  <a:srgbClr val="333344"/>
                </a:solidFill>
                <a:latin typeface="Calibri"/>
                <a:ea typeface="Calibri"/>
                <a:cs typeface="Calibri"/>
                <a:sym typeface="Calibri"/>
              </a:rPr>
              <a:t>inside</a:t>
            </a:r>
            <a:r>
              <a:rPr lang="en-US" sz="2400" b="0" i="0" u="none" strike="noStrike" cap="none">
                <a:solidFill>
                  <a:srgbClr val="333344"/>
                </a:solidFill>
                <a:latin typeface="Calibri"/>
                <a:ea typeface="Calibri"/>
                <a:cs typeface="Calibri"/>
                <a:sym typeface="Calibri"/>
              </a:rPr>
              <a:t> that request</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27"/>
        <p:cNvGrpSpPr/>
        <p:nvPr/>
      </p:nvGrpSpPr>
      <p:grpSpPr>
        <a:xfrm>
          <a:off x="0" y="0"/>
          <a:ext cx="0" cy="0"/>
          <a:chOff x="0" y="0"/>
          <a:chExt cx="0" cy="0"/>
        </a:xfrm>
      </p:grpSpPr>
      <p:sp>
        <p:nvSpPr>
          <p:cNvPr id="128" name="Google Shape;128;p6"/>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Obvious First Instinct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sp>
        <p:nvSpPr>
          <p:cNvPr id="134" name="Google Shape;134;g3d5effa7ec8_1_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"Just make it feel like a function call"</a:t>
            </a:r>
            <a:endParaRPr/>
          </a:p>
        </p:txBody>
      </p:sp>
      <p:sp>
        <p:nvSpPr>
          <p:cNvPr id="135" name="Google Shape;135;g3d5effa7ec8_1_8"/>
          <p:cNvSpPr txBox="1"/>
          <p:nvPr/>
        </p:nvSpPr>
        <p:spPr>
          <a:xfrm>
            <a:off x="914400" y="1463040"/>
            <a:ext cx="10362900" cy="310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tempting move: make a network call look like a local function call.</a:t>
            </a:r>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 On the client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user = get_user(42)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send_message(channel="general", text="hi")</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Somewhere on the server, those functions really ru</a:t>
            </a:r>
            <a:r>
              <a:rPr lang="en-US" sz="2400" b="0" i="0" u="none" strike="noStrike" cap="none">
                <a:solidFill>
                  <a:schemeClr val="dk1"/>
                </a:solidFill>
                <a:latin typeface="Calibri"/>
                <a:ea typeface="Calibri"/>
                <a:cs typeface="Calibri"/>
                <a:sym typeface="Calibri"/>
              </a:rPr>
              <a:t>n,</a:t>
            </a:r>
            <a:r>
              <a:rPr lang="en-US" sz="2400">
                <a:solidFill>
                  <a:schemeClr val="dk1"/>
                </a:solidFill>
              </a:rPr>
              <a:t> </a:t>
            </a:r>
            <a:r>
              <a:rPr lang="en-US" sz="2400" b="0" i="0" u="none" strike="noStrike" cap="none">
                <a:solidFill>
                  <a:schemeClr val="dk1"/>
                </a:solidFill>
                <a:latin typeface="Calibri"/>
                <a:ea typeface="Calibri"/>
                <a:cs typeface="Calibri"/>
                <a:sym typeface="Calibri"/>
              </a:rPr>
              <a:t>and the answer comes back as if nothing weird happened.</a:t>
            </a:r>
            <a:endParaRPr sz="2400">
              <a:solidFill>
                <a:schemeClr val="dk1"/>
              </a:solidFill>
            </a:endParaRPr>
          </a:p>
          <a:p>
            <a:pPr marL="457200" marR="0" lvl="1" indent="0" algn="l" rtl="0">
              <a:spcBef>
                <a:spcPts val="60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
        <p:cNvGrpSpPr/>
        <p:nvPr/>
      </p:nvGrpSpPr>
      <p:grpSpPr>
        <a:xfrm>
          <a:off x="0" y="0"/>
          <a:ext cx="0" cy="0"/>
          <a:chOff x="0" y="0"/>
          <a:chExt cx="0" cy="0"/>
        </a:xfrm>
      </p:grpSpPr>
      <p:sp>
        <p:nvSpPr>
          <p:cNvPr id="141" name="Google Shape;141;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"Just make it feel like a function call"</a:t>
            </a:r>
            <a:endParaRPr/>
          </a:p>
        </p:txBody>
      </p:sp>
      <p:sp>
        <p:nvSpPr>
          <p:cNvPr id="142" name="Google Shape;142;p7"/>
          <p:cNvSpPr txBox="1"/>
          <p:nvPr/>
        </p:nvSpPr>
        <p:spPr>
          <a:xfrm>
            <a:off x="914400" y="1463040"/>
            <a:ext cx="10362900" cy="4325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tempting move: make a network call look like a local function call.</a:t>
            </a:r>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 On the client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user = get_user(42)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send_message(channel="general", text="hi")</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Somewhere on the server, those functions really ru</a:t>
            </a:r>
            <a:r>
              <a:rPr lang="en-US" sz="2400" b="0" i="0" u="none" strike="noStrike" cap="none">
                <a:solidFill>
                  <a:schemeClr val="dk1"/>
                </a:solidFill>
                <a:latin typeface="Calibri"/>
                <a:ea typeface="Calibri"/>
                <a:cs typeface="Calibri"/>
                <a:sym typeface="Calibri"/>
              </a:rPr>
              <a:t>n,</a:t>
            </a:r>
            <a:r>
              <a:rPr lang="en-US" sz="2400">
                <a:solidFill>
                  <a:schemeClr val="dk1"/>
                </a:solidFill>
              </a:rPr>
              <a:t> </a:t>
            </a:r>
            <a:r>
              <a:rPr lang="en-US" sz="2400" b="0" i="0" u="none" strike="noStrike" cap="none">
                <a:solidFill>
                  <a:schemeClr val="dk1"/>
                </a:solidFill>
                <a:latin typeface="Calibri"/>
                <a:ea typeface="Calibri"/>
                <a:cs typeface="Calibri"/>
                <a:sym typeface="Calibri"/>
              </a:rPr>
              <a:t>and the answer comes back as if nothing weird happened.</a:t>
            </a:r>
            <a:endParaRPr sz="2400">
              <a:solidFill>
                <a:schemeClr val="dk1"/>
              </a:solidFill>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idea has a name: </a:t>
            </a:r>
            <a:r>
              <a:rPr lang="en-US" sz="2400" b="1" i="0" u="none" strike="noStrike" cap="none">
                <a:solidFill>
                  <a:srgbClr val="333344"/>
                </a:solidFill>
                <a:latin typeface="Calibri"/>
                <a:ea typeface="Calibri"/>
                <a:cs typeface="Calibri"/>
                <a:sym typeface="Calibri"/>
              </a:rPr>
              <a:t>RPC</a:t>
            </a:r>
            <a:r>
              <a:rPr lang="en-US" sz="2400" b="0" i="0" u="none" strike="noStrike" cap="none">
                <a:solidFill>
                  <a:srgbClr val="333344"/>
                </a:solidFill>
                <a:latin typeface="Calibri"/>
                <a:ea typeface="Calibri"/>
                <a:cs typeface="Calibri"/>
                <a:sym typeface="Calibri"/>
              </a:rPr>
              <a:t>, for Remote Procedure Call.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People have tried variations of it since the 1980s.</a:t>
            </a:r>
            <a:endParaRPr/>
          </a:p>
          <a:p>
            <a:pPr marL="457200" marR="0" lvl="1" indent="0" algn="l" rtl="0">
              <a:spcBef>
                <a:spcPts val="60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g3d5effa7ec8_1_32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49" name="Google Shape;149;g3d5effa7ec8_1_322"/>
          <p:cNvSpPr txBox="1"/>
          <p:nvPr/>
        </p:nvSpPr>
        <p:spPr>
          <a:xfrm>
            <a:off x="914400" y="1463040"/>
            <a:ext cx="10362900" cy="190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457200" marR="0" lvl="1" indent="0" algn="l" rtl="0">
              <a:spcBef>
                <a:spcPts val="60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g3d5effa7ec8_1_32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56" name="Google Shape;156;g3d5effa7ec8_1_328"/>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 Verb proliferation.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team invents their own names: getUser, fetchUser, loadUser,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readUserById, retrieveUserRecord. No shared vocabulary.</a:t>
            </a:r>
            <a:endParaRPr/>
          </a:p>
          <a:p>
            <a:pPr marL="457200" marR="0" lvl="1" indent="0" algn="l" rtl="0">
              <a:spcBef>
                <a:spcPts val="6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63" name="Google Shape;163;p8"/>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 Verb proliferation.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team invents their own names: getUser, fetchUser, loadUser,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readUserById, retrieveUserRecord. No shared vocabulary.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3. Hidden state.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"Remember that I'm logged in." "Remember my cart." "Remember what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 of results I was on." The server accumulates memory about each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client, and now you can't just spin up a second server.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68"/>
        <p:cNvGrpSpPr/>
        <p:nvPr/>
      </p:nvGrpSpPr>
      <p:grpSpPr>
        <a:xfrm>
          <a:off x="0" y="0"/>
          <a:ext cx="0" cy="0"/>
          <a:chOff x="0" y="0"/>
          <a:chExt cx="0" cy="0"/>
        </a:xfrm>
      </p:grpSpPr>
      <p:sp>
        <p:nvSpPr>
          <p:cNvPr id="169" name="Google Shape;169;p9"/>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170" name="Google Shape;170;p9"/>
          <p:cNvSpPr txBox="1"/>
          <p:nvPr/>
        </p:nvSpPr>
        <p:spPr>
          <a:xfrm>
            <a:off x="1371600" y="2011680"/>
            <a:ext cx="9448500" cy="615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i="0" u="none" strike="noStrike" cap="none">
                <a:solidFill>
                  <a:srgbClr val="1A1A2E"/>
                </a:solidFill>
                <a:latin typeface="Calibri"/>
                <a:ea typeface="Calibri"/>
                <a:cs typeface="Calibri"/>
                <a:sym typeface="Calibri"/>
              </a:rPr>
              <a:t>Design the protocol for </a:t>
            </a:r>
            <a:r>
              <a:rPr lang="en-US" sz="3400" b="1">
                <a:solidFill>
                  <a:srgbClr val="1A1A2E"/>
                </a:solidFill>
                <a:latin typeface="Calibri"/>
                <a:ea typeface="Calibri"/>
                <a:cs typeface="Calibri"/>
                <a:sym typeface="Calibri"/>
              </a:rPr>
              <a:t>a</a:t>
            </a:r>
            <a:r>
              <a:rPr lang="en-US" sz="3400" b="1" i="0" u="none" strike="noStrike" cap="none">
                <a:solidFill>
                  <a:srgbClr val="1A1A2E"/>
                </a:solidFill>
                <a:latin typeface="Calibri"/>
                <a:ea typeface="Calibri"/>
                <a:cs typeface="Calibri"/>
                <a:sym typeface="Calibri"/>
              </a:rPr>
              <a:t> chat app yourself.</a:t>
            </a:r>
            <a:endParaRPr/>
          </a:p>
        </p:txBody>
      </p:sp>
      <p:sp>
        <p:nvSpPr>
          <p:cNvPr id="171" name="Google Shape;171;p9"/>
          <p:cNvSpPr txBox="1"/>
          <p:nvPr/>
        </p:nvSpPr>
        <p:spPr>
          <a:xfrm>
            <a:off x="1828800" y="4572000"/>
            <a:ext cx="8534100" cy="144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i="0" u="none" strike="noStrike" cap="none">
                <a:solidFill>
                  <a:srgbClr val="666677"/>
                </a:solidFill>
                <a:latin typeface="Calibri"/>
                <a:ea typeface="Calibri"/>
                <a:cs typeface="Calibri"/>
                <a:sym typeface="Calibri"/>
              </a:rPr>
              <a:t>How would you handle: getting the last 20 messages in #general, posting a new message, and deleting one you regret? What do you call things? How do you say what you want to do? What does the server have to remember between your requests?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sp>
        <p:nvSpPr>
          <p:cNvPr id="177" name="Google Shape;177;g3d5effa7ec8_1_36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Somebody already had this argument</a:t>
            </a:r>
            <a:endParaRPr/>
          </a:p>
        </p:txBody>
      </p:sp>
      <p:sp>
        <p:nvSpPr>
          <p:cNvPr id="178" name="Google Shape;178;g3d5effa7ec8_1_360"/>
          <p:cNvSpPr txBox="1"/>
          <p:nvPr/>
        </p:nvSpPr>
        <p:spPr>
          <a:xfrm>
            <a:off x="914400" y="1463040"/>
            <a:ext cx="10362900" cy="281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 2000, a researcher named </a:t>
            </a:r>
            <a:r>
              <a:rPr lang="en-US" sz="2400" b="1" i="0" u="none" strike="noStrike" cap="none">
                <a:solidFill>
                  <a:srgbClr val="333344"/>
                </a:solidFill>
                <a:latin typeface="Calibri"/>
                <a:ea typeface="Calibri"/>
                <a:cs typeface="Calibri"/>
                <a:sym typeface="Calibri"/>
              </a:rPr>
              <a:t>Roy Fielding </a:t>
            </a:r>
            <a:r>
              <a:rPr lang="en-US" sz="2400">
                <a:solidFill>
                  <a:srgbClr val="333344"/>
                </a:solidFill>
                <a:latin typeface="Calibri"/>
                <a:ea typeface="Calibri"/>
                <a:cs typeface="Calibri"/>
                <a:sym typeface="Calibri"/>
              </a:rPr>
              <a:t>(co-author of HTTP)</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 wrote a dissertatio</a:t>
            </a:r>
            <a:r>
              <a:rPr lang="en-US" sz="2400">
                <a:solidFill>
                  <a:srgbClr val="333344"/>
                </a:solidFill>
                <a:latin typeface="Calibri"/>
                <a:ea typeface="Calibri"/>
                <a:cs typeface="Calibri"/>
                <a:sym typeface="Calibri"/>
              </a:rPr>
              <a:t>n about this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observation: </a:t>
            </a:r>
            <a:r>
              <a:rPr lang="en-US" sz="2400" b="1" i="0" u="none" strike="noStrike" cap="none">
                <a:solidFill>
                  <a:srgbClr val="333344"/>
                </a:solidFill>
                <a:latin typeface="Calibri"/>
                <a:ea typeface="Calibri"/>
                <a:cs typeface="Calibri"/>
                <a:sym typeface="Calibri"/>
              </a:rPr>
              <a:t>the web already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Billions of documents. Billions of browsers.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Never goes down for maintenance, s</a:t>
            </a:r>
            <a:r>
              <a:rPr lang="en-US" sz="2000" b="0" i="0" u="none" strike="noStrike" cap="none">
                <a:solidFill>
                  <a:srgbClr val="666677"/>
                </a:solidFill>
                <a:latin typeface="Calibri"/>
                <a:ea typeface="Calibri"/>
                <a:cs typeface="Calibri"/>
                <a:sym typeface="Calibri"/>
              </a:rPr>
              <a:t>ervers come and go.</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pic>
        <p:nvPicPr>
          <p:cNvPr id="179" name="Google Shape;179;g3d5effa7ec8_1_360"/>
          <p:cNvPicPr preferRelativeResize="0"/>
          <p:nvPr/>
        </p:nvPicPr>
        <p:blipFill>
          <a:blip r:embed="rId3">
            <a:alphaModFix/>
          </a:blip>
          <a:stretch>
            <a:fillRect/>
          </a:stretch>
        </p:blipFill>
        <p:spPr>
          <a:xfrm>
            <a:off x="8970069" y="575750"/>
            <a:ext cx="2848125" cy="345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sp>
        <p:nvSpPr>
          <p:cNvPr id="185" name="Google Shape;185;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Somebody already had this argument</a:t>
            </a:r>
            <a:endParaRPr/>
          </a:p>
        </p:txBody>
      </p:sp>
      <p:sp>
        <p:nvSpPr>
          <p:cNvPr id="186" name="Google Shape;186;p11"/>
          <p:cNvSpPr txBox="1"/>
          <p:nvPr/>
        </p:nvSpPr>
        <p:spPr>
          <a:xfrm>
            <a:off x="914400" y="1463040"/>
            <a:ext cx="10362900" cy="4863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 2000, a researcher named </a:t>
            </a:r>
            <a:r>
              <a:rPr lang="en-US" sz="2400" b="1" i="0" u="none" strike="noStrike" cap="none">
                <a:solidFill>
                  <a:srgbClr val="333344"/>
                </a:solidFill>
                <a:latin typeface="Calibri"/>
                <a:ea typeface="Calibri"/>
                <a:cs typeface="Calibri"/>
                <a:sym typeface="Calibri"/>
              </a:rPr>
              <a:t>Roy Fielding </a:t>
            </a:r>
            <a:r>
              <a:rPr lang="en-US" sz="2400">
                <a:solidFill>
                  <a:srgbClr val="333344"/>
                </a:solidFill>
                <a:latin typeface="Calibri"/>
                <a:ea typeface="Calibri"/>
                <a:cs typeface="Calibri"/>
                <a:sym typeface="Calibri"/>
              </a:rPr>
              <a:t>(co-author of HTTP)</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 wrote a dissertatio</a:t>
            </a:r>
            <a:r>
              <a:rPr lang="en-US" sz="2400">
                <a:solidFill>
                  <a:srgbClr val="333344"/>
                </a:solidFill>
                <a:latin typeface="Calibri"/>
                <a:ea typeface="Calibri"/>
                <a:cs typeface="Calibri"/>
                <a:sym typeface="Calibri"/>
              </a:rPr>
              <a:t>n about this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observation: </a:t>
            </a:r>
            <a:r>
              <a:rPr lang="en-US" sz="2400" b="1" i="0" u="none" strike="noStrike" cap="none">
                <a:solidFill>
                  <a:srgbClr val="333344"/>
                </a:solidFill>
                <a:latin typeface="Calibri"/>
                <a:ea typeface="Calibri"/>
                <a:cs typeface="Calibri"/>
                <a:sym typeface="Calibri"/>
              </a:rPr>
              <a:t>the web already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Billions of documents. Billions of browsers.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Never goes down for maintenance, s</a:t>
            </a:r>
            <a:r>
              <a:rPr lang="en-US" sz="2000" b="0" i="0" u="none" strike="noStrike" cap="none">
                <a:solidFill>
                  <a:srgbClr val="666677"/>
                </a:solidFill>
                <a:latin typeface="Calibri"/>
                <a:ea typeface="Calibri"/>
                <a:cs typeface="Calibri"/>
                <a:sym typeface="Calibri"/>
              </a:rPr>
              <a:t>ervers come and go.</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Whatever design the web uses, copy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Don't invent a new architecture for APIs</a:t>
            </a:r>
            <a:r>
              <a:rPr lang="en-US" sz="2000">
                <a:solidFill>
                  <a:srgbClr val="666677"/>
                </a:solidFill>
                <a:latin typeface="Calibri"/>
                <a:ea typeface="Calibri"/>
                <a:cs typeface="Calibri"/>
                <a:sym typeface="Calibri"/>
              </a:rPr>
              <a:t>; take one that already scales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He called the result </a:t>
            </a:r>
            <a:r>
              <a:rPr lang="en-US" sz="2400" b="1" i="0" u="none" strike="noStrike" cap="none">
                <a:solidFill>
                  <a:srgbClr val="333344"/>
                </a:solidFill>
                <a:latin typeface="Calibri"/>
                <a:ea typeface="Calibri"/>
                <a:cs typeface="Calibri"/>
                <a:sym typeface="Calibri"/>
              </a:rPr>
              <a:t>REST</a:t>
            </a:r>
            <a:r>
              <a:rPr lang="en-US" sz="2400" b="0" i="0" u="none" strike="noStrike" cap="none">
                <a:solidFill>
                  <a:srgbClr val="333344"/>
                </a:solidFill>
                <a:latin typeface="Calibri"/>
                <a:ea typeface="Calibri"/>
                <a:cs typeface="Calibri"/>
                <a:sym typeface="Calibri"/>
              </a:rPr>
              <a:t>: Representational State Transfer.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pic>
        <p:nvPicPr>
          <p:cNvPr id="187" name="Google Shape;187;p11"/>
          <p:cNvPicPr preferRelativeResize="0"/>
          <p:nvPr/>
        </p:nvPicPr>
        <p:blipFill>
          <a:blip r:embed="rId3">
            <a:alphaModFix/>
          </a:blip>
          <a:stretch>
            <a:fillRect/>
          </a:stretch>
        </p:blipFill>
        <p:spPr>
          <a:xfrm>
            <a:off x="8970069" y="575750"/>
            <a:ext cx="2848125" cy="34535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g3d5effa7ec8_1_346"/>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194" name="Google Shape;194;g3d5effa7ec8_1_346"/>
          <p:cNvSpPr txBox="1"/>
          <p:nvPr/>
        </p:nvSpPr>
        <p:spPr>
          <a:xfrm>
            <a:off x="914400" y="109459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457200" marR="0" lvl="1"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9"/>
        <p:cNvGrpSpPr/>
        <p:nvPr/>
      </p:nvGrpSpPr>
      <p:grpSpPr>
        <a:xfrm>
          <a:off x="0" y="0"/>
          <a:ext cx="0" cy="0"/>
          <a:chOff x="0" y="0"/>
          <a:chExt cx="0" cy="0"/>
        </a:xfrm>
      </p:grpSpPr>
      <p:sp>
        <p:nvSpPr>
          <p:cNvPr id="200" name="Google Shape;200;g3d5effa7ec8_1_352"/>
          <p:cNvSpPr txBox="1"/>
          <p:nvPr/>
        </p:nvSpPr>
        <p:spPr>
          <a:xfrm>
            <a:off x="731520" y="365760"/>
            <a:ext cx="10728600" cy="17547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lvl="0" indent="0" algn="l" rtl="0">
              <a:spcBef>
                <a:spcPts val="0"/>
              </a:spcBef>
              <a:spcAft>
                <a:spcPts val="0"/>
              </a:spcAft>
              <a:buClr>
                <a:schemeClr val="dk1"/>
              </a:buClr>
              <a:buFont typeface="Arial"/>
              <a:buNone/>
            </a:pPr>
            <a:endParaRPr sz="3600" b="1">
              <a:solidFill>
                <a:srgbClr val="1A1A2E"/>
              </a:solidFill>
              <a:latin typeface="Calibri"/>
              <a:ea typeface="Calibri"/>
              <a:cs typeface="Calibri"/>
              <a:sym typeface="Calibri"/>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201" name="Google Shape;201;g3d5effa7ec8_1_352"/>
          <p:cNvSpPr txBox="1"/>
          <p:nvPr/>
        </p:nvSpPr>
        <p:spPr>
          <a:xfrm>
            <a:off x="914400" y="1094590"/>
            <a:ext cx="10362900" cy="312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Every request is self-contained.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doesn't remember you between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it crashes mid-conversation, the next server just picks up.</a:t>
            </a:r>
            <a:endParaRPr/>
          </a:p>
          <a:p>
            <a:pPr marL="457200" marR="0" lvl="1" indent="0" algn="l" rtl="0">
              <a:spcBef>
                <a:spcPts val="6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6"/>
        <p:cNvGrpSpPr/>
        <p:nvPr/>
      </p:nvGrpSpPr>
      <p:grpSpPr>
        <a:xfrm>
          <a:off x="0" y="0"/>
          <a:ext cx="0" cy="0"/>
          <a:chOff x="0" y="0"/>
          <a:chExt cx="0" cy="0"/>
        </a:xfrm>
      </p:grpSpPr>
      <p:sp>
        <p:nvSpPr>
          <p:cNvPr id="207" name="Google Shape;207;p12"/>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208" name="Google Shape;208;p12"/>
          <p:cNvSpPr txBox="1"/>
          <p:nvPr/>
        </p:nvSpPr>
        <p:spPr>
          <a:xfrm>
            <a:off x="914400" y="109459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Every request is self-contained.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doesn't remember you between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it crashes mid-conversation, the next server just picks up.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Client-server.</a:t>
            </a:r>
            <a:r>
              <a:rPr lang="en-US" sz="2400" b="0" i="0" u="none" strike="noStrike" cap="none">
                <a:solidFill>
                  <a:srgbClr val="333344"/>
                </a:solidFill>
                <a:latin typeface="Calibri"/>
                <a:ea typeface="Calibri"/>
                <a:cs typeface="Calibri"/>
                <a:sym typeface="Calibri"/>
              </a:rPr>
              <a:t> Clean separation of concerns.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frontend can be rewritten without touching the backend, and vice versa.</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Cacheable.</a:t>
            </a:r>
            <a:r>
              <a:rPr lang="en-US" sz="2400" b="0" i="0" u="none" strike="noStrike" cap="none">
                <a:solidFill>
                  <a:srgbClr val="333344"/>
                </a:solidFill>
                <a:latin typeface="Calibri"/>
                <a:ea typeface="Calibri"/>
                <a:cs typeface="Calibri"/>
                <a:sym typeface="Calibri"/>
              </a:rPr>
              <a:t> Responses can be marked reusable.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two people ask for the same thing, the second answer can come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a cache anywhere along the path. Huge scaling win.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Statelessness is the one that matters most</a:t>
            </a:r>
            <a:endParaRPr/>
          </a:p>
        </p:txBody>
      </p:sp>
      <p:sp>
        <p:nvSpPr>
          <p:cNvPr id="215" name="Google Shape;215;p13"/>
          <p:cNvSpPr txBox="1"/>
          <p:nvPr/>
        </p:nvSpPr>
        <p:spPr>
          <a:xfrm>
            <a:off x="914400" y="1463040"/>
            <a:ext cx="10362900" cy="555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Of the four, </a:t>
            </a: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is the rule you'll feel the most.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request is self-contained' means: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the request needs to know who you are, it carries that info itself.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the request needs to know which page of results, it says so.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looks at one request and has everything it needs to answer.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This is what allows large websites to scale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can run 1,000 copies of your server behind a load balancer.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Any request can go to any server. They're interchangeable.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one crashes, the next request just goes somewhere else.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Nobody has to coordinate. Nobody has to share memory.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20"/>
        <p:cNvGrpSpPr/>
        <p:nvPr/>
      </p:nvGrpSpPr>
      <p:grpSpPr>
        <a:xfrm>
          <a:off x="0" y="0"/>
          <a:ext cx="0" cy="0"/>
          <a:chOff x="0" y="0"/>
          <a:chExt cx="0" cy="0"/>
        </a:xfrm>
      </p:grpSpPr>
      <p:sp>
        <p:nvSpPr>
          <p:cNvPr id="221" name="Google Shape;221;p1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REST Actually Looks Like</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g3d5effa7ec8_1_31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URLs name things. Things are nouns.</a:t>
            </a:r>
            <a:endParaRPr/>
          </a:p>
        </p:txBody>
      </p:sp>
      <p:sp>
        <p:nvSpPr>
          <p:cNvPr id="228" name="Google Shape;228;g3d5effa7ec8_1_316"/>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REST URL identifies a </a:t>
            </a:r>
            <a:r>
              <a:rPr lang="en-US" sz="2400" b="1" i="0" u="none" strike="noStrike" cap="none">
                <a:solidFill>
                  <a:srgbClr val="333344"/>
                </a:solidFill>
                <a:latin typeface="Calibri"/>
                <a:ea typeface="Calibri"/>
                <a:cs typeface="Calibri"/>
                <a:sym typeface="Calibri"/>
              </a:rPr>
              <a:t>resource</a:t>
            </a:r>
            <a:r>
              <a:rPr lang="en-US" sz="2400" b="0" i="0" u="none" strike="noStrike" cap="none">
                <a:solidFill>
                  <a:srgbClr val="333344"/>
                </a:solidFill>
                <a:latin typeface="Calibri"/>
                <a:ea typeface="Calibri"/>
                <a:cs typeface="Calibri"/>
                <a:sym typeface="Calibri"/>
              </a:rPr>
              <a:t>: a thing you can get or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Resources are </a:t>
            </a:r>
            <a:r>
              <a:rPr lang="en-US" sz="2000" b="1" i="0" u="none" strike="noStrike" cap="none">
                <a:solidFill>
                  <a:srgbClr val="666677"/>
                </a:solidFill>
                <a:latin typeface="Calibri"/>
                <a:ea typeface="Calibri"/>
                <a:cs typeface="Calibri"/>
                <a:sym typeface="Calibri"/>
              </a:rPr>
              <a:t>nouns</a:t>
            </a:r>
            <a:r>
              <a:rPr lang="en-US" sz="2000" b="0" i="0" u="none" strike="noStrike" cap="none">
                <a:solidFill>
                  <a:srgbClr val="666677"/>
                </a:solidFill>
                <a:latin typeface="Calibri"/>
                <a:ea typeface="Calibri"/>
                <a:cs typeface="Calibri"/>
                <a:sym typeface="Calibri"/>
              </a:rPr>
              <a:t>, not actions.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Good (nouns):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/channels/general/messages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/users/alice</a:t>
            </a:r>
            <a:endParaRPr/>
          </a:p>
          <a:p>
            <a:pPr marL="0" marR="0" lvl="0" indent="0" algn="l" rtl="0">
              <a:spcBef>
                <a:spcPts val="60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URLs name things. Things are nouns.</a:t>
            </a:r>
            <a:endParaRPr/>
          </a:p>
        </p:txBody>
      </p:sp>
      <p:sp>
        <p:nvSpPr>
          <p:cNvPr id="235" name="Google Shape;235;p15"/>
          <p:cNvSpPr txBox="1"/>
          <p:nvPr/>
        </p:nvSpPr>
        <p:spPr>
          <a:xfrm>
            <a:off x="914400" y="1463040"/>
            <a:ext cx="10362900" cy="588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REST URL identifies a </a:t>
            </a:r>
            <a:r>
              <a:rPr lang="en-US" sz="2400" b="1" i="0" u="none" strike="noStrike" cap="none">
                <a:solidFill>
                  <a:srgbClr val="333344"/>
                </a:solidFill>
                <a:latin typeface="Calibri"/>
                <a:ea typeface="Calibri"/>
                <a:cs typeface="Calibri"/>
                <a:sym typeface="Calibri"/>
              </a:rPr>
              <a:t>resource</a:t>
            </a:r>
            <a:r>
              <a:rPr lang="en-US" sz="2400" b="0" i="0" u="none" strike="noStrike" cap="none">
                <a:solidFill>
                  <a:srgbClr val="333344"/>
                </a:solidFill>
                <a:latin typeface="Calibri"/>
                <a:ea typeface="Calibri"/>
                <a:cs typeface="Calibri"/>
                <a:sym typeface="Calibri"/>
              </a:rPr>
              <a:t>: a thing you can get or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Resources are </a:t>
            </a:r>
            <a:r>
              <a:rPr lang="en-US" sz="2000" b="1" i="0" u="none" strike="noStrike" cap="none">
                <a:solidFill>
                  <a:srgbClr val="666677"/>
                </a:solidFill>
                <a:latin typeface="Calibri"/>
                <a:ea typeface="Calibri"/>
                <a:cs typeface="Calibri"/>
                <a:sym typeface="Calibri"/>
              </a:rPr>
              <a:t>nouns</a:t>
            </a:r>
            <a:r>
              <a:rPr lang="en-US" sz="2000" b="0" i="0" u="none" strike="noStrike" cap="none">
                <a:solidFill>
                  <a:srgbClr val="666677"/>
                </a:solidFill>
                <a:latin typeface="Calibri"/>
                <a:ea typeface="Calibri"/>
                <a:cs typeface="Calibri"/>
                <a:sym typeface="Calibri"/>
              </a:rPr>
              <a:t>, not actions.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Good (nouns):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/channels/general/messages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/users/alice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Bad (verbs buried in the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/deleteMessageById?id=42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/loadUserProfile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0"/>
        <p:cNvGrpSpPr/>
        <p:nvPr/>
      </p:nvGrpSpPr>
      <p:grpSpPr>
        <a:xfrm>
          <a:off x="0" y="0"/>
          <a:ext cx="0" cy="0"/>
          <a:chOff x="0" y="0"/>
          <a:chExt cx="0" cy="0"/>
        </a:xfrm>
      </p:grpSpPr>
      <p:sp>
        <p:nvSpPr>
          <p:cNvPr id="241" name="Google Shape;241;g3d5effa7ec8_1_1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methods: the shared verb set</a:t>
            </a:r>
            <a:endParaRPr/>
          </a:p>
        </p:txBody>
      </p:sp>
      <p:sp>
        <p:nvSpPr>
          <p:cNvPr id="242" name="Google Shape;242;g3d5effa7ec8_1_14"/>
          <p:cNvSpPr txBox="1"/>
          <p:nvPr/>
        </p:nvSpPr>
        <p:spPr>
          <a:xfrm>
            <a:off x="914400" y="1463040"/>
            <a:ext cx="10362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REST API uses the same five verbs.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GET</a:t>
            </a:r>
            <a:r>
              <a:rPr lang="en-US" sz="2000" b="0" i="0" u="none" strike="noStrike" cap="none">
                <a:solidFill>
                  <a:srgbClr val="666677"/>
                </a:solidFill>
                <a:latin typeface="Calibri"/>
                <a:ea typeface="Calibri"/>
                <a:cs typeface="Calibri"/>
                <a:sym typeface="Calibri"/>
              </a:rPr>
              <a:t>     Read a resource. No body. No side effects. Safe to retry.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a:t>
            </a:r>
            <a:r>
              <a:rPr lang="en-US" sz="2000" b="0" i="0" u="none" strike="noStrike" cap="none">
                <a:solidFill>
                  <a:srgbClr val="666677"/>
                </a:solidFill>
                <a:latin typeface="Calibri"/>
                <a:ea typeface="Calibri"/>
                <a:cs typeface="Calibri"/>
                <a:sym typeface="Calibri"/>
              </a:rPr>
              <a:t>    Create a new resource. Has a body. Not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a:t>
            </a:r>
            <a:r>
              <a:rPr lang="en-US" sz="2000" b="0" i="0" u="none" strike="noStrike" cap="none">
                <a:solidFill>
                  <a:srgbClr val="666677"/>
                </a:solidFill>
                <a:latin typeface="Calibri"/>
                <a:ea typeface="Calibri"/>
                <a:cs typeface="Calibri"/>
                <a:sym typeface="Calibri"/>
              </a:rPr>
              <a:t>     Replace an existing resource. Has a body.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PATCH</a:t>
            </a:r>
            <a:r>
              <a:rPr lang="en-US" sz="2000" b="0" i="0" u="none" strike="noStrike" cap="none">
                <a:solidFill>
                  <a:srgbClr val="666677"/>
                </a:solidFill>
                <a:latin typeface="Calibri"/>
                <a:ea typeface="Calibri"/>
                <a:cs typeface="Calibri"/>
                <a:sym typeface="Calibri"/>
              </a:rPr>
              <a:t>   Modify part of an existing resource. Has a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DELETE</a:t>
            </a:r>
            <a:r>
              <a:rPr lang="en-US" sz="2000" b="0" i="0" u="none" strike="noStrike" cap="none">
                <a:solidFill>
                  <a:srgbClr val="666677"/>
                </a:solidFill>
                <a:latin typeface="Calibri"/>
                <a:ea typeface="Calibri"/>
                <a:cs typeface="Calibri"/>
                <a:sym typeface="Calibri"/>
              </a:rPr>
              <a:t>  Remove a resource. No body needed.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Idempotent</a:t>
            </a:r>
            <a:r>
              <a:rPr lang="en-US" sz="2400" b="0" i="0" u="none" strike="noStrike" cap="none">
                <a:solidFill>
                  <a:srgbClr val="333344"/>
                </a:solidFill>
                <a:latin typeface="Calibri"/>
                <a:ea typeface="Calibri"/>
                <a:cs typeface="Calibri"/>
                <a:sym typeface="Calibri"/>
              </a:rPr>
              <a:t> means: doing it twice has the same effect as doing it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is idempotent (reading twice is fine).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 is idempotent (deleting an already-deleted thing is a no-op).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 is not (posting the same comment twice creates two comments).</a:t>
            </a:r>
            <a:endParaRPr/>
          </a:p>
          <a:p>
            <a:pPr marL="0" marR="0" lvl="0" indent="0" algn="l" rtl="0">
              <a:spcBef>
                <a:spcPts val="60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methods: the shared verb set</a:t>
            </a:r>
            <a:endParaRPr/>
          </a:p>
        </p:txBody>
      </p:sp>
      <p:sp>
        <p:nvSpPr>
          <p:cNvPr id="249" name="Google Shape;249;p16"/>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REST API uses the same five verbs.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GET</a:t>
            </a:r>
            <a:r>
              <a:rPr lang="en-US" sz="2000" b="0" i="0" u="none" strike="noStrike" cap="none">
                <a:solidFill>
                  <a:srgbClr val="666677"/>
                </a:solidFill>
                <a:latin typeface="Calibri"/>
                <a:ea typeface="Calibri"/>
                <a:cs typeface="Calibri"/>
                <a:sym typeface="Calibri"/>
              </a:rPr>
              <a:t>     Read a resource. No body. No side effects. Safe to retry.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a:t>
            </a:r>
            <a:r>
              <a:rPr lang="en-US" sz="2000" b="0" i="0" u="none" strike="noStrike" cap="none">
                <a:solidFill>
                  <a:srgbClr val="666677"/>
                </a:solidFill>
                <a:latin typeface="Calibri"/>
                <a:ea typeface="Calibri"/>
                <a:cs typeface="Calibri"/>
                <a:sym typeface="Calibri"/>
              </a:rPr>
              <a:t>    Create a new resource. Has a body. Not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a:t>
            </a:r>
            <a:r>
              <a:rPr lang="en-US" sz="2000" b="0" i="0" u="none" strike="noStrike" cap="none">
                <a:solidFill>
                  <a:srgbClr val="666677"/>
                </a:solidFill>
                <a:latin typeface="Calibri"/>
                <a:ea typeface="Calibri"/>
                <a:cs typeface="Calibri"/>
                <a:sym typeface="Calibri"/>
              </a:rPr>
              <a:t>     Replace an existing resource. Has a body.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PATCH</a:t>
            </a:r>
            <a:r>
              <a:rPr lang="en-US" sz="2000" b="0" i="0" u="none" strike="noStrike" cap="none">
                <a:solidFill>
                  <a:srgbClr val="666677"/>
                </a:solidFill>
                <a:latin typeface="Calibri"/>
                <a:ea typeface="Calibri"/>
                <a:cs typeface="Calibri"/>
                <a:sym typeface="Calibri"/>
              </a:rPr>
              <a:t>   Modify part of an existing resource. Has a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DELETE</a:t>
            </a:r>
            <a:r>
              <a:rPr lang="en-US" sz="2000" b="0" i="0" u="none" strike="noStrike" cap="none">
                <a:solidFill>
                  <a:srgbClr val="666677"/>
                </a:solidFill>
                <a:latin typeface="Calibri"/>
                <a:ea typeface="Calibri"/>
                <a:cs typeface="Calibri"/>
                <a:sym typeface="Calibri"/>
              </a:rPr>
              <a:t>  Remove a resource. No body needed.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Idempotent</a:t>
            </a:r>
            <a:r>
              <a:rPr lang="en-US" sz="2400" b="0" i="0" u="none" strike="noStrike" cap="none">
                <a:solidFill>
                  <a:srgbClr val="333344"/>
                </a:solidFill>
                <a:latin typeface="Calibri"/>
                <a:ea typeface="Calibri"/>
                <a:cs typeface="Calibri"/>
                <a:sym typeface="Calibri"/>
              </a:rPr>
              <a:t> means: doing it twice has the same effect as doing it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is idempotent (reading twice is fine).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 is idempotent (deleting an already-deleted thing is a no-op).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 is not (posting the same comment twice creates two comments).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matters because the network is unreliable</a:t>
            </a:r>
            <a:r>
              <a:rPr lang="en-US" sz="2400">
                <a:solidFill>
                  <a:srgbClr val="333344"/>
                </a:solidFill>
                <a:latin typeface="Calibri"/>
                <a:ea typeface="Calibri"/>
                <a:cs typeface="Calibri"/>
                <a:sym typeface="Calibri"/>
              </a:rPr>
              <a: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4"/>
        <p:cNvGrpSpPr/>
        <p:nvPr/>
      </p:nvGrpSpPr>
      <p:grpSpPr>
        <a:xfrm>
          <a:off x="0" y="0"/>
          <a:ext cx="0" cy="0"/>
          <a:chOff x="0" y="0"/>
          <a:chExt cx="0" cy="0"/>
        </a:xfrm>
      </p:grpSpPr>
      <p:sp>
        <p:nvSpPr>
          <p:cNvPr id="255" name="Google Shape;255;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URL + method together: the full vocabulary</a:t>
            </a:r>
            <a:endParaRPr/>
          </a:p>
        </p:txBody>
      </p:sp>
      <p:sp>
        <p:nvSpPr>
          <p:cNvPr id="256" name="Google Shape;256;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a:t>
            </a:r>
            <a:endParaRPr/>
          </a:p>
        </p:txBody>
      </p:sp>
      <p:sp>
        <p:nvSpPr>
          <p:cNvPr id="257" name="Google Shape;257;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8" name="Google Shape;258;p17"/>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GET    /messages                  List all messages</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/messages/42               Read message 42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POST   /messages                  Create a new message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PUT    /messages/42               Replace message 42 entirely</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PATCH  /messages/42               Edit part of message 42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DELETE /messages/42               Delete message 42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                  List all channels</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/channels/general          Read the 'general' channel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/channels/general/messages List messages in 'general'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POST   /channels/general/messages Send a message to 'general'</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/users/alice               Read alice's profile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PATCH  /users/alice               Update alice's profile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3"/>
        <p:cNvGrpSpPr/>
        <p:nvPr/>
      </p:nvGrpSpPr>
      <p:grpSpPr>
        <a:xfrm>
          <a:off x="0" y="0"/>
          <a:ext cx="0" cy="0"/>
          <a:chOff x="0" y="0"/>
          <a:chExt cx="0" cy="0"/>
        </a:xfrm>
      </p:grpSpPr>
      <p:sp>
        <p:nvSpPr>
          <p:cNvPr id="264" name="Google Shape;264;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Status codes: a shared vocabulary for outcomes</a:t>
            </a:r>
            <a:endParaRPr/>
          </a:p>
        </p:txBody>
      </p:sp>
      <p:sp>
        <p:nvSpPr>
          <p:cNvPr id="265" name="Google Shape;265;p18"/>
          <p:cNvSpPr txBox="1"/>
          <p:nvPr/>
        </p:nvSpPr>
        <p:spPr>
          <a:xfrm>
            <a:off x="914400" y="1463040"/>
            <a:ext cx="10362900" cy="552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HTTP response starts with a three-digit status code.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first digit tells you what family it's in.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2xx</a:t>
            </a:r>
            <a:r>
              <a:rPr lang="en-US" sz="2000" b="0" i="0" u="none" strike="noStrike" cap="none">
                <a:solidFill>
                  <a:srgbClr val="666677"/>
                </a:solidFill>
                <a:latin typeface="Calibri"/>
                <a:ea typeface="Calibri"/>
                <a:cs typeface="Calibri"/>
                <a:sym typeface="Calibri"/>
              </a:rPr>
              <a:t>  Success. Everything worked.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3xx</a:t>
            </a:r>
            <a:r>
              <a:rPr lang="en-US" sz="2000" b="0" i="0" u="none" strike="noStrike" cap="none">
                <a:solidFill>
                  <a:srgbClr val="666677"/>
                </a:solidFill>
                <a:latin typeface="Calibri"/>
                <a:ea typeface="Calibri"/>
                <a:cs typeface="Calibri"/>
                <a:sym typeface="Calibri"/>
              </a:rPr>
              <a:t>  Redirect. Look somewhere else for the answer.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4xx</a:t>
            </a:r>
            <a:r>
              <a:rPr lang="en-US" sz="2000" b="0" i="0" u="none" strike="noStrike" cap="none">
                <a:solidFill>
                  <a:srgbClr val="666677"/>
                </a:solidFill>
                <a:latin typeface="Calibri"/>
                <a:ea typeface="Calibri"/>
                <a:cs typeface="Calibri"/>
                <a:sym typeface="Calibri"/>
              </a:rPr>
              <a:t>  You messed up. Bad request, not allowed, not found.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5xx</a:t>
            </a:r>
            <a:r>
              <a:rPr lang="en-US" sz="2000" b="0" i="0" u="none" strike="noStrike" cap="none">
                <a:solidFill>
                  <a:srgbClr val="666677"/>
                </a:solidFill>
                <a:latin typeface="Calibri"/>
                <a:ea typeface="Calibri"/>
                <a:cs typeface="Calibri"/>
                <a:sym typeface="Calibri"/>
              </a:rPr>
              <a:t>  I messed up. Server-side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ones you'll actually use this semester: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200</a:t>
            </a:r>
            <a:r>
              <a:rPr lang="en-US" sz="2000" b="0" i="0" u="none" strike="noStrike" cap="none">
                <a:solidFill>
                  <a:srgbClr val="666677"/>
                </a:solidFill>
                <a:latin typeface="Calibri"/>
                <a:ea typeface="Calibri"/>
                <a:cs typeface="Calibri"/>
                <a:sym typeface="Calibri"/>
              </a:rPr>
              <a:t> OK                    	</a:t>
            </a:r>
            <a:r>
              <a:rPr lang="en-US" sz="2000" b="1" i="0" u="none" strike="noStrike" cap="none">
                <a:solidFill>
                  <a:srgbClr val="666677"/>
                </a:solidFill>
                <a:latin typeface="Calibri"/>
                <a:ea typeface="Calibri"/>
                <a:cs typeface="Calibri"/>
                <a:sym typeface="Calibri"/>
              </a:rPr>
              <a:t>400</a:t>
            </a:r>
            <a:r>
              <a:rPr lang="en-US" sz="2000" b="0" i="0" u="none" strike="noStrike" cap="none">
                <a:solidFill>
                  <a:srgbClr val="666677"/>
                </a:solidFill>
                <a:latin typeface="Calibri"/>
                <a:ea typeface="Calibri"/>
                <a:cs typeface="Calibri"/>
                <a:sym typeface="Calibri"/>
              </a:rPr>
              <a:t> Bad Request                                   </a:t>
            </a:r>
            <a:r>
              <a:rPr lang="en-US" sz="2000" b="1">
                <a:solidFill>
                  <a:srgbClr val="666677"/>
                </a:solidFill>
                <a:latin typeface="Calibri"/>
                <a:ea typeface="Calibri"/>
                <a:cs typeface="Calibri"/>
                <a:sym typeface="Calibri"/>
              </a:rPr>
              <a:t>404</a:t>
            </a:r>
            <a:r>
              <a:rPr lang="en-US" sz="2000">
                <a:solidFill>
                  <a:srgbClr val="666677"/>
                </a:solidFill>
                <a:latin typeface="Calibri"/>
                <a:ea typeface="Calibri"/>
                <a:cs typeface="Calibri"/>
                <a:sym typeface="Calibri"/>
              </a:rPr>
              <a:t> Not Found</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201</a:t>
            </a:r>
            <a:r>
              <a:rPr lang="en-US" sz="2000" b="0" i="0" u="none" strike="noStrike" cap="none">
                <a:solidFill>
                  <a:srgbClr val="666677"/>
                </a:solidFill>
                <a:latin typeface="Calibri"/>
                <a:ea typeface="Calibri"/>
                <a:cs typeface="Calibri"/>
                <a:sym typeface="Calibri"/>
              </a:rPr>
              <a:t> Created                </a:t>
            </a:r>
            <a:r>
              <a:rPr lang="en-US" sz="2000" b="1" i="0" u="none" strike="noStrike" cap="none">
                <a:solidFill>
                  <a:srgbClr val="666677"/>
                </a:solidFill>
                <a:latin typeface="Calibri"/>
                <a:ea typeface="Calibri"/>
                <a:cs typeface="Calibri"/>
                <a:sym typeface="Calibri"/>
              </a:rPr>
              <a:t>401</a:t>
            </a:r>
            <a:r>
              <a:rPr lang="en-US" sz="2000" b="0" i="0" u="none" strike="noStrike" cap="none">
                <a:solidFill>
                  <a:srgbClr val="666677"/>
                </a:solidFill>
                <a:latin typeface="Calibri"/>
                <a:ea typeface="Calibri"/>
                <a:cs typeface="Calibri"/>
                <a:sym typeface="Calibri"/>
              </a:rPr>
              <a:t> Unauthorized (not logged in)     </a:t>
            </a:r>
            <a:r>
              <a:rPr lang="en-US" sz="2000" b="1">
                <a:solidFill>
                  <a:srgbClr val="666677"/>
                </a:solidFill>
                <a:latin typeface="Calibri"/>
                <a:ea typeface="Calibri"/>
                <a:cs typeface="Calibri"/>
                <a:sym typeface="Calibri"/>
              </a:rPr>
              <a:t>409</a:t>
            </a:r>
            <a:r>
              <a:rPr lang="en-US" sz="2000">
                <a:solidFill>
                  <a:srgbClr val="666677"/>
                </a:solidFill>
                <a:latin typeface="Calibri"/>
                <a:ea typeface="Calibri"/>
                <a:cs typeface="Calibri"/>
                <a:sym typeface="Calibri"/>
              </a:rPr>
              <a:t> Conflict</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204</a:t>
            </a:r>
            <a:r>
              <a:rPr lang="en-US" sz="2000" b="0" i="0" u="none" strike="noStrike" cap="none">
                <a:solidFill>
                  <a:srgbClr val="666677"/>
                </a:solidFill>
                <a:latin typeface="Calibri"/>
                <a:ea typeface="Calibri"/>
                <a:cs typeface="Calibri"/>
                <a:sym typeface="Calibri"/>
              </a:rPr>
              <a:t> No Content         </a:t>
            </a:r>
            <a:r>
              <a:rPr lang="en-US" sz="2000" b="1" i="0" u="none" strike="noStrike" cap="none">
                <a:solidFill>
                  <a:srgbClr val="666677"/>
                </a:solidFill>
                <a:latin typeface="Calibri"/>
                <a:ea typeface="Calibri"/>
                <a:cs typeface="Calibri"/>
                <a:sym typeface="Calibri"/>
              </a:rPr>
              <a:t>403</a:t>
            </a:r>
            <a:r>
              <a:rPr lang="en-US" sz="2000" b="0" i="0" u="none" strike="noStrike" cap="none">
                <a:solidFill>
                  <a:srgbClr val="666677"/>
                </a:solidFill>
                <a:latin typeface="Calibri"/>
                <a:ea typeface="Calibri"/>
                <a:cs typeface="Calibri"/>
                <a:sym typeface="Calibri"/>
              </a:rPr>
              <a:t> Forbidden (logged in, can't)        </a:t>
            </a:r>
            <a:r>
              <a:rPr lang="en-US" sz="2000" b="1">
                <a:solidFill>
                  <a:srgbClr val="666677"/>
                </a:solidFill>
                <a:latin typeface="Calibri"/>
                <a:ea typeface="Calibri"/>
                <a:cs typeface="Calibri"/>
                <a:sym typeface="Calibri"/>
              </a:rPr>
              <a:t>500</a:t>
            </a:r>
            <a:r>
              <a:rPr lang="en-US" sz="2000">
                <a:solidFill>
                  <a:srgbClr val="666677"/>
                </a:solidFill>
                <a:latin typeface="Calibri"/>
                <a:ea typeface="Calibri"/>
                <a:cs typeface="Calibri"/>
                <a:sym typeface="Calibri"/>
              </a:rPr>
              <a:t> Internal Server Error</a:t>
            </a:r>
            <a:endParaRPr>
              <a:solidFill>
                <a:schemeClr val="dk1"/>
              </a:solidFill>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0"/>
        <p:cNvGrpSpPr/>
        <p:nvPr/>
      </p:nvGrpSpPr>
      <p:grpSpPr>
        <a:xfrm>
          <a:off x="0" y="0"/>
          <a:ext cx="0" cy="0"/>
          <a:chOff x="0" y="0"/>
          <a:chExt cx="0" cy="0"/>
        </a:xfrm>
      </p:grpSpPr>
      <p:sp>
        <p:nvSpPr>
          <p:cNvPr id="271" name="Google Shape;271;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Headers: metadata that rides along</a:t>
            </a:r>
            <a:endParaRPr/>
          </a:p>
        </p:txBody>
      </p:sp>
      <p:sp>
        <p:nvSpPr>
          <p:cNvPr id="272" name="Google Shape;272;p19"/>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request or response can carry </a:t>
            </a:r>
            <a:r>
              <a:rPr lang="en-US" sz="2400" b="1" i="0" u="none" strike="noStrike" cap="none">
                <a:solidFill>
                  <a:srgbClr val="333344"/>
                </a:solidFill>
                <a:latin typeface="Calibri"/>
                <a:ea typeface="Calibri"/>
                <a:cs typeface="Calibri"/>
                <a:sym typeface="Calibri"/>
              </a:rPr>
              <a:t>headers</a:t>
            </a:r>
            <a:r>
              <a:rPr lang="en-US" sz="2400" b="0" i="0" u="none" strike="noStrike" cap="none">
                <a:solidFill>
                  <a:srgbClr val="333344"/>
                </a:solidFill>
                <a:latin typeface="Calibri"/>
                <a:ea typeface="Calibri"/>
                <a:cs typeface="Calibri"/>
                <a:sym typeface="Calibri"/>
              </a:rPr>
              <a:t>: key-value metadata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isn't part of the body but describes the exchange.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ones that matter most: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Content-Type</a:t>
            </a:r>
            <a:r>
              <a:rPr lang="en-US" sz="2000" b="0" i="0" u="none" strike="noStrike" cap="none">
                <a:solidFill>
                  <a:srgbClr val="666677"/>
                </a:solidFill>
                <a:latin typeface="Calibri"/>
                <a:ea typeface="Calibri"/>
                <a:cs typeface="Calibri"/>
                <a:sym typeface="Calibri"/>
              </a:rPr>
              <a:t>    what format the body is in (application/json)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Content-Length</a:t>
            </a:r>
            <a:r>
              <a:rPr lang="en-US" sz="2000" b="0" i="0" u="none" strike="noStrike" cap="none">
                <a:solidFill>
                  <a:srgbClr val="666677"/>
                </a:solidFill>
                <a:latin typeface="Calibri"/>
                <a:ea typeface="Calibri"/>
                <a:cs typeface="Calibri"/>
                <a:sym typeface="Calibri"/>
              </a:rPr>
              <a:t>  how many bytes the body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Authorization</a:t>
            </a:r>
            <a:r>
              <a:rPr lang="en-US" sz="2000" b="0" i="0" u="none" strike="noStrike" cap="none">
                <a:solidFill>
                  <a:srgbClr val="666677"/>
                </a:solidFill>
                <a:latin typeface="Calibri"/>
                <a:ea typeface="Calibri"/>
                <a:cs typeface="Calibri"/>
                <a:sym typeface="Calibri"/>
              </a:rPr>
              <a:t>   who is making this request (we'll see this in 3.2)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Accept</a:t>
            </a:r>
            <a:r>
              <a:rPr lang="en-US" sz="2000" b="0" i="0" u="none" strike="noStrike" cap="none">
                <a:solidFill>
                  <a:srgbClr val="666677"/>
                </a:solidFill>
                <a:latin typeface="Calibri"/>
                <a:ea typeface="Calibri"/>
                <a:cs typeface="Calibri"/>
                <a:sym typeface="Calibri"/>
              </a:rPr>
              <a:t>          what formats the client is willing to receive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Cache-Control</a:t>
            </a:r>
            <a:r>
              <a:rPr lang="en-US" sz="2000" b="0" i="0" u="none" strike="noStrike" cap="none">
                <a:solidFill>
                  <a:srgbClr val="666677"/>
                </a:solidFill>
                <a:latin typeface="Calibri"/>
                <a:ea typeface="Calibri"/>
                <a:cs typeface="Calibri"/>
                <a:sym typeface="Calibri"/>
              </a:rPr>
              <a:t>   hints to caches about whether to store this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Think of headers as the envelope.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body is the letter. Headers are the stamps and return address.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7"/>
        <p:cNvGrpSpPr/>
        <p:nvPr/>
      </p:nvGrpSpPr>
      <p:grpSpPr>
        <a:xfrm>
          <a:off x="0" y="0"/>
          <a:ext cx="0" cy="0"/>
          <a:chOff x="0" y="0"/>
          <a:chExt cx="0" cy="0"/>
        </a:xfrm>
      </p:grpSpPr>
      <p:sp>
        <p:nvSpPr>
          <p:cNvPr id="278" name="Google Shape;278;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JSON: the body of almost every modern API</a:t>
            </a:r>
            <a:endParaRPr/>
          </a:p>
        </p:txBody>
      </p:sp>
      <p:sp>
        <p:nvSpPr>
          <p:cNvPr id="279" name="Google Shape;279;p20"/>
          <p:cNvSpPr txBox="1"/>
          <p:nvPr/>
        </p:nvSpPr>
        <p:spPr>
          <a:xfrm>
            <a:off x="914400" y="1463050"/>
            <a:ext cx="10851600" cy="5325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HTTP can carry any bytes in the body. What goes in there?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 2026, the answer is almost always </a:t>
            </a:r>
            <a:r>
              <a:rPr lang="en-US" sz="2400" b="1" i="0" u="none" strike="noStrike" cap="none">
                <a:solidFill>
                  <a:srgbClr val="333344"/>
                </a:solidFill>
                <a:latin typeface="Calibri"/>
                <a:ea typeface="Calibri"/>
                <a:cs typeface="Calibri"/>
                <a:sym typeface="Calibri"/>
              </a:rPr>
              <a:t>JSON</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"id": 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"channel": "general",</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 "alice",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"text": "hi everyone",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"timestamp": "2026-04-11T14:22:00Z"</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I</a:t>
            </a:r>
            <a:r>
              <a:rPr lang="en-US" sz="2400" b="0" i="0" u="none" strike="noStrike" cap="none">
                <a:solidFill>
                  <a:srgbClr val="333344"/>
                </a:solidFill>
                <a:latin typeface="Calibri"/>
                <a:ea typeface="Calibri"/>
                <a:cs typeface="Calibri"/>
                <a:sym typeface="Calibri"/>
              </a:rPr>
              <a:t>t maps cleanly to dicts and lists in every language</a:t>
            </a:r>
            <a:r>
              <a:rPr lang="en-US" sz="2400">
                <a:solidFill>
                  <a:srgbClr val="333344"/>
                </a:solidFill>
                <a:latin typeface="Calibri"/>
                <a:ea typeface="Calibri"/>
                <a:cs typeface="Calibri"/>
                <a:sym typeface="Calibri"/>
              </a:rPr>
              <a:t>. Everyone’s got a </a:t>
            </a:r>
            <a:r>
              <a:rPr lang="en-US" sz="2400" b="1">
                <a:solidFill>
                  <a:srgbClr val="333344"/>
                </a:solidFill>
                <a:latin typeface="Courier Prime"/>
                <a:ea typeface="Courier Prime"/>
                <a:cs typeface="Courier Prime"/>
                <a:sym typeface="Courier Prime"/>
              </a:rPr>
              <a:t>json.loads</a:t>
            </a:r>
            <a:r>
              <a:rPr lang="en-US" sz="2400">
                <a:solidFill>
                  <a:srgbClr val="333344"/>
                </a:solidFill>
                <a:latin typeface="Courier Prime"/>
                <a:ea typeface="Courier Prime"/>
                <a:cs typeface="Courier Prime"/>
                <a:sym typeface="Courier Prime"/>
              </a:rPr>
              <a:t>.</a:t>
            </a:r>
            <a:endParaRPr>
              <a:latin typeface="Courier Prime"/>
              <a:ea typeface="Courier Prime"/>
              <a:cs typeface="Courier Prime"/>
              <a:sym typeface="Courier Prim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84"/>
        <p:cNvGrpSpPr/>
        <p:nvPr/>
      </p:nvGrpSpPr>
      <p:grpSpPr>
        <a:xfrm>
          <a:off x="0" y="0"/>
          <a:ext cx="0" cy="0"/>
          <a:chOff x="0" y="0"/>
          <a:chExt cx="0" cy="0"/>
        </a:xfrm>
      </p:grpSpPr>
      <p:sp>
        <p:nvSpPr>
          <p:cNvPr id="285" name="Google Shape;285;p21"/>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It Actually Looks Like on the Wire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0"/>
        <p:cNvGrpSpPr/>
        <p:nvPr/>
      </p:nvGrpSpPr>
      <p:grpSpPr>
        <a:xfrm>
          <a:off x="0" y="0"/>
          <a:ext cx="0" cy="0"/>
          <a:chOff x="0" y="0"/>
          <a:chExt cx="0" cy="0"/>
        </a:xfrm>
      </p:grpSpPr>
      <p:sp>
        <p:nvSpPr>
          <p:cNvPr id="291" name="Google Shape;291;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real HTTP request, byte for byte</a:t>
            </a:r>
            <a:endParaRPr/>
          </a:p>
        </p:txBody>
      </p:sp>
      <p:sp>
        <p:nvSpPr>
          <p:cNvPr id="292" name="Google Shape;292;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HTTP/1.1</a:t>
            </a:r>
            <a:endParaRPr/>
          </a:p>
        </p:txBody>
      </p:sp>
      <p:sp>
        <p:nvSpPr>
          <p:cNvPr id="293" name="Google Shape;293;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4" name="Google Shape;294;p22"/>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POST /channels/general/messages HTTP/1.1</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Content-Length: 58</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{"author": "alice", "text": "hi everyone, just joined"}</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9"/>
        <p:cNvGrpSpPr/>
        <p:nvPr/>
      </p:nvGrpSpPr>
      <p:grpSpPr>
        <a:xfrm>
          <a:off x="0" y="0"/>
          <a:ext cx="0" cy="0"/>
          <a:chOff x="0" y="0"/>
          <a:chExt cx="0" cy="0"/>
        </a:xfrm>
      </p:grpSpPr>
      <p:sp>
        <p:nvSpPr>
          <p:cNvPr id="300" name="Google Shape;300;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And the server's response, byte for byte</a:t>
            </a:r>
            <a:endParaRPr/>
          </a:p>
        </p:txBody>
      </p:sp>
      <p:sp>
        <p:nvSpPr>
          <p:cNvPr id="301" name="Google Shape;301;p23"/>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HTTP/1.1</a:t>
            </a:r>
            <a:endParaRPr/>
          </a:p>
        </p:txBody>
      </p:sp>
      <p:sp>
        <p:nvSpPr>
          <p:cNvPr id="302" name="Google Shape;302;p23"/>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3" name="Google Shape;303;p23"/>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HTTP/1.1 201 Created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Content-Length: 94</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"id": 847,</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"author": "alice",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"text": "hi everyone, just joined",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"timestamp": "2026-04-11T14:22:00Z"</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8"/>
        <p:cNvGrpSpPr/>
        <p:nvPr/>
      </p:nvGrpSpPr>
      <p:grpSpPr>
        <a:xfrm>
          <a:off x="0" y="0"/>
          <a:ext cx="0" cy="0"/>
          <a:chOff x="0" y="0"/>
          <a:chExt cx="0" cy="0"/>
        </a:xfrm>
      </p:grpSpPr>
      <p:sp>
        <p:nvSpPr>
          <p:cNvPr id="309" name="Google Shape;309;g3d5effa7ec8_1_2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Seeing this for yourself: curl -v</a:t>
            </a:r>
            <a:endParaRPr/>
          </a:p>
        </p:txBody>
      </p:sp>
      <p:sp>
        <p:nvSpPr>
          <p:cNvPr id="310" name="Google Shape;310;g3d5effa7ec8_1_2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11" name="Google Shape;311;g3d5effa7ec8_1_2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2" name="Google Shape;312;g3d5effa7ec8_1_20"/>
          <p:cNvSpPr txBox="1"/>
          <p:nvPr/>
        </p:nvSpPr>
        <p:spPr>
          <a:xfrm>
            <a:off x="1005840" y="1645920"/>
            <a:ext cx="10179900" cy="610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curl -v https://chat.example.com/channels/general/messages</a:t>
            </a:r>
            <a:endParaRPr/>
          </a:p>
          <a:p>
            <a:pPr marL="0" marR="0" lvl="0" indent="0" algn="l" rtl="0">
              <a:spcBef>
                <a:spcPts val="200"/>
              </a:spcBef>
              <a:spcAft>
                <a:spcPts val="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7"/>
        <p:cNvGrpSpPr/>
        <p:nvPr/>
      </p:nvGrpSpPr>
      <p:grpSpPr>
        <a:xfrm>
          <a:off x="0" y="0"/>
          <a:ext cx="0" cy="0"/>
          <a:chOff x="0" y="0"/>
          <a:chExt cx="0" cy="0"/>
        </a:xfrm>
      </p:grpSpPr>
      <p:sp>
        <p:nvSpPr>
          <p:cNvPr id="318" name="Google Shape;318;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Seeing this for yourself: curl -v</a:t>
            </a:r>
            <a:endParaRPr/>
          </a:p>
        </p:txBody>
      </p:sp>
      <p:sp>
        <p:nvSpPr>
          <p:cNvPr id="319" name="Google Shape;319;p2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20" name="Google Shape;320;p2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1" name="Google Shape;321;p2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curl -v https://chat.example.com/channels/general/messages</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GET /channels/general/messages HTTP/1.1</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Host: chat.example.com</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User-Agent: curl/8.1.2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Accept: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HTTP/1.1 200 OK</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Content-Length: 312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[{"id": 845, "author": "bob", "text": "morning!"},</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{"id": 846, "author": "carol", "text": "morning bob"},</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6"/>
        <p:cNvGrpSpPr/>
        <p:nvPr/>
      </p:nvGrpSpPr>
      <p:grpSpPr>
        <a:xfrm>
          <a:off x="0" y="0"/>
          <a:ext cx="0" cy="0"/>
          <a:chOff x="0" y="0"/>
          <a:chExt cx="0" cy="0"/>
        </a:xfrm>
      </p:grpSpPr>
      <p:sp>
        <p:nvSpPr>
          <p:cNvPr id="327" name="Google Shape;327;p25"/>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Read this request. What is it asking for?</a:t>
            </a:r>
            <a:endParaRPr/>
          </a:p>
        </p:txBody>
      </p:sp>
      <p:sp>
        <p:nvSpPr>
          <p:cNvPr id="328" name="Google Shape;328;p25"/>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29" name="Google Shape;329;p25"/>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0" name="Google Shape;330;p25"/>
          <p:cNvSpPr txBox="1"/>
          <p:nvPr/>
        </p:nvSpPr>
        <p:spPr>
          <a:xfrm>
            <a:off x="1005840" y="1554480"/>
            <a:ext cx="10179900" cy="4376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DELETE /channels/general/messages/42 HTTP/1.1</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Answer the following:</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1. What HTTP method?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2. What resource is being acted on?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3. In plain English, what is the client asking the server to do?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4. Is this request idempotent? Why or why not?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5"/>
        <p:cNvGrpSpPr/>
        <p:nvPr/>
      </p:nvGrpSpPr>
      <p:grpSpPr>
        <a:xfrm>
          <a:off x="0" y="0"/>
          <a:ext cx="0" cy="0"/>
          <a:chOff x="0" y="0"/>
          <a:chExt cx="0" cy="0"/>
        </a:xfrm>
      </p:grpSpPr>
      <p:sp>
        <p:nvSpPr>
          <p:cNvPr id="336" name="Google Shape;336;p26"/>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Read this request. What is it asking for?</a:t>
            </a:r>
            <a:endParaRPr/>
          </a:p>
        </p:txBody>
      </p:sp>
      <p:sp>
        <p:nvSpPr>
          <p:cNvPr id="337" name="Google Shape;337;p26"/>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8" name="Google Shape;338;p26"/>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9" name="Google Shape;339;p26"/>
          <p:cNvSpPr txBox="1"/>
          <p:nvPr/>
        </p:nvSpPr>
        <p:spPr>
          <a:xfrm>
            <a:off x="1005840" y="1554480"/>
            <a:ext cx="10180015" cy="46634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DELETE /channels/general/messages/42 HTTP/1.1</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Answers: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1. What HTTP method? DELETE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2. What resource is being acted on? message 42 in the general channel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3. In plain English, what is the client asking the server to do?</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Delete message 42 from the #general channel, on behalf of</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 user identified by the bearer token abc123xyz.</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4. Is this request idempotent? Why or why not?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YES. Deleting an already-deleted message is a no-op, so</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retrying this request is safe.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4"/>
        <p:cNvGrpSpPr/>
        <p:nvPr/>
      </p:nvGrpSpPr>
      <p:grpSpPr>
        <a:xfrm>
          <a:off x="0" y="0"/>
          <a:ext cx="0" cy="0"/>
          <a:chOff x="0" y="0"/>
          <a:chExt cx="0" cy="0"/>
        </a:xfrm>
      </p:grpSpPr>
      <p:sp>
        <p:nvSpPr>
          <p:cNvPr id="345" name="Google Shape;345;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346" name="Google Shape;346;p27"/>
          <p:cNvSpPr txBox="1"/>
          <p:nvPr/>
        </p:nvSpPr>
        <p:spPr>
          <a:xfrm>
            <a:off x="914400" y="1463040"/>
            <a:ext cx="10362900" cy="4787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We’ve covered</a:t>
            </a:r>
            <a:r>
              <a:rPr lang="en-US" sz="2400" b="0">
                <a:solidFill>
                  <a:srgbClr val="333344"/>
                </a:solidFill>
                <a:latin typeface="Calibri"/>
                <a:ea typeface="Calibri"/>
                <a:cs typeface="Calibri"/>
                <a:sym typeface="Calibri"/>
              </a:rPr>
              <a:t> </a:t>
            </a:r>
            <a:r>
              <a:rPr lang="en-US" sz="2400" b="1">
                <a:solidFill>
                  <a:srgbClr val="333344"/>
                </a:solidFill>
                <a:latin typeface="Calibri"/>
                <a:ea typeface="Calibri"/>
                <a:cs typeface="Calibri"/>
                <a:sym typeface="Calibri"/>
              </a:rPr>
              <a:t>what</a:t>
            </a:r>
            <a:r>
              <a:rPr lang="en-US" sz="2400" b="0">
                <a:solidFill>
                  <a:srgbClr val="333344"/>
                </a:solidFill>
                <a:latin typeface="Calibri"/>
                <a:ea typeface="Calibri"/>
                <a:cs typeface="Calibri"/>
                <a:sym typeface="Calibri"/>
              </a:rPr>
              <a:t> a REST API is, and </a:t>
            </a:r>
            <a:r>
              <a:rPr lang="en-US" sz="2400" b="1">
                <a:solidFill>
                  <a:srgbClr val="333344"/>
                </a:solidFill>
                <a:latin typeface="Calibri"/>
                <a:ea typeface="Calibri"/>
                <a:cs typeface="Calibri"/>
                <a:sym typeface="Calibri"/>
              </a:rPr>
              <a:t>why</a:t>
            </a:r>
            <a:r>
              <a:rPr lang="en-US" sz="2400" b="0">
                <a:solidFill>
                  <a:srgbClr val="333344"/>
                </a:solidFill>
                <a:latin typeface="Calibri"/>
                <a:ea typeface="Calibri"/>
                <a:cs typeface="Calibri"/>
                <a:sym typeface="Calibri"/>
              </a:rPr>
              <a:t> it looks the way it does.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a:t>
            </a:r>
            <a:r>
              <a:rPr lang="en-US" sz="2400">
                <a:solidFill>
                  <a:srgbClr val="333344"/>
                </a:solidFill>
                <a:latin typeface="Calibri"/>
                <a:ea typeface="Calibri"/>
                <a:cs typeface="Calibri"/>
                <a:sym typeface="Calibri"/>
              </a:rPr>
              <a:t>ow we</a:t>
            </a:r>
            <a:r>
              <a:rPr lang="en-US" sz="2400" b="0">
                <a:solidFill>
                  <a:srgbClr val="333344"/>
                </a:solidFill>
                <a:latin typeface="Calibri"/>
                <a:ea typeface="Calibri"/>
                <a:cs typeface="Calibri"/>
                <a:sym typeface="Calibri"/>
              </a:rPr>
              <a:t> actually build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framework: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define endpoints by writing regular Python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Pydantic handles validation. uvicorn runs the server.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Assignment 2 </a:t>
            </a:r>
            <a:r>
              <a:rPr lang="en-US" sz="2400">
                <a:solidFill>
                  <a:srgbClr val="333344"/>
                </a:solidFill>
                <a:latin typeface="Calibri"/>
                <a:ea typeface="Calibri"/>
                <a:cs typeface="Calibri"/>
                <a:sym typeface="Calibri"/>
              </a:rPr>
              <a:t>builds off these two classes.</a:t>
            </a:r>
            <a:r>
              <a:rPr lang="en-US" sz="2400" b="0">
                <a:solidFill>
                  <a:srgbClr val="333344"/>
                </a:solidFill>
                <a:latin typeface="Calibri"/>
                <a:ea typeface="Calibri"/>
                <a:cs typeface="Calibri"/>
                <a:sym typeface="Calibri"/>
              </a:rPr>
              <a:t> You will: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Turn your week-2 </a:t>
            </a:r>
            <a:r>
              <a:rPr lang="en-US" sz="2000">
                <a:solidFill>
                  <a:srgbClr val="666677"/>
                </a:solidFill>
                <a:latin typeface="Calibri"/>
                <a:ea typeface="Calibri"/>
                <a:cs typeface="Calibri"/>
                <a:sym typeface="Calibri"/>
              </a:rPr>
              <a:t>BBS</a:t>
            </a:r>
            <a:r>
              <a:rPr lang="en-US" sz="2000" b="0" i="0" u="none" strike="noStrike" cap="none">
                <a:solidFill>
                  <a:srgbClr val="666677"/>
                </a:solidFill>
                <a:latin typeface="Calibri"/>
                <a:ea typeface="Calibri"/>
                <a:cs typeface="Calibri"/>
                <a:sym typeface="Calibri"/>
              </a:rPr>
              <a:t> into a real HTTP API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GET, POST, DELETE, proper status codes, JSON bodies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Test it with curl before writing any client code</a:t>
            </a:r>
            <a:endParaRPr/>
          </a:p>
          <a:p>
            <a:pPr marL="0" marR="0" lvl="0" indent="0" algn="l" rtl="0">
              <a:spcBef>
                <a:spcPts val="600"/>
              </a:spcBef>
              <a:spcAft>
                <a:spcPts val="0"/>
              </a:spcAft>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1"/>
        <p:cNvGrpSpPr/>
        <p:nvPr/>
      </p:nvGrpSpPr>
      <p:grpSpPr>
        <a:xfrm>
          <a:off x="0" y="0"/>
          <a:ext cx="0" cy="0"/>
          <a:chOff x="0" y="0"/>
          <a:chExt cx="0" cy="0"/>
        </a:xfrm>
      </p:grpSpPr>
      <p:sp>
        <p:nvSpPr>
          <p:cNvPr id="352" name="Google Shape;352;g3d5effa7ec8_1_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353" name="Google Shape;353;g3d5effa7ec8_1_36"/>
          <p:cNvSpPr txBox="1"/>
          <p:nvPr/>
        </p:nvSpPr>
        <p:spPr>
          <a:xfrm>
            <a:off x="914400" y="1463040"/>
            <a:ext cx="10362900" cy="334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We’ve covered</a:t>
            </a:r>
            <a:r>
              <a:rPr lang="en-US" sz="2400" b="0">
                <a:solidFill>
                  <a:srgbClr val="333344"/>
                </a:solidFill>
                <a:latin typeface="Calibri"/>
                <a:ea typeface="Calibri"/>
                <a:cs typeface="Calibri"/>
                <a:sym typeface="Calibri"/>
              </a:rPr>
              <a:t> </a:t>
            </a:r>
            <a:r>
              <a:rPr lang="en-US" sz="2400" b="1">
                <a:solidFill>
                  <a:srgbClr val="333344"/>
                </a:solidFill>
                <a:latin typeface="Calibri"/>
                <a:ea typeface="Calibri"/>
                <a:cs typeface="Calibri"/>
                <a:sym typeface="Calibri"/>
              </a:rPr>
              <a:t>what</a:t>
            </a:r>
            <a:r>
              <a:rPr lang="en-US" sz="2400" b="0">
                <a:solidFill>
                  <a:srgbClr val="333344"/>
                </a:solidFill>
                <a:latin typeface="Calibri"/>
                <a:ea typeface="Calibri"/>
                <a:cs typeface="Calibri"/>
                <a:sym typeface="Calibri"/>
              </a:rPr>
              <a:t> a REST API is, and </a:t>
            </a:r>
            <a:r>
              <a:rPr lang="en-US" sz="2400" b="1">
                <a:solidFill>
                  <a:srgbClr val="333344"/>
                </a:solidFill>
                <a:latin typeface="Calibri"/>
                <a:ea typeface="Calibri"/>
                <a:cs typeface="Calibri"/>
                <a:sym typeface="Calibri"/>
              </a:rPr>
              <a:t>why</a:t>
            </a:r>
            <a:r>
              <a:rPr lang="en-US" sz="2400" b="0">
                <a:solidFill>
                  <a:srgbClr val="333344"/>
                </a:solidFill>
                <a:latin typeface="Calibri"/>
                <a:ea typeface="Calibri"/>
                <a:cs typeface="Calibri"/>
                <a:sym typeface="Calibri"/>
              </a:rPr>
              <a:t> it looks the way it does.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lvl="0" indent="0" algn="l" rtl="0">
              <a:spcBef>
                <a:spcPts val="600"/>
              </a:spcBef>
              <a:spcAft>
                <a:spcPts val="0"/>
              </a:spcAft>
              <a:buNone/>
            </a:pPr>
            <a:r>
              <a:rPr lang="en-US" sz="2400">
                <a:solidFill>
                  <a:srgbClr val="333344"/>
                </a:solidFill>
                <a:latin typeface="Calibri"/>
                <a:ea typeface="Calibri"/>
                <a:cs typeface="Calibri"/>
                <a:sym typeface="Calibri"/>
              </a:rPr>
              <a:t>Now we actually build one.</a:t>
            </a:r>
            <a:endParaRPr sz="240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framework: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define endpoints by writing regular Python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Pydantic handles validation. uvicorn runs the server.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When in doubt, keep asking: </a:t>
            </a:r>
            <a:r>
              <a:rPr lang="en-US" sz="2400" b="1">
                <a:solidFill>
                  <a:srgbClr val="333344"/>
                </a:solidFill>
                <a:latin typeface="Calibri"/>
                <a:ea typeface="Calibri"/>
                <a:cs typeface="Calibri"/>
                <a:sym typeface="Calibri"/>
              </a:rPr>
              <a:t>what's the noun? what's the verb?</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58"/>
        <p:cNvGrpSpPr/>
        <p:nvPr/>
      </p:nvGrpSpPr>
      <p:grpSpPr>
        <a:xfrm>
          <a:off x="0" y="0"/>
          <a:ext cx="0" cy="0"/>
          <a:chOff x="0" y="0"/>
          <a:chExt cx="0" cy="0"/>
        </a:xfrm>
      </p:grpSpPr>
      <p:sp>
        <p:nvSpPr>
          <p:cNvPr id="359" name="Google Shape;359;g3d5effa7ec8_1_50"/>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From the Raw Bytes to a Response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4"/>
        <p:cNvGrpSpPr/>
        <p:nvPr/>
      </p:nvGrpSpPr>
      <p:grpSpPr>
        <a:xfrm>
          <a:off x="0" y="0"/>
          <a:ext cx="0" cy="0"/>
          <a:chOff x="0" y="0"/>
          <a:chExt cx="0" cy="0"/>
        </a:xfrm>
      </p:grpSpPr>
      <p:sp>
        <p:nvSpPr>
          <p:cNvPr id="365" name="Google Shape;365;g3d5effa7ec8_1_5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Remember these bytes?</a:t>
            </a:r>
            <a:endParaRPr/>
          </a:p>
        </p:txBody>
      </p:sp>
      <p:sp>
        <p:nvSpPr>
          <p:cNvPr id="366" name="Google Shape;366;g3d5effa7ec8_1_55"/>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Previously</a:t>
            </a:r>
            <a:r>
              <a:rPr lang="en-US" sz="2400" b="0" i="0" u="none" strike="noStrike" cap="none">
                <a:solidFill>
                  <a:srgbClr val="333344"/>
                </a:solidFill>
                <a:latin typeface="Calibri"/>
                <a:ea typeface="Calibri"/>
                <a:cs typeface="Calibri"/>
                <a:sym typeface="Calibri"/>
              </a:rPr>
              <a:t> we stared at a real HTTP request on the wire: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POST /channels/general/messages HTTP/1.1</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Host: chat.example.com</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Content-Type: application/json</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Content-Length: 58</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Authorization: Bearer abc123xyz</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1" i="0" u="none" strike="noStrike" cap="none">
              <a:solidFill>
                <a:srgbClr val="666677"/>
              </a:solidFill>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 "alice", "text": "hi everyone, just joined"}</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Next</a:t>
            </a:r>
            <a:r>
              <a:rPr lang="en-US" sz="2400" b="0" i="0" u="none" strike="noStrike" cap="none">
                <a:solidFill>
                  <a:srgbClr val="333344"/>
                </a:solidFill>
                <a:latin typeface="Calibri"/>
                <a:ea typeface="Calibri"/>
                <a:cs typeface="Calibri"/>
                <a:sym typeface="Calibri"/>
              </a:rPr>
              <a:t>: what does it take to write Python code that </a:t>
            </a:r>
            <a:r>
              <a:rPr lang="en-US" sz="2400" b="1" i="0" u="none" strike="noStrike" cap="none">
                <a:solidFill>
                  <a:srgbClr val="333344"/>
                </a:solidFill>
                <a:latin typeface="Calibri"/>
                <a:ea typeface="Calibri"/>
                <a:cs typeface="Calibri"/>
                <a:sym typeface="Calibri"/>
              </a:rPr>
              <a:t>answers</a:t>
            </a:r>
            <a:r>
              <a:rPr lang="en-US" sz="2400" b="0" i="0" u="none" strike="noStrike" cap="none">
                <a:solidFill>
                  <a:srgbClr val="333344"/>
                </a:solidFill>
                <a:latin typeface="Calibri"/>
                <a:ea typeface="Calibri"/>
                <a:cs typeface="Calibri"/>
                <a:sym typeface="Calibri"/>
              </a:rPr>
              <a:t> one?</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1"/>
        <p:cNvGrpSpPr/>
        <p:nvPr/>
      </p:nvGrpSpPr>
      <p:grpSpPr>
        <a:xfrm>
          <a:off x="0" y="0"/>
          <a:ext cx="0" cy="0"/>
          <a:chOff x="0" y="0"/>
          <a:chExt cx="0" cy="0"/>
        </a:xfrm>
      </p:grpSpPr>
      <p:sp>
        <p:nvSpPr>
          <p:cNvPr id="372" name="Google Shape;372;g3d5effa7ec8_1_6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would it take in pure Python?</a:t>
            </a:r>
            <a:endParaRPr/>
          </a:p>
        </p:txBody>
      </p:sp>
      <p:sp>
        <p:nvSpPr>
          <p:cNvPr id="373" name="Google Shape;373;g3d5effa7ec8_1_61"/>
          <p:cNvSpPr txBox="1"/>
          <p:nvPr/>
        </p:nvSpPr>
        <p:spPr>
          <a:xfrm>
            <a:off x="914400" y="1184040"/>
            <a:ext cx="10362900" cy="543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To respond to one HTTP request with nothing but the standard library:</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Open a TCP socket and listen on a port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Accept an incoming connection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Read bytes off the socket until you have a full request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Parse the request line (method, path, version) from text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Parse the headers (key: value lines)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6. Figure out which of your functions handles this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7. Call that function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8. Turn the return value into HTTP response bytes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9. Write those bytes back to the socket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10. Close the connection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8"/>
        <p:cNvGrpSpPr/>
        <p:nvPr/>
      </p:nvGrpSpPr>
      <p:grpSpPr>
        <a:xfrm>
          <a:off x="0" y="0"/>
          <a:ext cx="0" cy="0"/>
          <a:chOff x="0" y="0"/>
          <a:chExt cx="0" cy="0"/>
        </a:xfrm>
      </p:grpSpPr>
      <p:sp>
        <p:nvSpPr>
          <p:cNvPr id="379" name="Google Shape;379;g3d5effa7ec8_1_6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working handler, the hard way</a:t>
            </a:r>
            <a:endParaRPr/>
          </a:p>
        </p:txBody>
      </p:sp>
      <p:sp>
        <p:nvSpPr>
          <p:cNvPr id="380" name="Google Shape;380;g3d5effa7ec8_1_6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81" name="Google Shape;381;g3d5effa7ec8_1_67"/>
          <p:cNvSpPr/>
          <p:nvPr/>
        </p:nvSpPr>
        <p:spPr>
          <a:xfrm>
            <a:off x="731500" y="960127"/>
            <a:ext cx="10728600" cy="57216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2" name="Google Shape;382;g3d5effa7ec8_1_67"/>
          <p:cNvSpPr txBox="1"/>
          <p:nvPr/>
        </p:nvSpPr>
        <p:spPr>
          <a:xfrm>
            <a:off x="1005840" y="1142995"/>
            <a:ext cx="10179900" cy="5484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import socket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 = socket.socket()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sock.bind(("127.0.0.1", 8000))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sock.listen()</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 _ = sock.accept()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req = conn.recv(4096).decode()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request line looks like: "GET /ping HTTP/1.1"</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first_line = req.split("\r\n")[0]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method, path, _ = first_line.split(" ")</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method == "GET" and path == "/ping":</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 "pong"</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resp =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"HTTP/1.1 200 OK\r\n"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f"Content-Length: {len(body)}\r\n"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"Content-Type: text/plain\r\n"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body</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conn.sendall(resp.encode())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conn.close()</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7"/>
        <p:cNvGrpSpPr/>
        <p:nvPr/>
      </p:nvGrpSpPr>
      <p:grpSpPr>
        <a:xfrm>
          <a:off x="0" y="0"/>
          <a:ext cx="0" cy="0"/>
          <a:chOff x="0" y="0"/>
          <a:chExt cx="0" cy="0"/>
        </a:xfrm>
      </p:grpSpPr>
      <p:sp>
        <p:nvSpPr>
          <p:cNvPr id="388" name="Google Shape;388;g3d5effa7ec8_1_7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 could keep going...</a:t>
            </a:r>
            <a:endParaRPr/>
          </a:p>
        </p:txBody>
      </p:sp>
      <p:sp>
        <p:nvSpPr>
          <p:cNvPr id="389" name="Google Shape;389;g3d5effa7ec8_1_75"/>
          <p:cNvSpPr txBox="1"/>
          <p:nvPr/>
        </p:nvSpPr>
        <p:spPr>
          <a:xfrm>
            <a:off x="914388" y="1213415"/>
            <a:ext cx="10362900" cy="555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That handler only does ONE thing: </a:t>
            </a:r>
            <a:r>
              <a:rPr lang="en-US" sz="2400" b="1" i="0" u="none" strike="noStrike" cap="none">
                <a:solidFill>
                  <a:srgbClr val="333344"/>
                </a:solidFill>
                <a:latin typeface="Courier Prime"/>
                <a:ea typeface="Courier Prime"/>
                <a:cs typeface="Courier Prime"/>
                <a:sym typeface="Courier Prime"/>
              </a:rPr>
              <a:t>GET /ping</a:t>
            </a:r>
            <a:r>
              <a:rPr lang="en-US" sz="2400" b="0" i="0" u="none" strike="noStrike" cap="none">
                <a:solidFill>
                  <a:srgbClr val="333344"/>
                </a:solidFill>
                <a:latin typeface="Calibri"/>
                <a:ea typeface="Calibri"/>
                <a:cs typeface="Calibri"/>
                <a:sym typeface="Calibri"/>
              </a:rPr>
              <a:t> returns </a:t>
            </a:r>
            <a:r>
              <a:rPr lang="en-US" sz="2400" b="1" i="0" u="none" strike="noStrike" cap="none">
                <a:solidFill>
                  <a:srgbClr val="333344"/>
                </a:solidFill>
                <a:latin typeface="Courier Prime"/>
                <a:ea typeface="Courier Prime"/>
                <a:cs typeface="Courier Prime"/>
                <a:sym typeface="Courier Prime"/>
              </a:rPr>
              <a:t>"pong"</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 build a real chat API, you'd need to write, from scratch: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Routing</a:t>
            </a:r>
            <a:r>
              <a:rPr lang="en-US" sz="2000" b="0" i="0" u="none" strike="noStrike" cap="none">
                <a:solidFill>
                  <a:srgbClr val="666677"/>
                </a:solidFill>
                <a:latin typeface="Calibri"/>
                <a:ea typeface="Calibri"/>
                <a:cs typeface="Calibri"/>
                <a:sym typeface="Calibri"/>
              </a:rPr>
              <a:t> - a table mapping (method, path) to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Path parameters</a:t>
            </a:r>
            <a:r>
              <a:rPr lang="en-US" sz="2000" b="0" i="0" u="none" strike="noStrike" cap="none">
                <a:solidFill>
                  <a:srgbClr val="666677"/>
                </a:solidFill>
                <a:latin typeface="Calibri"/>
                <a:ea typeface="Calibri"/>
                <a:cs typeface="Calibri"/>
                <a:sym typeface="Calibri"/>
              </a:rPr>
              <a:t> - /messages/42 needs to extract the 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Body parsing</a:t>
            </a:r>
            <a:r>
              <a:rPr lang="en-US" sz="2000" b="0" i="0" u="none" strike="noStrike" cap="none">
                <a:solidFill>
                  <a:srgbClr val="666677"/>
                </a:solidFill>
                <a:latin typeface="Calibri"/>
                <a:ea typeface="Calibri"/>
                <a:cs typeface="Calibri"/>
                <a:sym typeface="Calibri"/>
              </a:rPr>
              <a:t> - JSON in, JSON out, with useful errors when it's wrong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Validation</a:t>
            </a:r>
            <a:r>
              <a:rPr lang="en-US" sz="2000" b="0" i="0" u="none" strike="noStrike" cap="none">
                <a:solidFill>
                  <a:srgbClr val="666677"/>
                </a:solidFill>
                <a:latin typeface="Calibri"/>
                <a:ea typeface="Calibri"/>
                <a:cs typeface="Calibri"/>
                <a:sym typeface="Calibri"/>
              </a:rPr>
              <a:t> - is this actually a string? a number in range?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Error handling</a:t>
            </a:r>
            <a:r>
              <a:rPr lang="en-US" sz="2000" b="0" i="0" u="none" strike="noStrike" cap="none">
                <a:solidFill>
                  <a:srgbClr val="666677"/>
                </a:solidFill>
                <a:latin typeface="Calibri"/>
                <a:ea typeface="Calibri"/>
                <a:cs typeface="Calibri"/>
                <a:sym typeface="Calibri"/>
              </a:rPr>
              <a:t> - turn exceptions into proper HTTP responses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Docs</a:t>
            </a:r>
            <a:r>
              <a:rPr lang="en-US" sz="2000" b="0" i="0" u="none" strike="noStrike" cap="none">
                <a:solidFill>
                  <a:srgbClr val="666677"/>
                </a:solidFill>
                <a:latin typeface="Calibri"/>
                <a:ea typeface="Calibri"/>
                <a:cs typeface="Calibri"/>
                <a:sym typeface="Calibri"/>
              </a:rPr>
              <a:t> - so the frontend team knows what endpoints exist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Concurrency</a:t>
            </a:r>
            <a:r>
              <a:rPr lang="en-US" sz="2000" b="0" i="0" u="none" strike="noStrike" cap="none">
                <a:solidFill>
                  <a:srgbClr val="666677"/>
                </a:solidFill>
                <a:latin typeface="Calibri"/>
                <a:ea typeface="Calibri"/>
                <a:cs typeface="Calibri"/>
                <a:sym typeface="Calibri"/>
              </a:rPr>
              <a:t> - handle more than one request at a time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Or you could use a framework that already did all of that.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Today that framework is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4748</Words>
  <Application>Microsoft Macintosh PowerPoint</Application>
  <PresentationFormat>Widescreen</PresentationFormat>
  <Paragraphs>471</Paragraphs>
  <Slides>42</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Courier Prime</vt:lpstr>
      <vt:lpstr>Courier New</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2026-04-14T23:28:11Z</dcterms:modified>
</cp:coreProperties>
</file>