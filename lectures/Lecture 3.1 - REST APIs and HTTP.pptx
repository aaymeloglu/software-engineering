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sldSz cx="12192000" cy="6858000"/>
  <p:notesSz cx="6858000" cy="9144000"/>
  <p:embeddedFontLst>
    <p:embeddedFont>
      <p:font typeface="Courier Prime" pitchFamily="49" charset="77"/>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g8ekrBkWfsuRfpKkH1LLGZHpDd+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800" y="184"/>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notesMaster" Target="notesMasters/notesMaster1.xml"/><Relationship Id="rId45" Type="http://schemas.openxmlformats.org/officeDocument/2006/relationships/font" Target="fonts/font1.fntdata"/><Relationship Id="rId46" Type="http://schemas.openxmlformats.org/officeDocument/2006/relationships/font" Target="fonts/font2.fntdata"/><Relationship Id="rId47" Type="http://schemas.openxmlformats.org/officeDocument/2006/relationships/font" Target="fonts/font3.fntdata"/><Relationship Id="rId48" Type="http://schemas.openxmlformats.org/officeDocument/2006/relationships/font" Target="fonts/font4.fntdata"/><Relationship Id="rId56" Type="http://customschemas.google.com/relationships/presentationmetadata" Target="metadata"/><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2" name="Google Shape;82;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
            </a:r>
            <a:endParaRPr/>
          </a:p>
        </p:txBody>
      </p:sp>
      <p:sp>
        <p:nvSpPr>
          <p:cNvPr id="83" name="Google Shape;83;p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
        <p:cNvGrpSpPr/>
        <p:nvPr/>
      </p:nvGrpSpPr>
      <p:grpSpPr>
        <a:xfrm>
          <a:off x="0" y="0"/>
          <a:ext cx="0" cy="0"/>
          <a:chOff x="0" y="0"/>
          <a:chExt cx="0" cy="0"/>
        </a:xfrm>
      </p:grpSpPr>
      <p:sp>
        <p:nvSpPr>
          <p:cNvPr id="90" name="Google Shape;90;p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1" name="Google Shape;91;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p:txBody>
      </p:sp>
      <p:sp>
        <p:nvSpPr>
          <p:cNvPr id="92" name="Google Shape;92;p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3d5effa7ec8_1_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7" name="Google Shape;97;g3d5effa7ec8_1_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Stay on the design problem; no 'architectural style' definition yet.</a:t>
            </a:r>
          </a:p>
        </p:txBody>
      </p:sp>
      <p:sp>
        <p:nvSpPr>
          <p:cNvPr id="98" name="Google Shape;98;g3d5effa7ec8_1_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4" name="Google Shape;104;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Stay on the design problem; no 'architectural style' definition yet.</a:t>
            </a:r>
          </a:p>
        </p:txBody>
      </p:sp>
      <p:sp>
        <p:nvSpPr>
          <p:cNvPr id="105" name="Google Shape;105;p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1" name="Google Shape;111;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TCP = Transmission Control Protocol; TLS = Transport Layer Security.</a:t>
            </a:r>
          </a:p>
        </p:txBody>
      </p:sp>
      <p:sp>
        <p:nvSpPr>
          <p:cNvPr id="112" name="Google Shape;112;p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8" name="Google Shape;118;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Say 'stateless' here: each exchange self-contained. Returns on slide 18.</a:t>
            </a:r>
          </a:p>
        </p:txBody>
      </p:sp>
      <p:sp>
        <p:nvSpPr>
          <p:cNvPr id="119" name="Google Shape;119;p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
        <p:cNvGrpSpPr/>
        <p:nvPr/>
      </p:nvGrpSpPr>
      <p:grpSpPr>
        <a:xfrm>
          <a:off x="0" y="0"/>
          <a:ext cx="0" cy="0"/>
          <a:chOff x="0" y="0"/>
          <a:chExt cx="0" cy="0"/>
        </a:xfrm>
      </p:grpSpPr>
      <p:sp>
        <p:nvSpPr>
          <p:cNvPr id="124" name="Google Shape;124;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5" name="Google Shape;125;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Name RPC, list the pains, move on.</a:t>
            </a:r>
          </a:p>
        </p:txBody>
      </p:sp>
      <p:sp>
        <p:nvSpPr>
          <p:cNvPr id="126" name="Google Shape;126;p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d5effa7ec8_1_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1" name="Google Shape;131;g3d5effa7ec8_1_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One example, no CORBA/SOAP/XML-RPC history.</a:t>
            </a:r>
          </a:p>
        </p:txBody>
      </p:sp>
      <p:sp>
        <p:nvSpPr>
          <p:cNvPr id="132" name="Google Shape;132;g3d5effa7ec8_1_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p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8" name="Google Shape;138;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One example, no CORBA/SOAP/XML-RPC history.</a:t>
            </a:r>
          </a:p>
        </p:txBody>
      </p:sp>
      <p:sp>
        <p:nvSpPr>
          <p:cNvPr id="139" name="Google Shape;139;p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d5effa7ec8_1_32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5" name="Google Shape;145;g3d5effa7ec8_1_3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Each pain maps to a constraint on slide 15.</a:t>
            </a:r>
          </a:p>
        </p:txBody>
      </p:sp>
      <p:sp>
        <p:nvSpPr>
          <p:cNvPr id="146" name="Google Shape;146;g3d5effa7ec8_1_32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d5effa7ec8_1_32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2" name="Google Shape;152;g3d5effa7ec8_1_3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Each pain maps to a constraint on slide 15.</a:t>
            </a:r>
          </a:p>
        </p:txBody>
      </p:sp>
      <p:sp>
        <p:nvSpPr>
          <p:cNvPr id="153" name="Google Shape;153;g3d5effa7ec8_1_32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9" name="Google Shape;159;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Each pain maps to a constraint on slide 15.</a:t>
            </a:r>
          </a:p>
        </p:txBody>
      </p:sp>
      <p:sp>
        <p:nvSpPr>
          <p:cNvPr id="160" name="Google Shape;160;p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6" name="Google Shape;166;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Listen for: /messages-style names, read/write/delete split, 'how does the server know me?'</a:t>
            </a:r>
          </a:p>
        </p:txBody>
      </p:sp>
      <p:sp>
        <p:nvSpPr>
          <p:cNvPr id="167" name="Google Shape;167;p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3d5effa7ec8_1_36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4" name="Google Shape;174;g3d5effa7ec8_1_36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5" name="Google Shape;175;g3d5effa7ec8_1_36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p1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2" name="Google Shape;182;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3" name="Google Shape;183;p1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d5effa7ec8_1_34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0" name="Google Shape;190;g3d5effa7ec8_1_34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Pair each with its RPC pain: uniform interface vs verbs, stateless vs hidden state.</a:t>
            </a:r>
          </a:p>
        </p:txBody>
      </p:sp>
      <p:sp>
        <p:nvSpPr>
          <p:cNvPr id="191" name="Google Shape;191;g3d5effa7ec8_1_34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d5effa7ec8_1_35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7" name="Google Shape;197;g3d5effa7ec8_1_35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Pair each with its RPC pain: uniform interface vs verbs, stateless vs hidden state.</a:t>
            </a:r>
          </a:p>
        </p:txBody>
      </p:sp>
      <p:sp>
        <p:nvSpPr>
          <p:cNvPr id="198" name="Google Shape;198;g3d5effa7ec8_1_35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1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4" name="Google Shape;204;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Pair each with its RPC pain: uniform interface vs verbs, stateless vs hidden state.</a:t>
            </a:r>
          </a:p>
        </p:txBody>
      </p:sp>
      <p:sp>
        <p:nvSpPr>
          <p:cNvPr id="205" name="Google Shape;205;p1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p1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1" name="Google Shape;211;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p:txBody>
      </p:sp>
      <p:sp>
        <p:nvSpPr>
          <p:cNvPr id="212" name="Google Shape;212;p1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6"/>
        <p:cNvGrpSpPr/>
        <p:nvPr/>
      </p:nvGrpSpPr>
      <p:grpSpPr>
        <a:xfrm>
          <a:off x="0" y="0"/>
          <a:ext cx="0" cy="0"/>
          <a:chOff x="0" y="0"/>
          <a:chExt cx="0" cy="0"/>
        </a:xfrm>
      </p:grpSpPr>
      <p:sp>
        <p:nvSpPr>
          <p:cNvPr id="217" name="Google Shape;217;p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8" name="Google Shape;218;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p:txBody>
      </p:sp>
      <p:sp>
        <p:nvSpPr>
          <p:cNvPr id="219" name="Google Shape;219;p1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g3d5effa7ec8_1_31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4" name="Google Shape;224;g3d5effa7ec8_1_3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Compare to their discussion answers from slide 12.</a:t>
            </a:r>
          </a:p>
        </p:txBody>
      </p:sp>
      <p:sp>
        <p:nvSpPr>
          <p:cNvPr id="225" name="Google Shape;225;g3d5effa7ec8_1_31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1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1" name="Google Shape;231;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Compare to their discussion answers from slide 12.</a:t>
            </a:r>
          </a:p>
        </p:txBody>
      </p:sp>
      <p:sp>
        <p:nvSpPr>
          <p:cNvPr id="232" name="Google Shape;232;p1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d5effa7ec8_1_1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8" name="Google Shape;238;g3d5effa7ec8_1_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Tie idempotence to a phone dropping signal mid-request: is retry safe?</a:t>
            </a:r>
          </a:p>
        </p:txBody>
      </p:sp>
      <p:sp>
        <p:nvSpPr>
          <p:cNvPr id="239" name="Google Shape;239;g3d5effa7ec8_1_1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1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5" name="Google Shape;245;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Tie idempotence to a phone dropping signal mid-request: is retry safe?</a:t>
            </a:r>
          </a:p>
        </p:txBody>
      </p:sp>
      <p:sp>
        <p:nvSpPr>
          <p:cNvPr id="246" name="Google Shape;246;p1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1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52" name="Google Shape;252;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Walk a few rows; ask class what each does.</a:t>
            </a:r>
          </a:p>
        </p:txBody>
      </p:sp>
      <p:sp>
        <p:nvSpPr>
          <p:cNvPr id="253" name="Google Shape;253;p1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
        <p:cNvGrpSpPr/>
        <p:nvPr/>
      </p:nvGrpSpPr>
      <p:grpSpPr>
        <a:xfrm>
          <a:off x="0" y="0"/>
          <a:ext cx="0" cy="0"/>
          <a:chOff x="0" y="0"/>
          <a:chExt cx="0" cy="0"/>
        </a:xfrm>
      </p:grpSpPr>
      <p:sp>
        <p:nvSpPr>
          <p:cNvPr id="260" name="Google Shape;260;p18: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1" name="Google Shape;261;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Client branches on the code, never parses the error message.</a:t>
            </a:r>
          </a:p>
        </p:txBody>
      </p:sp>
      <p:sp>
        <p:nvSpPr>
          <p:cNvPr id="262" name="Google Shape;262;p1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6"/>
        <p:cNvGrpSpPr/>
        <p:nvPr/>
      </p:nvGrpSpPr>
      <p:grpSpPr>
        <a:xfrm>
          <a:off x="0" y="0"/>
          <a:ext cx="0" cy="0"/>
          <a:chOff x="0" y="0"/>
          <a:chExt cx="0" cy="0"/>
        </a:xfrm>
      </p:grpSpPr>
      <p:sp>
        <p:nvSpPr>
          <p:cNvPr id="267" name="Google Shape;267;p19: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68" name="Google Shape;268;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Only Content-Type and Authorization matter now; the rest is recognition.</a:t>
            </a:r>
          </a:p>
        </p:txBody>
      </p:sp>
      <p:sp>
        <p:nvSpPr>
          <p:cNvPr id="269" name="Google Shape;269;p1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5" name="Google Shape;275;p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Reminder only; JSON was in 2.1.</a:t>
            </a:r>
          </a:p>
        </p:txBody>
      </p:sp>
      <p:sp>
        <p:nvSpPr>
          <p:cNvPr id="276" name="Google Shape;276;p2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2" name="Google Shape;282;p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p:txBody>
      </p:sp>
      <p:sp>
        <p:nvSpPr>
          <p:cNvPr id="283" name="Google Shape;283;p2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22: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8" name="Google Shape;288;p2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Walk each line: request line, headers, blank line, body.</a:t>
            </a:r>
          </a:p>
        </p:txBody>
      </p:sp>
      <p:sp>
        <p:nvSpPr>
          <p:cNvPr id="289" name="Google Shape;289;p2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23: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97" name="Google Shape;297;p2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Point out server-assigned id and timestamp; POST returns the created resource.</a:t>
            </a:r>
          </a:p>
        </p:txBody>
      </p:sp>
      <p:sp>
        <p:nvSpPr>
          <p:cNvPr id="298" name="Google Shape;298;p2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3d5effa7ec8_1_2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6" name="Google Shape;306;g3d5effa7ec8_1_2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`-v`: &gt; is request, &lt; is response. Assignment 2 uses this.</a:t>
            </a:r>
          </a:p>
        </p:txBody>
      </p:sp>
      <p:sp>
        <p:nvSpPr>
          <p:cNvPr id="307" name="Google Shape;307;g3d5effa7ec8_1_2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p24: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15" name="Google Shape;315;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`-v`: &gt; is request, &lt; is response. Assignment 2 uses this.</a:t>
            </a:r>
          </a:p>
        </p:txBody>
      </p:sp>
      <p:sp>
        <p:nvSpPr>
          <p:cNvPr id="316" name="Google Shape;316;p2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2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24" name="Google Shape;324;p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2 min.</a:t>
            </a:r>
          </a:p>
        </p:txBody>
      </p:sp>
      <p:sp>
        <p:nvSpPr>
          <p:cNvPr id="325" name="Google Shape;325;p2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2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3" name="Google Shape;333;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Example: phone drops signal and auto-retries; server state identical either way.</a:t>
            </a:r>
          </a:p>
        </p:txBody>
      </p:sp>
      <p:sp>
        <p:nvSpPr>
          <p:cNvPr id="334" name="Google Shape;334;p2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2" name="Google Shape;342;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p:txBody>
      </p:sp>
      <p:sp>
        <p:nvSpPr>
          <p:cNvPr id="343" name="Google Shape;343;p2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g3d5effa7ec8_1_3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49" name="Google Shape;349;g3d5effa7ec8_1_3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p:txBody>
      </p:sp>
      <p:sp>
        <p:nvSpPr>
          <p:cNvPr id="350" name="Google Shape;350;g3d5effa7ec8_1_3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d5effa7ec8_1_50: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6" name="Google Shape;356;g3d5effa7ec8_1_5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Short section; don't dwell on the socket code.</a:t>
            </a:r>
          </a:p>
        </p:txBody>
      </p:sp>
      <p:sp>
        <p:nvSpPr>
          <p:cNvPr id="357" name="Google Shape;357;g3d5effa7ec8_1_5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d5effa7ec8_1_5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2" name="Google Shape;362;g3d5effa7ec8_1_5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Same request as slide 29.</a:t>
            </a:r>
          </a:p>
        </p:txBody>
      </p:sp>
      <p:sp>
        <p:nvSpPr>
          <p:cNvPr id="363" name="Google Shape;363;g3d5effa7ec8_1_5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7"/>
        <p:cNvGrpSpPr/>
        <p:nvPr/>
      </p:nvGrpSpPr>
      <p:grpSpPr>
        <a:xfrm>
          <a:off x="0" y="0"/>
          <a:ext cx="0" cy="0"/>
          <a:chOff x="0" y="0"/>
          <a:chExt cx="0" cy="0"/>
        </a:xfrm>
      </p:grpSpPr>
      <p:sp>
        <p:nvSpPr>
          <p:cNvPr id="368" name="Google Shape;368;g3d5effa7ec8_1_61: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9" name="Google Shape;369;g3d5effa7ec8_1_6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Add: that's the minimum per request, before any error handling.</a:t>
            </a:r>
          </a:p>
        </p:txBody>
      </p:sp>
      <p:sp>
        <p:nvSpPr>
          <p:cNvPr id="370" name="Google Shape;370;g3d5effa7ec8_1_6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
        <p:cNvGrpSpPr/>
        <p:nvPr/>
      </p:nvGrpSpPr>
      <p:grpSpPr>
        <a:xfrm>
          <a:off x="0" y="0"/>
          <a:ext cx="0" cy="0"/>
          <a:chOff x="0" y="0"/>
          <a:chExt cx="0" cy="0"/>
        </a:xfrm>
      </p:grpSpPr>
      <p:sp>
        <p:nvSpPr>
          <p:cNvPr id="375" name="Google Shape;375;g3d5effa7ec8_1_67: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6" name="Google Shape;376;g3d5effa7ec8_1_6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Walk live. Missing: routing, body parsing, JSON, errors, concurrency. Admit you needed help.</a:t>
            </a:r>
          </a:p>
        </p:txBody>
      </p:sp>
      <p:sp>
        <p:nvSpPr>
          <p:cNvPr id="377" name="Google Shape;377;g3d5effa7ec8_1_6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g3d5effa7ec8_1_75: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5" name="Google Shape;385;g3d5effa7ec8_1_7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Don't introduce FastAPI yet; type hints come next.</a:t>
            </a:r>
          </a:p>
        </p:txBody>
      </p:sp>
      <p:sp>
        <p:nvSpPr>
          <p:cNvPr id="386" name="Google Shape;386;g3d5effa7ec8_1_7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3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3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3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3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3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3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3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3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3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3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34"/>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34"/>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3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3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3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3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3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3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7"/>
          <p:cNvSpPr>
            <a:spLocks noGrp="1"/>
          </p:cNvSpPr>
          <p:nvPr>
            <p:ph type="pic" idx="2"/>
          </p:nvPr>
        </p:nvSpPr>
        <p:spPr>
          <a:xfrm>
            <a:off x="1792288" y="612775"/>
            <a:ext cx="5486400" cy="4114800"/>
          </a:xfrm>
          <a:prstGeom prst="rect">
            <a:avLst/>
          </a:prstGeom>
          <a:noFill/>
          <a:ln>
            <a:noFill/>
          </a:ln>
        </p:spPr>
      </p:sp>
      <p:sp>
        <p:nvSpPr>
          <p:cNvPr id="64" name="Google Shape;64;p3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4"/>
        <p:cNvGrpSpPr/>
        <p:nvPr/>
      </p:nvGrpSpPr>
      <p:grpSpPr>
        <a:xfrm>
          <a:off x="0" y="0"/>
          <a:ext cx="0" cy="0"/>
          <a:chOff x="0" y="0"/>
          <a:chExt cx="0" cy="0"/>
        </a:xfrm>
      </p:grpSpPr>
      <p:sp>
        <p:nvSpPr>
          <p:cNvPr id="85" name="Google Shape;85;p1"/>
          <p:cNvSpPr/>
          <p:nvPr/>
        </p:nvSpPr>
        <p:spPr>
          <a:xfrm>
            <a:off x="0" y="0"/>
            <a:ext cx="12191695" cy="137160"/>
          </a:xfrm>
          <a:prstGeom prst="rect">
            <a:avLst/>
          </a:prstGeom>
          <a:solidFill>
            <a:srgbClr val="5B21B6"/>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86" name="Google Shape;86;p1"/>
          <p:cNvSpPr txBox="1"/>
          <p:nvPr/>
        </p:nvSpPr>
        <p:spPr>
          <a:xfrm>
            <a:off x="914400" y="1645920"/>
            <a:ext cx="10362895" cy="73152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5B21B6"/>
                </a:solidFill>
                <a:latin typeface="Calibri"/>
                <a:ea typeface="Calibri"/>
                <a:cs typeface="Calibri"/>
                <a:sym typeface="Calibri"/>
              </a:rPr>
              <a:t>Lecture 3.1</a:t>
            </a:r>
            <a:endParaRPr/>
          </a:p>
        </p:txBody>
      </p:sp>
      <p:sp>
        <p:nvSpPr>
          <p:cNvPr id="87" name="Google Shape;87;p1"/>
          <p:cNvSpPr txBox="1"/>
          <p:nvPr/>
        </p:nvSpPr>
        <p:spPr>
          <a:xfrm>
            <a:off x="914400" y="2468880"/>
            <a:ext cx="10362895" cy="1828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4800" b="1" i="0" u="none" strike="noStrike" cap="none">
                <a:solidFill>
                  <a:srgbClr val="1A1A2E"/>
                </a:solidFill>
                <a:latin typeface="Calibri"/>
                <a:ea typeface="Calibri"/>
                <a:cs typeface="Calibri"/>
                <a:sym typeface="Calibri"/>
              </a:rPr>
              <a:t>REST APIs and HTTP</a:t>
            </a:r>
            <a:endParaRPr/>
          </a:p>
        </p:txBody>
      </p:sp>
      <p:sp>
        <p:nvSpPr>
          <p:cNvPr id="88" name="Google Shape;88;p1"/>
          <p:cNvSpPr txBox="1"/>
          <p:nvPr/>
        </p:nvSpPr>
        <p:spPr>
          <a:xfrm>
            <a:off x="914400" y="4754880"/>
            <a:ext cx="1036289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0" i="0" u="none" strike="noStrike" cap="none">
                <a:solidFill>
                  <a:srgbClr val="666677"/>
                </a:solidFill>
                <a:latin typeface="Calibri"/>
                <a:ea typeface="Calibri"/>
                <a:cs typeface="Calibri"/>
                <a:sym typeface="Calibri"/>
              </a:rPr>
              <a:t>Andy Aymeloglu - UATX Software Engineering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93"/>
        <p:cNvGrpSpPr/>
        <p:nvPr/>
      </p:nvGrpSpPr>
      <p:grpSpPr>
        <a:xfrm>
          <a:off x="0" y="0"/>
          <a:ext cx="0" cy="0"/>
          <a:chOff x="0" y="0"/>
          <a:chExt cx="0" cy="0"/>
        </a:xfrm>
      </p:grpSpPr>
      <p:sp>
        <p:nvSpPr>
          <p:cNvPr id="94" name="Google Shape;94;p2"/>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Two Computers. One Conversation.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9"/>
        <p:cNvGrpSpPr/>
        <p:nvPr/>
      </p:nvGrpSpPr>
      <p:grpSpPr>
        <a:xfrm>
          <a:off x="0" y="0"/>
          <a:ext cx="0" cy="0"/>
          <a:chOff x="0" y="0"/>
          <a:chExt cx="0" cy="0"/>
        </a:xfrm>
      </p:grpSpPr>
      <p:sp>
        <p:nvSpPr>
          <p:cNvPr id="100" name="Google Shape;100;g3d5effa7ec8_1_2"/>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The problem we're actually solving</a:t>
            </a:r>
            <a:endParaRPr/>
          </a:p>
        </p:txBody>
      </p:sp>
      <p:sp>
        <p:nvSpPr>
          <p:cNvPr id="101" name="Google Shape;101;g3d5effa7ec8_1_2"/>
          <p:cNvSpPr txBox="1"/>
          <p:nvPr/>
        </p:nvSpPr>
        <p:spPr>
          <a:xfrm>
            <a:off x="914400" y="1463040"/>
            <a:ext cx="10362900" cy="1200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You have a chat app. It runs in a browser.</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The messages live on a server somewhere in a data center.</a:t>
            </a:r>
            <a:endParaRPr/>
          </a:p>
          <a:p>
            <a:pPr marL="0" marR="0" lvl="0" indent="0" algn="l" rtl="0">
              <a:spcBef>
                <a:spcPts val="600"/>
              </a:spcBef>
              <a:spcAft>
                <a:spcPts val="0"/>
              </a:spcAft>
              <a:buNone/>
            </a:pPr>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6"/>
        <p:cNvGrpSpPr/>
        <p:nvPr/>
      </p:nvGrpSpPr>
      <p:grpSpPr>
        <a:xfrm>
          <a:off x="0" y="0"/>
          <a:ext cx="0" cy="0"/>
          <a:chOff x="0" y="0"/>
          <a:chExt cx="0" cy="0"/>
        </a:xfrm>
      </p:grpSpPr>
      <p:sp>
        <p:nvSpPr>
          <p:cNvPr id="107" name="Google Shape;107;p3"/>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The problem we're actually solving</a:t>
            </a:r>
            <a:endParaRPr/>
          </a:p>
        </p:txBody>
      </p:sp>
      <p:sp>
        <p:nvSpPr>
          <p:cNvPr id="108" name="Google Shape;108;p3"/>
          <p:cNvSpPr txBox="1"/>
          <p:nvPr/>
        </p:nvSpPr>
        <p:spPr>
          <a:xfrm>
            <a:off x="914400" y="1463040"/>
            <a:ext cx="10362900" cy="49563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You have a chat app. It runs in a browser.</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The messages live on a server somewhere in a data center.</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Every time someone opens the app, you need to get those messages out of the server and into the browser.</a:t>
            </a:r>
            <a:endParaRPr sz="1800"/>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Every time someone sends one, you need the reverse.</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These two computers have to have a </a:t>
            </a:r>
            <a:r>
              <a:rPr lang="en-US" sz="2400" b="1" i="0" u="none" strike="noStrike" cap="none">
                <a:solidFill>
                  <a:srgbClr val="333344"/>
                </a:solidFill>
                <a:latin typeface="Calibri"/>
                <a:ea typeface="Calibri"/>
                <a:cs typeface="Calibri"/>
                <a:sym typeface="Calibri"/>
              </a:rPr>
              <a:t>conversation</a:t>
            </a:r>
            <a:r>
              <a:rPr lang="en-US" sz="2400" b="0" i="0" u="none" strike="noStrike" cap="none">
                <a:solidFill>
                  <a:srgbClr val="333344"/>
                </a:solidFill>
                <a:latin typeface="Calibri"/>
                <a:ea typeface="Calibri"/>
                <a:cs typeface="Calibri"/>
                <a:sym typeface="Calibri"/>
              </a:rPr>
              <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What does that conversation look like?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Who starts it? Who talks next? What do they say?</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3"/>
        <p:cNvGrpSpPr/>
        <p:nvPr/>
      </p:nvGrpSpPr>
      <p:grpSpPr>
        <a:xfrm>
          <a:off x="0" y="0"/>
          <a:ext cx="0" cy="0"/>
          <a:chOff x="0" y="0"/>
          <a:chExt cx="0" cy="0"/>
        </a:xfrm>
      </p:grpSpPr>
      <p:sp>
        <p:nvSpPr>
          <p:cNvPr id="114" name="Google Shape;114;p4"/>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The network doesn't give you much</a:t>
            </a:r>
            <a:endParaRPr/>
          </a:p>
        </p:txBody>
      </p:sp>
      <p:sp>
        <p:nvSpPr>
          <p:cNvPr id="115" name="Google Shape;115;p4"/>
          <p:cNvSpPr txBox="1"/>
          <p:nvPr/>
        </p:nvSpPr>
        <p:spPr>
          <a:xfrm>
            <a:off x="914400" y="1463040"/>
            <a:ext cx="10362895" cy="49377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At the bottom, the internet is just </a:t>
            </a:r>
            <a:r>
              <a:rPr lang="en-US" sz="2400" b="1" i="0" u="none" strike="noStrike" cap="none">
                <a:solidFill>
                  <a:srgbClr val="333344"/>
                </a:solidFill>
                <a:latin typeface="Calibri"/>
                <a:ea typeface="Calibri"/>
                <a:cs typeface="Calibri"/>
                <a:sym typeface="Calibri"/>
              </a:rPr>
              <a:t>packets</a:t>
            </a:r>
            <a:r>
              <a:rPr lang="en-US" sz="2400" b="0" i="0" u="none" strike="noStrike" cap="none">
                <a:solidFill>
                  <a:srgbClr val="333344"/>
                </a:solidFill>
                <a:latin typeface="Calibri"/>
                <a:ea typeface="Calibri"/>
                <a:cs typeface="Calibri"/>
                <a:sym typeface="Calibri"/>
              </a:rPr>
              <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Small chunks of bytes, each tagged with a destination address.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Packets can be dropped, duplicated, delivered out of order.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There is no 'connection'. There is no 'message'. Just packets.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TCP</a:t>
            </a:r>
            <a:r>
              <a:rPr lang="en-US" sz="2400" b="0" i="0" u="none" strike="noStrike" cap="none">
                <a:solidFill>
                  <a:srgbClr val="333344"/>
                </a:solidFill>
                <a:latin typeface="Calibri"/>
                <a:ea typeface="Calibri"/>
                <a:cs typeface="Calibri"/>
                <a:sym typeface="Calibri"/>
              </a:rPr>
              <a:t> is a layer above packets that gives you reliable byte streams.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Two computers agree to pretend they have a phone line between them.</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TCP handles retransmission, ordering, and flow control underneath.</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That's still not enough. A byte stream is just... bytes.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When does one message end and the next begin?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Who talks first? What counts as a question versus an answer?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How do you say 'I want X' vs 'here is X'?</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0"/>
        <p:cNvGrpSpPr/>
        <p:nvPr/>
      </p:nvGrpSpPr>
      <p:grpSpPr>
        <a:xfrm>
          <a:off x="0" y="0"/>
          <a:ext cx="0" cy="0"/>
          <a:chOff x="0" y="0"/>
          <a:chExt cx="0" cy="0"/>
        </a:xfrm>
      </p:grpSpPr>
      <p:sp>
        <p:nvSpPr>
          <p:cNvPr id="121" name="Google Shape;121;p5"/>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HTTP: a protocol for conversations</a:t>
            </a:r>
            <a:endParaRPr/>
          </a:p>
        </p:txBody>
      </p:sp>
      <p:sp>
        <p:nvSpPr>
          <p:cNvPr id="122" name="Google Shape;122;p5"/>
          <p:cNvSpPr txBox="1"/>
          <p:nvPr/>
        </p:nvSpPr>
        <p:spPr>
          <a:xfrm>
            <a:off x="914400" y="1463040"/>
            <a:ext cx="10362900" cy="5341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HTTP is the set of rules two </a:t>
            </a:r>
            <a:r>
              <a:rPr lang="en-US" sz="2400" i="0" u="none" strike="noStrike" cap="none">
                <a:solidFill>
                  <a:schemeClr val="dk1"/>
                </a:solidFill>
                <a:latin typeface="Calibri"/>
                <a:ea typeface="Calibri"/>
                <a:cs typeface="Calibri"/>
                <a:sym typeface="Calibri"/>
              </a:rPr>
              <a:t>computers use to have a conversation over TCP. It is a </a:t>
            </a:r>
            <a:r>
              <a:rPr lang="en-US" sz="2400" b="1" i="0" u="none" strike="noStrike" cap="none">
                <a:solidFill>
                  <a:schemeClr val="dk1"/>
                </a:solidFill>
                <a:latin typeface="Calibri"/>
                <a:ea typeface="Calibri"/>
                <a:cs typeface="Calibri"/>
                <a:sym typeface="Calibri"/>
              </a:rPr>
              <a:t>request-response</a:t>
            </a:r>
            <a:r>
              <a:rPr lang="en-US" sz="2400" i="0" u="none" strike="noStrike" cap="none">
                <a:solidFill>
                  <a:schemeClr val="dk1"/>
                </a:solidFill>
                <a:latin typeface="Calibri"/>
                <a:ea typeface="Calibri"/>
                <a:cs typeface="Calibri"/>
                <a:sym typeface="Calibri"/>
              </a:rPr>
              <a:t> protocol.</a:t>
            </a:r>
            <a:endParaRPr sz="2400">
              <a:solidFill>
                <a:schemeClr val="dk1"/>
              </a:solidFill>
              <a:latin typeface="Calibri"/>
              <a:ea typeface="Calibri"/>
              <a:cs typeface="Calibri"/>
              <a:sym typeface="Calibri"/>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One side (the </a:t>
            </a:r>
            <a:r>
              <a:rPr lang="en-US" sz="2400" b="1" i="0" u="none" strike="noStrike" cap="none">
                <a:solidFill>
                  <a:srgbClr val="333344"/>
                </a:solidFill>
                <a:latin typeface="Calibri"/>
                <a:ea typeface="Calibri"/>
                <a:cs typeface="Calibri"/>
                <a:sym typeface="Calibri"/>
              </a:rPr>
              <a:t>client</a:t>
            </a:r>
            <a:r>
              <a:rPr lang="en-US" sz="2400" b="0" i="0" u="none" strike="noStrike" cap="none">
                <a:solidFill>
                  <a:srgbClr val="333344"/>
                </a:solidFill>
                <a:latin typeface="Calibri"/>
                <a:ea typeface="Calibri"/>
                <a:cs typeface="Calibri"/>
                <a:sym typeface="Calibri"/>
              </a:rPr>
              <a:t>) sends a request.</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One side (the </a:t>
            </a:r>
            <a:r>
              <a:rPr lang="en-US" sz="2400" b="1" i="0" u="none" strike="noStrike" cap="none">
                <a:solidFill>
                  <a:srgbClr val="333344"/>
                </a:solidFill>
                <a:latin typeface="Calibri"/>
                <a:ea typeface="Calibri"/>
                <a:cs typeface="Calibri"/>
                <a:sym typeface="Calibri"/>
              </a:rPr>
              <a:t>server</a:t>
            </a:r>
            <a:r>
              <a:rPr lang="en-US" sz="2400" b="0" i="0" u="none" strike="noStrike" cap="none">
                <a:solidFill>
                  <a:srgbClr val="333344"/>
                </a:solidFill>
                <a:latin typeface="Calibri"/>
                <a:ea typeface="Calibri"/>
                <a:cs typeface="Calibri"/>
                <a:sym typeface="Calibri"/>
              </a:rPr>
              <a:t>) sends back exactly one response.</a:t>
            </a:r>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Then the conversation is over.</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That's it. That's the protocol.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Every page you load, every API call, every image on the web:</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one request, one response, done.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Everything else today is about what goes </a:t>
            </a:r>
            <a:r>
              <a:rPr lang="en-US" sz="2400" b="1" i="0" u="none" strike="noStrike" cap="none">
                <a:solidFill>
                  <a:srgbClr val="333344"/>
                </a:solidFill>
                <a:latin typeface="Calibri"/>
                <a:ea typeface="Calibri"/>
                <a:cs typeface="Calibri"/>
                <a:sym typeface="Calibri"/>
              </a:rPr>
              <a:t>inside</a:t>
            </a:r>
            <a:r>
              <a:rPr lang="en-US" sz="2400" b="0" i="0" u="none" strike="noStrike" cap="none">
                <a:solidFill>
                  <a:srgbClr val="333344"/>
                </a:solidFill>
                <a:latin typeface="Calibri"/>
                <a:ea typeface="Calibri"/>
                <a:cs typeface="Calibri"/>
                <a:sym typeface="Calibri"/>
              </a:rPr>
              <a:t> that request</a:t>
            </a:r>
            <a:endParaRPr/>
          </a:p>
          <a:p>
            <a:pPr marL="457200" marR="0" lvl="1" indent="0" algn="l" rtl="0">
              <a:spcBef>
                <a:spcPts val="600"/>
              </a:spcBef>
              <a:spcAft>
                <a:spcPts val="0"/>
              </a:spcAft>
              <a:buNone/>
            </a:pP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127"/>
        <p:cNvGrpSpPr/>
        <p:nvPr/>
      </p:nvGrpSpPr>
      <p:grpSpPr>
        <a:xfrm>
          <a:off x="0" y="0"/>
          <a:ext cx="0" cy="0"/>
          <a:chOff x="0" y="0"/>
          <a:chExt cx="0" cy="0"/>
        </a:xfrm>
      </p:grpSpPr>
      <p:sp>
        <p:nvSpPr>
          <p:cNvPr id="128" name="Google Shape;128;p6"/>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The Obvious First Instinct</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3"/>
        <p:cNvGrpSpPr/>
        <p:nvPr/>
      </p:nvGrpSpPr>
      <p:grpSpPr>
        <a:xfrm>
          <a:off x="0" y="0"/>
          <a:ext cx="0" cy="0"/>
          <a:chOff x="0" y="0"/>
          <a:chExt cx="0" cy="0"/>
        </a:xfrm>
      </p:grpSpPr>
      <p:sp>
        <p:nvSpPr>
          <p:cNvPr id="134" name="Google Shape;134;g3d5effa7ec8_1_8"/>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"Just make it feel like a function call"</a:t>
            </a:r>
            <a:endParaRPr/>
          </a:p>
        </p:txBody>
      </p:sp>
      <p:sp>
        <p:nvSpPr>
          <p:cNvPr id="135" name="Google Shape;135;g3d5effa7ec8_1_8"/>
          <p:cNvSpPr txBox="1"/>
          <p:nvPr/>
        </p:nvSpPr>
        <p:spPr>
          <a:xfrm>
            <a:off x="914400" y="1463040"/>
            <a:ext cx="10362900" cy="3109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The tempting move: make a network call look like a local function call.</a:t>
            </a:r>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 On the client</a:t>
            </a:r>
            <a:endParaRPr b="1">
              <a:latin typeface="Courier Prime"/>
              <a:ea typeface="Courier Prime"/>
              <a:cs typeface="Courier Prime"/>
              <a:sym typeface="Courier Prime"/>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user = get_user(42)</a:t>
            </a:r>
            <a:endParaRPr b="1">
              <a:latin typeface="Courier Prime"/>
              <a:ea typeface="Courier Prime"/>
              <a:cs typeface="Courier Prime"/>
              <a:sym typeface="Courier Prime"/>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send_message(channel="general", text="hi")</a:t>
            </a:r>
            <a:endParaRPr b="1">
              <a:latin typeface="Courier Prime"/>
              <a:ea typeface="Courier Prime"/>
              <a:cs typeface="Courier Prime"/>
              <a:sym typeface="Courier Prime"/>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Somewhere on the server, those functions really ru</a:t>
            </a:r>
            <a:r>
              <a:rPr lang="en-US" sz="2400" b="0" i="0" u="none" strike="noStrike" cap="none">
                <a:solidFill>
                  <a:schemeClr val="dk1"/>
                </a:solidFill>
                <a:latin typeface="Calibri"/>
                <a:ea typeface="Calibri"/>
                <a:cs typeface="Calibri"/>
                <a:sym typeface="Calibri"/>
              </a:rPr>
              <a:t>n,</a:t>
            </a:r>
            <a:r>
              <a:rPr lang="en-US" sz="2400">
                <a:solidFill>
                  <a:schemeClr val="dk1"/>
                </a:solidFill>
              </a:rPr>
              <a:t> </a:t>
            </a:r>
            <a:r>
              <a:rPr lang="en-US" sz="2400" b="0" i="0" u="none" strike="noStrike" cap="none">
                <a:solidFill>
                  <a:schemeClr val="dk1"/>
                </a:solidFill>
                <a:latin typeface="Calibri"/>
                <a:ea typeface="Calibri"/>
                <a:cs typeface="Calibri"/>
                <a:sym typeface="Calibri"/>
              </a:rPr>
              <a:t>and the answer comes back as if nothing weird happened.</a:t>
            </a:r>
            <a:endParaRPr sz="2400">
              <a:solidFill>
                <a:schemeClr val="dk1"/>
              </a:solidFill>
            </a:endParaRPr>
          </a:p>
          <a:p>
            <a:pPr marL="457200" marR="0" lvl="1" indent="0" algn="l" rtl="0">
              <a:spcBef>
                <a:spcPts val="600"/>
              </a:spcBef>
              <a:spcAft>
                <a:spcPts val="0"/>
              </a:spcAft>
              <a:buNone/>
            </a:pPr>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0"/>
        <p:cNvGrpSpPr/>
        <p:nvPr/>
      </p:nvGrpSpPr>
      <p:grpSpPr>
        <a:xfrm>
          <a:off x="0" y="0"/>
          <a:ext cx="0" cy="0"/>
          <a:chOff x="0" y="0"/>
          <a:chExt cx="0" cy="0"/>
        </a:xfrm>
      </p:grpSpPr>
      <p:sp>
        <p:nvSpPr>
          <p:cNvPr id="141" name="Google Shape;141;p7"/>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"Just make it feel like a function call"</a:t>
            </a:r>
            <a:endParaRPr/>
          </a:p>
        </p:txBody>
      </p:sp>
      <p:sp>
        <p:nvSpPr>
          <p:cNvPr id="142" name="Google Shape;142;p7"/>
          <p:cNvSpPr txBox="1"/>
          <p:nvPr/>
        </p:nvSpPr>
        <p:spPr>
          <a:xfrm>
            <a:off x="914400" y="1463040"/>
            <a:ext cx="10362900" cy="4325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The tempting move: make a network call look like a local function call.</a:t>
            </a:r>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 On the client</a:t>
            </a:r>
            <a:endParaRPr b="1">
              <a:latin typeface="Courier Prime"/>
              <a:ea typeface="Courier Prime"/>
              <a:cs typeface="Courier Prime"/>
              <a:sym typeface="Courier Prime"/>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user = get_user(42)</a:t>
            </a:r>
            <a:endParaRPr b="1">
              <a:latin typeface="Courier Prime"/>
              <a:ea typeface="Courier Prime"/>
              <a:cs typeface="Courier Prime"/>
              <a:sym typeface="Courier Prime"/>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send_message(channel="general", text="hi")</a:t>
            </a:r>
            <a:endParaRPr b="1">
              <a:latin typeface="Courier Prime"/>
              <a:ea typeface="Courier Prime"/>
              <a:cs typeface="Courier Prime"/>
              <a:sym typeface="Courier Prime"/>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Somewhere on the server, those functions really ru</a:t>
            </a:r>
            <a:r>
              <a:rPr lang="en-US" sz="2400" b="0" i="0" u="none" strike="noStrike" cap="none">
                <a:solidFill>
                  <a:schemeClr val="dk1"/>
                </a:solidFill>
                <a:latin typeface="Calibri"/>
                <a:ea typeface="Calibri"/>
                <a:cs typeface="Calibri"/>
                <a:sym typeface="Calibri"/>
              </a:rPr>
              <a:t>n,</a:t>
            </a:r>
            <a:r>
              <a:rPr lang="en-US" sz="2400">
                <a:solidFill>
                  <a:schemeClr val="dk1"/>
                </a:solidFill>
              </a:rPr>
              <a:t> </a:t>
            </a:r>
            <a:r>
              <a:rPr lang="en-US" sz="2400" b="0" i="0" u="none" strike="noStrike" cap="none">
                <a:solidFill>
                  <a:schemeClr val="dk1"/>
                </a:solidFill>
                <a:latin typeface="Calibri"/>
                <a:ea typeface="Calibri"/>
                <a:cs typeface="Calibri"/>
                <a:sym typeface="Calibri"/>
              </a:rPr>
              <a:t>and the answer comes back as if nothing weird happened.</a:t>
            </a:r>
            <a:endParaRPr sz="2400">
              <a:solidFill>
                <a:schemeClr val="dk1"/>
              </a:solidFill>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This idea has a name: </a:t>
            </a:r>
            <a:r>
              <a:rPr lang="en-US" sz="2400" b="1" i="0" u="none" strike="noStrike" cap="none">
                <a:solidFill>
                  <a:srgbClr val="333344"/>
                </a:solidFill>
                <a:latin typeface="Calibri"/>
                <a:ea typeface="Calibri"/>
                <a:cs typeface="Calibri"/>
                <a:sym typeface="Calibri"/>
              </a:rPr>
              <a:t>RPC</a:t>
            </a:r>
            <a:r>
              <a:rPr lang="en-US" sz="2400" b="0" i="0" u="none" strike="noStrike" cap="none">
                <a:solidFill>
                  <a:srgbClr val="333344"/>
                </a:solidFill>
                <a:latin typeface="Calibri"/>
                <a:ea typeface="Calibri"/>
                <a:cs typeface="Calibri"/>
                <a:sym typeface="Calibri"/>
              </a:rPr>
              <a:t>, for Remote Procedure Call.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People have tried variations of it since the 1980s.</a:t>
            </a:r>
            <a:endParaRPr/>
          </a:p>
          <a:p>
            <a:pPr marL="457200" marR="0" lvl="1" indent="0" algn="l" rtl="0">
              <a:spcBef>
                <a:spcPts val="600"/>
              </a:spcBef>
              <a:spcAft>
                <a:spcPts val="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7"/>
        <p:cNvGrpSpPr/>
        <p:nvPr/>
      </p:nvGrpSpPr>
      <p:grpSpPr>
        <a:xfrm>
          <a:off x="0" y="0"/>
          <a:ext cx="0" cy="0"/>
          <a:chOff x="0" y="0"/>
          <a:chExt cx="0" cy="0"/>
        </a:xfrm>
      </p:grpSpPr>
      <p:sp>
        <p:nvSpPr>
          <p:cNvPr id="148" name="Google Shape;148;g3d5effa7ec8_1_322"/>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breaks when you build on RPC</a:t>
            </a:r>
            <a:endParaRPr/>
          </a:p>
        </p:txBody>
      </p:sp>
      <p:sp>
        <p:nvSpPr>
          <p:cNvPr id="149" name="Google Shape;149;g3d5effa7ec8_1_322"/>
          <p:cNvSpPr txBox="1"/>
          <p:nvPr/>
        </p:nvSpPr>
        <p:spPr>
          <a:xfrm>
            <a:off x="914400" y="1463040"/>
            <a:ext cx="10362900" cy="1908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44"/>
                </a:solidFill>
                <a:latin typeface="Calibri"/>
                <a:ea typeface="Calibri"/>
                <a:cs typeface="Calibri"/>
                <a:sym typeface="Calibri"/>
              </a:rPr>
              <a:t>1. Tight coupling.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client has to know exactly what functions the server exposes,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with exactly the right argument names and types.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Rename one argument on the server and every client in the world breaks.</a:t>
            </a:r>
            <a:endParaRPr/>
          </a:p>
          <a:p>
            <a:pPr marL="457200" marR="0" lvl="1" indent="0" algn="l" rtl="0">
              <a:spcBef>
                <a:spcPts val="600"/>
              </a:spcBef>
              <a:spcAft>
                <a:spcPts val="0"/>
              </a:spcAft>
              <a:buNone/>
            </a:pP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4"/>
        <p:cNvGrpSpPr/>
        <p:nvPr/>
      </p:nvGrpSpPr>
      <p:grpSpPr>
        <a:xfrm>
          <a:off x="0" y="0"/>
          <a:ext cx="0" cy="0"/>
          <a:chOff x="0" y="0"/>
          <a:chExt cx="0" cy="0"/>
        </a:xfrm>
      </p:grpSpPr>
      <p:sp>
        <p:nvSpPr>
          <p:cNvPr id="155" name="Google Shape;155;g3d5effa7ec8_1_328"/>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breaks when you build on RPC</a:t>
            </a:r>
            <a:endParaRPr/>
          </a:p>
        </p:txBody>
      </p:sp>
      <p:sp>
        <p:nvSpPr>
          <p:cNvPr id="156" name="Google Shape;156;g3d5effa7ec8_1_328"/>
          <p:cNvSpPr txBox="1"/>
          <p:nvPr/>
        </p:nvSpPr>
        <p:spPr>
          <a:xfrm>
            <a:off x="914400" y="1463040"/>
            <a:ext cx="10362900" cy="3509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44"/>
                </a:solidFill>
                <a:latin typeface="Calibri"/>
                <a:ea typeface="Calibri"/>
                <a:cs typeface="Calibri"/>
                <a:sym typeface="Calibri"/>
              </a:rPr>
              <a:t>1. Tight coupling.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client has to know exactly what functions the server exposes,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with exactly the right argument names and types.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Rename one argument on the server and every client in the world breaks.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2. Verb proliferation.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Every team invents their own names: getUser, fetchUser, loadUser,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readUserById, retrieveUserRecord. No shared vocabulary.</a:t>
            </a:r>
            <a:endParaRPr/>
          </a:p>
          <a:p>
            <a:pPr marL="457200" marR="0" lvl="1" indent="0" algn="l" rtl="0">
              <a:spcBef>
                <a:spcPts val="600"/>
              </a:spcBef>
              <a:spcAft>
                <a:spcPts val="0"/>
              </a:spcAft>
              <a:buNone/>
            </a:pP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1"/>
        <p:cNvGrpSpPr/>
        <p:nvPr/>
      </p:nvGrpSpPr>
      <p:grpSpPr>
        <a:xfrm>
          <a:off x="0" y="0"/>
          <a:ext cx="0" cy="0"/>
          <a:chOff x="0" y="0"/>
          <a:chExt cx="0" cy="0"/>
        </a:xfrm>
      </p:grpSpPr>
      <p:sp>
        <p:nvSpPr>
          <p:cNvPr id="162" name="Google Shape;162;p8"/>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breaks when you build on RPC</a:t>
            </a:r>
            <a:endParaRPr/>
          </a:p>
        </p:txBody>
      </p:sp>
      <p:sp>
        <p:nvSpPr>
          <p:cNvPr id="163" name="Google Shape;163;p8"/>
          <p:cNvSpPr txBox="1"/>
          <p:nvPr/>
        </p:nvSpPr>
        <p:spPr>
          <a:xfrm>
            <a:off x="914400" y="1463040"/>
            <a:ext cx="10362900" cy="5202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44"/>
                </a:solidFill>
                <a:latin typeface="Calibri"/>
                <a:ea typeface="Calibri"/>
                <a:cs typeface="Calibri"/>
                <a:sym typeface="Calibri"/>
              </a:rPr>
              <a:t>1. Tight coupling.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client has to know exactly what functions the server exposes,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with exactly the right argument names and types.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Rename one argument on the server and every client in the world breaks.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2. Verb proliferation.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Every team invents their own names: getUser, fetchUser, loadUser,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readUserById, retrieveUserRecord. No shared vocabulary.</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3. Hidden state.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"Remember that I'm logged in." "Remember my cart." "Remember what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page of results I was on." The server accumulates memory about each</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client, and now you can't just spin up a second server.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168"/>
        <p:cNvGrpSpPr/>
        <p:nvPr/>
      </p:nvGrpSpPr>
      <p:grpSpPr>
        <a:xfrm>
          <a:off x="0" y="0"/>
          <a:ext cx="0" cy="0"/>
          <a:chOff x="0" y="0"/>
          <a:chExt cx="0" cy="0"/>
        </a:xfrm>
      </p:grpSpPr>
      <p:sp>
        <p:nvSpPr>
          <p:cNvPr id="169" name="Google Shape;169;p9"/>
          <p:cNvSpPr txBox="1"/>
          <p:nvPr/>
        </p:nvSpPr>
        <p:spPr>
          <a:xfrm>
            <a:off x="5303520" y="457200"/>
            <a:ext cx="1584655" cy="13716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200" b="1" i="0" u="none" strike="noStrike" cap="none">
                <a:solidFill>
                  <a:srgbClr val="5B21B6"/>
                </a:solidFill>
                <a:latin typeface="Calibri"/>
                <a:ea typeface="Calibri"/>
                <a:cs typeface="Calibri"/>
                <a:sym typeface="Calibri"/>
              </a:rPr>
              <a:t>?</a:t>
            </a:r>
            <a:endParaRPr/>
          </a:p>
        </p:txBody>
      </p:sp>
      <p:sp>
        <p:nvSpPr>
          <p:cNvPr id="170" name="Google Shape;170;p9"/>
          <p:cNvSpPr txBox="1"/>
          <p:nvPr/>
        </p:nvSpPr>
        <p:spPr>
          <a:xfrm>
            <a:off x="1371600" y="2011680"/>
            <a:ext cx="9448500" cy="6156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400" b="1" i="0" u="none" strike="noStrike" cap="none">
                <a:solidFill>
                  <a:srgbClr val="1A1A2E"/>
                </a:solidFill>
                <a:latin typeface="Calibri"/>
                <a:ea typeface="Calibri"/>
                <a:cs typeface="Calibri"/>
                <a:sym typeface="Calibri"/>
              </a:rPr>
              <a:t>Design the protocol for </a:t>
            </a:r>
            <a:r>
              <a:rPr lang="en-US" sz="3400" b="1">
                <a:solidFill>
                  <a:srgbClr val="1A1A2E"/>
                </a:solidFill>
                <a:latin typeface="Calibri"/>
                <a:ea typeface="Calibri"/>
                <a:cs typeface="Calibri"/>
                <a:sym typeface="Calibri"/>
              </a:rPr>
              <a:t>a</a:t>
            </a:r>
            <a:r>
              <a:rPr lang="en-US" sz="3400" b="1" i="0" u="none" strike="noStrike" cap="none">
                <a:solidFill>
                  <a:srgbClr val="1A1A2E"/>
                </a:solidFill>
                <a:latin typeface="Calibri"/>
                <a:ea typeface="Calibri"/>
                <a:cs typeface="Calibri"/>
                <a:sym typeface="Calibri"/>
              </a:rPr>
              <a:t> chat app yourself.</a:t>
            </a:r>
            <a:endParaRPr/>
          </a:p>
        </p:txBody>
      </p:sp>
      <p:sp>
        <p:nvSpPr>
          <p:cNvPr id="171" name="Google Shape;171;p9"/>
          <p:cNvSpPr txBox="1"/>
          <p:nvPr/>
        </p:nvSpPr>
        <p:spPr>
          <a:xfrm>
            <a:off x="1828800" y="4572000"/>
            <a:ext cx="8534100" cy="14469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2200" b="0" i="0" u="none" strike="noStrike" cap="none">
                <a:solidFill>
                  <a:srgbClr val="666677"/>
                </a:solidFill>
                <a:latin typeface="Calibri"/>
                <a:ea typeface="Calibri"/>
                <a:cs typeface="Calibri"/>
                <a:sym typeface="Calibri"/>
              </a:rPr>
              <a:t>How would you handle: getting the last 20 messages in #general, posting a new message, and deleting one you regret? What do you call things? How do you say what you want to do? What does the server have to remember between your requests?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6"/>
        <p:cNvGrpSpPr/>
        <p:nvPr/>
      </p:nvGrpSpPr>
      <p:grpSpPr>
        <a:xfrm>
          <a:off x="0" y="0"/>
          <a:ext cx="0" cy="0"/>
          <a:chOff x="0" y="0"/>
          <a:chExt cx="0" cy="0"/>
        </a:xfrm>
      </p:grpSpPr>
      <p:sp>
        <p:nvSpPr>
          <p:cNvPr id="177" name="Google Shape;177;g3d5effa7ec8_1_360"/>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Somebody already had this argument</a:t>
            </a:r>
            <a:endParaRPr/>
          </a:p>
        </p:txBody>
      </p:sp>
      <p:sp>
        <p:nvSpPr>
          <p:cNvPr id="178" name="Google Shape;178;g3d5effa7ec8_1_360"/>
          <p:cNvSpPr txBox="1"/>
          <p:nvPr/>
        </p:nvSpPr>
        <p:spPr>
          <a:xfrm>
            <a:off x="914400" y="1463040"/>
            <a:ext cx="10362900" cy="2816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In 2000, a researcher named </a:t>
            </a:r>
            <a:r>
              <a:rPr lang="en-US" sz="2400" b="1" i="0" u="none" strike="noStrike" cap="none">
                <a:solidFill>
                  <a:srgbClr val="333344"/>
                </a:solidFill>
                <a:latin typeface="Calibri"/>
                <a:ea typeface="Calibri"/>
                <a:cs typeface="Calibri"/>
                <a:sym typeface="Calibri"/>
              </a:rPr>
              <a:t>Roy Fielding </a:t>
            </a:r>
            <a:r>
              <a:rPr lang="en-US" sz="2400">
                <a:solidFill>
                  <a:srgbClr val="333344"/>
                </a:solidFill>
                <a:latin typeface="Calibri"/>
                <a:ea typeface="Calibri"/>
                <a:cs typeface="Calibri"/>
                <a:sym typeface="Calibri"/>
              </a:rPr>
              <a:t>(co-author of HTTP)</a:t>
            </a:r>
            <a:endParaRPr sz="2400">
              <a:solidFill>
                <a:srgbClr val="333344"/>
              </a:solidFill>
              <a:latin typeface="Calibri"/>
              <a:ea typeface="Calibri"/>
              <a:cs typeface="Calibri"/>
              <a:sym typeface="Calibri"/>
            </a:endParaRPr>
          </a:p>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 wrote a dissertatio</a:t>
            </a:r>
            <a:r>
              <a:rPr lang="en-US" sz="2400">
                <a:solidFill>
                  <a:srgbClr val="333344"/>
                </a:solidFill>
                <a:latin typeface="Calibri"/>
                <a:ea typeface="Calibri"/>
                <a:cs typeface="Calibri"/>
                <a:sym typeface="Calibri"/>
              </a:rPr>
              <a:t>n about this problem.</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His observation: </a:t>
            </a:r>
            <a:r>
              <a:rPr lang="en-US" sz="2400" b="1" i="0" u="none" strike="noStrike" cap="none">
                <a:solidFill>
                  <a:srgbClr val="333344"/>
                </a:solidFill>
                <a:latin typeface="Calibri"/>
                <a:ea typeface="Calibri"/>
                <a:cs typeface="Calibri"/>
                <a:sym typeface="Calibri"/>
              </a:rPr>
              <a:t>the web already works.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Billions of documents. Billions of browsers.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Never goes down for maintenance, s</a:t>
            </a:r>
            <a:r>
              <a:rPr lang="en-US" sz="2000" b="0" i="0" u="none" strike="noStrike" cap="none">
                <a:solidFill>
                  <a:srgbClr val="666677"/>
                </a:solidFill>
                <a:latin typeface="Calibri"/>
                <a:ea typeface="Calibri"/>
                <a:cs typeface="Calibri"/>
                <a:sym typeface="Calibri"/>
              </a:rPr>
              <a:t>ervers come and go.</a:t>
            </a:r>
            <a:endParaRPr sz="2000">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endParaRPr/>
          </a:p>
        </p:txBody>
      </p:sp>
      <p:pic>
        <p:nvPicPr>
          <p:cNvPr id="179" name="Google Shape;179;g3d5effa7ec8_1_360"/>
          <p:cNvPicPr preferRelativeResize="0"/>
          <p:nvPr/>
        </p:nvPicPr>
        <p:blipFill>
          <a:blip r:embed="rId3">
            <a:alphaModFix/>
          </a:blip>
          <a:stretch>
            <a:fillRect/>
          </a:stretch>
        </p:blipFill>
        <p:spPr>
          <a:xfrm>
            <a:off x="8970069" y="575750"/>
            <a:ext cx="2848125" cy="345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84"/>
        <p:cNvGrpSpPr/>
        <p:nvPr/>
      </p:nvGrpSpPr>
      <p:grpSpPr>
        <a:xfrm>
          <a:off x="0" y="0"/>
          <a:ext cx="0" cy="0"/>
          <a:chOff x="0" y="0"/>
          <a:chExt cx="0" cy="0"/>
        </a:xfrm>
      </p:grpSpPr>
      <p:sp>
        <p:nvSpPr>
          <p:cNvPr id="185" name="Google Shape;185;p11"/>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Somebody already had this argument</a:t>
            </a:r>
            <a:endParaRPr/>
          </a:p>
        </p:txBody>
      </p:sp>
      <p:sp>
        <p:nvSpPr>
          <p:cNvPr id="186" name="Google Shape;186;p11"/>
          <p:cNvSpPr txBox="1"/>
          <p:nvPr/>
        </p:nvSpPr>
        <p:spPr>
          <a:xfrm>
            <a:off x="914400" y="1463040"/>
            <a:ext cx="10362900" cy="4863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In 2000, a researcher named </a:t>
            </a:r>
            <a:r>
              <a:rPr lang="en-US" sz="2400" b="1" i="0" u="none" strike="noStrike" cap="none">
                <a:solidFill>
                  <a:srgbClr val="333344"/>
                </a:solidFill>
                <a:latin typeface="Calibri"/>
                <a:ea typeface="Calibri"/>
                <a:cs typeface="Calibri"/>
                <a:sym typeface="Calibri"/>
              </a:rPr>
              <a:t>Roy Fielding </a:t>
            </a:r>
            <a:r>
              <a:rPr lang="en-US" sz="2400">
                <a:solidFill>
                  <a:srgbClr val="333344"/>
                </a:solidFill>
                <a:latin typeface="Calibri"/>
                <a:ea typeface="Calibri"/>
                <a:cs typeface="Calibri"/>
                <a:sym typeface="Calibri"/>
              </a:rPr>
              <a:t>(co-author of HTTP)</a:t>
            </a:r>
            <a:endParaRPr sz="2400">
              <a:solidFill>
                <a:srgbClr val="333344"/>
              </a:solidFill>
              <a:latin typeface="Calibri"/>
              <a:ea typeface="Calibri"/>
              <a:cs typeface="Calibri"/>
              <a:sym typeface="Calibri"/>
            </a:endParaRPr>
          </a:p>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 wrote a dissertatio</a:t>
            </a:r>
            <a:r>
              <a:rPr lang="en-US" sz="2400">
                <a:solidFill>
                  <a:srgbClr val="333344"/>
                </a:solidFill>
                <a:latin typeface="Calibri"/>
                <a:ea typeface="Calibri"/>
                <a:cs typeface="Calibri"/>
                <a:sym typeface="Calibri"/>
              </a:rPr>
              <a:t>n about this problem.</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His observation: </a:t>
            </a:r>
            <a:r>
              <a:rPr lang="en-US" sz="2400" b="1" i="0" u="none" strike="noStrike" cap="none">
                <a:solidFill>
                  <a:srgbClr val="333344"/>
                </a:solidFill>
                <a:latin typeface="Calibri"/>
                <a:ea typeface="Calibri"/>
                <a:cs typeface="Calibri"/>
                <a:sym typeface="Calibri"/>
              </a:rPr>
              <a:t>the web already works.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Billions of documents. Billions of browsers.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a:solidFill>
                  <a:srgbClr val="666677"/>
                </a:solidFill>
                <a:latin typeface="Calibri"/>
                <a:ea typeface="Calibri"/>
                <a:cs typeface="Calibri"/>
                <a:sym typeface="Calibri"/>
              </a:rPr>
              <a:t>Never goes down for maintenance, s</a:t>
            </a:r>
            <a:r>
              <a:rPr lang="en-US" sz="2000" b="0" i="0" u="none" strike="noStrike" cap="none">
                <a:solidFill>
                  <a:srgbClr val="666677"/>
                </a:solidFill>
                <a:latin typeface="Calibri"/>
                <a:ea typeface="Calibri"/>
                <a:cs typeface="Calibri"/>
                <a:sym typeface="Calibri"/>
              </a:rPr>
              <a:t>ervers come and go.</a:t>
            </a:r>
            <a:endParaRPr sz="2000">
              <a:solidFill>
                <a:srgbClr val="666677"/>
              </a:solidFill>
              <a:latin typeface="Calibri"/>
              <a:ea typeface="Calibri"/>
              <a:cs typeface="Calibri"/>
              <a:sym typeface="Calibri"/>
            </a:endParaRPr>
          </a:p>
          <a:p>
            <a:pPr marL="457200" marR="0" lvl="1" indent="0" algn="l" rtl="0">
              <a:spcBef>
                <a:spcPts val="600"/>
              </a:spcBef>
              <a:spcAft>
                <a:spcPts val="0"/>
              </a:spcAft>
              <a:buNone/>
            </a:pPr>
            <a:endParaRPr sz="2000">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Whatever design the web uses, copy it.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Don't invent a new architecture for APIs</a:t>
            </a:r>
            <a:r>
              <a:rPr lang="en-US" sz="2000">
                <a:solidFill>
                  <a:srgbClr val="666677"/>
                </a:solidFill>
                <a:latin typeface="Calibri"/>
                <a:ea typeface="Calibri"/>
                <a:cs typeface="Calibri"/>
                <a:sym typeface="Calibri"/>
              </a:rPr>
              <a:t>; take one that already scales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He called the result </a:t>
            </a:r>
            <a:r>
              <a:rPr lang="en-US" sz="2400" b="1" i="0" u="none" strike="noStrike" cap="none">
                <a:solidFill>
                  <a:srgbClr val="333344"/>
                </a:solidFill>
                <a:latin typeface="Calibri"/>
                <a:ea typeface="Calibri"/>
                <a:cs typeface="Calibri"/>
                <a:sym typeface="Calibri"/>
              </a:rPr>
              <a:t>REST</a:t>
            </a:r>
            <a:r>
              <a:rPr lang="en-US" sz="2400" b="0" i="0" u="none" strike="noStrike" cap="none">
                <a:solidFill>
                  <a:srgbClr val="333344"/>
                </a:solidFill>
                <a:latin typeface="Calibri"/>
                <a:ea typeface="Calibri"/>
                <a:cs typeface="Calibri"/>
                <a:sym typeface="Calibri"/>
              </a:rPr>
              <a:t>: Representational State Transfer.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endParaRPr/>
          </a:p>
        </p:txBody>
      </p:sp>
      <p:pic>
        <p:nvPicPr>
          <p:cNvPr id="187" name="Google Shape;187;p11"/>
          <p:cNvPicPr preferRelativeResize="0"/>
          <p:nvPr/>
        </p:nvPicPr>
        <p:blipFill>
          <a:blip r:embed="rId3">
            <a:alphaModFix/>
          </a:blip>
          <a:stretch>
            <a:fillRect/>
          </a:stretch>
        </p:blipFill>
        <p:spPr>
          <a:xfrm>
            <a:off x="8970069" y="575750"/>
            <a:ext cx="2848125" cy="34535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2"/>
        <p:cNvGrpSpPr/>
        <p:nvPr/>
      </p:nvGrpSpPr>
      <p:grpSpPr>
        <a:xfrm>
          <a:off x="0" y="0"/>
          <a:ext cx="0" cy="0"/>
          <a:chOff x="0" y="0"/>
          <a:chExt cx="0" cy="0"/>
        </a:xfrm>
      </p:grpSpPr>
      <p:sp>
        <p:nvSpPr>
          <p:cNvPr id="193" name="Google Shape;193;g3d5effa7ec8_1_346"/>
          <p:cNvSpPr txBox="1"/>
          <p:nvPr/>
        </p:nvSpPr>
        <p:spPr>
          <a:xfrm>
            <a:off x="731520" y="365760"/>
            <a:ext cx="10728600" cy="12006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Font typeface="Arial"/>
              <a:buNone/>
            </a:pPr>
            <a:r>
              <a:rPr lang="en-US" sz="3600" b="1">
                <a:solidFill>
                  <a:srgbClr val="1A1A2E"/>
                </a:solidFill>
                <a:latin typeface="Calibri"/>
                <a:ea typeface="Calibri"/>
                <a:cs typeface="Calibri"/>
                <a:sym typeface="Calibri"/>
              </a:rPr>
              <a:t>Four principles to live by</a:t>
            </a:r>
            <a:endParaRPr>
              <a:solidFill>
                <a:schemeClr val="dk1"/>
              </a:solidFill>
            </a:endParaRPr>
          </a:p>
          <a:p>
            <a:pPr marL="0" marR="0" lvl="0" indent="0" algn="l" rtl="0">
              <a:spcBef>
                <a:spcPts val="0"/>
              </a:spcBef>
              <a:spcAft>
                <a:spcPts val="0"/>
              </a:spcAft>
              <a:buNone/>
            </a:pPr>
            <a:endParaRPr sz="3600" b="1">
              <a:solidFill>
                <a:srgbClr val="1A1A2E"/>
              </a:solidFill>
              <a:latin typeface="Calibri"/>
              <a:ea typeface="Calibri"/>
              <a:cs typeface="Calibri"/>
              <a:sym typeface="Calibri"/>
            </a:endParaRPr>
          </a:p>
        </p:txBody>
      </p:sp>
      <p:sp>
        <p:nvSpPr>
          <p:cNvPr id="194" name="Google Shape;194;g3d5effa7ec8_1_346"/>
          <p:cNvSpPr txBox="1"/>
          <p:nvPr/>
        </p:nvSpPr>
        <p:spPr>
          <a:xfrm>
            <a:off x="914400" y="1094590"/>
            <a:ext cx="10362900" cy="1523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44"/>
                </a:solidFill>
                <a:latin typeface="Calibri"/>
                <a:ea typeface="Calibri"/>
                <a:cs typeface="Calibri"/>
                <a:sym typeface="Calibri"/>
              </a:rPr>
              <a:t>Uniform interface.</a:t>
            </a:r>
            <a:r>
              <a:rPr lang="en-US" sz="2400" b="0" i="0" u="none" strike="noStrike" cap="none">
                <a:solidFill>
                  <a:srgbClr val="333344"/>
                </a:solidFill>
                <a:latin typeface="Calibri"/>
                <a:ea typeface="Calibri"/>
                <a:cs typeface="Calibri"/>
                <a:sym typeface="Calibri"/>
              </a:rPr>
              <a:t> Everyone uses the same small set of verbs.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No custom getUser/fetchUser/loadUser nonsense.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 client written today still works tomorrow.</a:t>
            </a:r>
            <a:endParaRPr/>
          </a:p>
          <a:p>
            <a:pPr marL="457200" marR="0" lvl="1" indent="0" algn="l" rtl="0">
              <a:spcBef>
                <a:spcPts val="600"/>
              </a:spcBef>
              <a:spcAft>
                <a:spcPts val="0"/>
              </a:spcAft>
              <a:buNone/>
            </a:pP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9"/>
        <p:cNvGrpSpPr/>
        <p:nvPr/>
      </p:nvGrpSpPr>
      <p:grpSpPr>
        <a:xfrm>
          <a:off x="0" y="0"/>
          <a:ext cx="0" cy="0"/>
          <a:chOff x="0" y="0"/>
          <a:chExt cx="0" cy="0"/>
        </a:xfrm>
      </p:grpSpPr>
      <p:sp>
        <p:nvSpPr>
          <p:cNvPr id="200" name="Google Shape;200;g3d5effa7ec8_1_352"/>
          <p:cNvSpPr txBox="1"/>
          <p:nvPr/>
        </p:nvSpPr>
        <p:spPr>
          <a:xfrm>
            <a:off x="731520" y="365760"/>
            <a:ext cx="10728600" cy="17547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None/>
            </a:pPr>
            <a:r>
              <a:rPr lang="en-US" sz="3600" b="1">
                <a:solidFill>
                  <a:srgbClr val="1A1A2E"/>
                </a:solidFill>
                <a:latin typeface="Calibri"/>
                <a:ea typeface="Calibri"/>
                <a:cs typeface="Calibri"/>
                <a:sym typeface="Calibri"/>
              </a:rPr>
              <a:t>Four principles to live by</a:t>
            </a:r>
            <a:endParaRPr>
              <a:solidFill>
                <a:schemeClr val="dk1"/>
              </a:solidFill>
            </a:endParaRPr>
          </a:p>
          <a:p>
            <a:pPr marL="0" lvl="0" indent="0" algn="l" rtl="0">
              <a:spcBef>
                <a:spcPts val="0"/>
              </a:spcBef>
              <a:spcAft>
                <a:spcPts val="0"/>
              </a:spcAft>
              <a:buClr>
                <a:schemeClr val="dk1"/>
              </a:buClr>
              <a:buFont typeface="Arial"/>
              <a:buNone/>
            </a:pPr>
            <a:endParaRPr sz="3600" b="1">
              <a:solidFill>
                <a:srgbClr val="1A1A2E"/>
              </a:solidFill>
              <a:latin typeface="Calibri"/>
              <a:ea typeface="Calibri"/>
              <a:cs typeface="Calibri"/>
              <a:sym typeface="Calibri"/>
            </a:endParaRPr>
          </a:p>
          <a:p>
            <a:pPr marL="0" marR="0" lvl="0" indent="0" algn="l" rtl="0">
              <a:spcBef>
                <a:spcPts val="0"/>
              </a:spcBef>
              <a:spcAft>
                <a:spcPts val="0"/>
              </a:spcAft>
              <a:buNone/>
            </a:pPr>
            <a:endParaRPr sz="3600" b="1">
              <a:solidFill>
                <a:srgbClr val="1A1A2E"/>
              </a:solidFill>
              <a:latin typeface="Calibri"/>
              <a:ea typeface="Calibri"/>
              <a:cs typeface="Calibri"/>
              <a:sym typeface="Calibri"/>
            </a:endParaRPr>
          </a:p>
        </p:txBody>
      </p:sp>
      <p:sp>
        <p:nvSpPr>
          <p:cNvPr id="201" name="Google Shape;201;g3d5effa7ec8_1_352"/>
          <p:cNvSpPr txBox="1"/>
          <p:nvPr/>
        </p:nvSpPr>
        <p:spPr>
          <a:xfrm>
            <a:off x="914400" y="1094590"/>
            <a:ext cx="10362900" cy="3124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44"/>
                </a:solidFill>
                <a:latin typeface="Calibri"/>
                <a:ea typeface="Calibri"/>
                <a:cs typeface="Calibri"/>
                <a:sym typeface="Calibri"/>
              </a:rPr>
              <a:t>Uniform interface.</a:t>
            </a:r>
            <a:r>
              <a:rPr lang="en-US" sz="2400" b="0" i="0" u="none" strike="noStrike" cap="none">
                <a:solidFill>
                  <a:srgbClr val="333344"/>
                </a:solidFill>
                <a:latin typeface="Calibri"/>
                <a:ea typeface="Calibri"/>
                <a:cs typeface="Calibri"/>
                <a:sym typeface="Calibri"/>
              </a:rPr>
              <a:t> Everyone uses the same small set of verbs.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No custom getUser/fetchUser/loadUser nonsense.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 client written today still works tomorrow.</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Stateless.</a:t>
            </a:r>
            <a:r>
              <a:rPr lang="en-US" sz="2400" b="0" i="0" u="none" strike="noStrike" cap="none">
                <a:solidFill>
                  <a:srgbClr val="333344"/>
                </a:solidFill>
                <a:latin typeface="Calibri"/>
                <a:ea typeface="Calibri"/>
                <a:cs typeface="Calibri"/>
                <a:sym typeface="Calibri"/>
              </a:rPr>
              <a:t> Every request is self-contained.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server doesn't remember you between requests.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If it crashes mid-conversation, the next server just picks up.</a:t>
            </a:r>
            <a:endParaRPr/>
          </a:p>
          <a:p>
            <a:pPr marL="457200" marR="0" lvl="1" indent="0" algn="l" rtl="0">
              <a:spcBef>
                <a:spcPts val="600"/>
              </a:spcBef>
              <a:spcAft>
                <a:spcPts val="0"/>
              </a:spcAft>
              <a:buNone/>
            </a:pP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6"/>
        <p:cNvGrpSpPr/>
        <p:nvPr/>
      </p:nvGrpSpPr>
      <p:grpSpPr>
        <a:xfrm>
          <a:off x="0" y="0"/>
          <a:ext cx="0" cy="0"/>
          <a:chOff x="0" y="0"/>
          <a:chExt cx="0" cy="0"/>
        </a:xfrm>
      </p:grpSpPr>
      <p:sp>
        <p:nvSpPr>
          <p:cNvPr id="207" name="Google Shape;207;p12"/>
          <p:cNvSpPr txBox="1"/>
          <p:nvPr/>
        </p:nvSpPr>
        <p:spPr>
          <a:xfrm>
            <a:off x="731520" y="365760"/>
            <a:ext cx="10728600" cy="1200600"/>
          </a:xfrm>
          <a:prstGeom prst="rect">
            <a:avLst/>
          </a:prstGeom>
          <a:noFill/>
          <a:ln>
            <a:noFill/>
          </a:ln>
        </p:spPr>
        <p:txBody>
          <a:bodyPr spcFirstLastPara="1" wrap="square" lIns="91425" tIns="45700" rIns="91425" bIns="45700" anchor="t" anchorCtr="0">
            <a:spAutoFit/>
          </a:bodyPr>
          <a:lstStyle/>
          <a:p>
            <a:pPr marL="0" lvl="0" indent="0" algn="l" rtl="0">
              <a:spcBef>
                <a:spcPts val="0"/>
              </a:spcBef>
              <a:spcAft>
                <a:spcPts val="0"/>
              </a:spcAft>
              <a:buClr>
                <a:schemeClr val="dk1"/>
              </a:buClr>
              <a:buFont typeface="Arial"/>
              <a:buNone/>
            </a:pPr>
            <a:r>
              <a:rPr lang="en-US" sz="3600" b="1">
                <a:solidFill>
                  <a:srgbClr val="1A1A2E"/>
                </a:solidFill>
                <a:latin typeface="Calibri"/>
                <a:ea typeface="Calibri"/>
                <a:cs typeface="Calibri"/>
                <a:sym typeface="Calibri"/>
              </a:rPr>
              <a:t>Four principles to live by</a:t>
            </a:r>
            <a:endParaRPr>
              <a:solidFill>
                <a:schemeClr val="dk1"/>
              </a:solidFill>
            </a:endParaRPr>
          </a:p>
          <a:p>
            <a:pPr marL="0" marR="0" lvl="0" indent="0" algn="l" rtl="0">
              <a:spcBef>
                <a:spcPts val="0"/>
              </a:spcBef>
              <a:spcAft>
                <a:spcPts val="0"/>
              </a:spcAft>
              <a:buNone/>
            </a:pPr>
            <a:endParaRPr sz="3600" b="1">
              <a:solidFill>
                <a:srgbClr val="1A1A2E"/>
              </a:solidFill>
              <a:latin typeface="Calibri"/>
              <a:ea typeface="Calibri"/>
              <a:cs typeface="Calibri"/>
              <a:sym typeface="Calibri"/>
            </a:endParaRPr>
          </a:p>
        </p:txBody>
      </p:sp>
      <p:sp>
        <p:nvSpPr>
          <p:cNvPr id="208" name="Google Shape;208;p12"/>
          <p:cNvSpPr txBox="1"/>
          <p:nvPr/>
        </p:nvSpPr>
        <p:spPr>
          <a:xfrm>
            <a:off x="914400" y="1094590"/>
            <a:ext cx="10362900" cy="5649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0" u="none" strike="noStrike" cap="none">
                <a:solidFill>
                  <a:srgbClr val="333344"/>
                </a:solidFill>
                <a:latin typeface="Calibri"/>
                <a:ea typeface="Calibri"/>
                <a:cs typeface="Calibri"/>
                <a:sym typeface="Calibri"/>
              </a:rPr>
              <a:t>Uniform interface.</a:t>
            </a:r>
            <a:r>
              <a:rPr lang="en-US" sz="2400" b="0" i="0" u="none" strike="noStrike" cap="none">
                <a:solidFill>
                  <a:srgbClr val="333344"/>
                </a:solidFill>
                <a:latin typeface="Calibri"/>
                <a:ea typeface="Calibri"/>
                <a:cs typeface="Calibri"/>
                <a:sym typeface="Calibri"/>
              </a:rPr>
              <a:t> Everyone uses the same small set of verbs.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No custom getUser/fetchUser/loadUser nonsense.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 client written today still works tomorrow.</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Stateless.</a:t>
            </a:r>
            <a:r>
              <a:rPr lang="en-US" sz="2400" b="0" i="0" u="none" strike="noStrike" cap="none">
                <a:solidFill>
                  <a:srgbClr val="333344"/>
                </a:solidFill>
                <a:latin typeface="Calibri"/>
                <a:ea typeface="Calibri"/>
                <a:cs typeface="Calibri"/>
                <a:sym typeface="Calibri"/>
              </a:rPr>
              <a:t> Every request is self-contained.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server doesn't remember you between requests.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If it crashes mid-conversation, the next server just picks up.</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Client-server.</a:t>
            </a:r>
            <a:r>
              <a:rPr lang="en-US" sz="2400" b="0" i="0" u="none" strike="noStrike" cap="none">
                <a:solidFill>
                  <a:srgbClr val="333344"/>
                </a:solidFill>
                <a:latin typeface="Calibri"/>
                <a:ea typeface="Calibri"/>
                <a:cs typeface="Calibri"/>
                <a:sym typeface="Calibri"/>
              </a:rPr>
              <a:t> Clean separation of concerns.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frontend can be rewritten without touching the backend, and vice versa.</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Cacheable.</a:t>
            </a:r>
            <a:r>
              <a:rPr lang="en-US" sz="2400" b="0" i="0" u="none" strike="noStrike" cap="none">
                <a:solidFill>
                  <a:srgbClr val="333344"/>
                </a:solidFill>
                <a:latin typeface="Calibri"/>
                <a:ea typeface="Calibri"/>
                <a:cs typeface="Calibri"/>
                <a:sym typeface="Calibri"/>
              </a:rPr>
              <a:t> Responses can be marked reusable.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If two people ask for the same thing, the second answer can come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from a cache anywhere along the path. Huge scaling win.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3"/>
        <p:cNvGrpSpPr/>
        <p:nvPr/>
      </p:nvGrpSpPr>
      <p:grpSpPr>
        <a:xfrm>
          <a:off x="0" y="0"/>
          <a:ext cx="0" cy="0"/>
          <a:chOff x="0" y="0"/>
          <a:chExt cx="0" cy="0"/>
        </a:xfrm>
      </p:grpSpPr>
      <p:sp>
        <p:nvSpPr>
          <p:cNvPr id="214" name="Google Shape;214;p13"/>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Statelessness is the one that matters most</a:t>
            </a:r>
            <a:endParaRPr/>
          </a:p>
        </p:txBody>
      </p:sp>
      <p:sp>
        <p:nvSpPr>
          <p:cNvPr id="215" name="Google Shape;215;p13"/>
          <p:cNvSpPr txBox="1"/>
          <p:nvPr/>
        </p:nvSpPr>
        <p:spPr>
          <a:xfrm>
            <a:off x="914400" y="1463040"/>
            <a:ext cx="10362900" cy="5556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Of the four, </a:t>
            </a:r>
            <a:r>
              <a:rPr lang="en-US" sz="2400" b="1" i="0" u="none" strike="noStrike" cap="none">
                <a:solidFill>
                  <a:srgbClr val="333344"/>
                </a:solidFill>
                <a:latin typeface="Calibri"/>
                <a:ea typeface="Calibri"/>
                <a:cs typeface="Calibri"/>
                <a:sym typeface="Calibri"/>
              </a:rPr>
              <a:t>stateless</a:t>
            </a:r>
            <a:r>
              <a:rPr lang="en-US" sz="2400" b="0" i="0" u="none" strike="noStrike" cap="none">
                <a:solidFill>
                  <a:srgbClr val="333344"/>
                </a:solidFill>
                <a:latin typeface="Calibri"/>
                <a:ea typeface="Calibri"/>
                <a:cs typeface="Calibri"/>
                <a:sym typeface="Calibri"/>
              </a:rPr>
              <a:t> is the rule you'll feel the most.</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'Each request is self-contained' means: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If the request needs to know who you are, it carries that info itself.</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If the request needs to know which page of results, it says so.</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server looks at one request and has everything it needs to answer.</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a:solidFill>
                  <a:srgbClr val="333344"/>
                </a:solidFill>
                <a:latin typeface="Calibri"/>
                <a:ea typeface="Calibri"/>
                <a:cs typeface="Calibri"/>
                <a:sym typeface="Calibri"/>
              </a:rPr>
              <a:t>This is what allows large websites to scale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You can run 1,000 copies of your server behind a load balancer.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Any request can go to any server. They're interchangeable.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If one crashes, the next request just goes somewhere else.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Nobody has to coordinate. Nobody has to share memory.</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220"/>
        <p:cNvGrpSpPr/>
        <p:nvPr/>
      </p:nvGrpSpPr>
      <p:grpSpPr>
        <a:xfrm>
          <a:off x="0" y="0"/>
          <a:ext cx="0" cy="0"/>
          <a:chOff x="0" y="0"/>
          <a:chExt cx="0" cy="0"/>
        </a:xfrm>
      </p:grpSpPr>
      <p:sp>
        <p:nvSpPr>
          <p:cNvPr id="221" name="Google Shape;221;p14"/>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What REST Actually Looks Like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6"/>
        <p:cNvGrpSpPr/>
        <p:nvPr/>
      </p:nvGrpSpPr>
      <p:grpSpPr>
        <a:xfrm>
          <a:off x="0" y="0"/>
          <a:ext cx="0" cy="0"/>
          <a:chOff x="0" y="0"/>
          <a:chExt cx="0" cy="0"/>
        </a:xfrm>
      </p:grpSpPr>
      <p:sp>
        <p:nvSpPr>
          <p:cNvPr id="227" name="Google Shape;227;g3d5effa7ec8_1_316"/>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URLs name things. Things are nouns.</a:t>
            </a:r>
            <a:endParaRPr/>
          </a:p>
        </p:txBody>
      </p:sp>
      <p:sp>
        <p:nvSpPr>
          <p:cNvPr id="228" name="Google Shape;228;g3d5effa7ec8_1_316"/>
          <p:cNvSpPr txBox="1"/>
          <p:nvPr/>
        </p:nvSpPr>
        <p:spPr>
          <a:xfrm>
            <a:off x="914400" y="1463040"/>
            <a:ext cx="10362900" cy="3509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 REST URL identifies a </a:t>
            </a:r>
            <a:r>
              <a:rPr lang="en-US" sz="2400" b="1" i="0" u="none" strike="noStrike" cap="none">
                <a:solidFill>
                  <a:srgbClr val="333344"/>
                </a:solidFill>
                <a:latin typeface="Calibri"/>
                <a:ea typeface="Calibri"/>
                <a:cs typeface="Calibri"/>
                <a:sym typeface="Calibri"/>
              </a:rPr>
              <a:t>resource</a:t>
            </a:r>
            <a:r>
              <a:rPr lang="en-US" sz="2400" b="0" i="0" u="none" strike="noStrike" cap="none">
                <a:solidFill>
                  <a:srgbClr val="333344"/>
                </a:solidFill>
                <a:latin typeface="Calibri"/>
                <a:ea typeface="Calibri"/>
                <a:cs typeface="Calibri"/>
                <a:sym typeface="Calibri"/>
              </a:rPr>
              <a:t>: a thing you can get or change.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Resources are </a:t>
            </a:r>
            <a:r>
              <a:rPr lang="en-US" sz="2000" b="1" i="0" u="none" strike="noStrike" cap="none">
                <a:solidFill>
                  <a:srgbClr val="666677"/>
                </a:solidFill>
                <a:latin typeface="Calibri"/>
                <a:ea typeface="Calibri"/>
                <a:cs typeface="Calibri"/>
                <a:sym typeface="Calibri"/>
              </a:rPr>
              <a:t>nouns</a:t>
            </a:r>
            <a:r>
              <a:rPr lang="en-US" sz="2000" b="0" i="0" u="none" strike="noStrike" cap="none">
                <a:solidFill>
                  <a:srgbClr val="666677"/>
                </a:solidFill>
                <a:latin typeface="Calibri"/>
                <a:ea typeface="Calibri"/>
                <a:cs typeface="Calibri"/>
                <a:sym typeface="Calibri"/>
              </a:rPr>
              <a:t>, not actions.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Good (nouns):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/messages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/messages/42</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/channels/general/messages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/users/alice</a:t>
            </a:r>
            <a:endParaRPr/>
          </a:p>
          <a:p>
            <a:pPr marL="0" marR="0" lvl="0" indent="0" algn="l" rtl="0">
              <a:spcBef>
                <a:spcPts val="600"/>
              </a:spcBef>
              <a:spcAft>
                <a:spcPts val="0"/>
              </a:spcAft>
              <a:buNone/>
            </a:pP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3"/>
        <p:cNvGrpSpPr/>
        <p:nvPr/>
      </p:nvGrpSpPr>
      <p:grpSpPr>
        <a:xfrm>
          <a:off x="0" y="0"/>
          <a:ext cx="0" cy="0"/>
          <a:chOff x="0" y="0"/>
          <a:chExt cx="0" cy="0"/>
        </a:xfrm>
      </p:grpSpPr>
      <p:sp>
        <p:nvSpPr>
          <p:cNvPr id="234" name="Google Shape;234;p15"/>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URLs name things. Things are nouns.</a:t>
            </a:r>
            <a:endParaRPr/>
          </a:p>
        </p:txBody>
      </p:sp>
      <p:sp>
        <p:nvSpPr>
          <p:cNvPr id="235" name="Google Shape;235;p15"/>
          <p:cNvSpPr txBox="1"/>
          <p:nvPr/>
        </p:nvSpPr>
        <p:spPr>
          <a:xfrm>
            <a:off x="914400" y="1463040"/>
            <a:ext cx="10362900" cy="5880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 REST URL identifies a </a:t>
            </a:r>
            <a:r>
              <a:rPr lang="en-US" sz="2400" b="1" i="0" u="none" strike="noStrike" cap="none">
                <a:solidFill>
                  <a:srgbClr val="333344"/>
                </a:solidFill>
                <a:latin typeface="Calibri"/>
                <a:ea typeface="Calibri"/>
                <a:cs typeface="Calibri"/>
                <a:sym typeface="Calibri"/>
              </a:rPr>
              <a:t>resource</a:t>
            </a:r>
            <a:r>
              <a:rPr lang="en-US" sz="2400" b="0" i="0" u="none" strike="noStrike" cap="none">
                <a:solidFill>
                  <a:srgbClr val="333344"/>
                </a:solidFill>
                <a:latin typeface="Calibri"/>
                <a:ea typeface="Calibri"/>
                <a:cs typeface="Calibri"/>
                <a:sym typeface="Calibri"/>
              </a:rPr>
              <a:t>: a thing you can get or change.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Resources are </a:t>
            </a:r>
            <a:r>
              <a:rPr lang="en-US" sz="2000" b="1" i="0" u="none" strike="noStrike" cap="none">
                <a:solidFill>
                  <a:srgbClr val="666677"/>
                </a:solidFill>
                <a:latin typeface="Calibri"/>
                <a:ea typeface="Calibri"/>
                <a:cs typeface="Calibri"/>
                <a:sym typeface="Calibri"/>
              </a:rPr>
              <a:t>nouns</a:t>
            </a:r>
            <a:r>
              <a:rPr lang="en-US" sz="2000" b="0" i="0" u="none" strike="noStrike" cap="none">
                <a:solidFill>
                  <a:srgbClr val="666677"/>
                </a:solidFill>
                <a:latin typeface="Calibri"/>
                <a:ea typeface="Calibri"/>
                <a:cs typeface="Calibri"/>
                <a:sym typeface="Calibri"/>
              </a:rPr>
              <a:t>, not actions.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Good (nouns):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/messages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/messages/42</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/channels/general/messages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/users/alice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Bad (verbs buried in the URL):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/getMessages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/deleteMessageById?id=42</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/loadUserProfile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0"/>
        <p:cNvGrpSpPr/>
        <p:nvPr/>
      </p:nvGrpSpPr>
      <p:grpSpPr>
        <a:xfrm>
          <a:off x="0" y="0"/>
          <a:ext cx="0" cy="0"/>
          <a:chOff x="0" y="0"/>
          <a:chExt cx="0" cy="0"/>
        </a:xfrm>
      </p:grpSpPr>
      <p:sp>
        <p:nvSpPr>
          <p:cNvPr id="241" name="Google Shape;241;g3d5effa7ec8_1_14"/>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HTTP methods: the shared verb set</a:t>
            </a:r>
            <a:endParaRPr/>
          </a:p>
        </p:txBody>
      </p:sp>
      <p:sp>
        <p:nvSpPr>
          <p:cNvPr id="242" name="Google Shape;242;g3d5effa7ec8_1_14"/>
          <p:cNvSpPr txBox="1"/>
          <p:nvPr/>
        </p:nvSpPr>
        <p:spPr>
          <a:xfrm>
            <a:off x="914400" y="1463040"/>
            <a:ext cx="10362900" cy="46638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Every REST API uses the same five verbs.</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GET</a:t>
            </a:r>
            <a:r>
              <a:rPr lang="en-US" sz="2000" b="0" i="0" u="none" strike="noStrike" cap="none">
                <a:solidFill>
                  <a:srgbClr val="666677"/>
                </a:solidFill>
                <a:latin typeface="Calibri"/>
                <a:ea typeface="Calibri"/>
                <a:cs typeface="Calibri"/>
                <a:sym typeface="Calibri"/>
              </a:rPr>
              <a:t>     Read a resource. No body. No side effects. Safe to retry.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POST</a:t>
            </a:r>
            <a:r>
              <a:rPr lang="en-US" sz="2000" b="0" i="0" u="none" strike="noStrike" cap="none">
                <a:solidFill>
                  <a:srgbClr val="666677"/>
                </a:solidFill>
                <a:latin typeface="Calibri"/>
                <a:ea typeface="Calibri"/>
                <a:cs typeface="Calibri"/>
                <a:sym typeface="Calibri"/>
              </a:rPr>
              <a:t>    Create a new resource. Has a body. Not idempotent.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PUT</a:t>
            </a:r>
            <a:r>
              <a:rPr lang="en-US" sz="2000" b="0" i="0" u="none" strike="noStrike" cap="none">
                <a:solidFill>
                  <a:srgbClr val="666677"/>
                </a:solidFill>
                <a:latin typeface="Calibri"/>
                <a:ea typeface="Calibri"/>
                <a:cs typeface="Calibri"/>
                <a:sym typeface="Calibri"/>
              </a:rPr>
              <a:t>     Replace an existing resource. Has a body. Idempotent.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PATCH</a:t>
            </a:r>
            <a:r>
              <a:rPr lang="en-US" sz="2000" b="0" i="0" u="none" strike="noStrike" cap="none">
                <a:solidFill>
                  <a:srgbClr val="666677"/>
                </a:solidFill>
                <a:latin typeface="Calibri"/>
                <a:ea typeface="Calibri"/>
                <a:cs typeface="Calibri"/>
                <a:sym typeface="Calibri"/>
              </a:rPr>
              <a:t>   Modify part of an existing resource. Has a body.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DELETE</a:t>
            </a:r>
            <a:r>
              <a:rPr lang="en-US" sz="2000" b="0" i="0" u="none" strike="noStrike" cap="none">
                <a:solidFill>
                  <a:srgbClr val="666677"/>
                </a:solidFill>
                <a:latin typeface="Calibri"/>
                <a:ea typeface="Calibri"/>
                <a:cs typeface="Calibri"/>
                <a:sym typeface="Calibri"/>
              </a:rPr>
              <a:t>  Remove a resource. No body needed.</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Idempotent</a:t>
            </a:r>
            <a:r>
              <a:rPr lang="en-US" sz="2400" b="0" i="0" u="none" strike="noStrike" cap="none">
                <a:solidFill>
                  <a:srgbClr val="333344"/>
                </a:solidFill>
                <a:latin typeface="Calibri"/>
                <a:ea typeface="Calibri"/>
                <a:cs typeface="Calibri"/>
                <a:sym typeface="Calibri"/>
              </a:rPr>
              <a:t> means: doing it twice has the same effect as doing it once.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GET is idempotent (reading twice is fine).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DELETE is idempotent (deleting an already-deleted thing is a no-op).</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POST is not (posting the same comment twice creates two comments).</a:t>
            </a:r>
            <a:endParaRPr/>
          </a:p>
          <a:p>
            <a:pPr marL="0" marR="0" lvl="0" indent="0" algn="l" rtl="0">
              <a:spcBef>
                <a:spcPts val="600"/>
              </a:spcBef>
              <a:spcAft>
                <a:spcPts val="0"/>
              </a:spcAft>
              <a:buNone/>
            </a:pP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7"/>
        <p:cNvGrpSpPr/>
        <p:nvPr/>
      </p:nvGrpSpPr>
      <p:grpSpPr>
        <a:xfrm>
          <a:off x="0" y="0"/>
          <a:ext cx="0" cy="0"/>
          <a:chOff x="0" y="0"/>
          <a:chExt cx="0" cy="0"/>
        </a:xfrm>
      </p:grpSpPr>
      <p:sp>
        <p:nvSpPr>
          <p:cNvPr id="248" name="Google Shape;248;p16"/>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HTTP methods: the shared verb set</a:t>
            </a:r>
            <a:endParaRPr/>
          </a:p>
        </p:txBody>
      </p:sp>
      <p:sp>
        <p:nvSpPr>
          <p:cNvPr id="249" name="Google Shape;249;p16"/>
          <p:cNvSpPr txBox="1"/>
          <p:nvPr/>
        </p:nvSpPr>
        <p:spPr>
          <a:xfrm>
            <a:off x="914400" y="1463040"/>
            <a:ext cx="10362900" cy="5202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Every REST API uses the same five verbs.</a:t>
            </a: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GET</a:t>
            </a:r>
            <a:r>
              <a:rPr lang="en-US" sz="2000" b="0" i="0" u="none" strike="noStrike" cap="none">
                <a:solidFill>
                  <a:srgbClr val="666677"/>
                </a:solidFill>
                <a:latin typeface="Calibri"/>
                <a:ea typeface="Calibri"/>
                <a:cs typeface="Calibri"/>
                <a:sym typeface="Calibri"/>
              </a:rPr>
              <a:t>     Read a resource. No body. No side effects. Safe to retry.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POST</a:t>
            </a:r>
            <a:r>
              <a:rPr lang="en-US" sz="2000" b="0" i="0" u="none" strike="noStrike" cap="none">
                <a:solidFill>
                  <a:srgbClr val="666677"/>
                </a:solidFill>
                <a:latin typeface="Calibri"/>
                <a:ea typeface="Calibri"/>
                <a:cs typeface="Calibri"/>
                <a:sym typeface="Calibri"/>
              </a:rPr>
              <a:t>    Create a new resource. Has a body. Not idempotent.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PUT</a:t>
            </a:r>
            <a:r>
              <a:rPr lang="en-US" sz="2000" b="0" i="0" u="none" strike="noStrike" cap="none">
                <a:solidFill>
                  <a:srgbClr val="666677"/>
                </a:solidFill>
                <a:latin typeface="Calibri"/>
                <a:ea typeface="Calibri"/>
                <a:cs typeface="Calibri"/>
                <a:sym typeface="Calibri"/>
              </a:rPr>
              <a:t>     Replace an existing resource. Has a body. Idempotent.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PATCH</a:t>
            </a:r>
            <a:r>
              <a:rPr lang="en-US" sz="2000" b="0" i="0" u="none" strike="noStrike" cap="none">
                <a:solidFill>
                  <a:srgbClr val="666677"/>
                </a:solidFill>
                <a:latin typeface="Calibri"/>
                <a:ea typeface="Calibri"/>
                <a:cs typeface="Calibri"/>
                <a:sym typeface="Calibri"/>
              </a:rPr>
              <a:t>   Modify part of an existing resource. Has a body.</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DELETE</a:t>
            </a:r>
            <a:r>
              <a:rPr lang="en-US" sz="2000" b="0" i="0" u="none" strike="noStrike" cap="none">
                <a:solidFill>
                  <a:srgbClr val="666677"/>
                </a:solidFill>
                <a:latin typeface="Calibri"/>
                <a:ea typeface="Calibri"/>
                <a:cs typeface="Calibri"/>
                <a:sym typeface="Calibri"/>
              </a:rPr>
              <a:t>  Remove a resource. No body needed.</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1" i="0" u="none" strike="noStrike" cap="none">
                <a:solidFill>
                  <a:srgbClr val="333344"/>
                </a:solidFill>
                <a:latin typeface="Calibri"/>
                <a:ea typeface="Calibri"/>
                <a:cs typeface="Calibri"/>
                <a:sym typeface="Calibri"/>
              </a:rPr>
              <a:t>Idempotent</a:t>
            </a:r>
            <a:r>
              <a:rPr lang="en-US" sz="2400" b="0" i="0" u="none" strike="noStrike" cap="none">
                <a:solidFill>
                  <a:srgbClr val="333344"/>
                </a:solidFill>
                <a:latin typeface="Calibri"/>
                <a:ea typeface="Calibri"/>
                <a:cs typeface="Calibri"/>
                <a:sym typeface="Calibri"/>
              </a:rPr>
              <a:t> means: doing it twice has the same effect as doing it once.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GET is idempotent (reading twice is fine).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DELETE is idempotent (deleting an already-deleted thing is a no-op).</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POST is not (posting the same comment twice creates two comments).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This matters because the network is unreliable</a:t>
            </a:r>
            <a:r>
              <a:rPr lang="en-US" sz="2400">
                <a:solidFill>
                  <a:srgbClr val="333344"/>
                </a:solidFill>
                <a:latin typeface="Calibri"/>
                <a:ea typeface="Calibri"/>
                <a:cs typeface="Calibri"/>
                <a:sym typeface="Calibri"/>
              </a:rPr>
              <a:t>.</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4"/>
        <p:cNvGrpSpPr/>
        <p:nvPr/>
      </p:nvGrpSpPr>
      <p:grpSpPr>
        <a:xfrm>
          <a:off x="0" y="0"/>
          <a:ext cx="0" cy="0"/>
          <a:chOff x="0" y="0"/>
          <a:chExt cx="0" cy="0"/>
        </a:xfrm>
      </p:grpSpPr>
      <p:sp>
        <p:nvSpPr>
          <p:cNvPr id="255" name="Google Shape;255;p17"/>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URL + method together: the full vocabulary</a:t>
            </a:r>
            <a:endParaRPr/>
          </a:p>
        </p:txBody>
      </p:sp>
      <p:sp>
        <p:nvSpPr>
          <p:cNvPr id="256" name="Google Shape;256;p17"/>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HTTP</a:t>
            </a:r>
            <a:endParaRPr/>
          </a:p>
        </p:txBody>
      </p:sp>
      <p:sp>
        <p:nvSpPr>
          <p:cNvPr id="257" name="Google Shape;257;p17"/>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8" name="Google Shape;258;p17"/>
          <p:cNvSpPr txBox="1"/>
          <p:nvPr/>
        </p:nvSpPr>
        <p:spPr>
          <a:xfrm>
            <a:off x="1005840" y="1645920"/>
            <a:ext cx="10179900" cy="4304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333344"/>
                </a:solidFill>
                <a:latin typeface="Courier New"/>
                <a:ea typeface="Courier New"/>
                <a:cs typeface="Courier New"/>
                <a:sym typeface="Courier New"/>
              </a:rPr>
              <a:t>GET    /messages                  List all messages</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GET    /messages/42               Read message 42</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POST   /messages                  Create a new message</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PUT    /messages/42               Replace message 42 entirely</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PATCH  /messages/42               Edit part of message 42</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DELETE /messages/42               Delete message 42</a:t>
            </a:r>
            <a:endParaRPr/>
          </a:p>
          <a:p>
            <a:pPr marL="0" marR="0" lvl="0" indent="0" algn="l" rtl="0">
              <a:spcBef>
                <a:spcPts val="200"/>
              </a:spcBef>
              <a:spcAft>
                <a:spcPts val="0"/>
              </a:spcAft>
              <a:buNone/>
            </a:pPr>
            <a:endParaRPr sz="18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GET    /channels                  List all channels</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GET    /channels/general          Read the 'general' channel</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GET    /channels/general/messages List messages in 'general'</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POST   /channels/general/messages Send a message to 'general'</a:t>
            </a:r>
            <a:endParaRPr/>
          </a:p>
          <a:p>
            <a:pPr marL="0" marR="0" lvl="0" indent="0" algn="l" rtl="0">
              <a:spcBef>
                <a:spcPts val="200"/>
              </a:spcBef>
              <a:spcAft>
                <a:spcPts val="0"/>
              </a:spcAft>
              <a:buNone/>
            </a:pPr>
            <a:endParaRPr sz="18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GET    /users/alice               Read alice's profile</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PATCH  /users/alice               Update alice's profile</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3"/>
        <p:cNvGrpSpPr/>
        <p:nvPr/>
      </p:nvGrpSpPr>
      <p:grpSpPr>
        <a:xfrm>
          <a:off x="0" y="0"/>
          <a:ext cx="0" cy="0"/>
          <a:chOff x="0" y="0"/>
          <a:chExt cx="0" cy="0"/>
        </a:xfrm>
      </p:grpSpPr>
      <p:sp>
        <p:nvSpPr>
          <p:cNvPr id="264" name="Google Shape;264;p18"/>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Status codes: a shared vocabulary for outcomes</a:t>
            </a:r>
            <a:endParaRPr/>
          </a:p>
        </p:txBody>
      </p:sp>
      <p:sp>
        <p:nvSpPr>
          <p:cNvPr id="265" name="Google Shape;265;p18"/>
          <p:cNvSpPr txBox="1"/>
          <p:nvPr/>
        </p:nvSpPr>
        <p:spPr>
          <a:xfrm>
            <a:off x="914400" y="1463040"/>
            <a:ext cx="10362900" cy="5525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Every HTTP response starts with a three-digit status code.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first digit tells you what family it's in.</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2xx</a:t>
            </a:r>
            <a:r>
              <a:rPr lang="en-US" sz="2000" b="0" i="0" u="none" strike="noStrike" cap="none">
                <a:solidFill>
                  <a:srgbClr val="666677"/>
                </a:solidFill>
                <a:latin typeface="Calibri"/>
                <a:ea typeface="Calibri"/>
                <a:cs typeface="Calibri"/>
                <a:sym typeface="Calibri"/>
              </a:rPr>
              <a:t>  Success. Everything worked.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3xx</a:t>
            </a:r>
            <a:r>
              <a:rPr lang="en-US" sz="2000" b="0" i="0" u="none" strike="noStrike" cap="none">
                <a:solidFill>
                  <a:srgbClr val="666677"/>
                </a:solidFill>
                <a:latin typeface="Calibri"/>
                <a:ea typeface="Calibri"/>
                <a:cs typeface="Calibri"/>
                <a:sym typeface="Calibri"/>
              </a:rPr>
              <a:t>  Redirect. Look somewhere else for the answer.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4xx</a:t>
            </a:r>
            <a:r>
              <a:rPr lang="en-US" sz="2000" b="0" i="0" u="none" strike="noStrike" cap="none">
                <a:solidFill>
                  <a:srgbClr val="666677"/>
                </a:solidFill>
                <a:latin typeface="Calibri"/>
                <a:ea typeface="Calibri"/>
                <a:cs typeface="Calibri"/>
                <a:sym typeface="Calibri"/>
              </a:rPr>
              <a:t>  You messed up. Bad request, not allowed, not found.</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5xx</a:t>
            </a:r>
            <a:r>
              <a:rPr lang="en-US" sz="2000" b="0" i="0" u="none" strike="noStrike" cap="none">
                <a:solidFill>
                  <a:srgbClr val="666677"/>
                </a:solidFill>
                <a:latin typeface="Calibri"/>
                <a:ea typeface="Calibri"/>
                <a:cs typeface="Calibri"/>
                <a:sym typeface="Calibri"/>
              </a:rPr>
              <a:t>  I messed up. Server-side problem.</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The ones you'll actually use this semester:</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200</a:t>
            </a:r>
            <a:r>
              <a:rPr lang="en-US" sz="2000" b="0" i="0" u="none" strike="noStrike" cap="none">
                <a:solidFill>
                  <a:srgbClr val="666677"/>
                </a:solidFill>
                <a:latin typeface="Calibri"/>
                <a:ea typeface="Calibri"/>
                <a:cs typeface="Calibri"/>
                <a:sym typeface="Calibri"/>
              </a:rPr>
              <a:t> OK                    	</a:t>
            </a:r>
            <a:r>
              <a:rPr lang="en-US" sz="2000" b="1" i="0" u="none" strike="noStrike" cap="none">
                <a:solidFill>
                  <a:srgbClr val="666677"/>
                </a:solidFill>
                <a:latin typeface="Calibri"/>
                <a:ea typeface="Calibri"/>
                <a:cs typeface="Calibri"/>
                <a:sym typeface="Calibri"/>
              </a:rPr>
              <a:t>400</a:t>
            </a:r>
            <a:r>
              <a:rPr lang="en-US" sz="2000" b="0" i="0" u="none" strike="noStrike" cap="none">
                <a:solidFill>
                  <a:srgbClr val="666677"/>
                </a:solidFill>
                <a:latin typeface="Calibri"/>
                <a:ea typeface="Calibri"/>
                <a:cs typeface="Calibri"/>
                <a:sym typeface="Calibri"/>
              </a:rPr>
              <a:t> Bad Request                                   </a:t>
            </a:r>
            <a:r>
              <a:rPr lang="en-US" sz="2000" b="1">
                <a:solidFill>
                  <a:srgbClr val="666677"/>
                </a:solidFill>
                <a:latin typeface="Calibri"/>
                <a:ea typeface="Calibri"/>
                <a:cs typeface="Calibri"/>
                <a:sym typeface="Calibri"/>
              </a:rPr>
              <a:t>404</a:t>
            </a:r>
            <a:r>
              <a:rPr lang="en-US" sz="2000">
                <a:solidFill>
                  <a:srgbClr val="666677"/>
                </a:solidFill>
                <a:latin typeface="Calibri"/>
                <a:ea typeface="Calibri"/>
                <a:cs typeface="Calibri"/>
                <a:sym typeface="Calibri"/>
              </a:rPr>
              <a:t> Not Found</a:t>
            </a:r>
            <a:endParaRPr sz="2000">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201</a:t>
            </a:r>
            <a:r>
              <a:rPr lang="en-US" sz="2000" b="0" i="0" u="none" strike="noStrike" cap="none">
                <a:solidFill>
                  <a:srgbClr val="666677"/>
                </a:solidFill>
                <a:latin typeface="Calibri"/>
                <a:ea typeface="Calibri"/>
                <a:cs typeface="Calibri"/>
                <a:sym typeface="Calibri"/>
              </a:rPr>
              <a:t> Created                </a:t>
            </a:r>
            <a:r>
              <a:rPr lang="en-US" sz="2000" b="1" i="0" u="none" strike="noStrike" cap="none">
                <a:solidFill>
                  <a:srgbClr val="666677"/>
                </a:solidFill>
                <a:latin typeface="Calibri"/>
                <a:ea typeface="Calibri"/>
                <a:cs typeface="Calibri"/>
                <a:sym typeface="Calibri"/>
              </a:rPr>
              <a:t>401</a:t>
            </a:r>
            <a:r>
              <a:rPr lang="en-US" sz="2000" b="0" i="0" u="none" strike="noStrike" cap="none">
                <a:solidFill>
                  <a:srgbClr val="666677"/>
                </a:solidFill>
                <a:latin typeface="Calibri"/>
                <a:ea typeface="Calibri"/>
                <a:cs typeface="Calibri"/>
                <a:sym typeface="Calibri"/>
              </a:rPr>
              <a:t> Unauthorized (not logged in)     </a:t>
            </a:r>
            <a:r>
              <a:rPr lang="en-US" sz="2000" b="1">
                <a:solidFill>
                  <a:srgbClr val="666677"/>
                </a:solidFill>
                <a:latin typeface="Calibri"/>
                <a:ea typeface="Calibri"/>
                <a:cs typeface="Calibri"/>
                <a:sym typeface="Calibri"/>
              </a:rPr>
              <a:t>409</a:t>
            </a:r>
            <a:r>
              <a:rPr lang="en-US" sz="2000">
                <a:solidFill>
                  <a:srgbClr val="666677"/>
                </a:solidFill>
                <a:latin typeface="Calibri"/>
                <a:ea typeface="Calibri"/>
                <a:cs typeface="Calibri"/>
                <a:sym typeface="Calibri"/>
              </a:rPr>
              <a:t> Conflict</a:t>
            </a:r>
            <a:endParaRPr sz="2000">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204</a:t>
            </a:r>
            <a:r>
              <a:rPr lang="en-US" sz="2000" b="0" i="0" u="none" strike="noStrike" cap="none">
                <a:solidFill>
                  <a:srgbClr val="666677"/>
                </a:solidFill>
                <a:latin typeface="Calibri"/>
                <a:ea typeface="Calibri"/>
                <a:cs typeface="Calibri"/>
                <a:sym typeface="Calibri"/>
              </a:rPr>
              <a:t> No Content         </a:t>
            </a:r>
            <a:r>
              <a:rPr lang="en-US" sz="2000" b="1" i="0" u="none" strike="noStrike" cap="none">
                <a:solidFill>
                  <a:srgbClr val="666677"/>
                </a:solidFill>
                <a:latin typeface="Calibri"/>
                <a:ea typeface="Calibri"/>
                <a:cs typeface="Calibri"/>
                <a:sym typeface="Calibri"/>
              </a:rPr>
              <a:t>403</a:t>
            </a:r>
            <a:r>
              <a:rPr lang="en-US" sz="2000" b="0" i="0" u="none" strike="noStrike" cap="none">
                <a:solidFill>
                  <a:srgbClr val="666677"/>
                </a:solidFill>
                <a:latin typeface="Calibri"/>
                <a:ea typeface="Calibri"/>
                <a:cs typeface="Calibri"/>
                <a:sym typeface="Calibri"/>
              </a:rPr>
              <a:t> Forbidden (logged in, can't)        </a:t>
            </a:r>
            <a:r>
              <a:rPr lang="en-US" sz="2000" b="1">
                <a:solidFill>
                  <a:srgbClr val="666677"/>
                </a:solidFill>
                <a:latin typeface="Calibri"/>
                <a:ea typeface="Calibri"/>
                <a:cs typeface="Calibri"/>
                <a:sym typeface="Calibri"/>
              </a:rPr>
              <a:t>500</a:t>
            </a:r>
            <a:r>
              <a:rPr lang="en-US" sz="2000">
                <a:solidFill>
                  <a:srgbClr val="666677"/>
                </a:solidFill>
                <a:latin typeface="Calibri"/>
                <a:ea typeface="Calibri"/>
                <a:cs typeface="Calibri"/>
                <a:sym typeface="Calibri"/>
              </a:rPr>
              <a:t> Internal Server Error</a:t>
            </a:r>
            <a:endParaRPr>
              <a:solidFill>
                <a:schemeClr val="dk1"/>
              </a:solidFill>
            </a:endParaRPr>
          </a:p>
          <a:p>
            <a:pPr marL="457200" marR="0" lvl="1" indent="0" algn="l" rtl="0">
              <a:spcBef>
                <a:spcPts val="600"/>
              </a:spcBef>
              <a:spcAft>
                <a:spcPts val="0"/>
              </a:spcAft>
              <a:buNone/>
            </a:pPr>
            <a:endParaRPr sz="2000">
              <a:solidFill>
                <a:srgbClr val="666677"/>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0"/>
        <p:cNvGrpSpPr/>
        <p:nvPr/>
      </p:nvGrpSpPr>
      <p:grpSpPr>
        <a:xfrm>
          <a:off x="0" y="0"/>
          <a:ext cx="0" cy="0"/>
          <a:chOff x="0" y="0"/>
          <a:chExt cx="0" cy="0"/>
        </a:xfrm>
      </p:grpSpPr>
      <p:sp>
        <p:nvSpPr>
          <p:cNvPr id="271" name="Google Shape;271;p19"/>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Headers: metadata that rides along</a:t>
            </a:r>
            <a:endParaRPr/>
          </a:p>
        </p:txBody>
      </p:sp>
      <p:sp>
        <p:nvSpPr>
          <p:cNvPr id="272" name="Google Shape;272;p19"/>
          <p:cNvSpPr txBox="1"/>
          <p:nvPr/>
        </p:nvSpPr>
        <p:spPr>
          <a:xfrm>
            <a:off x="914400" y="1463040"/>
            <a:ext cx="10362900" cy="4817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A request or response can carry </a:t>
            </a:r>
            <a:r>
              <a:rPr lang="en-US" sz="2400" b="1" i="0" u="none" strike="noStrike" cap="none">
                <a:solidFill>
                  <a:srgbClr val="333344"/>
                </a:solidFill>
                <a:latin typeface="Calibri"/>
                <a:ea typeface="Calibri"/>
                <a:cs typeface="Calibri"/>
                <a:sym typeface="Calibri"/>
              </a:rPr>
              <a:t>headers</a:t>
            </a:r>
            <a:r>
              <a:rPr lang="en-US" sz="2400" b="0" i="0" u="none" strike="noStrike" cap="none">
                <a:solidFill>
                  <a:srgbClr val="333344"/>
                </a:solidFill>
                <a:latin typeface="Calibri"/>
                <a:ea typeface="Calibri"/>
                <a:cs typeface="Calibri"/>
                <a:sym typeface="Calibri"/>
              </a:rPr>
              <a:t>: key-value metadata</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that isn't part of the body but describes the exchange.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The ones that matter most: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Content-Type</a:t>
            </a:r>
            <a:r>
              <a:rPr lang="en-US" sz="2000" b="0" i="0" u="none" strike="noStrike" cap="none">
                <a:solidFill>
                  <a:srgbClr val="666677"/>
                </a:solidFill>
                <a:latin typeface="Calibri"/>
                <a:ea typeface="Calibri"/>
                <a:cs typeface="Calibri"/>
                <a:sym typeface="Calibri"/>
              </a:rPr>
              <a:t>    what format the body is in (application/json)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Content-Length</a:t>
            </a:r>
            <a:r>
              <a:rPr lang="en-US" sz="2000" b="0" i="0" u="none" strike="noStrike" cap="none">
                <a:solidFill>
                  <a:srgbClr val="666677"/>
                </a:solidFill>
                <a:latin typeface="Calibri"/>
                <a:ea typeface="Calibri"/>
                <a:cs typeface="Calibri"/>
                <a:sym typeface="Calibri"/>
              </a:rPr>
              <a:t>  how many bytes the body is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Authorization</a:t>
            </a:r>
            <a:r>
              <a:rPr lang="en-US" sz="2000" b="0" i="0" u="none" strike="noStrike" cap="none">
                <a:solidFill>
                  <a:srgbClr val="666677"/>
                </a:solidFill>
                <a:latin typeface="Calibri"/>
                <a:ea typeface="Calibri"/>
                <a:cs typeface="Calibri"/>
                <a:sym typeface="Calibri"/>
              </a:rPr>
              <a:t>   who is making this request (we'll see this in 3.2)</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Accept</a:t>
            </a:r>
            <a:r>
              <a:rPr lang="en-US" sz="2000" b="0" i="0" u="none" strike="noStrike" cap="none">
                <a:solidFill>
                  <a:srgbClr val="666677"/>
                </a:solidFill>
                <a:latin typeface="Calibri"/>
                <a:ea typeface="Calibri"/>
                <a:cs typeface="Calibri"/>
                <a:sym typeface="Calibri"/>
              </a:rPr>
              <a:t>          what formats the client is willing to receive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Cache-Control</a:t>
            </a:r>
            <a:r>
              <a:rPr lang="en-US" sz="2000" b="0" i="0" u="none" strike="noStrike" cap="none">
                <a:solidFill>
                  <a:srgbClr val="666677"/>
                </a:solidFill>
                <a:latin typeface="Calibri"/>
                <a:ea typeface="Calibri"/>
                <a:cs typeface="Calibri"/>
                <a:sym typeface="Calibri"/>
              </a:rPr>
              <a:t>   hints to caches about whether to store this</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Think of headers as the envelope.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The body is the letter. Headers are the stamps and return address.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7"/>
        <p:cNvGrpSpPr/>
        <p:nvPr/>
      </p:nvGrpSpPr>
      <p:grpSpPr>
        <a:xfrm>
          <a:off x="0" y="0"/>
          <a:ext cx="0" cy="0"/>
          <a:chOff x="0" y="0"/>
          <a:chExt cx="0" cy="0"/>
        </a:xfrm>
      </p:grpSpPr>
      <p:sp>
        <p:nvSpPr>
          <p:cNvPr id="278" name="Google Shape;278;p20"/>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JSON: the body of almost every modern API</a:t>
            </a:r>
            <a:endParaRPr/>
          </a:p>
        </p:txBody>
      </p:sp>
      <p:sp>
        <p:nvSpPr>
          <p:cNvPr id="279" name="Google Shape;279;p20"/>
          <p:cNvSpPr txBox="1"/>
          <p:nvPr/>
        </p:nvSpPr>
        <p:spPr>
          <a:xfrm>
            <a:off x="914400" y="1463050"/>
            <a:ext cx="10851600" cy="5325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HTTP can carry any bytes in the body. What goes in there?</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In 2026, the answer is almost always </a:t>
            </a:r>
            <a:r>
              <a:rPr lang="en-US" sz="2400" b="1" i="0" u="none" strike="noStrike" cap="none">
                <a:solidFill>
                  <a:srgbClr val="333344"/>
                </a:solidFill>
                <a:latin typeface="Calibri"/>
                <a:ea typeface="Calibri"/>
                <a:cs typeface="Calibri"/>
                <a:sym typeface="Calibri"/>
              </a:rPr>
              <a:t>JSON</a:t>
            </a:r>
            <a:r>
              <a:rPr lang="en-US" sz="2400" b="0" i="0" u="none" strike="noStrike" cap="none">
                <a:solidFill>
                  <a:srgbClr val="333344"/>
                </a:solidFill>
                <a:latin typeface="Calibri"/>
                <a:ea typeface="Calibri"/>
                <a:cs typeface="Calibri"/>
                <a:sym typeface="Calibri"/>
              </a:rPr>
              <a:t>.</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a:t>
            </a:r>
            <a:endParaRPr b="1">
              <a:latin typeface="Courier Prime"/>
              <a:ea typeface="Courier Prime"/>
              <a:cs typeface="Courier Prime"/>
              <a:sym typeface="Courier Prime"/>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"id": 42,</a:t>
            </a:r>
            <a:endParaRPr b="1">
              <a:latin typeface="Courier Prime"/>
              <a:ea typeface="Courier Prime"/>
              <a:cs typeface="Courier Prime"/>
              <a:sym typeface="Courier Prime"/>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"channel": "general",</a:t>
            </a:r>
            <a:endParaRPr b="1">
              <a:latin typeface="Courier Prime"/>
              <a:ea typeface="Courier Prime"/>
              <a:cs typeface="Courier Prime"/>
              <a:sym typeface="Courier Prime"/>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"author": "alice",</a:t>
            </a:r>
            <a:endParaRPr b="1">
              <a:latin typeface="Courier Prime"/>
              <a:ea typeface="Courier Prime"/>
              <a:cs typeface="Courier Prime"/>
              <a:sym typeface="Courier Prime"/>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"text": "hi everyone",</a:t>
            </a:r>
            <a:endParaRPr b="1">
              <a:latin typeface="Courier Prime"/>
              <a:ea typeface="Courier Prime"/>
              <a:cs typeface="Courier Prime"/>
              <a:sym typeface="Courier Prime"/>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"timestamp": "2026-04-11T14:22:00Z"</a:t>
            </a:r>
            <a:endParaRPr b="1">
              <a:latin typeface="Courier Prime"/>
              <a:ea typeface="Courier Prime"/>
              <a:cs typeface="Courier Prime"/>
              <a:sym typeface="Courier Prime"/>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a:t>
            </a:r>
            <a:endParaRPr b="1">
              <a:latin typeface="Courier Prime"/>
              <a:ea typeface="Courier Prime"/>
              <a:cs typeface="Courier Prime"/>
              <a:sym typeface="Courier Prime"/>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a:solidFill>
                  <a:srgbClr val="333344"/>
                </a:solidFill>
                <a:latin typeface="Calibri"/>
                <a:ea typeface="Calibri"/>
                <a:cs typeface="Calibri"/>
                <a:sym typeface="Calibri"/>
              </a:rPr>
              <a:t>I</a:t>
            </a:r>
            <a:r>
              <a:rPr lang="en-US" sz="2400" b="0" i="0" u="none" strike="noStrike" cap="none">
                <a:solidFill>
                  <a:srgbClr val="333344"/>
                </a:solidFill>
                <a:latin typeface="Calibri"/>
                <a:ea typeface="Calibri"/>
                <a:cs typeface="Calibri"/>
                <a:sym typeface="Calibri"/>
              </a:rPr>
              <a:t>t maps cleanly to dicts and lists in every language</a:t>
            </a:r>
            <a:r>
              <a:rPr lang="en-US" sz="2400">
                <a:solidFill>
                  <a:srgbClr val="333344"/>
                </a:solidFill>
                <a:latin typeface="Calibri"/>
                <a:ea typeface="Calibri"/>
                <a:cs typeface="Calibri"/>
                <a:sym typeface="Calibri"/>
              </a:rPr>
              <a:t>. Everyone’s got a </a:t>
            </a:r>
            <a:r>
              <a:rPr lang="en-US" sz="2400" b="1">
                <a:solidFill>
                  <a:srgbClr val="333344"/>
                </a:solidFill>
                <a:latin typeface="Courier Prime"/>
                <a:ea typeface="Courier Prime"/>
                <a:cs typeface="Courier Prime"/>
                <a:sym typeface="Courier Prime"/>
              </a:rPr>
              <a:t>json.loads</a:t>
            </a:r>
            <a:r>
              <a:rPr lang="en-US" sz="2400">
                <a:solidFill>
                  <a:srgbClr val="333344"/>
                </a:solidFill>
                <a:latin typeface="Courier Prime"/>
                <a:ea typeface="Courier Prime"/>
                <a:cs typeface="Courier Prime"/>
                <a:sym typeface="Courier Prime"/>
              </a:rPr>
              <a:t>.</a:t>
            </a:r>
            <a:endParaRPr>
              <a:latin typeface="Courier Prime"/>
              <a:ea typeface="Courier Prime"/>
              <a:cs typeface="Courier Prime"/>
              <a:sym typeface="Courier Prime"/>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284"/>
        <p:cNvGrpSpPr/>
        <p:nvPr/>
      </p:nvGrpSpPr>
      <p:grpSpPr>
        <a:xfrm>
          <a:off x="0" y="0"/>
          <a:ext cx="0" cy="0"/>
          <a:chOff x="0" y="0"/>
          <a:chExt cx="0" cy="0"/>
        </a:xfrm>
      </p:grpSpPr>
      <p:sp>
        <p:nvSpPr>
          <p:cNvPr id="285" name="Google Shape;285;p21"/>
          <p:cNvSpPr txBox="1"/>
          <p:nvPr/>
        </p:nvSpPr>
        <p:spPr>
          <a:xfrm>
            <a:off x="914400" y="2286000"/>
            <a:ext cx="10362895" cy="22860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What It Actually Looks Like on the Wire</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0"/>
        <p:cNvGrpSpPr/>
        <p:nvPr/>
      </p:nvGrpSpPr>
      <p:grpSpPr>
        <a:xfrm>
          <a:off x="0" y="0"/>
          <a:ext cx="0" cy="0"/>
          <a:chOff x="0" y="0"/>
          <a:chExt cx="0" cy="0"/>
        </a:xfrm>
      </p:grpSpPr>
      <p:sp>
        <p:nvSpPr>
          <p:cNvPr id="291" name="Google Shape;291;p22"/>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A real HTTP request, byte for byte</a:t>
            </a:r>
            <a:endParaRPr/>
          </a:p>
        </p:txBody>
      </p:sp>
      <p:sp>
        <p:nvSpPr>
          <p:cNvPr id="292" name="Google Shape;292;p22"/>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HTTP/1.1</a:t>
            </a:r>
            <a:endParaRPr/>
          </a:p>
        </p:txBody>
      </p:sp>
      <p:sp>
        <p:nvSpPr>
          <p:cNvPr id="293" name="Google Shape;293;p22"/>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94" name="Google Shape;294;p22"/>
          <p:cNvSpPr txBox="1"/>
          <p:nvPr/>
        </p:nvSpPr>
        <p:spPr>
          <a:xfrm>
            <a:off x="1005840" y="1645920"/>
            <a:ext cx="10180015" cy="457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333344"/>
                </a:solidFill>
                <a:latin typeface="Courier New"/>
                <a:ea typeface="Courier New"/>
                <a:cs typeface="Courier New"/>
                <a:sym typeface="Courier New"/>
              </a:rPr>
              <a:t>POST /channels/general/messages HTTP/1.1</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Host: chat.example.com</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Content-Type: application/json</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Content-Length: 58</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Authorization: Bearer abc123xyz</a:t>
            </a:r>
            <a:endParaRPr/>
          </a:p>
          <a:p>
            <a:pPr marL="0" marR="0" lvl="0" indent="0" algn="l" rtl="0">
              <a:spcBef>
                <a:spcPts val="200"/>
              </a:spcBef>
              <a:spcAft>
                <a:spcPts val="0"/>
              </a:spcAft>
              <a:buNone/>
            </a:pPr>
            <a:endParaRPr sz="18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{"author": "alice", "text": "hi everyone, just joined"}</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9"/>
        <p:cNvGrpSpPr/>
        <p:nvPr/>
      </p:nvGrpSpPr>
      <p:grpSpPr>
        <a:xfrm>
          <a:off x="0" y="0"/>
          <a:ext cx="0" cy="0"/>
          <a:chOff x="0" y="0"/>
          <a:chExt cx="0" cy="0"/>
        </a:xfrm>
      </p:grpSpPr>
      <p:sp>
        <p:nvSpPr>
          <p:cNvPr id="300" name="Google Shape;300;p23"/>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And the server's response, byte for byte</a:t>
            </a:r>
            <a:endParaRPr/>
          </a:p>
        </p:txBody>
      </p:sp>
      <p:sp>
        <p:nvSpPr>
          <p:cNvPr id="301" name="Google Shape;301;p23"/>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HTTP/1.1</a:t>
            </a:r>
            <a:endParaRPr/>
          </a:p>
        </p:txBody>
      </p:sp>
      <p:sp>
        <p:nvSpPr>
          <p:cNvPr id="302" name="Google Shape;302;p23"/>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3" name="Google Shape;303;p23"/>
          <p:cNvSpPr txBox="1"/>
          <p:nvPr/>
        </p:nvSpPr>
        <p:spPr>
          <a:xfrm>
            <a:off x="1005840" y="1645920"/>
            <a:ext cx="10180015" cy="457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333344"/>
                </a:solidFill>
                <a:latin typeface="Courier New"/>
                <a:ea typeface="Courier New"/>
                <a:cs typeface="Courier New"/>
                <a:sym typeface="Courier New"/>
              </a:rPr>
              <a:t>HTTP/1.1 201 Created</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Content-Type: application/json</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Content-Length: 94</a:t>
            </a:r>
            <a:endParaRPr/>
          </a:p>
          <a:p>
            <a:pPr marL="0" marR="0" lvl="0" indent="0" algn="l" rtl="0">
              <a:spcBef>
                <a:spcPts val="200"/>
              </a:spcBef>
              <a:spcAft>
                <a:spcPts val="0"/>
              </a:spcAft>
              <a:buNone/>
            </a:pPr>
            <a:endParaRPr sz="18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  "id": 847,</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  "author": "alice",</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  "text": "hi everyone, just joined",</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  "timestamp": "2026-04-11T14:22:00Z"</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08"/>
        <p:cNvGrpSpPr/>
        <p:nvPr/>
      </p:nvGrpSpPr>
      <p:grpSpPr>
        <a:xfrm>
          <a:off x="0" y="0"/>
          <a:ext cx="0" cy="0"/>
          <a:chOff x="0" y="0"/>
          <a:chExt cx="0" cy="0"/>
        </a:xfrm>
      </p:grpSpPr>
      <p:sp>
        <p:nvSpPr>
          <p:cNvPr id="309" name="Google Shape;309;g3d5effa7ec8_1_20"/>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Seeing this for yourself: curl -v</a:t>
            </a:r>
            <a:endParaRPr/>
          </a:p>
        </p:txBody>
      </p:sp>
      <p:sp>
        <p:nvSpPr>
          <p:cNvPr id="310" name="Google Shape;310;g3d5effa7ec8_1_20"/>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bash</a:t>
            </a:r>
            <a:endParaRPr/>
          </a:p>
        </p:txBody>
      </p:sp>
      <p:sp>
        <p:nvSpPr>
          <p:cNvPr id="311" name="Google Shape;311;g3d5effa7ec8_1_20"/>
          <p:cNvSpPr/>
          <p:nvPr/>
        </p:nvSpPr>
        <p:spPr>
          <a:xfrm>
            <a:off x="731520" y="1463040"/>
            <a:ext cx="10728600" cy="49377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12" name="Google Shape;312;g3d5effa7ec8_1_20"/>
          <p:cNvSpPr txBox="1"/>
          <p:nvPr/>
        </p:nvSpPr>
        <p:spPr>
          <a:xfrm>
            <a:off x="1005840" y="1645920"/>
            <a:ext cx="10179900" cy="610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333344"/>
                </a:solidFill>
                <a:latin typeface="Courier New"/>
                <a:ea typeface="Courier New"/>
                <a:cs typeface="Courier New"/>
                <a:sym typeface="Courier New"/>
              </a:rPr>
              <a:t>$ curl -v https://chat.example.com/channels/general/messages</a:t>
            </a:r>
            <a:endParaRPr/>
          </a:p>
          <a:p>
            <a:pPr marL="0" marR="0" lvl="0" indent="0" algn="l" rtl="0">
              <a:spcBef>
                <a:spcPts val="200"/>
              </a:spcBef>
              <a:spcAft>
                <a:spcPts val="0"/>
              </a:spcAft>
              <a:buNone/>
            </a:pPr>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7"/>
        <p:cNvGrpSpPr/>
        <p:nvPr/>
      </p:nvGrpSpPr>
      <p:grpSpPr>
        <a:xfrm>
          <a:off x="0" y="0"/>
          <a:ext cx="0" cy="0"/>
          <a:chOff x="0" y="0"/>
          <a:chExt cx="0" cy="0"/>
        </a:xfrm>
      </p:grpSpPr>
      <p:sp>
        <p:nvSpPr>
          <p:cNvPr id="318" name="Google Shape;318;p24"/>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Seeing this for yourself: curl -v</a:t>
            </a:r>
            <a:endParaRPr/>
          </a:p>
        </p:txBody>
      </p:sp>
      <p:sp>
        <p:nvSpPr>
          <p:cNvPr id="319" name="Google Shape;319;p24"/>
          <p:cNvSpPr txBox="1"/>
          <p:nvPr/>
        </p:nvSpPr>
        <p:spPr>
          <a:xfrm>
            <a:off x="9601200" y="1188720"/>
            <a:ext cx="1828800" cy="36576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bash</a:t>
            </a:r>
            <a:endParaRPr/>
          </a:p>
        </p:txBody>
      </p:sp>
      <p:sp>
        <p:nvSpPr>
          <p:cNvPr id="320" name="Google Shape;320;p24"/>
          <p:cNvSpPr/>
          <p:nvPr/>
        </p:nvSpPr>
        <p:spPr>
          <a:xfrm>
            <a:off x="731520" y="1463040"/>
            <a:ext cx="10728655" cy="493776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1" name="Google Shape;321;p24"/>
          <p:cNvSpPr txBox="1"/>
          <p:nvPr/>
        </p:nvSpPr>
        <p:spPr>
          <a:xfrm>
            <a:off x="1005840" y="1645920"/>
            <a:ext cx="10180015" cy="4572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i="0" u="none" strike="noStrike" cap="none">
                <a:solidFill>
                  <a:srgbClr val="333344"/>
                </a:solidFill>
                <a:latin typeface="Courier New"/>
                <a:ea typeface="Courier New"/>
                <a:cs typeface="Courier New"/>
                <a:sym typeface="Courier New"/>
              </a:rPr>
              <a:t>$ curl -v https://chat.example.com/channels/general/messages</a:t>
            </a:r>
            <a:endParaRPr/>
          </a:p>
          <a:p>
            <a:pPr marL="0" marR="0" lvl="0" indent="0" algn="l" rtl="0">
              <a:spcBef>
                <a:spcPts val="200"/>
              </a:spcBef>
              <a:spcAft>
                <a:spcPts val="0"/>
              </a:spcAft>
              <a:buNone/>
            </a:pPr>
            <a:endParaRPr sz="18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&gt; GET /channels/general/messages HTTP/1.1</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&gt; Host: chat.example.com</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&gt; User-Agent: curl/8.1.2</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&gt; Accept: */*</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&gt;</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&lt; HTTP/1.1 200 OK</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&lt; Content-Type: application/json</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&lt; Content-Length: 312</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&lt;</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[{"id": 845, "author": "bob", "text": "morning!"},</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 {"id": 846, "author": "carol", "text": "morning bob"},</a:t>
            </a:r>
            <a:endParaRPr/>
          </a:p>
          <a:p>
            <a:pPr marL="0" marR="0" lvl="0" indent="0" algn="l" rtl="0">
              <a:spcBef>
                <a:spcPts val="200"/>
              </a:spcBef>
              <a:spcAft>
                <a:spcPts val="0"/>
              </a:spcAft>
              <a:buNone/>
            </a:pPr>
            <a:r>
              <a:rPr lang="en-US" sz="1800" b="1" i="0" u="none" strike="noStrike" cap="none">
                <a:solidFill>
                  <a:srgbClr val="333344"/>
                </a:solidFill>
                <a:latin typeface="Courier New"/>
                <a:ea typeface="Courier New"/>
                <a:cs typeface="Courier New"/>
                <a:sym typeface="Courier New"/>
              </a:rPr>
              <a:t>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6"/>
        <p:cNvGrpSpPr/>
        <p:nvPr/>
      </p:nvGrpSpPr>
      <p:grpSpPr>
        <a:xfrm>
          <a:off x="0" y="0"/>
          <a:ext cx="0" cy="0"/>
          <a:chOff x="0" y="0"/>
          <a:chExt cx="0" cy="0"/>
        </a:xfrm>
      </p:grpSpPr>
      <p:sp>
        <p:nvSpPr>
          <p:cNvPr id="327" name="Google Shape;327;p25"/>
          <p:cNvSpPr txBox="1"/>
          <p:nvPr/>
        </p:nvSpPr>
        <p:spPr>
          <a:xfrm>
            <a:off x="731520" y="27432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i="0" u="none" strike="noStrike" cap="none">
                <a:solidFill>
                  <a:srgbClr val="FFFFFF"/>
                </a:solidFill>
                <a:latin typeface="Calibri"/>
                <a:ea typeface="Calibri"/>
                <a:cs typeface="Calibri"/>
                <a:sym typeface="Calibri"/>
              </a:rPr>
              <a:t>TRY IT  </a:t>
            </a:r>
            <a:endParaRPr/>
          </a:p>
          <a:p>
            <a:pPr marL="0" marR="0" lvl="0" indent="0" algn="l" rtl="0">
              <a:spcBef>
                <a:spcPts val="0"/>
              </a:spcBef>
              <a:spcAft>
                <a:spcPts val="0"/>
              </a:spcAft>
              <a:buNone/>
            </a:pPr>
            <a:r>
              <a:rPr lang="en-US" sz="3000" b="1">
                <a:solidFill>
                  <a:srgbClr val="1A1A2E"/>
                </a:solidFill>
                <a:latin typeface="Calibri"/>
                <a:ea typeface="Calibri"/>
                <a:cs typeface="Calibri"/>
                <a:sym typeface="Calibri"/>
              </a:rPr>
              <a:t>Read this request. What is it asking for?</a:t>
            </a:r>
            <a:endParaRPr/>
          </a:p>
        </p:txBody>
      </p:sp>
      <p:sp>
        <p:nvSpPr>
          <p:cNvPr id="328" name="Google Shape;328;p25"/>
          <p:cNvSpPr/>
          <p:nvPr/>
        </p:nvSpPr>
        <p:spPr>
          <a:xfrm>
            <a:off x="640080" y="228600"/>
            <a:ext cx="1097280" cy="365760"/>
          </a:xfrm>
          <a:prstGeom prst="roundRect">
            <a:avLst>
              <a:gd name="adj" fmla="val 16667"/>
            </a:avLst>
          </a:prstGeom>
          <a:solidFill>
            <a:srgbClr val="5B21B6"/>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29" name="Google Shape;329;p25"/>
          <p:cNvSpPr/>
          <p:nvPr/>
        </p:nvSpPr>
        <p:spPr>
          <a:xfrm>
            <a:off x="731520" y="1371600"/>
            <a:ext cx="10728655" cy="50292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0" name="Google Shape;330;p25"/>
          <p:cNvSpPr txBox="1"/>
          <p:nvPr/>
        </p:nvSpPr>
        <p:spPr>
          <a:xfrm>
            <a:off x="1005840" y="1554480"/>
            <a:ext cx="10179900" cy="4376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700" b="1">
                <a:solidFill>
                  <a:srgbClr val="333344"/>
                </a:solidFill>
                <a:latin typeface="Courier New"/>
                <a:ea typeface="Courier New"/>
                <a:cs typeface="Courier New"/>
                <a:sym typeface="Courier New"/>
              </a:rPr>
              <a:t>DELETE /channels/general/messages/42 HTTP/1.1</a:t>
            </a:r>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Host: chat.example.com</a:t>
            </a:r>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Authorization: Bearer abc123xyz</a:t>
            </a:r>
            <a:endParaRPr/>
          </a:p>
          <a:p>
            <a:pPr marL="0" marR="0" lvl="0" indent="0" algn="l" rtl="0">
              <a:spcBef>
                <a:spcPts val="200"/>
              </a:spcBef>
              <a:spcAft>
                <a:spcPts val="0"/>
              </a:spcAft>
              <a:buNone/>
            </a:pPr>
            <a:endParaRPr sz="17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7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Answer the following:</a:t>
            </a:r>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1. What HTTP method? </a:t>
            </a:r>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2. What resource is being acted on? </a:t>
            </a:r>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3. In plain English, what is the client asking the server to do?   </a:t>
            </a:r>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4. Is this request idempotent? Why or why not?</a:t>
            </a:r>
            <a:endParaRPr/>
          </a:p>
          <a:p>
            <a:pPr marL="0" marR="0" lvl="0" indent="0" algn="l" rtl="0">
              <a:spcBef>
                <a:spcPts val="200"/>
              </a:spcBef>
              <a:spcAft>
                <a:spcPts val="0"/>
              </a:spcAft>
              <a:buNone/>
            </a:pPr>
            <a:r>
              <a:rPr lang="en-US" sz="1700" b="1">
                <a:solidFill>
                  <a:srgbClr val="333344"/>
                </a:solidFill>
                <a:latin typeface="Courier New"/>
                <a:ea typeface="Courier New"/>
                <a:cs typeface="Courier New"/>
                <a:sym typeface="Courier New"/>
              </a:rPr>
              <a:t>#    </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5"/>
        <p:cNvGrpSpPr/>
        <p:nvPr/>
      </p:nvGrpSpPr>
      <p:grpSpPr>
        <a:xfrm>
          <a:off x="0" y="0"/>
          <a:ext cx="0" cy="0"/>
          <a:chOff x="0" y="0"/>
          <a:chExt cx="0" cy="0"/>
        </a:xfrm>
      </p:grpSpPr>
      <p:sp>
        <p:nvSpPr>
          <p:cNvPr id="336" name="Google Shape;336;p26"/>
          <p:cNvSpPr txBox="1"/>
          <p:nvPr/>
        </p:nvSpPr>
        <p:spPr>
          <a:xfrm>
            <a:off x="731520" y="27432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600" b="1">
                <a:solidFill>
                  <a:srgbClr val="FFFFFF"/>
                </a:solidFill>
                <a:latin typeface="Calibri"/>
                <a:ea typeface="Calibri"/>
                <a:cs typeface="Calibri"/>
                <a:sym typeface="Calibri"/>
              </a:rPr>
              <a:t>ANSWER  </a:t>
            </a:r>
            <a:endParaRPr/>
          </a:p>
          <a:p>
            <a:pPr marL="0" marR="0" lvl="0" indent="0" algn="l" rtl="0">
              <a:spcBef>
                <a:spcPts val="0"/>
              </a:spcBef>
              <a:spcAft>
                <a:spcPts val="0"/>
              </a:spcAft>
              <a:buNone/>
            </a:pPr>
            <a:r>
              <a:rPr lang="en-US" sz="3000" b="1">
                <a:solidFill>
                  <a:srgbClr val="1A1A2E"/>
                </a:solidFill>
                <a:latin typeface="Calibri"/>
                <a:ea typeface="Calibri"/>
                <a:cs typeface="Calibri"/>
                <a:sym typeface="Calibri"/>
              </a:rPr>
              <a:t>Read this request. What is it asking for?</a:t>
            </a:r>
            <a:endParaRPr/>
          </a:p>
        </p:txBody>
      </p:sp>
      <p:sp>
        <p:nvSpPr>
          <p:cNvPr id="337" name="Google Shape;337;p26"/>
          <p:cNvSpPr/>
          <p:nvPr/>
        </p:nvSpPr>
        <p:spPr>
          <a:xfrm>
            <a:off x="640080" y="228600"/>
            <a:ext cx="1188720" cy="365760"/>
          </a:xfrm>
          <a:prstGeom prst="roundRect">
            <a:avLst>
              <a:gd name="adj" fmla="val 16667"/>
            </a:avLst>
          </a:prstGeom>
          <a:solidFill>
            <a:srgbClr val="166534"/>
          </a:solidFill>
          <a:ln>
            <a:noFill/>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8" name="Google Shape;338;p26"/>
          <p:cNvSpPr/>
          <p:nvPr/>
        </p:nvSpPr>
        <p:spPr>
          <a:xfrm>
            <a:off x="731520" y="1371600"/>
            <a:ext cx="10728655" cy="50292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1"/>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339" name="Google Shape;339;p26"/>
          <p:cNvSpPr txBox="1"/>
          <p:nvPr/>
        </p:nvSpPr>
        <p:spPr>
          <a:xfrm>
            <a:off x="1005840" y="1554480"/>
            <a:ext cx="10180015" cy="466344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500" b="1">
                <a:solidFill>
                  <a:srgbClr val="333344"/>
                </a:solidFill>
                <a:latin typeface="Courier New"/>
                <a:ea typeface="Courier New"/>
                <a:cs typeface="Courier New"/>
                <a:sym typeface="Courier New"/>
              </a:rPr>
              <a:t>DELETE /channels/general/messages/42 HTTP/1.1</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Host: chat.example.com</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Authorization: Bearer abc123xyz</a:t>
            </a:r>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endParaRPr sz="1500" b="1">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Answers:</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1. What HTTP method? DELETE</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2. What resource is being acted on? message 42 in the general channel</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3. In plain English, what is the client asking the server to do?</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Delete message 42 from the #general channel, on behalf of</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the user identified by the bearer token abc123xyz.</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4. Is this request idempotent? Why or why not?</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YES. Deleting an already-deleted message is a no-op, so</a:t>
            </a:r>
            <a:endParaRPr/>
          </a:p>
          <a:p>
            <a:pPr marL="0" marR="0" lvl="0" indent="0" algn="l" rtl="0">
              <a:spcBef>
                <a:spcPts val="200"/>
              </a:spcBef>
              <a:spcAft>
                <a:spcPts val="0"/>
              </a:spcAft>
              <a:buNone/>
            </a:pPr>
            <a:r>
              <a:rPr lang="en-US" sz="1500" b="1">
                <a:solidFill>
                  <a:srgbClr val="333344"/>
                </a:solidFill>
                <a:latin typeface="Courier New"/>
                <a:ea typeface="Courier New"/>
                <a:cs typeface="Courier New"/>
                <a:sym typeface="Courier New"/>
              </a:rPr>
              <a:t>#    retrying this request is safe.</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4"/>
        <p:cNvGrpSpPr/>
        <p:nvPr/>
      </p:nvGrpSpPr>
      <p:grpSpPr>
        <a:xfrm>
          <a:off x="0" y="0"/>
          <a:ext cx="0" cy="0"/>
          <a:chOff x="0" y="0"/>
          <a:chExt cx="0" cy="0"/>
        </a:xfrm>
      </p:grpSpPr>
      <p:sp>
        <p:nvSpPr>
          <p:cNvPr id="345" name="Google Shape;345;p27"/>
          <p:cNvSpPr txBox="1"/>
          <p:nvPr/>
        </p:nvSpPr>
        <p:spPr>
          <a:xfrm>
            <a:off x="731520" y="365760"/>
            <a:ext cx="10728655" cy="9144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Where this goes next</a:t>
            </a:r>
            <a:endParaRPr/>
          </a:p>
        </p:txBody>
      </p:sp>
      <p:sp>
        <p:nvSpPr>
          <p:cNvPr id="346" name="Google Shape;346;p27"/>
          <p:cNvSpPr txBox="1"/>
          <p:nvPr/>
        </p:nvSpPr>
        <p:spPr>
          <a:xfrm>
            <a:off x="914400" y="1463040"/>
            <a:ext cx="10362900" cy="4787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333344"/>
                </a:solidFill>
                <a:latin typeface="Calibri"/>
                <a:ea typeface="Calibri"/>
                <a:cs typeface="Calibri"/>
                <a:sym typeface="Calibri"/>
              </a:rPr>
              <a:t>We’ve covered</a:t>
            </a:r>
            <a:r>
              <a:rPr lang="en-US" sz="2400" b="0">
                <a:solidFill>
                  <a:srgbClr val="333344"/>
                </a:solidFill>
                <a:latin typeface="Calibri"/>
                <a:ea typeface="Calibri"/>
                <a:cs typeface="Calibri"/>
                <a:sym typeface="Calibri"/>
              </a:rPr>
              <a:t> </a:t>
            </a:r>
            <a:r>
              <a:rPr lang="en-US" sz="2400" b="1">
                <a:solidFill>
                  <a:srgbClr val="333344"/>
                </a:solidFill>
                <a:latin typeface="Calibri"/>
                <a:ea typeface="Calibri"/>
                <a:cs typeface="Calibri"/>
                <a:sym typeface="Calibri"/>
              </a:rPr>
              <a:t>what</a:t>
            </a:r>
            <a:r>
              <a:rPr lang="en-US" sz="2400" b="0">
                <a:solidFill>
                  <a:srgbClr val="333344"/>
                </a:solidFill>
                <a:latin typeface="Calibri"/>
                <a:ea typeface="Calibri"/>
                <a:cs typeface="Calibri"/>
                <a:sym typeface="Calibri"/>
              </a:rPr>
              <a:t> a REST API is, and </a:t>
            </a:r>
            <a:r>
              <a:rPr lang="en-US" sz="2400" b="1">
                <a:solidFill>
                  <a:srgbClr val="333344"/>
                </a:solidFill>
                <a:latin typeface="Calibri"/>
                <a:ea typeface="Calibri"/>
                <a:cs typeface="Calibri"/>
                <a:sym typeface="Calibri"/>
              </a:rPr>
              <a:t>why</a:t>
            </a:r>
            <a:r>
              <a:rPr lang="en-US" sz="2400" b="0">
                <a:solidFill>
                  <a:srgbClr val="333344"/>
                </a:solidFill>
                <a:latin typeface="Calibri"/>
                <a:ea typeface="Calibri"/>
                <a:cs typeface="Calibri"/>
                <a:sym typeface="Calibri"/>
              </a:rPr>
              <a:t> it looks the way it does.</a:t>
            </a:r>
            <a:endParaRPr/>
          </a:p>
          <a:p>
            <a:pPr marL="0" marR="0" lvl="0" indent="0" algn="l" rtl="0">
              <a:spcBef>
                <a:spcPts val="600"/>
              </a:spcBef>
              <a:spcAft>
                <a:spcPts val="0"/>
              </a:spcAft>
              <a:buNone/>
            </a:pPr>
            <a:endParaRPr sz="2400" b="0">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N</a:t>
            </a:r>
            <a:r>
              <a:rPr lang="en-US" sz="2400">
                <a:solidFill>
                  <a:srgbClr val="333344"/>
                </a:solidFill>
                <a:latin typeface="Calibri"/>
                <a:ea typeface="Calibri"/>
                <a:cs typeface="Calibri"/>
                <a:sym typeface="Calibri"/>
              </a:rPr>
              <a:t>ow we</a:t>
            </a:r>
            <a:r>
              <a:rPr lang="en-US" sz="2400" b="0">
                <a:solidFill>
                  <a:srgbClr val="333344"/>
                </a:solidFill>
                <a:latin typeface="Calibri"/>
                <a:ea typeface="Calibri"/>
                <a:cs typeface="Calibri"/>
                <a:sym typeface="Calibri"/>
              </a:rPr>
              <a:t> actually build one.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Python framework: </a:t>
            </a:r>
            <a:r>
              <a:rPr lang="en-US" sz="2000" b="1" i="0" u="none" strike="noStrike" cap="none">
                <a:solidFill>
                  <a:srgbClr val="666677"/>
                </a:solidFill>
                <a:latin typeface="Calibri"/>
                <a:ea typeface="Calibri"/>
                <a:cs typeface="Calibri"/>
                <a:sym typeface="Calibri"/>
              </a:rPr>
              <a:t>FastAPI</a:t>
            </a:r>
            <a:r>
              <a:rPr lang="en-US" sz="2000" b="0" i="0" u="none" strike="noStrike" cap="none">
                <a:solidFill>
                  <a:srgbClr val="666677"/>
                </a:solidFill>
                <a:latin typeface="Calibri"/>
                <a:ea typeface="Calibri"/>
                <a:cs typeface="Calibri"/>
                <a:sym typeface="Calibri"/>
              </a:rPr>
              <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You define endpoints by writing regular Python functions.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Pydantic handles validation. uvicorn runs the server.</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Assignment 2 </a:t>
            </a:r>
            <a:r>
              <a:rPr lang="en-US" sz="2400">
                <a:solidFill>
                  <a:srgbClr val="333344"/>
                </a:solidFill>
                <a:latin typeface="Calibri"/>
                <a:ea typeface="Calibri"/>
                <a:cs typeface="Calibri"/>
                <a:sym typeface="Calibri"/>
              </a:rPr>
              <a:t>builds off these two classes.</a:t>
            </a:r>
            <a:r>
              <a:rPr lang="en-US" sz="2400" b="0">
                <a:solidFill>
                  <a:srgbClr val="333344"/>
                </a:solidFill>
                <a:latin typeface="Calibri"/>
                <a:ea typeface="Calibri"/>
                <a:cs typeface="Calibri"/>
                <a:sym typeface="Calibri"/>
              </a:rPr>
              <a:t> You will: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Turn your week-2 </a:t>
            </a:r>
            <a:r>
              <a:rPr lang="en-US" sz="2000">
                <a:solidFill>
                  <a:srgbClr val="666677"/>
                </a:solidFill>
                <a:latin typeface="Calibri"/>
                <a:ea typeface="Calibri"/>
                <a:cs typeface="Calibri"/>
                <a:sym typeface="Calibri"/>
              </a:rPr>
              <a:t>BBS</a:t>
            </a:r>
            <a:r>
              <a:rPr lang="en-US" sz="2000" b="0" i="0" u="none" strike="noStrike" cap="none">
                <a:solidFill>
                  <a:srgbClr val="666677"/>
                </a:solidFill>
                <a:latin typeface="Calibri"/>
                <a:ea typeface="Calibri"/>
                <a:cs typeface="Calibri"/>
                <a:sym typeface="Calibri"/>
              </a:rPr>
              <a:t> into a real HTTP API</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Use GET, POST, DELETE, proper status codes, JSON bodies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Test it with curl before writing any client code</a:t>
            </a:r>
            <a:endParaRPr/>
          </a:p>
          <a:p>
            <a:pPr marL="0" marR="0" lvl="0" indent="0" algn="l" rtl="0">
              <a:spcBef>
                <a:spcPts val="600"/>
              </a:spcBef>
              <a:spcAft>
                <a:spcPts val="0"/>
              </a:spcAft>
              <a:buNone/>
            </a:pP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1"/>
        <p:cNvGrpSpPr/>
        <p:nvPr/>
      </p:nvGrpSpPr>
      <p:grpSpPr>
        <a:xfrm>
          <a:off x="0" y="0"/>
          <a:ext cx="0" cy="0"/>
          <a:chOff x="0" y="0"/>
          <a:chExt cx="0" cy="0"/>
        </a:xfrm>
      </p:grpSpPr>
      <p:sp>
        <p:nvSpPr>
          <p:cNvPr id="352" name="Google Shape;352;g3d5effa7ec8_1_36"/>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a:solidFill>
                  <a:srgbClr val="1A1A2E"/>
                </a:solidFill>
                <a:latin typeface="Calibri"/>
                <a:ea typeface="Calibri"/>
                <a:cs typeface="Calibri"/>
                <a:sym typeface="Calibri"/>
              </a:rPr>
              <a:t>Where this goes next</a:t>
            </a:r>
            <a:endParaRPr/>
          </a:p>
        </p:txBody>
      </p:sp>
      <p:sp>
        <p:nvSpPr>
          <p:cNvPr id="353" name="Google Shape;353;g3d5effa7ec8_1_36"/>
          <p:cNvSpPr txBox="1"/>
          <p:nvPr/>
        </p:nvSpPr>
        <p:spPr>
          <a:xfrm>
            <a:off x="914400" y="1463040"/>
            <a:ext cx="10362900" cy="3340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333344"/>
                </a:solidFill>
                <a:latin typeface="Calibri"/>
                <a:ea typeface="Calibri"/>
                <a:cs typeface="Calibri"/>
                <a:sym typeface="Calibri"/>
              </a:rPr>
              <a:t>We’ve covered</a:t>
            </a:r>
            <a:r>
              <a:rPr lang="en-US" sz="2400" b="0">
                <a:solidFill>
                  <a:srgbClr val="333344"/>
                </a:solidFill>
                <a:latin typeface="Calibri"/>
                <a:ea typeface="Calibri"/>
                <a:cs typeface="Calibri"/>
                <a:sym typeface="Calibri"/>
              </a:rPr>
              <a:t> </a:t>
            </a:r>
            <a:r>
              <a:rPr lang="en-US" sz="2400" b="1">
                <a:solidFill>
                  <a:srgbClr val="333344"/>
                </a:solidFill>
                <a:latin typeface="Calibri"/>
                <a:ea typeface="Calibri"/>
                <a:cs typeface="Calibri"/>
                <a:sym typeface="Calibri"/>
              </a:rPr>
              <a:t>what</a:t>
            </a:r>
            <a:r>
              <a:rPr lang="en-US" sz="2400" b="0">
                <a:solidFill>
                  <a:srgbClr val="333344"/>
                </a:solidFill>
                <a:latin typeface="Calibri"/>
                <a:ea typeface="Calibri"/>
                <a:cs typeface="Calibri"/>
                <a:sym typeface="Calibri"/>
              </a:rPr>
              <a:t> a REST API is, and </a:t>
            </a:r>
            <a:r>
              <a:rPr lang="en-US" sz="2400" b="1">
                <a:solidFill>
                  <a:srgbClr val="333344"/>
                </a:solidFill>
                <a:latin typeface="Calibri"/>
                <a:ea typeface="Calibri"/>
                <a:cs typeface="Calibri"/>
                <a:sym typeface="Calibri"/>
              </a:rPr>
              <a:t>why</a:t>
            </a:r>
            <a:r>
              <a:rPr lang="en-US" sz="2400" b="0">
                <a:solidFill>
                  <a:srgbClr val="333344"/>
                </a:solidFill>
                <a:latin typeface="Calibri"/>
                <a:ea typeface="Calibri"/>
                <a:cs typeface="Calibri"/>
                <a:sym typeface="Calibri"/>
              </a:rPr>
              <a:t> it looks the way it does.</a:t>
            </a:r>
            <a:endParaRPr/>
          </a:p>
          <a:p>
            <a:pPr marL="0" marR="0" lvl="0" indent="0" algn="l" rtl="0">
              <a:spcBef>
                <a:spcPts val="600"/>
              </a:spcBef>
              <a:spcAft>
                <a:spcPts val="0"/>
              </a:spcAft>
              <a:buNone/>
            </a:pPr>
            <a:endParaRPr sz="2400" b="0">
              <a:solidFill>
                <a:srgbClr val="333344"/>
              </a:solidFill>
              <a:latin typeface="Calibri"/>
              <a:ea typeface="Calibri"/>
              <a:cs typeface="Calibri"/>
              <a:sym typeface="Calibri"/>
            </a:endParaRPr>
          </a:p>
          <a:p>
            <a:pPr marL="0" lvl="0" indent="0" algn="l" rtl="0">
              <a:spcBef>
                <a:spcPts val="600"/>
              </a:spcBef>
              <a:spcAft>
                <a:spcPts val="0"/>
              </a:spcAft>
              <a:buNone/>
            </a:pPr>
            <a:r>
              <a:rPr lang="en-US" sz="2400">
                <a:solidFill>
                  <a:srgbClr val="333344"/>
                </a:solidFill>
                <a:latin typeface="Calibri"/>
                <a:ea typeface="Calibri"/>
                <a:cs typeface="Calibri"/>
                <a:sym typeface="Calibri"/>
              </a:rPr>
              <a:t>Now we actually build one.</a:t>
            </a:r>
            <a:endParaRPr sz="2400">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Python framework: </a:t>
            </a:r>
            <a:r>
              <a:rPr lang="en-US" sz="2000" b="1" i="0" u="none" strike="noStrike" cap="none">
                <a:solidFill>
                  <a:srgbClr val="666677"/>
                </a:solidFill>
                <a:latin typeface="Calibri"/>
                <a:ea typeface="Calibri"/>
                <a:cs typeface="Calibri"/>
                <a:sym typeface="Calibri"/>
              </a:rPr>
              <a:t>FastAPI</a:t>
            </a:r>
            <a:r>
              <a:rPr lang="en-US" sz="2000" b="0" i="0" u="none" strike="noStrike" cap="none">
                <a:solidFill>
                  <a:srgbClr val="666677"/>
                </a:solidFill>
                <a:latin typeface="Calibri"/>
                <a:ea typeface="Calibri"/>
                <a:cs typeface="Calibri"/>
                <a:sym typeface="Calibri"/>
              </a:rPr>
              <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You define endpoints by writing regular Python functions.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Pydantic handles validation. uvicorn runs the server.</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a:solidFill>
                  <a:srgbClr val="333344"/>
                </a:solidFill>
                <a:latin typeface="Calibri"/>
                <a:ea typeface="Calibri"/>
                <a:cs typeface="Calibri"/>
                <a:sym typeface="Calibri"/>
              </a:rPr>
              <a:t>When in doubt, keep asking: </a:t>
            </a:r>
            <a:r>
              <a:rPr lang="en-US" sz="2400" b="1">
                <a:solidFill>
                  <a:srgbClr val="333344"/>
                </a:solidFill>
                <a:latin typeface="Calibri"/>
                <a:ea typeface="Calibri"/>
                <a:cs typeface="Calibri"/>
                <a:sym typeface="Calibri"/>
              </a:rPr>
              <a:t>what's the noun? what's the verb?</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EDE9FE"/>
        </a:solidFill>
        <a:effectLst/>
      </p:bgPr>
    </p:bg>
    <p:spTree>
      <p:nvGrpSpPr>
        <p:cNvPr id="1" name="Shape 358"/>
        <p:cNvGrpSpPr/>
        <p:nvPr/>
      </p:nvGrpSpPr>
      <p:grpSpPr>
        <a:xfrm>
          <a:off x="0" y="0"/>
          <a:ext cx="0" cy="0"/>
          <a:chOff x="0" y="0"/>
          <a:chExt cx="0" cy="0"/>
        </a:xfrm>
      </p:grpSpPr>
      <p:sp>
        <p:nvSpPr>
          <p:cNvPr id="359" name="Google Shape;359;g3d5effa7ec8_1_50"/>
          <p:cNvSpPr txBox="1"/>
          <p:nvPr/>
        </p:nvSpPr>
        <p:spPr>
          <a:xfrm>
            <a:off x="914400" y="2286000"/>
            <a:ext cx="10362900" cy="769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b="1" i="0" u="none" strike="noStrike" cap="none">
                <a:solidFill>
                  <a:srgbClr val="5B21B6"/>
                </a:solidFill>
                <a:latin typeface="Calibri"/>
                <a:ea typeface="Calibri"/>
                <a:cs typeface="Calibri"/>
                <a:sym typeface="Calibri"/>
              </a:rPr>
              <a:t>From the Raw Bytes to a Response</a:t>
            </a:r>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4"/>
        <p:cNvGrpSpPr/>
        <p:nvPr/>
      </p:nvGrpSpPr>
      <p:grpSpPr>
        <a:xfrm>
          <a:off x="0" y="0"/>
          <a:ext cx="0" cy="0"/>
          <a:chOff x="0" y="0"/>
          <a:chExt cx="0" cy="0"/>
        </a:xfrm>
      </p:grpSpPr>
      <p:sp>
        <p:nvSpPr>
          <p:cNvPr id="365" name="Google Shape;365;g3d5effa7ec8_1_55"/>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Remember these bytes?</a:t>
            </a:r>
            <a:endParaRPr/>
          </a:p>
        </p:txBody>
      </p:sp>
      <p:sp>
        <p:nvSpPr>
          <p:cNvPr id="366" name="Google Shape;366;g3d5effa7ec8_1_55"/>
          <p:cNvSpPr txBox="1"/>
          <p:nvPr/>
        </p:nvSpPr>
        <p:spPr>
          <a:xfrm>
            <a:off x="914400" y="1463040"/>
            <a:ext cx="10362900" cy="44331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333344"/>
                </a:solidFill>
                <a:latin typeface="Calibri"/>
                <a:ea typeface="Calibri"/>
                <a:cs typeface="Calibri"/>
                <a:sym typeface="Calibri"/>
              </a:rPr>
              <a:t>Previously</a:t>
            </a:r>
            <a:r>
              <a:rPr lang="en-US" sz="2400" b="0" i="0" u="none" strike="noStrike" cap="none">
                <a:solidFill>
                  <a:srgbClr val="333344"/>
                </a:solidFill>
                <a:latin typeface="Calibri"/>
                <a:ea typeface="Calibri"/>
                <a:cs typeface="Calibri"/>
                <a:sym typeface="Calibri"/>
              </a:rPr>
              <a:t> we stared at a real HTTP request on the wire:</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POST /channels/general/messages HTTP/1.1</a:t>
            </a:r>
            <a:endParaRPr b="1">
              <a:latin typeface="Courier Prime"/>
              <a:ea typeface="Courier Prime"/>
              <a:cs typeface="Courier Prime"/>
              <a:sym typeface="Courier Prime"/>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Host: chat.example.com</a:t>
            </a:r>
            <a:endParaRPr b="1">
              <a:latin typeface="Courier Prime"/>
              <a:ea typeface="Courier Prime"/>
              <a:cs typeface="Courier Prime"/>
              <a:sym typeface="Courier Prime"/>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Content-Type: application/json</a:t>
            </a:r>
            <a:endParaRPr b="1">
              <a:latin typeface="Courier Prime"/>
              <a:ea typeface="Courier Prime"/>
              <a:cs typeface="Courier Prime"/>
              <a:sym typeface="Courier Prime"/>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Content-Length: 58</a:t>
            </a:r>
            <a:endParaRPr b="1">
              <a:latin typeface="Courier Prime"/>
              <a:ea typeface="Courier Prime"/>
              <a:cs typeface="Courier Prime"/>
              <a:sym typeface="Courier Prime"/>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Authorization: Bearer abc123xyz</a:t>
            </a:r>
            <a:endParaRPr b="1">
              <a:latin typeface="Courier Prime"/>
              <a:ea typeface="Courier Prime"/>
              <a:cs typeface="Courier Prime"/>
              <a:sym typeface="Courier Prime"/>
            </a:endParaRPr>
          </a:p>
          <a:p>
            <a:pPr marL="0" marR="0" lvl="0" indent="0" algn="l" rtl="0">
              <a:spcBef>
                <a:spcPts val="600"/>
              </a:spcBef>
              <a:spcAft>
                <a:spcPts val="0"/>
              </a:spcAft>
              <a:buNone/>
            </a:pPr>
            <a:endParaRPr sz="2000" b="1" i="0" u="none" strike="noStrike" cap="none">
              <a:solidFill>
                <a:srgbClr val="666677"/>
              </a:solidFill>
              <a:latin typeface="Courier Prime"/>
              <a:ea typeface="Courier Prime"/>
              <a:cs typeface="Courier Prime"/>
              <a:sym typeface="Courier Prime"/>
            </a:endParaRPr>
          </a:p>
          <a:p>
            <a:pPr marL="457200" marR="0" lvl="1" indent="0" algn="l" rtl="0">
              <a:spcBef>
                <a:spcPts val="600"/>
              </a:spcBef>
              <a:spcAft>
                <a:spcPts val="0"/>
              </a:spcAft>
              <a:buNone/>
            </a:pPr>
            <a:r>
              <a:rPr lang="en-US" sz="2000" b="1" i="0" u="none" strike="noStrike" cap="none">
                <a:solidFill>
                  <a:srgbClr val="666677"/>
                </a:solidFill>
                <a:latin typeface="Courier Prime"/>
                <a:ea typeface="Courier Prime"/>
                <a:cs typeface="Courier Prime"/>
                <a:sym typeface="Courier Prime"/>
              </a:rPr>
              <a:t>  {"author": "alice", "text": "hi everyone, just joined"}</a:t>
            </a:r>
            <a:endParaRPr b="1">
              <a:latin typeface="Courier Prime"/>
              <a:ea typeface="Courier Prime"/>
              <a:cs typeface="Courier Prime"/>
              <a:sym typeface="Courier Prime"/>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a:solidFill>
                  <a:srgbClr val="333344"/>
                </a:solidFill>
                <a:latin typeface="Calibri"/>
                <a:ea typeface="Calibri"/>
                <a:cs typeface="Calibri"/>
                <a:sym typeface="Calibri"/>
              </a:rPr>
              <a:t>Next</a:t>
            </a:r>
            <a:r>
              <a:rPr lang="en-US" sz="2400" b="0" i="0" u="none" strike="noStrike" cap="none">
                <a:solidFill>
                  <a:srgbClr val="333344"/>
                </a:solidFill>
                <a:latin typeface="Calibri"/>
                <a:ea typeface="Calibri"/>
                <a:cs typeface="Calibri"/>
                <a:sym typeface="Calibri"/>
              </a:rPr>
              <a:t>: what does it take to write Python code that </a:t>
            </a:r>
            <a:r>
              <a:rPr lang="en-US" sz="2400" b="1" i="0" u="none" strike="noStrike" cap="none">
                <a:solidFill>
                  <a:srgbClr val="333344"/>
                </a:solidFill>
                <a:latin typeface="Calibri"/>
                <a:ea typeface="Calibri"/>
                <a:cs typeface="Calibri"/>
                <a:sym typeface="Calibri"/>
              </a:rPr>
              <a:t>answers</a:t>
            </a:r>
            <a:r>
              <a:rPr lang="en-US" sz="2400" b="0" i="0" u="none" strike="noStrike" cap="none">
                <a:solidFill>
                  <a:srgbClr val="333344"/>
                </a:solidFill>
                <a:latin typeface="Calibri"/>
                <a:ea typeface="Calibri"/>
                <a:cs typeface="Calibri"/>
                <a:sym typeface="Calibri"/>
              </a:rPr>
              <a:t> one?</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1"/>
        <p:cNvGrpSpPr/>
        <p:nvPr/>
      </p:nvGrpSpPr>
      <p:grpSpPr>
        <a:xfrm>
          <a:off x="0" y="0"/>
          <a:ext cx="0" cy="0"/>
          <a:chOff x="0" y="0"/>
          <a:chExt cx="0" cy="0"/>
        </a:xfrm>
      </p:grpSpPr>
      <p:sp>
        <p:nvSpPr>
          <p:cNvPr id="372" name="Google Shape;372;g3d5effa7ec8_1_61"/>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What would it take in pure Python?</a:t>
            </a:r>
            <a:endParaRPr/>
          </a:p>
        </p:txBody>
      </p:sp>
      <p:sp>
        <p:nvSpPr>
          <p:cNvPr id="373" name="Google Shape;373;g3d5effa7ec8_1_61"/>
          <p:cNvSpPr txBox="1"/>
          <p:nvPr/>
        </p:nvSpPr>
        <p:spPr>
          <a:xfrm>
            <a:off x="914400" y="1184040"/>
            <a:ext cx="10362900" cy="5433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To respond to one HTTP request with nothing but the standard library:</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1. Open a TCP socket and listen on a port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2. Accept an incoming connection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3. Read bytes off the socket until you have a full request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4. Parse the request line (method, path, version) from text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5. Parse the headers (key: value lines)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6. Figure out which of your functions handles this URL</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7. Call that function</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8. Turn the return value into HTTP response bytes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9. Write those bytes back to the socket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10. Close the connection</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78"/>
        <p:cNvGrpSpPr/>
        <p:nvPr/>
      </p:nvGrpSpPr>
      <p:grpSpPr>
        <a:xfrm>
          <a:off x="0" y="0"/>
          <a:ext cx="0" cy="0"/>
          <a:chOff x="0" y="0"/>
          <a:chExt cx="0" cy="0"/>
        </a:xfrm>
      </p:grpSpPr>
      <p:sp>
        <p:nvSpPr>
          <p:cNvPr id="379" name="Google Shape;379;g3d5effa7ec8_1_67"/>
          <p:cNvSpPr txBox="1"/>
          <p:nvPr/>
        </p:nvSpPr>
        <p:spPr>
          <a:xfrm>
            <a:off x="731520" y="365760"/>
            <a:ext cx="10728600" cy="5850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200" b="1" i="0" u="none" strike="noStrike" cap="none">
                <a:solidFill>
                  <a:srgbClr val="1A1A2E"/>
                </a:solidFill>
                <a:latin typeface="Calibri"/>
                <a:ea typeface="Calibri"/>
                <a:cs typeface="Calibri"/>
                <a:sym typeface="Calibri"/>
              </a:rPr>
              <a:t>A working handler, the hard way</a:t>
            </a:r>
            <a:endParaRPr/>
          </a:p>
        </p:txBody>
      </p:sp>
      <p:sp>
        <p:nvSpPr>
          <p:cNvPr id="380" name="Google Shape;380;g3d5effa7ec8_1_67"/>
          <p:cNvSpPr txBox="1"/>
          <p:nvPr/>
        </p:nvSpPr>
        <p:spPr>
          <a:xfrm>
            <a:off x="9601200" y="1188720"/>
            <a:ext cx="1828800" cy="307800"/>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US" sz="1400" b="0" i="0" u="none" strike="noStrike" cap="none">
                <a:solidFill>
                  <a:srgbClr val="5B21B6"/>
                </a:solidFill>
                <a:latin typeface="Courier New"/>
                <a:ea typeface="Courier New"/>
                <a:cs typeface="Courier New"/>
                <a:sym typeface="Courier New"/>
              </a:rPr>
              <a:t>Python</a:t>
            </a:r>
            <a:endParaRPr/>
          </a:p>
        </p:txBody>
      </p:sp>
      <p:sp>
        <p:nvSpPr>
          <p:cNvPr id="381" name="Google Shape;381;g3d5effa7ec8_1_67"/>
          <p:cNvSpPr/>
          <p:nvPr/>
        </p:nvSpPr>
        <p:spPr>
          <a:xfrm>
            <a:off x="731500" y="960127"/>
            <a:ext cx="10728600" cy="5721600"/>
          </a:xfrm>
          <a:prstGeom prst="roundRect">
            <a:avLst>
              <a:gd name="adj" fmla="val 16667"/>
            </a:avLst>
          </a:prstGeom>
          <a:solidFill>
            <a:srgbClr val="F0F0F4"/>
          </a:solidFill>
          <a:ln w="12700" cap="flat" cmpd="sng">
            <a:solidFill>
              <a:srgbClr val="EEEEF0"/>
            </a:solidFill>
            <a:prstDash val="solid"/>
            <a:round/>
            <a:headEnd type="none" w="sm" len="sm"/>
            <a:tailEnd type="none" w="sm" len="sm"/>
          </a:ln>
          <a:effectLst>
            <a:outerShdw blurRad="40000" dist="23000" dir="5400000" rotWithShape="0">
              <a:srgbClr val="000000">
                <a:alpha val="349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82" name="Google Shape;382;g3d5effa7ec8_1_67"/>
          <p:cNvSpPr txBox="1"/>
          <p:nvPr/>
        </p:nvSpPr>
        <p:spPr>
          <a:xfrm>
            <a:off x="1005840" y="1142995"/>
            <a:ext cx="10179900" cy="5484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300" b="1" i="0" u="none" strike="noStrike" cap="none">
                <a:solidFill>
                  <a:srgbClr val="333344"/>
                </a:solidFill>
                <a:latin typeface="Courier New"/>
                <a:ea typeface="Courier New"/>
                <a:cs typeface="Courier New"/>
                <a:sym typeface="Courier New"/>
              </a:rPr>
              <a:t>import socket</a:t>
            </a:r>
            <a:endParaRPr/>
          </a:p>
          <a:p>
            <a:pPr marL="0" marR="0" lvl="0" indent="0" algn="l" rtl="0">
              <a:spcBef>
                <a:spcPts val="200"/>
              </a:spcBef>
              <a:spcAft>
                <a:spcPts val="0"/>
              </a:spcAft>
              <a:buNone/>
            </a:pPr>
            <a:endParaRPr sz="13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sock = socket.socket()</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sock.bind(("127.0.0.1", 8000))</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sock.listen()</a:t>
            </a:r>
            <a:endParaRPr/>
          </a:p>
          <a:p>
            <a:pPr marL="0" marR="0" lvl="0" indent="0" algn="l" rtl="0">
              <a:spcBef>
                <a:spcPts val="200"/>
              </a:spcBef>
              <a:spcAft>
                <a:spcPts val="0"/>
              </a:spcAft>
              <a:buNone/>
            </a:pPr>
            <a:endParaRPr sz="13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while True:</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conn, _ = sock.accept()</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req = conn.recv(4096).decode()</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 request line looks like: "GET /ping HTTP/1.1"</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first_line = req.split("\r\n")[0]</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method, path, _ = first_line.split(" ")</a:t>
            </a:r>
            <a:endParaRPr/>
          </a:p>
          <a:p>
            <a:pPr marL="0" marR="0" lvl="0" indent="0" algn="l" rtl="0">
              <a:spcBef>
                <a:spcPts val="200"/>
              </a:spcBef>
              <a:spcAft>
                <a:spcPts val="0"/>
              </a:spcAft>
              <a:buNone/>
            </a:pPr>
            <a:endParaRPr sz="1300" b="1" i="0" u="none" strike="noStrike" cap="none">
              <a:solidFill>
                <a:srgbClr val="333344"/>
              </a:solidFill>
              <a:latin typeface="Courier New"/>
              <a:ea typeface="Courier New"/>
              <a:cs typeface="Courier New"/>
              <a:sym typeface="Courier New"/>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if method == "GET" and path == "/ping":</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body = "pong"</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resp = (</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"HTTP/1.1 200 OK\r\n"</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f"Content-Length: {len(body)}\r\n"</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"Content-Type: text/plain\r\n"</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"\r\n"</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 body</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conn.sendall(resp.encode())</a:t>
            </a:r>
            <a:endParaRPr/>
          </a:p>
          <a:p>
            <a:pPr marL="0" marR="0" lvl="0" indent="0" algn="l" rtl="0">
              <a:spcBef>
                <a:spcPts val="200"/>
              </a:spcBef>
              <a:spcAft>
                <a:spcPts val="0"/>
              </a:spcAft>
              <a:buNone/>
            </a:pPr>
            <a:r>
              <a:rPr lang="en-US" sz="1300" b="1" i="0" u="none" strike="noStrike" cap="none">
                <a:solidFill>
                  <a:srgbClr val="333344"/>
                </a:solidFill>
                <a:latin typeface="Courier New"/>
                <a:ea typeface="Courier New"/>
                <a:cs typeface="Courier New"/>
                <a:sym typeface="Courier New"/>
              </a:rPr>
              <a:t>    conn.close()</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7"/>
        <p:cNvGrpSpPr/>
        <p:nvPr/>
      </p:nvGrpSpPr>
      <p:grpSpPr>
        <a:xfrm>
          <a:off x="0" y="0"/>
          <a:ext cx="0" cy="0"/>
          <a:chOff x="0" y="0"/>
          <a:chExt cx="0" cy="0"/>
        </a:xfrm>
      </p:grpSpPr>
      <p:sp>
        <p:nvSpPr>
          <p:cNvPr id="388" name="Google Shape;388;g3d5effa7ec8_1_75"/>
          <p:cNvSpPr txBox="1"/>
          <p:nvPr/>
        </p:nvSpPr>
        <p:spPr>
          <a:xfrm>
            <a:off x="731520" y="365760"/>
            <a:ext cx="10728600" cy="646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600" b="1" i="0" u="none" strike="noStrike" cap="none">
                <a:solidFill>
                  <a:srgbClr val="1A1A2E"/>
                </a:solidFill>
                <a:latin typeface="Calibri"/>
                <a:ea typeface="Calibri"/>
                <a:cs typeface="Calibri"/>
                <a:sym typeface="Calibri"/>
              </a:rPr>
              <a:t>You could keep going...</a:t>
            </a:r>
            <a:endParaRPr/>
          </a:p>
        </p:txBody>
      </p:sp>
      <p:sp>
        <p:nvSpPr>
          <p:cNvPr id="389" name="Google Shape;389;g3d5effa7ec8_1_75"/>
          <p:cNvSpPr txBox="1"/>
          <p:nvPr/>
        </p:nvSpPr>
        <p:spPr>
          <a:xfrm>
            <a:off x="914388" y="1213415"/>
            <a:ext cx="10362900" cy="5556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a:solidFill>
                  <a:srgbClr val="333344"/>
                </a:solidFill>
                <a:latin typeface="Calibri"/>
                <a:ea typeface="Calibri"/>
                <a:cs typeface="Calibri"/>
                <a:sym typeface="Calibri"/>
              </a:rPr>
              <a:t>That handler only does ONE thing: </a:t>
            </a:r>
            <a:r>
              <a:rPr lang="en-US" sz="2400" b="1" i="0" u="none" strike="noStrike" cap="none">
                <a:solidFill>
                  <a:srgbClr val="333344"/>
                </a:solidFill>
                <a:latin typeface="Courier Prime"/>
                <a:ea typeface="Courier Prime"/>
                <a:cs typeface="Courier Prime"/>
                <a:sym typeface="Courier Prime"/>
              </a:rPr>
              <a:t>GET /ping</a:t>
            </a:r>
            <a:r>
              <a:rPr lang="en-US" sz="2400" b="0" i="0" u="none" strike="noStrike" cap="none">
                <a:solidFill>
                  <a:srgbClr val="333344"/>
                </a:solidFill>
                <a:latin typeface="Calibri"/>
                <a:ea typeface="Calibri"/>
                <a:cs typeface="Calibri"/>
                <a:sym typeface="Calibri"/>
              </a:rPr>
              <a:t> returns </a:t>
            </a:r>
            <a:r>
              <a:rPr lang="en-US" sz="2400" b="1" i="0" u="none" strike="noStrike" cap="none">
                <a:solidFill>
                  <a:srgbClr val="333344"/>
                </a:solidFill>
                <a:latin typeface="Courier Prime"/>
                <a:ea typeface="Courier Prime"/>
                <a:cs typeface="Courier Prime"/>
                <a:sym typeface="Courier Prime"/>
              </a:rPr>
              <a:t>"pong"</a:t>
            </a:r>
            <a:r>
              <a:rPr lang="en-US" sz="2400" b="0" i="0" u="none" strike="noStrike" cap="none">
                <a:solidFill>
                  <a:srgbClr val="333344"/>
                </a:solidFill>
                <a:latin typeface="Calibri"/>
                <a:ea typeface="Calibri"/>
                <a:cs typeface="Calibri"/>
                <a:sym typeface="Calibri"/>
              </a:rPr>
              <a:t>.</a:t>
            </a:r>
            <a:endParaRPr/>
          </a:p>
          <a:p>
            <a:pPr marL="0" marR="0" lvl="0" indent="0" algn="l" rtl="0">
              <a:spcBef>
                <a:spcPts val="600"/>
              </a:spcBef>
              <a:spcAft>
                <a:spcPts val="0"/>
              </a:spcAft>
              <a:buNone/>
            </a:pPr>
            <a:endParaRPr sz="2400" b="0" i="0" u="none" strike="noStrike" cap="none">
              <a:solidFill>
                <a:srgbClr val="333344"/>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To build a real chat API, you'd need to write, from scratch:</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Routing</a:t>
            </a:r>
            <a:r>
              <a:rPr lang="en-US" sz="2000" b="0" i="0" u="none" strike="noStrike" cap="none">
                <a:solidFill>
                  <a:srgbClr val="666677"/>
                </a:solidFill>
                <a:latin typeface="Calibri"/>
                <a:ea typeface="Calibri"/>
                <a:cs typeface="Calibri"/>
                <a:sym typeface="Calibri"/>
              </a:rPr>
              <a:t> - a table mapping (method, path) to functions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Path parameters</a:t>
            </a:r>
            <a:r>
              <a:rPr lang="en-US" sz="2000" b="0" i="0" u="none" strike="noStrike" cap="none">
                <a:solidFill>
                  <a:srgbClr val="666677"/>
                </a:solidFill>
                <a:latin typeface="Calibri"/>
                <a:ea typeface="Calibri"/>
                <a:cs typeface="Calibri"/>
                <a:sym typeface="Calibri"/>
              </a:rPr>
              <a:t> - /messages/42 needs to extract the 42</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Body parsing</a:t>
            </a:r>
            <a:r>
              <a:rPr lang="en-US" sz="2000" b="0" i="0" u="none" strike="noStrike" cap="none">
                <a:solidFill>
                  <a:srgbClr val="666677"/>
                </a:solidFill>
                <a:latin typeface="Calibri"/>
                <a:ea typeface="Calibri"/>
                <a:cs typeface="Calibri"/>
                <a:sym typeface="Calibri"/>
              </a:rPr>
              <a:t> - JSON in, JSON out, with useful errors when it's wrong</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Validation</a:t>
            </a:r>
            <a:r>
              <a:rPr lang="en-US" sz="2000" b="0" i="0" u="none" strike="noStrike" cap="none">
                <a:solidFill>
                  <a:srgbClr val="666677"/>
                </a:solidFill>
                <a:latin typeface="Calibri"/>
                <a:ea typeface="Calibri"/>
                <a:cs typeface="Calibri"/>
                <a:sym typeface="Calibri"/>
              </a:rPr>
              <a:t> - is this actually a string? a number in range?</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Error handling</a:t>
            </a:r>
            <a:r>
              <a:rPr lang="en-US" sz="2000" b="0" i="0" u="none" strike="noStrike" cap="none">
                <a:solidFill>
                  <a:srgbClr val="666677"/>
                </a:solidFill>
                <a:latin typeface="Calibri"/>
                <a:ea typeface="Calibri"/>
                <a:cs typeface="Calibri"/>
                <a:sym typeface="Calibri"/>
              </a:rPr>
              <a:t> - turn exceptions into proper HTTP responses</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Docs</a:t>
            </a:r>
            <a:r>
              <a:rPr lang="en-US" sz="2000" b="0" i="0" u="none" strike="noStrike" cap="none">
                <a:solidFill>
                  <a:srgbClr val="666677"/>
                </a:solidFill>
                <a:latin typeface="Calibri"/>
                <a:ea typeface="Calibri"/>
                <a:cs typeface="Calibri"/>
                <a:sym typeface="Calibri"/>
              </a:rPr>
              <a:t> - so the frontend team knows what endpoints exist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a:t>
            </a:r>
            <a:r>
              <a:rPr lang="en-US" sz="2000" b="1" i="0" u="none" strike="noStrike" cap="none">
                <a:solidFill>
                  <a:srgbClr val="666677"/>
                </a:solidFill>
                <a:latin typeface="Calibri"/>
                <a:ea typeface="Calibri"/>
                <a:cs typeface="Calibri"/>
                <a:sym typeface="Calibri"/>
              </a:rPr>
              <a:t>Concurrency</a:t>
            </a:r>
            <a:r>
              <a:rPr lang="en-US" sz="2000" b="0" i="0" u="none" strike="noStrike" cap="none">
                <a:solidFill>
                  <a:srgbClr val="666677"/>
                </a:solidFill>
                <a:latin typeface="Calibri"/>
                <a:ea typeface="Calibri"/>
                <a:cs typeface="Calibri"/>
                <a:sym typeface="Calibri"/>
              </a:rPr>
              <a:t> - handle more than one request at a time</a:t>
            </a:r>
            <a:endParaRPr/>
          </a:p>
          <a:p>
            <a:pPr marL="0" marR="0" lvl="0" indent="0" algn="l" rtl="0">
              <a:spcBef>
                <a:spcPts val="600"/>
              </a:spcBef>
              <a:spcAft>
                <a:spcPts val="0"/>
              </a:spcAft>
              <a:buNone/>
            </a:pPr>
            <a:endParaRPr sz="2000" b="0" i="0" u="none" strike="noStrike" cap="none">
              <a:solidFill>
                <a:srgbClr val="666677"/>
              </a:solidFill>
              <a:latin typeface="Calibri"/>
              <a:ea typeface="Calibri"/>
              <a:cs typeface="Calibri"/>
              <a:sym typeface="Calibri"/>
            </a:endParaRPr>
          </a:p>
          <a:p>
            <a:pPr marL="0" marR="0" lvl="0" indent="0" algn="l" rtl="0">
              <a:spcBef>
                <a:spcPts val="600"/>
              </a:spcBef>
              <a:spcAft>
                <a:spcPts val="0"/>
              </a:spcAft>
              <a:buNone/>
            </a:pPr>
            <a:r>
              <a:rPr lang="en-US" sz="2400" b="0" i="0" u="none" strike="noStrike" cap="none">
                <a:solidFill>
                  <a:srgbClr val="333344"/>
                </a:solidFill>
                <a:latin typeface="Calibri"/>
                <a:ea typeface="Calibri"/>
                <a:cs typeface="Calibri"/>
                <a:sym typeface="Calibri"/>
              </a:rPr>
              <a:t>Or you could use a framework that already did all of that.</a:t>
            </a:r>
            <a:endParaRPr/>
          </a:p>
          <a:p>
            <a:pPr marL="457200" marR="0" lvl="1" indent="0" algn="l" rtl="0">
              <a:spcBef>
                <a:spcPts val="600"/>
              </a:spcBef>
              <a:spcAft>
                <a:spcPts val="0"/>
              </a:spcAft>
              <a:buNone/>
            </a:pPr>
            <a:r>
              <a:rPr lang="en-US" sz="2000" b="0" i="0" u="none" strike="noStrike" cap="none">
                <a:solidFill>
                  <a:srgbClr val="666677"/>
                </a:solidFill>
                <a:latin typeface="Calibri"/>
                <a:ea typeface="Calibri"/>
                <a:cs typeface="Calibri"/>
                <a:sym typeface="Calibri"/>
              </a:rPr>
              <a:t>  Today that framework is </a:t>
            </a:r>
            <a:r>
              <a:rPr lang="en-US" sz="2000" b="1" i="0" u="none" strike="noStrike" cap="none">
                <a:solidFill>
                  <a:srgbClr val="666677"/>
                </a:solidFill>
                <a:latin typeface="Calibri"/>
                <a:ea typeface="Calibri"/>
                <a:cs typeface="Calibri"/>
                <a:sym typeface="Calibri"/>
              </a:rPr>
              <a:t>FastAPI</a:t>
            </a:r>
            <a:r>
              <a:rPr lang="en-US" sz="2000" b="0" i="0" u="none" strike="noStrike" cap="none">
                <a:solidFill>
                  <a:srgbClr val="666677"/>
                </a:solidFill>
                <a:latin typeface="Calibri"/>
                <a:ea typeface="Calibri"/>
                <a:cs typeface="Calibri"/>
                <a:sym typeface="Calibri"/>
              </a:rPr>
              <a:t>.</a:t>
            </a:r>
            <a:endParaRPr/>
          </a:p>
          <a:p>
            <a:pPr marL="457200" marR="0" lvl="1" indent="0" algn="l" rtl="0">
              <a:spcBef>
                <a:spcPts val="600"/>
              </a:spcBef>
              <a:spcAft>
                <a:spcPts val="0"/>
              </a:spcAft>
              <a:buNone/>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4748</Words>
  <Application>Microsoft Macintosh PowerPoint</Application>
  <PresentationFormat>Widescreen</PresentationFormat>
  <Paragraphs>471</Paragraphs>
  <Slides>42</Slides>
  <Notes>42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42</vt:i4>
      </vt:variant>
    </vt:vector>
  </HeadingPairs>
  <TitlesOfParts>
    <vt:vector size="47" baseType="lpstr">
      <vt:lpstr>Courier Prime</vt:lpstr>
      <vt:lpstr>Courier New</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Andrew Aymeloglu</cp:lastModifiedBy>
  <cp:revision>1</cp:revision>
  <dcterms:created xsi:type="dcterms:W3CDTF">2013-01-27T09:14:16Z</dcterms:created>
  <dcterms:modified xsi:type="dcterms:W3CDTF">2026-04-14T23:28:11Z</dcterms:modified>
</cp:coreProperties>
</file>