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9"/>
  </p:notesMasterIdLst>
  <p:sldIdLst>
    <p:sldId id="269" r:id="rId2"/>
    <p:sldId id="270"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8" roundtripDataSignature="AMtx7mgKE4LfYcrrov+GedJvJv3QCuIu2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06" d="100"/>
          <a:sy n="106" d="100"/>
        </p:scale>
        <p:origin x="1336" y="48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68" Type="http://customschemas.google.com/relationships/presentationmetadata" Target="metadata"/><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7" name="Google Shape;177;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Assignment notes: don’t let agent produce spaghetti code, it should make consistent design decisions from call to call, don’t use ORM</a:t>
            </a:r>
            <a:endParaRPr/>
          </a:p>
          <a:p>
            <a:pPr marL="0" lvl="0" indent="0" algn="l" rtl="0">
              <a:spcBef>
                <a:spcPts val="0"/>
              </a:spcBef>
              <a:spcAft>
                <a:spcPts val="0"/>
              </a:spcAft>
              <a:buNone/>
            </a:pPr>
            <a:r>
              <a:rPr lang="en-US"/>
              <a:t>Today: what's really happening when you read/write data, why serialization exists, and why files eventually break down as a storage mechanism.</a:t>
            </a:r>
            <a:endParaRPr/>
          </a:p>
        </p:txBody>
      </p:sp>
      <p:sp>
        <p:nvSpPr>
          <p:cNvPr id="178" name="Google Shape;178;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Quick orientation so the opening question lands. Most students have seen JSON but may not have a crisp definition. Don't teach the Python API yet - just establish what the format IS.</a:t>
            </a:r>
            <a:endParaRPr/>
          </a:p>
        </p:txBody>
      </p:sp>
      <p:sp>
        <p:nvSpPr>
          <p:cNvPr id="187" name="Google Shape;187;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3" name="Google Shape;193;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Most will say 'the file is saved / persistent.' Push: what IS a dict in memory? Pointers, type tags, hash tables, reference counts. A file is just a flat sequence of bytes. How do you get from one to the other?</a:t>
            </a:r>
            <a:endParaRPr/>
          </a:p>
        </p:txBody>
      </p:sp>
      <p:sp>
        <p:nvSpPr>
          <p:cNvPr id="194" name="Google Shape;194;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1" name="Google Shape;201;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Pull back the curtain on what they've been using since CS1.</a:t>
            </a:r>
            <a:endParaRPr/>
          </a:p>
        </p:txBody>
      </p:sp>
      <p:sp>
        <p:nvSpPr>
          <p:cNvPr id="202" name="Google Shape;202;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7" name="Google Shape;207;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Files have no structure of their own. Whatever structure you think is in there is a convention somebody layered on top of a pile of bytes, and that's the entire reason serialization has to exist.</a:t>
            </a:r>
            <a:endParaRPr/>
          </a:p>
        </p:txBody>
      </p:sp>
      <p:sp>
        <p:nvSpPr>
          <p:cNvPr id="208" name="Google Shape;208;p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 name="Google Shape;214;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File descriptors are a limited resource - a process gets something like 1024 of them on most systems - so if you leak them in a long-running server you'll eventually fall over. That's the actual argument for 'with'. The tidiness argument is a distant second.</a:t>
            </a:r>
            <a:endParaRPr/>
          </a:p>
        </p:txBody>
      </p:sp>
      <p:sp>
        <p:nvSpPr>
          <p:cNvPr id="215" name="Google Shape;215;p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dd4badb058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1" name="Google Shape;221;g3dd4badb058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They've been told 'use with' since CS1 without anyone explaining it, so this is where they find out why. It's resource management, and the tidiness is a side effect.</a:t>
            </a:r>
            <a:endParaRPr/>
          </a:p>
        </p:txBody>
      </p:sp>
      <p:sp>
        <p:nvSpPr>
          <p:cNvPr id="222" name="Google Shape;222;g3dd4badb058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dd4badb058_0_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g3dd4badb058_0_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They've been told 'use with' since CS1 without anyone explaining it, so this is where they find out why. It's resource management, and the tidiness is a side effect.</a:t>
            </a:r>
            <a:endParaRPr/>
          </a:p>
        </p:txBody>
      </p:sp>
      <p:sp>
        <p:nvSpPr>
          <p:cNvPr id="230" name="Google Shape;230;g3dd4badb058_0_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7" name="Google Shape;237;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They've been told 'use with' since CS1 without anyone explaining it, so this is where they find out why. It's resource management, and the tidiness is a side effect.</a:t>
            </a:r>
            <a:endParaRPr/>
          </a:p>
        </p:txBody>
      </p:sp>
      <p:sp>
        <p:nvSpPr>
          <p:cNvPr id="238" name="Google Shape;238;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Students should try to predict each output. Key surprise: sys.getsizeof(msg) is much larger than the serialized form, because the in-memory dict has hash tables, pointers, refcounts. The serialized form is just characters.</a:t>
            </a:r>
            <a:endParaRPr/>
          </a:p>
        </p:txBody>
      </p:sp>
      <p:sp>
        <p:nvSpPr>
          <p:cNvPr id="246" name="Google Shape;246;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4" name="Google Shape;25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184 bytes for a tiny dict! Objects carry a lot of overhead: type pointers, reference counts, hash table buckets. Serialization strips all that away - just the data, in a flat text format. This is why you can't just 'save a dict to a file' directly.</a:t>
            </a:r>
            <a:endParaRPr/>
          </a:p>
        </p:txBody>
      </p:sp>
      <p:sp>
        <p:nvSpPr>
          <p:cNvPr id="255" name="Google Shape;255;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3" name="Google Shape;263;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concept the rest of the lecture hangs off.</a:t>
            </a:r>
            <a:endParaRPr/>
          </a:p>
        </p:txBody>
      </p:sp>
      <p:sp>
        <p:nvSpPr>
          <p:cNvPr id="264" name="Google Shape;264;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framing is what turns JSON and CSV from two libraries you memorize into two different answers to the same question, which is 'how do I get structured data into flat bytes and then back out again.'</a:t>
            </a:r>
            <a:endParaRPr/>
          </a:p>
        </p:txBody>
      </p:sp>
      <p:sp>
        <p:nvSpPr>
          <p:cNvPr id="270" name="Google Shape;270;p1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dd4badb058_0_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6" name="Google Shape;276;g3dd4badb058_0_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framing is what turns JSON and CSV from two libraries you memorize into two different answers to the same question, which is 'how do I get structured data into flat bytes and then back out again.'</a:t>
            </a:r>
            <a:endParaRPr/>
          </a:p>
        </p:txBody>
      </p:sp>
      <p:sp>
        <p:nvSpPr>
          <p:cNvPr id="277" name="Google Shape;277;g3dd4badb058_0_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dd4badb058_0_3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3" name="Google Shape;283;g3dd4badb058_0_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framing is what turns JSON and CSV from two libraries you memorize into two different answers to the same question, which is 'how do I get structured data into flat bytes and then back out again.'</a:t>
            </a:r>
            <a:endParaRPr/>
          </a:p>
        </p:txBody>
      </p:sp>
      <p:sp>
        <p:nvSpPr>
          <p:cNvPr id="284" name="Google Shape;284;g3dd4badb058_0_3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0" name="Google Shape;290;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JSON is THE format for web APIs. They'll use it constantly for the chat app REST API. Emphasize the symmetry: dump/load, dumps/loads. indent=2 makes it human-readable; without it, it's one long line.</a:t>
            </a:r>
            <a:endParaRPr/>
          </a:p>
        </p:txBody>
      </p:sp>
      <p:sp>
        <p:nvSpPr>
          <p:cNvPr id="291" name="Google Shape;291;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8" name="Google Shape;298;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DictReader is almost always better than plain reader. newline='' prevents double-spacing on Windows. Don't dwell on CSV - just establish it as the tabular alternative to JSON.</a:t>
            </a:r>
            <a:endParaRPr/>
          </a:p>
        </p:txBody>
      </p:sp>
      <p:sp>
        <p:nvSpPr>
          <p:cNvPr id="299" name="Google Shape;299;p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6" name="Google Shape;306;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Gotcha worth flagging: serialization doesn't round-trip cleanly. Tuples come back as lists, datetimes have to become strings on the way out, and sets just aren't supported at all...and they'll walk straight into this the week they add timestamps to the chat app.</a:t>
            </a:r>
            <a:endParaRPr/>
          </a:p>
        </p:txBody>
      </p:sp>
      <p:sp>
        <p:nvSpPr>
          <p:cNvPr id="307" name="Google Shape;307;p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dd4badb058_0_3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4" name="Google Shape;314;g3dd4badb058_0_3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Gotcha worth flagging: serialization doesn't round-trip cleanly. Tuples come back as lists, datetimes have to become strings on the way out, and sets just aren't supported at all...and they'll walk straight into this the week they add timestamps to the chat app.</a:t>
            </a:r>
            <a:endParaRPr/>
          </a:p>
        </p:txBody>
      </p:sp>
      <p:sp>
        <p:nvSpPr>
          <p:cNvPr id="315" name="Google Shape;315;g3dd4badb058_0_3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dd4badb058_0_6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2" name="Google Shape;322;g3dd4badb058_0_6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g3dd4badb058_0_6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dd4badb058_0_5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1" name="Google Shape;331;g3dd4badb058_0_5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g3dd4badb058_0_5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0" name="Google Shape;340;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1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dd4badb058_0_6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9" name="Google Shape;349;g3dd4badb058_0_6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g3dd4badb058_0_6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8" name="Google Shape;358;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Now apply everything: build a real file-based chat store.</a:t>
            </a:r>
            <a:endParaRPr/>
          </a:p>
        </p:txBody>
      </p:sp>
      <p:sp>
        <p:nvSpPr>
          <p:cNvPr id="359" name="Google Shape;359;p1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dd4badb058_0_8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4" name="Google Shape;364;g3dd4badb058_0_8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Now they see this through the serialization lens: every call to load_messages() deserializes the entire file. Every call to save_message() serializes the entire message list back. pathlib: read_text/write_text are open+read+close in one call.</a:t>
            </a:r>
            <a:endParaRPr/>
          </a:p>
        </p:txBody>
      </p:sp>
      <p:sp>
        <p:nvSpPr>
          <p:cNvPr id="365" name="Google Shape;365;g3dd4badb058_0_8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2" name="Google Shape;372;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Now they see this through the serialization lens: every call to load_messages() deserializes the entire file. Every call to save_message() serializes the entire message list back. pathlib: read_text/write_text are open+read+close in one call.</a:t>
            </a:r>
            <a:endParaRPr/>
          </a:p>
        </p:txBody>
      </p:sp>
      <p:sp>
        <p:nvSpPr>
          <p:cNvPr id="373" name="Google Shape;373;p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0" name="Google Shape;380;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Quick tour - they'll use pathlib throughout the course. read_text/write_text are the main thing; they wrap open+read+close. rglob is recursive, glob is single-directory.</a:t>
            </a:r>
            <a:endParaRPr/>
          </a:p>
        </p:txBody>
      </p:sp>
      <p:sp>
        <p:nvSpPr>
          <p:cNvPr id="381" name="Google Shape;381;p1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dd4badb058_0_9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8" name="Google Shape;388;g3dd4badb058_0_9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Quick tour - they'll use pathlib throughout the course. read_text/write_text are the main thing; they wrap open+read+close. rglob is recursive, glob is single-directory.</a:t>
            </a:r>
            <a:endParaRPr/>
          </a:p>
        </p:txBody>
      </p:sp>
      <p:sp>
        <p:nvSpPr>
          <p:cNvPr id="389" name="Google Shape;389;g3dd4badb058_0_9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dd4badb058_0_9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6" name="Google Shape;396;g3dd4badb058_0_9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Have you seen the term “list comprehension”?</a:t>
            </a:r>
            <a:endParaRPr/>
          </a:p>
          <a:p>
            <a:pPr marL="0" lvl="0" indent="0" algn="l" rtl="0">
              <a:spcBef>
                <a:spcPts val="0"/>
              </a:spcBef>
              <a:spcAft>
                <a:spcPts val="0"/>
              </a:spcAft>
              <a:buNone/>
            </a:pPr>
            <a:r>
              <a:rPr lang="en-US"/>
              <a:t>We deserialized the ENTIRE file just to filter two messages. </a:t>
            </a:r>
            <a:endParaRPr/>
          </a:p>
        </p:txBody>
      </p:sp>
      <p:sp>
        <p:nvSpPr>
          <p:cNvPr id="397" name="Google Shape;397;g3dd4badb058_0_9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5" name="Google Shape;405;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Have you seen the term “list comprehension”?</a:t>
            </a:r>
            <a:endParaRPr/>
          </a:p>
          <a:p>
            <a:pPr marL="0" lvl="0" indent="0" algn="l" rtl="0">
              <a:spcBef>
                <a:spcPts val="0"/>
              </a:spcBef>
              <a:spcAft>
                <a:spcPts val="0"/>
              </a:spcAft>
              <a:buNone/>
            </a:pPr>
            <a:r>
              <a:rPr lang="en-US"/>
              <a:t>We deserialized the ENTIRE file just to filter two messages. </a:t>
            </a:r>
            <a:endParaRPr/>
          </a:p>
        </p:txBody>
      </p:sp>
      <p:sp>
        <p:nvSpPr>
          <p:cNvPr id="406" name="Google Shape;406;p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4" name="Google Shape;414;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They've got the mechanisms now, so none of these limitations should land as abstract - they've watched each one happen.</a:t>
            </a:r>
            <a:endParaRPr/>
          </a:p>
        </p:txBody>
      </p:sp>
      <p:sp>
        <p:nvSpPr>
          <p:cNvPr id="415" name="Google Shape;415;p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2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0" name="Google Shape;420;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scaling problem with file-based storage and it's a hard one, because there's no random access into structured data, so you're paying for the whole file every single time you want two messages out of it.</a:t>
            </a:r>
            <a:endParaRPr/>
          </a:p>
        </p:txBody>
      </p:sp>
      <p:sp>
        <p:nvSpPr>
          <p:cNvPr id="421" name="Google Shape;421;p2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dd4badb058_0_7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7" name="Google Shape;427;g3dd4badb058_0_7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Because a write means 'replace the whole file,' there's no safe way to do concurrent appends to structured data. Two appends to a plain text file with mode='a' are fine, and two appends to a JSON structure will happily clobber each other.</a:t>
            </a:r>
            <a:endParaRPr/>
          </a:p>
        </p:txBody>
      </p:sp>
      <p:sp>
        <p:nvSpPr>
          <p:cNvPr id="428" name="Google Shape;428;g3dd4badb058_0_7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4" name="Google Shape;434;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Because a write means 'replace the whole file,' there's no safe way to do concurrent appends to structured data. Two appends to a plain text file with mode='a' are fine, and two appends to a JSON structure will happily clobber each other.</a:t>
            </a:r>
            <a:endParaRPr/>
          </a:p>
        </p:txBody>
      </p:sp>
      <p:sp>
        <p:nvSpPr>
          <p:cNvPr id="435" name="Google Shape;435;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1" name="Google Shape;441;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Every one of these is something a database solves. And they've watched the mechanism behind each problem happen in front of them, so this shouldn't read as a list of complaints about files.</a:t>
            </a:r>
            <a:endParaRPr/>
          </a:p>
        </p:txBody>
      </p:sp>
      <p:sp>
        <p:nvSpPr>
          <p:cNvPr id="442" name="Google Shape;442;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8" name="Google Shape;448;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Indexing, schemas, concurrency control, relationships, queries...</a:t>
            </a:r>
            <a:endParaRPr/>
          </a:p>
          <a:p>
            <a:pPr marL="0" lvl="0" indent="0" algn="l" rtl="0">
              <a:spcBef>
                <a:spcPts val="0"/>
              </a:spcBef>
              <a:spcAft>
                <a:spcPts val="0"/>
              </a:spcAft>
              <a:buNone/>
            </a:pPr>
            <a:endParaRPr/>
          </a:p>
          <a:p>
            <a:pPr marL="0" lvl="0" indent="0" algn="l" rtl="0">
              <a:spcBef>
                <a:spcPts val="0"/>
              </a:spcBef>
              <a:spcAft>
                <a:spcPts val="0"/>
              </a:spcAft>
              <a:buNone/>
            </a:pPr>
            <a:r>
              <a:rPr lang="en-US"/>
              <a:t>Let them brainstorm and they'll end up describing a database without meaning to, which is what I want, because then a database reads as engineering aimed at the exact problems we spent the hour finding. Segue into 2.2.</a:t>
            </a:r>
            <a:endParaRPr/>
          </a:p>
        </p:txBody>
      </p:sp>
      <p:sp>
        <p:nvSpPr>
          <p:cNvPr id="449" name="Google Shape;449;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5" name="Google Shape;455;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Quick recap. Files are simple and useful and they'll get you a long way, but once you know what's actually happening down at the byte level you can see exactly when you need something more powerful, and why.</a:t>
            </a:r>
            <a:endParaRPr/>
          </a:p>
        </p:txBody>
      </p:sp>
      <p:sp>
        <p:nvSpPr>
          <p:cNvPr id="456" name="Google Shape;456;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7"/>
          <p:cNvSpPr>
            <a:spLocks noGrp="1"/>
          </p:cNvSpPr>
          <p:nvPr>
            <p:ph type="pic" idx="2"/>
          </p:nvPr>
        </p:nvSpPr>
        <p:spPr>
          <a:xfrm>
            <a:off x="1792288" y="612775"/>
            <a:ext cx="5486400" cy="4114800"/>
          </a:xfrm>
          <a:prstGeom prst="rect">
            <a:avLst/>
          </a:prstGeom>
          <a:noFill/>
          <a:ln>
            <a:noFill/>
          </a:ln>
        </p:spPr>
      </p:sp>
      <p:sp>
        <p:nvSpPr>
          <p:cNvPr id="64" name="Google Shape;64;p3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sp>
        <p:nvSpPr>
          <p:cNvPr id="180" name="Google Shape;180;p1"/>
          <p:cNvSpPr/>
          <p:nvPr/>
        </p:nvSpPr>
        <p:spPr>
          <a:xfrm>
            <a:off x="0" y="0"/>
            <a:ext cx="12191695" cy="137160"/>
          </a:xfrm>
          <a:prstGeom prst="rect">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
          <p:cNvSpPr txBox="1"/>
          <p:nvPr/>
        </p:nvSpPr>
        <p:spPr>
          <a:xfrm>
            <a:off x="914400" y="1645920"/>
            <a:ext cx="10362895"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5B21B6"/>
                </a:solidFill>
                <a:latin typeface="Calibri"/>
                <a:ea typeface="Calibri"/>
                <a:cs typeface="Calibri"/>
                <a:sym typeface="Calibri"/>
              </a:rPr>
              <a:t>Lecture 2.1</a:t>
            </a:r>
            <a:endParaRPr/>
          </a:p>
        </p:txBody>
      </p:sp>
      <p:sp>
        <p:nvSpPr>
          <p:cNvPr id="182" name="Google Shape;182;p1"/>
          <p:cNvSpPr txBox="1"/>
          <p:nvPr/>
        </p:nvSpPr>
        <p:spPr>
          <a:xfrm>
            <a:off x="914400" y="2468880"/>
            <a:ext cx="10362895" cy="18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i="0" u="none" strike="noStrike" cap="none">
                <a:solidFill>
                  <a:srgbClr val="1A1A2E"/>
                </a:solidFill>
                <a:latin typeface="Calibri"/>
                <a:ea typeface="Calibri"/>
                <a:cs typeface="Calibri"/>
                <a:sym typeface="Calibri"/>
              </a:rPr>
              <a:t>Files, Serialization, and Data Persistence</a:t>
            </a:r>
            <a:endParaRPr/>
          </a:p>
        </p:txBody>
      </p:sp>
      <p:sp>
        <p:nvSpPr>
          <p:cNvPr id="183" name="Google Shape;183;p1"/>
          <p:cNvSpPr txBox="1"/>
          <p:nvPr/>
        </p:nvSpPr>
        <p:spPr>
          <a:xfrm>
            <a:off x="914400" y="4754880"/>
            <a:ext cx="1036289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Andy Aymeloglu - UATX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8"/>
        <p:cNvGrpSpPr/>
        <p:nvPr/>
      </p:nvGrpSpPr>
      <p:grpSpPr>
        <a:xfrm>
          <a:off x="0" y="0"/>
          <a:ext cx="0" cy="0"/>
          <a:chOff x="0" y="0"/>
          <a:chExt cx="0" cy="0"/>
        </a:xfrm>
      </p:grpSpPr>
      <p:sp>
        <p:nvSpPr>
          <p:cNvPr id="189" name="Google Shape;189;p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JSON: the format you'll use everywhere</a:t>
            </a:r>
            <a:endParaRPr/>
          </a:p>
        </p:txBody>
      </p:sp>
      <p:sp>
        <p:nvSpPr>
          <p:cNvPr id="190" name="Google Shape;190;p2"/>
          <p:cNvSpPr txBox="1"/>
          <p:nvPr/>
        </p:nvSpPr>
        <p:spPr>
          <a:xfrm>
            <a:off x="914400" y="1463040"/>
            <a:ext cx="10362895" cy="4937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JSON = JavaScript Object Notation</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 plain-text format for representing structured data</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{"user": "alice", "text": "hello", "likes": 3}</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Curly braces for objects (like Python dicts)</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Square brackets for arrays (like Python lists)</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Strings, numbers, booleans, null - that's it</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Human-readable, language-independent, everywhere: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Web APIs, config files, data storage, logging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You'll use it in every assignment this semester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195"/>
        <p:cNvGrpSpPr/>
        <p:nvPr/>
      </p:nvGrpSpPr>
      <p:grpSpPr>
        <a:xfrm>
          <a:off x="0" y="0"/>
          <a:ext cx="0" cy="0"/>
          <a:chOff x="0" y="0"/>
          <a:chExt cx="0" cy="0"/>
        </a:xfrm>
      </p:grpSpPr>
      <p:sp>
        <p:nvSpPr>
          <p:cNvPr id="196" name="Google Shape;196;p3"/>
          <p:cNvSpPr txBox="1"/>
          <p:nvPr/>
        </p:nvSpPr>
        <p:spPr>
          <a:xfrm>
            <a:off x="5303520" y="457200"/>
            <a:ext cx="1584655" cy="1371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200" b="1" i="0" u="none" strike="noStrike" cap="none">
                <a:solidFill>
                  <a:srgbClr val="5B21B6"/>
                </a:solidFill>
                <a:latin typeface="Calibri"/>
                <a:ea typeface="Calibri"/>
                <a:cs typeface="Calibri"/>
                <a:sym typeface="Calibri"/>
              </a:rPr>
              <a:t>?</a:t>
            </a:r>
            <a:endParaRPr/>
          </a:p>
        </p:txBody>
      </p:sp>
      <p:sp>
        <p:nvSpPr>
          <p:cNvPr id="197" name="Google Shape;197;p3"/>
          <p:cNvSpPr txBox="1"/>
          <p:nvPr/>
        </p:nvSpPr>
        <p:spPr>
          <a:xfrm>
            <a:off x="1371600" y="2011680"/>
            <a:ext cx="94484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i="0" u="none" strike="noStrike" cap="none">
                <a:solidFill>
                  <a:srgbClr val="1A1A2E"/>
                </a:solidFill>
                <a:latin typeface="Calibri"/>
                <a:ea typeface="Calibri"/>
                <a:cs typeface="Calibri"/>
                <a:sym typeface="Calibri"/>
              </a:rPr>
              <a:t>What's the difference between a Python dict in memory</a:t>
            </a:r>
            <a:br>
              <a:rPr lang="en-US" sz="3400" b="1" i="0" u="none" strike="noStrike" cap="none">
                <a:solidFill>
                  <a:srgbClr val="1A1A2E"/>
                </a:solidFill>
                <a:latin typeface="Calibri"/>
                <a:ea typeface="Calibri"/>
                <a:cs typeface="Calibri"/>
                <a:sym typeface="Calibri"/>
              </a:rPr>
            </a:br>
            <a:r>
              <a:rPr lang="en-US" sz="3400" b="1" i="0" u="none" strike="noStrike" cap="none">
                <a:solidFill>
                  <a:srgbClr val="1A1A2E"/>
                </a:solidFill>
                <a:latin typeface="Calibri"/>
                <a:ea typeface="Calibri"/>
                <a:cs typeface="Calibri"/>
                <a:sym typeface="Calibri"/>
              </a:rPr>
              <a:t>and a JSON file on disk?</a:t>
            </a:r>
            <a:endParaRPr/>
          </a:p>
        </p:txBody>
      </p:sp>
      <p:sp>
        <p:nvSpPr>
          <p:cNvPr id="198" name="Google Shape;198;p3"/>
          <p:cNvSpPr txBox="1"/>
          <p:nvPr/>
        </p:nvSpPr>
        <p:spPr>
          <a:xfrm>
            <a:off x="1828800" y="4572000"/>
            <a:ext cx="8534095" cy="1371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0" i="0" u="none" strike="noStrike" cap="none">
                <a:solidFill>
                  <a:srgbClr val="666677"/>
                </a:solidFill>
                <a:latin typeface="Calibri"/>
                <a:ea typeface="Calibri"/>
                <a:cs typeface="Calibri"/>
                <a:sym typeface="Calibri"/>
              </a:rPr>
              <a:t>Not just 'one is saved.' What's structurally different about them?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203"/>
        <p:cNvGrpSpPr/>
        <p:nvPr/>
      </p:nvGrpSpPr>
      <p:grpSpPr>
        <a:xfrm>
          <a:off x="0" y="0"/>
          <a:ext cx="0" cy="0"/>
          <a:chOff x="0" y="0"/>
          <a:chExt cx="0" cy="0"/>
        </a:xfrm>
      </p:grpSpPr>
      <p:sp>
        <p:nvSpPr>
          <p:cNvPr id="204" name="Google Shape;204;p4"/>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What Is a File, Actually?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9"/>
        <p:cNvGrpSpPr/>
        <p:nvPr/>
      </p:nvGrpSpPr>
      <p:grpSpPr>
        <a:xfrm>
          <a:off x="0" y="0"/>
          <a:ext cx="0" cy="0"/>
          <a:chOff x="0" y="0"/>
          <a:chExt cx="0" cy="0"/>
        </a:xfrm>
      </p:grpSpPr>
      <p:sp>
        <p:nvSpPr>
          <p:cNvPr id="210" name="Google Shape;210;p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A file is a sequence of bytes. That's it.</a:t>
            </a:r>
            <a:endParaRPr/>
          </a:p>
        </p:txBody>
      </p:sp>
      <p:sp>
        <p:nvSpPr>
          <p:cNvPr id="211" name="Google Shape;211;p5"/>
          <p:cNvSpPr txBox="1"/>
          <p:nvPr/>
        </p:nvSpPr>
        <p:spPr>
          <a:xfrm>
            <a:off x="914400" y="1463040"/>
            <a:ext cx="10362895" cy="4937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Every file on disk is a flat sequence of bytes (integers 0-255)</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Text files: bytes that encode characters (via UTF-8, ASCII, etc.)</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Binary files: bytes that encode... anything else (images, executables)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There is no structure. No types. No nesting.</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 JSON file doesn't 'contain' a dict. It contains bytes that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represent characters that follow a grammar we can parse into a dict.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UTF-8: the standard text encoding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 byte 0x41      "hello" = 5 bytes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Emoji, CJK = 2-4 bytes per character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When in doubt, specify encoding='utf-8' explicitly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6"/>
        <p:cNvGrpSpPr/>
        <p:nvPr/>
      </p:nvGrpSpPr>
      <p:grpSpPr>
        <a:xfrm>
          <a:off x="0" y="0"/>
          <a:ext cx="0" cy="0"/>
          <a:chOff x="0" y="0"/>
          <a:chExt cx="0" cy="0"/>
        </a:xfrm>
      </p:grpSpPr>
      <p:sp>
        <p:nvSpPr>
          <p:cNvPr id="217" name="Google Shape;217;p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open() actually does</a:t>
            </a:r>
            <a:endParaRPr/>
          </a:p>
        </p:txBody>
      </p:sp>
      <p:sp>
        <p:nvSpPr>
          <p:cNvPr id="218" name="Google Shape;218;p6"/>
          <p:cNvSpPr txBox="1"/>
          <p:nvPr/>
        </p:nvSpPr>
        <p:spPr>
          <a:xfrm>
            <a:off x="914400" y="1463040"/>
            <a:ext cx="10362895" cy="4937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When you call open(), Python asks the OS for access to a file</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OS returns a </a:t>
            </a:r>
            <a:r>
              <a:rPr lang="en-US" sz="2400" b="1" i="0" u="none" strike="noStrike" cap="none">
                <a:solidFill>
                  <a:srgbClr val="333344"/>
                </a:solidFill>
                <a:latin typeface="Calibri"/>
                <a:ea typeface="Calibri"/>
                <a:cs typeface="Calibri"/>
                <a:sym typeface="Calibri"/>
              </a:rPr>
              <a:t>file descriptor</a:t>
            </a:r>
            <a:r>
              <a:rPr lang="en-US" sz="2400" b="0" i="0" u="none" strike="noStrike" cap="none">
                <a:solidFill>
                  <a:srgbClr val="333344"/>
                </a:solidFill>
                <a:latin typeface="Calibri"/>
                <a:ea typeface="Calibri"/>
                <a:cs typeface="Calibri"/>
                <a:sym typeface="Calibri"/>
              </a:rPr>
              <a:t> (just a small integer)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 open channel between your process and the file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OS tracks your read/write position, permissions, locks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Reading/writing goes through OS </a:t>
            </a:r>
            <a:r>
              <a:rPr lang="en-US" sz="2400" b="1" i="0" u="none" strike="noStrike" cap="none">
                <a:solidFill>
                  <a:srgbClr val="333344"/>
                </a:solidFill>
                <a:latin typeface="Calibri"/>
                <a:ea typeface="Calibri"/>
                <a:cs typeface="Calibri"/>
                <a:sym typeface="Calibri"/>
              </a:rPr>
              <a:t>buffers</a:t>
            </a:r>
            <a:r>
              <a:rPr lang="en-US" sz="2400" b="0" i="0" u="none" strike="noStrike" cap="none">
                <a:solidFill>
                  <a:srgbClr val="333344"/>
                </a:solidFill>
                <a:latin typeface="Calibri"/>
                <a:ea typeface="Calibri"/>
                <a:cs typeface="Calibri"/>
                <a:sym typeface="Calibri"/>
              </a:rPr>
              <a:t> (not directly to disk)</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Writes may sit in a buffer until the OS decides to flush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Crash before flush = lost data</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close()</a:t>
            </a:r>
            <a:r>
              <a:rPr lang="en-US" sz="2400" b="0" i="0" u="none" strike="noStrike" cap="none">
                <a:solidFill>
                  <a:srgbClr val="333344"/>
                </a:solidFill>
                <a:latin typeface="Calibri"/>
                <a:ea typeface="Calibri"/>
                <a:cs typeface="Calibri"/>
                <a:sym typeface="Calibri"/>
              </a:rPr>
              <a:t> releases the file descriptor and flushes buffers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Forget to close = resource leak (OS has a per-process limit)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This is why </a:t>
            </a:r>
            <a:r>
              <a:rPr lang="en-US" sz="2000" b="1" i="0" u="none" strike="noStrike" cap="none">
                <a:solidFill>
                  <a:srgbClr val="666677"/>
                </a:solidFill>
                <a:latin typeface="Calibri"/>
                <a:ea typeface="Calibri"/>
                <a:cs typeface="Calibri"/>
                <a:sym typeface="Calibri"/>
              </a:rPr>
              <a:t>with</a:t>
            </a:r>
            <a:r>
              <a:rPr lang="en-US" sz="2000" b="0" i="0" u="none" strike="noStrike" cap="none">
                <a:solidFill>
                  <a:srgbClr val="666677"/>
                </a:solidFill>
                <a:latin typeface="Calibri"/>
                <a:ea typeface="Calibri"/>
                <a:cs typeface="Calibri"/>
                <a:sym typeface="Calibri"/>
              </a:rPr>
              <a:t> exists: it guarantees close()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3"/>
        <p:cNvGrpSpPr/>
        <p:nvPr/>
      </p:nvGrpSpPr>
      <p:grpSpPr>
        <a:xfrm>
          <a:off x="0" y="0"/>
          <a:ext cx="0" cy="0"/>
          <a:chOff x="0" y="0"/>
          <a:chExt cx="0" cy="0"/>
        </a:xfrm>
      </p:grpSpPr>
      <p:sp>
        <p:nvSpPr>
          <p:cNvPr id="224" name="Google Shape;224;g3dd4badb058_0_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The with statement: correctness, not style</a:t>
            </a:r>
            <a:endParaRPr/>
          </a:p>
        </p:txBody>
      </p:sp>
      <p:sp>
        <p:nvSpPr>
          <p:cNvPr id="225" name="Google Shape;225;g3dd4badb058_0_0"/>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g3dd4badb058_0_0"/>
          <p:cNvSpPr txBox="1"/>
          <p:nvPr/>
        </p:nvSpPr>
        <p:spPr>
          <a:xfrm>
            <a:off x="1005840" y="1645920"/>
            <a:ext cx="10179900" cy="1518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333344"/>
                </a:solidFill>
                <a:latin typeface="Courier New"/>
                <a:ea typeface="Courier New"/>
                <a:cs typeface="Courier New"/>
                <a:sym typeface="Courier New"/>
              </a:rPr>
              <a:t># BAD: resource leak if an exception fires between open and close</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f = open("data.json", "r")</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data = json.load(f)       # if this throws, f never gets closed</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f.close()</a:t>
            </a:r>
            <a:endParaRPr/>
          </a:p>
          <a:p>
            <a:pPr marL="0" marR="0" lvl="0" indent="0" algn="l" rtl="0">
              <a:spcBef>
                <a:spcPts val="20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1"/>
        <p:cNvGrpSpPr/>
        <p:nvPr/>
      </p:nvGrpSpPr>
      <p:grpSpPr>
        <a:xfrm>
          <a:off x="0" y="0"/>
          <a:ext cx="0" cy="0"/>
          <a:chOff x="0" y="0"/>
          <a:chExt cx="0" cy="0"/>
        </a:xfrm>
      </p:grpSpPr>
      <p:sp>
        <p:nvSpPr>
          <p:cNvPr id="232" name="Google Shape;232;g3dd4badb058_0_7"/>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The with statement: correctness, not style</a:t>
            </a:r>
            <a:endParaRPr/>
          </a:p>
        </p:txBody>
      </p:sp>
      <p:sp>
        <p:nvSpPr>
          <p:cNvPr id="233" name="Google Shape;233;g3dd4badb058_0_7"/>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4" name="Google Shape;234;g3dd4badb058_0_7"/>
          <p:cNvSpPr txBox="1"/>
          <p:nvPr/>
        </p:nvSpPr>
        <p:spPr>
          <a:xfrm>
            <a:off x="1005840" y="1645920"/>
            <a:ext cx="10179900" cy="3032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333344"/>
                </a:solidFill>
                <a:latin typeface="Courier New"/>
                <a:ea typeface="Courier New"/>
                <a:cs typeface="Courier New"/>
                <a:sym typeface="Courier New"/>
              </a:rPr>
              <a:t># BAD: resource leak if an exception fires between open and close</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f = open("data.json", "r")</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data = json.load(f)       # if this throws, f never gets closed</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f.close()</a:t>
            </a:r>
            <a:endParaRPr/>
          </a:p>
          <a:p>
            <a:pPr marL="0" marR="0" lvl="0" indent="0" algn="l" rtl="0">
              <a:spcBef>
                <a:spcPts val="200"/>
              </a:spcBef>
              <a:spcAft>
                <a:spcPts val="0"/>
              </a:spcAft>
              <a:buNone/>
            </a:pPr>
            <a:endParaRPr sz="18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GOOD: close() is guaranteed, even if an exception fires</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with open("data.json", "r") as f:</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data = json.load(f)</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f is closed here no matter what</a:t>
            </a:r>
            <a:endParaRPr/>
          </a:p>
          <a:p>
            <a:pPr marL="0" marR="0" lvl="0" indent="0" algn="l" rtl="0">
              <a:spcBef>
                <a:spcPts val="20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9"/>
        <p:cNvGrpSpPr/>
        <p:nvPr/>
      </p:nvGrpSpPr>
      <p:grpSpPr>
        <a:xfrm>
          <a:off x="0" y="0"/>
          <a:ext cx="0" cy="0"/>
          <a:chOff x="0" y="0"/>
          <a:chExt cx="0" cy="0"/>
        </a:xfrm>
      </p:grpSpPr>
      <p:sp>
        <p:nvSpPr>
          <p:cNvPr id="240" name="Google Shape;240;p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The with statement: correctness, not style</a:t>
            </a:r>
            <a:endParaRPr/>
          </a:p>
        </p:txBody>
      </p:sp>
      <p:sp>
        <p:nvSpPr>
          <p:cNvPr id="241" name="Google Shape;241;p7"/>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2" name="Google Shape;242;p7"/>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333344"/>
                </a:solidFill>
                <a:latin typeface="Courier New"/>
                <a:ea typeface="Courier New"/>
                <a:cs typeface="Courier New"/>
                <a:sym typeface="Courier New"/>
              </a:rPr>
              <a:t># BAD: resource leak if an exception fires between open and close</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f = open("data.json", "r")</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data = json.load(f)       # if this throws, f never gets closed</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f.close()</a:t>
            </a:r>
            <a:endParaRPr/>
          </a:p>
          <a:p>
            <a:pPr marL="0" marR="0" lvl="0" indent="0" algn="l" rtl="0">
              <a:spcBef>
                <a:spcPts val="200"/>
              </a:spcBef>
              <a:spcAft>
                <a:spcPts val="0"/>
              </a:spcAft>
              <a:buNone/>
            </a:pPr>
            <a:endParaRPr sz="18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GOOD: close() is guaranteed, even if an exception fires</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with open("data.json", "r") as f:</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data = json.load(f)</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f is closed here no matter what</a:t>
            </a:r>
            <a:endParaRPr/>
          </a:p>
          <a:p>
            <a:pPr marL="0" marR="0" lvl="0" indent="0" algn="l" rtl="0">
              <a:spcBef>
                <a:spcPts val="200"/>
              </a:spcBef>
              <a:spcAft>
                <a:spcPts val="0"/>
              </a:spcAft>
              <a:buNone/>
            </a:pPr>
            <a:endParaRPr sz="18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WHY IT MATTERS:</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 Each open file uses a file descriptor (OS resource, limited to ~1024)</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 Leaked descriptors in a long-running server = crash</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 Buffered writes may never flush if you forget close()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7"/>
        <p:cNvGrpSpPr/>
        <p:nvPr/>
      </p:nvGrpSpPr>
      <p:grpSpPr>
        <a:xfrm>
          <a:off x="0" y="0"/>
          <a:ext cx="0" cy="0"/>
          <a:chOff x="0" y="0"/>
          <a:chExt cx="0" cy="0"/>
        </a:xfrm>
      </p:grpSpPr>
      <p:sp>
        <p:nvSpPr>
          <p:cNvPr id="248" name="Google Shape;248;p8"/>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FFFFFF"/>
                </a:solidFill>
                <a:latin typeface="Calibri"/>
                <a:ea typeface="Calibri"/>
                <a:cs typeface="Calibri"/>
                <a:sym typeface="Calibri"/>
              </a:rPr>
              <a:t>TRY IT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Peek behind the curtain</a:t>
            </a:r>
            <a:endParaRPr/>
          </a:p>
        </p:txBody>
      </p:sp>
      <p:sp>
        <p:nvSpPr>
          <p:cNvPr id="249" name="Google Shape;249;p8"/>
          <p:cNvSpPr/>
          <p:nvPr/>
        </p:nvSpPr>
        <p:spPr>
          <a:xfrm>
            <a:off x="640080" y="228600"/>
            <a:ext cx="1097280" cy="365760"/>
          </a:xfrm>
          <a:prstGeom prst="roundRect">
            <a:avLst>
              <a:gd name="adj" fmla="val 16667"/>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0" name="Google Shape;250;p8"/>
          <p:cNvSpPr/>
          <p:nvPr/>
        </p:nvSpPr>
        <p:spPr>
          <a:xfrm>
            <a:off x="731520" y="1371600"/>
            <a:ext cx="10728655"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1" name="Google Shape;251;p8"/>
          <p:cNvSpPr txBox="1"/>
          <p:nvPr/>
        </p:nvSpPr>
        <p:spPr>
          <a:xfrm>
            <a:off x="1005840" y="1554480"/>
            <a:ext cx="10180015" cy="46634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333344"/>
                </a:solidFill>
                <a:latin typeface="Courier New"/>
                <a:ea typeface="Courier New"/>
                <a:cs typeface="Courier New"/>
                <a:sym typeface="Courier New"/>
              </a:rPr>
              <a:t>import sys</a:t>
            </a:r>
            <a:endParaRPr/>
          </a:p>
          <a:p>
            <a:pPr marL="0" marR="0" lvl="0" indent="0" algn="l" rtl="0">
              <a:spcBef>
                <a:spcPts val="200"/>
              </a:spcBef>
              <a:spcAft>
                <a:spcPts val="0"/>
              </a:spcAft>
              <a:buNone/>
            </a:pPr>
            <a:endParaRPr sz="14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msg = {"user": "alice", "text": "hello"}</a:t>
            </a:r>
            <a:endParaRPr/>
          </a:p>
          <a:p>
            <a:pPr marL="0" marR="0" lvl="0" indent="0" algn="l" rtl="0">
              <a:spcBef>
                <a:spcPts val="200"/>
              </a:spcBef>
              <a:spcAft>
                <a:spcPts val="0"/>
              </a:spcAft>
              <a:buNone/>
            </a:pPr>
            <a:endParaRPr sz="14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1. How big is this dict in memory?</a:t>
            </a:r>
            <a:endParaRPr/>
          </a:p>
          <a:p>
            <a:pPr marL="0" marR="0" lvl="0" indent="0" algn="l" rtl="0">
              <a:spcBef>
                <a:spcPts val="200"/>
              </a:spcBef>
              <a:spcAft>
                <a:spcPts val="0"/>
              </a:spcAft>
              <a:buNone/>
            </a:pPr>
            <a:r>
              <a:rPr lang="en-US" sz="1400" b="1">
                <a:solidFill>
                  <a:srgbClr val="B0B0C0"/>
                </a:solidFill>
                <a:latin typeface="Courier New"/>
                <a:ea typeface="Courier New"/>
                <a:cs typeface="Courier New"/>
                <a:sym typeface="Courier New"/>
              </a:rPr>
              <a:t>print(sys.getsizeof(msg))           # ________</a:t>
            </a:r>
            <a:endParaRPr/>
          </a:p>
          <a:p>
            <a:pPr marL="0" marR="0" lvl="0" indent="0" algn="l" rtl="0">
              <a:spcBef>
                <a:spcPts val="200"/>
              </a:spcBef>
              <a:spcAft>
                <a:spcPts val="0"/>
              </a:spcAft>
              <a:buNone/>
            </a:pPr>
            <a:endParaRPr sz="14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2. Now serialize it to a JSON string</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import json</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as_json = json.dumps(msg)</a:t>
            </a:r>
            <a:endParaRPr/>
          </a:p>
          <a:p>
            <a:pPr marL="0" marR="0" lvl="0" indent="0" algn="l" rtl="0">
              <a:spcBef>
                <a:spcPts val="200"/>
              </a:spcBef>
              <a:spcAft>
                <a:spcPts val="0"/>
              </a:spcAft>
              <a:buNone/>
            </a:pPr>
            <a:r>
              <a:rPr lang="en-US" sz="1400" b="1">
                <a:solidFill>
                  <a:srgbClr val="B0B0C0"/>
                </a:solidFill>
                <a:latin typeface="Courier New"/>
                <a:ea typeface="Courier New"/>
                <a:cs typeface="Courier New"/>
                <a:sym typeface="Courier New"/>
              </a:rPr>
              <a:t>print(as_json)                      # ________</a:t>
            </a:r>
            <a:endParaRPr/>
          </a:p>
          <a:p>
            <a:pPr marL="0" marR="0" lvl="0" indent="0" algn="l" rtl="0">
              <a:spcBef>
                <a:spcPts val="200"/>
              </a:spcBef>
              <a:spcAft>
                <a:spcPts val="0"/>
              </a:spcAft>
              <a:buNone/>
            </a:pPr>
            <a:r>
              <a:rPr lang="en-US" sz="1400" b="1">
                <a:solidFill>
                  <a:srgbClr val="B0B0C0"/>
                </a:solidFill>
                <a:latin typeface="Courier New"/>
                <a:ea typeface="Courier New"/>
                <a:cs typeface="Courier New"/>
                <a:sym typeface="Courier New"/>
              </a:rPr>
              <a:t>print(len(as_json))                 # ________</a:t>
            </a:r>
            <a:endParaRPr/>
          </a:p>
          <a:p>
            <a:pPr marL="0" marR="0" lvl="0" indent="0" algn="l" rtl="0">
              <a:spcBef>
                <a:spcPts val="200"/>
              </a:spcBef>
              <a:spcAft>
                <a:spcPts val="0"/>
              </a:spcAft>
              <a:buNone/>
            </a:pPr>
            <a:endParaRPr sz="14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3. Look at the raw bytes</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as_bytes = as_json.encode("utf-8")</a:t>
            </a:r>
            <a:endParaRPr/>
          </a:p>
          <a:p>
            <a:pPr marL="0" marR="0" lvl="0" indent="0" algn="l" rtl="0">
              <a:spcBef>
                <a:spcPts val="200"/>
              </a:spcBef>
              <a:spcAft>
                <a:spcPts val="0"/>
              </a:spcAft>
              <a:buNone/>
            </a:pPr>
            <a:r>
              <a:rPr lang="en-US" sz="1400" b="1">
                <a:solidFill>
                  <a:srgbClr val="B0B0C0"/>
                </a:solidFill>
                <a:latin typeface="Courier New"/>
                <a:ea typeface="Courier New"/>
                <a:cs typeface="Courier New"/>
                <a:sym typeface="Courier New"/>
              </a:rPr>
              <a:t>print(as_bytes)                     # ________</a:t>
            </a:r>
            <a:endParaRPr/>
          </a:p>
          <a:p>
            <a:pPr marL="0" marR="0" lvl="0" indent="0" algn="l" rtl="0">
              <a:spcBef>
                <a:spcPts val="200"/>
              </a:spcBef>
              <a:spcAft>
                <a:spcPts val="0"/>
              </a:spcAft>
              <a:buNone/>
            </a:pPr>
            <a:r>
              <a:rPr lang="en-US" sz="1400" b="1">
                <a:solidFill>
                  <a:srgbClr val="B0B0C0"/>
                </a:solidFill>
                <a:latin typeface="Courier New"/>
                <a:ea typeface="Courier New"/>
                <a:cs typeface="Courier New"/>
                <a:sym typeface="Courier New"/>
              </a:rPr>
              <a:t>print(len(as_bytes))                # ________</a:t>
            </a:r>
            <a:endParaRPr/>
          </a:p>
          <a:p>
            <a:pPr marL="0" marR="0" lvl="0" indent="0" algn="l" rtl="0">
              <a:spcBef>
                <a:spcPts val="200"/>
              </a:spcBef>
              <a:spcAft>
                <a:spcPts val="0"/>
              </a:spcAft>
              <a:buNone/>
            </a:pPr>
            <a:endParaRPr sz="14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4. What do you notice about the sizes?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6"/>
        <p:cNvGrpSpPr/>
        <p:nvPr/>
      </p:nvGrpSpPr>
      <p:grpSpPr>
        <a:xfrm>
          <a:off x="0" y="0"/>
          <a:ext cx="0" cy="0"/>
          <a:chOff x="0" y="0"/>
          <a:chExt cx="0" cy="0"/>
        </a:xfrm>
      </p:grpSpPr>
      <p:sp>
        <p:nvSpPr>
          <p:cNvPr id="257" name="Google Shape;257;p9"/>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ANSWER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Peek behind the curtain</a:t>
            </a:r>
            <a:endParaRPr/>
          </a:p>
        </p:txBody>
      </p:sp>
      <p:sp>
        <p:nvSpPr>
          <p:cNvPr id="258" name="Google Shape;258;p9"/>
          <p:cNvSpPr/>
          <p:nvPr/>
        </p:nvSpPr>
        <p:spPr>
          <a:xfrm>
            <a:off x="640080" y="228600"/>
            <a:ext cx="1188720" cy="365760"/>
          </a:xfrm>
          <a:prstGeom prst="roundRect">
            <a:avLst>
              <a:gd name="adj" fmla="val 16667"/>
            </a:avLst>
          </a:prstGeom>
          <a:solidFill>
            <a:srgbClr val="166534"/>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9" name="Google Shape;259;p9"/>
          <p:cNvSpPr/>
          <p:nvPr/>
        </p:nvSpPr>
        <p:spPr>
          <a:xfrm>
            <a:off x="731520" y="1371600"/>
            <a:ext cx="10728655"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9"/>
          <p:cNvSpPr txBox="1"/>
          <p:nvPr/>
        </p:nvSpPr>
        <p:spPr>
          <a:xfrm>
            <a:off x="1005840" y="1554480"/>
            <a:ext cx="10180015" cy="46634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333344"/>
                </a:solidFill>
                <a:latin typeface="Courier New"/>
                <a:ea typeface="Courier New"/>
                <a:cs typeface="Courier New"/>
                <a:sym typeface="Courier New"/>
              </a:rPr>
              <a:t>import sys</a:t>
            </a:r>
            <a:endParaRPr/>
          </a:p>
          <a:p>
            <a:pPr marL="0" marR="0" lvl="0" indent="0" algn="l" rtl="0">
              <a:spcBef>
                <a:spcPts val="200"/>
              </a:spcBef>
              <a:spcAft>
                <a:spcPts val="0"/>
              </a:spcAft>
              <a:buNone/>
            </a:pPr>
            <a:endParaRPr sz="14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msg = {"user": "alice", "text": "hello"}</a:t>
            </a:r>
            <a:endParaRPr/>
          </a:p>
          <a:p>
            <a:pPr marL="0" marR="0" lvl="0" indent="0" algn="l" rtl="0">
              <a:spcBef>
                <a:spcPts val="200"/>
              </a:spcBef>
              <a:spcAft>
                <a:spcPts val="0"/>
              </a:spcAft>
              <a:buNone/>
            </a:pPr>
            <a:endParaRPr sz="14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1. How big is this dict in memory?</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print(sys.getsizeof(msg))           # 184 (bytes! hash table overhead)</a:t>
            </a:r>
            <a:endParaRPr/>
          </a:p>
          <a:p>
            <a:pPr marL="0" marR="0" lvl="0" indent="0" algn="l" rtl="0">
              <a:spcBef>
                <a:spcPts val="200"/>
              </a:spcBef>
              <a:spcAft>
                <a:spcPts val="0"/>
              </a:spcAft>
              <a:buNone/>
            </a:pPr>
            <a:endParaRPr sz="14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2. Now serialize it to a JSON string</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import json</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as_json = json.dumps(msg)</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print(as_json)                      # {"user": "alice", "text": "hello"}</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print(len(as_json))                 # 38 characters</a:t>
            </a:r>
            <a:endParaRPr/>
          </a:p>
          <a:p>
            <a:pPr marL="0" marR="0" lvl="0" indent="0" algn="l" rtl="0">
              <a:spcBef>
                <a:spcPts val="200"/>
              </a:spcBef>
              <a:spcAft>
                <a:spcPts val="0"/>
              </a:spcAft>
              <a:buNone/>
            </a:pPr>
            <a:endParaRPr sz="14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3. Look at the raw bytes</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as_bytes = as_json.encode("utf-8")</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print(as_bytes)                     # b'{"user": "alice", "text": "hello"}'</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print(len(as_bytes))                # 38 bytes (ASCII chars = 1 byte each)</a:t>
            </a:r>
            <a:endParaRPr/>
          </a:p>
          <a:p>
            <a:pPr marL="0" marR="0" lvl="0" indent="0" algn="l" rtl="0">
              <a:spcBef>
                <a:spcPts val="200"/>
              </a:spcBef>
              <a:spcAft>
                <a:spcPts val="0"/>
              </a:spcAft>
              <a:buNone/>
            </a:pPr>
            <a:endParaRPr sz="14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4. In-memory: 184 bytes. On disk: 38 bytes. Very different worlds.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265"/>
        <p:cNvGrpSpPr/>
        <p:nvPr/>
      </p:nvGrpSpPr>
      <p:grpSpPr>
        <a:xfrm>
          <a:off x="0" y="0"/>
          <a:ext cx="0" cy="0"/>
          <a:chOff x="0" y="0"/>
          <a:chExt cx="0" cy="0"/>
        </a:xfrm>
      </p:grpSpPr>
      <p:sp>
        <p:nvSpPr>
          <p:cNvPr id="266" name="Google Shape;266;p10"/>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a:solidFill>
                  <a:srgbClr val="5B21B6"/>
                </a:solidFill>
                <a:latin typeface="Calibri"/>
                <a:ea typeface="Calibri"/>
                <a:cs typeface="Calibri"/>
                <a:sym typeface="Calibri"/>
              </a:rPr>
              <a:t>Serialization: Bridging Memory and Disk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1"/>
        <p:cNvGrpSpPr/>
        <p:nvPr/>
      </p:nvGrpSpPr>
      <p:grpSpPr>
        <a:xfrm>
          <a:off x="0" y="0"/>
          <a:ext cx="0" cy="0"/>
          <a:chOff x="0" y="0"/>
          <a:chExt cx="0" cy="0"/>
        </a:xfrm>
      </p:grpSpPr>
      <p:sp>
        <p:nvSpPr>
          <p:cNvPr id="272" name="Google Shape;272;p11"/>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The core problem</a:t>
            </a:r>
            <a:endParaRPr/>
          </a:p>
        </p:txBody>
      </p:sp>
      <p:sp>
        <p:nvSpPr>
          <p:cNvPr id="273" name="Google Shape;273;p11"/>
          <p:cNvSpPr txBox="1"/>
          <p:nvPr/>
        </p:nvSpPr>
        <p:spPr>
          <a:xfrm>
            <a:off x="914388" y="1196715"/>
            <a:ext cx="10362900" cy="2539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Python objects live in memory: pointers, type tags, hash tables</a:t>
            </a:r>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Files are flat sequences of bytes: no pointers, no types</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Serialization</a:t>
            </a:r>
            <a:r>
              <a:rPr lang="en-US" sz="2400" b="0">
                <a:solidFill>
                  <a:srgbClr val="333344"/>
                </a:solidFill>
                <a:latin typeface="Calibri"/>
                <a:ea typeface="Calibri"/>
                <a:cs typeface="Calibri"/>
                <a:sym typeface="Calibri"/>
              </a:rPr>
              <a:t>: structured data -&gt; flat bytes (for storage or network)</a:t>
            </a:r>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Deserialization</a:t>
            </a:r>
            <a:r>
              <a:rPr lang="en-US" sz="2400" b="0">
                <a:solidFill>
                  <a:srgbClr val="333344"/>
                </a:solidFill>
                <a:latin typeface="Calibri"/>
                <a:ea typeface="Calibri"/>
                <a:cs typeface="Calibri"/>
                <a:sym typeface="Calibri"/>
              </a:rPr>
              <a:t>: flat bytes -&gt; structured data (back into memory)</a:t>
            </a:r>
            <a:endParaRPr/>
          </a:p>
          <a:p>
            <a:pPr marL="457200" marR="0" lvl="1" indent="0" algn="l" rtl="0">
              <a:spcBef>
                <a:spcPts val="6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8"/>
        <p:cNvGrpSpPr/>
        <p:nvPr/>
      </p:nvGrpSpPr>
      <p:grpSpPr>
        <a:xfrm>
          <a:off x="0" y="0"/>
          <a:ext cx="0" cy="0"/>
          <a:chOff x="0" y="0"/>
          <a:chExt cx="0" cy="0"/>
        </a:xfrm>
      </p:grpSpPr>
      <p:sp>
        <p:nvSpPr>
          <p:cNvPr id="279" name="Google Shape;279;g3dd4badb058_0_2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The core problem</a:t>
            </a:r>
            <a:endParaRPr/>
          </a:p>
        </p:txBody>
      </p:sp>
      <p:sp>
        <p:nvSpPr>
          <p:cNvPr id="280" name="Google Shape;280;g3dd4badb058_0_26"/>
          <p:cNvSpPr txBox="1"/>
          <p:nvPr/>
        </p:nvSpPr>
        <p:spPr>
          <a:xfrm>
            <a:off x="914388" y="1196715"/>
            <a:ext cx="10362900" cy="381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Python objects live in memory: pointers, type tags, hash tables</a:t>
            </a:r>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Files are flat sequences of bytes: no pointers, no types</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Serialization</a:t>
            </a:r>
            <a:r>
              <a:rPr lang="en-US" sz="2400" b="0">
                <a:solidFill>
                  <a:srgbClr val="333344"/>
                </a:solidFill>
                <a:latin typeface="Calibri"/>
                <a:ea typeface="Calibri"/>
                <a:cs typeface="Calibri"/>
                <a:sym typeface="Calibri"/>
              </a:rPr>
              <a:t>: structured data -&gt; flat bytes (for storage or network)</a:t>
            </a:r>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Deserialization</a:t>
            </a:r>
            <a:r>
              <a:rPr lang="en-US" sz="2400" b="0">
                <a:solidFill>
                  <a:srgbClr val="333344"/>
                </a:solidFill>
                <a:latin typeface="Calibri"/>
                <a:ea typeface="Calibri"/>
                <a:cs typeface="Calibri"/>
                <a:sym typeface="Calibri"/>
              </a:rPr>
              <a:t>: flat bytes -&gt; structured data (back into memory)</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Every data format </a:t>
            </a:r>
            <a:r>
              <a:rPr lang="en-US" sz="2400" b="1">
                <a:solidFill>
                  <a:srgbClr val="333344"/>
                </a:solidFill>
                <a:latin typeface="Calibri"/>
                <a:ea typeface="Calibri"/>
                <a:cs typeface="Calibri"/>
                <a:sym typeface="Calibri"/>
              </a:rPr>
              <a:t>is</a:t>
            </a:r>
            <a:r>
              <a:rPr lang="en-US" sz="2400" b="0">
                <a:solidFill>
                  <a:srgbClr val="333344"/>
                </a:solidFill>
                <a:latin typeface="Calibri"/>
                <a:ea typeface="Calibri"/>
                <a:cs typeface="Calibri"/>
                <a:sym typeface="Calibri"/>
              </a:rPr>
              <a:t> a serialization strategy: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JSON, CSV, XML, YAML, Protocol Buffers, MessagePack, Pickle...</a:t>
            </a:r>
            <a:endParaRPr/>
          </a:p>
          <a:p>
            <a:pPr marL="457200" marR="0" lvl="1" indent="0" algn="l" rtl="0">
              <a:spcBef>
                <a:spcPts val="6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5"/>
        <p:cNvGrpSpPr/>
        <p:nvPr/>
      </p:nvGrpSpPr>
      <p:grpSpPr>
        <a:xfrm>
          <a:off x="0" y="0"/>
          <a:ext cx="0" cy="0"/>
          <a:chOff x="0" y="0"/>
          <a:chExt cx="0" cy="0"/>
        </a:xfrm>
      </p:grpSpPr>
      <p:sp>
        <p:nvSpPr>
          <p:cNvPr id="286" name="Google Shape;286;g3dd4badb058_0_3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The core problem</a:t>
            </a:r>
            <a:endParaRPr/>
          </a:p>
        </p:txBody>
      </p:sp>
      <p:sp>
        <p:nvSpPr>
          <p:cNvPr id="287" name="Google Shape;287;g3dd4badb058_0_32"/>
          <p:cNvSpPr txBox="1"/>
          <p:nvPr/>
        </p:nvSpPr>
        <p:spPr>
          <a:xfrm>
            <a:off x="914388" y="1196715"/>
            <a:ext cx="10362900" cy="5510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Python objects live in memory: pointers, type tags, hash tables</a:t>
            </a:r>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Files are flat sequences of bytes: no pointers, no types</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Serialization</a:t>
            </a:r>
            <a:r>
              <a:rPr lang="en-US" sz="2400" b="0">
                <a:solidFill>
                  <a:srgbClr val="333344"/>
                </a:solidFill>
                <a:latin typeface="Calibri"/>
                <a:ea typeface="Calibri"/>
                <a:cs typeface="Calibri"/>
                <a:sym typeface="Calibri"/>
              </a:rPr>
              <a:t>: structured data -&gt; flat bytes (for storage or network)</a:t>
            </a:r>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Deserialization</a:t>
            </a:r>
            <a:r>
              <a:rPr lang="en-US" sz="2400" b="0">
                <a:solidFill>
                  <a:srgbClr val="333344"/>
                </a:solidFill>
                <a:latin typeface="Calibri"/>
                <a:ea typeface="Calibri"/>
                <a:cs typeface="Calibri"/>
                <a:sym typeface="Calibri"/>
              </a:rPr>
              <a:t>: flat bytes -&gt; structured data (back into memory)</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Every data format </a:t>
            </a:r>
            <a:r>
              <a:rPr lang="en-US" sz="2400" b="1">
                <a:solidFill>
                  <a:srgbClr val="333344"/>
                </a:solidFill>
                <a:latin typeface="Calibri"/>
                <a:ea typeface="Calibri"/>
                <a:cs typeface="Calibri"/>
                <a:sym typeface="Calibri"/>
              </a:rPr>
              <a:t>is</a:t>
            </a:r>
            <a:r>
              <a:rPr lang="en-US" sz="2400" b="0">
                <a:solidFill>
                  <a:srgbClr val="333344"/>
                </a:solidFill>
                <a:latin typeface="Calibri"/>
                <a:ea typeface="Calibri"/>
                <a:cs typeface="Calibri"/>
                <a:sym typeface="Calibri"/>
              </a:rPr>
              <a:t> a serialization strategy: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JSON, CSV, XML, YAML, Protocol Buffers, MessagePack, Pickle...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Each makes different tradeoffs: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Human-readable vs compact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Hierarchical vs tabular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Language-specific vs universal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2"/>
        <p:cNvGrpSpPr/>
        <p:nvPr/>
      </p:nvGrpSpPr>
      <p:grpSpPr>
        <a:xfrm>
          <a:off x="0" y="0"/>
          <a:ext cx="0" cy="0"/>
          <a:chOff x="0" y="0"/>
          <a:chExt cx="0" cy="0"/>
        </a:xfrm>
      </p:grpSpPr>
      <p:sp>
        <p:nvSpPr>
          <p:cNvPr id="293" name="Google Shape;293;p1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JSON: the web's serialization format</a:t>
            </a:r>
            <a:endParaRPr/>
          </a:p>
        </p:txBody>
      </p:sp>
      <p:sp>
        <p:nvSpPr>
          <p:cNvPr id="294" name="Google Shape;294;p12"/>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5" name="Google Shape;295;p12"/>
          <p:cNvSpPr txBox="1"/>
          <p:nvPr/>
        </p:nvSpPr>
        <p:spPr>
          <a:xfrm>
            <a:off x="1005840" y="1645920"/>
            <a:ext cx="10179900" cy="4612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a:solidFill>
                  <a:srgbClr val="333344"/>
                </a:solidFill>
                <a:latin typeface="Courier New"/>
                <a:ea typeface="Courier New"/>
                <a:cs typeface="Courier New"/>
                <a:sym typeface="Courier New"/>
              </a:rPr>
              <a:t>import json</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JSON has exactly six types:</a:t>
            </a:r>
            <a:r>
              <a:rPr lang="en-US"/>
              <a:t> </a:t>
            </a:r>
            <a:r>
              <a:rPr lang="en-US" sz="1300" b="1">
                <a:solidFill>
                  <a:srgbClr val="333344"/>
                </a:solidFill>
                <a:latin typeface="Courier New"/>
                <a:ea typeface="Courier New"/>
                <a:cs typeface="Courier New"/>
                <a:sym typeface="Courier New"/>
              </a:rPr>
              <a:t>string, number, boolean, null, array, object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Maps cleanly to Python:</a:t>
            </a:r>
            <a:r>
              <a:rPr lang="en-US"/>
              <a:t> </a:t>
            </a:r>
            <a:r>
              <a:rPr lang="en-US" sz="1300" b="1">
                <a:solidFill>
                  <a:srgbClr val="333344"/>
                </a:solidFill>
                <a:latin typeface="Courier New"/>
                <a:ea typeface="Courier New"/>
                <a:cs typeface="Courier New"/>
                <a:sym typeface="Courier New"/>
              </a:rPr>
              <a:t>str, int/float, True/False, None, list, dict</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config = {"app": "MyApp", "version": 1.0, "users": ["Alice", "Bob"]}</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Serialize (Python -&gt; JSON string -&gt; file)</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with open("config.json", "w") as f:</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json.dump(config, f, indent=2)       # dict -&gt; file</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text = json.dumps(config, indent=2)      # dict -&gt; string</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Deserialize (file -&gt; JSON string -&gt; Python)</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with open("config.json", "r") as f:</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data = json.load(f)                  # file -&gt; dict</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data = json.loads(text)                  # string -&gt; dict</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Mnemonic: 's' suffix = string.  No 's' = file.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0"/>
        <p:cNvGrpSpPr/>
        <p:nvPr/>
      </p:nvGrpSpPr>
      <p:grpSpPr>
        <a:xfrm>
          <a:off x="0" y="0"/>
          <a:ext cx="0" cy="0"/>
          <a:chOff x="0" y="0"/>
          <a:chExt cx="0" cy="0"/>
        </a:xfrm>
      </p:grpSpPr>
      <p:sp>
        <p:nvSpPr>
          <p:cNvPr id="301" name="Google Shape;301;p1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CSV: tabular data, one row per line</a:t>
            </a:r>
            <a:endParaRPr/>
          </a:p>
        </p:txBody>
      </p:sp>
      <p:sp>
        <p:nvSpPr>
          <p:cNvPr id="302" name="Google Shape;302;p13"/>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3" name="Google Shape;303;p13"/>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a:solidFill>
                  <a:srgbClr val="333344"/>
                </a:solidFill>
                <a:latin typeface="Courier New"/>
                <a:ea typeface="Courier New"/>
                <a:cs typeface="Courier New"/>
                <a:sym typeface="Courier New"/>
              </a:rPr>
              <a:t>import csv</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CSV = rows of values separated by commas. That's really it.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Great for flat tabular data. Terrible for nested structures.</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Writing</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with open("users.csv", "w", newline="") as f:</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writer = csv.writer(f)</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writer.writerow(["name", "email", "role"])           # header</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writer.writerow(["alice", "alice@ex.com", "admin"])</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writer.writerow(["bob", "bob@ex.com", "user"])</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Reading (as dicts - much nicer)</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with open("users.csv", "r") as f:</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for row in csv.DictReader(f):      # uses header as keys</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print(row["name"], row["role"])</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JSON vs CSV:</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JSON: hierarchical, self-describing, nested data</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CSV:  tabular, compact, spreadsheet-compatible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8"/>
        <p:cNvGrpSpPr/>
        <p:nvPr/>
      </p:nvGrpSpPr>
      <p:grpSpPr>
        <a:xfrm>
          <a:off x="0" y="0"/>
          <a:ext cx="0" cy="0"/>
          <a:chOff x="0" y="0"/>
          <a:chExt cx="0" cy="0"/>
        </a:xfrm>
      </p:grpSpPr>
      <p:sp>
        <p:nvSpPr>
          <p:cNvPr id="309" name="Google Shape;309;p1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Serialization is lossy: watch out</a:t>
            </a:r>
            <a:endParaRPr/>
          </a:p>
        </p:txBody>
      </p:sp>
      <p:sp>
        <p:nvSpPr>
          <p:cNvPr id="310" name="Google Shape;310;p14"/>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1" name="Google Shape;311;p14"/>
          <p:cNvSpPr txBox="1"/>
          <p:nvPr/>
        </p:nvSpPr>
        <p:spPr>
          <a:xfrm>
            <a:off x="1005840" y="1645920"/>
            <a:ext cx="10179900" cy="21138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Python has types JSON doesn't know about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data =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"coords": (42.3, -71.1),       # tuple</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"created": datetime.now(),      # datetime</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"ids": {1, 2, 3},              # set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json.dumps(data) -&gt; TypeError: Object of type tuple is not JSON serializable</a:t>
            </a:r>
            <a:endParaRPr/>
          </a:p>
          <a:p>
            <a:pPr marL="0" marR="0" lvl="0" indent="0" algn="l" rtl="0">
              <a:spcBef>
                <a:spcPts val="20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6"/>
        <p:cNvGrpSpPr/>
        <p:nvPr/>
      </p:nvGrpSpPr>
      <p:grpSpPr>
        <a:xfrm>
          <a:off x="0" y="0"/>
          <a:ext cx="0" cy="0"/>
          <a:chOff x="0" y="0"/>
          <a:chExt cx="0" cy="0"/>
        </a:xfrm>
      </p:grpSpPr>
      <p:sp>
        <p:nvSpPr>
          <p:cNvPr id="317" name="Google Shape;317;g3dd4badb058_0_38"/>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Serialization is lossy: watch out</a:t>
            </a:r>
            <a:endParaRPr/>
          </a:p>
        </p:txBody>
      </p:sp>
      <p:sp>
        <p:nvSpPr>
          <p:cNvPr id="318" name="Google Shape;318;g3dd4badb058_0_38"/>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 name="Google Shape;319;g3dd4badb058_0_38"/>
          <p:cNvSpPr txBox="1"/>
          <p:nvPr/>
        </p:nvSpPr>
        <p:spPr>
          <a:xfrm>
            <a:off x="1005840" y="1645920"/>
            <a:ext cx="10179900" cy="43560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Python has types JSON doesn't know about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data =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"coords": (42.3, -71.1),       # tuple</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"created": datetime.now(),      # datetime</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"ids": {1, 2, 3},              # set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json.dumps(data) -&gt; TypeError: Object of type tuple is not JSON serializable</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You have to convert manually:</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safe =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"coords": list(data["coords"]),           # tuple -&gt; list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"created": data["created"].isoformat(),   # datetime -&gt; string</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"ids": sorted(data["ids"]),               # set -&gt; list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text = json.dumps(safe, indent=2)  # works</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Round-trip: json.loads(text)["coords"] is a list, NOT a tuple!</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Serialization can change your types.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4"/>
        <p:cNvGrpSpPr/>
        <p:nvPr/>
      </p:nvGrpSpPr>
      <p:grpSpPr>
        <a:xfrm>
          <a:off x="0" y="0"/>
          <a:ext cx="0" cy="0"/>
          <a:chOff x="0" y="0"/>
          <a:chExt cx="0" cy="0"/>
        </a:xfrm>
      </p:grpSpPr>
      <p:sp>
        <p:nvSpPr>
          <p:cNvPr id="325" name="Google Shape;325;g3dd4badb058_0_61"/>
          <p:cNvSpPr txBox="1"/>
          <p:nvPr/>
        </p:nvSpPr>
        <p:spPr>
          <a:xfrm>
            <a:off x="731520" y="274320"/>
            <a:ext cx="10728600" cy="800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TRY IT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Spot the round-trip problems</a:t>
            </a:r>
            <a:endParaRPr/>
          </a:p>
        </p:txBody>
      </p:sp>
      <p:sp>
        <p:nvSpPr>
          <p:cNvPr id="326" name="Google Shape;326;g3dd4badb058_0_61"/>
          <p:cNvSpPr/>
          <p:nvPr/>
        </p:nvSpPr>
        <p:spPr>
          <a:xfrm>
            <a:off x="640080" y="228600"/>
            <a:ext cx="1097400" cy="365700"/>
          </a:xfrm>
          <a:prstGeom prst="roundRect">
            <a:avLst>
              <a:gd name="adj" fmla="val 16667"/>
            </a:avLst>
          </a:prstGeom>
          <a:solidFill>
            <a:srgbClr val="5B21B6"/>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7" name="Google Shape;327;g3dd4badb058_0_61"/>
          <p:cNvSpPr/>
          <p:nvPr/>
        </p:nvSpPr>
        <p:spPr>
          <a:xfrm>
            <a:off x="731520" y="1371600"/>
            <a:ext cx="10728600"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8" name="Google Shape;328;g3dd4badb058_0_61"/>
          <p:cNvSpPr txBox="1"/>
          <p:nvPr/>
        </p:nvSpPr>
        <p:spPr>
          <a:xfrm>
            <a:off x="1005840" y="1554480"/>
            <a:ext cx="10179900" cy="32016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original =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"user": "alice",</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"scores": (95, 87, 91),</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"joined": "2024-01-15",</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"settings": {"theme": "dark", "font_size": 14},</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4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Serialize and deserialize</a:t>
            </a: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text = json.dumps(original)</a:t>
            </a: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restored = json.loads(text)</a:t>
            </a:r>
            <a:endParaRPr>
              <a:solidFill>
                <a:srgbClr val="333344"/>
              </a:solidFill>
            </a:endParaRPr>
          </a:p>
          <a:p>
            <a:pPr marL="0" marR="0" lvl="0" indent="0" algn="l" rtl="0">
              <a:spcBef>
                <a:spcPts val="200"/>
              </a:spcBef>
              <a:spcAft>
                <a:spcPts val="0"/>
              </a:spcAft>
              <a:buNone/>
            </a:pP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print(original == restored)                        # ________</a:t>
            </a:r>
            <a:endParaRPr>
              <a:solidFill>
                <a:srgbClr val="333344"/>
              </a:solidFill>
            </a:endParaRPr>
          </a:p>
          <a:p>
            <a:pPr marL="0" marR="0" lvl="0" indent="0" algn="l" rtl="0">
              <a:spcBef>
                <a:spcPts val="200"/>
              </a:spcBef>
              <a:spcAft>
                <a:spcPts val="0"/>
              </a:spcAft>
              <a:buNone/>
            </a:pPr>
            <a:endParaRPr b="1">
              <a:solidFill>
                <a:srgbClr val="B0B0C0"/>
              </a:solidFill>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3"/>
        <p:cNvGrpSpPr/>
        <p:nvPr/>
      </p:nvGrpSpPr>
      <p:grpSpPr>
        <a:xfrm>
          <a:off x="0" y="0"/>
          <a:ext cx="0" cy="0"/>
          <a:chOff x="0" y="0"/>
          <a:chExt cx="0" cy="0"/>
        </a:xfrm>
      </p:grpSpPr>
      <p:sp>
        <p:nvSpPr>
          <p:cNvPr id="334" name="Google Shape;334;g3dd4badb058_0_53"/>
          <p:cNvSpPr txBox="1"/>
          <p:nvPr/>
        </p:nvSpPr>
        <p:spPr>
          <a:xfrm>
            <a:off x="731520" y="274320"/>
            <a:ext cx="10728600" cy="800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TRY IT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Spot the round-trip problems</a:t>
            </a:r>
            <a:endParaRPr/>
          </a:p>
        </p:txBody>
      </p:sp>
      <p:sp>
        <p:nvSpPr>
          <p:cNvPr id="335" name="Google Shape;335;g3dd4badb058_0_53"/>
          <p:cNvSpPr/>
          <p:nvPr/>
        </p:nvSpPr>
        <p:spPr>
          <a:xfrm>
            <a:off x="640080" y="228600"/>
            <a:ext cx="1097400" cy="365700"/>
          </a:xfrm>
          <a:prstGeom prst="roundRect">
            <a:avLst>
              <a:gd name="adj" fmla="val 16667"/>
            </a:avLst>
          </a:prstGeom>
          <a:solidFill>
            <a:srgbClr val="5B21B6"/>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6" name="Google Shape;336;g3dd4badb058_0_53"/>
          <p:cNvSpPr/>
          <p:nvPr/>
        </p:nvSpPr>
        <p:spPr>
          <a:xfrm>
            <a:off x="731520" y="1371600"/>
            <a:ext cx="10728600"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7" name="Google Shape;337;g3dd4badb058_0_53"/>
          <p:cNvSpPr txBox="1"/>
          <p:nvPr/>
        </p:nvSpPr>
        <p:spPr>
          <a:xfrm>
            <a:off x="1005840" y="1554480"/>
            <a:ext cx="10179900" cy="36840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original =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"user": "alice",</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"scores": (95, 87, 91),</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"joined": "2024-01-15",</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"settings": {"theme": "dark", "font_size": 14},</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4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Serialize and deserialize</a:t>
            </a: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text = json.dumps(original)</a:t>
            </a: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restored = json.loads(text)</a:t>
            </a:r>
            <a:endParaRPr>
              <a:solidFill>
                <a:srgbClr val="333344"/>
              </a:solidFill>
            </a:endParaRPr>
          </a:p>
          <a:p>
            <a:pPr marL="0" marR="0" lvl="0" indent="0" algn="l" rtl="0">
              <a:spcBef>
                <a:spcPts val="200"/>
              </a:spcBef>
              <a:spcAft>
                <a:spcPts val="0"/>
              </a:spcAft>
              <a:buNone/>
            </a:pP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print(original == restored)                        # ________</a:t>
            </a: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print(original["scores"] == restored["scores"])    # ________</a:t>
            </a: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print(original["settings"] == restored["settings"])# ________</a:t>
            </a:r>
            <a:endParaRPr>
              <a:solidFill>
                <a:srgbClr val="333344"/>
              </a:solidFill>
            </a:endParaRPr>
          </a:p>
          <a:p>
            <a:pPr marL="0" marR="0" lvl="0" indent="0" algn="l" rtl="0">
              <a:spcBef>
                <a:spcPts val="200"/>
              </a:spcBef>
              <a:spcAft>
                <a:spcPts val="0"/>
              </a:spcAft>
              <a:buNone/>
            </a:pPr>
            <a:endParaRPr b="1">
              <a:solidFill>
                <a:srgbClr val="B0B0C0"/>
              </a:solidFill>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2"/>
        <p:cNvGrpSpPr/>
        <p:nvPr/>
      </p:nvGrpSpPr>
      <p:grpSpPr>
        <a:xfrm>
          <a:off x="0" y="0"/>
          <a:ext cx="0" cy="0"/>
          <a:chOff x="0" y="0"/>
          <a:chExt cx="0" cy="0"/>
        </a:xfrm>
      </p:grpSpPr>
      <p:sp>
        <p:nvSpPr>
          <p:cNvPr id="343" name="Google Shape;343;p15"/>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TRY IT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Spot the round-trip problems</a:t>
            </a:r>
            <a:endParaRPr/>
          </a:p>
        </p:txBody>
      </p:sp>
      <p:sp>
        <p:nvSpPr>
          <p:cNvPr id="344" name="Google Shape;344;p15"/>
          <p:cNvSpPr/>
          <p:nvPr/>
        </p:nvSpPr>
        <p:spPr>
          <a:xfrm>
            <a:off x="640080" y="228600"/>
            <a:ext cx="1097280" cy="365760"/>
          </a:xfrm>
          <a:prstGeom prst="roundRect">
            <a:avLst>
              <a:gd name="adj" fmla="val 16667"/>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 name="Google Shape;345;p15"/>
          <p:cNvSpPr/>
          <p:nvPr/>
        </p:nvSpPr>
        <p:spPr>
          <a:xfrm>
            <a:off x="731520" y="1371600"/>
            <a:ext cx="10728655"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6" name="Google Shape;346;p15"/>
          <p:cNvSpPr txBox="1"/>
          <p:nvPr/>
        </p:nvSpPr>
        <p:spPr>
          <a:xfrm>
            <a:off x="1005840" y="1554480"/>
            <a:ext cx="10179900" cy="41661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original =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"user": "alice",</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"scores": (95, 87, 91),</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"joined": "2024-01-15",</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"settings": {"theme": "dark", "font_size": 14},</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4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Serialize and deserialize</a:t>
            </a: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text = json.dumps(original)</a:t>
            </a: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restored = json.loads(text)</a:t>
            </a:r>
            <a:endParaRPr>
              <a:solidFill>
                <a:srgbClr val="333344"/>
              </a:solidFill>
            </a:endParaRPr>
          </a:p>
          <a:p>
            <a:pPr marL="0" marR="0" lvl="0" indent="0" algn="l" rtl="0">
              <a:spcBef>
                <a:spcPts val="200"/>
              </a:spcBef>
              <a:spcAft>
                <a:spcPts val="0"/>
              </a:spcAft>
              <a:buNone/>
            </a:pP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print(original == restored)                        # ________</a:t>
            </a: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print(original["scores"] == restored["scores"])    # ________</a:t>
            </a: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print(original["settings"] == restored["settings"])# ________</a:t>
            </a:r>
            <a:endParaRPr sz="1400" b="1">
              <a:solidFill>
                <a:srgbClr val="333344"/>
              </a:solidFill>
              <a:latin typeface="Courier New"/>
              <a:ea typeface="Courier New"/>
              <a:cs typeface="Courier New"/>
              <a:sym typeface="Courier New"/>
            </a:endParaRPr>
          </a:p>
          <a:p>
            <a:pPr marL="0" lvl="0" indent="0" algn="l" rtl="0">
              <a:spcBef>
                <a:spcPts val="200"/>
              </a:spcBef>
              <a:spcAft>
                <a:spcPts val="0"/>
              </a:spcAft>
              <a:buClr>
                <a:schemeClr val="dk1"/>
              </a:buClr>
              <a:buFont typeface="Arial"/>
              <a:buNone/>
            </a:pPr>
            <a:r>
              <a:rPr lang="en-US" b="1">
                <a:solidFill>
                  <a:srgbClr val="333344"/>
                </a:solidFill>
                <a:latin typeface="Courier New"/>
                <a:ea typeface="Courier New"/>
                <a:cs typeface="Courier New"/>
                <a:sym typeface="Courier New"/>
              </a:rPr>
              <a:t>print(type(original["scores"]))                    # ________</a:t>
            </a:r>
            <a:endParaRPr>
              <a:solidFill>
                <a:srgbClr val="333344"/>
              </a:solidFill>
            </a:endParaRPr>
          </a:p>
          <a:p>
            <a:pPr marL="0" lvl="0" indent="0" algn="l" rtl="0">
              <a:spcBef>
                <a:spcPts val="200"/>
              </a:spcBef>
              <a:spcAft>
                <a:spcPts val="0"/>
              </a:spcAft>
              <a:buClr>
                <a:schemeClr val="dk1"/>
              </a:buClr>
              <a:buFont typeface="Arial"/>
              <a:buNone/>
            </a:pPr>
            <a:r>
              <a:rPr lang="en-US" b="1">
                <a:solidFill>
                  <a:srgbClr val="333344"/>
                </a:solidFill>
                <a:latin typeface="Courier New"/>
                <a:ea typeface="Courier New"/>
                <a:cs typeface="Courier New"/>
                <a:sym typeface="Courier New"/>
              </a:rPr>
              <a:t>print(type(restored["scores"]))                    # ________</a:t>
            </a:r>
            <a:endParaRPr>
              <a:solidFill>
                <a:srgbClr val="333344"/>
              </a:solidFill>
            </a:endParaRPr>
          </a:p>
          <a:p>
            <a:pPr marL="0" marR="0" lvl="0" indent="0" algn="l" rtl="0">
              <a:spcBef>
                <a:spcPts val="200"/>
              </a:spcBef>
              <a:spcAft>
                <a:spcPts val="0"/>
              </a:spcAft>
              <a:buNone/>
            </a:pPr>
            <a:endParaRPr b="1">
              <a:solidFill>
                <a:srgbClr val="B0B0C0"/>
              </a:solidFill>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1"/>
        <p:cNvGrpSpPr/>
        <p:nvPr/>
      </p:nvGrpSpPr>
      <p:grpSpPr>
        <a:xfrm>
          <a:off x="0" y="0"/>
          <a:ext cx="0" cy="0"/>
          <a:chOff x="0" y="0"/>
          <a:chExt cx="0" cy="0"/>
        </a:xfrm>
      </p:grpSpPr>
      <p:sp>
        <p:nvSpPr>
          <p:cNvPr id="352" name="Google Shape;352;g3dd4badb058_0_69"/>
          <p:cNvSpPr txBox="1"/>
          <p:nvPr/>
        </p:nvSpPr>
        <p:spPr>
          <a:xfrm>
            <a:off x="731520" y="274320"/>
            <a:ext cx="10728600" cy="800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TRY IT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Spot the round-trip problems</a:t>
            </a:r>
            <a:endParaRPr/>
          </a:p>
        </p:txBody>
      </p:sp>
      <p:sp>
        <p:nvSpPr>
          <p:cNvPr id="353" name="Google Shape;353;g3dd4badb058_0_69"/>
          <p:cNvSpPr/>
          <p:nvPr/>
        </p:nvSpPr>
        <p:spPr>
          <a:xfrm>
            <a:off x="640080" y="228600"/>
            <a:ext cx="1097400" cy="365700"/>
          </a:xfrm>
          <a:prstGeom prst="roundRect">
            <a:avLst>
              <a:gd name="adj" fmla="val 16667"/>
            </a:avLst>
          </a:prstGeom>
          <a:solidFill>
            <a:srgbClr val="5B21B6"/>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4" name="Google Shape;354;g3dd4badb058_0_69"/>
          <p:cNvSpPr/>
          <p:nvPr/>
        </p:nvSpPr>
        <p:spPr>
          <a:xfrm>
            <a:off x="731520" y="1371600"/>
            <a:ext cx="10728600"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5" name="Google Shape;355;g3dd4badb058_0_69"/>
          <p:cNvSpPr txBox="1"/>
          <p:nvPr/>
        </p:nvSpPr>
        <p:spPr>
          <a:xfrm>
            <a:off x="1005840" y="1554480"/>
            <a:ext cx="10179900" cy="49203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original =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"user": "alice",</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"scores": (95, 87, 91),</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"joined": "2024-01-15",</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"settings": {"theme": "dark", "font_size": 14},</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4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Serialize and deserialize</a:t>
            </a: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text = json.dumps(original)</a:t>
            </a:r>
            <a:endParaRPr>
              <a:solidFill>
                <a:srgbClr val="333344"/>
              </a:solidFill>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restored = json.loads(text)</a:t>
            </a:r>
            <a:endParaRPr>
              <a:solidFill>
                <a:srgbClr val="333344"/>
              </a:solidFill>
            </a:endParaRPr>
          </a:p>
          <a:p>
            <a:pPr marL="0" marR="0" lvl="0" indent="0" algn="l" rtl="0">
              <a:spcBef>
                <a:spcPts val="200"/>
              </a:spcBef>
              <a:spcAft>
                <a:spcPts val="0"/>
              </a:spcAft>
              <a:buNone/>
            </a:pPr>
            <a:endParaRPr sz="1500">
              <a:solidFill>
                <a:srgbClr val="333344"/>
              </a:solidFill>
            </a:endParaRPr>
          </a:p>
          <a:p>
            <a:pPr marL="0" lvl="0" indent="0" algn="l" rtl="0">
              <a:spcBef>
                <a:spcPts val="200"/>
              </a:spcBef>
              <a:spcAft>
                <a:spcPts val="0"/>
              </a:spcAft>
              <a:buClr>
                <a:schemeClr val="dk1"/>
              </a:buClr>
              <a:buFont typeface="Arial"/>
              <a:buNone/>
            </a:pPr>
            <a:r>
              <a:rPr lang="en-US" b="1">
                <a:solidFill>
                  <a:srgbClr val="333344"/>
                </a:solidFill>
                <a:latin typeface="Courier New"/>
                <a:ea typeface="Courier New"/>
                <a:cs typeface="Courier New"/>
                <a:sym typeface="Courier New"/>
              </a:rPr>
              <a:t>print(original == restored)                        # False!</a:t>
            </a:r>
            <a:endParaRPr sz="1500">
              <a:solidFill>
                <a:schemeClr val="dk1"/>
              </a:solidFill>
            </a:endParaRPr>
          </a:p>
          <a:p>
            <a:pPr marL="0" lvl="0" indent="0" algn="l" rtl="0">
              <a:spcBef>
                <a:spcPts val="200"/>
              </a:spcBef>
              <a:spcAft>
                <a:spcPts val="0"/>
              </a:spcAft>
              <a:buClr>
                <a:schemeClr val="dk1"/>
              </a:buClr>
              <a:buFont typeface="Arial"/>
              <a:buNone/>
            </a:pPr>
            <a:r>
              <a:rPr lang="en-US" b="1">
                <a:solidFill>
                  <a:srgbClr val="333344"/>
                </a:solidFill>
                <a:latin typeface="Courier New"/>
                <a:ea typeface="Courier New"/>
                <a:cs typeface="Courier New"/>
                <a:sym typeface="Courier New"/>
              </a:rPr>
              <a:t>print(original["scores"] == restored["scores"])    # True (values match)</a:t>
            </a:r>
            <a:endParaRPr sz="1500">
              <a:solidFill>
                <a:schemeClr val="dk1"/>
              </a:solidFill>
            </a:endParaRPr>
          </a:p>
          <a:p>
            <a:pPr marL="0" lvl="0" indent="0" algn="l" rtl="0">
              <a:spcBef>
                <a:spcPts val="200"/>
              </a:spcBef>
              <a:spcAft>
                <a:spcPts val="0"/>
              </a:spcAft>
              <a:buClr>
                <a:schemeClr val="dk1"/>
              </a:buClr>
              <a:buFont typeface="Arial"/>
              <a:buNone/>
            </a:pPr>
            <a:r>
              <a:rPr lang="en-US" b="1">
                <a:solidFill>
                  <a:srgbClr val="333344"/>
                </a:solidFill>
                <a:latin typeface="Courier New"/>
                <a:ea typeface="Courier New"/>
                <a:cs typeface="Courier New"/>
                <a:sym typeface="Courier New"/>
              </a:rPr>
              <a:t>print(original["settings"] == restored["settings"])# True (dicts survive)</a:t>
            </a:r>
            <a:endParaRPr sz="1500">
              <a:solidFill>
                <a:schemeClr val="dk1"/>
              </a:solidFill>
            </a:endParaRPr>
          </a:p>
          <a:p>
            <a:pPr marL="0" lvl="0" indent="0" algn="l" rtl="0">
              <a:spcBef>
                <a:spcPts val="200"/>
              </a:spcBef>
              <a:spcAft>
                <a:spcPts val="0"/>
              </a:spcAft>
              <a:buNone/>
            </a:pPr>
            <a:r>
              <a:rPr lang="en-US" b="1">
                <a:solidFill>
                  <a:srgbClr val="333344"/>
                </a:solidFill>
                <a:latin typeface="Courier New"/>
                <a:ea typeface="Courier New"/>
                <a:cs typeface="Courier New"/>
                <a:sym typeface="Courier New"/>
              </a:rPr>
              <a:t>print(type(original["scores"]))                    # &lt;class 'tuple'&gt;</a:t>
            </a:r>
            <a:endParaRPr sz="1500">
              <a:solidFill>
                <a:schemeClr val="dk1"/>
              </a:solidFill>
            </a:endParaRPr>
          </a:p>
          <a:p>
            <a:pPr marL="0" lvl="0" indent="0" algn="l" rtl="0">
              <a:spcBef>
                <a:spcPts val="200"/>
              </a:spcBef>
              <a:spcAft>
                <a:spcPts val="0"/>
              </a:spcAft>
              <a:buNone/>
            </a:pPr>
            <a:r>
              <a:rPr lang="en-US" b="1">
                <a:solidFill>
                  <a:srgbClr val="333344"/>
                </a:solidFill>
                <a:latin typeface="Courier New"/>
                <a:ea typeface="Courier New"/>
                <a:cs typeface="Courier New"/>
                <a:sym typeface="Courier New"/>
              </a:rPr>
              <a:t>print(type(restored["scores"]))                    # &lt;class 'list'&gt;</a:t>
            </a:r>
            <a:endParaRPr sz="1500">
              <a:solidFill>
                <a:schemeClr val="dk1"/>
              </a:solidFill>
            </a:endParaRPr>
          </a:p>
          <a:p>
            <a:pPr marL="0" lvl="0" indent="0" algn="l" rtl="0">
              <a:spcBef>
                <a:spcPts val="200"/>
              </a:spcBef>
              <a:spcAft>
                <a:spcPts val="0"/>
              </a:spcAft>
              <a:buClr>
                <a:schemeClr val="dk1"/>
              </a:buClr>
              <a:buFont typeface="Arial"/>
              <a:buNone/>
            </a:pPr>
            <a:endParaRPr b="1">
              <a:solidFill>
                <a:srgbClr val="333344"/>
              </a:solidFill>
              <a:latin typeface="Courier New"/>
              <a:ea typeface="Courier New"/>
              <a:cs typeface="Courier New"/>
              <a:sym typeface="Courier New"/>
            </a:endParaRPr>
          </a:p>
          <a:p>
            <a:pPr marL="0" lvl="0" indent="0" algn="l" rtl="0">
              <a:spcBef>
                <a:spcPts val="200"/>
              </a:spcBef>
              <a:spcAft>
                <a:spcPts val="0"/>
              </a:spcAft>
              <a:buClr>
                <a:schemeClr val="dk1"/>
              </a:buClr>
              <a:buFont typeface="Arial"/>
              <a:buNone/>
            </a:pPr>
            <a:r>
              <a:rPr lang="en-US" b="1">
                <a:solidFill>
                  <a:srgbClr val="333344"/>
                </a:solidFill>
                <a:latin typeface="Courier New"/>
                <a:ea typeface="Courier New"/>
                <a:cs typeface="Courier New"/>
                <a:sym typeface="Courier New"/>
              </a:rPr>
              <a:t># The dict comparison fails because tuple != list, even with same values.</a:t>
            </a:r>
            <a:endParaRPr sz="1500">
              <a:solidFill>
                <a:schemeClr val="dk1"/>
              </a:solidFill>
            </a:endParaRPr>
          </a:p>
          <a:p>
            <a:pPr marL="0" lvl="0" indent="0" algn="l" rtl="0">
              <a:spcBef>
                <a:spcPts val="200"/>
              </a:spcBef>
              <a:spcAft>
                <a:spcPts val="0"/>
              </a:spcAft>
              <a:buClr>
                <a:schemeClr val="dk1"/>
              </a:buClr>
              <a:buFont typeface="Arial"/>
              <a:buNone/>
            </a:pPr>
            <a:r>
              <a:rPr lang="en-US" b="1">
                <a:solidFill>
                  <a:srgbClr val="333344"/>
                </a:solidFill>
                <a:latin typeface="Courier New"/>
                <a:ea typeface="Courier New"/>
                <a:cs typeface="Courier New"/>
                <a:sym typeface="Courier New"/>
              </a:rPr>
              <a:t># Strings, numbers, bools, nested dicts: all survive. Tuples don't.</a:t>
            </a: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B0B0C0"/>
              </a:solidFill>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360"/>
        <p:cNvGrpSpPr/>
        <p:nvPr/>
      </p:nvGrpSpPr>
      <p:grpSpPr>
        <a:xfrm>
          <a:off x="0" y="0"/>
          <a:ext cx="0" cy="0"/>
          <a:chOff x="0" y="0"/>
          <a:chExt cx="0" cy="0"/>
        </a:xfrm>
      </p:grpSpPr>
      <p:sp>
        <p:nvSpPr>
          <p:cNvPr id="361" name="Google Shape;361;p17"/>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a:solidFill>
                  <a:srgbClr val="5B21B6"/>
                </a:solidFill>
                <a:latin typeface="Calibri"/>
                <a:ea typeface="Calibri"/>
                <a:cs typeface="Calibri"/>
                <a:sym typeface="Calibri"/>
              </a:rPr>
              <a:t>Building a Data Layer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6"/>
        <p:cNvGrpSpPr/>
        <p:nvPr/>
      </p:nvGrpSpPr>
      <p:grpSpPr>
        <a:xfrm>
          <a:off x="0" y="0"/>
          <a:ext cx="0" cy="0"/>
          <a:chOff x="0" y="0"/>
          <a:chExt cx="0" cy="0"/>
        </a:xfrm>
      </p:grpSpPr>
      <p:sp>
        <p:nvSpPr>
          <p:cNvPr id="367" name="Google Shape;367;g3dd4badb058_0_83"/>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A file-based chat store</a:t>
            </a:r>
            <a:endParaRPr/>
          </a:p>
        </p:txBody>
      </p:sp>
      <p:sp>
        <p:nvSpPr>
          <p:cNvPr id="368" name="Google Shape;368;g3dd4badb058_0_83"/>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69" name="Google Shape;369;g3dd4badb058_0_83"/>
          <p:cNvSpPr txBox="1"/>
          <p:nvPr/>
        </p:nvSpPr>
        <p:spPr>
          <a:xfrm>
            <a:off x="1005840" y="1645920"/>
            <a:ext cx="10179900" cy="21138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CHAT_FILE = Path("chat_log.json")</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def load_messages():</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"""Deserialize all messages from disk into memory."""</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if not CHAT_FILE.exists():</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return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data = json.loads(CHAT_FILE.read_text())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return data["messages"]</a:t>
            </a:r>
            <a:endParaRPr/>
          </a:p>
          <a:p>
            <a:pPr marL="0" marR="0" lvl="0" indent="0" algn="l" rtl="0">
              <a:spcBef>
                <a:spcPts val="20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4"/>
        <p:cNvGrpSpPr/>
        <p:nvPr/>
      </p:nvGrpSpPr>
      <p:grpSpPr>
        <a:xfrm>
          <a:off x="0" y="0"/>
          <a:ext cx="0" cy="0"/>
          <a:chOff x="0" y="0"/>
          <a:chExt cx="0" cy="0"/>
        </a:xfrm>
      </p:grpSpPr>
      <p:sp>
        <p:nvSpPr>
          <p:cNvPr id="375" name="Google Shape;375;p18"/>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A file-based chat store</a:t>
            </a:r>
            <a:endParaRPr/>
          </a:p>
        </p:txBody>
      </p:sp>
      <p:sp>
        <p:nvSpPr>
          <p:cNvPr id="376" name="Google Shape;376;p18"/>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77" name="Google Shape;377;p18"/>
          <p:cNvSpPr txBox="1"/>
          <p:nvPr/>
        </p:nvSpPr>
        <p:spPr>
          <a:xfrm>
            <a:off x="1005840" y="1645920"/>
            <a:ext cx="10179900" cy="45819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CHAT_FILE = Path("chat_log.json")</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def load_messages():</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"""Deserialize all messages from disk into memory."""</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if not CHAT_FILE.exists():</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return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data = json.loads(CHAT_FILE.read_text())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return data["messages"]</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def save_message(username, text):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"""Load everything, append one message, serialize everything back."""</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messages = load_messages()</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messages.append({</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"user": username,</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"text": text,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"time": datetime.now().isoformat()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CHAT_FILE.write_text(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json.dumps({"messages": messages}, indent=2)</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2"/>
        <p:cNvGrpSpPr/>
        <p:nvPr/>
      </p:nvGrpSpPr>
      <p:grpSpPr>
        <a:xfrm>
          <a:off x="0" y="0"/>
          <a:ext cx="0" cy="0"/>
          <a:chOff x="0" y="0"/>
          <a:chExt cx="0" cy="0"/>
        </a:xfrm>
      </p:grpSpPr>
      <p:sp>
        <p:nvSpPr>
          <p:cNvPr id="383" name="Google Shape;383;p1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pathlib: modern path handling (quick tour)</a:t>
            </a:r>
            <a:endParaRPr/>
          </a:p>
        </p:txBody>
      </p:sp>
      <p:sp>
        <p:nvSpPr>
          <p:cNvPr id="384" name="Google Shape;384;p19"/>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85" name="Google Shape;385;p19"/>
          <p:cNvSpPr txBox="1"/>
          <p:nvPr/>
        </p:nvSpPr>
        <p:spPr>
          <a:xfrm>
            <a:off x="1005840" y="1645920"/>
            <a:ext cx="10179900" cy="438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33344"/>
                </a:solidFill>
                <a:latin typeface="Courier New"/>
                <a:ea typeface="Courier New"/>
                <a:cs typeface="Courier New"/>
                <a:sym typeface="Courier New"/>
              </a:rPr>
              <a:t>from pathlib import Path</a:t>
            </a:r>
            <a:endParaRPr sz="1700"/>
          </a:p>
          <a:p>
            <a:pPr marL="0" marR="0" lvl="0" indent="0" algn="l" rtl="0">
              <a:spcBef>
                <a:spcPts val="200"/>
              </a:spcBef>
              <a:spcAft>
                <a:spcPts val="0"/>
              </a:spcAft>
              <a:buNone/>
            </a:pPr>
            <a:endParaRPr sz="16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Build paths with / operator (not string concatenation)</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p = Path("data") / "users" / "alice.json"</a:t>
            </a:r>
            <a:endParaRPr sz="1700"/>
          </a:p>
          <a:p>
            <a:pPr marL="0" marR="0" lvl="0" indent="0" algn="l" rtl="0">
              <a:spcBef>
                <a:spcPts val="200"/>
              </a:spcBef>
              <a:spcAft>
                <a:spcPts val="0"/>
              </a:spcAft>
              <a:buNone/>
            </a:pPr>
            <a:endParaRPr sz="16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Convenient shortcuts</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content = p.read_text()             # open + read + close</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p.write_text('{"name": "alice"}')   # open + write + close</a:t>
            </a:r>
            <a:endParaRPr sz="1700"/>
          </a:p>
          <a:p>
            <a:pPr marL="0" marR="0" lvl="0" indent="0" algn="l" rtl="0">
              <a:spcBef>
                <a:spcPts val="200"/>
              </a:spcBef>
              <a:spcAft>
                <a:spcPts val="0"/>
              </a:spcAft>
              <a:buNone/>
            </a:pPr>
            <a:endParaRPr sz="16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Useful properties</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p.name      # "alice.json"</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p.stem      # "alice"</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p.suffix    # ".json"</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p.parent    # data/users</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p.exists()  # True/False</a:t>
            </a:r>
            <a:endParaRPr sz="1700"/>
          </a:p>
          <a:p>
            <a:pPr marL="0" marR="0" lvl="0" indent="0" algn="l" rtl="0">
              <a:spcBef>
                <a:spcPts val="20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0"/>
        <p:cNvGrpSpPr/>
        <p:nvPr/>
      </p:nvGrpSpPr>
      <p:grpSpPr>
        <a:xfrm>
          <a:off x="0" y="0"/>
          <a:ext cx="0" cy="0"/>
          <a:chOff x="0" y="0"/>
          <a:chExt cx="0" cy="0"/>
        </a:xfrm>
      </p:grpSpPr>
      <p:sp>
        <p:nvSpPr>
          <p:cNvPr id="391" name="Google Shape;391;g3dd4badb058_0_9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pathlib: modern path handling (quick tour)</a:t>
            </a:r>
            <a:endParaRPr/>
          </a:p>
        </p:txBody>
      </p:sp>
      <p:sp>
        <p:nvSpPr>
          <p:cNvPr id="392" name="Google Shape;392;g3dd4badb058_0_90"/>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3" name="Google Shape;393;g3dd4badb058_0_90"/>
          <p:cNvSpPr txBox="1"/>
          <p:nvPr/>
        </p:nvSpPr>
        <p:spPr>
          <a:xfrm>
            <a:off x="1005840" y="1645920"/>
            <a:ext cx="10179900" cy="248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333344"/>
                </a:solidFill>
                <a:latin typeface="Courier New"/>
                <a:ea typeface="Courier New"/>
                <a:cs typeface="Courier New"/>
                <a:sym typeface="Courier New"/>
              </a:rPr>
              <a:t>from pathlib import Path</a:t>
            </a:r>
            <a:endParaRPr sz="1900"/>
          </a:p>
          <a:p>
            <a:pPr marL="0" marR="0" lvl="0" indent="0" algn="l" rtl="0">
              <a:spcBef>
                <a:spcPts val="200"/>
              </a:spcBef>
              <a:spcAft>
                <a:spcPts val="0"/>
              </a:spcAft>
              <a:buNone/>
            </a:pPr>
            <a:endParaRPr sz="18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Create directories (parents=True makes intermediate dirs)</a:t>
            </a:r>
            <a:endParaRPr sz="1900"/>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Path("data/backups").mkdir(parents=True, exist_ok=True)</a:t>
            </a:r>
            <a:endParaRPr sz="1900"/>
          </a:p>
          <a:p>
            <a:pPr marL="0" marR="0" lvl="0" indent="0" algn="l" rtl="0">
              <a:spcBef>
                <a:spcPts val="200"/>
              </a:spcBef>
              <a:spcAft>
                <a:spcPts val="0"/>
              </a:spcAft>
              <a:buNone/>
            </a:pPr>
            <a:endParaRPr sz="18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Find files by pattern</a:t>
            </a:r>
            <a:endParaRPr sz="1900"/>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for f in Path(".").rglob("*.json"):   # recursive glob</a:t>
            </a:r>
            <a:endParaRPr sz="1900"/>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print(f)</a:t>
            </a:r>
            <a:endParaRPr sz="19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8"/>
        <p:cNvGrpSpPr/>
        <p:nvPr/>
      </p:nvGrpSpPr>
      <p:grpSpPr>
        <a:xfrm>
          <a:off x="0" y="0"/>
          <a:ext cx="0" cy="0"/>
          <a:chOff x="0" y="0"/>
          <a:chExt cx="0" cy="0"/>
        </a:xfrm>
      </p:grpSpPr>
      <p:sp>
        <p:nvSpPr>
          <p:cNvPr id="399" name="Google Shape;399;g3dd4badb058_0_97"/>
          <p:cNvSpPr txBox="1"/>
          <p:nvPr/>
        </p:nvSpPr>
        <p:spPr>
          <a:xfrm>
            <a:off x="731520" y="274320"/>
            <a:ext cx="10728600" cy="800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ANSWER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Add filtering to the chat store</a:t>
            </a:r>
            <a:endParaRPr/>
          </a:p>
        </p:txBody>
      </p:sp>
      <p:sp>
        <p:nvSpPr>
          <p:cNvPr id="400" name="Google Shape;400;g3dd4badb058_0_97"/>
          <p:cNvSpPr/>
          <p:nvPr/>
        </p:nvSpPr>
        <p:spPr>
          <a:xfrm>
            <a:off x="640080" y="228600"/>
            <a:ext cx="1188600" cy="365700"/>
          </a:xfrm>
          <a:prstGeom prst="roundRect">
            <a:avLst>
              <a:gd name="adj" fmla="val 16667"/>
            </a:avLst>
          </a:prstGeom>
          <a:solidFill>
            <a:srgbClr val="166534"/>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1" name="Google Shape;401;g3dd4badb058_0_97"/>
          <p:cNvSpPr/>
          <p:nvPr/>
        </p:nvSpPr>
        <p:spPr>
          <a:xfrm>
            <a:off x="731520" y="1371600"/>
            <a:ext cx="10728600"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2" name="Google Shape;402;g3dd4badb058_0_97"/>
          <p:cNvSpPr txBox="1"/>
          <p:nvPr/>
        </p:nvSpPr>
        <p:spPr>
          <a:xfrm>
            <a:off x="1005840" y="1554480"/>
            <a:ext cx="10179900" cy="4314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a:solidFill>
                  <a:srgbClr val="333344"/>
                </a:solidFill>
                <a:latin typeface="Courier New"/>
                <a:ea typeface="Courier New"/>
                <a:cs typeface="Courier New"/>
                <a:sym typeface="Courier New"/>
              </a:rPr>
              <a:t>def get_messages_by_user(username):</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"""Return only messages from one user."""</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messages = load_messages()        # deserializes EVERYTHING</a:t>
            </a:r>
            <a:endParaRPr sz="1700"/>
          </a:p>
          <a:p>
            <a:pPr marL="0" marR="0" lvl="0" indent="0" algn="l" rtl="0">
              <a:spcBef>
                <a:spcPts val="200"/>
              </a:spcBef>
              <a:spcAft>
                <a:spcPts val="0"/>
              </a:spcAft>
              <a:buNone/>
            </a:pPr>
            <a:r>
              <a:rPr lang="en-US" sz="1600" b="1">
                <a:solidFill>
                  <a:srgbClr val="B0B0C0"/>
                </a:solidFill>
                <a:latin typeface="Courier New"/>
                <a:ea typeface="Courier New"/>
                <a:cs typeface="Courier New"/>
                <a:sym typeface="Courier New"/>
              </a:rPr>
              <a:t>    ________________________________________</a:t>
            </a:r>
            <a:endParaRPr>
              <a:solidFill>
                <a:schemeClr val="dk1"/>
              </a:solidFill>
            </a:endParaRPr>
          </a:p>
          <a:p>
            <a:pPr marL="0" lvl="0" indent="0" algn="l" rtl="0">
              <a:spcBef>
                <a:spcPts val="200"/>
              </a:spcBef>
              <a:spcAft>
                <a:spcPts val="0"/>
              </a:spcAft>
              <a:buClr>
                <a:schemeClr val="dk1"/>
              </a:buClr>
              <a:buFont typeface="Arial"/>
              <a:buNone/>
            </a:pPr>
            <a:r>
              <a:rPr lang="en-US" sz="1600" b="1">
                <a:solidFill>
                  <a:srgbClr val="B0B0C0"/>
                </a:solidFill>
                <a:latin typeface="Courier New"/>
                <a:ea typeface="Courier New"/>
                <a:cs typeface="Courier New"/>
                <a:sym typeface="Courier New"/>
              </a:rPr>
              <a:t>    ________________________________________</a:t>
            </a:r>
            <a:endParaRPr>
              <a:solidFill>
                <a:schemeClr val="dk1"/>
              </a:solidFill>
            </a:endParaRPr>
          </a:p>
          <a:p>
            <a:pPr marL="0" lvl="0" indent="0" algn="l" rtl="0">
              <a:spcBef>
                <a:spcPts val="200"/>
              </a:spcBef>
              <a:spcAft>
                <a:spcPts val="0"/>
              </a:spcAft>
              <a:buClr>
                <a:schemeClr val="dk1"/>
              </a:buClr>
              <a:buFont typeface="Arial"/>
              <a:buNone/>
            </a:pPr>
            <a:r>
              <a:rPr lang="en-US" sz="1600" b="1">
                <a:solidFill>
                  <a:srgbClr val="B0B0C0"/>
                </a:solidFill>
                <a:latin typeface="Courier New"/>
                <a:ea typeface="Courier New"/>
                <a:cs typeface="Courier New"/>
                <a:sym typeface="Courier New"/>
              </a:rPr>
              <a:t>    ________________________________________</a:t>
            </a:r>
            <a:endParaRPr>
              <a:solidFill>
                <a:schemeClr val="dk1"/>
              </a:solidFill>
            </a:endParaRPr>
          </a:p>
          <a:p>
            <a:pPr marL="0" lvl="0" indent="0" algn="l" rtl="0">
              <a:spcBef>
                <a:spcPts val="200"/>
              </a:spcBef>
              <a:spcAft>
                <a:spcPts val="0"/>
              </a:spcAft>
              <a:buClr>
                <a:schemeClr val="dk1"/>
              </a:buClr>
              <a:buFont typeface="Arial"/>
              <a:buNone/>
            </a:pPr>
            <a:r>
              <a:rPr lang="en-US" sz="1600" b="1">
                <a:solidFill>
                  <a:srgbClr val="B0B0C0"/>
                </a:solidFill>
                <a:latin typeface="Courier New"/>
                <a:ea typeface="Courier New"/>
                <a:cs typeface="Courier New"/>
                <a:sym typeface="Courier New"/>
              </a:rPr>
              <a:t>    ________________________________________</a:t>
            </a:r>
            <a:endParaRPr>
              <a:solidFill>
                <a:schemeClr val="dk1"/>
              </a:solidFill>
            </a:endParaRPr>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Usage:</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save_message("alice", "hello everyone")</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save_message("bob", "hey alice!")</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save_message("alice", "how's the project?")</a:t>
            </a:r>
            <a:endParaRPr sz="1700"/>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alice_msgs = get_messages_by_user("alice")</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print(f"Alice sent {len(alice_msgs)} messages")  # 2</a:t>
            </a:r>
            <a:endParaRPr sz="17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7"/>
        <p:cNvGrpSpPr/>
        <p:nvPr/>
      </p:nvGrpSpPr>
      <p:grpSpPr>
        <a:xfrm>
          <a:off x="0" y="0"/>
          <a:ext cx="0" cy="0"/>
          <a:chOff x="0" y="0"/>
          <a:chExt cx="0" cy="0"/>
        </a:xfrm>
      </p:grpSpPr>
      <p:sp>
        <p:nvSpPr>
          <p:cNvPr id="408" name="Google Shape;408;p21"/>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ANSWER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Add filtering to the chat store</a:t>
            </a:r>
            <a:endParaRPr/>
          </a:p>
        </p:txBody>
      </p:sp>
      <p:sp>
        <p:nvSpPr>
          <p:cNvPr id="409" name="Google Shape;409;p21"/>
          <p:cNvSpPr/>
          <p:nvPr/>
        </p:nvSpPr>
        <p:spPr>
          <a:xfrm>
            <a:off x="640080" y="228600"/>
            <a:ext cx="1188720" cy="365760"/>
          </a:xfrm>
          <a:prstGeom prst="roundRect">
            <a:avLst>
              <a:gd name="adj" fmla="val 16667"/>
            </a:avLst>
          </a:prstGeom>
          <a:solidFill>
            <a:srgbClr val="166534"/>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10" name="Google Shape;410;p21"/>
          <p:cNvSpPr/>
          <p:nvPr/>
        </p:nvSpPr>
        <p:spPr>
          <a:xfrm>
            <a:off x="731520" y="1371600"/>
            <a:ext cx="10728655"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11" name="Google Shape;411;p21"/>
          <p:cNvSpPr txBox="1"/>
          <p:nvPr/>
        </p:nvSpPr>
        <p:spPr>
          <a:xfrm>
            <a:off x="1005840" y="1554480"/>
            <a:ext cx="10179900" cy="4376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a:solidFill>
                  <a:srgbClr val="333344"/>
                </a:solidFill>
                <a:latin typeface="Courier New"/>
                <a:ea typeface="Courier New"/>
                <a:cs typeface="Courier New"/>
                <a:sym typeface="Courier New"/>
              </a:rPr>
              <a:t>def get_messages_by_user(username):</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"""Return only messages from one user."""</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messages = load_messages()        # deserializes EVERYTHING</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return [m for m in messages if m["user"] == username]</a:t>
            </a:r>
            <a:endParaRPr sz="1700"/>
          </a:p>
          <a:p>
            <a:pPr marL="0" marR="0" lvl="0" indent="0" algn="l" rtl="0">
              <a:spcBef>
                <a:spcPts val="200"/>
              </a:spcBef>
              <a:spcAft>
                <a:spcPts val="0"/>
              </a:spcAft>
              <a:buNone/>
            </a:pPr>
            <a:endParaRPr sz="1700"/>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Usage:</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save_message("alice", "hello everyone")</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save_message("bob", "hey alice!")</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save_message("alice", "how's the project?")</a:t>
            </a:r>
            <a:endParaRPr sz="1700"/>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alice_msgs = get_messages_by_user("alice")</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print(f"Alice sent {len(alice_msgs)} messages")  # 2</a:t>
            </a:r>
            <a:endParaRPr sz="17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416"/>
        <p:cNvGrpSpPr/>
        <p:nvPr/>
      </p:nvGrpSpPr>
      <p:grpSpPr>
        <a:xfrm>
          <a:off x="0" y="0"/>
          <a:ext cx="0" cy="0"/>
          <a:chOff x="0" y="0"/>
          <a:chExt cx="0" cy="0"/>
        </a:xfrm>
      </p:grpSpPr>
      <p:sp>
        <p:nvSpPr>
          <p:cNvPr id="417" name="Google Shape;417;p22"/>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a:solidFill>
                  <a:srgbClr val="5B21B6"/>
                </a:solidFill>
                <a:latin typeface="Calibri"/>
                <a:ea typeface="Calibri"/>
                <a:cs typeface="Calibri"/>
                <a:sym typeface="Calibri"/>
              </a:rPr>
              <a:t>Why Files Break Down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2"/>
        <p:cNvGrpSpPr/>
        <p:nvPr/>
      </p:nvGrpSpPr>
      <p:grpSpPr>
        <a:xfrm>
          <a:off x="0" y="0"/>
          <a:ext cx="0" cy="0"/>
          <a:chOff x="0" y="0"/>
          <a:chExt cx="0" cy="0"/>
        </a:xfrm>
      </p:grpSpPr>
      <p:sp>
        <p:nvSpPr>
          <p:cNvPr id="423" name="Google Shape;423;p2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The read-modify-write problem</a:t>
            </a:r>
            <a:endParaRPr/>
          </a:p>
        </p:txBody>
      </p:sp>
      <p:sp>
        <p:nvSpPr>
          <p:cNvPr id="424" name="Google Shape;424;p23"/>
          <p:cNvSpPr txBox="1"/>
          <p:nvPr/>
        </p:nvSpPr>
        <p:spPr>
          <a:xfrm>
            <a:off x="914400" y="1463040"/>
            <a:ext cx="10362900" cy="506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Every write in our chat store follows this pattern: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1. Read the entire file (deserialize everything)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2. Modify the data in memory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3. Write the entire file back (serialize everything)</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With 10 messages, this is instant. With 10 million?</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Want to find messages by date? Full deserialize + linear scan.</a:t>
            </a:r>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Want to count messages per user? Full deserialize + loop.</a:t>
            </a:r>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Want to add one message? Full deserialize + serialize everything.</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There's no way to 'just update one record' in a JSON file.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9"/>
        <p:cNvGrpSpPr/>
        <p:nvPr/>
      </p:nvGrpSpPr>
      <p:grpSpPr>
        <a:xfrm>
          <a:off x="0" y="0"/>
          <a:ext cx="0" cy="0"/>
          <a:chOff x="0" y="0"/>
          <a:chExt cx="0" cy="0"/>
        </a:xfrm>
      </p:grpSpPr>
      <p:sp>
        <p:nvSpPr>
          <p:cNvPr id="430" name="Google Shape;430;g3dd4badb058_0_77"/>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What happens with two writers?</a:t>
            </a:r>
            <a:endParaRPr/>
          </a:p>
        </p:txBody>
      </p:sp>
      <p:sp>
        <p:nvSpPr>
          <p:cNvPr id="431" name="Google Shape;431;g3dd4badb058_0_77"/>
          <p:cNvSpPr txBox="1"/>
          <p:nvPr/>
        </p:nvSpPr>
        <p:spPr>
          <a:xfrm>
            <a:off x="914400" y="1463040"/>
            <a:ext cx="10362900" cy="3570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Two users post at the same time. Both processes:</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Process A: reads file (sees 5 messages)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Process B: reads file (sees 5 messages)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Process A: appends msg, writes file (6 messages)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Process B: appends msg, writes file (6 messages!)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Process A's message is gone. B overwrote the entire file.</a:t>
            </a:r>
            <a:endParaRPr/>
          </a:p>
          <a:p>
            <a:pPr marL="0" marR="0" lvl="0" indent="0" algn="l" rtl="0">
              <a:spcBef>
                <a:spcPts val="600"/>
              </a:spcBef>
              <a:spcAft>
                <a:spcPts val="0"/>
              </a:spcAft>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6"/>
        <p:cNvGrpSpPr/>
        <p:nvPr/>
      </p:nvGrpSpPr>
      <p:grpSpPr>
        <a:xfrm>
          <a:off x="0" y="0"/>
          <a:ext cx="0" cy="0"/>
          <a:chOff x="0" y="0"/>
          <a:chExt cx="0" cy="0"/>
        </a:xfrm>
      </p:grpSpPr>
      <p:sp>
        <p:nvSpPr>
          <p:cNvPr id="437" name="Google Shape;437;p2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What happens with two writers?</a:t>
            </a:r>
            <a:endParaRPr/>
          </a:p>
        </p:txBody>
      </p:sp>
      <p:sp>
        <p:nvSpPr>
          <p:cNvPr id="438" name="Google Shape;438;p24"/>
          <p:cNvSpPr txBox="1"/>
          <p:nvPr/>
        </p:nvSpPr>
        <p:spPr>
          <a:xfrm>
            <a:off x="914400" y="1463040"/>
            <a:ext cx="10362895" cy="4937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Two users post at the same time. Both processes:</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Process A: reads file (sees 5 messages)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Process B: reads file (sees 5 messages)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Process A: appends msg, writes file (6 messages)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Process B: appends msg, writes file (6 messages!)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Process A's message is gone. B overwrote the entire file.</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This is a </a:t>
            </a:r>
            <a:r>
              <a:rPr lang="en-US" sz="2400" b="1">
                <a:solidFill>
                  <a:srgbClr val="333344"/>
                </a:solidFill>
                <a:latin typeface="Calibri"/>
                <a:ea typeface="Calibri"/>
                <a:cs typeface="Calibri"/>
                <a:sym typeface="Calibri"/>
              </a:rPr>
              <a:t>race condition</a:t>
            </a:r>
            <a:r>
              <a:rPr lang="en-US" sz="2400" b="0">
                <a:solidFill>
                  <a:srgbClr val="333344"/>
                </a:solidFill>
                <a:latin typeface="Calibri"/>
                <a:ea typeface="Calibri"/>
                <a:cs typeface="Calibri"/>
                <a:sym typeface="Calibri"/>
              </a:rPr>
              <a:t> - the result depends on timing.</a:t>
            </a:r>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Files have no built-in concurrency protection.</a:t>
            </a:r>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You could add file locks, but now you're building a database...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3"/>
        <p:cNvGrpSpPr/>
        <p:nvPr/>
      </p:nvGrpSpPr>
      <p:grpSpPr>
        <a:xfrm>
          <a:off x="0" y="0"/>
          <a:ext cx="0" cy="0"/>
          <a:chOff x="0" y="0"/>
          <a:chExt cx="0" cy="0"/>
        </a:xfrm>
      </p:grpSpPr>
      <p:sp>
        <p:nvSpPr>
          <p:cNvPr id="444" name="Google Shape;444;p2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Files as a database: the five problems</a:t>
            </a:r>
            <a:endParaRPr/>
          </a:p>
        </p:txBody>
      </p:sp>
      <p:sp>
        <p:nvSpPr>
          <p:cNvPr id="445" name="Google Shape;445;p25"/>
          <p:cNvSpPr txBox="1"/>
          <p:nvPr/>
        </p:nvSpPr>
        <p:spPr>
          <a:xfrm>
            <a:off x="914400" y="1096815"/>
            <a:ext cx="10362900" cy="5710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1. </a:t>
            </a:r>
            <a:r>
              <a:rPr lang="en-US" sz="2400" b="1">
                <a:solidFill>
                  <a:srgbClr val="333344"/>
                </a:solidFill>
                <a:latin typeface="Calibri"/>
                <a:ea typeface="Calibri"/>
                <a:cs typeface="Calibri"/>
                <a:sym typeface="Calibri"/>
              </a:rPr>
              <a:t>No indexing</a:t>
            </a:r>
            <a:r>
              <a:rPr lang="en-US" sz="2400" b="0">
                <a:solidFill>
                  <a:srgbClr val="333344"/>
                </a:solidFill>
                <a:latin typeface="Calibri"/>
                <a:ea typeface="Calibri"/>
                <a:cs typeface="Calibri"/>
                <a:sym typeface="Calibri"/>
              </a:rPr>
              <a:t> - finding one record means reading everything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(we saw this: get_messages_by_user deserializes the whole file)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2. </a:t>
            </a:r>
            <a:r>
              <a:rPr lang="en-US" sz="2400" b="1">
                <a:solidFill>
                  <a:srgbClr val="333344"/>
                </a:solidFill>
                <a:latin typeface="Calibri"/>
                <a:ea typeface="Calibri"/>
                <a:cs typeface="Calibri"/>
                <a:sym typeface="Calibri"/>
              </a:rPr>
              <a:t>No schema</a:t>
            </a:r>
            <a:r>
              <a:rPr lang="en-US" sz="2400" b="0">
                <a:solidFill>
                  <a:srgbClr val="333344"/>
                </a:solidFill>
                <a:latin typeface="Calibri"/>
                <a:ea typeface="Calibri"/>
                <a:cs typeface="Calibri"/>
                <a:sym typeface="Calibri"/>
              </a:rPr>
              <a:t> - nothing enforces data structure or types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typo in a key name silently corrupts your data)</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3. </a:t>
            </a:r>
            <a:r>
              <a:rPr lang="en-US" sz="2400" b="1">
                <a:solidFill>
                  <a:srgbClr val="333344"/>
                </a:solidFill>
                <a:latin typeface="Calibri"/>
                <a:ea typeface="Calibri"/>
                <a:cs typeface="Calibri"/>
                <a:sym typeface="Calibri"/>
              </a:rPr>
              <a:t>No concurrency</a:t>
            </a:r>
            <a:r>
              <a:rPr lang="en-US" sz="2400" b="0">
                <a:solidFill>
                  <a:srgbClr val="333344"/>
                </a:solidFill>
                <a:latin typeface="Calibri"/>
                <a:ea typeface="Calibri"/>
                <a:cs typeface="Calibri"/>
                <a:sym typeface="Calibri"/>
              </a:rPr>
              <a:t> - two writers = data loss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race condition we just walked through)</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4. </a:t>
            </a:r>
            <a:r>
              <a:rPr lang="en-US" sz="2400" b="1">
                <a:solidFill>
                  <a:srgbClr val="333344"/>
                </a:solidFill>
                <a:latin typeface="Calibri"/>
                <a:ea typeface="Calibri"/>
                <a:cs typeface="Calibri"/>
                <a:sym typeface="Calibri"/>
              </a:rPr>
              <a:t>No relationships</a:t>
            </a:r>
            <a:r>
              <a:rPr lang="en-US" sz="2400" b="0">
                <a:solidFill>
                  <a:srgbClr val="333344"/>
                </a:solidFill>
                <a:latin typeface="Calibri"/>
                <a:ea typeface="Calibri"/>
                <a:cs typeface="Calibri"/>
                <a:sym typeface="Calibri"/>
              </a:rPr>
              <a:t> - can't link users to messages efficiently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(you'd need to search across multiple files)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5. </a:t>
            </a:r>
            <a:r>
              <a:rPr lang="en-US" sz="2400" b="1">
                <a:solidFill>
                  <a:srgbClr val="333344"/>
                </a:solidFill>
                <a:latin typeface="Calibri"/>
                <a:ea typeface="Calibri"/>
                <a:cs typeface="Calibri"/>
                <a:sym typeface="Calibri"/>
              </a:rPr>
              <a:t>No query language</a:t>
            </a:r>
            <a:r>
              <a:rPr lang="en-US" sz="2400" b="0">
                <a:solidFill>
                  <a:srgbClr val="333344"/>
                </a:solidFill>
                <a:latin typeface="Calibri"/>
                <a:ea typeface="Calibri"/>
                <a:cs typeface="Calibri"/>
                <a:sym typeface="Calibri"/>
              </a:rPr>
              <a:t> - every filter is a hand-written loop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(imagine writing get_messages_by_user for 50 different queries)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450"/>
        <p:cNvGrpSpPr/>
        <p:nvPr/>
      </p:nvGrpSpPr>
      <p:grpSpPr>
        <a:xfrm>
          <a:off x="0" y="0"/>
          <a:ext cx="0" cy="0"/>
          <a:chOff x="0" y="0"/>
          <a:chExt cx="0" cy="0"/>
        </a:xfrm>
      </p:grpSpPr>
      <p:sp>
        <p:nvSpPr>
          <p:cNvPr id="451" name="Google Shape;451;p26"/>
          <p:cNvSpPr txBox="1"/>
          <p:nvPr/>
        </p:nvSpPr>
        <p:spPr>
          <a:xfrm>
            <a:off x="5303520" y="457200"/>
            <a:ext cx="1584655" cy="1371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200" b="1">
                <a:solidFill>
                  <a:srgbClr val="5B21B6"/>
                </a:solidFill>
                <a:latin typeface="Calibri"/>
                <a:ea typeface="Calibri"/>
                <a:cs typeface="Calibri"/>
                <a:sym typeface="Calibri"/>
              </a:rPr>
              <a:t>?</a:t>
            </a:r>
            <a:endParaRPr/>
          </a:p>
        </p:txBody>
      </p:sp>
      <p:sp>
        <p:nvSpPr>
          <p:cNvPr id="452" name="Google Shape;452;p26"/>
          <p:cNvSpPr txBox="1"/>
          <p:nvPr/>
        </p:nvSpPr>
        <p:spPr>
          <a:xfrm>
            <a:off x="1371600" y="2011680"/>
            <a:ext cx="94484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rgbClr val="1A1A2E"/>
                </a:solidFill>
                <a:latin typeface="Calibri"/>
                <a:ea typeface="Calibri"/>
                <a:cs typeface="Calibri"/>
                <a:sym typeface="Calibri"/>
              </a:rPr>
              <a:t>If you wanted to fix these problems,</a:t>
            </a:r>
            <a:br>
              <a:rPr lang="en-US" sz="3400" b="1">
                <a:solidFill>
                  <a:srgbClr val="1A1A2E"/>
                </a:solidFill>
                <a:latin typeface="Calibri"/>
                <a:ea typeface="Calibri"/>
                <a:cs typeface="Calibri"/>
                <a:sym typeface="Calibri"/>
              </a:rPr>
            </a:br>
            <a:r>
              <a:rPr lang="en-US" sz="3400" b="1">
                <a:solidFill>
                  <a:srgbClr val="1A1A2E"/>
                </a:solidFill>
                <a:latin typeface="Calibri"/>
                <a:ea typeface="Calibri"/>
                <a:cs typeface="Calibri"/>
                <a:sym typeface="Calibri"/>
              </a:rPr>
              <a:t>what would you need to build on top of files?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7"/>
        <p:cNvGrpSpPr/>
        <p:nvPr/>
      </p:nvGrpSpPr>
      <p:grpSpPr>
        <a:xfrm>
          <a:off x="0" y="0"/>
          <a:ext cx="0" cy="0"/>
          <a:chOff x="0" y="0"/>
          <a:chExt cx="0" cy="0"/>
        </a:xfrm>
      </p:grpSpPr>
      <p:sp>
        <p:nvSpPr>
          <p:cNvPr id="458" name="Google Shape;458;p2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What we covered</a:t>
            </a:r>
            <a:endParaRPr/>
          </a:p>
        </p:txBody>
      </p:sp>
      <p:sp>
        <p:nvSpPr>
          <p:cNvPr id="459" name="Google Shape;459;p27"/>
          <p:cNvSpPr txBox="1"/>
          <p:nvPr/>
        </p:nvSpPr>
        <p:spPr>
          <a:xfrm>
            <a:off x="914400" y="1463040"/>
            <a:ext cx="10362900" cy="506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Files are flat byte sequences - all structure is a convention</a:t>
            </a:r>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open() gives you a file descriptor (an OS resource - close it!)</a:t>
            </a:r>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Serialization converts structured data to/from bytes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JSON: hierarchical, universal, the web standard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CSV: tabular, compact, spreadsheet-friendly</a:t>
            </a:r>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Serialization is lossy (tuples -&gt; lists, no datetimes)</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File-based storage works but doesn't scale: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Read-modify-write for every operation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 indexing, schema, concurrency, relationships, or queries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Next: databases solve all five problems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4620</Words>
  <Application>Microsoft Macintosh PowerPoint</Application>
  <PresentationFormat>Widescreen</PresentationFormat>
  <Paragraphs>483</Paragraphs>
  <Slides>37</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Courier New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Andrew Aymeloglu</cp:lastModifiedBy>
  <cp:revision>1</cp:revision>
  <dcterms:created xsi:type="dcterms:W3CDTF">2013-01-27T09:14:16Z</dcterms:created>
  <dcterms:modified xsi:type="dcterms:W3CDTF">2026-04-07T23:44:38Z</dcterms:modified>
</cp:coreProperties>
</file>