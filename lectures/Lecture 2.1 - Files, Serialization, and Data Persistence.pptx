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9"/>
  </p:notesMasterIdLst>
  <p:sldIdLst>
    <p:sldId id="269" r:id="rId2"/>
    <p:sldId id="270" r:id="rId3"/>
    <p:sldId id="271" r:id="rId4"/>
    <p:sldId id="272" r:id="rId5"/>
    <p:sldId id="273" r:id="rId6"/>
    <p:sldId id="274" r:id="rId7"/>
    <p:sldId id="275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86" r:id="rId19"/>
    <p:sldId id="287" r:id="rId20"/>
    <p:sldId id="288" r:id="rId21"/>
    <p:sldId id="289" r:id="rId22"/>
    <p:sldId id="290" r:id="rId23"/>
    <p:sldId id="291" r:id="rId24"/>
    <p:sldId id="292" r:id="rId25"/>
    <p:sldId id="293" r:id="rId26"/>
    <p:sldId id="294" r:id="rId27"/>
    <p:sldId id="295" r:id="rId28"/>
    <p:sldId id="296" r:id="rId29"/>
    <p:sldId id="297" r:id="rId30"/>
    <p:sldId id="298" r:id="rId31"/>
    <p:sldId id="299" r:id="rId32"/>
    <p:sldId id="300" r:id="rId33"/>
    <p:sldId id="301" r:id="rId34"/>
    <p:sldId id="302" r:id="rId35"/>
    <p:sldId id="303" r:id="rId36"/>
    <p:sldId id="304" r:id="rId37"/>
    <p:sldId id="305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8" roundtripDataSignature="AMtx7mgKE4LfYcrrov+GedJvJv3QCuIu2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06" d="100"/>
          <a:sy n="106" d="100"/>
        </p:scale>
        <p:origin x="1336" y="48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68" Type="http://customschemas.google.com/relationships/presentationmetadata" Target="metadata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Assignment reminders: no spaghetti code, consistent design decisions call to call, no ORM.</a:t>
            </a:r>
          </a:p>
        </p:txBody>
      </p:sp>
      <p:sp>
        <p:nvSpPr>
          <p:cNvPr id="178" name="Google Shape;178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Format only, no Python API yet.</a:t>
            </a:r>
          </a:p>
        </p:txBody>
      </p:sp>
      <p:sp>
        <p:nvSpPr>
          <p:cNvPr id="187" name="Google Shape;187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3" name="Google Shape;193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Expect 'it's saved.' Push: dict is pointers, hash tables, refcounts - file is flat bytes.</a:t>
            </a:r>
          </a:p>
        </p:txBody>
      </p:sp>
      <p:sp>
        <p:nvSpPr>
          <p:cNvPr id="194" name="Google Shape;194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" name="Google Shape;201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02" name="Google Shape;202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7" name="Google Shape;207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08" name="Google Shape;208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4" name="Google Shape;214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~1024 descriptors per process, then a long-running server falls over.</a:t>
            </a:r>
          </a:p>
        </p:txBody>
      </p:sp>
      <p:sp>
        <p:nvSpPr>
          <p:cNvPr id="215" name="Google Shape;215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dd4badb0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1" name="Google Shape;221;g3dd4badb058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22" name="Google Shape;222;g3dd4badb058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d4badb058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g3dd4badb058_0_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30" name="Google Shape;230;g3dd4badb058_0_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38" name="Google Shape;238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Have them predict each line before running. Surprise: getsizeof is the big one.</a:t>
            </a:r>
          </a:p>
        </p:txBody>
      </p:sp>
      <p:sp>
        <p:nvSpPr>
          <p:cNvPr id="246" name="Google Shape;246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Point: this is why you can't write a dict to disk directly.</a:t>
            </a:r>
          </a:p>
        </p:txBody>
      </p:sp>
      <p:sp>
        <p:nvSpPr>
          <p:cNvPr id="255" name="Google Shape;255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64" name="Google Shape;264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70" name="Google Shape;270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dd4badb058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6" name="Google Shape;276;g3dd4badb058_0_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77" name="Google Shape;277;g3dd4badb058_0_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dd4badb058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3" name="Google Shape;283;g3dd4badb058_0_3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84" name="Google Shape;284;g3dd4badb058_0_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Chat app API uses this constantly. Without indent=2, one long line.</a:t>
            </a:r>
          </a:p>
        </p:txBody>
      </p:sp>
      <p:sp>
        <p:nvSpPr>
          <p:cNvPr id="291" name="Google Shape;291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8" name="Google Shape;298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newline='' stops double-spacing on Windows. Keep it short.</a:t>
            </a:r>
          </a:p>
        </p:txBody>
      </p:sp>
      <p:sp>
        <p:nvSpPr>
          <p:cNvPr id="299" name="Google Shape;299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Chat app timestamps will hit this.</a:t>
            </a:r>
          </a:p>
        </p:txBody>
      </p:sp>
      <p:sp>
        <p:nvSpPr>
          <p:cNvPr id="307" name="Google Shape;307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dd4badb058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4" name="Google Shape;314;g3dd4badb058_0_3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Chat app timestamps will hit this.</a:t>
            </a:r>
          </a:p>
        </p:txBody>
      </p:sp>
      <p:sp>
        <p:nvSpPr>
          <p:cNvPr id="315" name="Google Shape;315;g3dd4badb058_0_3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dd4badb058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2" name="Google Shape;322;g3dd4badb058_0_6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Answer: False, `scores` comes back a list.</a:t>
            </a:r>
          </a:p>
        </p:txBody>
      </p:sp>
      <p:sp>
        <p:nvSpPr>
          <p:cNvPr id="323" name="Google Shape;323;g3dd4badb058_0_6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dd4badb058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1" name="Google Shape;331;g3dd4badb058_0_5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Answer: False, `scores` comes back a list.</a:t>
            </a:r>
          </a:p>
        </p:txBody>
      </p:sp>
      <p:sp>
        <p:nvSpPr>
          <p:cNvPr id="332" name="Google Shape;332;g3dd4badb058_0_5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Answer: False, `scores` comes back a list.</a:t>
            </a:r>
          </a:p>
        </p:txBody>
      </p:sp>
      <p:sp>
        <p:nvSpPr>
          <p:cNvPr id="341" name="Google Shape;341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dd4badb058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g3dd4badb058_0_6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g3dd4badb058_0_6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59" name="Google Shape;359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dd4badb058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4" name="Google Shape;364;g3dd4badb058_0_8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Whole file in and out on every call. read_text is open+read+close.</a:t>
            </a:r>
          </a:p>
        </p:txBody>
      </p:sp>
      <p:sp>
        <p:nvSpPr>
          <p:cNvPr id="365" name="Google Shape;365;g3dd4badb058_0_8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2" name="Google Shape;372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Whole file in and out on every call. read_text is open+read+close.</a:t>
            </a:r>
          </a:p>
        </p:txBody>
      </p:sp>
      <p:sp>
        <p:nvSpPr>
          <p:cNvPr id="373" name="Google Shape;373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0" name="Google Shape;380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Quick. read_text/write_text are the main thing. glob is single-directory, rglob recursive.</a:t>
            </a:r>
          </a:p>
        </p:txBody>
      </p:sp>
      <p:sp>
        <p:nvSpPr>
          <p:cNvPr id="381" name="Google Shape;38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dd4badb058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g3dd4badb058_0_9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Quick. read_text/write_text are the main thing. glob is single-directory, rglob recursive.</a:t>
            </a:r>
          </a:p>
        </p:txBody>
      </p:sp>
      <p:sp>
        <p:nvSpPr>
          <p:cNvPr id="389" name="Google Shape;389;g3dd4badb058_0_9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dd4badb058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g3dd4badb058_0_9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Ask: seen 'list comprehension'? Point: whole file deserialized to filter two messages.</a:t>
            </a:r>
          </a:p>
        </p:txBody>
      </p:sp>
      <p:sp>
        <p:nvSpPr>
          <p:cNvPr id="397" name="Google Shape;397;g3dd4badb058_0_9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5" name="Google Shape;405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Ask: seen 'list comprehension'? Point: whole file deserialized to filter two messages.</a:t>
            </a:r>
          </a:p>
        </p:txBody>
      </p:sp>
      <p:sp>
        <p:nvSpPr>
          <p:cNvPr id="406" name="Google Shape;406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4" name="Google Shape;414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15" name="Google Shape;415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0" name="Google Shape;420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21" name="Google Shape;421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dd4badb058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7" name="Google Shape;427;g3dd4badb058_0_7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Contrast: mode='a' appends to plain text are fine. JSON needs whole-file rewrite.</a:t>
            </a:r>
          </a:p>
        </p:txBody>
      </p:sp>
      <p:sp>
        <p:nvSpPr>
          <p:cNvPr id="428" name="Google Shape;428;g3dd4badb058_0_7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4" name="Google Shape;434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Contrast: mode='a' appends to plain text are fine. JSON needs whole-file rewrite.</a:t>
            </a:r>
          </a:p>
        </p:txBody>
      </p:sp>
      <p:sp>
        <p:nvSpPr>
          <p:cNvPr id="435" name="Google Shape;435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1" name="Google Shape;441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Each one is what a database solves.</a:t>
            </a:r>
          </a:p>
        </p:txBody>
      </p:sp>
      <p:sp>
        <p:nvSpPr>
          <p:cNvPr id="442" name="Google Shape;442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8" name="Google Shape;448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Brainstorm. Expect: indexing, schemas, concurrency control, relationships, queries. Segue to 2.2.</a:t>
            </a:r>
          </a:p>
        </p:txBody>
      </p:sp>
      <p:sp>
        <p:nvSpPr>
          <p:cNvPr id="449" name="Google Shape;449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5" name="Google Shape;455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56" name="Google Shape;456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3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4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4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2.1</a:t>
            </a:r>
            <a:endParaRPr/>
          </a:p>
        </p:txBody>
      </p:sp>
      <p:sp>
        <p:nvSpPr>
          <p:cNvPr id="182" name="Google Shape;182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Files, Serialization, and Data Persistence</a:t>
            </a:r>
            <a:endParaRPr/>
          </a:p>
        </p:txBody>
      </p:sp>
      <p:sp>
        <p:nvSpPr>
          <p:cNvPr id="183" name="Google Shape;183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JSON: the format you'll use everywhere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JSON = JavaScript Object Notation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plain-text format for representing structured data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{"user": "alice", "text": "hello", "likes": 3}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Curly braces for objects (like Python dicts)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Square brackets for arrays (like Python lists)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Strings, numbers, booleans, null - that's it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Human-readable, language-independent, everywhere: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Web APIs, config files, data storage, logging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You'll use it in every assignment this semester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97" name="Google Shape;197;p3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What's the difference between a Python dict in memory</a:t>
            </a:r>
            <a:br>
              <a:rPr lang="en-US" sz="34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4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and a JSON file on disk?</a:t>
            </a:r>
            <a:endParaRPr/>
          </a:p>
        </p:txBody>
      </p:sp>
      <p:sp>
        <p:nvSpPr>
          <p:cNvPr id="198" name="Google Shape;198;p3"/>
          <p:cNvSpPr txBox="1"/>
          <p:nvPr/>
        </p:nvSpPr>
        <p:spPr>
          <a:xfrm>
            <a:off x="1828800" y="4572000"/>
            <a:ext cx="853409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Not just 'one is saved.' What's structurally different about them?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What Is a File, Actually?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file is a sequence of bytes. That's it.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file on disk is a flat sequence of bytes (integers 0-255)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Text files: bytes that encode characters (via UTF-8, ASCII, etc.)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Binary files: bytes that encode... anything else (images, executables)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There is no structure. No types. No nesting.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JSON file doesn't 'contain' a dict. It contains bytes that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represent characters that follow a grammar we can parse into a dict.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UTF-8: the standard text encoding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"A" = byte 0x41      "hello" = 5 bytes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Emoji, CJK = 2-4 bytes per character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When in doubt, specify encoding='utf-8' explicitly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open() actually does</a:t>
            </a:r>
            <a:endParaRPr/>
          </a:p>
        </p:txBody>
      </p:sp>
      <p:sp>
        <p:nvSpPr>
          <p:cNvPr id="218" name="Google Shape;218;p6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call open(), Python asks the OS for access to a file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OS returns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 descriptor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(just a small integer)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 open channel between your process and the file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OS tracks your read/write position, permissions, locks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Reading/writing goes through OS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buffers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(not directly to disk)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Writes may sit in a buffer until the OS decides to flush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Crash before flush = lost data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close()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releases the file descriptor and flushes buffers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Forget to close = resource leak (OS has a per-process limit)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This is why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with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exists: it guarantees close()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dd4badb058_0_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with statement: correctness, not style</a:t>
            </a:r>
            <a:endParaRPr/>
          </a:p>
        </p:txBody>
      </p:sp>
      <p:sp>
        <p:nvSpPr>
          <p:cNvPr id="225" name="Google Shape;225;g3dd4badb058_0_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g3dd4badb058_0_0"/>
          <p:cNvSpPr txBox="1"/>
          <p:nvPr/>
        </p:nvSpPr>
        <p:spPr>
          <a:xfrm>
            <a:off x="1005840" y="1645920"/>
            <a:ext cx="10179900" cy="15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BAD: resource leak if an exception fires between open and close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 = open("data.json", "r")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json.load(f)       # if this throws, f never gets closed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f.close()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d4badb058_0_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with statement: correctness, not style</a:t>
            </a:r>
            <a:endParaRPr/>
          </a:p>
        </p:txBody>
      </p:sp>
      <p:sp>
        <p:nvSpPr>
          <p:cNvPr id="233" name="Google Shape;233;g3dd4badb058_0_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g3dd4badb058_0_7"/>
          <p:cNvSpPr txBox="1"/>
          <p:nvPr/>
        </p:nvSpPr>
        <p:spPr>
          <a:xfrm>
            <a:off x="1005840" y="1645920"/>
            <a:ext cx="101799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BAD: resource leak if an exception fires between open and close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 = open("data.json", "r")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json.load(f)       # if this throws, f never gets closed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f.close()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GOOD: close() is guaranteed, even if an exception fires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open("data.json", "r")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json.load(f)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 is closed here no matter what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with statement: correctness, not style</a:t>
            </a:r>
            <a:endParaRPr/>
          </a:p>
        </p:txBody>
      </p:sp>
      <p:sp>
        <p:nvSpPr>
          <p:cNvPr id="241" name="Google Shape;241;p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BAD: resource leak if an exception fires between open and close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 = open("data.json", "r")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json.load(f)       # if this throws, f never gets closed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f.close()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GOOD: close() is guaranteed, even if an exception fires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open("data.json", "r")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json.load(f)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 is closed here no matter what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WHY IT MATTERS: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 Each open file uses a file descriptor (OS resource, limited to ~1024)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 Leaked descriptors in a long-running server = crash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 Buffered writes may never flush if you forget close()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Peek behind the curtain</a:t>
            </a:r>
            <a:endParaRPr/>
          </a:p>
        </p:txBody>
      </p:sp>
      <p:sp>
        <p:nvSpPr>
          <p:cNvPr id="249" name="Google Shape;249;p8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sys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msg = {"user": "alice", "text": "hello"}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1. How big is this dict in memory?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print(sys.getsizeof(msg))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2. Now serialize it to a JSON string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json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as_json = json.dumps(msg)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print(as_json)           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print(len(as_json))      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3. Look at the raw bytes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as_bytes = as_json.encode("utf-8")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print(as_bytes)          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print(len(as_bytes))     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4. What do you notice about the sizes?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Peek behind the curtain</a:t>
            </a: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sys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msg = {"user": "alice", "text": "hello"}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1. How big is this dict in memory?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print(sys.getsizeof(msg))           # 184 (bytes! hash table overhead)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2. Now serialize it to a JSON string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json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as_json = json.dumps(msg)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print(as_json)                      # {"user": "alice", "text": "hello"}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print(len(as_json))                 # 38 characters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3. Look at the raw bytes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as_bytes = as_json.encode("utf-8")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print(as_bytes)                     # b'{"user": "alice", "text": "hello"}'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print(len(as_bytes))                # 38 bytes (ASCII chars = 1 byte each)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4. In-memory: 184 bytes. On disk: 38 bytes. Very different worlds.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0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Serialization: Bridging Memory and Disk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core problem</a:t>
            </a:r>
            <a:endParaRPr/>
          </a:p>
        </p:txBody>
      </p:sp>
      <p:sp>
        <p:nvSpPr>
          <p:cNvPr id="273" name="Google Shape;273;p11"/>
          <p:cNvSpPr txBox="1"/>
          <p:nvPr/>
        </p:nvSpPr>
        <p:spPr>
          <a:xfrm>
            <a:off x="914388" y="1196715"/>
            <a:ext cx="10362900" cy="25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objects live in memory: pointers, type tags, hash tables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are flat sequences of bytes: no pointers, no types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structured data -&gt; flat bytes (for storage or network)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flat bytes -&gt; structured data (back into memory)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dd4badb058_0_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core problem</a:t>
            </a:r>
            <a:endParaRPr/>
          </a:p>
        </p:txBody>
      </p:sp>
      <p:sp>
        <p:nvSpPr>
          <p:cNvPr id="280" name="Google Shape;280;g3dd4badb058_0_26"/>
          <p:cNvSpPr txBox="1"/>
          <p:nvPr/>
        </p:nvSpPr>
        <p:spPr>
          <a:xfrm>
            <a:off x="914388" y="1196715"/>
            <a:ext cx="10362900" cy="38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objects live in memory: pointers, type tags, hash tables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are flat sequences of bytes: no pointers, no types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structured data -&gt; flat bytes (for storage or network)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flat bytes -&gt; structured data (back into memory)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data format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is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serialization strategy: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JSON, CSV, XML, YAML, Protocol Buffers, MessagePack, Pickle...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dd4badb058_0_3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core problem</a:t>
            </a:r>
            <a:endParaRPr/>
          </a:p>
        </p:txBody>
      </p:sp>
      <p:sp>
        <p:nvSpPr>
          <p:cNvPr id="287" name="Google Shape;287;g3dd4badb058_0_32"/>
          <p:cNvSpPr txBox="1"/>
          <p:nvPr/>
        </p:nvSpPr>
        <p:spPr>
          <a:xfrm>
            <a:off x="914388" y="1196715"/>
            <a:ext cx="10362900" cy="55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objects live in memory: pointers, type tags, hash tables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are flat sequences of bytes: no pointers, no types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structured data -&gt; flat bytes (for storage or network)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flat bytes -&gt; structured data (back into memory)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data format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is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serialization strategy: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JSON, CSV, XML, YAML, Protocol Buffers, MessagePack, Pickle...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makes different tradeoffs: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Human-readable vs compact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Hierarchical vs tabular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Language-specific vs universal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JSON: the web's serialization format</a:t>
            </a:r>
            <a:endParaRPr/>
          </a:p>
        </p:txBody>
      </p:sp>
      <p:sp>
        <p:nvSpPr>
          <p:cNvPr id="294" name="Google Shape;294;p1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 txBox="1"/>
          <p:nvPr/>
        </p:nvSpPr>
        <p:spPr>
          <a:xfrm>
            <a:off x="1005840" y="1645920"/>
            <a:ext cx="10179900" cy="46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json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JSON has exactly six types:</a:t>
            </a:r>
            <a:r>
              <a:rPr lang="en-US"/>
              <a:t>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string, number, boolean, null, array, object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Maps cleanly to Python:</a:t>
            </a:r>
            <a:r>
              <a:rPr lang="en-US"/>
              <a:t>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str, int/float, True/False, None, list, dict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config = {"app": "MyApp", "version": 1.0, "users": ["Alice", "Bob"]}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(Python -&gt; JSON string -&gt; file)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open("config.json", "w")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json.dump(config, f, indent=2)       # dict -&gt; 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json.dumps(config, indent=2)      # dict -&gt; string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Deserialize (file -&gt; JSON string -&gt; Python)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open("config.json", "r")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json.load(f)                  # file -&gt; dict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json.loads(text)                  # string -&gt; dict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Mnemonic: 's' suffix = string.  No 's' = file.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CSV: tabular data, one row per line</a:t>
            </a:r>
            <a:endParaRPr/>
          </a:p>
        </p:txBody>
      </p:sp>
      <p:sp>
        <p:nvSpPr>
          <p:cNvPr id="302" name="Google Shape;302;p13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csv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CSV = rows of values separated by commas. That's really it.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Great for flat tabular data. Terrible for nested structures.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Writing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open("users.csv", "w", newline="")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writer = csv.writer(f)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writer.writerow(["name", "email", "role"])           # header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writer.writerow(["alice", "alice@ex.com", "admin"])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writer.writerow(["bob", "bob@ex.com", "user"])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Reading (as dicts - much nicer)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open("users.csv", "r")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for row in csv.DictReader(f):      # uses header as keys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print(row["name"], row["role"])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JSON vs CSV: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JSON: hierarchical, self-describing, nested data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CSV:  tabular, compact, spreadsheet-compatible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Serialization is lossy: watch out</a:t>
            </a:r>
            <a:endParaRPr/>
          </a:p>
        </p:txBody>
      </p:sp>
      <p:sp>
        <p:nvSpPr>
          <p:cNvPr id="310" name="Google Shape;310;p1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4"/>
          <p:cNvSpPr txBox="1"/>
          <p:nvPr/>
        </p:nvSpPr>
        <p:spPr>
          <a:xfrm>
            <a:off x="1005840" y="1645920"/>
            <a:ext cx="10179900" cy="21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Python has types JSON doesn't know about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"coords": (42.3, -71.1),       # tuple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"created": datetime.now(),      # datetime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"ids": {1, 2, 3},              # set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json.dumps(data) -&gt; TypeError: Object of type tuple is not JSON serializable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dd4badb058_0_3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Serialization is lossy: watch out</a:t>
            </a:r>
            <a:endParaRPr/>
          </a:p>
        </p:txBody>
      </p:sp>
      <p:sp>
        <p:nvSpPr>
          <p:cNvPr id="318" name="Google Shape;318;g3dd4badb058_0_3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g3dd4badb058_0_38"/>
          <p:cNvSpPr txBox="1"/>
          <p:nvPr/>
        </p:nvSpPr>
        <p:spPr>
          <a:xfrm>
            <a:off x="1005840" y="1645920"/>
            <a:ext cx="10179900" cy="43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Python has types JSON doesn't know about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"coords": (42.3, -71.1),       # tuple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"created": datetime.now(),      # datetime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"ids": {1, 2, 3},              # set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json.dumps(data) -&gt; TypeError: Object of type tuple is not JSON serializable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have to convert manually: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safe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"coords": list(data["coords"]),           # tuple -&gt; list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"created": data["created"].isoformat(),   # datetime -&gt; string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"ids": sorted(data["ids"]),               # set -&gt; list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json.dumps(safe, indent=2)  # works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Round-trip: json.loads(text)["coords"] is a list, NOT a tuple!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Serialization can change your types.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dd4badb058_0_61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round-trip problems</a:t>
            </a:r>
            <a:endParaRPr/>
          </a:p>
        </p:txBody>
      </p:sp>
      <p:sp>
        <p:nvSpPr>
          <p:cNvPr id="326" name="Google Shape;326;g3dd4badb058_0_61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g3dd4badb058_0_61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g3dd4badb058_0_61"/>
          <p:cNvSpPr txBox="1"/>
          <p:nvPr/>
        </p:nvSpPr>
        <p:spPr>
          <a:xfrm>
            <a:off x="1005840" y="1554480"/>
            <a:ext cx="10179900" cy="3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original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"user": "alice",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"scores": (95, 87, 91),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"joined": "2024-01-15",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"settings": {"theme": "dark", "font_size": 14},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and deserialize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json.dumps(original)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restored = json.loads(text)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 == restored)                    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dd4badb058_0_53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round-trip problems</a:t>
            </a:r>
            <a:endParaRPr/>
          </a:p>
        </p:txBody>
      </p:sp>
      <p:sp>
        <p:nvSpPr>
          <p:cNvPr id="335" name="Google Shape;335;g3dd4badb058_0_53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g3dd4badb058_0_53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g3dd4badb058_0_53"/>
          <p:cNvSpPr txBox="1"/>
          <p:nvPr/>
        </p:nvSpPr>
        <p:spPr>
          <a:xfrm>
            <a:off x="1005840" y="1554480"/>
            <a:ext cx="10179900" cy="36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original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"user": "alice",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"scores": (95, 87, 91),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"joined": "2024-01-15",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"settings": {"theme": "dark", "font_size": 14},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and deserialize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json.dumps(original)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restored = json.loads(text)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 == restored)                    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print(original["scores"] == restored["scores"])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print(original["settings"] == restored["settings"])#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5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round-trip problems</a:t>
            </a:r>
            <a:endParaRPr/>
          </a:p>
        </p:txBody>
      </p:sp>
      <p:sp>
        <p:nvSpPr>
          <p:cNvPr id="344" name="Google Shape;344;p15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5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5"/>
          <p:cNvSpPr txBox="1"/>
          <p:nvPr/>
        </p:nvSpPr>
        <p:spPr>
          <a:xfrm>
            <a:off x="1005840" y="1554480"/>
            <a:ext cx="10179900" cy="41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original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"user": "alice",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"scores": (95, 87, 91),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"joined": "2024-01-15",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"settings": {"theme": "dark", "font_size": 14},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and deserialize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json.dumps(original)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restored = json.loads(text)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 == restored)                    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print(original["scores"] == restored["scores"])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print(original["settings"] == restored["settings"])# ________</a:t>
            </a: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print(type(original["scores"]))                    # ________</a:t>
            </a:r>
            <a:endParaRPr>
              <a:solidFill>
                <a:srgbClr val="333344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print(type(restored["scores"]))                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dd4badb058_0_69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round-trip problems</a:t>
            </a:r>
            <a:endParaRPr/>
          </a:p>
        </p:txBody>
      </p:sp>
      <p:sp>
        <p:nvSpPr>
          <p:cNvPr id="353" name="Google Shape;353;g3dd4badb058_0_69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g3dd4badb058_0_69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g3dd4badb058_0_69"/>
          <p:cNvSpPr txBox="1"/>
          <p:nvPr/>
        </p:nvSpPr>
        <p:spPr>
          <a:xfrm>
            <a:off x="1005840" y="1554480"/>
            <a:ext cx="10179900" cy="4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original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"user": "alice",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"scores": (95, 87, 91),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"joined": "2024-01-15",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"settings": {"theme": "dark", "font_size": 14},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and deserialize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json.dumps(original)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restored = json.loads(text)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>
              <a:solidFill>
                <a:srgbClr val="333344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 == restored)                        # False!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print(original["scores"] == restored["scores"])    # True (values match)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print(original["settings"] == restored["settings"])# True (dicts survive)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print(type(original["scores"]))                    # &lt;class 'tuple'&gt;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print(type(restored["scores"]))                    # &lt;class 'list'&gt;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dict comparison fails because tuple != list, even with same values.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Strings, numbers, bools, nested dicts: all survive. Tuples don't.</a:t>
            </a: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Building a Data Layer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dd4badb058_0_8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file-based chat store</a:t>
            </a:r>
            <a:endParaRPr/>
          </a:p>
        </p:txBody>
      </p:sp>
      <p:sp>
        <p:nvSpPr>
          <p:cNvPr id="368" name="Google Shape;368;g3dd4badb058_0_8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g3dd4badb058_0_83"/>
          <p:cNvSpPr txBox="1"/>
          <p:nvPr/>
        </p:nvSpPr>
        <p:spPr>
          <a:xfrm>
            <a:off x="1005840" y="1645920"/>
            <a:ext cx="10179900" cy="21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CHAT_FILE = Path("chat_log.json")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load_messages():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"""Deserialize all messages from disk into memory."""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CHAT_FILE.exists():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[]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json.loads(CHAT_FILE.read_text())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data["messages"]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file-based chat store</a:t>
            </a:r>
            <a:endParaRPr/>
          </a:p>
        </p:txBody>
      </p:sp>
      <p:sp>
        <p:nvSpPr>
          <p:cNvPr id="376" name="Google Shape;376;p1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8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CHAT_FILE = Path("chat_log.json")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load_messages():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"""Deserialize all messages from disk into memory."""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CHAT_FILE.exists():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[]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json.loads(CHAT_FILE.read_text())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data["messages"]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save_message(username, text):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"""Load everything, append one message, serialize everything back."""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 = load_messages()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messages.append({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"user": username,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"text": text,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"time": datetime.now().isoformat()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CHAT_FILE.write_text(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json.dumps({"messages": messages}, indent=2)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pathlib: modern path handling (quick tour)</a:t>
            </a:r>
            <a:endParaRPr/>
          </a:p>
        </p:txBody>
      </p:sp>
      <p:sp>
        <p:nvSpPr>
          <p:cNvPr id="384" name="Google Shape;384;p1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9"/>
          <p:cNvSpPr txBox="1"/>
          <p:nvPr/>
        </p:nvSpPr>
        <p:spPr>
          <a:xfrm>
            <a:off x="1005840" y="1645920"/>
            <a:ext cx="10179900" cy="43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pathlib import Path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Build paths with / operator (not string concatenation)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 = Path("data") / "users" / "alice.json"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Convenient shortcuts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content = p.read_text()             # open + read + close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p.write_text('{"name": "alice"}')   # open + write + close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Useful properties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p.name      # "alice.json"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p.stem      # "alice"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p.suffix    # ".json"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p.parent    # data/users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p.exists()  # True/False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dd4badb058_0_9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pathlib: modern path handling (quick tour)</a:t>
            </a:r>
            <a:endParaRPr/>
          </a:p>
        </p:txBody>
      </p:sp>
      <p:sp>
        <p:nvSpPr>
          <p:cNvPr id="392" name="Google Shape;392;g3dd4badb058_0_9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g3dd4badb058_0_90"/>
          <p:cNvSpPr txBox="1"/>
          <p:nvPr/>
        </p:nvSpPr>
        <p:spPr>
          <a:xfrm>
            <a:off x="1005840" y="1645920"/>
            <a:ext cx="10179900" cy="24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pathlib import Path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Create directories (parents=True makes intermediate dirs)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Path("data/backups").mkdir(parents=True, exist_ok=True)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Find files by pattern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for f in Path(".").rglob("*.json"):   # recursive glob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print(f)</a:t>
            </a:r>
            <a:endParaRPr sz="19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dd4badb058_0_97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Add filtering to the chat store</a:t>
            </a:r>
            <a:endParaRPr/>
          </a:p>
        </p:txBody>
      </p:sp>
      <p:sp>
        <p:nvSpPr>
          <p:cNvPr id="400" name="Google Shape;400;g3dd4badb058_0_97"/>
          <p:cNvSpPr/>
          <p:nvPr/>
        </p:nvSpPr>
        <p:spPr>
          <a:xfrm>
            <a:off x="640080" y="228600"/>
            <a:ext cx="1188600" cy="36570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g3dd4badb058_0_97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g3dd4badb058_0_97"/>
          <p:cNvSpPr txBox="1"/>
          <p:nvPr/>
        </p:nvSpPr>
        <p:spPr>
          <a:xfrm>
            <a:off x="1005840" y="1554480"/>
            <a:ext cx="10179900" cy="43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get_messages_by_user(username):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"""Return only messages from one user."""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 = load_messages()        # deserializes EVERYTHING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________________________________________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________________________________________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________________________________________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________________________________________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Usage: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save_message("alice", "hello everyone")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save_message("bob", "hey alice!")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save_message("alice", "how's the project?")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alice_msgs = get_messages_by_user("alice")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print(f"Alice sent {len(alice_msgs)} messages")  # 2</a:t>
            </a:r>
            <a:endParaRPr sz="17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21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Add filtering to the chat store</a:t>
            </a:r>
            <a:endParaRPr/>
          </a:p>
        </p:txBody>
      </p:sp>
      <p:sp>
        <p:nvSpPr>
          <p:cNvPr id="409" name="Google Shape;409;p21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1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1"/>
          <p:cNvSpPr txBox="1"/>
          <p:nvPr/>
        </p:nvSpPr>
        <p:spPr>
          <a:xfrm>
            <a:off x="1005840" y="1554480"/>
            <a:ext cx="10179900" cy="43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get_messages_by_user(username):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"""Return only messages from one user."""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 = load_messages()        # deserializes EVERYTHING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[m for m in messages if m["user"] == username]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Usage: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save_message("alice", "hello everyone")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save_message("bob", "hey alice!")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save_message("alice", "how's the project?")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alice_msgs = get_messages_by_user("alice")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print(f"Alice sent {len(alice_msgs)} messages")  # 2</a:t>
            </a:r>
            <a:endParaRPr sz="17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Why Files Break Down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read-modify-write problem</a:t>
            </a:r>
            <a:endParaRPr/>
          </a:p>
        </p:txBody>
      </p:sp>
      <p:sp>
        <p:nvSpPr>
          <p:cNvPr id="424" name="Google Shape;424;p23"/>
          <p:cNvSpPr txBox="1"/>
          <p:nvPr/>
        </p:nvSpPr>
        <p:spPr>
          <a:xfrm>
            <a:off x="914400" y="1463040"/>
            <a:ext cx="10362900" cy="50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write in our chat store follows this pattern: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1. Read the entire file (deserialize everything)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2. Modify the data in memory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3. Write the entire file back (serialize everything)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With 10 messages, this is instant. With 10 million?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Want to find messages by date? Full deserialize + linear scan.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Want to count messages per user? Full deserialize + loop.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Want to add one message? Full deserialize + serialize everything.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There's no way to 'just update one record' in a JSON file.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dd4badb058_0_7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happens with two writers?</a:t>
            </a:r>
            <a:endParaRPr/>
          </a:p>
        </p:txBody>
      </p:sp>
      <p:sp>
        <p:nvSpPr>
          <p:cNvPr id="431" name="Google Shape;431;g3dd4badb058_0_77"/>
          <p:cNvSpPr txBox="1"/>
          <p:nvPr/>
        </p:nvSpPr>
        <p:spPr>
          <a:xfrm>
            <a:off x="914400" y="1463040"/>
            <a:ext cx="10362900" cy="35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users post at the same time. Both processes: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A: reads file (sees 5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B: reads file (sees 5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A: appends msg, writes file (6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B: appends msg, writes file (6 messages!)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Process A's message is gone. B overwrote the entire file.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2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happens with two writers?</a:t>
            </a:r>
            <a:endParaRPr/>
          </a:p>
        </p:txBody>
      </p:sp>
      <p:sp>
        <p:nvSpPr>
          <p:cNvPr id="438" name="Google Shape;438;p24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users post at the same time. Both processes: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A: reads file (sees 5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B: reads file (sees 5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A: appends msg, writes file (6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B: appends msg, writes file (6 messages!)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Process A's message is gone. B overwrote the entire file.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race condition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the result depends on timing.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have no built-in concurrency protection.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could add file locks, but now you're building a database...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Files as a database: the five problems</a:t>
            </a:r>
            <a:endParaRPr/>
          </a:p>
        </p:txBody>
      </p:sp>
      <p:sp>
        <p:nvSpPr>
          <p:cNvPr id="445" name="Google Shape;445;p25"/>
          <p:cNvSpPr txBox="1"/>
          <p:nvPr/>
        </p:nvSpPr>
        <p:spPr>
          <a:xfrm>
            <a:off x="914400" y="1096815"/>
            <a:ext cx="10362900" cy="57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indexing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finding one record means reading everything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(we saw this: get_messages_by_user deserializes the whole file)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schema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nothing enforces data structure or types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(a typo in a key name silently corrupts your data)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concurrency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two writers = data loss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(the race condition we just walked through)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relationships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can't link users to messages efficiently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(you'd need to search across multiple files)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query language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every filter is a hand-written loop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(imagine writing get_messages_by_user for 50 different queries)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26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452" name="Google Shape;452;p26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If you wanted to fix these problems,</a:t>
            </a:r>
            <a:br>
              <a:rPr lang="en-US" sz="34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4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would you need to build on top of files?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we covered</a:t>
            </a:r>
            <a:endParaRPr/>
          </a:p>
        </p:txBody>
      </p:sp>
      <p:sp>
        <p:nvSpPr>
          <p:cNvPr id="459" name="Google Shape;459;p27"/>
          <p:cNvSpPr txBox="1"/>
          <p:nvPr/>
        </p:nvSpPr>
        <p:spPr>
          <a:xfrm>
            <a:off x="914400" y="1463040"/>
            <a:ext cx="10362900" cy="50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are flat byte sequences - all structure is a convention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open() gives you a file descriptor (an OS resource - close it!)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 converts structured data to/from bytes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JSON: hierarchical, universal, the web standard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CSV: tabular, compact, spreadsheet-friendly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 is lossy (tuples -&gt; lists, no datetimes)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File-based storage works but doesn't scale: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Read-modify-write for every operation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indexing, schema, concurrency, relationships, or queries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databases solve all five problems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4620</Words>
  <Application>Microsoft Macintosh PowerPoint</Application>
  <PresentationFormat>Widescreen</PresentationFormat>
  <Paragraphs>483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Courier New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1</cp:revision>
  <dcterms:created xsi:type="dcterms:W3CDTF">2013-01-27T09:14:16Z</dcterms:created>
  <dcterms:modified xsi:type="dcterms:W3CDTF">2026-04-07T23:44:38Z</dcterms:modified>
</cp:coreProperties>
</file>