
<file path=[Content_Types].xml><?xml version="1.0" encoding="utf-8"?>
<Types xmlns="http://schemas.openxmlformats.org/package/2006/content-types">
  <Default Extension="fntdata" ContentType="application/x-fontdata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1675"/>
  <p:notesSz cx="6858000" cy="9144000"/>
  <p:embeddedFontLst>
    <p:embeddedFont>
      <p:font typeface="Courier Prime"/>
      <p:regular r:id="rId45"/>
      <p:bold r:id="rId46"/>
      <p:italic r:id="rId47"/>
      <p:boldItalic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49" roundtripDataSignature="AMtx7mgH9z1t5ZOHrTdi213BzxvCUr41s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font" Target="fonts/CourierPrime-regular.fntdata"/><Relationship Id="rId46" Type="http://schemas.openxmlformats.org/officeDocument/2006/relationships/font" Target="fonts/CourierPrime-bold.fntdata"/><Relationship Id="rId47" Type="http://schemas.openxmlformats.org/officeDocument/2006/relationships/font" Target="fonts/CourierPrime-italic.fntdata"/><Relationship Id="rId48" Type="http://schemas.openxmlformats.org/officeDocument/2006/relationships/font" Target="fonts/CourierPrime-boldItalic.fntdata"/><Relationship Id="rId49" Type="http://customschemas.google.com/relationships/presentationmetadata" Target="meta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Leveled up from 'intro to git'. Students already commit, branch, PR. Today: the object model, DAG, rebase mechanics, workflows, reflog.</a:t>
            </a:r>
            <a:endParaRPr/>
          </a:p>
        </p:txBody>
      </p:sp>
      <p:sp>
        <p:nvSpPr>
          <p:cNvPr id="83" name="Google Shape;83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1" name="Google Shape;91;p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Most students will say 'it saves a snapshot' or 'it makes a checkpoint.' What IS a snapshot? Where is it stored? What's the hash?</a:t>
            </a:r>
            <a:endParaRPr/>
          </a:p>
        </p:txBody>
      </p:sp>
      <p:sp>
        <p:nvSpPr>
          <p:cNvPr id="92" name="Google Shape;92;p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99" name="Google Shape;99;p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1-slide refresher. They know this but the object model builds on it.</a:t>
            </a:r>
            <a:endParaRPr/>
          </a:p>
        </p:txBody>
      </p:sp>
      <p:sp>
        <p:nvSpPr>
          <p:cNvPr id="100" name="Google Shape;100;p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dd0f9ecee4_0_2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5" name="Google Shape;115;g3dd0f9ecee4_0_2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g3dd0f9ecee4_0_2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2" name="Google Shape;122;p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Key insight: Git is a content-addressed filesystem with a VCS built on top. Everything else (branches, tags, HEAD) is just pointers.</a:t>
            </a:r>
            <a:endParaRPr/>
          </a:p>
        </p:txBody>
      </p:sp>
      <p:sp>
        <p:nvSpPr>
          <p:cNvPr id="123" name="Google Shape;123;p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9" name="Google Shape;129;p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Blob = file contents. Tree = directory listing. Commit = metadata + pointer to tree.</a:t>
            </a:r>
            <a:endParaRPr/>
          </a:p>
        </p:txBody>
      </p:sp>
      <p:sp>
        <p:nvSpPr>
          <p:cNvPr id="130" name="Google Shape;130;p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4" name="Google Shape;164;p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Key aha: a commit is literally just text. A tree is a directory listing. A blob is raw file contents. That's the entire data model. git cat-file -t shows the type, -p pretty-prints, -s shows size.</a:t>
            </a:r>
            <a:endParaRPr/>
          </a:p>
        </p:txBody>
      </p:sp>
      <p:sp>
        <p:nvSpPr>
          <p:cNvPr id="165" name="Google Shape;165;p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g3dd0f9ecee4_0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3" name="Google Shape;173;g3dd0f9ecee4_0_9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dd0f9ecee4_0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g3dd0f9ecee4_0_9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5" name="Google Shape;185;p1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Now 'git checkout -b' makes sense as a shortcut: create ref file + update HEAD symref.</a:t>
            </a:r>
            <a:endParaRPr/>
          </a:p>
        </p:txBody>
      </p:sp>
      <p:sp>
        <p:nvSpPr>
          <p:cNvPr id="186" name="Google Shape;186;p1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dd0f9ecee4_0_23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2" name="Google Shape;192;g3dd0f9ecee4_0_23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If students think of history as a timeline, they'll be confused by rebase, cherry-pick, and detached HEAD. The DAG is the real mental model.</a:t>
            </a:r>
            <a:endParaRPr/>
          </a:p>
        </p:txBody>
      </p:sp>
      <p:sp>
        <p:nvSpPr>
          <p:cNvPr id="193" name="Google Shape;193;g3dd0f9ecee4_0_23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dd0f9ecee4_0_24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9" name="Google Shape;199;g3dd0f9ecee4_0_24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If students think of history as a timeline, they'll be confused by rebase, cherry-pick, and detached HEAD. The DAG is the real mental model.</a:t>
            </a:r>
            <a:endParaRPr/>
          </a:p>
        </p:txBody>
      </p:sp>
      <p:sp>
        <p:nvSpPr>
          <p:cNvPr id="200" name="Google Shape;200;g3dd0f9ecee4_0_24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3dd0f9ecee4_0_25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6" name="Google Shape;206;g3dd0f9ecee4_0_25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If students think of history as a timeline, they'll be confused by rebase, cherry-pick, and detached HEAD. The DAG is the real mental model.</a:t>
            </a:r>
            <a:endParaRPr/>
          </a:p>
        </p:txBody>
      </p:sp>
      <p:sp>
        <p:nvSpPr>
          <p:cNvPr id="207" name="Google Shape;207;g3dd0f9ecee4_0_25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g3dd0f9ecee4_0_2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3" name="Google Shape;213;g3dd0f9ecee4_0_2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g3dd0f9ecee4_0_2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1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0" name="Google Shape;220;p1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From individual objects to the big picture: history as a DAG.</a:t>
            </a:r>
            <a:endParaRPr/>
          </a:p>
        </p:txBody>
      </p:sp>
      <p:sp>
        <p:nvSpPr>
          <p:cNvPr id="221" name="Google Shape;221;p1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6" name="Google Shape;226;p1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If students think of history as a timeline, they'll be confused by rebase, cherry-pick, and detached HEAD. The DAG is the real mental model.</a:t>
            </a:r>
            <a:endParaRPr/>
          </a:p>
        </p:txBody>
      </p:sp>
      <p:sp>
        <p:nvSpPr>
          <p:cNvPr id="227" name="Google Shape;227;p1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dd0f9ecee4_0_16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3" name="Google Shape;233;g3dd0f9ecee4_0_16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Show how branches are just labels pointing into the graph. Merge commit M has TWO parents.</a:t>
            </a:r>
            <a:endParaRPr/>
          </a:p>
        </p:txBody>
      </p:sp>
      <p:sp>
        <p:nvSpPr>
          <p:cNvPr id="234" name="Google Shape;234;g3dd0f9ecee4_0_16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1" name="Shape 2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Google Shape;242;g3dd0f9ecee4_0_142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3" name="Google Shape;243;g3dd0f9ecee4_0_142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Show how branches are just labels pointing into the graph. Merge commit M has TWO parents.</a:t>
            </a:r>
            <a:endParaRPr/>
          </a:p>
        </p:txBody>
      </p:sp>
      <p:sp>
        <p:nvSpPr>
          <p:cNvPr id="244" name="Google Shape;244;g3dd0f9ecee4_0_142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1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2" name="Google Shape;262;p1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Show how branches are just labels pointing into the graph. Merge commit M has TWO parents.</a:t>
            </a:r>
            <a:endParaRPr/>
          </a:p>
        </p:txBody>
      </p:sp>
      <p:sp>
        <p:nvSpPr>
          <p:cNvPr id="263" name="Google Shape;263;p1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1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6" name="Google Shape;286;p1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They've done both. Now they understand what each does to the graph.</a:t>
            </a:r>
            <a:endParaRPr/>
          </a:p>
        </p:txBody>
      </p:sp>
      <p:sp>
        <p:nvSpPr>
          <p:cNvPr id="287" name="Google Shape;287;p1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1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2" name="Google Shape;292;p1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Fast-forward is the easy case. Three-way merge is where students get confused. Emphasize: merge commit = commit with 2 parents.</a:t>
            </a:r>
            <a:endParaRPr/>
          </a:p>
        </p:txBody>
      </p:sp>
      <p:sp>
        <p:nvSpPr>
          <p:cNvPr id="293" name="Google Shape;293;p1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16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9" name="Google Shape;299;p16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key insight: rebase creates COPIES of your commits, not moves. F1 and F1' have the same diff but different hashes and parents.</a:t>
            </a:r>
            <a:endParaRPr/>
          </a:p>
        </p:txBody>
      </p:sp>
      <p:sp>
        <p:nvSpPr>
          <p:cNvPr id="300" name="Google Shape;300;p16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1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6" name="Google Shape;306;p1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Left: merge creates merge commit. Right: rebase gives linear history. Note F1' has a different hash than F1.</a:t>
            </a:r>
            <a:endParaRPr/>
          </a:p>
        </p:txBody>
      </p:sp>
      <p:sp>
        <p:nvSpPr>
          <p:cNvPr id="307" name="Google Shape;307;p1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18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9" name="Google Shape;339;p18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is the one rule that prevents rebase disasters. The GitHub 'squash and merge' button is safe because it creates one new commit on main, not rewriting shared history.</a:t>
            </a:r>
            <a:endParaRPr/>
          </a:p>
        </p:txBody>
      </p:sp>
      <p:sp>
        <p:nvSpPr>
          <p:cNvPr id="340" name="Google Shape;340;p18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1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6" name="Google Shape;346;p1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&lt;&lt;&lt;&lt; HEAD is current branch, === divides, &gt;&gt;&gt;&gt; is incoming. Same mechanics for merge conflicts and rebase conflicts. Rebase conflicts can happen at each replayed commit.</a:t>
            </a:r>
            <a:endParaRPr/>
          </a:p>
        </p:txBody>
      </p:sp>
      <p:sp>
        <p:nvSpPr>
          <p:cNvPr id="347" name="Google Shape;347;p1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2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p2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4" name="Google Shape;354;p2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Fast-forward = no divergence, so no conflicting edits. Rebase = replaying diffs one at a time onto a base that may have changed the same lines. Three-way merge can also conflict.</a:t>
            </a:r>
            <a:endParaRPr/>
          </a:p>
        </p:txBody>
      </p:sp>
      <p:sp>
        <p:nvSpPr>
          <p:cNvPr id="355" name="Google Shape;355;p2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g3dd0f9ecee4_0_20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2" name="Google Shape;362;g3dd0f9ecee4_0_20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Most teams use feature branches + squash-and-merge now. Gitflow was popular 2010-2018 but has fallen out of favor.</a:t>
            </a:r>
            <a:endParaRPr/>
          </a:p>
        </p:txBody>
      </p:sp>
      <p:sp>
        <p:nvSpPr>
          <p:cNvPr id="363" name="Google Shape;363;g3dd0f9ecee4_0_20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67" name="Shape 3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Google Shape;368;g3dd0f9ecee4_0_18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9" name="Google Shape;369;g3dd0f9ecee4_0_18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Most teams use feature branches + squash-and-merge now. Gitflow was popular 2010-2018 but has fallen out of favor.</a:t>
            </a:r>
            <a:endParaRPr/>
          </a:p>
        </p:txBody>
      </p:sp>
      <p:sp>
        <p:nvSpPr>
          <p:cNvPr id="370" name="Google Shape;370;g3dd0f9ecee4_0_18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p2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6" name="Google Shape;376;p2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Step 4 (squash) is interactive rebase, covered next. The GitHub 'Squash and merge' button does steps 4+6 together.</a:t>
            </a:r>
            <a:endParaRPr/>
          </a:p>
        </p:txBody>
      </p:sp>
      <p:sp>
        <p:nvSpPr>
          <p:cNvPr id="377" name="Google Shape;377;p2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g3dd0f9ecee4_0_13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3" name="Google Shape;383;g3dd0f9ecee4_0_13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Step 4 (squash) is interactive rebase, covered next. The GitHub 'Squash and merge' button does steps 4+6 together.</a:t>
            </a:r>
            <a:endParaRPr/>
          </a:p>
        </p:txBody>
      </p:sp>
      <p:sp>
        <p:nvSpPr>
          <p:cNvPr id="384" name="Google Shape;384;g3dd0f9ecee4_0_13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2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0" name="Google Shape;390;p2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Once they know about rebase and squash, they need to know: you can almost always undo mistakes.</a:t>
            </a:r>
            <a:endParaRPr/>
          </a:p>
        </p:txBody>
      </p:sp>
      <p:sp>
        <p:nvSpPr>
          <p:cNvPr id="391" name="Google Shape;391;p2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94" name="Shape 3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Google Shape;395;p30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6" name="Google Shape;396;p30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reflog is the 'undo' button for Git. It's local only so it won't help if you force-pushed, but for local mistakes it's a lifesaver.</a:t>
            </a:r>
            <a:endParaRPr/>
          </a:p>
        </p:txBody>
      </p:sp>
      <p:sp>
        <p:nvSpPr>
          <p:cNvPr id="397" name="Google Shape;397;p30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3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3" name="Google Shape;403;p3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HEAD@{3} is where HEAD was 3 moves ago. This is why rebase isn't scary once you know the reflog. Pro tip: git reflog expire --expire=now --all + gc is the nuclear option that actually deletes things. Don't run that.</a:t>
            </a:r>
            <a:endParaRPr/>
          </a:p>
        </p:txBody>
      </p:sp>
      <p:sp>
        <p:nvSpPr>
          <p:cNvPr id="404" name="Google Shape;404;p3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3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33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9" name="Google Shape;419;p33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Alternative: if the rebase is still in progress and going sideways, just git rebase --abort. The reflog is for after you already completed a bad rebase. Also: during rebase, ORIG_HEAD points to where you were before the rebase started.</a:t>
            </a:r>
            <a:endParaRPr/>
          </a:p>
        </p:txBody>
      </p:sp>
      <p:sp>
        <p:nvSpPr>
          <p:cNvPr id="420" name="Google Shape;420;p33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g3dd0f9ecee4_0_209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8" name="Google Shape;428;g3dd0f9ecee4_0_209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These are the 'next level' commands beyond the basics. stash is especially useful when you need to switch branches but have uncommitted work.</a:t>
            </a:r>
            <a:endParaRPr/>
          </a:p>
        </p:txBody>
      </p:sp>
      <p:sp>
        <p:nvSpPr>
          <p:cNvPr id="429" name="Google Shape;429;g3dd0f9ecee4_0_209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3" name="Shape 4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Google Shape;434;p34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5" name="Google Shape;435;p34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These are the 'next level' commands beyond the basics. stash is especially useful when you need to switch branches but have uncommitted work.</a:t>
            </a:r>
            <a:endParaRPr/>
          </a:p>
        </p:txBody>
      </p:sp>
      <p:sp>
        <p:nvSpPr>
          <p:cNvPr id="436" name="Google Shape;436;p34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40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p35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2" name="Google Shape;442;p35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If they internalize the DAG + reflog, they'll never be scared of Git again. Next lecture: file I/O and databases.</a:t>
            </a:r>
            <a:endParaRPr/>
          </a:p>
        </p:txBody>
      </p:sp>
      <p:sp>
        <p:nvSpPr>
          <p:cNvPr id="443" name="Google Shape;443;p35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3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3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8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8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4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1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41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4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4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4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4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42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42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42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42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4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4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4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4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4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4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4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44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44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44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4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4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4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45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45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45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4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4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4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4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46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4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4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4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47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47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4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4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4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3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3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3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3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3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Lecture 1.3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48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How Git Actually Works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Andy Aymeloglu - UATX Software Engineering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"/>
          <p:cNvSpPr txBox="1"/>
          <p:nvPr/>
        </p:nvSpPr>
        <p:spPr>
          <a:xfrm>
            <a:off x="5303520" y="457200"/>
            <a:ext cx="158465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95" name="Google Shape;95;p2"/>
          <p:cNvSpPr txBox="1"/>
          <p:nvPr/>
        </p:nvSpPr>
        <p:spPr>
          <a:xfrm>
            <a:off x="1371600" y="2011680"/>
            <a:ext cx="94484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actually happens when you run git commit?</a:t>
            </a:r>
            <a:endParaRPr/>
          </a:p>
        </p:txBody>
      </p:sp>
      <p:sp>
        <p:nvSpPr>
          <p:cNvPr id="96" name="Google Shape;96;p2"/>
          <p:cNvSpPr txBox="1"/>
          <p:nvPr/>
        </p:nvSpPr>
        <p:spPr>
          <a:xfrm>
            <a:off x="1828800" y="4572000"/>
            <a:ext cx="853409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Not 'it saves your changes.' What does Git create? Where does it go?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3"/>
          <p:cNvSpPr txBox="1"/>
          <p:nvPr/>
        </p:nvSpPr>
        <p:spPr>
          <a:xfrm>
            <a:off x="731520" y="27432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Git's three areas</a:t>
            </a:r>
            <a:endParaRPr/>
          </a:p>
        </p:txBody>
      </p:sp>
      <p:sp>
        <p:nvSpPr>
          <p:cNvPr id="103" name="Google Shape;103;p3"/>
          <p:cNvSpPr/>
          <p:nvPr/>
        </p:nvSpPr>
        <p:spPr>
          <a:xfrm>
            <a:off x="914400" y="2011680"/>
            <a:ext cx="2743200" cy="2743200"/>
          </a:xfrm>
          <a:prstGeom prst="roundRect">
            <a:avLst>
              <a:gd fmla="val 16667" name="adj"/>
            </a:avLst>
          </a:prstGeom>
          <a:solidFill>
            <a:srgbClr val="DBEAFE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Working</a:t>
            </a:r>
            <a:br>
              <a:rPr b="1" i="0" lang="en-US" sz="22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2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Directory</a:t>
            </a:r>
            <a:endParaRPr/>
          </a:p>
        </p:txBody>
      </p:sp>
      <p:sp>
        <p:nvSpPr>
          <p:cNvPr id="104" name="Google Shape;104;p3"/>
          <p:cNvSpPr txBox="1"/>
          <p:nvPr/>
        </p:nvSpPr>
        <p:spPr>
          <a:xfrm>
            <a:off x="914400" y="493776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Files on disk</a:t>
            </a:r>
            <a:endParaRPr/>
          </a:p>
        </p:txBody>
      </p:sp>
      <p:sp>
        <p:nvSpPr>
          <p:cNvPr id="105" name="Google Shape;105;p3"/>
          <p:cNvSpPr txBox="1"/>
          <p:nvPr/>
        </p:nvSpPr>
        <p:spPr>
          <a:xfrm>
            <a:off x="3840480" y="274320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git add</a:t>
            </a:r>
            <a:endParaRPr/>
          </a:p>
        </p:txBody>
      </p:sp>
      <p:sp>
        <p:nvSpPr>
          <p:cNvPr id="106" name="Google Shape;106;p3"/>
          <p:cNvSpPr/>
          <p:nvPr/>
        </p:nvSpPr>
        <p:spPr>
          <a:xfrm>
            <a:off x="3840480" y="3200400"/>
            <a:ext cx="1188720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3"/>
          <p:cNvSpPr/>
          <p:nvPr/>
        </p:nvSpPr>
        <p:spPr>
          <a:xfrm>
            <a:off x="5212080" y="2011680"/>
            <a:ext cx="2743200" cy="2743200"/>
          </a:xfrm>
          <a:prstGeom prst="roundRect">
            <a:avLst>
              <a:gd fmla="val 16667" name="adj"/>
            </a:avLst>
          </a:prstGeom>
          <a:solidFill>
            <a:srgbClr val="FEF3C7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Staging</a:t>
            </a:r>
            <a:br>
              <a:rPr b="1" i="0" lang="en-US" sz="22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2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Area (Index)</a:t>
            </a:r>
            <a:endParaRPr/>
          </a:p>
        </p:txBody>
      </p:sp>
      <p:sp>
        <p:nvSpPr>
          <p:cNvPr id="108" name="Google Shape;108;p3"/>
          <p:cNvSpPr txBox="1"/>
          <p:nvPr/>
        </p:nvSpPr>
        <p:spPr>
          <a:xfrm>
            <a:off x="5212080" y="493776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Next commit preview</a:t>
            </a:r>
            <a:endParaRPr/>
          </a:p>
        </p:txBody>
      </p:sp>
      <p:sp>
        <p:nvSpPr>
          <p:cNvPr id="109" name="Google Shape;109;p3"/>
          <p:cNvSpPr txBox="1"/>
          <p:nvPr/>
        </p:nvSpPr>
        <p:spPr>
          <a:xfrm>
            <a:off x="8138160" y="274320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git commit</a:t>
            </a:r>
            <a:endParaRPr/>
          </a:p>
        </p:txBody>
      </p:sp>
      <p:sp>
        <p:nvSpPr>
          <p:cNvPr id="110" name="Google Shape;110;p3"/>
          <p:cNvSpPr/>
          <p:nvPr/>
        </p:nvSpPr>
        <p:spPr>
          <a:xfrm>
            <a:off x="8138160" y="3200400"/>
            <a:ext cx="1188720" cy="4572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3"/>
          <p:cNvSpPr/>
          <p:nvPr/>
        </p:nvSpPr>
        <p:spPr>
          <a:xfrm>
            <a:off x="9509760" y="2011680"/>
            <a:ext cx="2286000" cy="2743200"/>
          </a:xfrm>
          <a:prstGeom prst="roundRect">
            <a:avLst>
              <a:gd fmla="val 16667" name="adj"/>
            </a:avLst>
          </a:prstGeom>
          <a:solidFill>
            <a:srgbClr val="DCFCE7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Repository</a:t>
            </a:r>
            <a:br>
              <a:rPr b="1" i="0" lang="en-US" sz="2200" u="none" cap="none" strike="noStrik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2200" u="none" cap="none" strike="noStrik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(.git/)</a:t>
            </a:r>
            <a:endParaRPr/>
          </a:p>
        </p:txBody>
      </p:sp>
      <p:sp>
        <p:nvSpPr>
          <p:cNvPr id="112" name="Google Shape;112;p3"/>
          <p:cNvSpPr txBox="1"/>
          <p:nvPr/>
        </p:nvSpPr>
        <p:spPr>
          <a:xfrm>
            <a:off x="9509760" y="493776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Permanent history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g3dd0f9ecee4_0_218"/>
          <p:cNvSpPr txBox="1"/>
          <p:nvPr/>
        </p:nvSpPr>
        <p:spPr>
          <a:xfrm>
            <a:off x="5303520" y="457200"/>
            <a:ext cx="15846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72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119" name="Google Shape;119;g3dd0f9ecee4_0_218"/>
          <p:cNvSpPr txBox="1"/>
          <p:nvPr/>
        </p:nvSpPr>
        <p:spPr>
          <a:xfrm>
            <a:off x="1371600" y="2011680"/>
            <a:ext cx="94485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Have you ever looked in your </a:t>
            </a:r>
            <a:r>
              <a:rPr b="1" lang="en-US" sz="3400">
                <a:solidFill>
                  <a:srgbClr val="1A1A2E"/>
                </a:solidFill>
                <a:latin typeface="Courier Prime"/>
                <a:ea typeface="Courier Prime"/>
                <a:cs typeface="Courier Prime"/>
                <a:sym typeface="Courier Prime"/>
              </a:rPr>
              <a:t>.git</a:t>
            </a:r>
            <a:r>
              <a:rPr b="1" lang="en-US" sz="34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directory?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6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Everything in Git is a content-addressed object</a:t>
            </a:r>
            <a:endParaRPr/>
          </a:p>
        </p:txBody>
      </p:sp>
      <p:sp>
        <p:nvSpPr>
          <p:cNvPr id="126" name="Google Shape;126;p5"/>
          <p:cNvSpPr txBox="1"/>
          <p:nvPr/>
        </p:nvSpPr>
        <p:spPr>
          <a:xfrm>
            <a:off x="914400" y="1463040"/>
            <a:ext cx="10362900" cy="4494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Git stores four types of objects: blobs, trees, commits, tags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object is identified by a hash of its content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Same content = same hash, always (content-addressed storage)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Change one byte = completely different hash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All objects live in </a:t>
            </a:r>
            <a:r>
              <a:rPr b="1" i="0" lang="en-US" sz="2400" u="none" cap="none" strike="noStrike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.git/objects/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Stored as compressed files, named by their hash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First 2 hex chars = directory, remaining 38 = filename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is why Git is fast and reliable: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Deduplication is free, corruption is detectable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2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Three object types</a:t>
            </a:r>
            <a:endParaRPr/>
          </a:p>
        </p:txBody>
      </p:sp>
      <p:sp>
        <p:nvSpPr>
          <p:cNvPr id="133" name="Google Shape;133;p6"/>
          <p:cNvSpPr/>
          <p:nvPr/>
        </p:nvSpPr>
        <p:spPr>
          <a:xfrm>
            <a:off x="731520" y="1645920"/>
            <a:ext cx="3200400" cy="3200400"/>
          </a:xfrm>
          <a:prstGeom prst="roundRect">
            <a:avLst>
              <a:gd fmla="val 16667" name="adj"/>
            </a:avLst>
          </a:prstGeom>
          <a:solidFill>
            <a:srgbClr val="DCFCE7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1665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 txBox="1"/>
          <p:nvPr/>
        </p:nvSpPr>
        <p:spPr>
          <a:xfrm>
            <a:off x="731520" y="1280160"/>
            <a:ext cx="32004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commit  a1b2c3d</a:t>
            </a:r>
            <a:endParaRPr/>
          </a:p>
        </p:txBody>
      </p:sp>
      <p:sp>
        <p:nvSpPr>
          <p:cNvPr id="135" name="Google Shape;135;p6"/>
          <p:cNvSpPr txBox="1"/>
          <p:nvPr/>
        </p:nvSpPr>
        <p:spPr>
          <a:xfrm>
            <a:off x="1005840" y="192024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66677"/>
                </a:solidFill>
                <a:latin typeface="Courier New"/>
                <a:ea typeface="Courier New"/>
                <a:cs typeface="Courier New"/>
                <a:sym typeface="Courier New"/>
              </a:rPr>
              <a:t>tree:</a:t>
            </a:r>
            <a:endParaRPr/>
          </a:p>
        </p:txBody>
      </p:sp>
      <p:sp>
        <p:nvSpPr>
          <p:cNvPr id="136" name="Google Shape;136;p6"/>
          <p:cNvSpPr txBox="1"/>
          <p:nvPr/>
        </p:nvSpPr>
        <p:spPr>
          <a:xfrm>
            <a:off x="2194560" y="192024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4f7e8a9...</a:t>
            </a:r>
            <a:endParaRPr/>
          </a:p>
        </p:txBody>
      </p:sp>
      <p:sp>
        <p:nvSpPr>
          <p:cNvPr id="137" name="Google Shape;137;p6"/>
          <p:cNvSpPr txBox="1"/>
          <p:nvPr/>
        </p:nvSpPr>
        <p:spPr>
          <a:xfrm>
            <a:off x="1005840" y="242316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66677"/>
                </a:solidFill>
                <a:latin typeface="Courier New"/>
                <a:ea typeface="Courier New"/>
                <a:cs typeface="Courier New"/>
                <a:sym typeface="Courier New"/>
              </a:rPr>
              <a:t>parent:</a:t>
            </a:r>
            <a:endParaRPr/>
          </a:p>
        </p:txBody>
      </p:sp>
      <p:sp>
        <p:nvSpPr>
          <p:cNvPr id="138" name="Google Shape;138;p6"/>
          <p:cNvSpPr txBox="1"/>
          <p:nvPr/>
        </p:nvSpPr>
        <p:spPr>
          <a:xfrm>
            <a:off x="2194560" y="24231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9c3d5b2...</a:t>
            </a:r>
            <a:endParaRPr/>
          </a:p>
        </p:txBody>
      </p:sp>
      <p:sp>
        <p:nvSpPr>
          <p:cNvPr id="139" name="Google Shape;139;p6"/>
          <p:cNvSpPr txBox="1"/>
          <p:nvPr/>
        </p:nvSpPr>
        <p:spPr>
          <a:xfrm>
            <a:off x="1005840" y="292608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66677"/>
                </a:solidFill>
                <a:latin typeface="Courier New"/>
                <a:ea typeface="Courier New"/>
                <a:cs typeface="Courier New"/>
                <a:sym typeface="Courier New"/>
              </a:rPr>
              <a:t>author:</a:t>
            </a:r>
            <a:endParaRPr/>
          </a:p>
        </p:txBody>
      </p:sp>
      <p:sp>
        <p:nvSpPr>
          <p:cNvPr id="140" name="Google Shape;140;p6"/>
          <p:cNvSpPr txBox="1"/>
          <p:nvPr/>
        </p:nvSpPr>
        <p:spPr>
          <a:xfrm>
            <a:off x="2194560" y="292608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Andy &lt;...&gt;</a:t>
            </a:r>
            <a:endParaRPr/>
          </a:p>
        </p:txBody>
      </p:sp>
      <p:sp>
        <p:nvSpPr>
          <p:cNvPr id="141" name="Google Shape;141;p6"/>
          <p:cNvSpPr txBox="1"/>
          <p:nvPr/>
        </p:nvSpPr>
        <p:spPr>
          <a:xfrm>
            <a:off x="1005840" y="342900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666677"/>
                </a:solidFill>
                <a:latin typeface="Courier New"/>
                <a:ea typeface="Courier New"/>
                <a:cs typeface="Courier New"/>
                <a:sym typeface="Courier New"/>
              </a:rPr>
              <a:t>message:</a:t>
            </a:r>
            <a:endParaRPr/>
          </a:p>
        </p:txBody>
      </p:sp>
      <p:sp>
        <p:nvSpPr>
          <p:cNvPr id="142" name="Google Shape;142;p6"/>
          <p:cNvSpPr txBox="1"/>
          <p:nvPr/>
        </p:nvSpPr>
        <p:spPr>
          <a:xfrm>
            <a:off x="2194560" y="342900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"Add sort"</a:t>
            </a:r>
            <a:endParaRPr/>
          </a:p>
        </p:txBody>
      </p:sp>
      <p:sp>
        <p:nvSpPr>
          <p:cNvPr id="143" name="Google Shape;143;p6"/>
          <p:cNvSpPr/>
          <p:nvPr/>
        </p:nvSpPr>
        <p:spPr>
          <a:xfrm>
            <a:off x="4114800" y="2926080"/>
            <a:ext cx="914400" cy="36576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6"/>
          <p:cNvSpPr/>
          <p:nvPr/>
        </p:nvSpPr>
        <p:spPr>
          <a:xfrm>
            <a:off x="5154125" y="1645925"/>
            <a:ext cx="3042000" cy="3200400"/>
          </a:xfrm>
          <a:prstGeom prst="roundRect">
            <a:avLst>
              <a:gd fmla="val 16667" name="adj"/>
            </a:avLst>
          </a:prstGeom>
          <a:solidFill>
            <a:srgbClr val="FEF3C7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i="0" sz="1800" u="none" cap="none" strike="noStrike">
              <a:solidFill>
                <a:srgbClr val="EA580C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6"/>
          <p:cNvSpPr txBox="1"/>
          <p:nvPr/>
        </p:nvSpPr>
        <p:spPr>
          <a:xfrm>
            <a:off x="5212080" y="1280160"/>
            <a:ext cx="292608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EA580C"/>
                </a:solidFill>
                <a:latin typeface="Calibri"/>
                <a:ea typeface="Calibri"/>
                <a:cs typeface="Calibri"/>
                <a:sym typeface="Calibri"/>
              </a:rPr>
              <a:t>tree  4f7e8a9</a:t>
            </a:r>
            <a:endParaRPr/>
          </a:p>
        </p:txBody>
      </p:sp>
      <p:sp>
        <p:nvSpPr>
          <p:cNvPr id="146" name="Google Shape;146;p6"/>
          <p:cNvSpPr txBox="1"/>
          <p:nvPr/>
        </p:nvSpPr>
        <p:spPr>
          <a:xfrm>
            <a:off x="5324226" y="2128550"/>
            <a:ext cx="28545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blob  7a8b...  README.md</a:t>
            </a:r>
            <a:endParaRPr/>
          </a:p>
        </p:txBody>
      </p:sp>
      <p:sp>
        <p:nvSpPr>
          <p:cNvPr id="147" name="Google Shape;147;p6"/>
          <p:cNvSpPr txBox="1"/>
          <p:nvPr/>
        </p:nvSpPr>
        <p:spPr>
          <a:xfrm>
            <a:off x="5324225" y="2664475"/>
            <a:ext cx="25602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blob  3c4d...  sort.py</a:t>
            </a:r>
            <a:endParaRPr/>
          </a:p>
        </p:txBody>
      </p:sp>
      <p:sp>
        <p:nvSpPr>
          <p:cNvPr id="148" name="Google Shape;148;p6"/>
          <p:cNvSpPr txBox="1"/>
          <p:nvPr/>
        </p:nvSpPr>
        <p:spPr>
          <a:xfrm>
            <a:off x="5349252" y="3200400"/>
            <a:ext cx="2788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tree  b2c3...  tests/</a:t>
            </a:r>
            <a:endParaRPr/>
          </a:p>
        </p:txBody>
      </p:sp>
      <p:sp>
        <p:nvSpPr>
          <p:cNvPr id="149" name="Google Shape;149;p6"/>
          <p:cNvSpPr/>
          <p:nvPr/>
        </p:nvSpPr>
        <p:spPr>
          <a:xfrm>
            <a:off x="9144000" y="1645920"/>
            <a:ext cx="2286000" cy="1097280"/>
          </a:xfrm>
          <a:prstGeom prst="roundRect">
            <a:avLst>
              <a:gd fmla="val 16667" name="adj"/>
            </a:avLst>
          </a:prstGeom>
          <a:solidFill>
            <a:srgbClr val="DBEAFE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blob  7a8b...</a:t>
            </a:r>
            <a:br>
              <a:rPr b="1" i="0" lang="en-US" sz="13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1" i="0" lang="en-US" sz="13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3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README.md</a:t>
            </a:r>
            <a:endParaRPr/>
          </a:p>
        </p:txBody>
      </p:sp>
      <p:sp>
        <p:nvSpPr>
          <p:cNvPr id="150" name="Google Shape;150;p6"/>
          <p:cNvSpPr/>
          <p:nvPr/>
        </p:nvSpPr>
        <p:spPr>
          <a:xfrm>
            <a:off x="8321040" y="2011680"/>
            <a:ext cx="640080" cy="27432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6"/>
          <p:cNvSpPr/>
          <p:nvPr/>
        </p:nvSpPr>
        <p:spPr>
          <a:xfrm>
            <a:off x="9144000" y="3017520"/>
            <a:ext cx="2286000" cy="1097280"/>
          </a:xfrm>
          <a:prstGeom prst="roundRect">
            <a:avLst>
              <a:gd fmla="val 16667" name="adj"/>
            </a:avLst>
          </a:prstGeom>
          <a:solidFill>
            <a:srgbClr val="DBEAFE"/>
          </a:solidFill>
          <a:ln cap="flat" cmpd="sng" w="12700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3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blob  3c4d...</a:t>
            </a:r>
            <a:br>
              <a:rPr b="1" i="0" lang="en-US" sz="13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1" i="0" lang="en-US" sz="13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300" u="none" cap="none" strike="noStrike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sort.py</a:t>
            </a:r>
            <a:endParaRPr/>
          </a:p>
        </p:txBody>
      </p:sp>
      <p:sp>
        <p:nvSpPr>
          <p:cNvPr id="152" name="Google Shape;152;p6"/>
          <p:cNvSpPr/>
          <p:nvPr/>
        </p:nvSpPr>
        <p:spPr>
          <a:xfrm>
            <a:off x="8321040" y="3383280"/>
            <a:ext cx="640080" cy="27432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6"/>
          <p:cNvSpPr txBox="1"/>
          <p:nvPr/>
        </p:nvSpPr>
        <p:spPr>
          <a:xfrm>
            <a:off x="731520" y="5303520"/>
            <a:ext cx="109728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commit -&gt; tree -&gt; blobs.  That's it. The entire history is just these three object types.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7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Poke at real Git objects</a:t>
            </a: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640080" y="228600"/>
            <a:ext cx="1097280" cy="365760"/>
          </a:xfrm>
          <a:prstGeom prst="roundRect">
            <a:avLst>
              <a:gd fmla="val 16667" name="adj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 txBox="1"/>
          <p:nvPr/>
        </p:nvSpPr>
        <p:spPr>
          <a:xfrm>
            <a:off x="1005840" y="1554480"/>
            <a:ext cx="10180015" cy="4663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Find the hash of your latest commit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log --oneline -1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a1b2c3d  Add sorting algorithms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Inspect the commit object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cat-file -p a1b2c3d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________________________________________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________________________________________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________________________________________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________________________________________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Now inspect the tree it points to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cat-file -p 4f7e8a9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________________________________________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________________________________________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And a blob (file contents)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cat-file -p 7a8b9c0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________________________________________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8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Poke at real Git objects</a:t>
            </a:r>
            <a:endParaRPr/>
          </a:p>
        </p:txBody>
      </p:sp>
      <p:sp>
        <p:nvSpPr>
          <p:cNvPr id="168" name="Google Shape;168;p8"/>
          <p:cNvSpPr/>
          <p:nvPr/>
        </p:nvSpPr>
        <p:spPr>
          <a:xfrm>
            <a:off x="640080" y="228600"/>
            <a:ext cx="1188720" cy="365760"/>
          </a:xfrm>
          <a:prstGeom prst="roundRect">
            <a:avLst>
              <a:gd fmla="val 16667" name="adj"/>
            </a:avLst>
          </a:prstGeom>
          <a:solidFill>
            <a:srgbClr val="16653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8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8"/>
          <p:cNvSpPr txBox="1"/>
          <p:nvPr/>
        </p:nvSpPr>
        <p:spPr>
          <a:xfrm>
            <a:off x="1005840" y="1554480"/>
            <a:ext cx="10179900" cy="4648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log --oneline -1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a1b2c3d  Add sorting algorithms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cat-file -p a1b2c3d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tree 4f7e8a9b1c2d3e4f5a6b7c8d9e0f1a2b3c4d5e6f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parent 9c3d5b2a7f8e1d4c6b9a2e5f8d1c4b7a0e3f6d9c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author Andy Aymeloglu &lt;</a:t>
            </a: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aaymeloglu</a:t>
            </a: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</a:t>
            </a: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uaustin</a:t>
            </a: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.</a:t>
            </a: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org</a:t>
            </a: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&gt; 1725789000 -0500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committer Andy Aymeloglu &lt;</a:t>
            </a: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aaymeloglu</a:t>
            </a: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@</a:t>
            </a:r>
            <a:r>
              <a:rPr b="1" lang="en-US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uaustin.org</a:t>
            </a: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&gt; 1725789000 -0500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Add sorting algorithms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cat-file -p 4f7e8a9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100644 blob 7a8b9c0...  README.md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100644 blob 3c4d5e6...  sort.py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040000 tree b2c3d4e...  tests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4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cat-file -p 7a8b9c0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Chat App - README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This is our chat application...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Google Shape;175;g3dd0f9ecee4_0_9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Branches: parallel timelines</a:t>
            </a:r>
            <a:endParaRPr/>
          </a:p>
        </p:txBody>
      </p:sp>
      <p:sp>
        <p:nvSpPr>
          <p:cNvPr id="176" name="Google Shape;176;g3dd0f9ecee4_0_95"/>
          <p:cNvSpPr txBox="1"/>
          <p:nvPr/>
        </p:nvSpPr>
        <p:spPr>
          <a:xfrm>
            <a:off x="914400" y="1463040"/>
            <a:ext cx="10362900" cy="241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Why branch?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Work on a feature without breaking main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Multiple people work in parallel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Easy to throw away experiments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31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g3dd0f9ecee4_0_9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Branches: parallel timelines</a:t>
            </a:r>
            <a:endParaRPr/>
          </a:p>
        </p:txBody>
      </p:sp>
      <p:sp>
        <p:nvSpPr>
          <p:cNvPr id="182" name="Google Shape;182;g3dd0f9ecee4_0_90"/>
          <p:cNvSpPr txBox="1"/>
          <p:nvPr/>
        </p:nvSpPr>
        <p:spPr>
          <a:xfrm>
            <a:off x="914400" y="1463040"/>
            <a:ext cx="10362900" cy="470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Why branch?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Work on a feature without breaking main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Multiple people work in parallel</a:t>
            </a:r>
            <a:endParaRPr>
              <a:solidFill>
                <a:schemeClr val="dk1"/>
              </a:solidFill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Easy to throw away experiments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branch is just a movable pointer to a commit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main - the primary timeline</a:t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 disk, it’s just a file - cheap and instant to create</a:t>
            </a:r>
            <a:b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22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cat .git/refs/heads/main</a:t>
            </a:r>
            <a:endParaRPr b="1" sz="2100">
              <a:solidFill>
                <a:schemeClr val="dk1"/>
              </a:solidFill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a1b2c3d4e5f6a7b8c9d0e1f2a3b4c5d6e7f8a9b0</a:t>
            </a:r>
            <a:endParaRPr b="1" sz="31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"</a:t>
            </a:r>
            <a:r>
              <a:rPr b="1" lang="en-US" sz="3600">
                <a:solidFill>
                  <a:srgbClr val="1A1A2E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checkout</a:t>
            </a: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" actually does</a:t>
            </a:r>
            <a:endParaRPr/>
          </a:p>
        </p:txBody>
      </p:sp>
      <p:sp>
        <p:nvSpPr>
          <p:cNvPr id="189" name="Google Shape;189;p10"/>
          <p:cNvSpPr txBox="1"/>
          <p:nvPr/>
        </p:nvSpPr>
        <p:spPr>
          <a:xfrm>
            <a:off x="914400" y="1463040"/>
            <a:ext cx="10362900" cy="4679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1. Updates HEAD to point to the target branch (or commit)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2. Updates the index (staging area) to match that commit's tree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3. Updates the working directory to match the index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That's why switching branches changes files on disk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And why Git won't let you switch with uncommitted changes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(it would have to overwrite your work)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checkout -b new-branch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= two operations: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Create a new ref pointing at current HEAD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Update HEAD to point at the new ref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g3dd0f9ecee4_0_239"/>
          <p:cNvSpPr txBox="1"/>
          <p:nvPr/>
        </p:nvSpPr>
        <p:spPr>
          <a:xfrm>
            <a:off x="731520" y="365760"/>
            <a:ext cx="107286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Other systems made other decisions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g3dd0f9ecee4_0_239"/>
          <p:cNvSpPr txBox="1"/>
          <p:nvPr/>
        </p:nvSpPr>
        <p:spPr>
          <a:xfrm>
            <a:off x="914400" y="1463040"/>
            <a:ext cx="103629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Distributed vs Centralized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clone is a full repo - branching and committing is instant and offline</a:t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dd0f9ecee4_0_245"/>
          <p:cNvSpPr txBox="1"/>
          <p:nvPr/>
        </p:nvSpPr>
        <p:spPr>
          <a:xfrm>
            <a:off x="731520" y="365760"/>
            <a:ext cx="107286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Other systems made other decisions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g3dd0f9ecee4_0_245"/>
          <p:cNvSpPr txBox="1"/>
          <p:nvPr/>
        </p:nvSpPr>
        <p:spPr>
          <a:xfrm>
            <a:off x="914400" y="1463040"/>
            <a:ext cx="10362900" cy="25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Distributed vs Centralized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clone is a full repo - branching and committing is instant and offline</a:t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Snapshots vs Deltas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Other version control systems store diffs</a:t>
            </a:r>
            <a:b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To build file at revision X, you walk the history</a:t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dd0f9ecee4_0_251"/>
          <p:cNvSpPr txBox="1"/>
          <p:nvPr/>
        </p:nvSpPr>
        <p:spPr>
          <a:xfrm>
            <a:off x="731520" y="365760"/>
            <a:ext cx="107286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Other systems made other decisions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g3dd0f9ecee4_0_251"/>
          <p:cNvSpPr txBox="1"/>
          <p:nvPr/>
        </p:nvSpPr>
        <p:spPr>
          <a:xfrm>
            <a:off x="914400" y="1463040"/>
            <a:ext cx="10362900" cy="3632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Distributed vs Centralized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clone is a full repo - branching and committing is instant and offline</a:t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Snapshots vs Deltas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Other version control systems store diffs</a:t>
            </a:r>
            <a:b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To build file at revision X, you walk the history</a:t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Branching cost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SVN branch = copy the whole tree (O(n) in files). Git branch = write 40 bytes to a file.</a:t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g3dd0f9ecee4_0_231"/>
          <p:cNvSpPr txBox="1"/>
          <p:nvPr/>
        </p:nvSpPr>
        <p:spPr>
          <a:xfrm>
            <a:off x="731520" y="365760"/>
            <a:ext cx="10728600" cy="12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Other systems made other decisions</a:t>
            </a:r>
            <a:endParaRPr>
              <a:solidFill>
                <a:schemeClr val="dk1"/>
              </a:solidFill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7" name="Google Shape;217;g3dd0f9ecee4_0_231"/>
          <p:cNvSpPr txBox="1"/>
          <p:nvPr/>
        </p:nvSpPr>
        <p:spPr>
          <a:xfrm>
            <a:off x="914400" y="1463040"/>
            <a:ext cx="10362900" cy="471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Distributed vs Centralized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</a:t>
            </a:r>
            <a: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 clone is a full repo - branching and committing is instant and offline</a:t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Snapshots vs Deltas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Other version control systems store diffs</a:t>
            </a:r>
            <a:b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To build file at revision X, you walk the history</a:t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Branching cost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SVN branch = copy the whole tree (O(n) in files). Git branch = write 40 bytes to a file.</a:t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Staging area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Most VCSes go straight from working directory to commit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	Git enables partial commits in messy working directories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1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The Commit Graph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1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History is a directed acyclic graph (DAG)</a:t>
            </a:r>
            <a:endParaRPr/>
          </a:p>
        </p:txBody>
      </p:sp>
      <p:sp>
        <p:nvSpPr>
          <p:cNvPr id="230" name="Google Shape;230;p12"/>
          <p:cNvSpPr txBox="1"/>
          <p:nvPr/>
        </p:nvSpPr>
        <p:spPr>
          <a:xfrm>
            <a:off x="914400" y="1463040"/>
            <a:ext cx="10362900" cy="5064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Each commit points to its parent(s)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Linear history: A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&lt;-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B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&lt;-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C (simple chain)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Branching: a commit can have multiple children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Merging: a commit can have multiple parents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It's a DAG, not a timeline: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Directed: parent pointers only go backward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Acyclic: you can never follow parents in a loop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Graph: branches diverge and converge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Branches and tags are just entry points into the graph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(movable vs. fixed labels on specific nodes)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dd0f9ecee4_0_166"/>
          <p:cNvSpPr txBox="1"/>
          <p:nvPr/>
        </p:nvSpPr>
        <p:spPr>
          <a:xfrm>
            <a:off x="731520" y="27432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DAG in practice</a:t>
            </a:r>
            <a:endParaRPr/>
          </a:p>
        </p:txBody>
      </p:sp>
      <p:sp>
        <p:nvSpPr>
          <p:cNvPr id="237" name="Google Shape;237;g3dd0f9ecee4_0_166"/>
          <p:cNvSpPr/>
          <p:nvPr/>
        </p:nvSpPr>
        <p:spPr>
          <a:xfrm>
            <a:off x="914400" y="1828800"/>
            <a:ext cx="640200" cy="640200"/>
          </a:xfrm>
          <a:prstGeom prst="ellipse">
            <a:avLst/>
          </a:prstGeom>
          <a:solidFill>
            <a:srgbClr val="5B21B6"/>
          </a:solidFill>
          <a:ln cap="flat" cmpd="sng" w="9525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C1</a:t>
            </a:r>
            <a:endParaRPr/>
          </a:p>
        </p:txBody>
      </p:sp>
      <p:sp>
        <p:nvSpPr>
          <p:cNvPr id="238" name="Google Shape;238;g3dd0f9ecee4_0_166"/>
          <p:cNvSpPr/>
          <p:nvPr/>
        </p:nvSpPr>
        <p:spPr>
          <a:xfrm>
            <a:off x="2743200" y="1828800"/>
            <a:ext cx="640200" cy="640200"/>
          </a:xfrm>
          <a:prstGeom prst="ellipse">
            <a:avLst/>
          </a:prstGeom>
          <a:solidFill>
            <a:srgbClr val="5B21B6"/>
          </a:solidFill>
          <a:ln cap="flat" cmpd="sng" w="9525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C2</a:t>
            </a:r>
            <a:endParaRPr/>
          </a:p>
        </p:txBody>
      </p:sp>
      <p:sp>
        <p:nvSpPr>
          <p:cNvPr id="239" name="Google Shape;239;g3dd0f9ecee4_0_166"/>
          <p:cNvSpPr/>
          <p:nvPr/>
        </p:nvSpPr>
        <p:spPr>
          <a:xfrm>
            <a:off x="1600200" y="2129805"/>
            <a:ext cx="1012800" cy="3810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g3dd0f9ecee4_0_166"/>
          <p:cNvSpPr txBox="1"/>
          <p:nvPr/>
        </p:nvSpPr>
        <p:spPr>
          <a:xfrm>
            <a:off x="2377455" y="1309915"/>
            <a:ext cx="1371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main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dd0f9ecee4_0_142"/>
          <p:cNvSpPr txBox="1"/>
          <p:nvPr/>
        </p:nvSpPr>
        <p:spPr>
          <a:xfrm>
            <a:off x="731520" y="27432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DAG in practice</a:t>
            </a:r>
            <a:endParaRPr/>
          </a:p>
        </p:txBody>
      </p:sp>
      <p:sp>
        <p:nvSpPr>
          <p:cNvPr id="247" name="Google Shape;247;g3dd0f9ecee4_0_142"/>
          <p:cNvSpPr/>
          <p:nvPr/>
        </p:nvSpPr>
        <p:spPr>
          <a:xfrm>
            <a:off x="914400" y="1828800"/>
            <a:ext cx="640200" cy="640200"/>
          </a:xfrm>
          <a:prstGeom prst="ellipse">
            <a:avLst/>
          </a:prstGeom>
          <a:solidFill>
            <a:srgbClr val="5B21B6"/>
          </a:solidFill>
          <a:ln cap="flat" cmpd="sng" w="9525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C1</a:t>
            </a:r>
            <a:endParaRPr/>
          </a:p>
        </p:txBody>
      </p:sp>
      <p:sp>
        <p:nvSpPr>
          <p:cNvPr id="248" name="Google Shape;248;g3dd0f9ecee4_0_142"/>
          <p:cNvSpPr/>
          <p:nvPr/>
        </p:nvSpPr>
        <p:spPr>
          <a:xfrm>
            <a:off x="2743200" y="1828800"/>
            <a:ext cx="640200" cy="640200"/>
          </a:xfrm>
          <a:prstGeom prst="ellipse">
            <a:avLst/>
          </a:prstGeom>
          <a:solidFill>
            <a:srgbClr val="5B21B6"/>
          </a:solidFill>
          <a:ln cap="flat" cmpd="sng" w="9525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C2</a:t>
            </a:r>
            <a:endParaRPr/>
          </a:p>
        </p:txBody>
      </p:sp>
      <p:sp>
        <p:nvSpPr>
          <p:cNvPr id="249" name="Google Shape;249;g3dd0f9ecee4_0_142"/>
          <p:cNvSpPr/>
          <p:nvPr/>
        </p:nvSpPr>
        <p:spPr>
          <a:xfrm>
            <a:off x="1600200" y="2129805"/>
            <a:ext cx="1012800" cy="3810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g3dd0f9ecee4_0_142"/>
          <p:cNvSpPr/>
          <p:nvPr/>
        </p:nvSpPr>
        <p:spPr>
          <a:xfrm>
            <a:off x="4572000" y="1828800"/>
            <a:ext cx="640200" cy="640200"/>
          </a:xfrm>
          <a:prstGeom prst="ellipse">
            <a:avLst/>
          </a:prstGeom>
          <a:solidFill>
            <a:srgbClr val="5B21B6"/>
          </a:solidFill>
          <a:ln cap="flat" cmpd="sng" w="9525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C3</a:t>
            </a:r>
            <a:endParaRPr/>
          </a:p>
        </p:txBody>
      </p:sp>
      <p:sp>
        <p:nvSpPr>
          <p:cNvPr id="251" name="Google Shape;251;g3dd0f9ecee4_0_142"/>
          <p:cNvSpPr/>
          <p:nvPr/>
        </p:nvSpPr>
        <p:spPr>
          <a:xfrm>
            <a:off x="3429000" y="2129796"/>
            <a:ext cx="1012800" cy="3810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g3dd0f9ecee4_0_142"/>
          <p:cNvSpPr/>
          <p:nvPr/>
        </p:nvSpPr>
        <p:spPr>
          <a:xfrm>
            <a:off x="4572000" y="4114800"/>
            <a:ext cx="640200" cy="640200"/>
          </a:xfrm>
          <a:prstGeom prst="ellipse">
            <a:avLst/>
          </a:prstGeom>
          <a:solidFill>
            <a:srgbClr val="1D4ED8"/>
          </a:solidFill>
          <a:ln cap="flat" cmpd="sng" w="9525">
            <a:solidFill>
              <a:srgbClr val="1D4ED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F1</a:t>
            </a:r>
            <a:endParaRPr/>
          </a:p>
        </p:txBody>
      </p:sp>
      <p:sp>
        <p:nvSpPr>
          <p:cNvPr id="253" name="Google Shape;253;g3dd0f9ecee4_0_142"/>
          <p:cNvSpPr/>
          <p:nvPr/>
        </p:nvSpPr>
        <p:spPr>
          <a:xfrm>
            <a:off x="6858000" y="4114800"/>
            <a:ext cx="640200" cy="640200"/>
          </a:xfrm>
          <a:prstGeom prst="ellipse">
            <a:avLst/>
          </a:prstGeom>
          <a:solidFill>
            <a:srgbClr val="1D4ED8"/>
          </a:solidFill>
          <a:ln cap="flat" cmpd="sng" w="9525">
            <a:solidFill>
              <a:srgbClr val="1D4ED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F2</a:t>
            </a:r>
            <a:endParaRPr/>
          </a:p>
        </p:txBody>
      </p:sp>
      <p:sp>
        <p:nvSpPr>
          <p:cNvPr id="254" name="Google Shape;254;g3dd0f9ecee4_0_142"/>
          <p:cNvSpPr/>
          <p:nvPr/>
        </p:nvSpPr>
        <p:spPr>
          <a:xfrm>
            <a:off x="5257800" y="4415795"/>
            <a:ext cx="1530300" cy="3810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g3dd0f9ecee4_0_142"/>
          <p:cNvSpPr/>
          <p:nvPr/>
        </p:nvSpPr>
        <p:spPr>
          <a:xfrm>
            <a:off x="3044190" y="2541270"/>
            <a:ext cx="38100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g3dd0f9ecee4_0_142"/>
          <p:cNvSpPr/>
          <p:nvPr/>
        </p:nvSpPr>
        <p:spPr>
          <a:xfrm>
            <a:off x="3044190" y="2560320"/>
            <a:ext cx="38100" cy="187440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g3dd0f9ecee4_0_142"/>
          <p:cNvSpPr/>
          <p:nvPr/>
        </p:nvSpPr>
        <p:spPr>
          <a:xfrm>
            <a:off x="3082301" y="4415805"/>
            <a:ext cx="1371600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0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g3dd0f9ecee4_0_142"/>
          <p:cNvSpPr txBox="1"/>
          <p:nvPr/>
        </p:nvSpPr>
        <p:spPr>
          <a:xfrm>
            <a:off x="4206305" y="1309902"/>
            <a:ext cx="1371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main</a:t>
            </a:r>
            <a:endParaRPr/>
          </a:p>
        </p:txBody>
      </p:sp>
      <p:sp>
        <p:nvSpPr>
          <p:cNvPr id="259" name="Google Shape;259;g3dd0f9ecee4_0_142"/>
          <p:cNvSpPr txBox="1"/>
          <p:nvPr/>
        </p:nvSpPr>
        <p:spPr>
          <a:xfrm>
            <a:off x="6108375" y="4991475"/>
            <a:ext cx="2286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feature/sort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3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DAG in practice</a:t>
            </a:r>
            <a:endParaRPr/>
          </a:p>
        </p:txBody>
      </p:sp>
      <p:sp>
        <p:nvSpPr>
          <p:cNvPr id="266" name="Google Shape;266;p13"/>
          <p:cNvSpPr/>
          <p:nvPr/>
        </p:nvSpPr>
        <p:spPr>
          <a:xfrm>
            <a:off x="914400" y="1828800"/>
            <a:ext cx="640080" cy="640080"/>
          </a:xfrm>
          <a:prstGeom prst="ellipse">
            <a:avLst/>
          </a:prstGeom>
          <a:solidFill>
            <a:srgbClr val="5B21B6"/>
          </a:solidFill>
          <a:ln cap="flat" cmpd="sng" w="9525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C1</a:t>
            </a:r>
            <a:endParaRPr/>
          </a:p>
        </p:txBody>
      </p:sp>
      <p:sp>
        <p:nvSpPr>
          <p:cNvPr id="267" name="Google Shape;267;p13"/>
          <p:cNvSpPr/>
          <p:nvPr/>
        </p:nvSpPr>
        <p:spPr>
          <a:xfrm>
            <a:off x="2743200" y="1828800"/>
            <a:ext cx="640080" cy="640080"/>
          </a:xfrm>
          <a:prstGeom prst="ellipse">
            <a:avLst/>
          </a:prstGeom>
          <a:solidFill>
            <a:srgbClr val="5B21B6"/>
          </a:solidFill>
          <a:ln cap="flat" cmpd="sng" w="9525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C2</a:t>
            </a:r>
            <a:endParaRPr/>
          </a:p>
        </p:txBody>
      </p:sp>
      <p:sp>
        <p:nvSpPr>
          <p:cNvPr id="268" name="Google Shape;268;p13"/>
          <p:cNvSpPr/>
          <p:nvPr/>
        </p:nvSpPr>
        <p:spPr>
          <a:xfrm>
            <a:off x="1600200" y="2129805"/>
            <a:ext cx="1012800" cy="3810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3"/>
          <p:cNvSpPr/>
          <p:nvPr/>
        </p:nvSpPr>
        <p:spPr>
          <a:xfrm>
            <a:off x="4572000" y="1828800"/>
            <a:ext cx="640080" cy="640080"/>
          </a:xfrm>
          <a:prstGeom prst="ellipse">
            <a:avLst/>
          </a:prstGeom>
          <a:solidFill>
            <a:srgbClr val="5B21B6"/>
          </a:solidFill>
          <a:ln cap="flat" cmpd="sng" w="9525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C3</a:t>
            </a:r>
            <a:endParaRPr/>
          </a:p>
        </p:txBody>
      </p:sp>
      <p:sp>
        <p:nvSpPr>
          <p:cNvPr id="270" name="Google Shape;270;p13"/>
          <p:cNvSpPr/>
          <p:nvPr/>
        </p:nvSpPr>
        <p:spPr>
          <a:xfrm>
            <a:off x="3429000" y="2129796"/>
            <a:ext cx="1012800" cy="3810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3"/>
          <p:cNvSpPr/>
          <p:nvPr/>
        </p:nvSpPr>
        <p:spPr>
          <a:xfrm>
            <a:off x="8686800" y="1828800"/>
            <a:ext cx="640080" cy="640080"/>
          </a:xfrm>
          <a:prstGeom prst="ellipse">
            <a:avLst/>
          </a:prstGeom>
          <a:solidFill>
            <a:srgbClr val="166534"/>
          </a:solidFill>
          <a:ln cap="flat" cmpd="sng" w="9525">
            <a:solidFill>
              <a:srgbClr val="16653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M</a:t>
            </a:r>
            <a:endParaRPr/>
          </a:p>
        </p:txBody>
      </p:sp>
      <p:sp>
        <p:nvSpPr>
          <p:cNvPr id="272" name="Google Shape;272;p13"/>
          <p:cNvSpPr/>
          <p:nvPr/>
        </p:nvSpPr>
        <p:spPr>
          <a:xfrm>
            <a:off x="5257800" y="2129798"/>
            <a:ext cx="3279300" cy="38100"/>
          </a:xfrm>
          <a:prstGeom prst="rect">
            <a:avLst/>
          </a:prstGeom>
          <a:solidFill>
            <a:srgbClr val="EEEE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3"/>
          <p:cNvSpPr/>
          <p:nvPr/>
        </p:nvSpPr>
        <p:spPr>
          <a:xfrm>
            <a:off x="4572000" y="4114800"/>
            <a:ext cx="640080" cy="640080"/>
          </a:xfrm>
          <a:prstGeom prst="ellipse">
            <a:avLst/>
          </a:prstGeom>
          <a:solidFill>
            <a:srgbClr val="1D4ED8"/>
          </a:solidFill>
          <a:ln cap="flat" cmpd="sng" w="9525">
            <a:solidFill>
              <a:srgbClr val="1D4ED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F1</a:t>
            </a:r>
            <a:endParaRPr/>
          </a:p>
        </p:txBody>
      </p:sp>
      <p:sp>
        <p:nvSpPr>
          <p:cNvPr id="274" name="Google Shape;274;p13"/>
          <p:cNvSpPr/>
          <p:nvPr/>
        </p:nvSpPr>
        <p:spPr>
          <a:xfrm>
            <a:off x="6858000" y="4114800"/>
            <a:ext cx="640080" cy="640080"/>
          </a:xfrm>
          <a:prstGeom prst="ellipse">
            <a:avLst/>
          </a:prstGeom>
          <a:solidFill>
            <a:srgbClr val="1D4ED8"/>
          </a:solidFill>
          <a:ln cap="flat" cmpd="sng" w="9525">
            <a:solidFill>
              <a:srgbClr val="1D4ED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F2</a:t>
            </a:r>
            <a:endParaRPr/>
          </a:p>
        </p:txBody>
      </p:sp>
      <p:sp>
        <p:nvSpPr>
          <p:cNvPr id="275" name="Google Shape;275;p13"/>
          <p:cNvSpPr/>
          <p:nvPr/>
        </p:nvSpPr>
        <p:spPr>
          <a:xfrm>
            <a:off x="5257800" y="4415795"/>
            <a:ext cx="1530300" cy="3810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3"/>
          <p:cNvSpPr/>
          <p:nvPr/>
        </p:nvSpPr>
        <p:spPr>
          <a:xfrm>
            <a:off x="3044190" y="2541270"/>
            <a:ext cx="38100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13"/>
          <p:cNvSpPr/>
          <p:nvPr/>
        </p:nvSpPr>
        <p:spPr>
          <a:xfrm>
            <a:off x="3044190" y="2560320"/>
            <a:ext cx="38100" cy="187452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3"/>
          <p:cNvSpPr/>
          <p:nvPr/>
        </p:nvSpPr>
        <p:spPr>
          <a:xfrm>
            <a:off x="3082301" y="4415805"/>
            <a:ext cx="1371600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9" name="Google Shape;279;p13"/>
          <p:cNvSpPr/>
          <p:nvPr/>
        </p:nvSpPr>
        <p:spPr>
          <a:xfrm>
            <a:off x="7589520" y="4415790"/>
            <a:ext cx="1398270" cy="38100"/>
          </a:xfrm>
          <a:prstGeom prst="rect">
            <a:avLst/>
          </a:prstGeom>
          <a:solidFill>
            <a:srgbClr val="16653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0" name="Google Shape;280;p13"/>
          <p:cNvSpPr/>
          <p:nvPr/>
        </p:nvSpPr>
        <p:spPr>
          <a:xfrm>
            <a:off x="8987790" y="2560320"/>
            <a:ext cx="38100" cy="1874520"/>
          </a:xfrm>
          <a:prstGeom prst="rect">
            <a:avLst/>
          </a:prstGeom>
          <a:solidFill>
            <a:srgbClr val="16653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3"/>
          <p:cNvSpPr txBox="1"/>
          <p:nvPr/>
        </p:nvSpPr>
        <p:spPr>
          <a:xfrm>
            <a:off x="8412480" y="1005840"/>
            <a:ext cx="1371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main</a:t>
            </a:r>
            <a:endParaRPr/>
          </a:p>
        </p:txBody>
      </p:sp>
      <p:sp>
        <p:nvSpPr>
          <p:cNvPr id="282" name="Google Shape;282;p13"/>
          <p:cNvSpPr txBox="1"/>
          <p:nvPr/>
        </p:nvSpPr>
        <p:spPr>
          <a:xfrm>
            <a:off x="6035038" y="5029200"/>
            <a:ext cx="2286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1D4ED8"/>
                </a:solidFill>
                <a:latin typeface="Calibri"/>
                <a:ea typeface="Calibri"/>
                <a:cs typeface="Calibri"/>
                <a:sym typeface="Calibri"/>
              </a:rPr>
              <a:t>feature/sort</a:t>
            </a:r>
            <a:endParaRPr/>
          </a:p>
        </p:txBody>
      </p:sp>
      <p:sp>
        <p:nvSpPr>
          <p:cNvPr id="283" name="Google Shape;283;p13"/>
          <p:cNvSpPr txBox="1"/>
          <p:nvPr/>
        </p:nvSpPr>
        <p:spPr>
          <a:xfrm>
            <a:off x="9241075" y="2710825"/>
            <a:ext cx="28848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M has 2 parents: C3 + F2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4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Merge vs. Rebase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Merge: what it actually does</a:t>
            </a:r>
            <a:endParaRPr/>
          </a:p>
        </p:txBody>
      </p:sp>
      <p:sp>
        <p:nvSpPr>
          <p:cNvPr id="296" name="Google Shape;296;p15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Fast-forward merge (main hasn't diverged):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Just moves the branch pointer forward. No new commit.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Three-way merge (both branches have new commits):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Creates a merge commit with TWO parents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Git finds the "merge base" (common ancestor)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Compares both branches against the base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Combines the changes automatically (or asks you to resolve conflicts)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Merge preserves the actual history of what happened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But makes git log harder to read (non-linear)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1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Rebase: what it actually does</a:t>
            </a:r>
            <a:endParaRPr/>
          </a:p>
        </p:txBody>
      </p:sp>
      <p:sp>
        <p:nvSpPr>
          <p:cNvPr id="303" name="Google Shape;303;p16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Rebase replays your commits on a new base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For each commit on your branch: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1. Compute the diff that commit introduced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2. Apply that diff on top of the target branch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3. Create a NEW commit object (new hash!)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original commits still exist (temporarily)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But nothing points to them anymore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Git garbage-collects them eventually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Result: linear history, as if you branched later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Cost: rewrites history (new SHAs for every replayed commit)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17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Merge vs. Rebase</a:t>
            </a:r>
            <a:endParaRPr/>
          </a:p>
        </p:txBody>
      </p:sp>
      <p:sp>
        <p:nvSpPr>
          <p:cNvPr id="310" name="Google Shape;310;p17"/>
          <p:cNvSpPr txBox="1"/>
          <p:nvPr/>
        </p:nvSpPr>
        <p:spPr>
          <a:xfrm>
            <a:off x="457200" y="109728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With merge:</a:t>
            </a:r>
            <a:endParaRPr/>
          </a:p>
        </p:txBody>
      </p:sp>
      <p:sp>
        <p:nvSpPr>
          <p:cNvPr id="311" name="Google Shape;311;p17"/>
          <p:cNvSpPr/>
          <p:nvPr/>
        </p:nvSpPr>
        <p:spPr>
          <a:xfrm>
            <a:off x="457200" y="2286000"/>
            <a:ext cx="594360" cy="594360"/>
          </a:xfrm>
          <a:prstGeom prst="ellipse">
            <a:avLst/>
          </a:prstGeom>
          <a:solidFill>
            <a:srgbClr val="5B21B6"/>
          </a:solidFill>
          <a:ln cap="flat" cmpd="sng" w="9525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C1</a:t>
            </a:r>
            <a:endParaRPr/>
          </a:p>
        </p:txBody>
      </p:sp>
      <p:sp>
        <p:nvSpPr>
          <p:cNvPr id="312" name="Google Shape;312;p17"/>
          <p:cNvSpPr/>
          <p:nvPr/>
        </p:nvSpPr>
        <p:spPr>
          <a:xfrm>
            <a:off x="1828800" y="2286000"/>
            <a:ext cx="594360" cy="594360"/>
          </a:xfrm>
          <a:prstGeom prst="ellipse">
            <a:avLst/>
          </a:prstGeom>
          <a:solidFill>
            <a:srgbClr val="5B21B6"/>
          </a:solidFill>
          <a:ln cap="flat" cmpd="sng" w="9525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C2</a:t>
            </a:r>
            <a:endParaRPr/>
          </a:p>
        </p:txBody>
      </p:sp>
      <p:sp>
        <p:nvSpPr>
          <p:cNvPr id="313" name="Google Shape;313;p17"/>
          <p:cNvSpPr/>
          <p:nvPr/>
        </p:nvSpPr>
        <p:spPr>
          <a:xfrm>
            <a:off x="1097280" y="2564130"/>
            <a:ext cx="457200" cy="3810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7"/>
          <p:cNvSpPr/>
          <p:nvPr/>
        </p:nvSpPr>
        <p:spPr>
          <a:xfrm>
            <a:off x="1508760" y="2446020"/>
            <a:ext cx="320040" cy="274320"/>
          </a:xfrm>
          <a:prstGeom prst="chevron">
            <a:avLst>
              <a:gd fmla="val 50000" name="adj"/>
            </a:avLst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7"/>
          <p:cNvSpPr/>
          <p:nvPr/>
        </p:nvSpPr>
        <p:spPr>
          <a:xfrm>
            <a:off x="4572000" y="2286000"/>
            <a:ext cx="594360" cy="594360"/>
          </a:xfrm>
          <a:prstGeom prst="ellipse">
            <a:avLst/>
          </a:prstGeom>
          <a:solidFill>
            <a:srgbClr val="666677"/>
          </a:solidFill>
          <a:ln cap="flat" cmpd="sng" w="9525">
            <a:solidFill>
              <a:srgbClr val="66667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M</a:t>
            </a:r>
            <a:endParaRPr/>
          </a:p>
        </p:txBody>
      </p:sp>
      <p:sp>
        <p:nvSpPr>
          <p:cNvPr id="316" name="Google Shape;316;p17"/>
          <p:cNvSpPr/>
          <p:nvPr/>
        </p:nvSpPr>
        <p:spPr>
          <a:xfrm>
            <a:off x="2468880" y="2564130"/>
            <a:ext cx="1828800" cy="38100"/>
          </a:xfrm>
          <a:prstGeom prst="rect">
            <a:avLst/>
          </a:prstGeom>
          <a:solidFill>
            <a:srgbClr val="EEEE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7" name="Google Shape;317;p17"/>
          <p:cNvSpPr/>
          <p:nvPr/>
        </p:nvSpPr>
        <p:spPr>
          <a:xfrm>
            <a:off x="4251960" y="2446020"/>
            <a:ext cx="320040" cy="274320"/>
          </a:xfrm>
          <a:prstGeom prst="chevron">
            <a:avLst>
              <a:gd fmla="val 50000" name="adj"/>
            </a:avLst>
          </a:prstGeom>
          <a:solidFill>
            <a:srgbClr val="EEEE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7"/>
          <p:cNvSpPr/>
          <p:nvPr/>
        </p:nvSpPr>
        <p:spPr>
          <a:xfrm>
            <a:off x="3017520" y="4114800"/>
            <a:ext cx="594360" cy="594360"/>
          </a:xfrm>
          <a:prstGeom prst="ellipse">
            <a:avLst/>
          </a:prstGeom>
          <a:solidFill>
            <a:srgbClr val="1D4ED8"/>
          </a:solidFill>
          <a:ln cap="flat" cmpd="sng" w="9525">
            <a:solidFill>
              <a:srgbClr val="1D4ED8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F1</a:t>
            </a:r>
            <a:endParaRPr/>
          </a:p>
        </p:txBody>
      </p:sp>
      <p:sp>
        <p:nvSpPr>
          <p:cNvPr id="319" name="Google Shape;319;p17"/>
          <p:cNvSpPr/>
          <p:nvPr/>
        </p:nvSpPr>
        <p:spPr>
          <a:xfrm>
            <a:off x="2106930" y="2952750"/>
            <a:ext cx="38100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0" name="Google Shape;320;p17"/>
          <p:cNvSpPr/>
          <p:nvPr/>
        </p:nvSpPr>
        <p:spPr>
          <a:xfrm>
            <a:off x="2106930" y="2971800"/>
            <a:ext cx="38100" cy="144018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17"/>
          <p:cNvSpPr/>
          <p:nvPr/>
        </p:nvSpPr>
        <p:spPr>
          <a:xfrm>
            <a:off x="2145030" y="4392930"/>
            <a:ext cx="598170" cy="38100"/>
          </a:xfrm>
          <a:prstGeom prst="rect">
            <a:avLst/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7"/>
          <p:cNvSpPr/>
          <p:nvPr/>
        </p:nvSpPr>
        <p:spPr>
          <a:xfrm>
            <a:off x="2697480" y="4274820"/>
            <a:ext cx="320040" cy="274320"/>
          </a:xfrm>
          <a:prstGeom prst="chevron">
            <a:avLst>
              <a:gd fmla="val 50000" name="adj"/>
            </a:avLst>
          </a:prstGeom>
          <a:solidFill>
            <a:srgbClr val="1D4ED8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7"/>
          <p:cNvSpPr/>
          <p:nvPr/>
        </p:nvSpPr>
        <p:spPr>
          <a:xfrm>
            <a:off x="3703320" y="4392930"/>
            <a:ext cx="1146810" cy="3810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7"/>
          <p:cNvSpPr/>
          <p:nvPr/>
        </p:nvSpPr>
        <p:spPr>
          <a:xfrm>
            <a:off x="4850130" y="2971800"/>
            <a:ext cx="38100" cy="144018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7"/>
          <p:cNvSpPr/>
          <p:nvPr/>
        </p:nvSpPr>
        <p:spPr>
          <a:xfrm rot="-5400000">
            <a:off x="4732020" y="2834640"/>
            <a:ext cx="274320" cy="274320"/>
          </a:xfrm>
          <a:prstGeom prst="chevron">
            <a:avLst>
              <a:gd fmla="val 50000" name="adj"/>
            </a:avLst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7"/>
          <p:cNvSpPr txBox="1"/>
          <p:nvPr/>
        </p:nvSpPr>
        <p:spPr>
          <a:xfrm>
            <a:off x="1371600" y="521208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DC2626"/>
                </a:solidFill>
                <a:latin typeface="Calibri"/>
                <a:ea typeface="Calibri"/>
                <a:cs typeface="Calibri"/>
                <a:sym typeface="Calibri"/>
              </a:rPr>
              <a:t>M has 2 parents: preserves history</a:t>
            </a:r>
            <a:endParaRPr/>
          </a:p>
        </p:txBody>
      </p:sp>
      <p:sp>
        <p:nvSpPr>
          <p:cNvPr id="327" name="Google Shape;327;p17"/>
          <p:cNvSpPr/>
          <p:nvPr/>
        </p:nvSpPr>
        <p:spPr>
          <a:xfrm>
            <a:off x="5943600" y="914400"/>
            <a:ext cx="25400" cy="5029200"/>
          </a:xfrm>
          <a:prstGeom prst="rect">
            <a:avLst/>
          </a:prstGeom>
          <a:solidFill>
            <a:srgbClr val="EEEEF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8" name="Google Shape;328;p17"/>
          <p:cNvSpPr txBox="1"/>
          <p:nvPr/>
        </p:nvSpPr>
        <p:spPr>
          <a:xfrm>
            <a:off x="6400800" y="109728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With rebase:</a:t>
            </a:r>
            <a:endParaRPr/>
          </a:p>
        </p:txBody>
      </p:sp>
      <p:sp>
        <p:nvSpPr>
          <p:cNvPr id="329" name="Google Shape;329;p17"/>
          <p:cNvSpPr/>
          <p:nvPr/>
        </p:nvSpPr>
        <p:spPr>
          <a:xfrm>
            <a:off x="6400800" y="3017520"/>
            <a:ext cx="594360" cy="594360"/>
          </a:xfrm>
          <a:prstGeom prst="ellipse">
            <a:avLst/>
          </a:prstGeom>
          <a:solidFill>
            <a:srgbClr val="5B21B6"/>
          </a:solidFill>
          <a:ln cap="flat" cmpd="sng" w="9525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C1</a:t>
            </a:r>
            <a:endParaRPr/>
          </a:p>
        </p:txBody>
      </p:sp>
      <p:sp>
        <p:nvSpPr>
          <p:cNvPr id="330" name="Google Shape;330;p17"/>
          <p:cNvSpPr/>
          <p:nvPr/>
        </p:nvSpPr>
        <p:spPr>
          <a:xfrm>
            <a:off x="7863840" y="3017520"/>
            <a:ext cx="594360" cy="594360"/>
          </a:xfrm>
          <a:prstGeom prst="ellipse">
            <a:avLst/>
          </a:prstGeom>
          <a:solidFill>
            <a:srgbClr val="5B21B6"/>
          </a:solidFill>
          <a:ln cap="flat" cmpd="sng" w="9525">
            <a:solidFill>
              <a:srgbClr val="5B21B6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C2</a:t>
            </a:r>
            <a:endParaRPr/>
          </a:p>
        </p:txBody>
      </p:sp>
      <p:sp>
        <p:nvSpPr>
          <p:cNvPr id="331" name="Google Shape;331;p17"/>
          <p:cNvSpPr/>
          <p:nvPr/>
        </p:nvSpPr>
        <p:spPr>
          <a:xfrm>
            <a:off x="7040880" y="3295650"/>
            <a:ext cx="548640" cy="3810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7"/>
          <p:cNvSpPr/>
          <p:nvPr/>
        </p:nvSpPr>
        <p:spPr>
          <a:xfrm>
            <a:off x="7543800" y="3177540"/>
            <a:ext cx="320040" cy="274320"/>
          </a:xfrm>
          <a:prstGeom prst="chevron">
            <a:avLst>
              <a:gd fmla="val 50000" name="adj"/>
            </a:avLst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7"/>
          <p:cNvSpPr/>
          <p:nvPr/>
        </p:nvSpPr>
        <p:spPr>
          <a:xfrm>
            <a:off x="9326880" y="3017520"/>
            <a:ext cx="594360" cy="594360"/>
          </a:xfrm>
          <a:prstGeom prst="ellipse">
            <a:avLst/>
          </a:prstGeom>
          <a:solidFill>
            <a:srgbClr val="166534"/>
          </a:solidFill>
          <a:ln cap="flat" cmpd="sng" w="9525">
            <a:solidFill>
              <a:srgbClr val="166534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F1'</a:t>
            </a:r>
            <a:endParaRPr/>
          </a:p>
        </p:txBody>
      </p:sp>
      <p:sp>
        <p:nvSpPr>
          <p:cNvPr id="334" name="Google Shape;334;p17"/>
          <p:cNvSpPr/>
          <p:nvPr/>
        </p:nvSpPr>
        <p:spPr>
          <a:xfrm>
            <a:off x="8503920" y="3295650"/>
            <a:ext cx="548640" cy="38100"/>
          </a:xfrm>
          <a:prstGeom prst="rect">
            <a:avLst/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5" name="Google Shape;335;p17"/>
          <p:cNvSpPr/>
          <p:nvPr/>
        </p:nvSpPr>
        <p:spPr>
          <a:xfrm>
            <a:off x="9006840" y="3177540"/>
            <a:ext cx="320040" cy="274320"/>
          </a:xfrm>
          <a:prstGeom prst="chevron">
            <a:avLst>
              <a:gd fmla="val 50000" name="adj"/>
            </a:avLst>
          </a:prstGeom>
          <a:solidFill>
            <a:srgbClr val="666677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7"/>
          <p:cNvSpPr txBox="1"/>
          <p:nvPr/>
        </p:nvSpPr>
        <p:spPr>
          <a:xfrm>
            <a:off x="6858000" y="420624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00">
                <a:solidFill>
                  <a:srgbClr val="166534"/>
                </a:solidFill>
                <a:latin typeface="Calibri"/>
                <a:ea typeface="Calibri"/>
                <a:cs typeface="Calibri"/>
                <a:sym typeface="Calibri"/>
              </a:rPr>
              <a:t>F1' is a NEW commit (different SHA)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1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golden rule of rebase</a:t>
            </a:r>
            <a:endParaRPr/>
          </a:p>
        </p:txBody>
      </p:sp>
      <p:sp>
        <p:nvSpPr>
          <p:cNvPr id="343" name="Google Shape;343;p18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Never rebase commits that others have pulled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Why? Because rebase creates NEW commits with NEW hashes.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If someone based their work on your original commits,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their history and yours now disagree about what happened.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Git can't reconcile this cleanly.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Safe: rebase your local feature branch onto main before pushing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Dangerous: rebase main, or rebase after pushing your branch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Simple heuristic: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If you're the only one who's seen these commits, rebase freely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If you've pushed and others may have pulled, don't rebase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1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Merge conflicts: what they look like</a:t>
            </a:r>
            <a:endParaRPr/>
          </a:p>
        </p:txBody>
      </p:sp>
      <p:sp>
        <p:nvSpPr>
          <p:cNvPr id="350" name="Google Shape;350;p19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9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When both branches edit the same lines: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&lt;&lt;&lt;&lt;&lt;&lt;&lt; HEAD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sort_list(data):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sorted(data)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=======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sort_list(data):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sorted(data, reverse=True)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&gt;&gt;&gt;&gt;&gt;&gt;&gt; feature/reverse-sort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YOUR JOB: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1. Pick one version (or combine them)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2. Delete the &lt;&lt;&lt;, ===, &gt;&gt;&gt; markers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3. git add &lt;file&gt; &amp;&amp; git commit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20"/>
          <p:cNvSpPr txBox="1"/>
          <p:nvPr/>
        </p:nvSpPr>
        <p:spPr>
          <a:xfrm>
            <a:off x="5303520" y="457200"/>
            <a:ext cx="158465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200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358" name="Google Shape;358;p20"/>
          <p:cNvSpPr txBox="1"/>
          <p:nvPr/>
        </p:nvSpPr>
        <p:spPr>
          <a:xfrm>
            <a:off x="1371600" y="2011680"/>
            <a:ext cx="94484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Why do you get conflicts during rebase</a:t>
            </a:r>
            <a:br>
              <a:rPr b="1" lang="en-US" sz="34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lang="en-US" sz="34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but not during fast-forward merge?</a:t>
            </a:r>
            <a:endParaRPr/>
          </a:p>
        </p:txBody>
      </p:sp>
      <p:sp>
        <p:nvSpPr>
          <p:cNvPr id="359" name="Google Shape;359;p20"/>
          <p:cNvSpPr txBox="1"/>
          <p:nvPr/>
        </p:nvSpPr>
        <p:spPr>
          <a:xfrm>
            <a:off x="1828800" y="4572000"/>
            <a:ext cx="8534095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2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Think about what each operation does to the graph.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4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g3dd0f9ecee4_0_203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Three common workflows</a:t>
            </a:r>
            <a:endParaRPr/>
          </a:p>
        </p:txBody>
      </p:sp>
      <p:sp>
        <p:nvSpPr>
          <p:cNvPr id="366" name="Google Shape;366;g3dd0f9ecee4_0_203"/>
          <p:cNvSpPr txBox="1"/>
          <p:nvPr/>
        </p:nvSpPr>
        <p:spPr>
          <a:xfrm>
            <a:off x="914375" y="1057415"/>
            <a:ext cx="10362900" cy="3894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Trunk-based development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Everyone commits to main. Short-lived branches (hours, not days).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Fast, but needs strong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testing framework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Feature branch + squash-and-merge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Branch per feature. Squash commits before merging to main.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Clean linear history. Code review via PRs.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Main difference is how long the branch lives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3dd0f9ecee4_0_185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Three common workflows</a:t>
            </a:r>
            <a:endParaRPr/>
          </a:p>
        </p:txBody>
      </p:sp>
      <p:sp>
        <p:nvSpPr>
          <p:cNvPr id="373" name="Google Shape;373;g3dd0f9ecee4_0_185"/>
          <p:cNvSpPr txBox="1"/>
          <p:nvPr/>
        </p:nvSpPr>
        <p:spPr>
          <a:xfrm>
            <a:off x="914375" y="1057415"/>
            <a:ext cx="10362900" cy="55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Trunk-based development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Everyone commits to main. Short-lived branches (hours, not days).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Fast, but needs strong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testing framework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Feature branch + squash-and-merge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Branch per feature. Squash commits before merging to main.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Clean linear history. Code review via PRs.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Main difference is how long the branch lives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Gitflow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main, develop, feature/*, release/*, hotfix/* branches.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Used for software with formal release cycles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Heavy process.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Way overkill for our purposes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p2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Our workflow: squash-and-rebase</a:t>
            </a:r>
            <a:endParaRPr/>
          </a:p>
        </p:txBody>
      </p:sp>
      <p:sp>
        <p:nvSpPr>
          <p:cNvPr id="380" name="Google Shape;380;p23"/>
          <p:cNvSpPr txBox="1"/>
          <p:nvPr/>
        </p:nvSpPr>
        <p:spPr>
          <a:xfrm>
            <a:off x="914400" y="1463040"/>
            <a:ext cx="10362900" cy="42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1. </a:t>
            </a: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checkout -b feature/add-search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(branch from main)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2. Make commits as you work (WIP commits are fine)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3. When done: </a:t>
            </a: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fetch origin &amp;&amp; git rebase origin/main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Replays your commits on top of latest main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Resolve conflicts if any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5. </a:t>
            </a: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push -u origin feature/add-search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6. Open PR. Get review. "Squash and merge" on GitHub.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Result: main is a clean, linear sequence of meaningful commits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Each commit represents one complete, reviewed feature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5" name="Shape 3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Google Shape;386;g3dd0f9ecee4_0_133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Git Worktrees</a:t>
            </a:r>
            <a:endParaRPr/>
          </a:p>
        </p:txBody>
      </p:sp>
      <p:sp>
        <p:nvSpPr>
          <p:cNvPr id="387" name="Google Shape;387;g3dd0f9ecee4_0_133"/>
          <p:cNvSpPr txBox="1"/>
          <p:nvPr/>
        </p:nvSpPr>
        <p:spPr>
          <a:xfrm>
            <a:off x="914375" y="1252190"/>
            <a:ext cx="10362900" cy="5741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Sometimes you need to look at another branch without losing your place                                                                                                                              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stash, switch, switch back, git stash pop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clunky and error-prone                                                                                                                             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600"/>
              </a:spcBef>
              <a:spcAft>
                <a:spcPts val="0"/>
              </a:spcAft>
              <a:buSzPts val="1100"/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Worktrees let you check out multiple branches simultaneously                                                                                                                                        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  Each worktree is a separate directory with its own working tree + index                                                                                                                           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600"/>
              </a:spcBef>
              <a:spcAft>
                <a:spcPts val="0"/>
              </a:spcAft>
              <a:buSzPts val="1100"/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  They all share the same .git object store (no cloning)                                                                                                                                            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worktree add ../chat-app-hotfix hotfix/auth-bug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                                                                                                                                               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  Creates a new directory with that branch checked out                                                                                                                                              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457200" rtl="0" algn="l">
              <a:spcBef>
                <a:spcPts val="600"/>
              </a:spcBef>
              <a:spcAft>
                <a:spcPts val="0"/>
              </a:spcAft>
              <a:buSzPts val="1100"/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  You can cd there, build, test, commit - independently                                                                                                                               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worktree remove ../chat-app-hotfix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- clean up when done 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EDE9FE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29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400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The Reflog: Your Safety Net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98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p30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Git almost never deletes anything</a:t>
            </a:r>
            <a:endParaRPr/>
          </a:p>
        </p:txBody>
      </p:sp>
      <p:sp>
        <p:nvSpPr>
          <p:cNvPr id="400" name="Google Shape;400;p30"/>
          <p:cNvSpPr txBox="1"/>
          <p:nvPr/>
        </p:nvSpPr>
        <p:spPr>
          <a:xfrm>
            <a:off x="914400" y="1463040"/>
            <a:ext cx="10362900" cy="481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Even after rebase, the original commits still exist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Nothing points to them, but they're in the object store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Git garbage-collects unreachable objects after ~30 days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reflog records every time 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HEAD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moves: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Every commit, checkout, rebase, reset, merge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Local only (not shared via push/pull)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i="0" sz="2000" u="none" cap="none" strike="noStrik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you mess up a rebase or accidentally reset: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reflog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shows where HEAD was before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reset --hard &lt;old-hash&gt;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puts you back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(or </a:t>
            </a:r>
            <a:r>
              <a:rPr b="1" i="0" lang="en-US" sz="2000" u="none" cap="none" strike="noStrik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checkout -b recovery-branch &lt;old-hash&gt;</a:t>
            </a: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3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2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Reflog in action</a:t>
            </a:r>
            <a:endParaRPr/>
          </a:p>
        </p:txBody>
      </p:sp>
      <p:sp>
        <p:nvSpPr>
          <p:cNvPr id="407" name="Google Shape;407;p31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8" name="Google Shape;408;p31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reflog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f7a8b9c HEAD@{0}: rebase (finish): returning to refs/heads/feat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f7a8b9c HEAD@{1}: rebase (fixup): add search function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b2c3d4e HEAD@{2}: rebase (start): checkout HEAD~3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d4e5f6a HEAD@{3}: commit: fix typo in search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c3d4e5f HEAD@{4}: commit: WIP: search almost working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b2c3d4e HEAD@{5}: commit: add search function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Oh no, the rebase went wrong. I want my 3 commits back: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reset --hard d4e5f6a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HEAD is now at d4e5f6a fix typo in search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5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All 3 original commits are back!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log --oneline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d4e5f6a  fix typo in search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c3d4e5f  WIP: search almost working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b2c3d4e  add search function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32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TRY IT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Recover from a bad rebase</a:t>
            </a:r>
            <a:endParaRPr/>
          </a:p>
        </p:txBody>
      </p:sp>
      <p:sp>
        <p:nvSpPr>
          <p:cNvPr id="414" name="Google Shape;414;p32"/>
          <p:cNvSpPr/>
          <p:nvPr/>
        </p:nvSpPr>
        <p:spPr>
          <a:xfrm>
            <a:off x="640080" y="228600"/>
            <a:ext cx="1097280" cy="365760"/>
          </a:xfrm>
          <a:prstGeom prst="roundRect">
            <a:avLst>
              <a:gd fmla="val 16667" name="adj"/>
            </a:avLst>
          </a:prstGeom>
          <a:solidFill>
            <a:srgbClr val="5B21B6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32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32"/>
          <p:cNvSpPr txBox="1"/>
          <p:nvPr/>
        </p:nvSpPr>
        <p:spPr>
          <a:xfrm>
            <a:off x="1005840" y="1554480"/>
            <a:ext cx="10180015" cy="4663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 ran git rebase and something went wrong.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Your feature branch now has conflicts everywhere.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Step 1: Where were you before the rebase?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reflog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  HEAD@{0}: rebase (finish): ...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  HEAD@{1}: rebase (start): ...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  HEAD@{2}: commit: your last good commit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Step 2: Go back to the pre-rebase state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$ git reset --hard ________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800">
              <a:solidFill>
                <a:srgbClr val="B0B0C0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Step 3: Verify your commits are back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log --oneline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B0B0C0"/>
                </a:solidFill>
                <a:latin typeface="Courier New"/>
                <a:ea typeface="Courier New"/>
                <a:cs typeface="Courier New"/>
                <a:sym typeface="Courier New"/>
              </a:rPr>
              <a:t>________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33"/>
          <p:cNvSpPr txBox="1"/>
          <p:nvPr/>
        </p:nvSpPr>
        <p:spPr>
          <a:xfrm>
            <a:off x="731520" y="27432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ANSWER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Recover from a bad rebase</a:t>
            </a:r>
            <a:endParaRPr/>
          </a:p>
        </p:txBody>
      </p:sp>
      <p:sp>
        <p:nvSpPr>
          <p:cNvPr id="423" name="Google Shape;423;p33"/>
          <p:cNvSpPr/>
          <p:nvPr/>
        </p:nvSpPr>
        <p:spPr>
          <a:xfrm>
            <a:off x="640080" y="228600"/>
            <a:ext cx="1188720" cy="365760"/>
          </a:xfrm>
          <a:prstGeom prst="roundRect">
            <a:avLst>
              <a:gd fmla="val 16667" name="adj"/>
            </a:avLst>
          </a:prstGeom>
          <a:solidFill>
            <a:srgbClr val="166534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4" name="Google Shape;424;p33"/>
          <p:cNvSpPr/>
          <p:nvPr/>
        </p:nvSpPr>
        <p:spPr>
          <a:xfrm>
            <a:off x="731520" y="1371600"/>
            <a:ext cx="10728655" cy="5029200"/>
          </a:xfrm>
          <a:prstGeom prst="roundRect">
            <a:avLst>
              <a:gd fmla="val 16667" name="adj"/>
            </a:avLst>
          </a:prstGeom>
          <a:solidFill>
            <a:srgbClr val="F0F0F4"/>
          </a:solidFill>
          <a:ln cap="flat" cmpd="sng" w="12700">
            <a:solidFill>
              <a:srgbClr val="EEEE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33"/>
          <p:cNvSpPr txBox="1"/>
          <p:nvPr/>
        </p:nvSpPr>
        <p:spPr>
          <a:xfrm>
            <a:off x="1005840" y="1554480"/>
            <a:ext cx="10180015" cy="46634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 ran git rebase and something went wrong.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Step 1: Find the pre-rebase state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reflog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f7a8b9c  HEAD@{0}: rebase (finish): ...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a1b2c3d  HEAD@{1}: rebase (start): checkout main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d4e5f6a  HEAD@{2}: commit: your last good commit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Step 2: Reset to the commit BEFORE the rebase started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reset --hard HEAD@{2}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HEAD is now at d4e5f6a your last good commit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t/>
            </a:r>
            <a:endParaRPr b="1" sz="160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Step 3: Your original commits are restored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$ git log --oneline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d4e5f6a  your last good commit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c3d4e5f  previous commit</a:t>
            </a:r>
            <a:endParaRPr/>
          </a:p>
          <a:p>
            <a:pPr indent="0" lvl="0" marL="0" marR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b2c3d4e  even earlier commit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0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Google Shape;431;g3dd0f9ecee4_0_209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Commands worth knowing</a:t>
            </a:r>
            <a:endParaRPr/>
          </a:p>
        </p:txBody>
      </p:sp>
      <p:sp>
        <p:nvSpPr>
          <p:cNvPr id="432" name="Google Shape;432;g3dd0f9ecee4_0_209"/>
          <p:cNvSpPr txBox="1"/>
          <p:nvPr/>
        </p:nvSpPr>
        <p:spPr>
          <a:xfrm>
            <a:off x="914400" y="1463040"/>
            <a:ext cx="10362900" cy="3140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log --oneline --graph --all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(visualize the DAG)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rebase -i HEAD~N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(rewrite last N commits)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diff --staged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(what's staged right now)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stash / git stash pop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(shelve work temporarily)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blame &lt;file&gt;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(who wrote each line, and when)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bisect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(binary search for which commit broke something)</a:t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solidFill>
                <a:srgbClr val="333344"/>
              </a:solidFill>
              <a:latin typeface="Courier Prime"/>
              <a:ea typeface="Courier Prime"/>
              <a:cs typeface="Courier Prime"/>
              <a:sym typeface="Courier Prime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8" name="Google Shape;438;p3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Commands worth knowing</a:t>
            </a:r>
            <a:endParaRPr/>
          </a:p>
        </p:txBody>
      </p:sp>
      <p:sp>
        <p:nvSpPr>
          <p:cNvPr id="439" name="Google Shape;439;p34"/>
          <p:cNvSpPr txBox="1"/>
          <p:nvPr/>
        </p:nvSpPr>
        <p:spPr>
          <a:xfrm>
            <a:off x="914400" y="1463040"/>
            <a:ext cx="10362900" cy="40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log --oneline --graph --all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(visualize the DAG)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rebase -i HEAD~N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(rewrite last N commits)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diff --staged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(what's staged right now)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stash / git stash pop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(shelve work temporarily)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blame &lt;file&gt;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(who wrote each line, and when)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git bisect</a:t>
            </a: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 (binary search for which commit broke something)</a:t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333344"/>
                </a:solidFill>
                <a:latin typeface="Courier Prime"/>
                <a:ea typeface="Courier Prime"/>
                <a:cs typeface="Courier Prime"/>
                <a:sym typeface="Courier Prime"/>
              </a:rPr>
              <a:t>~/.gitconfig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(place to put commonly used git commands)</a:t>
            </a:r>
            <a:endParaRPr b="1" sz="2400">
              <a:solidFill>
                <a:srgbClr val="333344"/>
              </a:solidFill>
              <a:latin typeface="Courier Prime"/>
              <a:ea typeface="Courier Prime"/>
              <a:cs typeface="Courier Prime"/>
              <a:sym typeface="Courier Prime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44" name="Shape 4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5" name="Google Shape;445;p3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Wrapping up</a:t>
            </a:r>
            <a:endParaRPr/>
          </a:p>
        </p:txBody>
      </p:sp>
      <p:sp>
        <p:nvSpPr>
          <p:cNvPr id="446" name="Google Shape;446;p35"/>
          <p:cNvSpPr txBox="1"/>
          <p:nvPr/>
        </p:nvSpPr>
        <p:spPr>
          <a:xfrm>
            <a:off x="914400" y="1463040"/>
            <a:ext cx="10362895" cy="4937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Git is a content-addressed object store: blobs, trees, commits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Branches and tags are just pointers into the commit DAG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Merge preserves history; rebase rewrites it for clarity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Squash WIP commits before merging (our course workflow)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reflog means you can almost always recover from mistakes</a:t>
            </a:r>
            <a:endParaRPr/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t/>
            </a:r>
            <a:endParaRPr b="0"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When something confusing happens, ask: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"What does the DAG look like right now?"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"Where does HEAD point?"</a:t>
            </a:r>
            <a:endParaRPr/>
          </a:p>
          <a:p>
            <a:pPr indent="0" lvl="1" marL="457200" marR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"What did git reflog say?"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