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embeddedFontLst>
    <p:embeddedFont>
      <p:font typeface="Courier Prime" pitchFamily="49" charset="77"/>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G873I1mHQXYC9yfNlfqGmtUwO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40"/>
  </p:normalViewPr>
  <p:slideViewPr>
    <p:cSldViewPr snapToGrid="0">
      <p:cViewPr varScale="1">
        <p:scale>
          <a:sx n="121" d="100"/>
          <a:sy n="121" d="100"/>
        </p:scale>
        <p:origin x="736"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font" Target="fonts/font1.fntdata"/><Relationship Id="rId49" Type="http://schemas.openxmlformats.org/officeDocument/2006/relationships/font" Target="fonts/font2.fntdata"/><Relationship Id="rId50" Type="http://schemas.openxmlformats.org/officeDocument/2006/relationships/font" Target="fonts/font3.fntdata"/><Relationship Id="rId51" Type="http://schemas.openxmlformats.org/officeDocument/2006/relationships/font" Target="fonts/font4.fntdata"/><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a:r>
            <a:r>
              <a:rPr lang="en-US" dirty="0" err="1"/>
              <a:t/>
            </a:r>
            <a:r>
              <a:rPr lang="en-US" dirty="0"/>
              <a:t/>
            </a:r>
            <a:endParaRPr dirty="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Logistics section. Treat this half like a syllabus update - tight, informative, no real thesis to defend.</a:t>
            </a:r>
            <a:endParaRPr dirty="0"/>
          </a:p>
        </p:txBody>
      </p:sp>
      <p:sp>
        <p:nvSpPr>
          <p:cNvPr id="92" name="Google Shape;92;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Pair complementary skills</a:t>
            </a:r>
            <a:endParaRPr dirty="0"/>
          </a:p>
        </p:txBody>
      </p:sp>
      <p:sp>
        <p:nvSpPr>
          <p:cNvPr id="98" name="Google Shape;98;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Three week project, three real checkpoints. By 8.1 you've named yourselves and an idea. By 9.1 (halfway) the app exists at a public URL, even if it doesn't do much yet. By 10.2 it's done. The no-extensions rule exists because the deployed-URL nature of the project </a:t>
            </a:r>
            <a:r>
              <a:rPr lang="en-US" dirty="0" err="1"/>
              <a:t>kinda</a:t>
            </a:r>
            <a:r>
              <a:rPr lang="en-US" dirty="0"/>
              <a:t> makes extensions nonsensical...if it's not running, it's not running, and there's no partial-credit version of 'live on the internet.' The full milestone breakdown is in the assignment PDF.</a:t>
            </a:r>
            <a:endParaRPr dirty="0"/>
          </a:p>
        </p:txBody>
      </p:sp>
      <p:sp>
        <p:nvSpPr>
          <p:cNvPr id="105" name="Google Shape;105;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e9389fd93b_0_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g3e9389fd93b_0_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single biggest framing shift from past final projects: with agents, the CRUD-app-on-cloud part has gotten really cheap. So bronze got raised to include tests, CI, and one piece of code that requires actual design thinking. The point isn't to punish students with extra work, it's to push the project past 'thing the agent generated' into 'thing the team designed'. The PDF has the calibration anchor (</a:t>
            </a:r>
            <a:r>
              <a:rPr lang="en-US" dirty="0" err="1"/>
              <a:t>BookCircle</a:t>
            </a:r>
            <a:r>
              <a:rPr lang="en-US" dirty="0"/>
              <a:t>) so don't try to reproduce it on slides...point them there.</a:t>
            </a:r>
            <a:endParaRPr dirty="0"/>
          </a:p>
        </p:txBody>
      </p:sp>
      <p:sp>
        <p:nvSpPr>
          <p:cNvPr id="112" name="Google Shape;112;g3e9389fd93b_0_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single biggest framing shift from past final projects: with agents, the CRUD-app-on-cloud part has gotten really cheap. So bronze got raised to include tests, CI, and one piece of code that requires actual design thinking. The point isn't to punish students with extra work, it's to push the project past 'thing the agent generated' into 'thing the team designed'. The PDF has the calibration anchor (</a:t>
            </a:r>
            <a:r>
              <a:rPr lang="en-US" dirty="0" err="1"/>
              <a:t>BookCircle</a:t>
            </a:r>
            <a:r>
              <a:rPr lang="en-US" dirty="0"/>
              <a:t>) so don't try to reproduce it on slides...point them there.</a:t>
            </a:r>
            <a:endParaRPr dirty="0"/>
          </a:p>
        </p:txBody>
      </p:sp>
      <p:sp>
        <p:nvSpPr>
          <p:cNvPr id="119" name="Google Shape;119;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new top-line framing: silver is the target, not bronze. Students with agents will be tempted to either over-scope (go for gold on everything, finish nothing) or under-scope (ship bronze, call it done with two weeks left). Both are wrong. The right move is bronze deployed quickly, then iterate up through silver, then pick the most exciting gold moves. The PDF has the exact criteria and a worked example - point students at it rather than reading it.</a:t>
            </a:r>
            <a:endParaRPr dirty="0"/>
          </a:p>
        </p:txBody>
      </p:sp>
      <p:sp>
        <p:nvSpPr>
          <p:cNvPr id="126" name="Google Shape;126;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language layer is fixed because you've all been learning exactly this stack, and switching to Django or Vue in three weeks would just burn the time you need to actually build. Provider choice is flexible because the real lesson here is cloud deployment, not Railway specifically. Most teams will go with Railway + </a:t>
            </a:r>
            <a:r>
              <a:rPr lang="en-US" dirty="0" err="1"/>
              <a:t>Supabase</a:t>
            </a:r>
            <a:r>
              <a:rPr lang="en-US" dirty="0"/>
              <a:t> because that's what we walk through, but you don't have to.</a:t>
            </a:r>
            <a:endParaRPr dirty="0"/>
          </a:p>
        </p:txBody>
      </p:sp>
      <p:sp>
        <p:nvSpPr>
          <p:cNvPr id="133" name="Google Shape;133;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Deploy early and deploy often. This is the single piece of tactical advice that saves students from the most predictable final-project failure mode - realizing in week 3 that deploying is hard and they have nothing actually live. Get the empty pipeline up first, THEN put real code through it. The assignment formally requires deployment by 9.1 (halfway), but the smart move is much earlier.</a:t>
            </a:r>
            <a:endParaRPr dirty="0"/>
          </a:p>
        </p:txBody>
      </p:sp>
      <p:sp>
        <p:nvSpPr>
          <p:cNvPr id="140" name="Google Shape;140;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Now the conceptual half. Design decisions first, mechanics at the end, not the other way around.</a:t>
            </a:r>
            <a:endParaRPr dirty="0"/>
          </a:p>
        </p:txBody>
      </p:sp>
      <p:sp>
        <p:nvSpPr>
          <p:cNvPr id="147" name="Google Shape;14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Start at the definitional level on purpose. Students have been saying the word 'deploy' all semester without really thinking about what actually changes when you do it. Making those three requirements concrete is </a:t>
            </a:r>
            <a:r>
              <a:rPr lang="en-US" dirty="0" err="1"/>
              <a:t>kinda</a:t>
            </a:r>
            <a:r>
              <a:rPr lang="en-US" dirty="0"/>
              <a:t> the grounding for everything in the rest of the lecture - every tool we introduce exists to hit one of those three bullets.</a:t>
            </a:r>
            <a:endParaRPr dirty="0"/>
          </a:p>
        </p:txBody>
      </p:sp>
      <p:sp>
        <p:nvSpPr>
          <p:cNvPr id="153" name="Google Shape;153;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 name="Google Shape;159;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Twenty years ago, getting an always-on computer on the internet</a:t>
            </a:r>
            <a:endParaRPr dirty="0"/>
          </a:p>
          <a:p>
            <a:pPr marL="0" lvl="0" indent="0" algn="l" rtl="0">
              <a:spcBef>
                <a:spcPts val="0"/>
              </a:spcBef>
              <a:spcAft>
                <a:spcPts val="0"/>
              </a:spcAft>
              <a:buNone/>
            </a:pPr>
            <a:r>
              <a:rPr lang="en-US" dirty="0"/>
              <a:t>  meant buying a physical server, racking it in a data center,</a:t>
            </a:r>
            <a:endParaRPr dirty="0"/>
          </a:p>
          <a:p>
            <a:pPr marL="0" lvl="0" indent="0" algn="l" rtl="0">
              <a:spcBef>
                <a:spcPts val="0"/>
              </a:spcBef>
              <a:spcAft>
                <a:spcPts val="0"/>
              </a:spcAft>
              <a:buNone/>
            </a:pPr>
            <a:r>
              <a:rPr lang="en-US" dirty="0"/>
              <a:t>  paying for power and bandwidth, and hoping nothing burned out.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2006 - Amazon had idle server capacity between holiday shopping spikes. From that, AWS was born.</a:t>
            </a:r>
            <a:endParaRPr dirty="0"/>
          </a:p>
        </p:txBody>
      </p:sp>
      <p:sp>
        <p:nvSpPr>
          <p:cNvPr id="160" name="Google Shape;160;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'three things' framing is really the foundation for the deployment-tiers slide coming up next. Every cloud product you've ever heard of is basically a different bundling of compute plus storage plus networking at different levels of convenience...which is why asking 'which cloud' is almost always the wrong first question.</a:t>
            </a:r>
            <a:endParaRPr dirty="0"/>
          </a:p>
        </p:txBody>
      </p:sp>
      <p:sp>
        <p:nvSpPr>
          <p:cNvPr id="167" name="Google Shape;167;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e9389fd93b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 name="Google Shape;173;g3e9389fd93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ladder. Start at the top whenever you can...only drop down a rung when the higher tier can't give you something you actually need. For a class project, tier 2 is really always the right answer, and the next slide hammers on that explicitly.</a:t>
            </a:r>
            <a:endParaRPr dirty="0"/>
          </a:p>
        </p:txBody>
      </p:sp>
      <p:sp>
        <p:nvSpPr>
          <p:cNvPr id="174" name="Google Shape;174;g3e9389fd93b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e9389fd93b_0_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g3e9389fd93b_0_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ladder. Start at the top whenever you can...only drop down a rung when the higher tier can't give you something you actually need. For a class project, tier 2 is really always the right answer, and the next slide hammers on that explicitly.</a:t>
            </a:r>
            <a:endParaRPr dirty="0"/>
          </a:p>
        </p:txBody>
      </p:sp>
      <p:sp>
        <p:nvSpPr>
          <p:cNvPr id="181" name="Google Shape;181;g3e9389fd93b_0_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e9389fd93b_0_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g3e9389fd93b_0_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ladder. Start at the top whenever you can...only drop down a rung when the higher tier can't give you something you actually need. For a class project, tier 2 is really always the right answer, and the next slide hammers on that explicitly.</a:t>
            </a:r>
            <a:endParaRPr dirty="0"/>
          </a:p>
        </p:txBody>
      </p:sp>
      <p:sp>
        <p:nvSpPr>
          <p:cNvPr id="188" name="Google Shape;188;g3e9389fd93b_0_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ladder. Start at the top whenever you can...only drop down a rung when the higher tier can't give you something you actually need. For a class project, tier 2 is really always the right answer, and the next slide hammers on that explicitly.</a:t>
            </a:r>
            <a:endParaRPr dirty="0"/>
          </a:p>
        </p:txBody>
      </p:sp>
      <p:sp>
        <p:nvSpPr>
          <p:cNvPr id="195" name="Google Shape;195;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Pure elicitation slide. Have the class shout out everything they'd need to do. Write them on the whiteboard. You want them to land on at least: install Python + Node + Postgres, get a domain name, configure DNS to point to the box, get an SSL/TLS certificate (and renew it), open the firewall on the right port, set up a reverse proxy (nginx) to route traffic, run the app as a daemon (</a:t>
            </a:r>
            <a:r>
              <a:rPr lang="en-US" dirty="0" err="1"/>
              <a:t>systemd</a:t>
            </a:r>
            <a:r>
              <a:rPr lang="en-US" dirty="0"/>
              <a:t>) so it restarts on crash, set up logging so you can debug, patch the OS for security, back up the database, monitor for downtime. The list goes on. The point: when you've got the whiteboard full, reveal that this is exactly what a PaaS does for you by default. Tee up the next slide.</a:t>
            </a:r>
            <a:endParaRPr dirty="0"/>
          </a:p>
        </p:txBody>
      </p:sp>
      <p:sp>
        <p:nvSpPr>
          <p:cNvPr id="202" name="Google Shape;202;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 name="Google Shape;208;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Students sometimes feel like using a PaaS is 'not real deployment'...</a:t>
            </a:r>
            <a:r>
              <a:rPr lang="en-US" dirty="0" err="1"/>
              <a:t>kinda</a:t>
            </a:r>
            <a:r>
              <a:rPr lang="en-US" dirty="0"/>
              <a:t> like they're supposed to be </a:t>
            </a:r>
            <a:r>
              <a:rPr lang="en-US" dirty="0" err="1"/>
              <a:t>SSHing</a:t>
            </a:r>
            <a:r>
              <a:rPr lang="en-US" dirty="0"/>
              <a:t> into a Linux box to do it properly. The opposite is really true. It IS real deployment, and it's what most small teams and startups actually use in production. Dispel the notion out loud.</a:t>
            </a:r>
            <a:endParaRPr dirty="0"/>
          </a:p>
        </p:txBody>
      </p:sp>
      <p:sp>
        <p:nvSpPr>
          <p:cNvPr id="209" name="Google Shape;209;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Keep this slide concrete - three services, one sentence each. The unified picture really matters more than any individual feature on any one of them. Students will remember 'GitHub, Railway, </a:t>
            </a:r>
            <a:r>
              <a:rPr lang="en-US" dirty="0" err="1"/>
              <a:t>Supabase</a:t>
            </a:r>
            <a:r>
              <a:rPr lang="en-US" dirty="0"/>
              <a:t>' as the mental model even if they forget details of what each one does.</a:t>
            </a:r>
            <a:endParaRPr dirty="0"/>
          </a:p>
        </p:txBody>
      </p:sp>
      <p:sp>
        <p:nvSpPr>
          <p:cNvPr id="216" name="Google Shape;216;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e9389fd93b_0_4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g3e9389fd93b_0_4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Big reveal slide after the elicitation. The students just generated this list themselves on the whiteboard; now you're naming each item and saying 'Railway does this for you.' The 'clouds all the way down' aside is worth dropping - Railway is itself running on AWS EC2 + GCP, and </a:t>
            </a:r>
            <a:r>
              <a:rPr lang="en-US" dirty="0" err="1"/>
              <a:t>Supabase</a:t>
            </a:r>
            <a:r>
              <a:rPr lang="en-US" dirty="0"/>
              <a:t> is running their Postgres instances on AWS too. The whole PaaS industry is a layer of convenience over IaaS. Sign students up for GHSP today if they haven't.</a:t>
            </a:r>
            <a:endParaRPr dirty="0"/>
          </a:p>
        </p:txBody>
      </p:sp>
      <p:sp>
        <p:nvSpPr>
          <p:cNvPr id="223" name="Google Shape;223;g3e9389fd93b_0_4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Big reveal slide after the elicitation. The students just generated this list themselves on the whiteboard; now you're naming each item and saying 'Railway does this for you.' The 'clouds all the way down' aside is worth dropping - Railway is itself running on AWS EC2 + GCP, and </a:t>
            </a:r>
            <a:r>
              <a:rPr lang="en-US" dirty="0" err="1"/>
              <a:t>Supabase</a:t>
            </a:r>
            <a:r>
              <a:rPr lang="en-US" dirty="0"/>
              <a:t> is running their Postgres instances on AWS too. The whole PaaS industry is a layer of convenience over IaaS. Sign students up for GHSP today if they haven't.</a:t>
            </a:r>
            <a:endParaRPr dirty="0"/>
          </a:p>
        </p:txBody>
      </p:sp>
      <p:sp>
        <p:nvSpPr>
          <p:cNvPr id="230" name="Google Shape;230;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Peel-back-the-curtain moment. Most students will assume </a:t>
            </a:r>
            <a:r>
              <a:rPr lang="en-US" dirty="0" err="1"/>
              <a:t>Supabase</a:t>
            </a:r>
            <a:r>
              <a:rPr lang="en-US" dirty="0"/>
              <a:t> is one magical thing; showing them it's a stack of specific open-source services demystifies it. Worth asking: 'which two of these will every project use?' Answer: Postgres + </a:t>
            </a:r>
            <a:r>
              <a:rPr lang="en-US" dirty="0" err="1"/>
              <a:t>GoTrue</a:t>
            </a:r>
            <a:r>
              <a:rPr lang="en-US" dirty="0"/>
              <a:t> (auth). The fact that the Postgres is JUST Postgres is liberating - if </a:t>
            </a:r>
            <a:r>
              <a:rPr lang="en-US" dirty="0" err="1"/>
              <a:t>Supabase</a:t>
            </a:r>
            <a:r>
              <a:rPr lang="en-US" dirty="0"/>
              <a:t> gets weird, you can move to another provider without rewriting your data layer. The </a:t>
            </a:r>
            <a:r>
              <a:rPr lang="en-US" dirty="0" err="1"/>
              <a:t>realtime</a:t>
            </a:r>
            <a:r>
              <a:rPr lang="en-US" dirty="0"/>
              <a:t> service is the easy path if a team picks the gold real-time-updates option; mention this.</a:t>
            </a:r>
            <a:endParaRPr dirty="0"/>
          </a:p>
        </p:txBody>
      </p:sp>
      <p:sp>
        <p:nvSpPr>
          <p:cNvPr id="237" name="Google Shape;237;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JWT flow is THE thing students need to internalize for the project, because every protected endpoint they write is going to use this pattern. Walk through it slowly. The intuition: the JWT is a tamper-proof envelope that says 'this is user X' - tamper-proof because </a:t>
            </a:r>
            <a:r>
              <a:rPr lang="en-US" dirty="0" err="1"/>
              <a:t>Supabase</a:t>
            </a:r>
            <a:r>
              <a:rPr lang="en-US" dirty="0"/>
              <a:t> signed it, and you trust the signature because you have the secret. Worth asking: 'why can't the frontend just send the user ID directly in a header?' Answer: because anyone could just send any user ID. The signature is what makes the claim trustworthy. Next slide shows what verification actually looks like in code.</a:t>
            </a:r>
            <a:endParaRPr dirty="0"/>
          </a:p>
        </p:txBody>
      </p:sp>
      <p:sp>
        <p:nvSpPr>
          <p:cNvPr id="244" name="Google Shape;244;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e9389fd93b_0_13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g3e9389fd93b_0_1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Elicitation slide, same shape as the bare-Linux-box one earlier. Have the class shout out where they'd put the connection string and press them on the failure modes for each option. The bad answers and what's wrong with them: (1) Hardcoded in </a:t>
            </a:r>
            <a:r>
              <a:rPr lang="en-US" dirty="0" err="1"/>
              <a:t>app.py</a:t>
            </a:r>
            <a:r>
              <a:rPr lang="en-US" dirty="0"/>
              <a:t> - as soon as you push, the password is on GitHub. If the repo is public it's basically already leaked; even if private, anyone with read access has it forever, and rotating means a history rewrite plus everyone re-cloning. (2) Same problem in any committed config file. (3) A settings file the app reads at startup is closer, but ONLY if that file isn't in the repo - which is essentially the env var pattern in disguise. The point you want them to land on: we need the value to be readable to the code at runtime, but kept out of the repo, AND we need to be able to use a DIFFERENT value on the laptop than on Railway without changing the code. That two-part requirement is what env vars solve. Tee up the next slide once they're stuck. Also worth surfacing the second motivation explicitly - even if a value isn't a secret (say, a dev/prod feature flag), you can't ship code that hardcodes 'localhost' to a server that doesn't have the DB on localhost.</a:t>
            </a:r>
            <a:endParaRPr dirty="0"/>
          </a:p>
        </p:txBody>
      </p:sp>
      <p:sp>
        <p:nvSpPr>
          <p:cNvPr id="251" name="Google Shape;251;g3e9389fd93b_0_13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e9389fd93b_0_5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7" name="Google Shape;257;g3e9389fd93b_0_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Elicitation slide, same shape as the bare-Linux-box one earlier. Have the class shout out where they'd put the connection string and press them on the failure modes for each option. The bad answers and what's wrong with them: (1) Hardcoded in </a:t>
            </a:r>
            <a:r>
              <a:rPr lang="en-US" dirty="0" err="1"/>
              <a:t>app.py</a:t>
            </a:r>
            <a:r>
              <a:rPr lang="en-US" dirty="0"/>
              <a:t> - as soon as you push, the password is on GitHub. If the repo is public it's basically already leaked; even if private, anyone with read access has it forever, and rotating means a history rewrite plus everyone re-cloning. (2) Same problem in any committed config file. (3) A settings file the app reads at startup is closer, but ONLY if that file isn't in the repo - which is essentially the env var pattern in disguise. The point you want them to land on: we need the value to be readable to the code at runtime, but kept out of the repo, AND we need to be able to use a DIFFERENT value on the laptop than on Railway without changing the code. That two-part requirement is what env vars solve. Tee up the next slide once they're stuck. Also worth surfacing the second motivation explicitly - even if a value isn't a secret (say, a dev/prod feature flag), you can't ship code that hardcodes 'localhost' to a server that doesn't have the DB on localhost.</a:t>
            </a:r>
            <a:endParaRPr dirty="0"/>
          </a:p>
        </p:txBody>
      </p:sp>
      <p:sp>
        <p:nvSpPr>
          <p:cNvPr id="258" name="Google Shape;258;g3e9389fd93b_0_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e9389fd93b_0_15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g3e9389fd93b_0_15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whole thing fits in about 20 lines. The key pieces: (1) </a:t>
            </a:r>
            <a:r>
              <a:rPr lang="en-US" dirty="0" err="1"/>
              <a:t>jwt.decode</a:t>
            </a:r>
            <a:r>
              <a:rPr lang="en-US" dirty="0"/>
              <a:t> verifies the signature AND raises on expiration - if it returns, the token is valid. (2) the audience='authenticated' bit is </a:t>
            </a:r>
            <a:r>
              <a:rPr lang="en-US" dirty="0" err="1"/>
              <a:t>Supabase</a:t>
            </a:r>
            <a:r>
              <a:rPr lang="en-US" dirty="0"/>
              <a:t>-specific; </a:t>
            </a:r>
            <a:r>
              <a:rPr lang="en-US" dirty="0" err="1"/>
              <a:t>Supabase</a:t>
            </a:r>
            <a:r>
              <a:rPr lang="en-US" dirty="0"/>
              <a:t> issues tokens with that audience for logged-in users. (3) Depends() in </a:t>
            </a:r>
            <a:r>
              <a:rPr lang="en-US" dirty="0" err="1"/>
              <a:t>FastAPI</a:t>
            </a:r>
            <a:r>
              <a:rPr lang="en-US" dirty="0"/>
              <a:t> is how you reuse this on every protected endpoint - one function, applied via Depends, gives you the user ID in any handler. Worth noting: the SUPABASE_JWT_SECRET is the same kind of secret-in-env-var pattern from the slide that follows on env vars.</a:t>
            </a:r>
            <a:endParaRPr dirty="0"/>
          </a:p>
        </p:txBody>
      </p:sp>
      <p:sp>
        <p:nvSpPr>
          <p:cNvPr id="265" name="Google Shape;265;g3e9389fd93b_0_15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e9389fd93b_0_14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g3e9389fd93b_0_1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whole thing fits in about 20 lines. The key pieces: (1) </a:t>
            </a:r>
            <a:r>
              <a:rPr lang="en-US" dirty="0" err="1"/>
              <a:t>jwt.decode</a:t>
            </a:r>
            <a:r>
              <a:rPr lang="en-US" dirty="0"/>
              <a:t> verifies the signature AND raises on expiration - if it returns, the token is valid. (2) the audience='authenticated' bit is </a:t>
            </a:r>
            <a:r>
              <a:rPr lang="en-US" dirty="0" err="1"/>
              <a:t>Supabase</a:t>
            </a:r>
            <a:r>
              <a:rPr lang="en-US" dirty="0"/>
              <a:t>-specific; </a:t>
            </a:r>
            <a:r>
              <a:rPr lang="en-US" dirty="0" err="1"/>
              <a:t>Supabase</a:t>
            </a:r>
            <a:r>
              <a:rPr lang="en-US" dirty="0"/>
              <a:t> issues tokens with that audience for logged-in users. (3) Depends() in </a:t>
            </a:r>
            <a:r>
              <a:rPr lang="en-US" dirty="0" err="1"/>
              <a:t>FastAPI</a:t>
            </a:r>
            <a:r>
              <a:rPr lang="en-US" dirty="0"/>
              <a:t> is how you reuse this on every protected endpoint - one function, applied via Depends, gives you the user ID in any handler. Worth noting: the SUPABASE_JWT_SECRET is the same kind of secret-in-env-var pattern from the slide that follows on env vars.</a:t>
            </a:r>
            <a:endParaRPr dirty="0"/>
          </a:p>
        </p:txBody>
      </p:sp>
      <p:sp>
        <p:nvSpPr>
          <p:cNvPr id="274" name="Google Shape;274;g3e9389fd93b_0_14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whole thing fits in about 20 lines. The key pieces: (1) </a:t>
            </a:r>
            <a:r>
              <a:rPr lang="en-US" dirty="0" err="1"/>
              <a:t>jwt.decode</a:t>
            </a:r>
            <a:r>
              <a:rPr lang="en-US" dirty="0"/>
              <a:t> verifies the signature AND raises on expiration - if it returns, the token is valid. (2) the audience='authenticated' bit is </a:t>
            </a:r>
            <a:r>
              <a:rPr lang="en-US" dirty="0" err="1"/>
              <a:t>Supabase</a:t>
            </a:r>
            <a:r>
              <a:rPr lang="en-US" dirty="0"/>
              <a:t>-specific; </a:t>
            </a:r>
            <a:r>
              <a:rPr lang="en-US" dirty="0" err="1"/>
              <a:t>Supabase</a:t>
            </a:r>
            <a:r>
              <a:rPr lang="en-US" dirty="0"/>
              <a:t> issues tokens with that audience for logged-in users. (3) Depends() in </a:t>
            </a:r>
            <a:r>
              <a:rPr lang="en-US" dirty="0" err="1"/>
              <a:t>FastAPI</a:t>
            </a:r>
            <a:r>
              <a:rPr lang="en-US" dirty="0"/>
              <a:t> is how you reuse this on every protected endpoint - one function, applied via Depends, gives you the user ID in any handler. Worth noting: the SUPABASE_JWT_SECRET is the same kind of secret-in-env-var pattern from the slide that follows on env vars.</a:t>
            </a:r>
            <a:endParaRPr dirty="0"/>
          </a:p>
        </p:txBody>
      </p:sp>
      <p:sp>
        <p:nvSpPr>
          <p:cNvPr id="283" name="Google Shape;283;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most important slide in the lecture. Skip it and nothing else in the deployment half makes sense - and CORS really lives or dies right here.</a:t>
            </a:r>
            <a:endParaRPr dirty="0"/>
          </a:p>
        </p:txBody>
      </p:sp>
      <p:sp>
        <p:nvSpPr>
          <p:cNvPr id="292" name="Google Shape;292;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CORS = Cross-Origin Resource Sharing. This is the slide</a:t>
            </a:r>
            <a:br>
              <a:rPr lang="en-US" dirty="0"/>
            </a:br>
            <a:r>
              <a:rPr lang="en-US" dirty="0"/>
              <a:t> that really makes deployment tractable for students. The frontend-as-static-files-served-by-the-backend architecture collapses two services into one, and the free lunch is that CORS becomes a total non-issue. Do NOT get into CORS on this slide. The whole point is that you avoided it...if a student asks what CORS is, tell them it's a problem they don't have.</a:t>
            </a:r>
            <a:endParaRPr dirty="0"/>
          </a:p>
        </p:txBody>
      </p:sp>
      <p:sp>
        <p:nvSpPr>
          <p:cNvPr id="298" name="Google Shape;298;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e9389fd93b_0_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g3e9389fd93b_0_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Define your API routes first so they match before the static mount, then mount the built frontend at /. The html=True flag makes it return </a:t>
            </a:r>
            <a:r>
              <a:rPr lang="en-US" dirty="0" err="1"/>
              <a:t>index.html</a:t>
            </a:r>
            <a:r>
              <a:rPr lang="en-US" dirty="0"/>
              <a:t> for paths that don't match an actual file on disk, which is what you need for client-side routing to work.</a:t>
            </a:r>
            <a:endParaRPr dirty="0"/>
          </a:p>
        </p:txBody>
      </p:sp>
      <p:sp>
        <p:nvSpPr>
          <p:cNvPr id="305" name="Google Shape;305;g3e9389fd93b_0_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3" name="Google Shape;3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Define your API routes first so they match before the static mount, then mount the built frontend at /. The html=True flag makes it return </a:t>
            </a:r>
            <a:r>
              <a:rPr lang="en-US" dirty="0" err="1"/>
              <a:t>index.html</a:t>
            </a:r>
            <a:r>
              <a:rPr lang="en-US" dirty="0"/>
              <a:t> for paths that don't match an actual file on disk, which is what you need for client-side routing to work.</a:t>
            </a:r>
            <a:endParaRPr dirty="0"/>
          </a:p>
        </p:txBody>
      </p:sp>
      <p:sp>
        <p:nvSpPr>
          <p:cNvPr id="314" name="Google Shape;3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2" name="Google Shape;322;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build sequence matters because the order is non-obvious. The frontend has to be built BEFORE the server starts, otherwise the </a:t>
            </a:r>
            <a:r>
              <a:rPr lang="en-US" dirty="0" err="1"/>
              <a:t>dist</a:t>
            </a:r>
            <a:r>
              <a:rPr lang="en-US" dirty="0"/>
              <a:t>/ folder just doesn't exist yet when </a:t>
            </a:r>
            <a:r>
              <a:rPr lang="en-US" dirty="0" err="1"/>
              <a:t>FastAPI</a:t>
            </a:r>
            <a:r>
              <a:rPr lang="en-US" dirty="0"/>
              <a:t> tries to mount it...which is a really confusing failure mode if you haven't seen it before. Walk through it slowly.</a:t>
            </a:r>
            <a:endParaRPr dirty="0"/>
          </a:p>
        </p:txBody>
      </p:sp>
      <p:sp>
        <p:nvSpPr>
          <p:cNvPr id="323" name="Google Shape;323;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9" name="Google Shape;329;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12-factor-app idea of environment variables is really the foundation of every real deployment you'll ever do. Students will inevitably try to commit .env files on their first attempt - push your coding agent to add .env to .</a:t>
            </a:r>
            <a:r>
              <a:rPr lang="en-US" dirty="0" err="1"/>
              <a:t>gitignore</a:t>
            </a:r>
            <a:r>
              <a:rPr lang="en-US" dirty="0"/>
              <a:t> at the start, not the end. Make sure they know it's a GRADED rule, not just a style thing.</a:t>
            </a:r>
            <a:endParaRPr dirty="0"/>
          </a:p>
        </p:txBody>
      </p:sp>
      <p:sp>
        <p:nvSpPr>
          <p:cNvPr id="330" name="Google Shape;330;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e9389fd93b_0_16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g3e9389fd93b_0_1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337" name="Google Shape;337;g3e9389fd93b_0_16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e9389fd93b_0_15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5" name="Google Shape;345;g3e9389fd93b_0_15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346" name="Google Shape;346;g3e9389fd93b_0_15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.env is local-only. python-</a:t>
            </a:r>
            <a:r>
              <a:rPr lang="en-US" dirty="0" err="1"/>
              <a:t>dotenv</a:t>
            </a:r>
            <a:r>
              <a:rPr lang="en-US" dirty="0"/>
              <a:t> loads it at startup if the file is present, otherwise does nothing...which is really the nice property that makes the same code work in dev and in prod. In production, Railway injects the vars directly, so .env isn't needed on the server. .</a:t>
            </a:r>
            <a:r>
              <a:rPr lang="en-US" dirty="0" err="1"/>
              <a:t>gitignore</a:t>
            </a:r>
            <a:r>
              <a:rPr lang="en-US" dirty="0"/>
              <a:t> keeps the secret file out of the repo.</a:t>
            </a:r>
            <a:endParaRPr dirty="0"/>
          </a:p>
        </p:txBody>
      </p:sp>
      <p:sp>
        <p:nvSpPr>
          <p:cNvPr id="355" name="Google Shape;355;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the bridge slide. Students have been running </a:t>
            </a:r>
            <a:r>
              <a:rPr lang="en-US" dirty="0" err="1"/>
              <a:t>uvicorn</a:t>
            </a:r>
            <a:r>
              <a:rPr lang="en-US" dirty="0"/>
              <a:t> locally all semester and it's been fine because there's just one environment. The minute they have a second environment (Railway), the question of 'what changes between them and what doesn't' starts to matter. The 12-factor-app idea is the right framework - keep code identical, push environment-specific stuff into env vars. Most of the time they'll do this without thinking; the two places where it gets concrete and confusing are the database (do I need a local Postgres?) and migrations (how does my schema change get to prod?), which is why those each get their own slide.</a:t>
            </a:r>
            <a:endParaRPr dirty="0"/>
          </a:p>
        </p:txBody>
      </p:sp>
      <p:sp>
        <p:nvSpPr>
          <p:cNvPr id="364" name="Google Shape;364;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actually-important rule is C is forbidden. A and B are both reasonable trade-offs and students will pick based on whether they prefer Docker on their laptop or sub-second responses to localhost. A is closer to 'real' engineering practice; B is closer to 'I don't want to install anything else, ever.' For most teams I'd </a:t>
            </a:r>
            <a:r>
              <a:rPr lang="en-US" dirty="0" err="1"/>
              <a:t>kinda</a:t>
            </a:r>
            <a:r>
              <a:rPr lang="en-US" dirty="0"/>
              <a:t> lean B because Docker for Mac is its own little headache for some students. Worth explicitly calling out that some teams will be tempted to use the prod DB for 'just one quick test' and that's how data gets nuked - this happens at real companies too, it's not a student-only failure mode.</a:t>
            </a:r>
            <a:endParaRPr dirty="0"/>
          </a:p>
        </p:txBody>
      </p:sp>
      <p:sp>
        <p:nvSpPr>
          <p:cNvPr id="371" name="Google Shape;371;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Migrations are one of the things teams will hit on the morning of the demo if they don't think about it - they'll add a column locally, push to main, and discover the live app is throwing 500s because the prod table doesn't have that column. Alembic is the 'right' answer for a Python/</a:t>
            </a:r>
            <a:r>
              <a:rPr lang="en-US" dirty="0" err="1"/>
              <a:t>SQLAlchemy</a:t>
            </a:r>
            <a:r>
              <a:rPr lang="en-US" dirty="0"/>
              <a:t> stack and worth pointing students at even if they end up just using a </a:t>
            </a:r>
            <a:r>
              <a:rPr lang="en-US" dirty="0" err="1"/>
              <a:t>schema.sql</a:t>
            </a:r>
            <a:r>
              <a:rPr lang="en-US" dirty="0"/>
              <a:t> for simplicity. The deeper rule is the one in the last bullet - everything that changes the database lives in the repo, in code review, in CD. The thing to fear is the one teammate who logged into the </a:t>
            </a:r>
            <a:r>
              <a:rPr lang="en-US" dirty="0" err="1"/>
              <a:t>Supabase</a:t>
            </a:r>
            <a:r>
              <a:rPr lang="en-US" dirty="0"/>
              <a:t> SQL editor at 11pm before the demo to 'fix something' and now nobody can reproduce the schema. If a team picks the </a:t>
            </a:r>
            <a:r>
              <a:rPr lang="en-US" dirty="0" err="1"/>
              <a:t>schema.sql</a:t>
            </a:r>
            <a:r>
              <a:rPr lang="en-US" dirty="0"/>
              <a:t> route, push them toward `IF NOT EXISTS` and additive-only changes so it stays idempotent.</a:t>
            </a:r>
            <a:endParaRPr dirty="0"/>
          </a:p>
        </p:txBody>
      </p:sp>
      <p:sp>
        <p:nvSpPr>
          <p:cNvPr id="378" name="Google Shape;378;p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e9389fd93b_0_17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g3e9389fd93b_0_1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Migrations are one of the things teams will hit on the morning of the demo if they don't think about it - they'll add a column locally, push to main, and discover the live app is throwing 500s because the prod table doesn't have that column. Alembic is the 'right' answer for a Python/</a:t>
            </a:r>
            <a:r>
              <a:rPr lang="en-US" dirty="0" err="1"/>
              <a:t>SQLAlchemy</a:t>
            </a:r>
            <a:r>
              <a:rPr lang="en-US" dirty="0"/>
              <a:t> stack and worth pointing students at even if they end up just using a </a:t>
            </a:r>
            <a:r>
              <a:rPr lang="en-US" dirty="0" err="1"/>
              <a:t>schema.sql</a:t>
            </a:r>
            <a:r>
              <a:rPr lang="en-US" dirty="0"/>
              <a:t> for simplicity. The deeper rule is the one in the last bullet - everything that changes the database lives in the repo, in code review, in CD. The thing to fear is the one teammate who logged into the </a:t>
            </a:r>
            <a:r>
              <a:rPr lang="en-US" dirty="0" err="1"/>
              <a:t>Supabase</a:t>
            </a:r>
            <a:r>
              <a:rPr lang="en-US" dirty="0"/>
              <a:t> SQL editor at 11pm before the demo to 'fix something' and now nobody can reproduce the schema. If a team picks the </a:t>
            </a:r>
            <a:r>
              <a:rPr lang="en-US" dirty="0" err="1"/>
              <a:t>schema.sql</a:t>
            </a:r>
            <a:r>
              <a:rPr lang="en-US" dirty="0"/>
              <a:t> route, push them toward `IF NOT EXISTS` and additive-only changes so it stays idempotent.</a:t>
            </a:r>
            <a:endParaRPr dirty="0"/>
          </a:p>
        </p:txBody>
      </p:sp>
      <p:sp>
        <p:nvSpPr>
          <p:cNvPr id="385" name="Google Shape;385;g3e9389fd93b_0_1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e9389fd93b_0_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1" name="Google Shape;391;g3e9389fd93b_0_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daily loop is really almost trivially simple once it's set up the first time. The 'read the logs' advice is probably the single most important debugging habit students can pick up this semester. Most deploy problems are super visible in the logs and totally invisible anywhere else...and yet every student's first instinct is to refresh the browser a lot instead of opening the log view. Push them toward the logs.</a:t>
            </a:r>
            <a:endParaRPr dirty="0"/>
          </a:p>
        </p:txBody>
      </p:sp>
      <p:sp>
        <p:nvSpPr>
          <p:cNvPr id="392" name="Google Shape;392;g3e9389fd93b_0_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daily loop is really almost trivially simple once it's set up the first time. The 'read the logs' advice is probably the single most important debugging habit students can pick up this semester. Most deploy problems are super visible in the logs and totally invisible anywhere else...and yet every student's first instinct is to refresh the browser a lot instead of opening the log view. Push them toward the logs.</a:t>
            </a:r>
            <a:endParaRPr dirty="0"/>
          </a:p>
        </p:txBody>
      </p:sp>
      <p:sp>
        <p:nvSpPr>
          <p:cNvPr id="399" name="Google Shape;39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5" name="Google Shape;405;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Double recap because the lecture has two halves that don't obviously connect on first listen. The forward references to Docker (8.1) and CI/CD (8.2) both build directly on today's deployment model. Close on the reminder that teams and ideas need to be locked by 8.1, because otherwise this week is lost.</a:t>
            </a:r>
            <a:endParaRPr dirty="0"/>
          </a:p>
        </p:txBody>
      </p:sp>
      <p:sp>
        <p:nvSpPr>
          <p:cNvPr id="406" name="Google Shape;406;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2"/>
          <p:cNvSpPr>
            <a:spLocks noGrp="1"/>
          </p:cNvSpPr>
          <p:nvPr>
            <p:ph type="pic" idx="2"/>
          </p:nvPr>
        </p:nvSpPr>
        <p:spPr>
          <a:xfrm>
            <a:off x="1792288" y="612775"/>
            <a:ext cx="5486400" cy="4114800"/>
          </a:xfrm>
          <a:prstGeom prst="rect">
            <a:avLst/>
          </a:prstGeom>
          <a:noFill/>
          <a:ln>
            <a:noFill/>
          </a:ln>
        </p:spPr>
      </p:sp>
      <p:sp>
        <p:nvSpPr>
          <p:cNvPr id="64" name="Google Shape;64;p4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7.2</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Final Project and Cloud Deployment</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93"/>
        <p:cNvGrpSpPr/>
        <p:nvPr/>
      </p:nvGrpSpPr>
      <p:grpSpPr>
        <a:xfrm>
          <a:off x="0" y="0"/>
          <a:ext cx="0" cy="0"/>
          <a:chOff x="0" y="0"/>
          <a:chExt cx="0" cy="0"/>
        </a:xfrm>
      </p:grpSpPr>
      <p:sp>
        <p:nvSpPr>
          <p:cNvPr id="94" name="Google Shape;94;p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The Final Project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sp>
        <p:nvSpPr>
          <p:cNvPr id="100" name="Google Shape;100;p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Welcome to the back half of the semester</a:t>
            </a:r>
            <a:endParaRPr/>
          </a:p>
        </p:txBody>
      </p:sp>
      <p:sp>
        <p:nvSpPr>
          <p:cNvPr id="101" name="Google Shape;101;p3"/>
          <p:cNvSpPr txBox="1"/>
          <p:nvPr/>
        </p:nvSpPr>
        <p:spPr>
          <a:xfrm>
            <a:off x="914400" y="1463040"/>
            <a:ext cx="10362900" cy="3663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So far</a:t>
            </a:r>
            <a:r>
              <a:rPr lang="en-US" sz="2400" b="0" i="0" u="none" strike="noStrike" cap="none">
                <a:solidFill>
                  <a:srgbClr val="333344"/>
                </a:solidFill>
                <a:latin typeface="Calibri"/>
                <a:ea typeface="Calibri"/>
                <a:cs typeface="Calibri"/>
                <a:sym typeface="Calibri"/>
              </a:rPr>
              <a:t> you've built the </a:t>
            </a:r>
            <a:r>
              <a:rPr lang="en-US" sz="2400">
                <a:solidFill>
                  <a:srgbClr val="333344"/>
                </a:solidFill>
                <a:latin typeface="Calibri"/>
                <a:ea typeface="Calibri"/>
                <a:cs typeface="Calibri"/>
                <a:sym typeface="Calibri"/>
              </a:rPr>
              <a:t>BBS</a:t>
            </a:r>
            <a:r>
              <a:rPr lang="en-US" sz="2400" b="0" i="0" u="none" strike="noStrike" cap="none">
                <a:solidFill>
                  <a:srgbClr val="333344"/>
                </a:solidFill>
                <a:latin typeface="Calibri"/>
                <a:ea typeface="Calibri"/>
                <a:cs typeface="Calibri"/>
                <a:sym typeface="Calibri"/>
              </a:rPr>
              <a:t> app incrementally:</a:t>
            </a:r>
            <a:r>
              <a:rPr lang="en-US"/>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Assignment 1: JSON -&gt; SQLite CLI</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Assignment 2: FastAPI web API</a:t>
            </a:r>
            <a:endParaRPr sz="2000" b="0" i="0" u="none" strike="noStrike" cap="none">
              <a:solidFill>
                <a:srgbClr val="666677"/>
              </a:solidFill>
              <a:latin typeface="Calibri"/>
              <a:ea typeface="Calibri"/>
              <a:cs typeface="Calibri"/>
              <a:sym typeface="Calibri"/>
            </a:endParaRPr>
          </a:p>
          <a:p>
            <a:pPr marL="0" lvl="1" indent="45720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Assignment 3: Testing detour</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Assignment </a:t>
            </a:r>
            <a:r>
              <a:rPr lang="en-US" sz="2000">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React frontend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From today forward, you're doing the same </a:t>
            </a:r>
            <a:r>
              <a:rPr lang="en-US" sz="2400">
                <a:solidFill>
                  <a:srgbClr val="333344"/>
                </a:solidFill>
                <a:latin typeface="Calibri"/>
                <a:ea typeface="Calibri"/>
                <a:cs typeface="Calibri"/>
                <a:sym typeface="Calibri"/>
              </a:rPr>
              <a:t>work on your own project.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1" indent="0" algn="l" rtl="0">
              <a:spcBef>
                <a:spcPts val="600"/>
              </a:spcBef>
              <a:spcAft>
                <a:spcPts val="0"/>
              </a:spcAft>
              <a:buNone/>
            </a:pPr>
            <a:r>
              <a:rPr lang="en-US" sz="2400">
                <a:solidFill>
                  <a:srgbClr val="333344"/>
                </a:solidFill>
                <a:latin typeface="Calibri"/>
                <a:ea typeface="Calibri"/>
                <a:cs typeface="Calibri"/>
                <a:sym typeface="Calibri"/>
              </a:rPr>
              <a:t>You’ll work in teams (2 to 3 people), and demo on the last day of class.</a:t>
            </a:r>
            <a:endParaRPr sz="2400">
              <a:solidFill>
                <a:srgbClr val="33334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7" name="Google Shape;107;p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Timeline</a:t>
            </a:r>
            <a:endParaRPr/>
          </a:p>
        </p:txBody>
      </p:sp>
      <p:sp>
        <p:nvSpPr>
          <p:cNvPr id="108" name="Google Shape;108;p4"/>
          <p:cNvSpPr txBox="1"/>
          <p:nvPr/>
        </p:nvSpPr>
        <p:spPr>
          <a:xfrm>
            <a:off x="914400" y="1109290"/>
            <a:ext cx="10362900" cy="567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Today</a:t>
            </a:r>
            <a:r>
              <a:rPr lang="en-US" sz="2400" b="1">
                <a:solidFill>
                  <a:srgbClr val="333344"/>
                </a:solidFill>
                <a:latin typeface="Calibri"/>
                <a:ea typeface="Calibri"/>
                <a:cs typeface="Calibri"/>
                <a:sym typeface="Calibri"/>
              </a:rPr>
              <a:t> - </a:t>
            </a:r>
            <a:r>
              <a:rPr lang="en-US" sz="2400" b="0" i="0" u="none" strike="noStrike" cap="none">
                <a:solidFill>
                  <a:srgbClr val="333344"/>
                </a:solidFill>
                <a:latin typeface="Calibri"/>
                <a:ea typeface="Calibri"/>
                <a:cs typeface="Calibri"/>
                <a:sym typeface="Calibri"/>
              </a:rPr>
              <a:t>kickoff. Form teams, pick an idea.</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By lecture 8.1</a:t>
            </a:r>
            <a:r>
              <a:rPr lang="en-US" sz="2400" b="0" i="0" u="none" strike="noStrike" cap="none">
                <a:solidFill>
                  <a:srgbClr val="333344"/>
                </a:solidFill>
                <a:latin typeface="Calibri"/>
                <a:ea typeface="Calibri"/>
                <a:cs typeface="Calibri"/>
                <a:sym typeface="Calibri"/>
              </a:rPr>
              <a:t> - team locked, rough idea agreed on.</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By lecture 9.1</a:t>
            </a:r>
            <a:r>
              <a:rPr lang="en-US" sz="2400" b="0" i="0" u="none" strike="noStrike" cap="none">
                <a:solidFill>
                  <a:srgbClr val="333344"/>
                </a:solidFill>
                <a:latin typeface="Calibri"/>
                <a:ea typeface="Calibri"/>
                <a:cs typeface="Calibri"/>
                <a:sym typeface="Calibri"/>
              </a:rPr>
              <a:t> - halfway. Data model real, app deployed at a public URL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a:t>
            </a:r>
            <a:r>
              <a:rPr lang="en-US" sz="2000">
                <a:solidFill>
                  <a:srgbClr val="666677"/>
                </a:solidFill>
                <a:latin typeface="Calibri"/>
                <a:ea typeface="Calibri"/>
                <a:cs typeface="Calibri"/>
                <a:sym typeface="Calibri"/>
              </a:rPr>
              <a:t>ontinuous integration</a:t>
            </a:r>
            <a:r>
              <a:rPr lang="en-US" sz="2000" b="0" i="0" u="none" strike="noStrike" cap="none">
                <a:solidFill>
                  <a:srgbClr val="666677"/>
                </a:solidFill>
                <a:latin typeface="Calibri"/>
                <a:ea typeface="Calibri"/>
                <a:cs typeface="Calibri"/>
                <a:sym typeface="Calibri"/>
              </a:rPr>
              <a:t> pipeline running. The shape exists,</a:t>
            </a:r>
            <a:r>
              <a:rPr lang="en-US"/>
              <a:t> </a:t>
            </a:r>
            <a:r>
              <a:rPr lang="en-US" sz="2000" b="0" i="0" u="none" strike="noStrike" cap="none">
                <a:solidFill>
                  <a:srgbClr val="666677"/>
                </a:solidFill>
                <a:latin typeface="Calibri"/>
                <a:ea typeface="Calibri"/>
                <a:cs typeface="Calibri"/>
                <a:sym typeface="Calibri"/>
              </a:rPr>
              <a:t>features are still coming.</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Day of 10.2</a:t>
            </a:r>
            <a:r>
              <a:rPr lang="en-US" sz="2400" b="0" i="0" u="none" strike="noStrike" cap="none">
                <a:solidFill>
                  <a:srgbClr val="333344"/>
                </a:solidFill>
                <a:latin typeface="Calibri"/>
                <a:ea typeface="Calibri"/>
                <a:cs typeface="Calibri"/>
                <a:sym typeface="Calibri"/>
              </a:rPr>
              <a:t> - </a:t>
            </a:r>
            <a:r>
              <a:rPr lang="en-US" sz="2400" b="1" i="0" u="none" strike="noStrike" cap="none">
                <a:solidFill>
                  <a:srgbClr val="333344"/>
                </a:solidFill>
                <a:latin typeface="Calibri"/>
                <a:ea typeface="Calibri"/>
                <a:cs typeface="Calibri"/>
                <a:sym typeface="Calibri"/>
              </a:rPr>
              <a:t>everything is due before class starts.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Deployed app reachable at a public URL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Source code pushed to a public GitHub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Short README write-up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In-class demo, 5-7 minutes per team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sp>
        <p:nvSpPr>
          <p:cNvPr id="114" name="Google Shape;114;g3e9389fd93b_0_3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Scope: build something new</a:t>
            </a:r>
            <a:endParaRPr/>
          </a:p>
        </p:txBody>
      </p:sp>
      <p:sp>
        <p:nvSpPr>
          <p:cNvPr id="115" name="Google Shape;115;g3e9389fd93b_0_34"/>
          <p:cNvSpPr txBox="1"/>
          <p:nvPr/>
        </p:nvSpPr>
        <p:spPr>
          <a:xfrm>
            <a:off x="914388" y="1133065"/>
            <a:ext cx="10362900" cy="280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Build something new.</a:t>
            </a:r>
            <a:r>
              <a:rPr lang="en-US" sz="2400" b="0" i="0" u="none" strike="noStrike" cap="none">
                <a:solidFill>
                  <a:srgbClr val="333344"/>
                </a:solidFill>
                <a:latin typeface="Calibri"/>
                <a:ea typeface="Calibri"/>
                <a:cs typeface="Calibri"/>
                <a:sym typeface="Calibri"/>
              </a:rPr>
              <a:t> Not an extension of the chat app.</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Bronze is the floor</a:t>
            </a:r>
            <a:r>
              <a:rPr lang="en-US" sz="2400" b="0" i="0" u="none" strike="noStrike" cap="none">
                <a:solidFill>
                  <a:srgbClr val="333344"/>
                </a:solidFill>
                <a:latin typeface="Calibri"/>
                <a:ea typeface="Calibri"/>
                <a:cs typeface="Calibri"/>
                <a:sym typeface="Calibri"/>
              </a:rPr>
              <a:t>, not the target.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With coding agents</a:t>
            </a:r>
            <a:r>
              <a:rPr lang="en-US" sz="2000" b="0" i="0" u="none" strike="noStrike" cap="none">
                <a:solidFill>
                  <a:srgbClr val="666677"/>
                </a:solidFill>
                <a:latin typeface="Calibri"/>
                <a:ea typeface="Calibri"/>
                <a:cs typeface="Calibri"/>
                <a:sym typeface="Calibri"/>
              </a:rPr>
              <a:t>, the basic CRUD-app-on-cloud part is closer to a long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weekend than three weeks of work. So bronze includes the things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 make a real product:</a:t>
            </a:r>
            <a:endParaRPr/>
          </a:p>
          <a:p>
            <a:pPr marL="457200" marR="0" lvl="1" indent="0" algn="l" rtl="0">
              <a:spcBef>
                <a:spcPts val="60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Scope: build something new</a:t>
            </a:r>
            <a:endParaRPr/>
          </a:p>
        </p:txBody>
      </p:sp>
      <p:sp>
        <p:nvSpPr>
          <p:cNvPr id="122" name="Google Shape;122;p6"/>
          <p:cNvSpPr txBox="1"/>
          <p:nvPr/>
        </p:nvSpPr>
        <p:spPr>
          <a:xfrm>
            <a:off x="914388" y="1133065"/>
            <a:ext cx="10362900" cy="503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Build something new.</a:t>
            </a:r>
            <a:r>
              <a:rPr lang="en-US" sz="2400" b="0" i="0" u="none" strike="noStrike" cap="none">
                <a:solidFill>
                  <a:srgbClr val="333344"/>
                </a:solidFill>
                <a:latin typeface="Calibri"/>
                <a:ea typeface="Calibri"/>
                <a:cs typeface="Calibri"/>
                <a:sym typeface="Calibri"/>
              </a:rPr>
              <a:t> Not an extension of the chat app.</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Bronze is the floor</a:t>
            </a:r>
            <a:r>
              <a:rPr lang="en-US" sz="2400" b="0" i="0" u="none" strike="noStrike" cap="none">
                <a:solidFill>
                  <a:srgbClr val="333344"/>
                </a:solidFill>
                <a:latin typeface="Calibri"/>
                <a:ea typeface="Calibri"/>
                <a:cs typeface="Calibri"/>
                <a:sym typeface="Calibri"/>
              </a:rPr>
              <a:t>, not the target.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With coding agents</a:t>
            </a:r>
            <a:r>
              <a:rPr lang="en-US" sz="2000" b="0" i="0" u="none" strike="noStrike" cap="none">
                <a:solidFill>
                  <a:srgbClr val="666677"/>
                </a:solidFill>
                <a:latin typeface="Calibri"/>
                <a:ea typeface="Calibri"/>
                <a:cs typeface="Calibri"/>
                <a:sym typeface="Calibri"/>
              </a:rPr>
              <a:t>, the basic CRUD-app-on-cloud part is closer to a long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weekend than three weeks of work. So bronze includes the things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 make a real product: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Clr>
                <a:srgbClr val="000000"/>
              </a:buClr>
              <a:buFont typeface="Arial"/>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Real auth</a:t>
            </a:r>
            <a:r>
              <a:rPr lang="en-US" sz="2000" b="0" i="0" u="none" strike="noStrike" cap="none">
                <a:solidFill>
                  <a:srgbClr val="666677"/>
                </a:solidFill>
                <a:latin typeface="Calibri"/>
                <a:ea typeface="Calibri"/>
                <a:cs typeface="Calibri"/>
                <a:sym typeface="Calibri"/>
              </a:rPr>
              <a:t> via Supabase Auth (or similar)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a:solidFill>
                  <a:srgbClr val="666677"/>
                </a:solidFill>
                <a:latin typeface="Calibri"/>
                <a:ea typeface="Calibri"/>
                <a:cs typeface="Calibri"/>
                <a:sym typeface="Calibri"/>
              </a:rPr>
              <a:t>Some</a:t>
            </a:r>
            <a:r>
              <a:rPr lang="en-US" sz="2000" b="1" i="0" u="none" strike="noStrike" cap="none">
                <a:solidFill>
                  <a:srgbClr val="666677"/>
                </a:solidFill>
                <a:latin typeface="Calibri"/>
                <a:ea typeface="Calibri"/>
                <a:cs typeface="Calibri"/>
                <a:sym typeface="Calibri"/>
              </a:rPr>
              <a:t> nontrivial logic</a:t>
            </a:r>
            <a:r>
              <a:rPr lang="en-US" sz="2000" b="0" i="0" u="none" strike="noStrike" cap="none">
                <a:solidFill>
                  <a:srgbClr val="666677"/>
                </a:solidFill>
                <a:latin typeface="Calibri"/>
                <a:ea typeface="Calibri"/>
                <a:cs typeface="Calibri"/>
                <a:sym typeface="Calibri"/>
              </a:rPr>
              <a:t> - an algorithm, a real</a:t>
            </a:r>
            <a:r>
              <a:rPr lang="en-US"/>
              <a:t> </a:t>
            </a:r>
            <a:r>
              <a:rPr lang="en-US" sz="2000" b="0" i="0" u="none" strike="noStrike" cap="none">
                <a:solidFill>
                  <a:srgbClr val="666677"/>
                </a:solidFill>
                <a:latin typeface="Calibri"/>
                <a:ea typeface="Calibri"/>
                <a:cs typeface="Calibri"/>
                <a:sym typeface="Calibri"/>
              </a:rPr>
              <a:t>cross-table query, a state machine, something an agent can't</a:t>
            </a:r>
            <a:r>
              <a:rPr lang="en-US"/>
              <a:t> </a:t>
            </a:r>
            <a:r>
              <a:rPr lang="en-US" sz="2000" b="0" i="0" u="none" strike="noStrike" cap="none">
                <a:solidFill>
                  <a:srgbClr val="666677"/>
                </a:solidFill>
                <a:latin typeface="Calibri"/>
                <a:ea typeface="Calibri"/>
                <a:cs typeface="Calibri"/>
                <a:sym typeface="Calibri"/>
              </a:rPr>
              <a:t>just generate from a one-line description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test suite + CI pipeline</a:t>
            </a:r>
            <a:r>
              <a:rPr lang="en-US" sz="2000" b="0" i="0" u="none" strike="noStrike" cap="none">
                <a:solidFill>
                  <a:srgbClr val="666677"/>
                </a:solidFill>
                <a:latin typeface="Calibri"/>
                <a:ea typeface="Calibri"/>
                <a:cs typeface="Calibri"/>
                <a:sym typeface="Calibri"/>
              </a:rPr>
              <a:t> that gates deploy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Multi-user value</a:t>
            </a:r>
            <a:r>
              <a:rPr lang="en-US" sz="2000" b="0" i="0" u="none" strike="noStrike" cap="none">
                <a:solidFill>
                  <a:srgbClr val="666677"/>
                </a:solidFill>
                <a:latin typeface="Calibri"/>
                <a:ea typeface="Calibri"/>
                <a:cs typeface="Calibri"/>
                <a:sym typeface="Calibri"/>
              </a:rPr>
              <a:t> - if it's a single-user app, scope is wrong</a:t>
            </a:r>
            <a:endParaRPr/>
          </a:p>
          <a:p>
            <a:pPr marL="457200" marR="0" lvl="1" indent="0" algn="l" rtl="0">
              <a:spcBef>
                <a:spcPts val="6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sp>
        <p:nvSpPr>
          <p:cNvPr id="128" name="Google Shape;128;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Grading</a:t>
            </a:r>
            <a:endParaRPr/>
          </a:p>
        </p:txBody>
      </p:sp>
      <p:sp>
        <p:nvSpPr>
          <p:cNvPr id="129" name="Google Shape;129;p7"/>
          <p:cNvSpPr txBox="1"/>
          <p:nvPr/>
        </p:nvSpPr>
        <p:spPr>
          <a:xfrm>
            <a:off x="914388" y="1153165"/>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Same </a:t>
            </a:r>
            <a:r>
              <a:rPr lang="en-US" sz="2400" b="1" i="0" u="none" strike="noStrike" cap="none">
                <a:solidFill>
                  <a:srgbClr val="333344"/>
                </a:solidFill>
                <a:latin typeface="Calibri"/>
                <a:ea typeface="Calibri"/>
                <a:cs typeface="Calibri"/>
                <a:sym typeface="Calibri"/>
              </a:rPr>
              <a:t>bronze / silver / gold</a:t>
            </a:r>
            <a:r>
              <a:rPr lang="en-US" sz="2400" b="0" i="0" u="none" strike="noStrike" cap="none">
                <a:solidFill>
                  <a:srgbClr val="333344"/>
                </a:solidFill>
                <a:latin typeface="Calibri"/>
                <a:ea typeface="Calibri"/>
                <a:cs typeface="Calibri"/>
                <a:sym typeface="Calibri"/>
              </a:rPr>
              <a:t> rubric you've used all semester.</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Bronze</a:t>
            </a:r>
            <a:r>
              <a:rPr lang="en-US" sz="2000" b="0" i="0" u="none" strike="noStrike" cap="none">
                <a:solidFill>
                  <a:srgbClr val="666677"/>
                </a:solidFill>
                <a:latin typeface="Calibri"/>
                <a:ea typeface="Calibri"/>
                <a:cs typeface="Calibri"/>
                <a:sym typeface="Calibri"/>
              </a:rPr>
              <a:t> - it works, it's shipped, every invariant hit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Silver</a:t>
            </a:r>
            <a:r>
              <a:rPr lang="en-US" sz="2000" b="0" i="0" u="none" strike="noStrike" cap="none">
                <a:solidFill>
                  <a:srgbClr val="666677"/>
                </a:solidFill>
                <a:latin typeface="Calibri"/>
                <a:ea typeface="Calibri"/>
                <a:cs typeface="Calibri"/>
                <a:sym typeface="Calibri"/>
              </a:rPr>
              <a:t> - a second nontrivial piece, optimistic updates,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routing, real design, more tests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Gold</a:t>
            </a:r>
            <a:r>
              <a:rPr lang="en-US" sz="2000" b="0" i="0" u="none" strike="noStrike" cap="none">
                <a:solidFill>
                  <a:srgbClr val="666677"/>
                </a:solidFill>
                <a:latin typeface="Calibri"/>
                <a:ea typeface="Calibri"/>
                <a:cs typeface="Calibri"/>
                <a:sym typeface="Calibri"/>
              </a:rPr>
              <a:t> - one of (real-time / end-to-end test suite / serious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visual design), plus at least two custom features you came up with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Detailed criteria, the BookCircle worked example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a:t>
            </a:r>
            <a:r>
              <a:rPr lang="en-US" sz="2000">
                <a:solidFill>
                  <a:srgbClr val="666677"/>
                </a:solidFill>
                <a:latin typeface="Calibri"/>
                <a:ea typeface="Calibri"/>
                <a:cs typeface="Calibri"/>
                <a:sym typeface="Calibri"/>
              </a:rPr>
              <a:t>sketch of some</a:t>
            </a:r>
            <a:r>
              <a:rPr lang="en-US" sz="2000" b="0" i="0" u="none" strike="noStrike" cap="none">
                <a:solidFill>
                  <a:srgbClr val="666677"/>
                </a:solidFill>
                <a:latin typeface="Calibri"/>
                <a:ea typeface="Calibri"/>
                <a:cs typeface="Calibri"/>
                <a:sym typeface="Calibri"/>
              </a:rPr>
              <a:t> other reasonable project directions are in the </a:t>
            </a:r>
            <a:r>
              <a:rPr lang="en-US" sz="2000" b="1" i="0" u="none" strike="noStrike" cap="none">
                <a:solidFill>
                  <a:srgbClr val="666677"/>
                </a:solidFill>
                <a:latin typeface="Calibri"/>
                <a:ea typeface="Calibri"/>
                <a:cs typeface="Calibri"/>
                <a:sym typeface="Calibri"/>
              </a:rPr>
              <a:t>assignment</a:t>
            </a:r>
            <a:r>
              <a:rPr lang="en-US" b="1"/>
              <a:t> </a:t>
            </a:r>
            <a:r>
              <a:rPr lang="en-US" sz="2000" b="1" i="0" u="none" strike="noStrike" cap="none">
                <a:solidFill>
                  <a:srgbClr val="666677"/>
                </a:solidFill>
                <a:latin typeface="Calibri"/>
                <a:ea typeface="Calibri"/>
                <a:cs typeface="Calibri"/>
                <a:sym typeface="Calibri"/>
              </a:rPr>
              <a:t>PDF</a:t>
            </a:r>
            <a:r>
              <a:rPr lang="en-US" sz="2000" b="0" i="0" u="none" strike="noStrike" cap="none">
                <a:solidFill>
                  <a:srgbClr val="666677"/>
                </a:solidFill>
                <a:latin typeface="Calibri"/>
                <a:ea typeface="Calibri"/>
                <a:cs typeface="Calibri"/>
                <a:sym typeface="Calibri"/>
              </a:rPr>
              <a: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 polished silver beats an unfinished gold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Either beat</a:t>
            </a:r>
            <a:r>
              <a:rPr lang="en-US" sz="2000">
                <a:solidFill>
                  <a:srgbClr val="666677"/>
                </a:solidFill>
                <a:latin typeface="Calibri"/>
                <a:ea typeface="Calibri"/>
                <a:cs typeface="Calibri"/>
                <a:sym typeface="Calibri"/>
              </a:rPr>
              <a:t>s a </a:t>
            </a:r>
            <a:r>
              <a:rPr lang="en-US" sz="2000" b="0" i="0" u="none" strike="noStrike" cap="none">
                <a:solidFill>
                  <a:srgbClr val="666677"/>
                </a:solidFill>
                <a:latin typeface="Calibri"/>
                <a:ea typeface="Calibri"/>
                <a:cs typeface="Calibri"/>
                <a:sym typeface="Calibri"/>
              </a:rPr>
              <a:t>barely-deployed bronze. Deploy early, then iterate 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
        <p:cNvGrpSpPr/>
        <p:nvPr/>
      </p:nvGrpSpPr>
      <p:grpSpPr>
        <a:xfrm>
          <a:off x="0" y="0"/>
          <a:ext cx="0" cy="0"/>
          <a:chOff x="0" y="0"/>
          <a:chExt cx="0" cy="0"/>
        </a:xfrm>
      </p:grpSpPr>
      <p:sp>
        <p:nvSpPr>
          <p:cNvPr id="135" name="Google Shape;135;p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Tech stack and AI rules</a:t>
            </a:r>
            <a:endParaRPr/>
          </a:p>
        </p:txBody>
      </p:sp>
      <p:sp>
        <p:nvSpPr>
          <p:cNvPr id="136" name="Google Shape;136;p8"/>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Language/framework layer is fixed.</a:t>
            </a:r>
            <a:r>
              <a:rPr lang="en-US" sz="2400" b="0" i="0" u="none" strike="noStrike" cap="none">
                <a:solidFill>
                  <a:srgbClr val="333344"/>
                </a:solidFill>
                <a:latin typeface="Calibri"/>
                <a:ea typeface="Calibri"/>
                <a:cs typeface="Calibri"/>
                <a:sym typeface="Calibri"/>
              </a:rPr>
              <a:t> No swapping stacks</a:t>
            </a:r>
            <a:r>
              <a:rPr lang="en-US" sz="2400">
                <a:solidFill>
                  <a:srgbClr val="333344"/>
                </a:solidFill>
                <a:latin typeface="Calibri"/>
                <a:ea typeface="Calibri"/>
                <a:cs typeface="Calibri"/>
                <a:sym typeface="Calibri"/>
              </a:rPr>
              <a: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Backend:</a:t>
            </a:r>
            <a:r>
              <a:rPr lang="en-US" sz="2000" b="0" i="0" u="none" strike="noStrike" cap="none">
                <a:solidFill>
                  <a:srgbClr val="666677"/>
                </a:solidFill>
                <a:latin typeface="Calibri"/>
                <a:ea typeface="Calibri"/>
                <a:cs typeface="Calibri"/>
                <a:sym typeface="Calibri"/>
              </a:rPr>
              <a:t> FastAPI (Python)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Frontend:</a:t>
            </a:r>
            <a:r>
              <a:rPr lang="en-US" sz="2000" b="0" i="0" u="none" strike="noStrike" cap="none">
                <a:solidFill>
                  <a:srgbClr val="666677"/>
                </a:solidFill>
                <a:latin typeface="Calibri"/>
                <a:ea typeface="Calibri"/>
                <a:cs typeface="Calibri"/>
                <a:sym typeface="Calibri"/>
              </a:rPr>
              <a:t> React + TypeScript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Database:</a:t>
            </a:r>
            <a:r>
              <a:rPr lang="en-US" sz="2000" b="0" i="0" u="none" strike="noStrike" cap="none">
                <a:solidFill>
                  <a:srgbClr val="666677"/>
                </a:solidFill>
                <a:latin typeface="Calibri"/>
                <a:ea typeface="Calibri"/>
                <a:cs typeface="Calibri"/>
                <a:sym typeface="Calibri"/>
              </a:rPr>
              <a:t> Postgres, hosted in the cloud (NOT local SQLite)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Hosting and DB provider are your call.</a:t>
            </a:r>
            <a:r>
              <a:rPr lang="en-US" sz="2400" b="0" i="0" u="none" strike="noStrike" cap="none">
                <a:solidFill>
                  <a:srgbClr val="333344"/>
                </a:solidFill>
                <a:latin typeface="Calibri"/>
                <a:ea typeface="Calibri"/>
                <a:cs typeface="Calibri"/>
                <a:sym typeface="Calibri"/>
              </a:rPr>
              <a:t>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Railway + Supabase is a</a:t>
            </a: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good</a:t>
            </a:r>
            <a:r>
              <a:rPr lang="en-US" sz="2000" b="0" i="0" u="none" strike="noStrike" cap="none">
                <a:solidFill>
                  <a:srgbClr val="666677"/>
                </a:solidFill>
                <a:latin typeface="Calibri"/>
                <a:ea typeface="Calibri"/>
                <a:cs typeface="Calibri"/>
                <a:sym typeface="Calibri"/>
              </a:rPr>
              <a:t> default and what we'll walk through today.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Fly.io, Render, Neon, AWS RDS, etc. all work too if you'd rather.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Just explain the choice in your README.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AI rules: same as the individual assignments.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1"/>
        <p:cNvGrpSpPr/>
        <p:nvPr/>
      </p:nvGrpSpPr>
      <p:grpSpPr>
        <a:xfrm>
          <a:off x="0" y="0"/>
          <a:ext cx="0" cy="0"/>
          <a:chOff x="0" y="0"/>
          <a:chExt cx="0" cy="0"/>
        </a:xfrm>
      </p:grpSpPr>
      <p:sp>
        <p:nvSpPr>
          <p:cNvPr id="142" name="Google Shape;142;p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This week's job</a:t>
            </a:r>
            <a:endParaRPr/>
          </a:p>
        </p:txBody>
      </p:sp>
      <p:sp>
        <p:nvSpPr>
          <p:cNvPr id="143" name="Google Shape;143;p9"/>
          <p:cNvSpPr txBox="1"/>
          <p:nvPr/>
        </p:nvSpPr>
        <p:spPr>
          <a:xfrm>
            <a:off x="914400" y="1176100"/>
            <a:ext cx="107286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By </a:t>
            </a:r>
            <a:r>
              <a:rPr lang="en-US" sz="2400" b="1" i="0" u="none" strike="noStrike" cap="none">
                <a:solidFill>
                  <a:srgbClr val="333344"/>
                </a:solidFill>
                <a:latin typeface="Calibri"/>
                <a:ea typeface="Calibri"/>
                <a:cs typeface="Calibri"/>
                <a:sym typeface="Calibri"/>
              </a:rPr>
              <a:t>next </a:t>
            </a:r>
            <a:r>
              <a:rPr lang="en-US" sz="2400" b="1">
                <a:solidFill>
                  <a:srgbClr val="333344"/>
                </a:solidFill>
                <a:latin typeface="Calibri"/>
                <a:ea typeface="Calibri"/>
                <a:cs typeface="Calibri"/>
                <a:sym typeface="Calibri"/>
              </a:rPr>
              <a:t>class</a:t>
            </a:r>
            <a:r>
              <a:rPr lang="en-US" sz="2400" b="1" i="0" u="none" strike="noStrike" cap="none">
                <a:solidFill>
                  <a:srgbClr val="333344"/>
                </a:solidFill>
                <a:latin typeface="Calibri"/>
                <a:ea typeface="Calibri"/>
                <a:cs typeface="Calibri"/>
                <a:sym typeface="Calibri"/>
              </a:rPr>
              <a:t> (8.1)</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Team picked. Names emailed to me.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Rough idea agreed on. A sentence or two is plenty.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My suggestion:</a:t>
            </a:r>
            <a:r>
              <a:rPr lang="en-US" sz="2400" b="1" i="0" u="none" strike="noStrike" cap="none">
                <a:solidFill>
                  <a:srgbClr val="333344"/>
                </a:solidFill>
                <a:latin typeface="Calibri"/>
                <a:ea typeface="Calibri"/>
                <a:cs typeface="Calibri"/>
                <a:sym typeface="Calibri"/>
              </a:rPr>
              <a:t> start with the pipeline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First </a:t>
            </a:r>
            <a:r>
              <a:rPr lang="en-US" sz="2000" b="0" i="0" u="none" strike="noStrike" cap="none">
                <a:solidFill>
                  <a:srgbClr val="666677"/>
                </a:solidFill>
                <a:latin typeface="Calibri"/>
                <a:ea typeface="Calibri"/>
                <a:cs typeface="Calibri"/>
                <a:sym typeface="Calibri"/>
              </a:rPr>
              <a:t>get a trivial app deployed end to end:</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FastAPI endpoint returning JSON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React page fetching and rendering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Talking to a real cloud Postgres (even with one dummy table)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Live at a public URL</a:t>
            </a:r>
            <a:endParaRPr/>
          </a:p>
          <a:p>
            <a:pPr marL="0" marR="0" lvl="0" indent="0" algn="l" rtl="0">
              <a:spcBef>
                <a:spcPts val="600"/>
              </a:spcBef>
              <a:spcAft>
                <a:spcPts val="0"/>
              </a:spcAft>
              <a:buNone/>
            </a:pPr>
            <a:endParaRPr sz="2000">
              <a:solidFill>
                <a:srgbClr val="666677"/>
              </a:solidFill>
              <a:latin typeface="Calibri"/>
              <a:ea typeface="Calibri"/>
              <a:cs typeface="Calibri"/>
              <a:sym typeface="Calibri"/>
            </a:endParaRPr>
          </a:p>
          <a:p>
            <a:pPr marL="0" lvl="0" indent="0" algn="l" rtl="0">
              <a:spcBef>
                <a:spcPts val="600"/>
              </a:spcBef>
              <a:spcAft>
                <a:spcPts val="0"/>
              </a:spcAft>
              <a:buClr>
                <a:schemeClr val="dk1"/>
              </a:buClr>
              <a:buFont typeface="Arial"/>
              <a:buNone/>
            </a:pPr>
            <a:r>
              <a:rPr lang="en-US" sz="2400" b="1">
                <a:solidFill>
                  <a:srgbClr val="333344"/>
                </a:solidFill>
                <a:latin typeface="Calibri"/>
                <a:ea typeface="Calibri"/>
                <a:cs typeface="Calibri"/>
                <a:sym typeface="Calibri"/>
              </a:rPr>
              <a:t>Then start building features</a:t>
            </a:r>
            <a:endParaRPr sz="2000">
              <a:solidFill>
                <a:srgbClr val="666677"/>
              </a:solidFill>
              <a:latin typeface="Calibri"/>
              <a:ea typeface="Calibri"/>
              <a:cs typeface="Calibri"/>
              <a:sym typeface="Calibri"/>
            </a:endParaRPr>
          </a:p>
          <a:p>
            <a:pPr marL="0" marR="0" lvl="1" indent="457200" algn="l" rtl="0">
              <a:spcBef>
                <a:spcPts val="600"/>
              </a:spcBef>
              <a:spcAft>
                <a:spcPts val="0"/>
              </a:spcAft>
              <a:buNone/>
            </a:pPr>
            <a:r>
              <a:rPr lang="en-US" sz="2000">
                <a:solidFill>
                  <a:srgbClr val="666677"/>
                </a:solidFill>
                <a:latin typeface="Calibri"/>
                <a:ea typeface="Calibri"/>
                <a:cs typeface="Calibri"/>
                <a:sym typeface="Calibri"/>
              </a:rPr>
              <a:t>  I</a:t>
            </a:r>
            <a:r>
              <a:rPr lang="en-US" sz="2000" b="0" i="0" u="none" strike="noStrike" cap="none">
                <a:solidFill>
                  <a:srgbClr val="666677"/>
                </a:solidFill>
                <a:latin typeface="Calibri"/>
                <a:ea typeface="Calibri"/>
                <a:cs typeface="Calibri"/>
                <a:sym typeface="Calibri"/>
              </a:rPr>
              <a:t>f you </a:t>
            </a:r>
            <a:r>
              <a:rPr lang="en-US" sz="2000">
                <a:solidFill>
                  <a:srgbClr val="666677"/>
                </a:solidFill>
                <a:latin typeface="Calibri"/>
                <a:ea typeface="Calibri"/>
                <a:cs typeface="Calibri"/>
                <a:sym typeface="Calibri"/>
              </a:rPr>
              <a:t>go</a:t>
            </a:r>
            <a:r>
              <a:rPr lang="en-US" sz="2000" b="0" i="0" u="none" strike="noStrike" cap="none">
                <a:solidFill>
                  <a:srgbClr val="666677"/>
                </a:solidFill>
                <a:latin typeface="Calibri"/>
                <a:ea typeface="Calibri"/>
                <a:cs typeface="Calibri"/>
                <a:sym typeface="Calibri"/>
              </a:rPr>
              <a:t> features first</a:t>
            </a:r>
            <a:r>
              <a:rPr lang="en-US" sz="2000">
                <a:solidFill>
                  <a:srgbClr val="666677"/>
                </a:solidFill>
                <a:latin typeface="Calibri"/>
                <a:ea typeface="Calibri"/>
                <a:cs typeface="Calibri"/>
                <a:sym typeface="Calibri"/>
              </a:rPr>
              <a:t>, </a:t>
            </a:r>
            <a:r>
              <a:rPr lang="en-US" sz="2000" b="0" i="0" u="none" strike="noStrike" cap="none">
                <a:solidFill>
                  <a:srgbClr val="666677"/>
                </a:solidFill>
                <a:latin typeface="Calibri"/>
                <a:ea typeface="Calibri"/>
                <a:cs typeface="Calibri"/>
                <a:sym typeface="Calibri"/>
              </a:rPr>
              <a:t>deploy</a:t>
            </a:r>
            <a:r>
              <a:rPr lang="en-US"/>
              <a:t> </a:t>
            </a:r>
            <a:r>
              <a:rPr lang="en-US" sz="2000" b="0" i="0" u="none" strike="noStrike" cap="none">
                <a:solidFill>
                  <a:srgbClr val="666677"/>
                </a:solidFill>
                <a:latin typeface="Calibri"/>
                <a:ea typeface="Calibri"/>
                <a:cs typeface="Calibri"/>
                <a:sym typeface="Calibri"/>
              </a:rPr>
              <a:t>at the end, you'll </a:t>
            </a:r>
            <a:r>
              <a:rPr lang="en-US" sz="2000">
                <a:solidFill>
                  <a:srgbClr val="666677"/>
                </a:solidFill>
                <a:latin typeface="Calibri"/>
                <a:ea typeface="Calibri"/>
                <a:cs typeface="Calibri"/>
                <a:sym typeface="Calibri"/>
              </a:rPr>
              <a:t>learn painfully</a:t>
            </a: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what doesn’t work in</a:t>
            </a:r>
            <a:r>
              <a:rPr lang="en-US" sz="2000" b="0" i="0" u="none" strike="noStrike" cap="none">
                <a:solidFill>
                  <a:srgbClr val="666677"/>
                </a:solidFill>
                <a:latin typeface="Calibri"/>
                <a:ea typeface="Calibri"/>
                <a:cs typeface="Calibri"/>
                <a:sym typeface="Calibri"/>
              </a:rPr>
              <a:t> production.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48"/>
        <p:cNvGrpSpPr/>
        <p:nvPr/>
      </p:nvGrpSpPr>
      <p:grpSpPr>
        <a:xfrm>
          <a:off x="0" y="0"/>
          <a:ext cx="0" cy="0"/>
          <a:chOff x="0" y="0"/>
          <a:chExt cx="0" cy="0"/>
        </a:xfrm>
      </p:grpSpPr>
      <p:sp>
        <p:nvSpPr>
          <p:cNvPr id="149" name="Google Shape;149;p10"/>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Deploying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
        <p:cNvGrpSpPr/>
        <p:nvPr/>
      </p:nvGrpSpPr>
      <p:grpSpPr>
        <a:xfrm>
          <a:off x="0" y="0"/>
          <a:ext cx="0" cy="0"/>
          <a:chOff x="0" y="0"/>
          <a:chExt cx="0" cy="0"/>
        </a:xfrm>
      </p:grpSpPr>
      <p:sp>
        <p:nvSpPr>
          <p:cNvPr id="155" name="Google Shape;155;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"deploy" even means</a:t>
            </a:r>
            <a:endParaRPr/>
          </a:p>
        </p:txBody>
      </p:sp>
      <p:sp>
        <p:nvSpPr>
          <p:cNvPr id="156" name="Google Shape;156;p11"/>
          <p:cNvSpPr txBox="1"/>
          <p:nvPr/>
        </p:nvSpPr>
        <p:spPr>
          <a:xfrm>
            <a:off x="914400" y="1463040"/>
            <a:ext cx="10362900" cy="434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All semester, your code has run on `localhost`.</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 uvicorn app:app --reload</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Uvicorn running on http://127.0.0.1:8000</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 URL is only reachable from your laptop. Close the lid</a:t>
            </a:r>
            <a:r>
              <a:rPr lang="en-US" sz="2400">
                <a:solidFill>
                  <a:srgbClr val="333344"/>
                </a:solidFill>
                <a:latin typeface="Calibri"/>
                <a:ea typeface="Calibri"/>
                <a:cs typeface="Calibri"/>
                <a:sym typeface="Calibri"/>
              </a:rPr>
              <a:t>, app is gone.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Deploying</a:t>
            </a:r>
            <a:r>
              <a:rPr lang="en-US" sz="2400" b="0" i="0" u="none" strike="noStrike" cap="none">
                <a:solidFill>
                  <a:srgbClr val="333344"/>
                </a:solidFill>
                <a:latin typeface="Calibri"/>
                <a:ea typeface="Calibri"/>
                <a:cs typeface="Calibri"/>
                <a:sym typeface="Calibri"/>
              </a:rPr>
              <a:t> means taking that code and putting it on a computer that is: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Always on</a:t>
            </a:r>
            <a:r>
              <a:rPr lang="en-US" sz="2000" b="0" i="0" u="none" strike="noStrike" cap="none">
                <a:solidFill>
                  <a:srgbClr val="666677"/>
                </a:solidFill>
                <a:latin typeface="Calibri"/>
                <a:ea typeface="Calibri"/>
                <a:cs typeface="Calibri"/>
                <a:sym typeface="Calibri"/>
              </a:rPr>
              <a:t> - doesn't go away when your laptop sleeps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Reachable</a:t>
            </a:r>
            <a:r>
              <a:rPr lang="en-US" sz="2000" b="0" i="0" u="none" strike="noStrike" cap="none">
                <a:solidFill>
                  <a:srgbClr val="666677"/>
                </a:solidFill>
                <a:latin typeface="Calibri"/>
                <a:ea typeface="Calibri"/>
                <a:cs typeface="Calibri"/>
                <a:sym typeface="Calibri"/>
              </a:rPr>
              <a:t> - has a public URL on the internet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Self-starting</a:t>
            </a:r>
            <a:r>
              <a:rPr lang="en-US" sz="2000" b="0" i="0" u="none" strike="noStrike" cap="none">
                <a:solidFill>
                  <a:srgbClr val="666677"/>
                </a:solidFill>
                <a:latin typeface="Calibri"/>
                <a:ea typeface="Calibri"/>
                <a:cs typeface="Calibri"/>
                <a:sym typeface="Calibri"/>
              </a:rPr>
              <a:t> - runs your code automatically on every request</a:t>
            </a:r>
            <a:endParaRPr/>
          </a:p>
          <a:p>
            <a:pPr marL="0" marR="0" lvl="0" indent="0" algn="l" rtl="0">
              <a:spcBef>
                <a:spcPts val="6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sp>
        <p:nvSpPr>
          <p:cNvPr id="162" name="Google Shape;162;p1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cloud, briefly</a:t>
            </a:r>
            <a:endParaRPr/>
          </a:p>
        </p:txBody>
      </p:sp>
      <p:sp>
        <p:nvSpPr>
          <p:cNvPr id="163" name="Google Shape;163;p12"/>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Twenty years ago, getting an always-on computer on the internet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meant buying a physical server, racking it in a data center,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paying for power and bandwidth, and hoping nothing burned out.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2006:</a:t>
            </a:r>
            <a:r>
              <a:rPr lang="en-US" sz="2400" b="0" i="0" u="none" strike="noStrike" cap="none">
                <a:solidFill>
                  <a:srgbClr val="333344"/>
                </a:solidFill>
                <a:latin typeface="Calibri"/>
                <a:ea typeface="Calibri"/>
                <a:cs typeface="Calibri"/>
                <a:sym typeface="Calibri"/>
              </a:rPr>
              <a:t> Amazon noticed they had a lot of idle server capacity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between holiday shopping spikes and started renting it out by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hour. AWS was the first big cloud provider, and the rest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industry followed.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shift was economic, not really technical. Compute went from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thing you OWN (a capital expense, a depreciating asset, a person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to maintain it) to a thing you BUY by the hour (a metered utility,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kinda like electricity).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Today, basically nobody starts a new web app by buying a server.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sign up for an account, run code on someone else's machine, pay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for what you use. That's "the cloud."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
        <p:cNvGrpSpPr/>
        <p:nvPr/>
      </p:nvGrpSpPr>
      <p:grpSpPr>
        <a:xfrm>
          <a:off x="0" y="0"/>
          <a:ext cx="0" cy="0"/>
          <a:chOff x="0" y="0"/>
          <a:chExt cx="0" cy="0"/>
        </a:xfrm>
      </p:grpSpPr>
      <p:sp>
        <p:nvSpPr>
          <p:cNvPr id="169" name="Google Shape;169;p1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does the code actually run?</a:t>
            </a:r>
            <a:endParaRPr/>
          </a:p>
        </p:txBody>
      </p:sp>
      <p:sp>
        <p:nvSpPr>
          <p:cNvPr id="170" name="Google Shape;170;p13"/>
          <p:cNvSpPr txBox="1"/>
          <p:nvPr/>
        </p:nvSpPr>
        <p:spPr>
          <a:xfrm>
            <a:off x="914400" y="12801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 need a computer that's always on. That used to mean a box</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under someone's desk. Today it means </a:t>
            </a:r>
            <a:r>
              <a:rPr lang="en-US" sz="2000" b="1" i="0" u="none" strike="noStrike" cap="none">
                <a:solidFill>
                  <a:srgbClr val="666677"/>
                </a:solidFill>
                <a:latin typeface="Calibri"/>
                <a:ea typeface="Calibri"/>
                <a:cs typeface="Calibri"/>
                <a:sym typeface="Calibri"/>
              </a:rPr>
              <a:t>renting</a:t>
            </a:r>
            <a:r>
              <a:rPr lang="en-US" sz="2000" b="0" i="0" u="none" strike="noStrike" cap="none">
                <a:solidFill>
                  <a:srgbClr val="666677"/>
                </a:solidFill>
                <a:latin typeface="Calibri"/>
                <a:ea typeface="Calibri"/>
                <a:cs typeface="Calibri"/>
                <a:sym typeface="Calibri"/>
              </a:rPr>
              <a:t> a slice of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someone else's computer from a </a:t>
            </a:r>
            <a:r>
              <a:rPr lang="en-US" sz="2000" b="1" i="0" u="none" strike="noStrike" cap="none">
                <a:solidFill>
                  <a:srgbClr val="666677"/>
                </a:solidFill>
                <a:latin typeface="Calibri"/>
                <a:ea typeface="Calibri"/>
                <a:cs typeface="Calibri"/>
                <a:sym typeface="Calibri"/>
              </a:rPr>
              <a:t>cloud provider.</a:t>
            </a:r>
            <a:endParaRPr/>
          </a:p>
          <a:p>
            <a:pPr marL="0" marR="0" lvl="0" indent="0" algn="l" rtl="0">
              <a:spcBef>
                <a:spcPts val="600"/>
              </a:spcBef>
              <a:spcAft>
                <a:spcPts val="0"/>
              </a:spcAft>
              <a:buNone/>
            </a:pPr>
            <a:endParaRPr sz="2000" b="1"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Every cloud provider rents you the same three things: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Compute</a:t>
            </a:r>
            <a:r>
              <a:rPr lang="en-US" sz="2000" b="0" i="0" u="none" strike="noStrike" cap="none">
                <a:solidFill>
                  <a:srgbClr val="666677"/>
                </a:solidFill>
                <a:latin typeface="Calibri"/>
                <a:ea typeface="Calibri"/>
                <a:cs typeface="Calibri"/>
                <a:sym typeface="Calibri"/>
              </a:rPr>
              <a:t> - CPU time to run your code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Storage</a:t>
            </a:r>
            <a:r>
              <a:rPr lang="en-US" sz="2000" b="0" i="0" u="none" strike="noStrike" cap="none">
                <a:solidFill>
                  <a:srgbClr val="666677"/>
                </a:solidFill>
                <a:latin typeface="Calibri"/>
                <a:ea typeface="Calibri"/>
                <a:cs typeface="Calibri"/>
                <a:sym typeface="Calibri"/>
              </a:rPr>
              <a:t> - disks for your files and databases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Networking</a:t>
            </a:r>
            <a:r>
              <a:rPr lang="en-US" sz="2000" b="0" i="0" u="none" strike="noStrike" cap="none">
                <a:solidFill>
                  <a:srgbClr val="666677"/>
                </a:solidFill>
                <a:latin typeface="Calibri"/>
                <a:ea typeface="Calibri"/>
                <a:cs typeface="Calibri"/>
                <a:sym typeface="Calibri"/>
              </a:rPr>
              <a:t> - routes from the internet to your code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There are a hundred cloud providers (AWS, Google, Azure, Railway, </a:t>
            </a:r>
            <a:r>
              <a:rPr lang="en-US" sz="2400">
                <a:solidFill>
                  <a:srgbClr val="333344"/>
                </a:solidFill>
                <a:latin typeface="Calibri"/>
                <a:ea typeface="Calibri"/>
                <a:cs typeface="Calibri"/>
                <a:sym typeface="Calibri"/>
              </a:rPr>
              <a:t>Fly, Vercel,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They all sell some combination of </a:t>
            </a:r>
            <a:r>
              <a:rPr lang="en-US" sz="2000">
                <a:solidFill>
                  <a:srgbClr val="666677"/>
                </a:solidFill>
                <a:latin typeface="Calibri"/>
                <a:ea typeface="Calibri"/>
                <a:cs typeface="Calibri"/>
                <a:sym typeface="Calibri"/>
              </a:rPr>
              <a:t>those three things.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real question isn't </a:t>
            </a:r>
            <a:r>
              <a:rPr lang="en-US" sz="2000" b="1" i="0" u="none" strike="noStrike" cap="none">
                <a:solidFill>
                  <a:srgbClr val="666677"/>
                </a:solidFill>
                <a:latin typeface="Calibri"/>
                <a:ea typeface="Calibri"/>
                <a:cs typeface="Calibri"/>
                <a:sym typeface="Calibri"/>
              </a:rPr>
              <a:t>which cloud</a:t>
            </a: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a:t>
            </a:r>
            <a:r>
              <a:rPr lang="en-US"/>
              <a:t> </a:t>
            </a:r>
            <a:r>
              <a:rPr lang="en-US" sz="2000" b="0" i="0" u="none" strike="noStrike" cap="none">
                <a:solidFill>
                  <a:srgbClr val="666677"/>
                </a:solidFill>
                <a:latin typeface="Calibri"/>
                <a:ea typeface="Calibri"/>
                <a:cs typeface="Calibri"/>
                <a:sym typeface="Calibri"/>
              </a:rPr>
              <a:t>it's </a:t>
            </a:r>
            <a:r>
              <a:rPr lang="en-US" sz="2000" b="1" i="0" u="none" strike="noStrike" cap="none">
                <a:solidFill>
                  <a:srgbClr val="666677"/>
                </a:solidFill>
                <a:latin typeface="Calibri"/>
                <a:ea typeface="Calibri"/>
                <a:cs typeface="Calibri"/>
                <a:sym typeface="Calibri"/>
              </a:rPr>
              <a:t>how much of the work do you want to do yourself?</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76" name="Google Shape;176;g3e9389fd93b_0_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Four ways to deploy, easiest to hardest</a:t>
            </a:r>
            <a:endParaRPr/>
          </a:p>
        </p:txBody>
      </p:sp>
      <p:sp>
        <p:nvSpPr>
          <p:cNvPr id="177" name="Google Shape;177;g3e9389fd93b_0_0"/>
          <p:cNvSpPr txBox="1"/>
          <p:nvPr/>
        </p:nvSpPr>
        <p:spPr>
          <a:xfrm>
            <a:off x="914400" y="1463040"/>
            <a:ext cx="10362900" cy="10773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 Static hosting.</a:t>
            </a:r>
            <a:r>
              <a:rPr lang="en-US" sz="2000" b="0" i="0" u="none" strike="noStrike" cap="none">
                <a:solidFill>
                  <a:srgbClr val="666677"/>
                </a:solidFill>
                <a:latin typeface="Calibri"/>
                <a:ea typeface="Calibri"/>
                <a:cs typeface="Calibri"/>
                <a:sym typeface="Calibri"/>
              </a:rPr>
              <a:t> Give them built HTML/JS/CSS, they serve</a:t>
            </a:r>
            <a:r>
              <a:rPr lang="en-US" sz="2000">
                <a:solidFill>
                  <a:srgbClr val="666677"/>
                </a:solidFill>
                <a:latin typeface="Calibri"/>
                <a:ea typeface="Calibri"/>
                <a:cs typeface="Calibri"/>
                <a:sym typeface="Calibri"/>
              </a:rPr>
              <a:t> it on a CDN.</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Vercel (originally), Netlify, Cloudflare Pages. Frontend only.</a:t>
            </a:r>
            <a:endParaRPr/>
          </a:p>
          <a:p>
            <a:pPr marL="457200" marR="0" lvl="1" indent="0" algn="l" rtl="0">
              <a:spcBef>
                <a:spcPts val="6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2"/>
        <p:cNvGrpSpPr/>
        <p:nvPr/>
      </p:nvGrpSpPr>
      <p:grpSpPr>
        <a:xfrm>
          <a:off x="0" y="0"/>
          <a:ext cx="0" cy="0"/>
          <a:chOff x="0" y="0"/>
          <a:chExt cx="0" cy="0"/>
        </a:xfrm>
      </p:grpSpPr>
      <p:sp>
        <p:nvSpPr>
          <p:cNvPr id="183" name="Google Shape;183;g3e9389fd93b_0_1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Four ways to deploy, easiest to hardest</a:t>
            </a:r>
            <a:endParaRPr/>
          </a:p>
        </p:txBody>
      </p:sp>
      <p:sp>
        <p:nvSpPr>
          <p:cNvPr id="184" name="Google Shape;184;g3e9389fd93b_0_12"/>
          <p:cNvSpPr txBox="1"/>
          <p:nvPr/>
        </p:nvSpPr>
        <p:spPr>
          <a:xfrm>
            <a:off x="914400" y="1463040"/>
            <a:ext cx="10362900" cy="26166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 Static hosting.</a:t>
            </a:r>
            <a:r>
              <a:rPr lang="en-US" sz="2000" b="0" i="0" u="none" strike="noStrike" cap="none">
                <a:solidFill>
                  <a:srgbClr val="666677"/>
                </a:solidFill>
                <a:latin typeface="Calibri"/>
                <a:ea typeface="Calibri"/>
                <a:cs typeface="Calibri"/>
                <a:sym typeface="Calibri"/>
              </a:rPr>
              <a:t> Give them built HTML/JS/CSS, they serve</a:t>
            </a:r>
            <a:r>
              <a:rPr lang="en-US" sz="2000">
                <a:solidFill>
                  <a:srgbClr val="666677"/>
                </a:solidFill>
                <a:latin typeface="Calibri"/>
                <a:ea typeface="Calibri"/>
                <a:cs typeface="Calibri"/>
                <a:sym typeface="Calibri"/>
              </a:rPr>
              <a:t> it on a CDN.</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Vercel (originally), Netlify, Cloudflare Pages. Frontend only.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 Platform-as-a-Service.</a:t>
            </a:r>
            <a:r>
              <a:rPr lang="en-US" sz="2000" b="0" i="0" u="none" strike="noStrike" cap="none">
                <a:solidFill>
                  <a:srgbClr val="666677"/>
                </a:solidFill>
                <a:latin typeface="Calibri"/>
                <a:ea typeface="Calibri"/>
                <a:cs typeface="Calibri"/>
                <a:sym typeface="Calibri"/>
              </a:rPr>
              <a:t> Give them a code repo, they figure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out how to run it. Logs, HTTPS, env vars, auto-deploy on push.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Railway</a:t>
            </a:r>
            <a:r>
              <a:rPr lang="en-US" sz="2000" b="0" i="0" u="none" strike="noStrike" cap="none">
                <a:solidFill>
                  <a:srgbClr val="666677"/>
                </a:solidFill>
                <a:latin typeface="Calibri"/>
                <a:ea typeface="Calibri"/>
                <a:cs typeface="Calibri"/>
                <a:sym typeface="Calibri"/>
              </a:rPr>
              <a:t>, Render, Fly.io, Heroku. This is what we're using.</a:t>
            </a:r>
            <a:endParaRPr/>
          </a:p>
          <a:p>
            <a:pPr marL="457200" marR="0" lvl="1" indent="0" algn="l" rtl="0">
              <a:spcBef>
                <a:spcPts val="6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9"/>
        <p:cNvGrpSpPr/>
        <p:nvPr/>
      </p:nvGrpSpPr>
      <p:grpSpPr>
        <a:xfrm>
          <a:off x="0" y="0"/>
          <a:ext cx="0" cy="0"/>
          <a:chOff x="0" y="0"/>
          <a:chExt cx="0" cy="0"/>
        </a:xfrm>
      </p:grpSpPr>
      <p:sp>
        <p:nvSpPr>
          <p:cNvPr id="190" name="Google Shape;190;g3e9389fd93b_0_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Four ways to deploy, easiest to hardest</a:t>
            </a:r>
            <a:endParaRPr/>
          </a:p>
        </p:txBody>
      </p:sp>
      <p:sp>
        <p:nvSpPr>
          <p:cNvPr id="191" name="Google Shape;191;g3e9389fd93b_0_6"/>
          <p:cNvSpPr txBox="1"/>
          <p:nvPr/>
        </p:nvSpPr>
        <p:spPr>
          <a:xfrm>
            <a:off x="914400" y="1463040"/>
            <a:ext cx="10362900" cy="41559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 Static hosting.</a:t>
            </a:r>
            <a:r>
              <a:rPr lang="en-US" sz="2000" b="0" i="0" u="none" strike="noStrike" cap="none">
                <a:solidFill>
                  <a:srgbClr val="666677"/>
                </a:solidFill>
                <a:latin typeface="Calibri"/>
                <a:ea typeface="Calibri"/>
                <a:cs typeface="Calibri"/>
                <a:sym typeface="Calibri"/>
              </a:rPr>
              <a:t> Give them built HTML/JS/CSS, they serve</a:t>
            </a:r>
            <a:r>
              <a:rPr lang="en-US" sz="2000">
                <a:solidFill>
                  <a:srgbClr val="666677"/>
                </a:solidFill>
                <a:latin typeface="Calibri"/>
                <a:ea typeface="Calibri"/>
                <a:cs typeface="Calibri"/>
                <a:sym typeface="Calibri"/>
              </a:rPr>
              <a:t> it on a CDN.</a:t>
            </a:r>
            <a:endParaRPr>
              <a:solidFill>
                <a:schemeClr val="dk1"/>
              </a:solidFill>
            </a:endParaRPr>
          </a:p>
          <a:p>
            <a:pPr marL="457200" lvl="1" indent="0" algn="l" rtl="0">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Vercel (originally), Netlify, Cloudflare Pages. Frontend only.</a:t>
            </a:r>
            <a:endParaRPr>
              <a:solidFill>
                <a:schemeClr val="dk1"/>
              </a:solidFill>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 Platform-as-a-Service.</a:t>
            </a:r>
            <a:r>
              <a:rPr lang="en-US" sz="2000" b="0" i="0" u="none" strike="noStrike" cap="none">
                <a:solidFill>
                  <a:srgbClr val="666677"/>
                </a:solidFill>
                <a:latin typeface="Calibri"/>
                <a:ea typeface="Calibri"/>
                <a:cs typeface="Calibri"/>
                <a:sym typeface="Calibri"/>
              </a:rPr>
              <a:t> Give them a code repo, they figure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out how to run it. Logs, HTTPS, env vars, auto-deploy on push.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Railway</a:t>
            </a:r>
            <a:r>
              <a:rPr lang="en-US" sz="2000" b="0" i="0" u="none" strike="noStrike" cap="none">
                <a:solidFill>
                  <a:srgbClr val="666677"/>
                </a:solidFill>
                <a:latin typeface="Calibri"/>
                <a:ea typeface="Calibri"/>
                <a:cs typeface="Calibri"/>
                <a:sym typeface="Calibri"/>
              </a:rPr>
              <a:t>, Render, Fly.io, Heroku. This is what we're using.</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 Containers.</a:t>
            </a:r>
            <a:r>
              <a:rPr lang="en-US" sz="2000" b="0" i="0" u="none" strike="noStrike" cap="none">
                <a:solidFill>
                  <a:srgbClr val="666677"/>
                </a:solidFill>
                <a:latin typeface="Calibri"/>
                <a:ea typeface="Calibri"/>
                <a:cs typeface="Calibri"/>
                <a:sym typeface="Calibri"/>
              </a:rPr>
              <a:t> Package the runtime in a Docker image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hand it over. More control, slightly more work. Fly, ECS,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Kubernetes. We'll see this </a:t>
            </a:r>
            <a:r>
              <a:rPr lang="en-US" sz="2000">
                <a:solidFill>
                  <a:srgbClr val="666677"/>
                </a:solidFill>
                <a:latin typeface="Calibri"/>
                <a:ea typeface="Calibri"/>
                <a:cs typeface="Calibri"/>
                <a:sym typeface="Calibri"/>
              </a:rPr>
              <a:t>later</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p1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Four ways to deploy, easiest to hardest</a:t>
            </a:r>
            <a:endParaRPr/>
          </a:p>
        </p:txBody>
      </p:sp>
      <p:sp>
        <p:nvSpPr>
          <p:cNvPr id="198" name="Google Shape;198;p14"/>
          <p:cNvSpPr txBox="1"/>
          <p:nvPr/>
        </p:nvSpPr>
        <p:spPr>
          <a:xfrm>
            <a:off x="914400" y="1463040"/>
            <a:ext cx="10362900" cy="501780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 Static hosting.</a:t>
            </a:r>
            <a:r>
              <a:rPr lang="en-US" sz="2000" b="0" i="0" u="none" strike="noStrike" cap="none">
                <a:solidFill>
                  <a:srgbClr val="666677"/>
                </a:solidFill>
                <a:latin typeface="Calibri"/>
                <a:ea typeface="Calibri"/>
                <a:cs typeface="Calibri"/>
                <a:sym typeface="Calibri"/>
              </a:rPr>
              <a:t> Give them built HTML/JS/CSS, they serve it on a CDN.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Vercel (o</a:t>
            </a:r>
            <a:r>
              <a:rPr lang="en-US" sz="2000">
                <a:solidFill>
                  <a:srgbClr val="666677"/>
                </a:solidFill>
                <a:latin typeface="Calibri"/>
                <a:ea typeface="Calibri"/>
                <a:cs typeface="Calibri"/>
                <a:sym typeface="Calibri"/>
              </a:rPr>
              <a:t>riginally)</a:t>
            </a:r>
            <a:r>
              <a:rPr lang="en-US" sz="2000" b="0" i="0" u="none" strike="noStrike" cap="none">
                <a:solidFill>
                  <a:srgbClr val="666677"/>
                </a:solidFill>
                <a:latin typeface="Calibri"/>
                <a:ea typeface="Calibri"/>
                <a:cs typeface="Calibri"/>
                <a:sym typeface="Calibri"/>
              </a:rPr>
              <a:t>, Netlify, Cloudflare Pages. Frontend only.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 Platform-as-a-Service.</a:t>
            </a:r>
            <a:r>
              <a:rPr lang="en-US" sz="2000" b="0" i="0" u="none" strike="noStrike" cap="none">
                <a:solidFill>
                  <a:srgbClr val="666677"/>
                </a:solidFill>
                <a:latin typeface="Calibri"/>
                <a:ea typeface="Calibri"/>
                <a:cs typeface="Calibri"/>
                <a:sym typeface="Calibri"/>
              </a:rPr>
              <a:t> Give them a code repo, they figure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out how to run it. Logs, HTTPS, env vars, auto-deploy on push.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Railway</a:t>
            </a:r>
            <a:r>
              <a:rPr lang="en-US" sz="2000" b="0" i="0" u="none" strike="noStrike" cap="none">
                <a:solidFill>
                  <a:srgbClr val="666677"/>
                </a:solidFill>
                <a:latin typeface="Calibri"/>
                <a:ea typeface="Calibri"/>
                <a:cs typeface="Calibri"/>
                <a:sym typeface="Calibri"/>
              </a:rPr>
              <a:t>, Render, Fly.io, Heroku. This is what we're using.</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 Containers.</a:t>
            </a:r>
            <a:r>
              <a:rPr lang="en-US" sz="2000" b="0" i="0" u="none" strike="noStrike" cap="none">
                <a:solidFill>
                  <a:srgbClr val="666677"/>
                </a:solidFill>
                <a:latin typeface="Calibri"/>
                <a:ea typeface="Calibri"/>
                <a:cs typeface="Calibri"/>
                <a:sym typeface="Calibri"/>
              </a:rPr>
              <a:t> Package the runtime in a Docker image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hand it over. More control, slightly more work. Fly, ECS,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Kubernetes. We'll see this </a:t>
            </a:r>
            <a:r>
              <a:rPr lang="en-US" sz="2000">
                <a:solidFill>
                  <a:srgbClr val="666677"/>
                </a:solidFill>
                <a:latin typeface="Calibri"/>
                <a:ea typeface="Calibri"/>
                <a:cs typeface="Calibri"/>
                <a:sym typeface="Calibri"/>
              </a:rPr>
              <a:t>later</a:t>
            </a:r>
            <a:r>
              <a:rPr lang="en-US" sz="2000" b="0" i="0" u="none" strike="noStrike" cap="none">
                <a:solidFill>
                  <a:srgbClr val="666677"/>
                </a:solidFill>
                <a:latin typeface="Calibri"/>
                <a:ea typeface="Calibri"/>
                <a:cs typeface="Calibri"/>
                <a:sym typeface="Calibri"/>
              </a:rPr>
              <a: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 Infrastructure-as-a-Service.</a:t>
            </a:r>
            <a:r>
              <a:rPr lang="en-US" sz="2000" b="0" i="0" u="none" strike="noStrike" cap="none">
                <a:solidFill>
                  <a:srgbClr val="666677"/>
                </a:solidFill>
                <a:latin typeface="Calibri"/>
                <a:ea typeface="Calibri"/>
                <a:cs typeface="Calibri"/>
                <a:sym typeface="Calibri"/>
              </a:rPr>
              <a:t> Rent a bare Linux machine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do everything yourself. AWS EC2, DigitalOcean.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p1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If I gave you a bare Linux box...</a:t>
            </a:r>
            <a:endParaRPr/>
          </a:p>
        </p:txBody>
      </p:sp>
      <p:sp>
        <p:nvSpPr>
          <p:cNvPr id="205" name="Google Shape;205;p17"/>
          <p:cNvSpPr txBox="1"/>
          <p:nvPr/>
        </p:nvSpPr>
        <p:spPr>
          <a:xfrm>
            <a:off x="914400" y="1463040"/>
            <a:ext cx="10362900" cy="273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Suppose I rented you a bare Linux VM from DigitalOcean. SSH access,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nothing installed. You've got your FastAPI + React + Postgres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code. Get a website live on the public internet that anyone can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visit.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What's on your todo list? </a:t>
            </a:r>
            <a:endParaRPr/>
          </a:p>
          <a:p>
            <a:pPr marL="0" marR="0" lvl="0" indent="0" algn="l" rtl="0">
              <a:spcBef>
                <a:spcPts val="6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sp>
        <p:nvSpPr>
          <p:cNvPr id="211" name="Google Shape;211;p1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Start as high up the ladder as you can</a:t>
            </a:r>
            <a:endParaRPr/>
          </a:p>
        </p:txBody>
      </p:sp>
      <p:sp>
        <p:nvSpPr>
          <p:cNvPr id="212" name="Google Shape;212;p15"/>
          <p:cNvSpPr txBox="1"/>
          <p:nvPr/>
        </p:nvSpPr>
        <p:spPr>
          <a:xfrm>
            <a:off x="914400" y="1463040"/>
            <a:ext cx="10362900" cy="504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Rule of thumb for picking a deployment tier:</a:t>
            </a:r>
            <a:endParaRPr sz="2400" b="1"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Start at tier 1 if you have no backend.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Start at tier 2 if you do.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Only drop to tier 3 when you need control the PaaS can't give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Only drop to tier 4 when you're running a real company.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For your final project, </a:t>
            </a:r>
            <a:r>
              <a:rPr lang="en-US" sz="2400" b="1" i="0" u="none" strike="noStrike" cap="none">
                <a:solidFill>
                  <a:srgbClr val="333344"/>
                </a:solidFill>
                <a:latin typeface="Calibri"/>
                <a:ea typeface="Calibri"/>
                <a:cs typeface="Calibri"/>
                <a:sym typeface="Calibri"/>
              </a:rPr>
              <a:t>tier 2 is always right.</a:t>
            </a:r>
            <a:r>
              <a:rPr lang="en-US" sz="2400" b="0" i="0" u="none" strike="noStrike" cap="none">
                <a:solidFill>
                  <a:srgbClr val="333344"/>
                </a:solidFill>
                <a:latin typeface="Calibri"/>
                <a:ea typeface="Calibri"/>
                <a:cs typeface="Calibri"/>
                <a:sym typeface="Calibri"/>
              </a:rPr>
              <a:t> PaaS platforms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exist specifically to handle the case of "I'm one person (or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small team) with a web app, get it running on the internet."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They're doing a lot of boring work for you and charging you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few dollars a month.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7"/>
        <p:cNvGrpSpPr/>
        <p:nvPr/>
      </p:nvGrpSpPr>
      <p:grpSpPr>
        <a:xfrm>
          <a:off x="0" y="0"/>
          <a:ext cx="0" cy="0"/>
          <a:chOff x="0" y="0"/>
          <a:chExt cx="0" cy="0"/>
        </a:xfrm>
      </p:grpSpPr>
      <p:sp>
        <p:nvSpPr>
          <p:cNvPr id="218" name="Google Shape;218;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Our stack: Railway + Supabase + GitHub</a:t>
            </a:r>
            <a:endParaRPr/>
          </a:p>
        </p:txBody>
      </p:sp>
      <p:sp>
        <p:nvSpPr>
          <p:cNvPr id="219" name="Google Shape;219;p16"/>
          <p:cNvSpPr txBox="1"/>
          <p:nvPr/>
        </p:nvSpPr>
        <p:spPr>
          <a:xfrm>
            <a:off x="914400" y="1280140"/>
            <a:ext cx="10362900" cy="504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For the final project, you're using three services together:</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GitHub</a:t>
            </a:r>
            <a:r>
              <a:rPr lang="en-US" sz="2000" b="0" i="0" u="none" strike="noStrike" cap="none">
                <a:solidFill>
                  <a:srgbClr val="666677"/>
                </a:solidFill>
                <a:latin typeface="Calibri"/>
                <a:ea typeface="Calibri"/>
                <a:cs typeface="Calibri"/>
                <a:sym typeface="Calibri"/>
              </a:rPr>
              <a:t> - where your source code lives. One repo per team.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Railway</a:t>
            </a:r>
            <a:r>
              <a:rPr lang="en-US" sz="2000" b="0" i="0" u="none" strike="noStrike" cap="none">
                <a:solidFill>
                  <a:srgbClr val="666677"/>
                </a:solidFill>
                <a:latin typeface="Calibri"/>
                <a:ea typeface="Calibri"/>
                <a:cs typeface="Calibri"/>
                <a:sym typeface="Calibri"/>
              </a:rPr>
              <a:t> - where your app runs. Railway watches your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and rebuilds the app every time you push to main. Public HTTPS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URL, logs, env vars, one-click rollback.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Supabase</a:t>
            </a:r>
            <a:r>
              <a:rPr lang="en-US" sz="2000" b="0" i="0" u="none" strike="noStrike" cap="none">
                <a:solidFill>
                  <a:srgbClr val="666677"/>
                </a:solidFill>
                <a:latin typeface="Calibri"/>
                <a:ea typeface="Calibri"/>
                <a:cs typeface="Calibri"/>
                <a:sym typeface="Calibri"/>
              </a:rPr>
              <a:t> - where your database lives. Managed Postgres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a URL your FastAPI app connects to at startup. Plus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optional auth, storage, and realtime you can use if you want.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4"/>
        <p:cNvGrpSpPr/>
        <p:nvPr/>
      </p:nvGrpSpPr>
      <p:grpSpPr>
        <a:xfrm>
          <a:off x="0" y="0"/>
          <a:ext cx="0" cy="0"/>
          <a:chOff x="0" y="0"/>
          <a:chExt cx="0" cy="0"/>
        </a:xfrm>
      </p:grpSpPr>
      <p:sp>
        <p:nvSpPr>
          <p:cNvPr id="225" name="Google Shape;225;g3e9389fd93b_0_4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PaaS actually buys you</a:t>
            </a:r>
            <a:endParaRPr/>
          </a:p>
        </p:txBody>
      </p:sp>
      <p:sp>
        <p:nvSpPr>
          <p:cNvPr id="226" name="Google Shape;226;g3e9389fd93b_0_48"/>
          <p:cNvSpPr txBox="1"/>
          <p:nvPr/>
        </p:nvSpPr>
        <p:spPr>
          <a:xfrm>
            <a:off x="914400" y="1180125"/>
            <a:ext cx="10645800" cy="5371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Everything </a:t>
            </a:r>
            <a:r>
              <a:rPr lang="en-US" sz="2400">
                <a:solidFill>
                  <a:srgbClr val="333344"/>
                </a:solidFill>
                <a:latin typeface="Calibri"/>
                <a:ea typeface="Calibri"/>
                <a:cs typeface="Calibri"/>
                <a:sym typeface="Calibri"/>
              </a:rPr>
              <a:t>we discussed previously</a:t>
            </a:r>
            <a:r>
              <a:rPr lang="en-US" sz="2400" b="0" i="0" u="none" strike="noStrike" cap="none">
                <a:solidFill>
                  <a:srgbClr val="333344"/>
                </a:solidFill>
                <a:latin typeface="Calibri"/>
                <a:ea typeface="Calibri"/>
                <a:cs typeface="Calibri"/>
                <a:sym typeface="Calibri"/>
              </a:rPr>
              <a:t>, Railway gives you by default.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Each one is a piece of infrastructure work somebody (probably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would have to do on a bare box:</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Reverse proxy</a:t>
            </a:r>
            <a:r>
              <a:rPr lang="en-US" sz="2000" b="0" i="0" u="none" strike="noStrike" cap="none">
                <a:solidFill>
                  <a:srgbClr val="666677"/>
                </a:solidFill>
                <a:latin typeface="Calibri"/>
                <a:ea typeface="Calibri"/>
                <a:cs typeface="Calibri"/>
                <a:sym typeface="Calibri"/>
              </a:rPr>
              <a:t> with HTTPS and a valid cert (nginx + certbot)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Build pipeline</a:t>
            </a:r>
            <a:r>
              <a:rPr lang="en-US" sz="2000" b="0" i="0" u="none" strike="noStrike" cap="none">
                <a:solidFill>
                  <a:srgbClr val="666677"/>
                </a:solidFill>
                <a:latin typeface="Calibri"/>
                <a:ea typeface="Calibri"/>
                <a:cs typeface="Calibri"/>
                <a:sym typeface="Calibri"/>
              </a:rPr>
              <a:t> that detects your stack, installs deps, builds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 frontend (Nixpacks or buildpacks under the hood)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Process manager</a:t>
            </a:r>
            <a:r>
              <a:rPr lang="en-US" sz="2000" b="0" i="0" u="none" strike="noStrike" cap="none">
                <a:solidFill>
                  <a:srgbClr val="666677"/>
                </a:solidFill>
                <a:latin typeface="Calibri"/>
                <a:ea typeface="Calibri"/>
                <a:cs typeface="Calibri"/>
                <a:sym typeface="Calibri"/>
              </a:rPr>
              <a:t> that keeps your app running and restarts it</a:t>
            </a:r>
            <a:r>
              <a:rPr lang="en-US"/>
              <a:t> </a:t>
            </a:r>
            <a:r>
              <a:rPr lang="en-US" sz="2000" b="0" i="0" u="none" strike="noStrike" cap="none">
                <a:solidFill>
                  <a:srgbClr val="666677"/>
                </a:solidFill>
                <a:latin typeface="Calibri"/>
                <a:ea typeface="Calibri"/>
                <a:cs typeface="Calibri"/>
                <a:sym typeface="Calibri"/>
              </a:rPr>
              <a:t>on crash (systemd / supervisord)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Secrets management</a:t>
            </a:r>
            <a:r>
              <a:rPr lang="en-US" sz="2000" b="0" i="0" u="none" strike="noStrike" cap="none">
                <a:solidFill>
                  <a:srgbClr val="666677"/>
                </a:solidFill>
                <a:latin typeface="Calibri"/>
                <a:ea typeface="Calibri"/>
                <a:cs typeface="Calibri"/>
                <a:sym typeface="Calibri"/>
              </a:rPr>
              <a:t> via env vars in the dashboard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Log streaming</a:t>
            </a:r>
            <a:r>
              <a:rPr lang="en-US" sz="2000" b="0" i="0" u="none" strike="noStrike" cap="none">
                <a:solidFill>
                  <a:srgbClr val="666677"/>
                </a:solidFill>
                <a:latin typeface="Calibri"/>
                <a:ea typeface="Calibri"/>
                <a:cs typeface="Calibri"/>
                <a:sym typeface="Calibri"/>
              </a:rPr>
              <a:t> in real time, searchable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a:t>
            </a:r>
            <a:r>
              <a:rPr lang="en-US" sz="2000" b="1">
                <a:solidFill>
                  <a:srgbClr val="666677"/>
                </a:solidFill>
                <a:latin typeface="Calibri"/>
                <a:ea typeface="Calibri"/>
                <a:cs typeface="Calibri"/>
                <a:sym typeface="Calibri"/>
              </a:rPr>
              <a:t>ontinuous deployment (CD)</a:t>
            </a:r>
            <a:r>
              <a:rPr lang="en-US" sz="2000" b="1" i="0" u="none" strike="noStrike" cap="none">
                <a:solidFill>
                  <a:srgbClr val="666677"/>
                </a:solidFill>
                <a:latin typeface="Calibri"/>
                <a:ea typeface="Calibri"/>
                <a:cs typeface="Calibri"/>
                <a:sym typeface="Calibri"/>
              </a:rPr>
              <a:t> trigger</a:t>
            </a:r>
            <a:r>
              <a:rPr lang="en-US" sz="2000" b="0" i="0" u="none" strike="noStrike" cap="none">
                <a:solidFill>
                  <a:srgbClr val="666677"/>
                </a:solidFill>
                <a:latin typeface="Calibri"/>
                <a:ea typeface="Calibri"/>
                <a:cs typeface="Calibri"/>
                <a:sym typeface="Calibri"/>
              </a:rPr>
              <a:t> wired to your GitHub repo - push to main, get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deploy. Rollback is one click.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sp>
        <p:nvSpPr>
          <p:cNvPr id="232" name="Google Shape;232;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a PaaS actually buys you</a:t>
            </a:r>
            <a:endParaRPr/>
          </a:p>
        </p:txBody>
      </p:sp>
      <p:sp>
        <p:nvSpPr>
          <p:cNvPr id="233" name="Google Shape;233;p18"/>
          <p:cNvSpPr txBox="1"/>
          <p:nvPr/>
        </p:nvSpPr>
        <p:spPr>
          <a:xfrm>
            <a:off x="914400" y="1180125"/>
            <a:ext cx="10645800" cy="614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Everything </a:t>
            </a:r>
            <a:r>
              <a:rPr lang="en-US" sz="2400">
                <a:solidFill>
                  <a:srgbClr val="333344"/>
                </a:solidFill>
                <a:latin typeface="Calibri"/>
                <a:ea typeface="Calibri"/>
                <a:cs typeface="Calibri"/>
                <a:sym typeface="Calibri"/>
              </a:rPr>
              <a:t>we discussed previously</a:t>
            </a:r>
            <a:r>
              <a:rPr lang="en-US" sz="2400" b="0" i="0" u="none" strike="noStrike" cap="none">
                <a:solidFill>
                  <a:srgbClr val="333344"/>
                </a:solidFill>
                <a:latin typeface="Calibri"/>
                <a:ea typeface="Calibri"/>
                <a:cs typeface="Calibri"/>
                <a:sym typeface="Calibri"/>
              </a:rPr>
              <a:t>, Railway gives you by default.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Each one is a piece of infrastructure work somebody (probably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would have to do on a bare box:</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Reverse proxy</a:t>
            </a:r>
            <a:r>
              <a:rPr lang="en-US" sz="2000" b="0" i="0" u="none" strike="noStrike" cap="none">
                <a:solidFill>
                  <a:srgbClr val="666677"/>
                </a:solidFill>
                <a:latin typeface="Calibri"/>
                <a:ea typeface="Calibri"/>
                <a:cs typeface="Calibri"/>
                <a:sym typeface="Calibri"/>
              </a:rPr>
              <a:t> with HTTPS and a valid cert (nginx + certbot)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Build pipeline</a:t>
            </a:r>
            <a:r>
              <a:rPr lang="en-US" sz="2000" b="0" i="0" u="none" strike="noStrike" cap="none">
                <a:solidFill>
                  <a:srgbClr val="666677"/>
                </a:solidFill>
                <a:latin typeface="Calibri"/>
                <a:ea typeface="Calibri"/>
                <a:cs typeface="Calibri"/>
                <a:sym typeface="Calibri"/>
              </a:rPr>
              <a:t> that detects your stack, installs deps, builds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 frontend (Nixpacks or buildpacks under the hood)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Process manager</a:t>
            </a:r>
            <a:r>
              <a:rPr lang="en-US" sz="2000" b="0" i="0" u="none" strike="noStrike" cap="none">
                <a:solidFill>
                  <a:srgbClr val="666677"/>
                </a:solidFill>
                <a:latin typeface="Calibri"/>
                <a:ea typeface="Calibri"/>
                <a:cs typeface="Calibri"/>
                <a:sym typeface="Calibri"/>
              </a:rPr>
              <a:t> that keeps your app running and restarts it</a:t>
            </a:r>
            <a:r>
              <a:rPr lang="en-US"/>
              <a:t> </a:t>
            </a:r>
            <a:r>
              <a:rPr lang="en-US" sz="2000" b="0" i="0" u="none" strike="noStrike" cap="none">
                <a:solidFill>
                  <a:srgbClr val="666677"/>
                </a:solidFill>
                <a:latin typeface="Calibri"/>
                <a:ea typeface="Calibri"/>
                <a:cs typeface="Calibri"/>
                <a:sym typeface="Calibri"/>
              </a:rPr>
              <a:t>on crash (systemd / supervisord)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Secrets management</a:t>
            </a:r>
            <a:r>
              <a:rPr lang="en-US" sz="2000" b="0" i="0" u="none" strike="noStrike" cap="none">
                <a:solidFill>
                  <a:srgbClr val="666677"/>
                </a:solidFill>
                <a:latin typeface="Calibri"/>
                <a:ea typeface="Calibri"/>
                <a:cs typeface="Calibri"/>
                <a:sym typeface="Calibri"/>
              </a:rPr>
              <a:t> via env vars in the dashboard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Log streaming</a:t>
            </a:r>
            <a:r>
              <a:rPr lang="en-US" sz="2000" b="0" i="0" u="none" strike="noStrike" cap="none">
                <a:solidFill>
                  <a:srgbClr val="666677"/>
                </a:solidFill>
                <a:latin typeface="Calibri"/>
                <a:ea typeface="Calibri"/>
                <a:cs typeface="Calibri"/>
                <a:sym typeface="Calibri"/>
              </a:rPr>
              <a:t> in real time, searchable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a:t>
            </a:r>
            <a:r>
              <a:rPr lang="en-US" sz="2000" b="1">
                <a:solidFill>
                  <a:srgbClr val="666677"/>
                </a:solidFill>
                <a:latin typeface="Calibri"/>
                <a:ea typeface="Calibri"/>
                <a:cs typeface="Calibri"/>
                <a:sym typeface="Calibri"/>
              </a:rPr>
              <a:t>ontinuous deployment (CD)</a:t>
            </a:r>
            <a:r>
              <a:rPr lang="en-US" sz="2000" b="1" i="0" u="none" strike="noStrike" cap="none">
                <a:solidFill>
                  <a:srgbClr val="666677"/>
                </a:solidFill>
                <a:latin typeface="Calibri"/>
                <a:ea typeface="Calibri"/>
                <a:cs typeface="Calibri"/>
                <a:sym typeface="Calibri"/>
              </a:rPr>
              <a:t> trigger</a:t>
            </a:r>
            <a:r>
              <a:rPr lang="en-US" sz="2000" b="0" i="0" u="none" strike="noStrike" cap="none">
                <a:solidFill>
                  <a:srgbClr val="666677"/>
                </a:solidFill>
                <a:latin typeface="Calibri"/>
                <a:ea typeface="Calibri"/>
                <a:cs typeface="Calibri"/>
                <a:sym typeface="Calibri"/>
              </a:rPr>
              <a:t> wired to your GitHub repo - push to main, get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deploy. Rollback is one click.</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a:t>
            </a:r>
            <a:r>
              <a:rPr lang="en-US" sz="2000">
                <a:solidFill>
                  <a:srgbClr val="666677"/>
                </a:solidFill>
                <a:latin typeface="Calibri"/>
                <a:ea typeface="Calibri"/>
                <a:cs typeface="Calibri"/>
                <a:sym typeface="Calibri"/>
              </a:rPr>
              <a:t>Railway </a:t>
            </a:r>
            <a:r>
              <a:rPr lang="en-US" sz="2000" b="0" i="0" u="none" strike="noStrike" cap="none">
                <a:solidFill>
                  <a:srgbClr val="666677"/>
                </a:solidFill>
                <a:latin typeface="Calibri"/>
                <a:ea typeface="Calibri"/>
                <a:cs typeface="Calibri"/>
                <a:sym typeface="Calibri"/>
              </a:rPr>
              <a:t>itself running on AWS, by the way - it's clouds</a:t>
            </a:r>
            <a:r>
              <a:rPr lang="en-US"/>
              <a:t> </a:t>
            </a:r>
            <a:r>
              <a:rPr lang="en-US" sz="2000" b="0" i="0" u="none" strike="noStrike" cap="none">
                <a:solidFill>
                  <a:srgbClr val="666677"/>
                </a:solidFill>
                <a:latin typeface="Calibri"/>
                <a:ea typeface="Calibri"/>
                <a:cs typeface="Calibri"/>
                <a:sym typeface="Calibri"/>
              </a:rPr>
              <a:t>all the way down).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Supabase is a stack of services</a:t>
            </a:r>
            <a:endParaRPr/>
          </a:p>
        </p:txBody>
      </p:sp>
      <p:sp>
        <p:nvSpPr>
          <p:cNvPr id="240" name="Google Shape;240;p19"/>
          <p:cNvSpPr txBox="1"/>
          <p:nvPr/>
        </p:nvSpPr>
        <p:spPr>
          <a:xfrm>
            <a:off x="914388" y="1153165"/>
            <a:ext cx="10362900" cy="668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Supabase is not a single product. It's a bundle of open-source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services running together, each one solving a real problem you'd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otherwise have to solve yourself:</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Postgres</a:t>
            </a:r>
            <a:r>
              <a:rPr lang="en-US" sz="2000" b="0" i="0" u="none" strike="noStrike" cap="none">
                <a:solidFill>
                  <a:srgbClr val="666677"/>
                </a:solidFill>
                <a:latin typeface="Calibri"/>
                <a:ea typeface="Calibri"/>
                <a:cs typeface="Calibri"/>
                <a:sym typeface="Calibri"/>
              </a:rPr>
              <a:t> - the actual database. It's just Postgres. You</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could swap to Neon or RDS and the rest of your code wouldn't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change.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GoTrue</a:t>
            </a:r>
            <a:r>
              <a:rPr lang="en-US" sz="2000" b="0" i="0" u="none" strike="noStrike" cap="none">
                <a:solidFill>
                  <a:srgbClr val="666677"/>
                </a:solidFill>
                <a:latin typeface="Calibri"/>
                <a:ea typeface="Calibri"/>
                <a:cs typeface="Calibri"/>
                <a:sym typeface="Calibri"/>
              </a:rPr>
              <a:t> - the auth service. Issues JWTs, handles email/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password + Google/GitHub/etc OAuth, password reset, sessions.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PostgREST</a:t>
            </a:r>
            <a:r>
              <a:rPr lang="en-US" sz="2000" b="0" i="0" u="none" strike="noStrike" cap="none">
                <a:solidFill>
                  <a:srgbClr val="666677"/>
                </a:solidFill>
                <a:latin typeface="Calibri"/>
                <a:ea typeface="Calibri"/>
                <a:cs typeface="Calibri"/>
                <a:sym typeface="Calibri"/>
              </a:rPr>
              <a:t> - auto-generates a REST API from your tables.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won't use this much - you have your own FastAPI.)</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Realtime</a:t>
            </a:r>
            <a:r>
              <a:rPr lang="en-US" sz="2000" b="0" i="0" u="none" strike="noStrike" cap="none">
                <a:solidFill>
                  <a:srgbClr val="666677"/>
                </a:solidFill>
                <a:latin typeface="Calibri"/>
                <a:ea typeface="Calibri"/>
                <a:cs typeface="Calibri"/>
                <a:sym typeface="Calibri"/>
              </a:rPr>
              <a:t> - websocket server that publishes changes to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Postgres tables (INSERT/UPDATE/DELETE) to subscribed clients.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Storage</a:t>
            </a:r>
            <a:r>
              <a:rPr lang="en-US" sz="2000" b="0" i="0" u="none" strike="noStrike" cap="none">
                <a:solidFill>
                  <a:srgbClr val="666677"/>
                </a:solidFill>
                <a:latin typeface="Calibri"/>
                <a:ea typeface="Calibri"/>
                <a:cs typeface="Calibri"/>
                <a:sym typeface="Calibri"/>
              </a:rPr>
              <a:t> - S3-style file uploads with permission rules.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For your project, you'll definitely use Postgres + GoTrue.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others are there if you want them.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sp>
        <p:nvSpPr>
          <p:cNvPr id="246" name="Google Shape;246;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How your server knows who you are</a:t>
            </a:r>
            <a:endParaRPr/>
          </a:p>
        </p:txBody>
      </p:sp>
      <p:sp>
        <p:nvSpPr>
          <p:cNvPr id="247" name="Google Shape;247;p20"/>
          <p:cNvSpPr txBox="1"/>
          <p:nvPr/>
        </p:nvSpPr>
        <p:spPr>
          <a:xfrm>
            <a:off x="914397" y="1179260"/>
            <a:ext cx="10362900" cy="5139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When frontend calls your </a:t>
            </a:r>
            <a:r>
              <a:rPr lang="en-US" sz="2400" b="0" i="0" u="none" strike="noStrike" cap="none" dirty="0" err="1">
                <a:solidFill>
                  <a:srgbClr val="333344"/>
                </a:solidFill>
                <a:latin typeface="Calibri"/>
                <a:ea typeface="Calibri"/>
                <a:cs typeface="Calibri"/>
                <a:sym typeface="Calibri"/>
              </a:rPr>
              <a:t>FastAPI</a:t>
            </a:r>
            <a:r>
              <a:rPr lang="en-US" sz="2400" b="0" i="0" u="none" strike="noStrike" cap="none" dirty="0">
                <a:solidFill>
                  <a:srgbClr val="333344"/>
                </a:solidFill>
                <a:latin typeface="Calibri"/>
                <a:ea typeface="Calibri"/>
                <a:cs typeface="Calibri"/>
                <a:sym typeface="Calibri"/>
              </a:rPr>
              <a:t>, how does </a:t>
            </a:r>
            <a:r>
              <a:rPr lang="en-US" sz="2400" b="0" i="0" u="none" strike="noStrike" cap="none" dirty="0" err="1">
                <a:solidFill>
                  <a:srgbClr val="333344"/>
                </a:solidFill>
                <a:latin typeface="Calibri"/>
                <a:ea typeface="Calibri"/>
                <a:cs typeface="Calibri"/>
                <a:sym typeface="Calibri"/>
              </a:rPr>
              <a:t>FastAPI</a:t>
            </a:r>
            <a:r>
              <a:rPr lang="en-US" sz="2400" b="0" i="0" u="none" strike="noStrike" cap="none" dirty="0">
                <a:solidFill>
                  <a:srgbClr val="333344"/>
                </a:solidFill>
                <a:latin typeface="Calibri"/>
                <a:ea typeface="Calibri"/>
                <a:cs typeface="Calibri"/>
                <a:sym typeface="Calibri"/>
              </a:rPr>
              <a:t> know which user is calling?</a:t>
            </a: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1.</a:t>
            </a:r>
            <a:r>
              <a:rPr lang="en-US" sz="2000" b="0" i="0" u="none" strike="noStrike" cap="none" dirty="0">
                <a:solidFill>
                  <a:srgbClr val="666677"/>
                </a:solidFill>
                <a:latin typeface="Calibri"/>
                <a:ea typeface="Calibri"/>
                <a:cs typeface="Calibri"/>
                <a:sym typeface="Calibri"/>
              </a:rPr>
              <a:t> User logs in via </a:t>
            </a:r>
            <a:r>
              <a:rPr lang="en-US" sz="2000" b="0" i="0" u="none" strike="noStrike" cap="none" dirty="0" err="1">
                <a:solidFill>
                  <a:srgbClr val="666677"/>
                </a:solidFill>
                <a:latin typeface="Calibri"/>
                <a:ea typeface="Calibri"/>
                <a:cs typeface="Calibri"/>
                <a:sym typeface="Calibri"/>
              </a:rPr>
              <a:t>Supabase</a:t>
            </a:r>
            <a:r>
              <a:rPr lang="en-US" sz="2000" b="0" i="0" u="none" strike="noStrike" cap="none" dirty="0">
                <a:solidFill>
                  <a:srgbClr val="666677"/>
                </a:solidFill>
                <a:latin typeface="Calibri"/>
                <a:ea typeface="Calibri"/>
                <a:cs typeface="Calibri"/>
                <a:sym typeface="Calibri"/>
              </a:rPr>
              <a:t> Auth (email/password or Google).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0" i="0" u="none" strike="noStrike" cap="none" dirty="0" err="1">
                <a:solidFill>
                  <a:srgbClr val="666677"/>
                </a:solidFill>
                <a:latin typeface="Calibri"/>
                <a:ea typeface="Calibri"/>
                <a:cs typeface="Calibri"/>
                <a:sym typeface="Calibri"/>
              </a:rPr>
              <a:t>Supabase</a:t>
            </a:r>
            <a:r>
              <a:rPr lang="en-US" sz="2000" b="0" i="0" u="none" strike="noStrike" cap="none" dirty="0">
                <a:solidFill>
                  <a:srgbClr val="666677"/>
                </a:solidFill>
                <a:latin typeface="Calibri"/>
                <a:ea typeface="Calibri"/>
                <a:cs typeface="Calibri"/>
                <a:sym typeface="Calibri"/>
              </a:rPr>
              <a:t> verifies the credentials and issues a </a:t>
            </a:r>
            <a:r>
              <a:rPr lang="en-US" sz="2000" b="1" i="0" u="none" strike="noStrike" cap="none" dirty="0">
                <a:solidFill>
                  <a:srgbClr val="666677"/>
                </a:solidFill>
                <a:latin typeface="Calibri"/>
                <a:ea typeface="Calibri"/>
                <a:cs typeface="Calibri"/>
                <a:sym typeface="Calibri"/>
              </a:rPr>
              <a:t>JWT (JSON Web Token</a:t>
            </a:r>
            <a:r>
              <a:rPr lang="en-US" sz="2000" b="1" dirty="0">
                <a:solidFill>
                  <a:srgbClr val="666677"/>
                </a:solidFill>
                <a:latin typeface="Calibri"/>
                <a:ea typeface="Calibri"/>
                <a:cs typeface="Calibri"/>
                <a:sym typeface="Calibri"/>
              </a:rPr>
              <a:t>)</a:t>
            </a:r>
            <a:r>
              <a:rPr lang="en-US" sz="2000" b="0" i="0" u="none" strike="noStrike" cap="none" dirty="0">
                <a:solidFill>
                  <a:srgbClr val="666677"/>
                </a:solidFill>
                <a:latin typeface="Calibri"/>
                <a:ea typeface="Calibri"/>
                <a:cs typeface="Calibri"/>
                <a:sym typeface="Calibri"/>
              </a:rPr>
              <a:t> signed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with a secret only it knows.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2.</a:t>
            </a:r>
            <a:r>
              <a:rPr lang="en-US" sz="2000" b="0" i="0" u="none" strike="noStrike" cap="none" dirty="0">
                <a:solidFill>
                  <a:srgbClr val="666677"/>
                </a:solidFill>
                <a:latin typeface="Calibri"/>
                <a:ea typeface="Calibri"/>
                <a:cs typeface="Calibri"/>
                <a:sym typeface="Calibri"/>
              </a:rPr>
              <a:t> The </a:t>
            </a:r>
            <a:r>
              <a:rPr lang="en-US" sz="2000" b="0" i="0" u="none" strike="noStrike" cap="none" dirty="0" err="1">
                <a:solidFill>
                  <a:srgbClr val="666677"/>
                </a:solidFill>
                <a:latin typeface="Calibri"/>
                <a:ea typeface="Calibri"/>
                <a:cs typeface="Calibri"/>
                <a:sym typeface="Calibri"/>
              </a:rPr>
              <a:t>Supabase</a:t>
            </a:r>
            <a:r>
              <a:rPr lang="en-US" sz="2000" b="0" i="0" u="none" strike="noStrike" cap="none" dirty="0">
                <a:solidFill>
                  <a:srgbClr val="666677"/>
                </a:solidFill>
                <a:latin typeface="Calibri"/>
                <a:ea typeface="Calibri"/>
                <a:cs typeface="Calibri"/>
                <a:sym typeface="Calibri"/>
              </a:rPr>
              <a:t> JS SDK on the frontend stores the JWT and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attaches it to every API request: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`Authorization: Bearer </a:t>
            </a:r>
            <a:r>
              <a:rPr lang="en-US" sz="2000" b="0" i="0" u="none" strike="noStrike" cap="none" dirty="0" err="1">
                <a:solidFill>
                  <a:srgbClr val="666677"/>
                </a:solidFill>
                <a:latin typeface="Calibri"/>
                <a:ea typeface="Calibri"/>
                <a:cs typeface="Calibri"/>
                <a:sym typeface="Calibri"/>
              </a:rPr>
              <a:t>eyJhbGciOi</a:t>
            </a:r>
            <a:r>
              <a:rPr lang="en-US" sz="2000" b="0" i="0" u="none" strike="noStrike" cap="none" dirty="0">
                <a:solidFill>
                  <a:srgbClr val="666677"/>
                </a:solidFill>
                <a:latin typeface="Calibri"/>
                <a:ea typeface="Calibri"/>
                <a:cs typeface="Calibri"/>
                <a:sym typeface="Calibri"/>
              </a:rPr>
              <a: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3.</a:t>
            </a:r>
            <a:r>
              <a:rPr lang="en-US" sz="2000" b="0" i="0" u="none" strike="noStrike" cap="none" dirty="0">
                <a:solidFill>
                  <a:srgbClr val="666677"/>
                </a:solidFill>
                <a:latin typeface="Calibri"/>
                <a:ea typeface="Calibri"/>
                <a:cs typeface="Calibri"/>
                <a:sym typeface="Calibri"/>
              </a:rPr>
              <a:t> Your </a:t>
            </a:r>
            <a:r>
              <a:rPr lang="en-US" sz="2000" b="0" i="0" u="none" strike="noStrike" cap="none" dirty="0" err="1">
                <a:solidFill>
                  <a:srgbClr val="666677"/>
                </a:solidFill>
                <a:latin typeface="Calibri"/>
                <a:ea typeface="Calibri"/>
                <a:cs typeface="Calibri"/>
                <a:sym typeface="Calibri"/>
              </a:rPr>
              <a:t>FastAPI</a:t>
            </a:r>
            <a:r>
              <a:rPr lang="en-US" sz="2000" b="0" i="0" u="none" strike="noStrike" cap="none" dirty="0">
                <a:solidFill>
                  <a:srgbClr val="666677"/>
                </a:solidFill>
                <a:latin typeface="Calibri"/>
                <a:ea typeface="Calibri"/>
                <a:cs typeface="Calibri"/>
                <a:sym typeface="Calibri"/>
              </a:rPr>
              <a:t> receives the request, pulls the JWT out of</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header, verifies the signature against the </a:t>
            </a:r>
            <a:r>
              <a:rPr lang="en-US" sz="2000" b="0" i="0" u="none" strike="noStrike" cap="none" dirty="0" err="1">
                <a:solidFill>
                  <a:srgbClr val="666677"/>
                </a:solidFill>
                <a:latin typeface="Calibri"/>
                <a:ea typeface="Calibri"/>
                <a:cs typeface="Calibri"/>
                <a:sym typeface="Calibri"/>
              </a:rPr>
              <a:t>Supabase</a:t>
            </a:r>
            <a:r>
              <a:rPr lang="en-US" sz="2000" b="0" i="0" u="none" strike="noStrike" cap="none" dirty="0">
                <a:solidFill>
                  <a:srgbClr val="666677"/>
                </a:solidFill>
                <a:latin typeface="Calibri"/>
                <a:ea typeface="Calibri"/>
                <a:cs typeface="Calibri"/>
                <a:sym typeface="Calibri"/>
              </a:rPr>
              <a:t> secret,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and reads the `sub` claim - that's the user ID.</a:t>
            </a: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If the signature doesn't verify or the JWT is expired, you reject</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2"/>
        <p:cNvGrpSpPr/>
        <p:nvPr/>
      </p:nvGrpSpPr>
      <p:grpSpPr>
        <a:xfrm>
          <a:off x="0" y="0"/>
          <a:ext cx="0" cy="0"/>
          <a:chOff x="0" y="0"/>
          <a:chExt cx="0" cy="0"/>
        </a:xfrm>
      </p:grpSpPr>
      <p:sp>
        <p:nvSpPr>
          <p:cNvPr id="253" name="Google Shape;253;g3e9389fd93b_0_13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does the password live?</a:t>
            </a:r>
            <a:endParaRPr/>
          </a:p>
        </p:txBody>
      </p:sp>
      <p:sp>
        <p:nvSpPr>
          <p:cNvPr id="254" name="Google Shape;254;g3e9389fd93b_0_136"/>
          <p:cNvSpPr txBox="1"/>
          <p:nvPr/>
        </p:nvSpPr>
        <p:spPr>
          <a:xfrm>
            <a:off x="914400" y="1099250"/>
            <a:ext cx="10728600" cy="347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Your FastAPI app has to connect to Postgres. </a:t>
            </a:r>
            <a:r>
              <a:rPr lang="en-US" sz="2400">
                <a:solidFill>
                  <a:srgbClr val="333344"/>
                </a:solidFill>
                <a:latin typeface="Calibri"/>
                <a:ea typeface="Calibri"/>
                <a:cs typeface="Calibri"/>
                <a:sym typeface="Calibri"/>
              </a:rPr>
              <a:t>C</a:t>
            </a:r>
            <a:r>
              <a:rPr lang="en-US" sz="2400" b="0" i="0" u="none" strike="noStrike" cap="none">
                <a:solidFill>
                  <a:srgbClr val="333344"/>
                </a:solidFill>
                <a:latin typeface="Calibri"/>
                <a:ea typeface="Calibri"/>
                <a:cs typeface="Calibri"/>
                <a:sym typeface="Calibri"/>
              </a:rPr>
              <a:t>onnection string has a password in it: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postgresql://postgres:s3cret-pw@db.supabase.co:5432/postgres</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Same code has to run two places - your laptop AND Railway.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Different DB on each, different password.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Where do you put that string?</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endParaRPr/>
          </a:p>
          <a:p>
            <a:pPr marL="457200" marR="0" lvl="1" indent="0" algn="l" rtl="0">
              <a:spcBef>
                <a:spcPts val="60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9"/>
        <p:cNvGrpSpPr/>
        <p:nvPr/>
      </p:nvGrpSpPr>
      <p:grpSpPr>
        <a:xfrm>
          <a:off x="0" y="0"/>
          <a:ext cx="0" cy="0"/>
          <a:chOff x="0" y="0"/>
          <a:chExt cx="0" cy="0"/>
        </a:xfrm>
      </p:grpSpPr>
      <p:sp>
        <p:nvSpPr>
          <p:cNvPr id="260" name="Google Shape;260;g3e9389fd93b_0_5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does the password live?</a:t>
            </a:r>
            <a:endParaRPr/>
          </a:p>
        </p:txBody>
      </p:sp>
      <p:sp>
        <p:nvSpPr>
          <p:cNvPr id="261" name="Google Shape;261;g3e9389fd93b_0_55"/>
          <p:cNvSpPr txBox="1"/>
          <p:nvPr/>
        </p:nvSpPr>
        <p:spPr>
          <a:xfrm>
            <a:off x="914400" y="1099250"/>
            <a:ext cx="10728600" cy="594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Your FastAPI app has to connect to Postgres. </a:t>
            </a:r>
            <a:r>
              <a:rPr lang="en-US" sz="2400">
                <a:solidFill>
                  <a:srgbClr val="333344"/>
                </a:solidFill>
                <a:latin typeface="Calibri"/>
                <a:ea typeface="Calibri"/>
                <a:cs typeface="Calibri"/>
                <a:sym typeface="Calibri"/>
              </a:rPr>
              <a:t>C</a:t>
            </a:r>
            <a:r>
              <a:rPr lang="en-US" sz="2400" b="0" i="0" u="none" strike="noStrike" cap="none">
                <a:solidFill>
                  <a:srgbClr val="333344"/>
                </a:solidFill>
                <a:latin typeface="Calibri"/>
                <a:ea typeface="Calibri"/>
                <a:cs typeface="Calibri"/>
                <a:sym typeface="Calibri"/>
              </a:rPr>
              <a:t>onnection string has a password in it: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postgresql://postgres:s3cret-pw@db.supabase.co:5432/postgres</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Same code has to run two places - your laptop AND Railway.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Different DB on each, different password.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Where do you put that string?</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`app.py`?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a `config.py` file checked into the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a JSON/YAML settings file the app reads at startup?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Somewhere else?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What if the repo is public? What if you swap from local Postgres to Supabase?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if a teammate joins?</a:t>
            </a:r>
            <a:endParaRPr/>
          </a:p>
          <a:p>
            <a:pPr marL="457200" marR="0" lvl="1" indent="0" algn="l" rtl="0">
              <a:spcBef>
                <a:spcPts val="6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6"/>
        <p:cNvGrpSpPr/>
        <p:nvPr/>
      </p:nvGrpSpPr>
      <p:grpSpPr>
        <a:xfrm>
          <a:off x="0" y="0"/>
          <a:ext cx="0" cy="0"/>
          <a:chOff x="0" y="0"/>
          <a:chExt cx="0" cy="0"/>
        </a:xfrm>
      </p:grpSpPr>
      <p:sp>
        <p:nvSpPr>
          <p:cNvPr id="267" name="Google Shape;267;g3e9389fd93b_0_151"/>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Verifying a JWT in FastAPI</a:t>
            </a:r>
            <a:endParaRPr/>
          </a:p>
        </p:txBody>
      </p:sp>
      <p:sp>
        <p:nvSpPr>
          <p:cNvPr id="268" name="Google Shape;268;g3e9389fd93b_0_151"/>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69" name="Google Shape;269;g3e9389fd93b_0_151"/>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g3e9389fd93b_0_151"/>
          <p:cNvSpPr txBox="1"/>
          <p:nvPr/>
        </p:nvSpPr>
        <p:spPr>
          <a:xfrm>
            <a:off x="1005840" y="1645920"/>
            <a:ext cx="10179900" cy="39198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from jose import jwt, JWTError</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get_current_user_id(authorization: str = Header(...)) -&gt; str: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not authorization.startswith("Bearer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"missing bearer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 authorization[len("Bearer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try:</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payload = jwt.decode(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a:t>
            </a:r>
            <a:r>
              <a:rPr lang="en-US" sz="1300" b="1">
                <a:solidFill>
                  <a:srgbClr val="333344"/>
                </a:solidFill>
                <a:latin typeface="Courier New"/>
                <a:ea typeface="Courier New"/>
                <a:cs typeface="Courier New"/>
                <a:sym typeface="Courier New"/>
              </a:rPr>
              <a:t>___________________</a:t>
            </a:r>
            <a:r>
              <a:rPr lang="en-US" sz="13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algorithms=["HS256"], audience="authenticated",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except JWTError: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"invalid or expired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payload["sub"]   # this is the Supabase user UUID</a:t>
            </a:r>
            <a:endParaRPr/>
          </a:p>
          <a:p>
            <a:pPr marL="0" marR="0" lvl="0" indent="0" algn="l" rtl="0">
              <a:spcBef>
                <a:spcPts val="2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g3e9389fd93b_0_143"/>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Verifying a JWT in FastAPI</a:t>
            </a:r>
            <a:endParaRPr/>
          </a:p>
        </p:txBody>
      </p:sp>
      <p:sp>
        <p:nvSpPr>
          <p:cNvPr id="277" name="Google Shape;277;g3e9389fd93b_0_143"/>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78" name="Google Shape;278;g3e9389fd93b_0_143"/>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g3e9389fd93b_0_143"/>
          <p:cNvSpPr txBox="1"/>
          <p:nvPr/>
        </p:nvSpPr>
        <p:spPr>
          <a:xfrm>
            <a:off x="1005840" y="1645920"/>
            <a:ext cx="10179900" cy="39198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from jose import jwt, JWTError</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SUPABASE_JWT_SECRET = os.environ["SUPABASE_JWT_SECRET"]</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get_current_user_id(authorization: str = Header(...)) -&gt; str: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not authorization.startswith("Bearer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"missing bearer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 authorization[len("Bearer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try:</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payload = jwt.decode(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SUPABASE_JWT_SECRET,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algorithms=["HS256"], audience="authenticated",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except JWTError: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"invalid or expired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payload["sub"]   # this is the Supabase user UUID</a:t>
            </a:r>
            <a:endParaRPr/>
          </a:p>
          <a:p>
            <a:pPr marL="0" marR="0" lvl="0" indent="0" algn="l" rtl="0">
              <a:spcBef>
                <a:spcPts val="20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4"/>
        <p:cNvGrpSpPr/>
        <p:nvPr/>
      </p:nvGrpSpPr>
      <p:grpSpPr>
        <a:xfrm>
          <a:off x="0" y="0"/>
          <a:ext cx="0" cy="0"/>
          <a:chOff x="0" y="0"/>
          <a:chExt cx="0" cy="0"/>
        </a:xfrm>
      </p:grpSpPr>
      <p:sp>
        <p:nvSpPr>
          <p:cNvPr id="285" name="Google Shape;285;p2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Verifying a JWT in FastAPI</a:t>
            </a:r>
            <a:endParaRPr/>
          </a:p>
        </p:txBody>
      </p:sp>
      <p:sp>
        <p:nvSpPr>
          <p:cNvPr id="286" name="Google Shape;286;p21"/>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287" name="Google Shape;287;p21"/>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1"/>
          <p:cNvSpPr txBox="1"/>
          <p:nvPr/>
        </p:nvSpPr>
        <p:spPr>
          <a:xfrm>
            <a:off x="1005840" y="1645920"/>
            <a:ext cx="10179900" cy="48075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from jose import jwt, JWTError</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SUPABASE_JWT_SECRET = os.environ["SUPABASE_JWT_SECRET"]</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get_current_user_id(authorization: str = Header(...)) -&gt; str: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not authorization.startswith("Bearer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"missing bearer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 authorization[len("Bearer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try:</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payload = jwt.decode(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token, SUPABASE_JWT_SECRET,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algorithms=["HS256"], audience="authenticated",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except JWTError:</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raise HTTPException(401, "invalid or expired token")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payload["sub"]   # this is the Supabase user UUID</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Use it in any protected endpoint: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@app.get("/api/me")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def get_me(user_id: str = Depends(get_current_user_id)):</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return {"user_id": user_id}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93"/>
        <p:cNvGrpSpPr/>
        <p:nvPr/>
      </p:nvGrpSpPr>
      <p:grpSpPr>
        <a:xfrm>
          <a:off x="0" y="0"/>
          <a:ext cx="0" cy="0"/>
          <a:chOff x="0" y="0"/>
          <a:chExt cx="0" cy="0"/>
        </a:xfrm>
      </p:grpSpPr>
      <p:sp>
        <p:nvSpPr>
          <p:cNvPr id="294" name="Google Shape;294;p2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The one architectural trick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FastAPI serves the React build</a:t>
            </a:r>
            <a:endParaRPr/>
          </a:p>
        </p:txBody>
      </p:sp>
      <p:sp>
        <p:nvSpPr>
          <p:cNvPr id="301" name="Google Shape;301;p23"/>
          <p:cNvSpPr txBox="1"/>
          <p:nvPr/>
        </p:nvSpPr>
        <p:spPr>
          <a:xfrm>
            <a:off x="914397" y="1280160"/>
            <a:ext cx="10362900" cy="500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Here's the architectural decision that makes your life easy.</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Instead of deploying the React frontend and the </a:t>
            </a:r>
            <a:r>
              <a:rPr lang="en-US" sz="2400" b="0" i="0" u="none" strike="noStrike" cap="none" dirty="0" err="1">
                <a:solidFill>
                  <a:srgbClr val="333344"/>
                </a:solidFill>
                <a:latin typeface="Calibri"/>
                <a:ea typeface="Calibri"/>
                <a:cs typeface="Calibri"/>
                <a:sym typeface="Calibri"/>
              </a:rPr>
              <a:t>FastAPI</a:t>
            </a:r>
            <a:r>
              <a:rPr lang="en-US" sz="2400" b="0" i="0" u="none" strike="noStrike" cap="none" dirty="0">
                <a:solidFill>
                  <a:srgbClr val="333344"/>
                </a:solidFill>
                <a:latin typeface="Calibri"/>
                <a:ea typeface="Calibri"/>
                <a:cs typeface="Calibri"/>
                <a:sym typeface="Calibri"/>
              </a:rPr>
              <a:t> backend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as two separate things, you deploy </a:t>
            </a:r>
            <a:r>
              <a:rPr lang="en-US" sz="2000" b="1" i="0" u="none" strike="noStrike" cap="none" dirty="0">
                <a:solidFill>
                  <a:srgbClr val="666677"/>
                </a:solidFill>
                <a:latin typeface="Calibri"/>
                <a:ea typeface="Calibri"/>
                <a:cs typeface="Calibri"/>
                <a:sym typeface="Calibri"/>
              </a:rPr>
              <a:t>one service</a:t>
            </a:r>
            <a:r>
              <a:rPr lang="en-US" sz="2000" b="0" i="0" u="none" strike="noStrike" cap="none" dirty="0">
                <a:solidFill>
                  <a:srgbClr val="666677"/>
                </a:solidFill>
                <a:latin typeface="Calibri"/>
                <a:ea typeface="Calibri"/>
                <a:cs typeface="Calibri"/>
                <a:sym typeface="Calibri"/>
              </a:rPr>
              <a:t> that serves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both. </a:t>
            </a:r>
            <a:r>
              <a:rPr lang="en-US" sz="2000" b="0" i="0" u="none" strike="noStrike" cap="none" dirty="0" err="1">
                <a:solidFill>
                  <a:srgbClr val="666677"/>
                </a:solidFill>
                <a:latin typeface="Calibri"/>
                <a:ea typeface="Calibri"/>
                <a:cs typeface="Calibri"/>
                <a:sym typeface="Calibri"/>
              </a:rPr>
              <a:t>FastAPI</a:t>
            </a:r>
            <a:r>
              <a:rPr lang="en-US" sz="2000" b="0" i="0" u="none" strike="noStrike" cap="none" dirty="0">
                <a:solidFill>
                  <a:srgbClr val="666677"/>
                </a:solidFill>
                <a:latin typeface="Calibri"/>
                <a:ea typeface="Calibri"/>
                <a:cs typeface="Calibri"/>
                <a:sym typeface="Calibri"/>
              </a:rPr>
              <a:t> handles `/</a:t>
            </a:r>
            <a:r>
              <a:rPr lang="en-US" sz="2000" b="0" i="0" u="none" strike="noStrike" cap="none" dirty="0" err="1">
                <a:solidFill>
                  <a:srgbClr val="666677"/>
                </a:solidFill>
                <a:latin typeface="Calibri"/>
                <a:ea typeface="Calibri"/>
                <a:cs typeface="Calibri"/>
                <a:sym typeface="Calibri"/>
              </a:rPr>
              <a:t>api</a:t>
            </a:r>
            <a:r>
              <a:rPr lang="en-US" sz="2000" b="0" i="0" u="none" strike="noStrike" cap="none" dirty="0">
                <a:solidFill>
                  <a:srgbClr val="666677"/>
                </a:solidFill>
                <a:latin typeface="Calibri"/>
                <a:ea typeface="Calibri"/>
                <a:cs typeface="Calibri"/>
                <a:sym typeface="Calibri"/>
              </a:rPr>
              <a:t>/...` as usual. For every other URL,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it serves the built React app from `frontend/</a:t>
            </a:r>
            <a:r>
              <a:rPr lang="en-US" sz="2000" b="0" i="0" u="none" strike="noStrike" cap="none" dirty="0" err="1">
                <a:solidFill>
                  <a:srgbClr val="666677"/>
                </a:solidFill>
                <a:latin typeface="Calibri"/>
                <a:ea typeface="Calibri"/>
                <a:cs typeface="Calibri"/>
                <a:sym typeface="Calibri"/>
              </a:rPr>
              <a:t>dist</a:t>
            </a:r>
            <a:r>
              <a:rPr lang="en-US" sz="2000" b="0" i="0" u="none" strike="noStrike" cap="none" dirty="0">
                <a:solidFill>
                  <a:srgbClr val="666677"/>
                </a:solidFill>
                <a:latin typeface="Calibri"/>
                <a:ea typeface="Calibri"/>
                <a:cs typeface="Calibri"/>
                <a:sym typeface="Calibri"/>
              </a:rPr>
              <a:t>/`.</a:t>
            </a:r>
            <a:endParaRPr dirty="0"/>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Same server. Same URL. Same origin.</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dirty="0">
                <a:solidFill>
                  <a:srgbClr val="333344"/>
                </a:solidFill>
                <a:latin typeface="Calibri"/>
                <a:ea typeface="Calibri"/>
                <a:cs typeface="Calibri"/>
                <a:sym typeface="Calibri"/>
              </a:rPr>
              <a:t>Why this matters:</a:t>
            </a:r>
            <a:r>
              <a:rPr lang="en-US" sz="2400" b="0" i="0" u="none" strike="noStrike" cap="none" dirty="0">
                <a:solidFill>
                  <a:srgbClr val="333344"/>
                </a:solidFill>
                <a:latin typeface="Calibri"/>
                <a:ea typeface="Calibri"/>
                <a:cs typeface="Calibri"/>
                <a:sym typeface="Calibri"/>
              </a:rPr>
              <a:t> when frontend and backend are the same origin,</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there is no cross-origin request, which means you never have to</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think about cross-origin rules at all. Saves you a week of head-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scratching on your first deploy.</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6"/>
        <p:cNvGrpSpPr/>
        <p:nvPr/>
      </p:nvGrpSpPr>
      <p:grpSpPr>
        <a:xfrm>
          <a:off x="0" y="0"/>
          <a:ext cx="0" cy="0"/>
          <a:chOff x="0" y="0"/>
          <a:chExt cx="0" cy="0"/>
        </a:xfrm>
      </p:grpSpPr>
      <p:sp>
        <p:nvSpPr>
          <p:cNvPr id="307" name="Google Shape;307;g3e9389fd93b_0_1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What that looks like in code</a:t>
            </a:r>
            <a:endParaRPr/>
          </a:p>
        </p:txBody>
      </p:sp>
      <p:sp>
        <p:nvSpPr>
          <p:cNvPr id="308" name="Google Shape;308;g3e9389fd93b_0_18"/>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09" name="Google Shape;309;g3e9389fd93b_0_1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g3e9389fd93b_0_18"/>
          <p:cNvSpPr txBox="1"/>
          <p:nvPr/>
        </p:nvSpPr>
        <p:spPr>
          <a:xfrm>
            <a:off x="1005840" y="1645920"/>
            <a:ext cx="10179900" cy="388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app.py  - FastAPI serves both the API and the built frontend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 import FastAPI</a:t>
            </a:r>
            <a:endParaRPr/>
          </a:p>
          <a:p>
            <a:pPr marL="0" marR="0" lvl="0" indent="0" algn="l" rtl="0">
              <a:spcBef>
                <a:spcPts val="200"/>
              </a:spcBef>
              <a:spcAft>
                <a:spcPts val="0"/>
              </a:spcAft>
              <a:buNone/>
            </a:pP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 = FastAPI()</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API routes come FIRST, so they match before the static handler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@app.get("/api/messages")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list_messages():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@app.post("/api/messages")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create_message(body: MessageCreate):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5"/>
        <p:cNvGrpSpPr/>
        <p:nvPr/>
      </p:nvGrpSpPr>
      <p:grpSpPr>
        <a:xfrm>
          <a:off x="0" y="0"/>
          <a:ext cx="0" cy="0"/>
          <a:chOff x="0" y="0"/>
          <a:chExt cx="0" cy="0"/>
        </a:xfrm>
      </p:grpSpPr>
      <p:sp>
        <p:nvSpPr>
          <p:cNvPr id="316" name="Google Shape;316;p2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What that looks like in code</a:t>
            </a:r>
            <a:endParaRPr/>
          </a:p>
        </p:txBody>
      </p:sp>
      <p:sp>
        <p:nvSpPr>
          <p:cNvPr id="317" name="Google Shape;317;p24"/>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18" name="Google Shape;318;p24"/>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9" name="Google Shape;319;p24"/>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app.py  - FastAPI serves both the API and the built frontend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 import FastAPI</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fastapi.staticfiles import StaticFiles</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 = FastAPI()</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API routes come FIRST, so they match before the static handler</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@app.get("/api/messages")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list_messages():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@app.post("/api/messages")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def create_message(body: MessageCreate):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Everything else: serve the React build.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html=True makes / return index.html (React Router works).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app.mount("/", StaticFiles(directory="frontend/dist", html=True))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4"/>
        <p:cNvGrpSpPr/>
        <p:nvPr/>
      </p:nvGrpSpPr>
      <p:grpSpPr>
        <a:xfrm>
          <a:off x="0" y="0"/>
          <a:ext cx="0" cy="0"/>
          <a:chOff x="0" y="0"/>
          <a:chExt cx="0" cy="0"/>
        </a:xfrm>
      </p:grpSpPr>
      <p:sp>
        <p:nvSpPr>
          <p:cNvPr id="325" name="Google Shape;325;p2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deploy-time dance</a:t>
            </a:r>
            <a:endParaRPr/>
          </a:p>
        </p:txBody>
      </p:sp>
      <p:sp>
        <p:nvSpPr>
          <p:cNvPr id="326" name="Google Shape;326;p25"/>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At deploy time, Railway runs your build in this order: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Clone the repo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Install Python deps: `pip install -r requirements.txt`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Install JS deps: `cd frontend &amp;&amp; npm install`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Build the frontend: `npm run build` -&gt; `frontend/dist/`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5.</a:t>
            </a:r>
            <a:r>
              <a:rPr lang="en-US" sz="2000" b="0" i="0" u="none" strike="noStrike" cap="none">
                <a:solidFill>
                  <a:srgbClr val="666677"/>
                </a:solidFill>
                <a:latin typeface="Calibri"/>
                <a:ea typeface="Calibri"/>
                <a:cs typeface="Calibri"/>
                <a:sym typeface="Calibri"/>
              </a:rPr>
              <a:t> Start the server: `uvicorn app:app --host 0.0.0.0 --port $PORT`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Steps 3 and 4 produce the static files that step 5's FastAPI app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will serve. You configure this in a `railway.toml` file at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root of your repo, or in the Railway dashboard.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Your final production artifact is </a:t>
            </a:r>
            <a:r>
              <a:rPr lang="en-US" sz="2400" b="1" i="0" u="none" strike="noStrike" cap="none">
                <a:solidFill>
                  <a:srgbClr val="333344"/>
                </a:solidFill>
                <a:latin typeface="Calibri"/>
                <a:ea typeface="Calibri"/>
                <a:cs typeface="Calibri"/>
                <a:sym typeface="Calibri"/>
              </a:rPr>
              <a:t>one FastAPI process</a:t>
            </a:r>
            <a:r>
              <a:rPr lang="en-US" sz="2400" b="0" i="0" u="none" strike="noStrike" cap="none">
                <a:solidFill>
                  <a:srgbClr val="333344"/>
                </a:solidFill>
                <a:latin typeface="Calibri"/>
                <a:ea typeface="Calibri"/>
                <a:cs typeface="Calibri"/>
                <a:sym typeface="Calibri"/>
              </a:rPr>
              <a:t> serving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both the API and the built frontend.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1"/>
        <p:cNvGrpSpPr/>
        <p:nvPr/>
      </p:nvGrpSpPr>
      <p:grpSpPr>
        <a:xfrm>
          <a:off x="0" y="0"/>
          <a:ext cx="0" cy="0"/>
          <a:chOff x="0" y="0"/>
          <a:chExt cx="0" cy="0"/>
        </a:xfrm>
      </p:grpSpPr>
      <p:sp>
        <p:nvSpPr>
          <p:cNvPr id="332" name="Google Shape;332;p2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Environment variables: where secrets live</a:t>
            </a:r>
            <a:endParaRPr/>
          </a:p>
        </p:txBody>
      </p:sp>
      <p:sp>
        <p:nvSpPr>
          <p:cNvPr id="333" name="Google Shape;333;p26"/>
          <p:cNvSpPr txBox="1"/>
          <p:nvPr/>
        </p:nvSpPr>
        <p:spPr>
          <a:xfrm>
            <a:off x="914400" y="1463040"/>
            <a:ext cx="10362900" cy="484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Your Supabase database URL is a secret. It has a password in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 must not end up in your git history.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Environment variables</a:t>
            </a:r>
            <a:r>
              <a:rPr lang="en-US" sz="2400" b="0" i="0" u="none" strike="noStrike" cap="none">
                <a:solidFill>
                  <a:srgbClr val="333344"/>
                </a:solidFill>
                <a:latin typeface="Calibri"/>
                <a:ea typeface="Calibri"/>
                <a:cs typeface="Calibri"/>
                <a:sym typeface="Calibri"/>
              </a:rPr>
              <a:t> are the standard fix. Your code reads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them via </a:t>
            </a:r>
            <a:r>
              <a:rPr lang="en-US" sz="2000" b="1" i="0" u="none" strike="noStrike" cap="none">
                <a:solidFill>
                  <a:srgbClr val="666677"/>
                </a:solidFill>
                <a:latin typeface="Courier Prime"/>
                <a:ea typeface="Courier Prime"/>
                <a:cs typeface="Courier Prime"/>
                <a:sym typeface="Courier Prime"/>
              </a:rPr>
              <a:t>os.environ["DATABASE_URL"]</a:t>
            </a:r>
            <a:r>
              <a:rPr lang="en-US" sz="2000" b="0" i="0" u="none" strike="noStrike" cap="none">
                <a:solidFill>
                  <a:srgbClr val="666677"/>
                </a:solidFill>
                <a:latin typeface="Calibri"/>
                <a:ea typeface="Calibri"/>
                <a:cs typeface="Calibri"/>
                <a:sym typeface="Calibri"/>
              </a:rPr>
              <a:t>. The actual values live</a:t>
            </a:r>
            <a:r>
              <a:rPr lang="en-US"/>
              <a:t> </a:t>
            </a:r>
            <a:r>
              <a:rPr lang="en-US" sz="2000" b="0" i="0" u="none" strike="noStrike" cap="none">
                <a:solidFill>
                  <a:srgbClr val="666677"/>
                </a:solidFill>
                <a:latin typeface="Calibri"/>
                <a:ea typeface="Calibri"/>
                <a:cs typeface="Calibri"/>
                <a:sym typeface="Calibri"/>
              </a:rPr>
              <a:t>OUTSIDE the code.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In Railway:</a:t>
            </a:r>
            <a:r>
              <a:rPr lang="en-US" sz="2400" b="0" i="0" u="none" strike="noStrike" cap="none">
                <a:solidFill>
                  <a:srgbClr val="333344"/>
                </a:solidFill>
                <a:latin typeface="Calibri"/>
                <a:ea typeface="Calibri"/>
                <a:cs typeface="Calibri"/>
                <a:sym typeface="Calibri"/>
              </a:rPr>
              <a:t> set the variable in the dashboard. Railway injects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it into your process at startup.</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On your laptop:</a:t>
            </a:r>
            <a:r>
              <a:rPr lang="en-US" sz="2400" b="0" i="0" u="none" strike="noStrike" cap="none">
                <a:solidFill>
                  <a:srgbClr val="333344"/>
                </a:solidFill>
                <a:latin typeface="Calibri"/>
                <a:ea typeface="Calibri"/>
                <a:cs typeface="Calibri"/>
                <a:sym typeface="Calibri"/>
              </a:rPr>
              <a:t> put it in a `.env` file that's in `.gitignore`.</a:t>
            </a:r>
            <a:endParaRPr/>
          </a:p>
          <a:p>
            <a:pPr marL="0" marR="0" lvl="0" indent="0" algn="l" rtl="0">
              <a:spcBef>
                <a:spcPts val="600"/>
              </a:spcBef>
              <a:spcAft>
                <a:spcPts val="0"/>
              </a:spcAft>
              <a:buNone/>
            </a:pP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Never commit a `.env` file. </a:t>
            </a:r>
            <a:r>
              <a:rPr lang="en-US" sz="2400">
                <a:solidFill>
                  <a:srgbClr val="333344"/>
                </a:solidFill>
                <a:latin typeface="Calibri"/>
                <a:ea typeface="Calibri"/>
                <a:cs typeface="Calibri"/>
                <a:sym typeface="Calibri"/>
              </a:rPr>
              <a:t>I</a:t>
            </a:r>
            <a:r>
              <a:rPr lang="en-US" sz="2400" b="0" i="0" u="none" strike="noStrike" cap="none">
                <a:solidFill>
                  <a:srgbClr val="333344"/>
                </a:solidFill>
                <a:latin typeface="Calibri"/>
                <a:ea typeface="Calibri"/>
                <a:cs typeface="Calibri"/>
                <a:sym typeface="Calibri"/>
              </a:rPr>
              <a:t> will dock you if you do.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g3e9389fd93b_0_167"/>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340" name="Google Shape;340;g3e9389fd93b_0_167"/>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341" name="Google Shape;341;g3e9389fd93b_0_167"/>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g3e9389fd93b_0_167"/>
          <p:cNvSpPr txBox="1"/>
          <p:nvPr/>
        </p:nvSpPr>
        <p:spPr>
          <a:xfrm>
            <a:off x="1005840" y="1645920"/>
            <a:ext cx="10179900" cy="389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7"/>
        <p:cNvGrpSpPr/>
        <p:nvPr/>
      </p:nvGrpSpPr>
      <p:grpSpPr>
        <a:xfrm>
          <a:off x="0" y="0"/>
          <a:ext cx="0" cy="0"/>
          <a:chOff x="0" y="0"/>
          <a:chExt cx="0" cy="0"/>
        </a:xfrm>
      </p:grpSpPr>
      <p:sp>
        <p:nvSpPr>
          <p:cNvPr id="348" name="Google Shape;348;g3e9389fd93b_0_15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349" name="Google Shape;349;g3e9389fd93b_0_159"/>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350" name="Google Shape;350;g3e9389fd93b_0_159"/>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g3e9389fd93b_0_159"/>
          <p:cNvSpPr txBox="1"/>
          <p:nvPr/>
        </p:nvSpPr>
        <p:spPr>
          <a:xfrm>
            <a:off x="1005840" y="1645920"/>
            <a:ext cx="10179900" cy="442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.gitignore  - make sure this is there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.env</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6"/>
        <p:cNvGrpSpPr/>
        <p:nvPr/>
      </p:nvGrpSpPr>
      <p:grpSpPr>
        <a:xfrm>
          <a:off x="0" y="0"/>
          <a:ext cx="0" cy="0"/>
          <a:chOff x="0" y="0"/>
          <a:chExt cx="0" cy="0"/>
        </a:xfrm>
      </p:grpSpPr>
      <p:sp>
        <p:nvSpPr>
          <p:cNvPr id="357" name="Google Shape;357;p2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.env locally, dashboard in production</a:t>
            </a:r>
            <a:endParaRPr/>
          </a:p>
        </p:txBody>
      </p:sp>
      <p:sp>
        <p:nvSpPr>
          <p:cNvPr id="358" name="Google Shape;358;p27"/>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 / python</a:t>
            </a:r>
            <a:endParaRPr/>
          </a:p>
        </p:txBody>
      </p:sp>
      <p:sp>
        <p:nvSpPr>
          <p:cNvPr id="359" name="Google Shape;359;p2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0" name="Google Shape;360;p27"/>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333344"/>
                </a:solidFill>
                <a:latin typeface="Courier New"/>
                <a:ea typeface="Courier New"/>
                <a:cs typeface="Courier New"/>
                <a:sym typeface="Courier New"/>
              </a:rPr>
              <a:t># .env  (LOCAL ONLY, gitignored, never committed)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DATABASE_URL=postgresql://postgres:pw@db.supabase.co:5432/postgres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SECRET_KEY=dev-do-not-use-in-production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app.py  - read env vars the same way in dev and prod</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import os</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from dotenv import load_dotenv</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load_dotenv()   # loads .env if present, no-op in production</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DATABASE_URL = os.environ["DATABASE_URL"]</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SECRET_KEY   = os.environ["SECRET_KEY"]</a:t>
            </a:r>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 .gitignore  - make sure this is there</a:t>
            </a:r>
            <a:endParaRPr/>
          </a:p>
          <a:p>
            <a:pPr marL="0" marR="0" lvl="0" indent="0" algn="l" rtl="0">
              <a:spcBef>
                <a:spcPts val="200"/>
              </a:spcBef>
              <a:spcAft>
                <a:spcPts val="0"/>
              </a:spcAft>
              <a:buNone/>
            </a:pPr>
            <a:r>
              <a:rPr lang="en-US" sz="1500" b="1" i="0" u="none" strike="noStrike" cap="none">
                <a:solidFill>
                  <a:srgbClr val="333344"/>
                </a:solidFill>
                <a:latin typeface="Courier New"/>
                <a:ea typeface="Courier New"/>
                <a:cs typeface="Courier New"/>
                <a:sym typeface="Courier New"/>
              </a:rPr>
              <a:t>.env</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5"/>
        <p:cNvGrpSpPr/>
        <p:nvPr/>
      </p:nvGrpSpPr>
      <p:grpSpPr>
        <a:xfrm>
          <a:off x="0" y="0"/>
          <a:ext cx="0" cy="0"/>
          <a:chOff x="0" y="0"/>
          <a:chExt cx="0" cy="0"/>
        </a:xfrm>
      </p:grpSpPr>
      <p:sp>
        <p:nvSpPr>
          <p:cNvPr id="366" name="Google Shape;366;p2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Local dev vs production</a:t>
            </a:r>
            <a:endParaRPr/>
          </a:p>
        </p:txBody>
      </p:sp>
      <p:sp>
        <p:nvSpPr>
          <p:cNvPr id="367" name="Google Shape;367;p28"/>
          <p:cNvSpPr txBox="1"/>
          <p:nvPr/>
        </p:nvSpPr>
        <p:spPr>
          <a:xfrm>
            <a:off x="914397" y="1022727"/>
            <a:ext cx="10362900" cy="5710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Up to now there's been ONE place your code runs - your laptop.</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The minute Railway is in the picture, there are TWO, and you have to</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think about what's the same between them and what's different.</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What changes between dev and prod: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Database connection (your dev DB vs the production DB)</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Secrets (dev API keys vs real ones)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Debug settings (auto-reload, verbose logs)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Sometimes Python version, package versions, OS</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dirty="0">
                <a:solidFill>
                  <a:srgbClr val="333344"/>
                </a:solidFill>
                <a:latin typeface="Calibri"/>
                <a:ea typeface="Calibri"/>
                <a:cs typeface="Calibri"/>
                <a:sym typeface="Calibri"/>
              </a:rPr>
              <a:t>The standard move:</a:t>
            </a:r>
            <a:r>
              <a:rPr lang="en-US" sz="2400" b="0" i="0" u="none" strike="noStrike" cap="none" dirty="0">
                <a:solidFill>
                  <a:srgbClr val="333344"/>
                </a:solidFill>
                <a:latin typeface="Calibri"/>
                <a:ea typeface="Calibri"/>
                <a:cs typeface="Calibri"/>
                <a:sym typeface="Calibri"/>
              </a:rPr>
              <a:t> keep the code path identical, </a:t>
            </a:r>
            <a:r>
              <a:rPr lang="en-US" sz="2400" dirty="0">
                <a:solidFill>
                  <a:srgbClr val="333344"/>
                </a:solidFill>
                <a:latin typeface="Calibri"/>
                <a:ea typeface="Calibri"/>
                <a:cs typeface="Calibri"/>
                <a:sym typeface="Calibri"/>
              </a:rPr>
              <a:t>use env vars.</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dirty="0">
                <a:solidFill>
                  <a:srgbClr val="666677"/>
                </a:solidFill>
                <a:latin typeface="Calibri"/>
                <a:ea typeface="Calibri"/>
                <a:cs typeface="Calibri"/>
                <a:sym typeface="Calibri"/>
              </a:rPr>
              <a:t>Same </a:t>
            </a:r>
            <a:r>
              <a:rPr lang="en-US" sz="2000" dirty="0" err="1">
                <a:solidFill>
                  <a:srgbClr val="666677"/>
                </a:solidFill>
                <a:latin typeface="Calibri"/>
                <a:ea typeface="Calibri"/>
                <a:cs typeface="Calibri"/>
                <a:sym typeface="Calibri"/>
              </a:rPr>
              <a:t>FastAPI</a:t>
            </a:r>
            <a:r>
              <a:rPr lang="en-US" sz="2000" dirty="0">
                <a:solidFill>
                  <a:srgbClr val="666677"/>
                </a:solidFill>
                <a:latin typeface="Calibri"/>
                <a:ea typeface="Calibri"/>
                <a:cs typeface="Calibri"/>
                <a:sym typeface="Calibri"/>
              </a:rPr>
              <a:t> app </a:t>
            </a:r>
            <a:r>
              <a:rPr lang="en-US" sz="2000" b="0" i="0" u="none" strike="noStrike" cap="none" dirty="0">
                <a:solidFill>
                  <a:srgbClr val="666677"/>
                </a:solidFill>
                <a:latin typeface="Calibri"/>
                <a:ea typeface="Calibri"/>
                <a:cs typeface="Calibri"/>
                <a:sym typeface="Calibri"/>
              </a:rPr>
              <a:t>reads </a:t>
            </a:r>
            <a:r>
              <a:rPr lang="en-US" sz="2000" b="1" i="0" u="none" strike="noStrike" cap="none" dirty="0">
                <a:solidFill>
                  <a:srgbClr val="666677"/>
                </a:solidFill>
                <a:latin typeface="Courier Prime"/>
                <a:ea typeface="Courier Prime"/>
                <a:cs typeface="Courier Prime"/>
                <a:sym typeface="Courier Prime"/>
              </a:rPr>
              <a:t>DATABASE_URL</a:t>
            </a:r>
            <a:r>
              <a:rPr lang="en-US" sz="2000" b="0" i="0" u="none" strike="noStrike" cap="none" dirty="0">
                <a:solidFill>
                  <a:srgbClr val="666677"/>
                </a:solidFill>
                <a:latin typeface="Calibri"/>
                <a:ea typeface="Calibri"/>
                <a:cs typeface="Calibri"/>
                <a:sym typeface="Calibri"/>
              </a:rPr>
              <a:t> and runs against whichever DB it points at.</a:t>
            </a:r>
            <a:endParaRPr dirty="0"/>
          </a:p>
          <a:p>
            <a:pPr marL="0" marR="0" lvl="0" indent="0" algn="l" rtl="0">
              <a:spcBef>
                <a:spcPts val="600"/>
              </a:spcBef>
              <a:spcAft>
                <a:spcPts val="0"/>
              </a:spcAft>
              <a:buNone/>
            </a:pP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The two places </a:t>
            </a:r>
            <a:r>
              <a:rPr lang="en-US" sz="2400" dirty="0">
                <a:solidFill>
                  <a:srgbClr val="333344"/>
                </a:solidFill>
                <a:latin typeface="Calibri"/>
                <a:ea typeface="Calibri"/>
                <a:cs typeface="Calibri"/>
                <a:sym typeface="Calibri"/>
              </a:rPr>
              <a:t>people</a:t>
            </a:r>
            <a:r>
              <a:rPr lang="en-US" sz="2400" b="0" i="0" u="none" strike="noStrike" cap="none" dirty="0">
                <a:solidFill>
                  <a:srgbClr val="333344"/>
                </a:solidFill>
                <a:latin typeface="Calibri"/>
                <a:ea typeface="Calibri"/>
                <a:cs typeface="Calibri"/>
                <a:sym typeface="Calibri"/>
              </a:rPr>
              <a:t> get caught out are the database and migrations</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2"/>
        <p:cNvGrpSpPr/>
        <p:nvPr/>
      </p:nvGrpSpPr>
      <p:grpSpPr>
        <a:xfrm>
          <a:off x="0" y="0"/>
          <a:ext cx="0" cy="0"/>
          <a:chOff x="0" y="0"/>
          <a:chExt cx="0" cy="0"/>
        </a:xfrm>
      </p:grpSpPr>
      <p:sp>
        <p:nvSpPr>
          <p:cNvPr id="373" name="Google Shape;373;p2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does your dev database live?</a:t>
            </a:r>
            <a:endParaRPr/>
          </a:p>
        </p:txBody>
      </p:sp>
      <p:sp>
        <p:nvSpPr>
          <p:cNvPr id="374" name="Google Shape;374;p29"/>
          <p:cNvSpPr txBox="1"/>
          <p:nvPr/>
        </p:nvSpPr>
        <p:spPr>
          <a:xfrm>
            <a:off x="914388" y="1045365"/>
            <a:ext cx="10362900" cy="5647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rgbClr val="333344"/>
                </a:solidFill>
                <a:latin typeface="Calibri"/>
                <a:ea typeface="Calibri"/>
                <a:cs typeface="Calibri"/>
                <a:sym typeface="Calibri"/>
              </a:rPr>
              <a:t>Production database is on </a:t>
            </a:r>
            <a:r>
              <a:rPr lang="en-US" sz="2400" b="0" i="0" u="none" strike="noStrike" cap="none" dirty="0" err="1">
                <a:solidFill>
                  <a:srgbClr val="333344"/>
                </a:solidFill>
                <a:latin typeface="Calibri"/>
                <a:ea typeface="Calibri"/>
                <a:cs typeface="Calibri"/>
                <a:sym typeface="Calibri"/>
              </a:rPr>
              <a:t>Supabase</a:t>
            </a:r>
            <a:r>
              <a:rPr lang="en-US" sz="2400" b="0" i="0" u="none" strike="noStrike" cap="none" dirty="0">
                <a:solidFill>
                  <a:srgbClr val="333344"/>
                </a:solidFill>
                <a:latin typeface="Calibri"/>
                <a:ea typeface="Calibri"/>
                <a:cs typeface="Calibri"/>
                <a:sym typeface="Calibri"/>
              </a:rPr>
              <a:t>. That's a given.</a:t>
            </a:r>
            <a:endParaRPr dirty="0"/>
          </a:p>
          <a:p>
            <a:pPr marL="0" marR="0" lvl="0" indent="0" algn="l" rtl="0">
              <a:spcBef>
                <a:spcPts val="600"/>
              </a:spcBef>
              <a:spcAft>
                <a:spcPts val="0"/>
              </a:spcAft>
              <a:buNone/>
            </a:pPr>
            <a:endParaRPr sz="2400" b="0" i="0" u="none" strike="noStrike" cap="none" dirty="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Question: where do you develop against?</a:t>
            </a:r>
            <a:endParaRPr sz="2400" b="0" i="0" u="none" strike="noStrike" cap="none" dirty="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A.</a:t>
            </a:r>
            <a:r>
              <a:rPr lang="en-US" sz="2000" b="0" i="0" u="none" strike="noStrike" cap="none" dirty="0">
                <a:solidFill>
                  <a:srgbClr val="666677"/>
                </a:solidFill>
                <a:latin typeface="Calibri"/>
                <a:ea typeface="Calibri"/>
                <a:cs typeface="Calibri"/>
                <a:sym typeface="Calibri"/>
              </a:rPr>
              <a:t> Install Postgres on your laptop - Docker is the easiest</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way (`docker run </a:t>
            </a:r>
            <a:r>
              <a:rPr lang="en-US" sz="2000" b="0" i="0" u="none" strike="noStrike" cap="none" dirty="0" err="1">
                <a:solidFill>
                  <a:srgbClr val="666677"/>
                </a:solidFill>
                <a:latin typeface="Calibri"/>
                <a:ea typeface="Calibri"/>
                <a:cs typeface="Calibri"/>
                <a:sym typeface="Calibri"/>
              </a:rPr>
              <a:t>postgres</a:t>
            </a:r>
            <a:r>
              <a:rPr lang="en-US" sz="2000" b="0" i="0" u="none" strike="noStrike" cap="none" dirty="0">
                <a:solidFill>
                  <a:srgbClr val="666677"/>
                </a:solidFill>
                <a:latin typeface="Calibri"/>
                <a:ea typeface="Calibri"/>
                <a:cs typeface="Calibri"/>
                <a:sym typeface="Calibri"/>
              </a:rPr>
              <a:t>`). Fast queries, works offline, free.</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Downside: one more thing to keep installed and running.</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B.</a:t>
            </a:r>
            <a:r>
              <a:rPr lang="en-US" sz="2000" b="0" i="0" u="none" strike="noStrike" cap="none" dirty="0">
                <a:solidFill>
                  <a:srgbClr val="666677"/>
                </a:solidFill>
                <a:latin typeface="Calibri"/>
                <a:ea typeface="Calibri"/>
                <a:cs typeface="Calibri"/>
                <a:sym typeface="Calibri"/>
              </a:rPr>
              <a:t> Spin up a SECOND </a:t>
            </a:r>
            <a:r>
              <a:rPr lang="en-US" sz="2000" b="0" i="0" u="none" strike="noStrike" cap="none" dirty="0" err="1">
                <a:solidFill>
                  <a:srgbClr val="666677"/>
                </a:solidFill>
                <a:latin typeface="Calibri"/>
                <a:ea typeface="Calibri"/>
                <a:cs typeface="Calibri"/>
                <a:sym typeface="Calibri"/>
              </a:rPr>
              <a:t>Supabase</a:t>
            </a:r>
            <a:r>
              <a:rPr lang="en-US" sz="2000" b="0" i="0" u="none" strike="noStrike" cap="none" dirty="0">
                <a:solidFill>
                  <a:srgbClr val="666677"/>
                </a:solidFill>
                <a:latin typeface="Calibri"/>
                <a:ea typeface="Calibri"/>
                <a:cs typeface="Calibri"/>
                <a:sym typeface="Calibri"/>
              </a:rPr>
              <a:t> project for dev. Point your local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app at it via `DATABASE_URL` in `.env`. No local install,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closer to prod. Downside: every query crosses the network, and</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you can't develop on a plane.</a:t>
            </a:r>
            <a:endParaRPr sz="2000" b="0" i="0" u="none" strike="noStrike" cap="none" dirty="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a:t>
            </a:r>
            <a:r>
              <a:rPr lang="en-US" sz="2000" b="1" i="0" u="none" strike="noStrike" cap="none" dirty="0">
                <a:solidFill>
                  <a:srgbClr val="666677"/>
                </a:solidFill>
                <a:latin typeface="Calibri"/>
                <a:ea typeface="Calibri"/>
                <a:cs typeface="Calibri"/>
                <a:sym typeface="Calibri"/>
              </a:rPr>
              <a:t>C.</a:t>
            </a:r>
            <a:r>
              <a:rPr lang="en-US" sz="2000" b="0" i="0" u="none" strike="noStrike" cap="none" dirty="0">
                <a:solidFill>
                  <a:srgbClr val="666677"/>
                </a:solidFill>
                <a:latin typeface="Calibri"/>
                <a:ea typeface="Calibri"/>
                <a:cs typeface="Calibri"/>
                <a:sym typeface="Calibri"/>
              </a:rPr>
              <a:t> Just use the production DB in dev. </a:t>
            </a:r>
            <a:r>
              <a:rPr lang="en-US" sz="2000" b="1" i="0" u="none" strike="noStrike" cap="none" dirty="0">
                <a:solidFill>
                  <a:srgbClr val="666677"/>
                </a:solidFill>
                <a:latin typeface="Calibri"/>
                <a:ea typeface="Calibri"/>
                <a:cs typeface="Calibri"/>
                <a:sym typeface="Calibri"/>
              </a:rPr>
              <a:t>DON'T.</a:t>
            </a:r>
            <a:r>
              <a:rPr lang="en-US" sz="2000" b="0" i="0" u="none" strike="noStrike" cap="none" dirty="0">
                <a:solidFill>
                  <a:srgbClr val="666677"/>
                </a:solidFill>
                <a:latin typeface="Calibri"/>
                <a:ea typeface="Calibri"/>
                <a:cs typeface="Calibri"/>
                <a:sym typeface="Calibri"/>
              </a:rPr>
              <a:t> Sooner or</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later your dev code will do something destructive and wipe real</a:t>
            </a:r>
            <a:endParaRPr dirty="0"/>
          </a:p>
          <a:p>
            <a:pPr marL="457200" marR="0" lvl="1" indent="0" algn="l" rtl="0">
              <a:spcBef>
                <a:spcPts val="600"/>
              </a:spcBef>
              <a:spcAft>
                <a:spcPts val="0"/>
              </a:spcAft>
              <a:buNone/>
            </a:pPr>
            <a:r>
              <a:rPr lang="en-US" sz="2000" b="0" i="0" u="none" strike="noStrike" cap="none" dirty="0">
                <a:solidFill>
                  <a:srgbClr val="666677"/>
                </a:solidFill>
                <a:latin typeface="Calibri"/>
                <a:ea typeface="Calibri"/>
                <a:cs typeface="Calibri"/>
                <a:sym typeface="Calibri"/>
              </a:rPr>
              <a:t>    user data with no backup. This is how companies have outages.</a:t>
            </a:r>
            <a:endParaRPr sz="2000" b="0" i="0" u="none" strike="noStrike" cap="none" dirty="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dirty="0">
                <a:solidFill>
                  <a:srgbClr val="333344"/>
                </a:solidFill>
                <a:latin typeface="Calibri"/>
                <a:ea typeface="Calibri"/>
                <a:cs typeface="Calibri"/>
                <a:sym typeface="Calibri"/>
              </a:rPr>
              <a:t>For a 3-week project, A or B are both fine</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9"/>
        <p:cNvGrpSpPr/>
        <p:nvPr/>
      </p:nvGrpSpPr>
      <p:grpSpPr>
        <a:xfrm>
          <a:off x="0" y="0"/>
          <a:ext cx="0" cy="0"/>
          <a:chOff x="0" y="0"/>
          <a:chExt cx="0" cy="0"/>
        </a:xfrm>
      </p:grpSpPr>
      <p:sp>
        <p:nvSpPr>
          <p:cNvPr id="380" name="Google Shape;380;p3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Migrations: how schema changes ship</a:t>
            </a:r>
            <a:endParaRPr/>
          </a:p>
        </p:txBody>
      </p:sp>
      <p:sp>
        <p:nvSpPr>
          <p:cNvPr id="381" name="Google Shape;381;p30"/>
          <p:cNvSpPr txBox="1"/>
          <p:nvPr/>
        </p:nvSpPr>
        <p:spPr>
          <a:xfrm>
            <a:off x="914388" y="1085790"/>
            <a:ext cx="10362900" cy="350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a:t>
            </a:r>
            <a:r>
              <a:rPr lang="en-US" sz="2400" b="1" i="0" u="none" strike="noStrike" cap="none">
                <a:solidFill>
                  <a:srgbClr val="333344"/>
                </a:solidFill>
                <a:latin typeface="Calibri"/>
                <a:ea typeface="Calibri"/>
                <a:cs typeface="Calibri"/>
                <a:sym typeface="Calibri"/>
              </a:rPr>
              <a:t>migration</a:t>
            </a:r>
            <a:r>
              <a:rPr lang="en-US" sz="2400" b="0" i="0" u="none" strike="noStrike" cap="none">
                <a:solidFill>
                  <a:srgbClr val="333344"/>
                </a:solidFill>
                <a:latin typeface="Calibri"/>
                <a:ea typeface="Calibri"/>
                <a:cs typeface="Calibri"/>
                <a:sym typeface="Calibri"/>
              </a:rPr>
              <a:t> is a script that says 'change the database schema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in this specific way.' Think of it like a git commit, but for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your tables instead of your code.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problem they solve: you add a `bio` column to `users` during dev.</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How does that column show up on Railway when you push? Production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doesn't auto-magically follow your dev schema - somebody (or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something) has to actually run the ALTER TABLE.</a:t>
            </a:r>
            <a:endParaRPr/>
          </a:p>
          <a:p>
            <a:pPr marL="457200" marR="0" lvl="1" indent="0" algn="l" rtl="0">
              <a:spcBef>
                <a:spcPts val="60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6"/>
        <p:cNvGrpSpPr/>
        <p:nvPr/>
      </p:nvGrpSpPr>
      <p:grpSpPr>
        <a:xfrm>
          <a:off x="0" y="0"/>
          <a:ext cx="0" cy="0"/>
          <a:chOff x="0" y="0"/>
          <a:chExt cx="0" cy="0"/>
        </a:xfrm>
      </p:grpSpPr>
      <p:sp>
        <p:nvSpPr>
          <p:cNvPr id="387" name="Google Shape;387;g3e9389fd93b_0_17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Migrations: how schema changes ship</a:t>
            </a:r>
            <a:endParaRPr/>
          </a:p>
        </p:txBody>
      </p:sp>
      <p:sp>
        <p:nvSpPr>
          <p:cNvPr id="388" name="Google Shape;388;g3e9389fd93b_0_175"/>
          <p:cNvSpPr txBox="1"/>
          <p:nvPr/>
        </p:nvSpPr>
        <p:spPr>
          <a:xfrm>
            <a:off x="914388" y="1085790"/>
            <a:ext cx="10362900" cy="4756200"/>
          </a:xfrm>
          <a:prstGeom prst="rect">
            <a:avLst/>
          </a:prstGeom>
          <a:noFill/>
          <a:ln>
            <a:noFill/>
          </a:ln>
        </p:spPr>
        <p:txBody>
          <a:bodyPr spcFirstLastPara="1" wrap="square" lIns="91425" tIns="45700" rIns="91425" bIns="45700" anchor="t" anchorCtr="0">
            <a:spAutoFit/>
          </a:bodyPr>
          <a:lstStyle/>
          <a:p>
            <a:pPr marL="0" marR="0" lvl="0" indent="0" algn="l" rtl="0">
              <a:spcBef>
                <a:spcPts val="600"/>
              </a:spcBef>
              <a:spcAft>
                <a:spcPts val="0"/>
              </a:spcAft>
              <a:buNone/>
            </a:pPr>
            <a:r>
              <a:rPr lang="en-US" sz="2400">
                <a:solidFill>
                  <a:srgbClr val="333344"/>
                </a:solidFill>
                <a:latin typeface="Calibri"/>
                <a:ea typeface="Calibri"/>
                <a:cs typeface="Calibri"/>
                <a:sym typeface="Calibri"/>
              </a:rPr>
              <a:t>Two</a:t>
            </a:r>
            <a:r>
              <a:rPr lang="en-US" sz="2400" b="0" i="0" u="none" strike="noStrike" cap="none">
                <a:solidFill>
                  <a:srgbClr val="333344"/>
                </a:solidFill>
                <a:latin typeface="Calibri"/>
                <a:ea typeface="Calibri"/>
                <a:cs typeface="Calibri"/>
                <a:sym typeface="Calibri"/>
              </a:rPr>
              <a:t> reasonable approaches for your project:</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Alembic</a:t>
            </a:r>
            <a:r>
              <a:rPr lang="en-US" sz="2000" b="0" i="0" u="none" strike="noStrike" cap="none">
                <a:solidFill>
                  <a:srgbClr val="666677"/>
                </a:solidFill>
                <a:latin typeface="Calibri"/>
                <a:ea typeface="Calibri"/>
                <a:cs typeface="Calibri"/>
                <a:sym typeface="Calibri"/>
              </a:rPr>
              <a:t> - the standard SQLAlchemy migration tool.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`alembic revision --autogenerate` reads your models, writes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migration file. You commit the file. On deploy, `alembic upgrade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head` applies any pending migrations. This is the grown-up answer.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`schema.sql` checked into the repo</a:t>
            </a:r>
            <a:r>
              <a:rPr lang="en-US" sz="2000" b="0" i="0" u="none" strike="noStrike" cap="none">
                <a:solidFill>
                  <a:srgbClr val="666677"/>
                </a:solidFill>
                <a:latin typeface="Calibri"/>
                <a:ea typeface="Calibri"/>
                <a:cs typeface="Calibri"/>
                <a:sym typeface="Calibri"/>
              </a:rPr>
              <a:t> - one file with all your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CREATE TABLE / ALTER TABLE statements, run on deploy. Simpler,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fine for a small team, gets ugly when teammates conflict on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The rule, either way:</a:t>
            </a:r>
            <a:r>
              <a:rPr lang="en-US" sz="2400" b="0" i="0" u="none" strike="noStrike" cap="none">
                <a:solidFill>
                  <a:srgbClr val="333344"/>
                </a:solidFill>
                <a:latin typeface="Calibri"/>
                <a:ea typeface="Calibri"/>
                <a:cs typeface="Calibri"/>
                <a:sym typeface="Calibri"/>
              </a:rPr>
              <a:t> schema changes go through git.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Never edit the production database by hand and forget to write down what</a:t>
            </a:r>
            <a:r>
              <a:rPr lang="en-US"/>
              <a:t> </a:t>
            </a:r>
            <a:r>
              <a:rPr lang="en-US" sz="2000" b="0" i="0" u="none" strike="noStrike" cap="none">
                <a:solidFill>
                  <a:srgbClr val="666677"/>
                </a:solidFill>
                <a:latin typeface="Calibri"/>
                <a:ea typeface="Calibri"/>
                <a:cs typeface="Calibri"/>
                <a:sym typeface="Calibri"/>
              </a:rPr>
              <a:t>you did.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sp>
        <p:nvSpPr>
          <p:cNvPr id="394" name="Google Shape;394;g3e9389fd93b_0_2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deploy loop</a:t>
            </a:r>
            <a:endParaRPr/>
          </a:p>
        </p:txBody>
      </p:sp>
      <p:sp>
        <p:nvSpPr>
          <p:cNvPr id="395" name="Google Shape;395;g3e9389fd93b_0_28"/>
          <p:cNvSpPr txBox="1"/>
          <p:nvPr/>
        </p:nvSpPr>
        <p:spPr>
          <a:xfrm>
            <a:off x="914400" y="1463040"/>
            <a:ext cx="10362900" cy="389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Once you've set everything up once, your day-to-day loop is: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Edit code on your laptop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`git commit` and `git push` to GitHub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Railway notices the push, rebuilds, redeploys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~60 seconds later, your live URL is running the new code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If step 3 or 4 fails, Railway shows you the error in the dashboard.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Build logs</a:t>
            </a:r>
            <a:r>
              <a:rPr lang="en-US" sz="2000" b="0" i="0" u="none" strike="noStrike" cap="none">
                <a:solidFill>
                  <a:srgbClr val="666677"/>
                </a:solidFill>
                <a:latin typeface="Calibri"/>
                <a:ea typeface="Calibri"/>
                <a:cs typeface="Calibri"/>
                <a:sym typeface="Calibri"/>
              </a:rPr>
              <a:t> tell you if the install/build step worked.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Runtime logs</a:t>
            </a:r>
            <a:r>
              <a:rPr lang="en-US" sz="2000" b="0" i="0" u="none" strike="noStrike" cap="none">
                <a:solidFill>
                  <a:srgbClr val="666677"/>
                </a:solidFill>
                <a:latin typeface="Calibri"/>
                <a:ea typeface="Calibri"/>
                <a:cs typeface="Calibri"/>
                <a:sym typeface="Calibri"/>
              </a:rPr>
              <a:t> tell you if the server even started.</a:t>
            </a:r>
            <a:endParaRPr/>
          </a:p>
          <a:p>
            <a:pPr marL="457200" marR="0" lvl="1" indent="0" algn="l" rtl="0">
              <a:spcBef>
                <a:spcPts val="60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0"/>
        <p:cNvGrpSpPr/>
        <p:nvPr/>
      </p:nvGrpSpPr>
      <p:grpSpPr>
        <a:xfrm>
          <a:off x="0" y="0"/>
          <a:ext cx="0" cy="0"/>
          <a:chOff x="0" y="0"/>
          <a:chExt cx="0" cy="0"/>
        </a:xfrm>
      </p:grpSpPr>
      <p:sp>
        <p:nvSpPr>
          <p:cNvPr id="401" name="Google Shape;401;p3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deploy loop</a:t>
            </a:r>
            <a:endParaRPr/>
          </a:p>
        </p:txBody>
      </p:sp>
      <p:sp>
        <p:nvSpPr>
          <p:cNvPr id="402" name="Google Shape;402;p31"/>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Once you've set everything up once, your day-to-day loop is: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Edit code on your laptop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`git commit` and `git push` to GitHub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Railway notices the push, rebuilds, redeploys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~60 seconds later, your live URL is running the new code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If step 3 or 4 fails, Railway shows you the error in the dashboard.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Build logs</a:t>
            </a:r>
            <a:r>
              <a:rPr lang="en-US" sz="2000" b="0" i="0" u="none" strike="noStrike" cap="none">
                <a:solidFill>
                  <a:srgbClr val="666677"/>
                </a:solidFill>
                <a:latin typeface="Calibri"/>
                <a:ea typeface="Calibri"/>
                <a:cs typeface="Calibri"/>
                <a:sym typeface="Calibri"/>
              </a:rPr>
              <a:t> tell you if the install/build step worked.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Runtime logs</a:t>
            </a:r>
            <a:r>
              <a:rPr lang="en-US" sz="2000" b="0" i="0" u="none" strike="noStrike" cap="none">
                <a:solidFill>
                  <a:srgbClr val="666677"/>
                </a:solidFill>
                <a:latin typeface="Calibri"/>
                <a:ea typeface="Calibri"/>
                <a:cs typeface="Calibri"/>
                <a:sym typeface="Calibri"/>
              </a:rPr>
              <a:t> tell you if the server even started.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First rule of debugging a deploy: read the logs.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Most</a:t>
            </a:r>
            <a:r>
              <a:rPr lang="en-US" sz="2000" b="0" i="0" u="none" strike="noStrike" cap="none">
                <a:solidFill>
                  <a:srgbClr val="666677"/>
                </a:solidFill>
                <a:latin typeface="Calibri"/>
                <a:ea typeface="Calibri"/>
                <a:cs typeface="Calibri"/>
                <a:sym typeface="Calibri"/>
              </a:rPr>
              <a:t> first deploy failures are either a missing dependency or a missing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environment variable, and both are plainly visible in the logs.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7"/>
        <p:cNvGrpSpPr/>
        <p:nvPr/>
      </p:nvGrpSpPr>
      <p:grpSpPr>
        <a:xfrm>
          <a:off x="0" y="0"/>
          <a:ext cx="0" cy="0"/>
          <a:chOff x="0" y="0"/>
          <a:chExt cx="0" cy="0"/>
        </a:xfrm>
      </p:grpSpPr>
      <p:sp>
        <p:nvSpPr>
          <p:cNvPr id="408" name="Google Shape;408;p3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Where this goes next</a:t>
            </a:r>
            <a:endParaRPr/>
          </a:p>
        </p:txBody>
      </p:sp>
      <p:sp>
        <p:nvSpPr>
          <p:cNvPr id="409" name="Google Shape;409;p32"/>
          <p:cNvSpPr txBox="1"/>
          <p:nvPr/>
        </p:nvSpPr>
        <p:spPr>
          <a:xfrm>
            <a:off x="914400" y="1280140"/>
            <a:ext cx="10362900" cy="511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Final project recap:</a:t>
            </a:r>
            <a:r>
              <a:rPr lang="en-US" sz="2400" b="0" i="0" u="none" strike="noStrike" cap="none">
                <a:solidFill>
                  <a:srgbClr val="333344"/>
                </a:solidFill>
                <a:latin typeface="Calibri"/>
                <a:ea typeface="Calibri"/>
                <a:cs typeface="Calibri"/>
                <a:sym typeface="Calibri"/>
              </a:rPr>
              <a:t> something new, team of 2-3, three weeks,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due day of 10.2. Bronze includes real auth, a piece of nontrivial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logic, tests + CI, deployed to the cloud. Silver is the target;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gold is the stretch.</a:t>
            </a: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Deployment recap:</a:t>
            </a:r>
            <a:r>
              <a:rPr lang="en-US" sz="2400" b="0" i="0" u="none" strike="noStrike" cap="none">
                <a:solidFill>
                  <a:srgbClr val="333344"/>
                </a:solidFill>
                <a:latin typeface="Calibri"/>
                <a:ea typeface="Calibri"/>
                <a:cs typeface="Calibri"/>
                <a:sym typeface="Calibri"/>
              </a:rPr>
              <a:t> a PaaS like Railway sells you the things you'd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otherwise have to do yourself (reverse proxy, HTTPS, build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pipeline, secrets, logs, CD). Supabase is a stack: Postgres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GoTrue + a few more. FastAPI serves the React build -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service, same origin, no CORS. Secrets in env vars, not code.</a:t>
            </a: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This week:</a:t>
            </a:r>
            <a:r>
              <a:rPr lang="en-US" sz="2400" b="0" i="0" u="none" strike="noStrike" cap="non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form</a:t>
            </a:r>
            <a:r>
              <a:rPr lang="en-US" sz="2400" b="0" i="0" u="none" strike="noStrike" cap="none">
                <a:solidFill>
                  <a:srgbClr val="333344"/>
                </a:solidFill>
                <a:latin typeface="Calibri"/>
                <a:ea typeface="Calibri"/>
                <a:cs typeface="Calibri"/>
                <a:sym typeface="Calibri"/>
              </a:rPr>
              <a:t> your team, agree on an idea, sign up for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Railway + Supabase (or your chosen alternatives), get 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hello-world pipeline deployed before you write features.</a:t>
            </a:r>
            <a:endParaRPr/>
          </a:p>
          <a:p>
            <a:pPr marL="0" marR="0" lvl="0" indent="0" algn="l" rtl="0">
              <a:spcBef>
                <a:spcPts val="6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8667</Words>
  <Application>Microsoft Macintosh PowerPoint</Application>
  <PresentationFormat>Widescreen</PresentationFormat>
  <Paragraphs>604</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Calibri</vt:lpstr>
      <vt:lpstr>Arial</vt:lpstr>
      <vt:lpstr>Courier New</vt:lpstr>
      <vt:lpstr>Courier Prime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2026-05-14T22:58:43Z</dcterms:modified>
</cp:coreProperties>
</file>