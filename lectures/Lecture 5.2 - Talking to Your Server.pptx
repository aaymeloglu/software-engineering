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12191675"/>
  <p:notesSz cx="6858000" cy="9144000"/>
  <p:embeddedFontLst>
    <p:embeddedFont>
      <p:font typeface="Courier Prime"/>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7" roundtripDataSignature="AMtx7mhcWw1hVakNLBxW95UMPu9Ime75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font" Target="fonts/CourierPrime-regular.fntdata"/><Relationship Id="rId54" Type="http://schemas.openxmlformats.org/officeDocument/2006/relationships/font" Target="fonts/CourierPrime-bold.fntdata"/><Relationship Id="rId55" Type="http://schemas.openxmlformats.org/officeDocument/2006/relationships/font" Target="fonts/CourierPrime-italic.fntdata"/><Relationship Id="rId56" Type="http://schemas.openxmlformats.org/officeDocument/2006/relationships/font" Target="fonts/CourierPrime-boldItalic.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response.ok"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response.ok"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response.ok"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affe9b800_0_3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3daffe9b800_0_3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Forward reference to 5.2 explicitly flags that fetch is the third capability and brings async with it. Students should leave today knowing that next class is about WAITING, not about a new piece of syntax. That framing sets up the promises material really well. The rules of the road in the middle are the practical takeaways - feel free to repeat them at the top of 5.2 if it helps.</a:t>
            </a:r>
            <a:endParaRPr/>
          </a:p>
        </p:txBody>
      </p:sp>
      <p:sp>
        <p:nvSpPr>
          <p:cNvPr id="92" name="Google Shape;92;g3daffe9b800_0_3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affe9b800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g3daffe9b800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problem before any syntax shows up, because a student who hasn't felt the problem has no reason to care about the solution.</a:t>
            </a:r>
            <a:endParaRPr/>
          </a:p>
        </p:txBody>
      </p:sp>
      <p:sp>
        <p:nvSpPr>
          <p:cNvPr id="99" name="Google Shape;99;g3daffe9b800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affe9b800_0_1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g3daffe9b800_0_1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Call back to 5.1's 'three things' structure - students should feel like today is the natural next step and not some surprise topic. The timing argument matters...'microseconds' sets up the contrast, and 'or never' is really the scary case that motivates everything else. Dwell on 'never' for a beat, it does most of the work.</a:t>
            </a:r>
            <a:endParaRPr/>
          </a:p>
        </p:txBody>
      </p:sp>
      <p:sp>
        <p:nvSpPr>
          <p:cNvPr id="105" name="Google Shape;105;g3daffe9b800_0_1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affe9b800_0_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g3daffe9b800_0_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Call back to 5.1's 'three things' structure - students should feel like today is the natural next step and not some surprise topic. The timing argument matters...'microseconds' sets up the contrast, and 'or never' is really the scary case that motivates everything else. Dwell on 'never' for a beat, it does most of the work.</a:t>
            </a:r>
            <a:endParaRPr/>
          </a:p>
        </p:txBody>
      </p:sp>
      <p:sp>
        <p:nvSpPr>
          <p:cNvPr id="112" name="Google Shape;112;g3daffe9b800_0_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affe9b800_0_4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g3daffe9b800_0_4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single-threaded nature of the browser is really why everything about async exists in the first place. If you could freely block the UI thread, you kinda wouldn't need promises at all...the whole rest of the lecture is built on avoiding this ONE problem, and it's worth saying that out loud.</a:t>
            </a:r>
            <a:endParaRPr/>
          </a:p>
        </p:txBody>
      </p:sp>
      <p:sp>
        <p:nvSpPr>
          <p:cNvPr id="119" name="Google Shape;119;g3daffe9b800_0_4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affe9b800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g3daffe9b800_0_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single-threaded nature of the browser is really why everything about async exists in the first place. If you could freely block the UI thread, you kinda wouldn't need promises at all...the whole rest of the lecture is built on avoiding this ONE problem, and it's worth saying that out loud.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doesItHalt(fn, input) -&gt; bool:</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ifHaltLoop(fn, input):</a:t>
            </a:r>
            <a:endParaRPr/>
          </a:p>
          <a:p>
            <a:pPr indent="0" lvl="0" marL="0" rtl="0" algn="l">
              <a:spcBef>
                <a:spcPts val="0"/>
              </a:spcBef>
              <a:spcAft>
                <a:spcPts val="0"/>
              </a:spcAft>
              <a:buNone/>
            </a:pPr>
            <a:r>
              <a:rPr lang="en-US"/>
              <a:t>    if doesItHalt(fn, input):</a:t>
            </a:r>
            <a:endParaRPr/>
          </a:p>
          <a:p>
            <a:pPr indent="0" lvl="0" marL="0" rtl="0" algn="l">
              <a:spcBef>
                <a:spcPts val="0"/>
              </a:spcBef>
              <a:spcAft>
                <a:spcPts val="0"/>
              </a:spcAft>
              <a:buNone/>
            </a:pPr>
            <a:r>
              <a:rPr lang="en-US"/>
              <a:t>          while(True):</a:t>
            </a:r>
            <a:endParaRPr/>
          </a:p>
          <a:p>
            <a:pPr indent="0" lvl="0" marL="0" rtl="0" algn="l">
              <a:spcBef>
                <a:spcPts val="0"/>
              </a:spcBef>
              <a:spcAft>
                <a:spcPts val="0"/>
              </a:spcAft>
              <a:buNone/>
            </a:pPr>
            <a:r>
              <a:rPr lang="en-US"/>
              <a:t>   		pass</a:t>
            </a:r>
            <a:endParaRPr/>
          </a:p>
          <a:p>
            <a:pPr indent="0" lvl="0" marL="0" rtl="0" algn="l">
              <a:spcBef>
                <a:spcPts val="0"/>
              </a:spcBef>
              <a:spcAft>
                <a:spcPts val="0"/>
              </a:spcAft>
              <a:buNone/>
            </a:pPr>
            <a:r>
              <a:rPr lang="en-US"/>
              <a:t>    return 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doesItHalt(ifHaltLoop, (ifHaltLoop, ifHaltLoop))</a:t>
            </a:r>
            <a:endParaRPr/>
          </a:p>
        </p:txBody>
      </p:sp>
      <p:sp>
        <p:nvSpPr>
          <p:cNvPr id="126" name="Google Shape;126;g3daffe9b800_0_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affe9b800_0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g3daffe9b800_0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will surface several reasonable ideas, and all of them kinda work: (a) CALLBACK - the caller passes in a function that the     fetcher calls with the result when it's ready. Closest     to what actually ended up happening in the language. (b) POLLING - return a handle, caller asks 'is it done     yet?' in a loop. Inefficient but functional. (c) EVENT - fire an event when ready, caller listens.     Really just callbacks via the event system. (d) OBJECT WITH STATE - return a box that starts empty     and fills in when the answer arrives. This is     basically a promise. Leave their answers on the board. The next section validates (d) as the shape JavaScript landed on, with (a) baked in as how you get notified when it settles.</a:t>
            </a:r>
            <a:endParaRPr/>
          </a:p>
        </p:txBody>
      </p:sp>
      <p:sp>
        <p:nvSpPr>
          <p:cNvPr id="133" name="Google Shape;133;g3daffe9b800_0_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affe9b800_0_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g3daffe9b800_0_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Concept first, then the API. Really don't show .then() until the mental model is in place, otherwise students pattern-match on the syntax and miss the idea.</a:t>
            </a:r>
            <a:endParaRPr/>
          </a:p>
        </p:txBody>
      </p:sp>
      <p:sp>
        <p:nvSpPr>
          <p:cNvPr id="141" name="Google Shape;141;g3daffe9b800_0_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affe9b800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g3daffe9b800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They should be able to draw this little state diagram in their heads - pending goes to either fulfilled or rejected, and that's really the whole thing. The transition happens ONCE...a settled promise can't go back to pending, which is kinda the whole reason promises are easier to reason about than raw callbacks.</a:t>
            </a:r>
            <a:endParaRPr/>
          </a:p>
        </p:txBody>
      </p:sp>
      <p:sp>
        <p:nvSpPr>
          <p:cNvPr id="147" name="Google Shape;147;g3daffe9b800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affe9b800_0_1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daffe9b800_0_1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.then() once and really move on. Students WILL see it in legacy code, in documentation, in Stack Overflow answers and in whatever their coding agent pastes in from 2018, so they need to recognize it...but we're not going to write it ourselves. Walk through the chain briefly, one beat per line, and point out that each .then() returns a new promise for the next step.</a:t>
            </a:r>
            <a:endParaRPr/>
          </a:p>
        </p:txBody>
      </p:sp>
      <p:sp>
        <p:nvSpPr>
          <p:cNvPr id="154" name="Google Shape;154;g3daffe9b800_0_15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affe9b800_0_1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g3daffe9b800_0_1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.then() once and really move on. Students WILL see it in legacy code, in documentation, in Stack Overflow answers and in whatever their coding agent pastes in from 2018, so they need to recognize it...but we're not going to write it ourselves. Walk through the chain briefly, one beat per line, and point out that each .then() returns a new promise for the next step.</a:t>
            </a:r>
            <a:endParaRPr/>
          </a:p>
        </p:txBody>
      </p:sp>
      <p:sp>
        <p:nvSpPr>
          <p:cNvPr id="163" name="Google Shape;163;g3daffe9b800_0_1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affe9b800_0_1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g3daffe9b800_0_1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.then() once and really move on. Students WILL see it in legacy code, in documentation, in Stack Overflow answers and in whatever their coding agent pastes in from 2018, so they need to recognize it...but we're not going to write it ourselves. Walk through the chain briefly, one beat per line, and point out that each .then() returns a new promise for the next step.</a:t>
            </a:r>
            <a:endParaRPr/>
          </a:p>
        </p:txBody>
      </p:sp>
      <p:sp>
        <p:nvSpPr>
          <p:cNvPr id="172" name="Google Shape;172;g3daffe9b800_0_1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affe9b800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g3daffe9b800_0_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.then() once and really move on. Students WILL see it in legacy code, in documentation, in Stack Overflow answers and in whatever their coding agent pastes in from 2018, so they need to recognize it...but we're not going to write it ourselves. Walk through the chain briefly, one beat per line, and point out that each .then() returns a new promise for the next step.</a:t>
            </a:r>
            <a:endParaRPr/>
          </a:p>
        </p:txBody>
      </p:sp>
      <p:sp>
        <p:nvSpPr>
          <p:cNvPr id="181" name="Google Shape;181;g3daffe9b800_0_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affe9b800_0_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g3daffe9b800_0_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don't really need the exact failure modes of long .then() chains. What they need is to know that async/await exists because .then() got painful in practice, and that we're picking the modern tool because it's just nicer to read. If a student asks why the old API is still around, the honest answer is 'the language can't delete things', which is kinda a nice moment for that lesson too.</a:t>
            </a:r>
            <a:endParaRPr/>
          </a:p>
        </p:txBody>
      </p:sp>
      <p:sp>
        <p:nvSpPr>
          <p:cNvPr id="190" name="Google Shape;190;g3daffe9b800_0_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readable syntax. A handful of rules, a side-by-side, and then a clarification about what await is actually doing underneath, which is the thing students most often get wrong.</a:t>
            </a:r>
            <a:endParaRPr/>
          </a:p>
        </p:txBody>
      </p:sp>
      <p:sp>
        <p:nvSpPr>
          <p:cNvPr id="197" name="Google Shape;19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affe9b800_0_2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3daffe9b800_0_2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rules are worth memorizing, because most of the confusion around async/await comes from quietly violating one of them - and the most common mistake by a mile is forgetting rule 3 and trying to await something inside a function that was never declared async. The error message when you do this is actually pretty clear, which is kinda rare in JavaScript, so push your coding agent to read it instead of guessing.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100">
                <a:solidFill>
                  <a:srgbClr val="2B303B"/>
                </a:solidFill>
              </a:rPr>
              <a:t>(</a:t>
            </a:r>
            <a:r>
              <a:rPr lang="en-US" sz="1100">
                <a:solidFill>
                  <a:srgbClr val="8100C2"/>
                </a:solidFill>
              </a:rPr>
              <a:t>async</a:t>
            </a:r>
            <a:r>
              <a:rPr lang="en-US" sz="1100">
                <a:solidFill>
                  <a:schemeClr val="dk1"/>
                </a:solidFill>
              </a:rPr>
              <a:t> </a:t>
            </a:r>
            <a:r>
              <a:rPr lang="en-US" sz="1100">
                <a:solidFill>
                  <a:srgbClr val="2B303B"/>
                </a:solidFill>
              </a:rPr>
              <a:t>()</a:t>
            </a:r>
            <a:r>
              <a:rPr lang="en-US" sz="1100">
                <a:solidFill>
                  <a:schemeClr val="dk1"/>
                </a:solidFill>
              </a:rPr>
              <a:t> </a:t>
            </a:r>
            <a:r>
              <a:rPr lang="en-US" sz="1100">
                <a:solidFill>
                  <a:srgbClr val="14181F"/>
                </a:solidFill>
              </a:rPr>
              <a:t>=&gt;</a:t>
            </a:r>
            <a:r>
              <a:rPr lang="en-US" sz="1100">
                <a:solidFill>
                  <a:schemeClr val="dk1"/>
                </a:solidFill>
              </a:rPr>
              <a:t> </a:t>
            </a:r>
            <a:r>
              <a:rPr lang="en-US" sz="1100">
                <a:solidFill>
                  <a:srgbClr val="2B303B"/>
                </a:solidFill>
              </a:rPr>
              <a:t>{</a:t>
            </a:r>
            <a:r>
              <a:rPr lang="en-US" sz="1100">
                <a:solidFill>
                  <a:schemeClr val="dk1"/>
                </a:solidFill>
              </a:rPr>
              <a:t> </a:t>
            </a:r>
            <a:r>
              <a:rPr lang="en-US" sz="1100">
                <a:solidFill>
                  <a:srgbClr val="8100C2"/>
                </a:solidFill>
              </a:rPr>
              <a:t>const</a:t>
            </a:r>
            <a:r>
              <a:rPr lang="en-US" sz="1100">
                <a:solidFill>
                  <a:schemeClr val="dk1"/>
                </a:solidFill>
              </a:rPr>
              <a:t> data </a:t>
            </a:r>
            <a:r>
              <a:rPr lang="en-US" sz="1100">
                <a:solidFill>
                  <a:srgbClr val="14181F"/>
                </a:solidFill>
              </a:rPr>
              <a:t>=</a:t>
            </a:r>
            <a:r>
              <a:rPr lang="en-US" sz="1100">
                <a:solidFill>
                  <a:schemeClr val="dk1"/>
                </a:solidFill>
              </a:rPr>
              <a:t> </a:t>
            </a:r>
            <a:r>
              <a:rPr lang="en-US" sz="1100">
                <a:solidFill>
                  <a:srgbClr val="8100C2"/>
                </a:solidFill>
              </a:rPr>
              <a:t>await</a:t>
            </a:r>
            <a:r>
              <a:rPr lang="en-US" sz="1100">
                <a:solidFill>
                  <a:schemeClr val="dk1"/>
                </a:solidFill>
              </a:rPr>
              <a:t> </a:t>
            </a:r>
            <a:r>
              <a:rPr lang="en-US" sz="1100">
                <a:solidFill>
                  <a:srgbClr val="0051C2"/>
                </a:solidFill>
              </a:rPr>
              <a:t>fetch</a:t>
            </a:r>
            <a:r>
              <a:rPr lang="en-US" sz="1100">
                <a:solidFill>
                  <a:srgbClr val="2B303B"/>
                </a:solidFill>
              </a:rPr>
              <a:t>(</a:t>
            </a:r>
            <a:r>
              <a:rPr lang="en-US" sz="1100">
                <a:solidFill>
                  <a:srgbClr val="008000"/>
                </a:solidFill>
              </a:rPr>
              <a:t>"/api/x"</a:t>
            </a:r>
            <a:r>
              <a:rPr lang="en-US" sz="1100">
                <a:solidFill>
                  <a:srgbClr val="2B303B"/>
                </a:solidFill>
              </a:rPr>
              <a:t>);</a:t>
            </a:r>
            <a:r>
              <a:rPr lang="en-US" sz="1100">
                <a:solidFill>
                  <a:schemeClr val="dk1"/>
                </a:solidFill>
              </a:rPr>
              <a:t> </a:t>
            </a:r>
            <a:r>
              <a:rPr lang="en-US" sz="1100">
                <a:solidFill>
                  <a:srgbClr val="2B303B"/>
                </a:solidFill>
              </a:rPr>
              <a:t>})(); &lt;- legal syntax</a:t>
            </a:r>
            <a:endParaRPr/>
          </a:p>
        </p:txBody>
      </p:sp>
      <p:sp>
        <p:nvSpPr>
          <p:cNvPr id="203" name="Google Shape;203;g3daffe9b800_0_2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affe9b800_0_2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g3daffe9b800_0_2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rules are worth memorizing, because most of the confusion around async/await comes from quietly violating one of them - and the most common mistake by a mile is forgetting rule 3 and trying to await something inside a function that was never declared async. The error message when you do this is actually pretty clear, which is kinda rare in JavaScript, so push your coding agent to read it instead of guessing.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100">
                <a:solidFill>
                  <a:srgbClr val="2B303B"/>
                </a:solidFill>
              </a:rPr>
              <a:t>(</a:t>
            </a:r>
            <a:r>
              <a:rPr lang="en-US" sz="1100">
                <a:solidFill>
                  <a:srgbClr val="8100C2"/>
                </a:solidFill>
              </a:rPr>
              <a:t>async</a:t>
            </a:r>
            <a:r>
              <a:rPr lang="en-US" sz="1100">
                <a:solidFill>
                  <a:schemeClr val="dk1"/>
                </a:solidFill>
              </a:rPr>
              <a:t> </a:t>
            </a:r>
            <a:r>
              <a:rPr lang="en-US" sz="1100">
                <a:solidFill>
                  <a:srgbClr val="2B303B"/>
                </a:solidFill>
              </a:rPr>
              <a:t>()</a:t>
            </a:r>
            <a:r>
              <a:rPr lang="en-US" sz="1100">
                <a:solidFill>
                  <a:schemeClr val="dk1"/>
                </a:solidFill>
              </a:rPr>
              <a:t> </a:t>
            </a:r>
            <a:r>
              <a:rPr lang="en-US" sz="1100">
                <a:solidFill>
                  <a:srgbClr val="14181F"/>
                </a:solidFill>
              </a:rPr>
              <a:t>=&gt;</a:t>
            </a:r>
            <a:r>
              <a:rPr lang="en-US" sz="1100">
                <a:solidFill>
                  <a:schemeClr val="dk1"/>
                </a:solidFill>
              </a:rPr>
              <a:t> </a:t>
            </a:r>
            <a:r>
              <a:rPr lang="en-US" sz="1100">
                <a:solidFill>
                  <a:srgbClr val="2B303B"/>
                </a:solidFill>
              </a:rPr>
              <a:t>{</a:t>
            </a:r>
            <a:r>
              <a:rPr lang="en-US" sz="1100">
                <a:solidFill>
                  <a:schemeClr val="dk1"/>
                </a:solidFill>
              </a:rPr>
              <a:t> </a:t>
            </a:r>
            <a:r>
              <a:rPr lang="en-US" sz="1100">
                <a:solidFill>
                  <a:srgbClr val="8100C2"/>
                </a:solidFill>
              </a:rPr>
              <a:t>const</a:t>
            </a:r>
            <a:r>
              <a:rPr lang="en-US" sz="1100">
                <a:solidFill>
                  <a:schemeClr val="dk1"/>
                </a:solidFill>
              </a:rPr>
              <a:t> data </a:t>
            </a:r>
            <a:r>
              <a:rPr lang="en-US" sz="1100">
                <a:solidFill>
                  <a:srgbClr val="14181F"/>
                </a:solidFill>
              </a:rPr>
              <a:t>=</a:t>
            </a:r>
            <a:r>
              <a:rPr lang="en-US" sz="1100">
                <a:solidFill>
                  <a:schemeClr val="dk1"/>
                </a:solidFill>
              </a:rPr>
              <a:t> </a:t>
            </a:r>
            <a:r>
              <a:rPr lang="en-US" sz="1100">
                <a:solidFill>
                  <a:srgbClr val="8100C2"/>
                </a:solidFill>
              </a:rPr>
              <a:t>await</a:t>
            </a:r>
            <a:r>
              <a:rPr lang="en-US" sz="1100">
                <a:solidFill>
                  <a:schemeClr val="dk1"/>
                </a:solidFill>
              </a:rPr>
              <a:t> </a:t>
            </a:r>
            <a:r>
              <a:rPr lang="en-US" sz="1100">
                <a:solidFill>
                  <a:srgbClr val="0051C2"/>
                </a:solidFill>
              </a:rPr>
              <a:t>fetch</a:t>
            </a:r>
            <a:r>
              <a:rPr lang="en-US" sz="1100">
                <a:solidFill>
                  <a:srgbClr val="2B303B"/>
                </a:solidFill>
              </a:rPr>
              <a:t>(</a:t>
            </a:r>
            <a:r>
              <a:rPr lang="en-US" sz="1100">
                <a:solidFill>
                  <a:srgbClr val="008000"/>
                </a:solidFill>
              </a:rPr>
              <a:t>"/api/x"</a:t>
            </a:r>
            <a:r>
              <a:rPr lang="en-US" sz="1100">
                <a:solidFill>
                  <a:srgbClr val="2B303B"/>
                </a:solidFill>
              </a:rPr>
              <a:t>);</a:t>
            </a:r>
            <a:r>
              <a:rPr lang="en-US" sz="1100">
                <a:solidFill>
                  <a:schemeClr val="dk1"/>
                </a:solidFill>
              </a:rPr>
              <a:t> </a:t>
            </a:r>
            <a:r>
              <a:rPr lang="en-US" sz="1100">
                <a:solidFill>
                  <a:srgbClr val="2B303B"/>
                </a:solidFill>
              </a:rPr>
              <a:t>})(); &lt;- legal syntax</a:t>
            </a:r>
            <a:endParaRPr/>
          </a:p>
        </p:txBody>
      </p:sp>
      <p:sp>
        <p:nvSpPr>
          <p:cNvPr id="210" name="Google Shape;210;g3daffe9b800_0_2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rules are worth memorizing, because most of the confusion around async/await comes from quietly violating one of them - and the most common mistake by a mile is forgetting rule 3 and trying to await something inside a function that was never declared async. The error message when you do this is actually pretty clear, which is kinda rare in JavaScript, so push your coding agent to read it instead of guessing.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100">
                <a:solidFill>
                  <a:srgbClr val="2B303B"/>
                </a:solidFill>
              </a:rPr>
              <a:t>(</a:t>
            </a:r>
            <a:r>
              <a:rPr lang="en-US" sz="1100">
                <a:solidFill>
                  <a:srgbClr val="8100C2"/>
                </a:solidFill>
              </a:rPr>
              <a:t>async</a:t>
            </a:r>
            <a:r>
              <a:rPr lang="en-US" sz="1100">
                <a:solidFill>
                  <a:schemeClr val="dk1"/>
                </a:solidFill>
              </a:rPr>
              <a:t> </a:t>
            </a:r>
            <a:r>
              <a:rPr lang="en-US" sz="1100">
                <a:solidFill>
                  <a:srgbClr val="2B303B"/>
                </a:solidFill>
              </a:rPr>
              <a:t>()</a:t>
            </a:r>
            <a:r>
              <a:rPr lang="en-US" sz="1100">
                <a:solidFill>
                  <a:schemeClr val="dk1"/>
                </a:solidFill>
              </a:rPr>
              <a:t> </a:t>
            </a:r>
            <a:r>
              <a:rPr lang="en-US" sz="1100">
                <a:solidFill>
                  <a:srgbClr val="14181F"/>
                </a:solidFill>
              </a:rPr>
              <a:t>=&gt;</a:t>
            </a:r>
            <a:r>
              <a:rPr lang="en-US" sz="1100">
                <a:solidFill>
                  <a:schemeClr val="dk1"/>
                </a:solidFill>
              </a:rPr>
              <a:t> </a:t>
            </a:r>
            <a:r>
              <a:rPr lang="en-US" sz="1100">
                <a:solidFill>
                  <a:srgbClr val="2B303B"/>
                </a:solidFill>
              </a:rPr>
              <a:t>{</a:t>
            </a:r>
            <a:r>
              <a:rPr lang="en-US" sz="1100">
                <a:solidFill>
                  <a:schemeClr val="dk1"/>
                </a:solidFill>
              </a:rPr>
              <a:t> </a:t>
            </a:r>
            <a:r>
              <a:rPr lang="en-US" sz="1100">
                <a:solidFill>
                  <a:srgbClr val="8100C2"/>
                </a:solidFill>
              </a:rPr>
              <a:t>const</a:t>
            </a:r>
            <a:r>
              <a:rPr lang="en-US" sz="1100">
                <a:solidFill>
                  <a:schemeClr val="dk1"/>
                </a:solidFill>
              </a:rPr>
              <a:t> data </a:t>
            </a:r>
            <a:r>
              <a:rPr lang="en-US" sz="1100">
                <a:solidFill>
                  <a:srgbClr val="14181F"/>
                </a:solidFill>
              </a:rPr>
              <a:t>=</a:t>
            </a:r>
            <a:r>
              <a:rPr lang="en-US" sz="1100">
                <a:solidFill>
                  <a:schemeClr val="dk1"/>
                </a:solidFill>
              </a:rPr>
              <a:t> </a:t>
            </a:r>
            <a:r>
              <a:rPr lang="en-US" sz="1100">
                <a:solidFill>
                  <a:srgbClr val="8100C2"/>
                </a:solidFill>
              </a:rPr>
              <a:t>await</a:t>
            </a:r>
            <a:r>
              <a:rPr lang="en-US" sz="1100">
                <a:solidFill>
                  <a:schemeClr val="dk1"/>
                </a:solidFill>
              </a:rPr>
              <a:t> </a:t>
            </a:r>
            <a:r>
              <a:rPr lang="en-US" sz="1100">
                <a:solidFill>
                  <a:srgbClr val="0051C2"/>
                </a:solidFill>
              </a:rPr>
              <a:t>fetch</a:t>
            </a:r>
            <a:r>
              <a:rPr lang="en-US" sz="1100">
                <a:solidFill>
                  <a:srgbClr val="2B303B"/>
                </a:solidFill>
              </a:rPr>
              <a:t>(</a:t>
            </a:r>
            <a:r>
              <a:rPr lang="en-US" sz="1100">
                <a:solidFill>
                  <a:srgbClr val="008000"/>
                </a:solidFill>
              </a:rPr>
              <a:t>"/api/x"</a:t>
            </a:r>
            <a:r>
              <a:rPr lang="en-US" sz="1100">
                <a:solidFill>
                  <a:srgbClr val="2B303B"/>
                </a:solidFill>
              </a:rPr>
              <a:t>);</a:t>
            </a:r>
            <a:r>
              <a:rPr lang="en-US" sz="1100">
                <a:solidFill>
                  <a:schemeClr val="dk1"/>
                </a:solidFill>
              </a:rPr>
              <a:t> </a:t>
            </a:r>
            <a:r>
              <a:rPr lang="en-US" sz="1100">
                <a:solidFill>
                  <a:srgbClr val="2B303B"/>
                </a:solidFill>
              </a:rPr>
              <a:t>})(); &lt;- legal syntax</a:t>
            </a:r>
            <a:endParaRPr/>
          </a:p>
        </p:txBody>
      </p:sp>
      <p:sp>
        <p:nvSpPr>
          <p:cNvPr id="217" name="Google Shape;217;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affe9b800_0_1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g3daffe9b800_0_1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see the same logic two ways and immediately get why the bottom version wins. The `data` variable being in scope after the second await is probably the clearest ergonomic win to point at...the top version has to thread it through an inner closure, the bottom one just uses it.</a:t>
            </a:r>
            <a:endParaRPr/>
          </a:p>
        </p:txBody>
      </p:sp>
      <p:sp>
        <p:nvSpPr>
          <p:cNvPr id="224" name="Google Shape;224;g3daffe9b800_0_17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see the same logic two ways and immediately get why the bottom version wins. The `data` variable being in scope after the second await is probably the clearest ergonomic win to point at...the top version has to thread it through an inner closure, the bottom one just uses it.</a:t>
            </a:r>
            <a:endParaRPr/>
          </a:p>
        </p:txBody>
      </p:sp>
      <p:sp>
        <p:nvSpPr>
          <p:cNvPr id="233" name="Google Shape;233;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mental model students most often get WRONG. They kinda think async just makes code asynchronous by some sort of magic. The truth is more specific - it pauses one function without blocking the shared UI thread, and that distinction matters a lot when they start debugging async code later, because a hung fetch doesn't hang the page, it just hangs the one function that's awaiting it.</a:t>
            </a:r>
            <a:endParaRPr/>
          </a:p>
        </p:txBody>
      </p:sp>
      <p:sp>
        <p:nvSpPr>
          <p:cNvPr id="244" name="Google Shape;244;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affe9b800_0_1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g3daffe9b800_0_19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daffe9b800_0_19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affe9b800_0_1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g3daffe9b800_0_1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daffe9b800_0_1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real API. Now that students have the machinery, fetch stops being magic and starts being 'oh right, of course that's what it would look like.'</a:t>
            </a:r>
            <a:endParaRPr/>
          </a:p>
        </p:txBody>
      </p:sp>
      <p:sp>
        <p:nvSpPr>
          <p:cNvPr id="269" name="Google Shape;269;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two awaits? The HTTP protocol lets servers send headers first and then stream the body separately, so having two promises - one for 'headers arrived' and one for 'body finished' - really just matches what's happening on the wire. It confuses students the first time but it's one of those details that makes more sense the longer they sit with it.</a:t>
            </a:r>
            <a:endParaRPr/>
          </a:p>
        </p:txBody>
      </p:sp>
      <p:sp>
        <p:nvSpPr>
          <p:cNvPr id="275" name="Google Shape;275;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three steps: fetch, check status, parse body. The `response.ok` check is really the single most important line on this slide and the next slide explains why. Mention that `Message[]` is a TS type reference - in a real project they'd define the Message interface in a shared file and import it here.</a:t>
            </a:r>
            <a:endParaRPr/>
          </a:p>
        </p:txBody>
      </p:sp>
      <p:sp>
        <p:nvSpPr>
          <p:cNvPr id="282" name="Google Shape;282;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options object is the second argument to fetch. Three keys really matter for POST: method, headers, and body. The body is a STRING - you have to JSON.stringify yourself, fetch won't do it for you. Content-Type tells the server you're sending JSON, and if you forget that header FastAPI won't parse the body as JSON and you'll get a 422...which is a super common gripe when students are wiring the frontend to the backend for the first time, so flag it now and save yourself the office hours.</a:t>
            </a:r>
            <a:endParaRPr/>
          </a:p>
        </p:txBody>
      </p:sp>
      <p:sp>
        <p:nvSpPr>
          <p:cNvPr id="291" name="Google Shape;291;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affe9b800_0_2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g3daffe9b800_0_2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will get this wrong every single time if you don't spend real time on it. Every piece of fetch code in this lecture checks response.ok immediately after the first await, and students should internalize that as PART of the fetch pattern and not as some optional add-on. Push your coding agent on this too, it absolutely will skip the check if you let it.</a:t>
            </a:r>
            <a:endParaRPr/>
          </a:p>
        </p:txBody>
      </p:sp>
      <p:sp>
        <p:nvSpPr>
          <p:cNvPr id="300" name="Google Shape;300;g3daffe9b800_0_20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affe9b800_0_2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g3daffe9b800_0_2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piece of fetch code in this lecture checks response.ok immediately after the first await, and you should internalize that as PART of the fetch pattern and not as some optional add-on. Push your coding agent on this too, it absolutely will skip the check if you let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2"/>
              </a:rPr>
              <a:t>response.ok</a:t>
            </a:r>
            <a:r>
              <a:rPr lang="en-US"/>
              <a:t> == status code 200-299</a:t>
            </a:r>
            <a:endParaRPr/>
          </a:p>
          <a:p>
            <a:pPr indent="0" lvl="0" marL="0" rtl="0" algn="l">
              <a:spcBef>
                <a:spcPts val="0"/>
              </a:spcBef>
              <a:spcAft>
                <a:spcPts val="0"/>
              </a:spcAft>
              <a:buNone/>
            </a:pPr>
            <a:r>
              <a:rPr lang="en-US"/>
              <a:t>So…why might fetch throw an exception then?</a:t>
            </a:r>
            <a:endParaRPr/>
          </a:p>
        </p:txBody>
      </p:sp>
      <p:sp>
        <p:nvSpPr>
          <p:cNvPr id="307" name="Google Shape;307;g3daffe9b800_0_2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will get this wrong every single time if you don't spend real time on it. Every piece of fetch code in this lecture checks response.ok immediately after the first await, and students should internalize that as PART of the fetch pattern and not as some optional add-on. Push your coding agent on this too, it absolutely will skip the check if you let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#1 reason fetch-using code has bugs in the wild.</a:t>
            </a:r>
            <a:endParaRPr/>
          </a:p>
          <a:p>
            <a:pPr indent="0" lvl="0" marL="0" rtl="0" algn="l">
              <a:spcBef>
                <a:spcPts val="0"/>
              </a:spcBef>
              <a:spcAft>
                <a:spcPts val="0"/>
              </a:spcAft>
              <a:buNone/>
            </a:pPr>
            <a:r>
              <a:t/>
            </a:r>
            <a:endParaRPr/>
          </a:p>
        </p:txBody>
      </p:sp>
      <p:sp>
        <p:nvSpPr>
          <p:cNvPr id="314" name="Google Shape;314;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daffe9b800_0_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g3daffe9b800_0_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naturally think 'network error equals exception' and stop there, which is how you end up with code that silently ignores a 500 and tries to parse an error page as JSON. Making them name each failure mode out loud is what gets them writing code that handles the things, rather than code that hopes.</a:t>
            </a:r>
            <a:endParaRPr/>
          </a:p>
        </p:txBody>
      </p:sp>
      <p:sp>
        <p:nvSpPr>
          <p:cNvPr id="321" name="Google Shape;321;g3daffe9b800_0_2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naturally think 'network error equals exception' and stop there, which is how you end up with code that silently ignores a 500 and tries to parse an error page as JSON. Making them name each failure mode out loud is what gets them writing code that handles the things, rather than code that hopes.</a:t>
            </a:r>
            <a:endParaRPr/>
          </a:p>
        </p:txBody>
      </p:sp>
      <p:sp>
        <p:nvSpPr>
          <p:cNvPr id="328" name="Google Shape;32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try/catch handles all three failures. The ORDER matters here - the response.ok check has to happen before you try to parse the body, otherwise you're asking .json() to parse a 500 error page and it will not be happy. The catch block is where the real decisions live: logging, showing an error to the user, falling back to cached data, and so on. For this lecture we just return an empty array to keep it simple.</a:t>
            </a:r>
            <a:endParaRPr/>
          </a:p>
        </p:txBody>
      </p:sp>
      <p:sp>
        <p:nvSpPr>
          <p:cNvPr id="335" name="Google Shape;33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Race conditions. This is the new bug shape that async introduces and synchronous code can't have...really worth pausing on, because it's also the bug that catches students later in React. Two slides: one to feel the problem, one to handle it with AbortController.</a:t>
            </a:r>
            <a:endParaRPr/>
          </a:p>
        </p:txBody>
      </p:sp>
      <p:sp>
        <p:nvSpPr>
          <p:cNvPr id="344" name="Google Shape;34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daffe9b800_0_3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g3daffe9b800_0_3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time students hit this in their own code they will SWEAR the bug is somewhere else, because the code looks right and there's no exception...the answers really did just come back in the wrong order. Spend a minute on the chat-filter scenario, draw the timeline on the board if you have to: t=0 click Active, t=1 click All, t=2 All returns, t=3 Active returns and clobbers it. Once they see the timeline the bug becomes obvious and the fix on the next slide makes immediate sense.</a:t>
            </a:r>
            <a:endParaRPr/>
          </a:p>
        </p:txBody>
      </p:sp>
      <p:sp>
        <p:nvSpPr>
          <p:cNvPr id="350" name="Google Shape;350;g3daffe9b800_0_3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time students hit this in their own code they will SWEAR the bug is somewhere else, because the code looks right and there's no exception...the answers really did just come back in the wrong order. Spend a minute on the chat-filter scenario, draw the timeline on the board if you have to: t=0 click Active, t=1 click All, t=2 All returns, t=3 Active returns and clobbers it. Once they see the timeline the bug becomes obvious and the fix on the next slide makes immediate sense.</a:t>
            </a:r>
            <a:endParaRPr/>
          </a:p>
        </p:txBody>
      </p:sp>
      <p:sp>
        <p:nvSpPr>
          <p:cNvPr id="357" name="Google Shape;357;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affe9b800_0_2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g3daffe9b800_0_2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AbortController is the modern, idiomatic answer. It's also EXACTLY the pattern React's useEffect cleanup uses, which is a really nice forward-reference for next class - when they see useEffect returning a cleanup function, they'll recognize this. Walk through it: each new call aborts the previous controller, makes a fresh one, passes the signal into fetch, and the catch ignores AbortError because that rejection was on purpose. The alternative pattern, where you track a request id and ignore the stale responses, works fine too - AbortController just also saves you the network round trip on the way.</a:t>
            </a:r>
            <a:endParaRPr/>
          </a:p>
        </p:txBody>
      </p:sp>
      <p:sp>
        <p:nvSpPr>
          <p:cNvPr id="364" name="Google Shape;364;g3daffe9b800_0_2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affe9b800_0_2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g3daffe9b800_0_2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AbortController is the modern, idiomatic answer. It's also EXACTLY the pattern React's useEffect cleanup uses, which is a really nice forward-reference for next class - when they see useEffect returning a cleanup function, they'll recognize this. Walk through it: each new call aborts the previous controller, makes a fresh one, passes the signal into fetch, and the catch ignores AbortError because that rejection was on purpose. The alternative pattern, where you track a request id and ignore the stale responses, works fine too - AbortController just also saves you the network round trip on the way.</a:t>
            </a:r>
            <a:endParaRPr/>
          </a:p>
        </p:txBody>
      </p:sp>
      <p:sp>
        <p:nvSpPr>
          <p:cNvPr id="373" name="Google Shape;373;g3daffe9b800_0_2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AbortController is the modern, idiomatic answer. It's also EXACTLY the pattern React's useEffect cleanup uses, which is a really nice forward-reference for next class - when they see useEffect returning a cleanup function, they'll recognize this. Walk through it: each new call aborts the previous controller, makes a fresh one, passes the signal into fetch, and the catch ignores AbortError because that rejection was on purpose. The alternative pattern, where you track a request id and ignore the stale responses, works fine too - AbortController just also saves you the network round trip on the way.</a:t>
            </a:r>
            <a:endParaRPr/>
          </a:p>
        </p:txBody>
      </p:sp>
      <p:sp>
        <p:nvSpPr>
          <p:cNvPr id="382" name="Google Shape;382;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exercise really ties together everything in the lecture - fetch, await, response.ok, response.json, DOM manipulation, error handling, all in one function. If a student can do this from scratch by the end of class, they're ready for React. The blanks are deliberately spaced so each one tests a distinct concept instead of just being a typing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fetch</a:t>
            </a:r>
            <a:endParaRPr/>
          </a:p>
          <a:p>
            <a:pPr indent="0" lvl="0" marL="0" rtl="0" algn="l">
              <a:spcBef>
                <a:spcPts val="0"/>
              </a:spcBef>
              <a:spcAft>
                <a:spcPts val="0"/>
              </a:spcAft>
              <a:buNone/>
            </a:pPr>
            <a:r>
              <a:rPr lang="en-US" u="sng">
                <a:solidFill>
                  <a:schemeClr val="hlink"/>
                </a:solidFill>
                <a:hlinkClick r:id="rId2"/>
              </a:rPr>
              <a:t>response.ok</a:t>
            </a:r>
            <a:endParaRPr/>
          </a:p>
          <a:p>
            <a:pPr indent="0" lvl="0" marL="0" rtl="0" algn="l">
              <a:spcBef>
                <a:spcPts val="0"/>
              </a:spcBef>
              <a:spcAft>
                <a:spcPts val="0"/>
              </a:spcAft>
              <a:buNone/>
            </a:pPr>
            <a:r>
              <a:rPr lang="en-US"/>
              <a:t>json()</a:t>
            </a:r>
            <a:endParaRPr/>
          </a:p>
          <a:p>
            <a:pPr indent="0" lvl="0" marL="0" rtl="0" algn="l">
              <a:spcBef>
                <a:spcPts val="0"/>
              </a:spcBef>
              <a:spcAft>
                <a:spcPts val="0"/>
              </a:spcAft>
              <a:buNone/>
            </a:pPr>
            <a:r>
              <a:rPr lang="en-US"/>
              <a:t>document.createElement(“li”)</a:t>
            </a:r>
            <a:endParaRPr/>
          </a:p>
          <a:p>
            <a:pPr indent="0" lvl="0" marL="0" rtl="0" algn="l">
              <a:spcBef>
                <a:spcPts val="0"/>
              </a:spcBef>
              <a:spcAft>
                <a:spcPts val="0"/>
              </a:spcAft>
              <a:buNone/>
            </a:pPr>
            <a:r>
              <a:rPr lang="en-US"/>
              <a:t>todo.title</a:t>
            </a:r>
            <a:endParaRPr/>
          </a:p>
          <a:p>
            <a:pPr indent="0" lvl="0" marL="0" rtl="0" algn="l">
              <a:spcBef>
                <a:spcPts val="0"/>
              </a:spcBef>
              <a:spcAft>
                <a:spcPts val="0"/>
              </a:spcAft>
              <a:buNone/>
            </a:pPr>
            <a:r>
              <a:t/>
            </a:r>
            <a:endParaRPr/>
          </a:p>
        </p:txBody>
      </p:sp>
      <p:sp>
        <p:nvSpPr>
          <p:cNvPr id="391" name="Google Shape;391;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filled-in blank: response.ok, response.json(), createElement, append, and style.display='block' to unhide the error div. Point out that this function really does zero work students haven't seen before...it's just the COMBINATION that's new, and that's true of most frontend code - the pieces are small, the compositions are where the complexity lives.</a:t>
            </a:r>
            <a:endParaRPr/>
          </a:p>
        </p:txBody>
      </p:sp>
      <p:sp>
        <p:nvSpPr>
          <p:cNvPr id="400" name="Google Shape;400;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method: POST</a:t>
            </a:r>
            <a:endParaRPr/>
          </a:p>
          <a:p>
            <a:pPr indent="0" lvl="0" marL="0" rtl="0" algn="l">
              <a:spcBef>
                <a:spcPts val="0"/>
              </a:spcBef>
              <a:spcAft>
                <a:spcPts val="0"/>
              </a:spcAft>
              <a:buNone/>
            </a:pPr>
            <a:r>
              <a:rPr lang="en-US"/>
              <a:t>JSON.stringify</a:t>
            </a:r>
            <a:endParaRPr/>
          </a:p>
          <a:p>
            <a:pPr indent="0" lvl="0" marL="0" rtl="0" algn="l">
              <a:spcBef>
                <a:spcPts val="0"/>
              </a:spcBef>
              <a:spcAft>
                <a:spcPts val="0"/>
              </a:spcAft>
              <a:buNone/>
            </a:pPr>
            <a:r>
              <a:rPr lang="en-US"/>
              <a:t>!</a:t>
            </a:r>
            <a:r>
              <a:rPr lang="en-US" u="sng">
                <a:solidFill>
                  <a:schemeClr val="hlink"/>
                </a:solidFill>
                <a:hlinkClick r:id="rId2"/>
              </a:rPr>
              <a:t>response.ok</a:t>
            </a:r>
            <a:endParaRPr/>
          </a:p>
          <a:p>
            <a:pPr indent="0" lvl="0" marL="0" rtl="0" algn="l">
              <a:spcBef>
                <a:spcPts val="0"/>
              </a:spcBef>
              <a:spcAft>
                <a:spcPts val="0"/>
              </a:spcAft>
              <a:buNone/>
            </a:pPr>
            <a:r>
              <a:rPr lang="en-US"/>
              <a:t>json()</a:t>
            </a:r>
            <a:endParaRPr/>
          </a:p>
          <a:p>
            <a:pPr indent="0" lvl="0" marL="0" rtl="0" algn="l">
              <a:spcBef>
                <a:spcPts val="0"/>
              </a:spcBef>
              <a:spcAft>
                <a:spcPts val="0"/>
              </a:spcAft>
              <a:buNone/>
            </a:pPr>
            <a:r>
              <a:rPr lang="en-US"/>
              <a:t>document.createElement(“li”)</a:t>
            </a:r>
            <a:endParaRPr/>
          </a:p>
          <a:p>
            <a:pPr indent="0" lvl="0" marL="0" rtl="0" algn="l">
              <a:spcBef>
                <a:spcPts val="0"/>
              </a:spcBef>
              <a:spcAft>
                <a:spcPts val="0"/>
              </a:spcAft>
              <a:buNone/>
            </a:pPr>
            <a:r>
              <a:rPr lang="en-US"/>
              <a:t>append</a:t>
            </a:r>
            <a:endParaRPr/>
          </a:p>
        </p:txBody>
      </p:sp>
      <p:sp>
        <p:nvSpPr>
          <p:cNvPr id="409" name="Google Shape;409;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filled blanks in order: preventDefault, method, JSON.stringify, ok, json, append. Point out that we trust the server's returned object (`created.title`) rather than re-using `input.value`, because the server may have trimmed or normalized it - and definitely assigned it an id. That's a real production habit worth internalizing now: the source of truth for what got written is what the server SAYS got written, not what you sent.</a:t>
            </a:r>
            <a:endParaRPr/>
          </a:p>
        </p:txBody>
      </p:sp>
      <p:sp>
        <p:nvSpPr>
          <p:cNvPr id="418" name="Google Shape;418;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Summary, recap, forward reference. The takeaways here are the ones they should be able to recite back at me by the end of class. The AbortController pattern from Section 6 is also the exact shape of useEffect cleanup, which is the strongest forward reference into 6.1: when they see a useEffect that returns a cleanup function, that's the same machinery they just learned. The re-render question is the OTHER hook for React - it's the ONE thing they had to solve manually today (just 'append an li' in the exercises), and React's whole value proposition is kinda doing that for you automatically.</a:t>
            </a:r>
            <a:endParaRPr/>
          </a:p>
        </p:txBody>
      </p:sp>
      <p:sp>
        <p:nvSpPr>
          <p:cNvPr id="427" name="Google Shape;427;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affe9b800_0_2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g3daffe9b800_0_2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manual updates for one state change. Walk through each - list rebuild, counter text, empty-state visibility - and then ask students to imagine an app with fifteen pieces of UI depending on the data instead of three. Every state change means remembering to touch every affected element, miss ONE and the UI silently lies about what the data says. This is kinda the canonical bug in vanilla-JS frontends and it's worth naming out loud.</a:t>
            </a:r>
            <a:endParaRPr/>
          </a:p>
        </p:txBody>
      </p:sp>
      <p:sp>
        <p:nvSpPr>
          <p:cNvPr id="434" name="Google Shape;434;g3daffe9b800_0_2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affe9b800_0_3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g3daffe9b800_0_3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Summary, recap, forward reference. The takeaways here are the ones they should be able to recite back at me by the end of class. The AbortController pattern from Section 6 is also the exact shape of useEffect cleanup, which is the strongest forward reference into 6.1: when they see a useEffect that returns a cleanup function, that's the same machinery they just learned. The re-render question is the OTHER hook for React - it's the ONE thing they had to solve manually today (just 'append an li' in the exercises), and React's whole value proposition is kinda doing that for you automatically.</a:t>
            </a:r>
            <a:endParaRPr/>
          </a:p>
        </p:txBody>
      </p:sp>
      <p:sp>
        <p:nvSpPr>
          <p:cNvPr id="443" name="Google Shape;443;g3daffe9b800_0_3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8"/>
          <p:cNvSpPr/>
          <p:nvPr>
            <p:ph idx="2" type="pic"/>
          </p:nvPr>
        </p:nvSpPr>
        <p:spPr>
          <a:xfrm>
            <a:off x="1792288" y="612775"/>
            <a:ext cx="5486400" cy="4114800"/>
          </a:xfrm>
          <a:prstGeom prst="rect">
            <a:avLst/>
          </a:prstGeom>
          <a:noFill/>
          <a:ln>
            <a:noFill/>
          </a:ln>
        </p:spPr>
      </p:sp>
      <p:sp>
        <p:nvSpPr>
          <p:cNvPr id="64" name="Google Shape;64;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5B21B6"/>
                </a:solidFill>
                <a:latin typeface="Calibri"/>
                <a:ea typeface="Calibri"/>
                <a:cs typeface="Calibri"/>
                <a:sym typeface="Calibri"/>
              </a:rPr>
              <a:t>Lecture 5.2</a:t>
            </a:r>
            <a:endParaRPr/>
          </a:p>
        </p:txBody>
      </p:sp>
      <p:sp>
        <p:nvSpPr>
          <p:cNvPr id="87" name="Google Shape;87;p1"/>
          <p:cNvSpPr txBox="1"/>
          <p:nvPr/>
        </p:nvSpPr>
        <p:spPr>
          <a:xfrm>
            <a:off x="914400" y="2468880"/>
            <a:ext cx="10362895"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800" u="none" cap="none" strike="noStrike">
                <a:solidFill>
                  <a:srgbClr val="1A1A2E"/>
                </a:solidFill>
                <a:latin typeface="Calibri"/>
                <a:ea typeface="Calibri"/>
                <a:cs typeface="Calibri"/>
                <a:sym typeface="Calibri"/>
              </a:rPr>
              <a:t>Talking to Your Server</a:t>
            </a:r>
            <a:endParaRPr/>
          </a:p>
        </p:txBody>
      </p:sp>
      <p:sp>
        <p:nvSpPr>
          <p:cNvPr id="88" name="Google Shape;88;p1"/>
          <p:cNvSpPr txBox="1"/>
          <p:nvPr/>
        </p:nvSpPr>
        <p:spPr>
          <a:xfrm>
            <a:off x="914400" y="4754880"/>
            <a:ext cx="1036289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g3daffe9b800_0_352"/>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To recap</a:t>
            </a:r>
            <a:endParaRPr/>
          </a:p>
        </p:txBody>
      </p:sp>
      <p:sp>
        <p:nvSpPr>
          <p:cNvPr id="95" name="Google Shape;95;g3daffe9b800_0_352"/>
          <p:cNvSpPr txBox="1"/>
          <p:nvPr/>
        </p:nvSpPr>
        <p:spPr>
          <a:xfrm>
            <a:off x="914388" y="1188815"/>
            <a:ext cx="10362900" cy="466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JavaScript is a ten-day language given a browser to mutate.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Read it with empathy for the constraints; use the modern way.</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`let` and `const`. Never `var`.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 Never `==` (except `x == null`).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`.map()` / `.filter()` / `.reduce()` instead of `for` loops.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TypeScript. Annotate at boundaries; let inference do the rest.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Mutate the DOM via `textContent` and `createElement`, not `innerHTML`.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Register callbacks with `addEventListener`.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Next: a way to talk to your </a:t>
            </a:r>
            <a:r>
              <a:rPr lang="en-US" sz="2400">
                <a:solidFill>
                  <a:srgbClr val="333344"/>
                </a:solidFill>
                <a:latin typeface="Calibri"/>
                <a:ea typeface="Calibri"/>
                <a:cs typeface="Calibri"/>
                <a:sym typeface="Calibri"/>
              </a:rPr>
              <a:t>webserver.</a:t>
            </a:r>
            <a:endParaRPr/>
          </a:p>
          <a:p>
            <a:pPr indent="0" lvl="1" marL="457200" marR="0" rtl="0" algn="l">
              <a:spcBef>
                <a:spcPts val="6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00" name="Shape 100"/>
        <p:cNvGrpSpPr/>
        <p:nvPr/>
      </p:nvGrpSpPr>
      <p:grpSpPr>
        <a:xfrm>
          <a:off x="0" y="0"/>
          <a:ext cx="0" cy="0"/>
          <a:chOff x="0" y="0"/>
          <a:chExt cx="0" cy="0"/>
        </a:xfrm>
      </p:grpSpPr>
      <p:sp>
        <p:nvSpPr>
          <p:cNvPr id="101" name="Google Shape;101;g3daffe9b800_0_0"/>
          <p:cNvSpPr txBox="1"/>
          <p:nvPr/>
        </p:nvSpPr>
        <p:spPr>
          <a:xfrm>
            <a:off x="914400" y="2286000"/>
            <a:ext cx="103629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Code That Has to Wait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g3daffe9b800_0_124"/>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third thing the browser gives you</a:t>
            </a:r>
            <a:endParaRPr/>
          </a:p>
        </p:txBody>
      </p:sp>
      <p:sp>
        <p:nvSpPr>
          <p:cNvPr id="108" name="Google Shape;108;g3daffe9b800_0_124"/>
          <p:cNvSpPr txBox="1"/>
          <p:nvPr/>
        </p:nvSpPr>
        <p:spPr>
          <a:xfrm>
            <a:off x="914400" y="1463040"/>
            <a:ext cx="10362900" cy="190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33344"/>
                </a:solidFill>
                <a:latin typeface="Calibri"/>
                <a:ea typeface="Calibri"/>
                <a:cs typeface="Calibri"/>
                <a:sym typeface="Calibri"/>
              </a:rPr>
              <a:t>To recap,</a:t>
            </a:r>
            <a:r>
              <a:rPr b="0" i="0" lang="en-US" sz="2400" u="none" cap="none" strike="noStrike">
                <a:solidFill>
                  <a:srgbClr val="333344"/>
                </a:solidFill>
                <a:latin typeface="Calibri"/>
                <a:ea typeface="Calibri"/>
                <a:cs typeface="Calibri"/>
                <a:sym typeface="Calibri"/>
              </a:rPr>
              <a:t> we said the browser gives your JavaScript three things: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a:t>
            </a:r>
            <a:r>
              <a:rPr b="0" i="0" lang="en-US" sz="2000" u="none" cap="none" strike="noStrike">
                <a:solidFill>
                  <a:srgbClr val="666677"/>
                </a:solidFill>
                <a:latin typeface="Calibri"/>
                <a:ea typeface="Calibri"/>
                <a:cs typeface="Calibri"/>
                <a:sym typeface="Calibri"/>
              </a:rPr>
              <a:t> A document you can read and mutate (the DOM)</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a:t>
            </a:r>
            <a:r>
              <a:rPr b="0" i="0" lang="en-US" sz="2000" u="none" cap="none" strike="noStrike">
                <a:solidFill>
                  <a:srgbClr val="666677"/>
                </a:solidFill>
                <a:latin typeface="Calibri"/>
                <a:ea typeface="Calibri"/>
                <a:cs typeface="Calibri"/>
                <a:sym typeface="Calibri"/>
              </a:rPr>
              <a:t> Events for responding to user input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a:t>
            </a:r>
            <a:r>
              <a:rPr b="0" i="0" lang="en-US" sz="2000" u="none" cap="none" strike="noStrike">
                <a:solidFill>
                  <a:srgbClr val="666677"/>
                </a:solidFill>
                <a:latin typeface="Calibri"/>
                <a:ea typeface="Calibri"/>
                <a:cs typeface="Calibri"/>
                <a:sym typeface="Calibri"/>
              </a:rPr>
              <a:t> A way to talk to a server without reloading the page</a:t>
            </a:r>
            <a:endParaRPr/>
          </a:p>
          <a:p>
            <a:pPr indent="0" lvl="0" marL="0" marR="0" rtl="0" algn="l">
              <a:spcBef>
                <a:spcPts val="6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g3daffe9b800_0_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third thing the browser gives you</a:t>
            </a:r>
            <a:endParaRPr/>
          </a:p>
        </p:txBody>
      </p:sp>
      <p:sp>
        <p:nvSpPr>
          <p:cNvPr id="115" name="Google Shape;115;g3daffe9b800_0_5"/>
          <p:cNvSpPr txBox="1"/>
          <p:nvPr/>
        </p:nvSpPr>
        <p:spPr>
          <a:xfrm>
            <a:off x="914400" y="1463040"/>
            <a:ext cx="10362900" cy="4556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33344"/>
                </a:solidFill>
                <a:latin typeface="Calibri"/>
                <a:ea typeface="Calibri"/>
                <a:cs typeface="Calibri"/>
                <a:sym typeface="Calibri"/>
              </a:rPr>
              <a:t>To recap,</a:t>
            </a:r>
            <a:r>
              <a:rPr b="0" i="0" lang="en-US" sz="2400" u="none" cap="none" strike="noStrike">
                <a:solidFill>
                  <a:srgbClr val="333344"/>
                </a:solidFill>
                <a:latin typeface="Calibri"/>
                <a:ea typeface="Calibri"/>
                <a:cs typeface="Calibri"/>
                <a:sym typeface="Calibri"/>
              </a:rPr>
              <a:t> we said the browser gives your JavaScript three things: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a:t>
            </a:r>
            <a:r>
              <a:rPr b="1" i="0" lang="en-US" sz="2000" u="none" cap="none" strike="sngStrike">
                <a:solidFill>
                  <a:srgbClr val="666677"/>
                </a:solidFill>
                <a:latin typeface="Calibri"/>
                <a:ea typeface="Calibri"/>
                <a:cs typeface="Calibri"/>
                <a:sym typeface="Calibri"/>
              </a:rPr>
              <a:t>1.</a:t>
            </a:r>
            <a:r>
              <a:rPr b="0" i="0" lang="en-US" sz="2000" u="none" cap="none" strike="sngStrike">
                <a:solidFill>
                  <a:srgbClr val="666677"/>
                </a:solidFill>
                <a:latin typeface="Calibri"/>
                <a:ea typeface="Calibri"/>
                <a:cs typeface="Calibri"/>
                <a:sym typeface="Calibri"/>
              </a:rPr>
              <a:t> A document you can read and mutate (the DOM)</a:t>
            </a:r>
            <a:endParaRPr strike="sngStrike"/>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a:t>
            </a:r>
            <a:r>
              <a:rPr b="1" i="0" lang="en-US" sz="2000" u="none" cap="none" strike="sngStrike">
                <a:solidFill>
                  <a:srgbClr val="666677"/>
                </a:solidFill>
                <a:latin typeface="Calibri"/>
                <a:ea typeface="Calibri"/>
                <a:cs typeface="Calibri"/>
                <a:sym typeface="Calibri"/>
              </a:rPr>
              <a:t>2.</a:t>
            </a:r>
            <a:r>
              <a:rPr b="0" i="0" lang="en-US" sz="2000" u="none" cap="none" strike="sngStrike">
                <a:solidFill>
                  <a:srgbClr val="666677"/>
                </a:solidFill>
                <a:latin typeface="Calibri"/>
                <a:ea typeface="Calibri"/>
                <a:cs typeface="Calibri"/>
                <a:sym typeface="Calibri"/>
              </a:rPr>
              <a:t> Events for responding to user input</a:t>
            </a:r>
            <a:endParaRPr strike="sngStrike"/>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a:t>
            </a:r>
            <a:r>
              <a:rPr b="0" i="0" lang="en-US" sz="2000" u="none" cap="none" strike="noStrike">
                <a:solidFill>
                  <a:srgbClr val="666677"/>
                </a:solidFill>
                <a:latin typeface="Calibri"/>
                <a:ea typeface="Calibri"/>
                <a:cs typeface="Calibri"/>
                <a:sym typeface="Calibri"/>
              </a:rPr>
              <a:t> A way to talk to a server without reloading the page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We did the first two. </a:t>
            </a:r>
            <a:r>
              <a:rPr lang="en-US" sz="2400">
                <a:solidFill>
                  <a:srgbClr val="333344"/>
                </a:solidFill>
                <a:latin typeface="Calibri"/>
                <a:ea typeface="Calibri"/>
                <a:cs typeface="Calibri"/>
                <a:sym typeface="Calibri"/>
              </a:rPr>
              <a:t>Now to talk about</a:t>
            </a:r>
            <a:r>
              <a:rPr b="0" i="0" lang="en-US" sz="2400" u="none" cap="none" strike="noStrike">
                <a:solidFill>
                  <a:srgbClr val="333344"/>
                </a:solidFill>
                <a:latin typeface="Calibri"/>
                <a:ea typeface="Calibri"/>
                <a:cs typeface="Calibri"/>
                <a:sym typeface="Calibri"/>
              </a:rPr>
              <a:t> the third</a:t>
            </a:r>
            <a:endParaRPr sz="2400">
              <a:solidFill>
                <a:srgbClr val="333344"/>
              </a:solidFill>
              <a:latin typeface="Calibri"/>
              <a:ea typeface="Calibri"/>
              <a:cs typeface="Calibri"/>
              <a:sym typeface="Calibri"/>
            </a:endParaRPr>
          </a:p>
          <a:p>
            <a:pPr indent="457200" lvl="0" marL="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I</a:t>
            </a:r>
            <a:r>
              <a:rPr b="0" i="0" lang="en-US" sz="2000" u="none" cap="none" strike="noStrike">
                <a:solidFill>
                  <a:srgbClr val="666677"/>
                </a:solidFill>
                <a:latin typeface="Calibri"/>
                <a:ea typeface="Calibri"/>
                <a:cs typeface="Calibri"/>
                <a:sym typeface="Calibri"/>
              </a:rPr>
              <a:t>t</a:t>
            </a:r>
            <a:r>
              <a:rPr lang="en-US" sz="2000">
                <a:solidFill>
                  <a:srgbClr val="666677"/>
                </a:solidFill>
                <a:latin typeface="Calibri"/>
                <a:ea typeface="Calibri"/>
                <a:cs typeface="Calibri"/>
                <a:sym typeface="Calibri"/>
              </a:rPr>
              <a:t>’s </a:t>
            </a:r>
            <a:r>
              <a:rPr b="0" i="0" lang="en-US" sz="2000" u="none" cap="none" strike="noStrike">
                <a:solidFill>
                  <a:srgbClr val="666677"/>
                </a:solidFill>
                <a:latin typeface="Calibri"/>
                <a:ea typeface="Calibri"/>
                <a:cs typeface="Calibri"/>
                <a:sym typeface="Calibri"/>
              </a:rPr>
              <a:t>different from everything else you've done in this course.</a:t>
            </a:r>
            <a:endParaRPr/>
          </a:p>
          <a:p>
            <a:pPr indent="0" lvl="1" marL="0" marR="0" rtl="0" algn="l">
              <a:spcBef>
                <a:spcPts val="600"/>
              </a:spcBef>
              <a:spcAft>
                <a:spcPts val="0"/>
              </a:spcAft>
              <a:buNone/>
            </a:pPr>
            <a:r>
              <a:t/>
            </a:r>
            <a:endParaRPr sz="2000">
              <a:solidFill>
                <a:srgbClr val="666677"/>
              </a:solidFill>
              <a:latin typeface="Calibri"/>
              <a:ea typeface="Calibri"/>
              <a:cs typeface="Calibri"/>
              <a:sym typeface="Calibri"/>
            </a:endParaRPr>
          </a:p>
          <a:p>
            <a:pPr indent="0" lvl="1" marL="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400">
                <a:solidFill>
                  <a:srgbClr val="333344"/>
                </a:solidFill>
                <a:latin typeface="Calibri"/>
                <a:ea typeface="Calibri"/>
                <a:cs typeface="Calibri"/>
                <a:sym typeface="Calibri"/>
              </a:rPr>
              <a:t>Network requests can return in milliseconds, seconds, or </a:t>
            </a:r>
            <a:r>
              <a:rPr b="1" lang="en-US" sz="2400">
                <a:solidFill>
                  <a:srgbClr val="333344"/>
                </a:solidFill>
                <a:latin typeface="Calibri"/>
                <a:ea typeface="Calibri"/>
                <a:cs typeface="Calibri"/>
                <a:sym typeface="Calibri"/>
              </a:rPr>
              <a:t>never</a:t>
            </a:r>
            <a:endParaRPr sz="2400">
              <a:solidFill>
                <a:srgbClr val="333344"/>
              </a:solidFill>
              <a:latin typeface="Calibri"/>
              <a:ea typeface="Calibri"/>
              <a:cs typeface="Calibri"/>
              <a:sym typeface="Calibri"/>
            </a:endParaRPr>
          </a:p>
          <a:p>
            <a:pPr indent="0" lvl="1" marL="0" marR="0" rtl="0" algn="l">
              <a:spcBef>
                <a:spcPts val="600"/>
              </a:spcBef>
              <a:spcAft>
                <a:spcPts val="0"/>
              </a:spcAft>
              <a:buNone/>
            </a:pPr>
            <a:r>
              <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So control flow has to change.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g3daffe9b800_0_433"/>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Why you can't just block and wait</a:t>
            </a:r>
            <a:endParaRPr/>
          </a:p>
        </p:txBody>
      </p:sp>
      <p:sp>
        <p:nvSpPr>
          <p:cNvPr id="122" name="Google Shape;122;g3daffe9b800_0_433"/>
          <p:cNvSpPr txBox="1"/>
          <p:nvPr/>
        </p:nvSpPr>
        <p:spPr>
          <a:xfrm>
            <a:off x="914400" y="1463040"/>
            <a:ext cx="10362900" cy="229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JavaScript had a </a:t>
            </a:r>
            <a:r>
              <a:rPr b="1" i="0" lang="en-US" sz="2400" u="none" cap="none" strike="noStrike">
                <a:solidFill>
                  <a:srgbClr val="333344"/>
                </a:solidFill>
                <a:latin typeface="Courier Prime"/>
                <a:ea typeface="Courier Prime"/>
                <a:cs typeface="Courier Prime"/>
                <a:sym typeface="Courier Prime"/>
              </a:rPr>
              <a:t>fetchSync()</a:t>
            </a:r>
            <a:r>
              <a:rPr i="0" lang="en-US" sz="2400" u="none" cap="none" strike="noStrike">
                <a:solidFill>
                  <a:srgbClr val="333344"/>
                </a:solidFill>
                <a:latin typeface="Courier Prime"/>
                <a:ea typeface="Courier Prime"/>
                <a:cs typeface="Courier Prime"/>
                <a:sym typeface="Courier Prime"/>
              </a:rPr>
              <a:t> </a:t>
            </a:r>
            <a:r>
              <a:rPr b="0" i="0" lang="en-US" sz="2400" u="none" cap="none" strike="noStrike">
                <a:solidFill>
                  <a:srgbClr val="333344"/>
                </a:solidFill>
                <a:latin typeface="Calibri"/>
                <a:ea typeface="Calibri"/>
                <a:cs typeface="Calibri"/>
                <a:sym typeface="Calibri"/>
              </a:rPr>
              <a:t>that worked like Python's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requests.get()</a:t>
            </a:r>
            <a:r>
              <a:rPr b="0" i="0" lang="en-US" sz="2000" u="none" cap="none" strike="noStrike">
                <a:solidFill>
                  <a:srgbClr val="666677"/>
                </a:solidFill>
                <a:latin typeface="Calibri"/>
                <a:ea typeface="Calibri"/>
                <a:cs typeface="Calibri"/>
                <a:sym typeface="Calibri"/>
              </a:rPr>
              <a:t>` - call it, wait for the answer, move 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const messages = fetchSync("/api/messages");</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console.log(messages);</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g3daffe9b800_0_1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Why you can't just block and wait</a:t>
            </a:r>
            <a:endParaRPr/>
          </a:p>
        </p:txBody>
      </p:sp>
      <p:sp>
        <p:nvSpPr>
          <p:cNvPr id="129" name="Google Shape;129;g3daffe9b800_0_11"/>
          <p:cNvSpPr txBox="1"/>
          <p:nvPr/>
        </p:nvSpPr>
        <p:spPr>
          <a:xfrm>
            <a:off x="914400" y="1463040"/>
            <a:ext cx="10362900" cy="520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JavaScript had a </a:t>
            </a:r>
            <a:r>
              <a:rPr b="1" i="0" lang="en-US" sz="2400" u="none" cap="none" strike="noStrike">
                <a:solidFill>
                  <a:srgbClr val="333344"/>
                </a:solidFill>
                <a:latin typeface="Courier Prime"/>
                <a:ea typeface="Courier Prime"/>
                <a:cs typeface="Courier Prime"/>
                <a:sym typeface="Courier Prime"/>
              </a:rPr>
              <a:t>fetchSync()</a:t>
            </a:r>
            <a:r>
              <a:rPr i="0" lang="en-US" sz="2400" u="none" cap="none" strike="noStrike">
                <a:solidFill>
                  <a:srgbClr val="333344"/>
                </a:solidFill>
                <a:latin typeface="Courier Prime"/>
                <a:ea typeface="Courier Prime"/>
                <a:cs typeface="Courier Prime"/>
                <a:sym typeface="Courier Prime"/>
              </a:rPr>
              <a:t> </a:t>
            </a:r>
            <a:r>
              <a:rPr b="0" i="0" lang="en-US" sz="2400" u="none" cap="none" strike="noStrike">
                <a:solidFill>
                  <a:srgbClr val="333344"/>
                </a:solidFill>
                <a:latin typeface="Calibri"/>
                <a:ea typeface="Calibri"/>
                <a:cs typeface="Calibri"/>
                <a:sym typeface="Calibri"/>
              </a:rPr>
              <a:t>that worked like Python's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requests.get()</a:t>
            </a:r>
            <a:r>
              <a:rPr b="0" i="0" lang="en-US" sz="2000" u="none" cap="none" strike="noStrike">
                <a:solidFill>
                  <a:srgbClr val="666677"/>
                </a:solidFill>
                <a:latin typeface="Calibri"/>
                <a:ea typeface="Calibri"/>
                <a:cs typeface="Calibri"/>
                <a:sym typeface="Calibri"/>
              </a:rPr>
              <a:t>` - call it, wait for the answer, move 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const messages = fetchSync("/api/messages");</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console.log(messages);</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That line sits on one thread while it waits for the server, and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browser's UI is on that same thread.</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page freezes, clicks don't register, scrolling stops, and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tab shows a spinning beach ball until the server answers.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This is why `</a:t>
            </a:r>
            <a:r>
              <a:rPr b="1" i="0" lang="en-US" sz="2400" u="none" cap="none" strike="noStrike">
                <a:solidFill>
                  <a:srgbClr val="333344"/>
                </a:solidFill>
                <a:latin typeface="Courier Prime"/>
                <a:ea typeface="Courier Prime"/>
                <a:cs typeface="Courier Prime"/>
                <a:sym typeface="Courier Prime"/>
              </a:rPr>
              <a:t>fetchSync</a:t>
            </a:r>
            <a:r>
              <a:rPr b="0" i="0" lang="en-US" sz="2400" u="none" cap="none" strike="noStrike">
                <a:solidFill>
                  <a:srgbClr val="333344"/>
                </a:solidFill>
                <a:latin typeface="Calibri"/>
                <a:ea typeface="Calibri"/>
                <a:cs typeface="Calibri"/>
                <a:sym typeface="Calibri"/>
              </a:rPr>
              <a:t>` doesn't exist. The browser won't let you.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34" name="Shape 134"/>
        <p:cNvGrpSpPr/>
        <p:nvPr/>
      </p:nvGrpSpPr>
      <p:grpSpPr>
        <a:xfrm>
          <a:off x="0" y="0"/>
          <a:ext cx="0" cy="0"/>
          <a:chOff x="0" y="0"/>
          <a:chExt cx="0" cy="0"/>
        </a:xfrm>
      </p:grpSpPr>
      <p:sp>
        <p:nvSpPr>
          <p:cNvPr id="135" name="Google Shape;135;g3daffe9b800_0_17"/>
          <p:cNvSpPr txBox="1"/>
          <p:nvPr/>
        </p:nvSpPr>
        <p:spPr>
          <a:xfrm>
            <a:off x="5303520" y="457200"/>
            <a:ext cx="15846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5B21B6"/>
                </a:solidFill>
                <a:latin typeface="Calibri"/>
                <a:ea typeface="Calibri"/>
                <a:cs typeface="Calibri"/>
                <a:sym typeface="Calibri"/>
              </a:rPr>
              <a:t>?</a:t>
            </a:r>
            <a:endParaRPr/>
          </a:p>
        </p:txBody>
      </p:sp>
      <p:sp>
        <p:nvSpPr>
          <p:cNvPr id="136" name="Google Shape;136;g3daffe9b800_0_17"/>
          <p:cNvSpPr txBox="1"/>
          <p:nvPr/>
        </p:nvSpPr>
        <p:spPr>
          <a:xfrm>
            <a:off x="1371600" y="2011680"/>
            <a:ext cx="94485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1A1A2E"/>
                </a:solidFill>
                <a:latin typeface="Calibri"/>
                <a:ea typeface="Calibri"/>
                <a:cs typeface="Calibri"/>
                <a:sym typeface="Calibri"/>
              </a:rPr>
              <a:t>How would you design an API for a function that has to wait?</a:t>
            </a:r>
            <a:endParaRPr/>
          </a:p>
        </p:txBody>
      </p:sp>
      <p:sp>
        <p:nvSpPr>
          <p:cNvPr id="137" name="Google Shape;137;g3daffe9b800_0_17"/>
          <p:cNvSpPr txBox="1"/>
          <p:nvPr/>
        </p:nvSpPr>
        <p:spPr>
          <a:xfrm>
            <a:off x="1828800" y="4572000"/>
            <a:ext cx="8534100" cy="1108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200" u="none" cap="none" strike="noStrike">
                <a:solidFill>
                  <a:srgbClr val="666677"/>
                </a:solidFill>
                <a:latin typeface="Calibri"/>
                <a:ea typeface="Calibri"/>
                <a:cs typeface="Calibri"/>
                <a:sym typeface="Calibri"/>
              </a:rPr>
              <a:t>The function needs to return immediately (can't block) but the answer comes later. What do you hand back to the caller? How does the caller get the real value when it arrives?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42" name="Shape 142"/>
        <p:cNvGrpSpPr/>
        <p:nvPr/>
      </p:nvGrpSpPr>
      <p:grpSpPr>
        <a:xfrm>
          <a:off x="0" y="0"/>
          <a:ext cx="0" cy="0"/>
          <a:chOff x="0" y="0"/>
          <a:chExt cx="0" cy="0"/>
        </a:xfrm>
      </p:grpSpPr>
      <p:sp>
        <p:nvSpPr>
          <p:cNvPr id="143" name="Google Shape;143;g3daffe9b800_0_24"/>
          <p:cNvSpPr txBox="1"/>
          <p:nvPr/>
        </p:nvSpPr>
        <p:spPr>
          <a:xfrm>
            <a:off x="914400" y="2286000"/>
            <a:ext cx="103629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Promises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g3daffe9b800_0_29"/>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A promise is a placeholder for a future value</a:t>
            </a:r>
            <a:endParaRPr/>
          </a:p>
        </p:txBody>
      </p:sp>
      <p:sp>
        <p:nvSpPr>
          <p:cNvPr id="150" name="Google Shape;150;g3daffe9b800_0_29"/>
          <p:cNvSpPr txBox="1"/>
          <p:nvPr/>
        </p:nvSpPr>
        <p:spPr>
          <a:xfrm>
            <a:off x="914400" y="1463040"/>
            <a:ext cx="10362900" cy="526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a:t>
            </a:r>
            <a:r>
              <a:rPr b="1" i="0" lang="en-US" sz="2400" u="none" cap="none" strike="noStrike">
                <a:solidFill>
                  <a:srgbClr val="333344"/>
                </a:solidFill>
                <a:latin typeface="Calibri"/>
                <a:ea typeface="Calibri"/>
                <a:cs typeface="Calibri"/>
                <a:sym typeface="Calibri"/>
              </a:rPr>
              <a:t>promise</a:t>
            </a:r>
            <a:r>
              <a:rPr b="0" i="0" lang="en-US" sz="2400" u="none" cap="none" strike="noStrike">
                <a:solidFill>
                  <a:srgbClr val="333344"/>
                </a:solidFill>
                <a:latin typeface="Calibri"/>
                <a:ea typeface="Calibri"/>
                <a:cs typeface="Calibri"/>
                <a:sym typeface="Calibri"/>
              </a:rPr>
              <a:t> is an object representing "a value that will arrive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later, or a failure that will arrive later."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Call `</a:t>
            </a:r>
            <a:r>
              <a:rPr b="1" i="0" lang="en-US" sz="2400" u="none" cap="none" strike="noStrike">
                <a:solidFill>
                  <a:srgbClr val="333344"/>
                </a:solidFill>
                <a:latin typeface="Courier Prime"/>
                <a:ea typeface="Courier Prime"/>
                <a:cs typeface="Courier Prime"/>
                <a:sym typeface="Courier Prime"/>
              </a:rPr>
              <a:t>fetch(url)</a:t>
            </a:r>
            <a:r>
              <a:rPr b="0" i="0" lang="en-US" sz="2400" u="none" cap="none" strike="noStrike">
                <a:solidFill>
                  <a:srgbClr val="333344"/>
                </a:solidFill>
                <a:latin typeface="Calibri"/>
                <a:ea typeface="Calibri"/>
                <a:cs typeface="Calibri"/>
                <a:sym typeface="Calibri"/>
              </a:rPr>
              <a:t>` and you get a promise back </a:t>
            </a:r>
            <a:r>
              <a:rPr b="1" i="0" lang="en-US" sz="2400" u="none" cap="none" strike="noStrike">
                <a:solidFill>
                  <a:srgbClr val="333344"/>
                </a:solidFill>
                <a:latin typeface="Calibri"/>
                <a:ea typeface="Calibri"/>
                <a:cs typeface="Calibri"/>
                <a:sym typeface="Calibri"/>
              </a:rPr>
              <a:t>immediately</a:t>
            </a:r>
            <a:r>
              <a:rPr b="0" i="0" lang="en-US" sz="2400" u="none" cap="none" strike="noStrike">
                <a:solidFill>
                  <a:srgbClr val="333344"/>
                </a:solidFill>
                <a:latin typeface="Calibri"/>
                <a:ea typeface="Calibri"/>
                <a:cs typeface="Calibri"/>
                <a:sym typeface="Calibri"/>
              </a:rPr>
              <a:t>. </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actual HTTP response isn't there yet. The promise is.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Three states: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Pending</a:t>
            </a:r>
            <a:r>
              <a:rPr b="0" i="0" lang="en-US" sz="2000" u="none" cap="none" strike="noStrike">
                <a:solidFill>
                  <a:srgbClr val="666677"/>
                </a:solidFill>
                <a:latin typeface="Calibri"/>
                <a:ea typeface="Calibri"/>
                <a:cs typeface="Calibri"/>
                <a:sym typeface="Calibri"/>
              </a:rPr>
              <a:t>    - still waiting for the answer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Fulfilled</a:t>
            </a:r>
            <a:r>
              <a:rPr b="0" i="0" lang="en-US" sz="2000" u="none" cap="none" strike="noStrike">
                <a:solidFill>
                  <a:srgbClr val="666677"/>
                </a:solidFill>
                <a:latin typeface="Calibri"/>
                <a:ea typeface="Calibri"/>
                <a:cs typeface="Calibri"/>
                <a:sym typeface="Calibri"/>
              </a:rPr>
              <a:t> - value arrived, ready to use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Rejected</a:t>
            </a:r>
            <a:r>
              <a:rPr b="0" i="0" lang="en-US" sz="2000" u="none" cap="none" strike="noStrike">
                <a:solidFill>
                  <a:srgbClr val="666677"/>
                </a:solidFill>
                <a:latin typeface="Calibri"/>
                <a:ea typeface="Calibri"/>
                <a:cs typeface="Calibri"/>
                <a:sym typeface="Calibri"/>
              </a:rPr>
              <a:t>  - something went wrong</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 promise starts pending and </a:t>
            </a:r>
            <a:r>
              <a:rPr b="1" i="0" lang="en-US" sz="2400" u="none" cap="none" strike="noStrike">
                <a:solidFill>
                  <a:srgbClr val="333344"/>
                </a:solidFill>
                <a:latin typeface="Calibri"/>
                <a:ea typeface="Calibri"/>
                <a:cs typeface="Calibri"/>
                <a:sym typeface="Calibri"/>
              </a:rPr>
              <a:t>settles</a:t>
            </a:r>
            <a:r>
              <a:rPr b="0" i="0" lang="en-US" sz="2400" u="none" cap="none" strike="noStrike">
                <a:solidFill>
                  <a:srgbClr val="333344"/>
                </a:solidFill>
                <a:latin typeface="Calibri"/>
                <a:ea typeface="Calibri"/>
                <a:cs typeface="Calibri"/>
                <a:sym typeface="Calibri"/>
              </a:rPr>
              <a:t> into fulfilled or rejected exactly once.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register code to run when it settles.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g3daffe9b800_0_154"/>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classic API: .then()</a:t>
            </a:r>
            <a:endParaRPr/>
          </a:p>
        </p:txBody>
      </p:sp>
      <p:sp>
        <p:nvSpPr>
          <p:cNvPr id="157" name="Google Shape;157;g3daffe9b800_0_154"/>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58" name="Google Shape;158;g3daffe9b800_0_154"/>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g3daffe9b800_0_154"/>
          <p:cNvSpPr txBox="1"/>
          <p:nvPr/>
        </p:nvSpPr>
        <p:spPr>
          <a:xfrm>
            <a:off x="1005840" y="1645920"/>
            <a:ext cx="10179900" cy="233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fetch returns a promise. .then() registers a callback</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that runs when the promise fulfills.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promise = fetch("/api/messages");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promise.then((response) =&gt;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console.log("headers arrived:", response.status);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g3daffe9b800_0_146"/>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classic API: .then()</a:t>
            </a:r>
            <a:endParaRPr/>
          </a:p>
        </p:txBody>
      </p:sp>
      <p:sp>
        <p:nvSpPr>
          <p:cNvPr id="166" name="Google Shape;166;g3daffe9b800_0_146"/>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67" name="Google Shape;167;g3daffe9b800_0_146"/>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g3daffe9b800_0_146"/>
          <p:cNvSpPr txBox="1"/>
          <p:nvPr/>
        </p:nvSpPr>
        <p:spPr>
          <a:xfrm>
            <a:off x="1005840" y="1645920"/>
            <a:ext cx="10179900" cy="322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fetch returns a promise. .then() registers a callback</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that runs when the promise fulfills.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promise = fetch("/api/messages");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promise.then((response) =&gt;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console.log("headers arrived:", response.status);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Typical use of .then() chains parsing and further work:</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fetch("/api/messages")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.then((response) =&gt; response.json())</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g3daffe9b800_0_130"/>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classic API: .then()</a:t>
            </a:r>
            <a:endParaRPr/>
          </a:p>
        </p:txBody>
      </p:sp>
      <p:sp>
        <p:nvSpPr>
          <p:cNvPr id="175" name="Google Shape;175;g3daffe9b800_0_130"/>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76" name="Google Shape;176;g3daffe9b800_0_130"/>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g3daffe9b800_0_130"/>
          <p:cNvSpPr txBox="1"/>
          <p:nvPr/>
        </p:nvSpPr>
        <p:spPr>
          <a:xfrm>
            <a:off x="1005840" y="1645920"/>
            <a:ext cx="10179900" cy="345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fetch returns a promise. .then() registers a callback</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that runs when the promise fulfills.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promise = fetch("/api/messages");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promise.then((response) =&gt;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console.log("headers arrived:", response.status);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Typical use of .then() chains parsing and further work:</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fetch("/api/messages")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.then((response) =&gt; response.json())</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.then((data)      =&gt; console.log(data))</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g3daffe9b800_0_35"/>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classic API: .then()</a:t>
            </a:r>
            <a:endParaRPr/>
          </a:p>
        </p:txBody>
      </p:sp>
      <p:sp>
        <p:nvSpPr>
          <p:cNvPr id="184" name="Google Shape;184;g3daffe9b800_0_35"/>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85" name="Google Shape;185;g3daffe9b800_0_35"/>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g3daffe9b800_0_35"/>
          <p:cNvSpPr txBox="1"/>
          <p:nvPr/>
        </p:nvSpPr>
        <p:spPr>
          <a:xfrm>
            <a:off x="1005840" y="1645920"/>
            <a:ext cx="10179900" cy="458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fetch returns a promise. .then() registers a callback</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that runs when the promise fulfills.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promise = fetch("/api/messages");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promise.then((response) =&gt;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console.log("headers arrived:", response.status);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Typical use of .then() chains parsing and further work:</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fetch("/api/messages")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.then((response)  =&gt; response.json())</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.then((data)      =&gt; console.log(data))</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.catch((err)      =&gt; console.error("fetch failed:", err));</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This works. But chains get ugly fast when logic branches.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We're going to learn a nicer way next - this slide is so you</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recognize .then() when you see it in older code.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g3daffe9b800_0_43"/>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Why we're not going to write .then() chains</a:t>
            </a:r>
            <a:endParaRPr/>
          </a:p>
        </p:txBody>
      </p:sp>
      <p:sp>
        <p:nvSpPr>
          <p:cNvPr id="193" name="Google Shape;193;g3daffe9b800_0_43"/>
          <p:cNvSpPr txBox="1"/>
          <p:nvPr/>
        </p:nvSpPr>
        <p:spPr>
          <a:xfrm>
            <a:off x="914388" y="1196565"/>
            <a:ext cx="10362900" cy="48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t>
            </a:r>
            <a:r>
              <a:rPr b="1" i="0" lang="en-US" sz="2400" u="none" cap="none" strike="noStrike">
                <a:solidFill>
                  <a:srgbClr val="333344"/>
                </a:solidFill>
                <a:latin typeface="Courier Prime"/>
                <a:ea typeface="Courier Prime"/>
                <a:cs typeface="Courier Prime"/>
                <a:sym typeface="Courier Prime"/>
              </a:rPr>
              <a:t>.then()</a:t>
            </a:r>
            <a:r>
              <a:rPr b="0" i="0" lang="en-US" sz="2400" u="none" cap="none" strike="noStrike">
                <a:solidFill>
                  <a:srgbClr val="333344"/>
                </a:solidFill>
                <a:latin typeface="Calibri"/>
                <a:ea typeface="Calibri"/>
                <a:cs typeface="Calibri"/>
                <a:sym typeface="Calibri"/>
              </a:rPr>
              <a:t>` works. But as soon as your code has real logic, it falls apart</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Conditional branches mean nested `.then()` calls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Error handling gets spread across `.catch()` blocks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Variables from one `.then()` aren't visible in the next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Loops over async operations end up convoluted</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Modern JavaScript has </a:t>
            </a:r>
            <a:r>
              <a:rPr b="1" i="0" lang="en-US" sz="2400" u="none" cap="none" strike="noStrike">
                <a:solidFill>
                  <a:srgbClr val="333344"/>
                </a:solidFill>
                <a:latin typeface="Courier Prime"/>
                <a:ea typeface="Courier Prime"/>
                <a:cs typeface="Courier Prime"/>
                <a:sym typeface="Courier Prime"/>
              </a:rPr>
              <a:t>async/await</a:t>
            </a:r>
            <a:r>
              <a:rPr b="0" i="0" lang="en-US" sz="2400" u="none" cap="none" strike="noStrike">
                <a:solidFill>
                  <a:srgbClr val="333344"/>
                </a:solidFill>
                <a:latin typeface="Calibri"/>
                <a:ea typeface="Calibri"/>
                <a:cs typeface="Calibri"/>
                <a:sym typeface="Calibri"/>
              </a:rPr>
              <a:t>, a pair of keywords that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let you use promises with code that reads top-to-bottom, the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way you're already used to from Python.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Underneath it's still promises - just syntax that makes them</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readable. You'll write </a:t>
            </a:r>
            <a:r>
              <a:rPr b="1" i="0" lang="en-US" sz="2000" u="none" cap="none" strike="noStrike">
                <a:solidFill>
                  <a:srgbClr val="666677"/>
                </a:solidFill>
                <a:latin typeface="Courier Prime"/>
                <a:ea typeface="Courier Prime"/>
                <a:cs typeface="Courier Prime"/>
                <a:sym typeface="Courier Prime"/>
              </a:rPr>
              <a:t>async/await</a:t>
            </a:r>
            <a:r>
              <a:rPr b="1" lang="en-US" sz="2000">
                <a:solidFill>
                  <a:srgbClr val="666677"/>
                </a:solidFill>
                <a:latin typeface="Courier Prime"/>
                <a:ea typeface="Courier Prime"/>
                <a:cs typeface="Courier Prime"/>
                <a:sym typeface="Courier Prime"/>
              </a:rPr>
              <a:t> </a:t>
            </a:r>
            <a:r>
              <a:rPr b="0" i="0" lang="en-US" sz="2000" u="none" cap="none" strike="noStrike">
                <a:solidFill>
                  <a:srgbClr val="666677"/>
                </a:solidFill>
                <a:latin typeface="Calibri"/>
                <a:ea typeface="Calibri"/>
                <a:cs typeface="Calibri"/>
                <a:sym typeface="Calibri"/>
              </a:rPr>
              <a:t>for the rest of the course.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98" name="Shape 198"/>
        <p:cNvGrpSpPr/>
        <p:nvPr/>
      </p:nvGrpSpPr>
      <p:grpSpPr>
        <a:xfrm>
          <a:off x="0" y="0"/>
          <a:ext cx="0" cy="0"/>
          <a:chOff x="0" y="0"/>
          <a:chExt cx="0" cy="0"/>
        </a:xfrm>
      </p:grpSpPr>
      <p:sp>
        <p:nvSpPr>
          <p:cNvPr id="199" name="Google Shape;199;p10"/>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async and await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g3daffe9b800_0_227"/>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Three rules for async/await</a:t>
            </a:r>
            <a:endParaRPr/>
          </a:p>
        </p:txBody>
      </p:sp>
      <p:sp>
        <p:nvSpPr>
          <p:cNvPr id="206" name="Google Shape;206;g3daffe9b800_0_227"/>
          <p:cNvSpPr txBox="1"/>
          <p:nvPr/>
        </p:nvSpPr>
        <p:spPr>
          <a:xfrm>
            <a:off x="914400" y="1463040"/>
            <a:ext cx="10362900" cy="190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Rule 1.</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ourier Prime"/>
                <a:ea typeface="Courier Prime"/>
                <a:cs typeface="Courier Prime"/>
                <a:sym typeface="Courier Prime"/>
              </a:rPr>
              <a:t>async</a:t>
            </a:r>
            <a:r>
              <a:rPr b="0" i="0" lang="en-US" sz="2400" u="none" cap="none" strike="noStrike">
                <a:solidFill>
                  <a:srgbClr val="333344"/>
                </a:solidFill>
                <a:latin typeface="Calibri"/>
                <a:ea typeface="Calibri"/>
                <a:cs typeface="Calibri"/>
                <a:sym typeface="Calibri"/>
              </a:rPr>
              <a:t>` in front of a function makes it return a promise.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Always. Even if you just return `42`.</a:t>
            </a:r>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async function getNumber() { return 42; }</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 returns Promise&lt;number&gt;, not number</a:t>
            </a:r>
            <a:endParaRPr b="1">
              <a:latin typeface="Courier Prime"/>
              <a:ea typeface="Courier Prime"/>
              <a:cs typeface="Courier Prime"/>
              <a:sym typeface="Courier Prime"/>
            </a:endParaRPr>
          </a:p>
          <a:p>
            <a:pPr indent="0" lvl="1" marL="457200" marR="0" rtl="0" algn="l">
              <a:spcBef>
                <a:spcPts val="6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g3daffe9b800_0_233"/>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Three rules for async/await</a:t>
            </a:r>
            <a:endParaRPr/>
          </a:p>
        </p:txBody>
      </p:sp>
      <p:sp>
        <p:nvSpPr>
          <p:cNvPr id="213" name="Google Shape;213;g3daffe9b800_0_233"/>
          <p:cNvSpPr txBox="1"/>
          <p:nvPr/>
        </p:nvSpPr>
        <p:spPr>
          <a:xfrm>
            <a:off x="914400" y="1463040"/>
            <a:ext cx="10362900" cy="3601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Rule 1.</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ourier Prime"/>
                <a:ea typeface="Courier Prime"/>
                <a:cs typeface="Courier Prime"/>
                <a:sym typeface="Courier Prime"/>
              </a:rPr>
              <a:t>async</a:t>
            </a:r>
            <a:r>
              <a:rPr b="0" i="0" lang="en-US" sz="2400" u="none" cap="none" strike="noStrike">
                <a:solidFill>
                  <a:srgbClr val="333344"/>
                </a:solidFill>
                <a:latin typeface="Calibri"/>
                <a:ea typeface="Calibri"/>
                <a:cs typeface="Calibri"/>
                <a:sym typeface="Calibri"/>
              </a:rPr>
              <a:t>` in front of a function makes it return a promise.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Always. Even if you just return `42`.</a:t>
            </a:r>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async function getNumber() { return 42; }</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 returns Promise&lt;number&gt;, not number</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Rule 2.</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ourier Prime"/>
                <a:ea typeface="Courier Prime"/>
                <a:cs typeface="Courier Prime"/>
                <a:sym typeface="Courier Prime"/>
              </a:rPr>
              <a:t>await</a:t>
            </a:r>
            <a:r>
              <a:rPr b="0" i="0" lang="en-US" sz="2400" u="none" cap="none" strike="noStrike">
                <a:solidFill>
                  <a:srgbClr val="333344"/>
                </a:solidFill>
                <a:latin typeface="Calibri"/>
                <a:ea typeface="Calibri"/>
                <a:cs typeface="Calibri"/>
                <a:sym typeface="Calibri"/>
              </a:rPr>
              <a:t>` in front of a promise pauses the current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until it settles, then gives you the value - as if it were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always there.</a:t>
            </a:r>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a:t>
            </a:r>
            <a:r>
              <a:rPr b="1" lang="en-US" sz="2000">
                <a:solidFill>
                  <a:srgbClr val="666677"/>
                </a:solidFill>
                <a:latin typeface="Courier Prime"/>
                <a:ea typeface="Courier Prime"/>
                <a:cs typeface="Courier Prime"/>
                <a:sym typeface="Courier Prime"/>
              </a:rPr>
              <a:t> </a:t>
            </a:r>
            <a:r>
              <a:rPr b="1" i="0" lang="en-US" sz="2000" u="none" cap="none" strike="noStrike">
                <a:solidFill>
                  <a:srgbClr val="666677"/>
                </a:solidFill>
                <a:latin typeface="Courier Prime"/>
                <a:ea typeface="Courier Prime"/>
                <a:cs typeface="Courier Prime"/>
                <a:sym typeface="Courier Prime"/>
              </a:rPr>
              <a:t>const response = await fetch("/api/messages");</a:t>
            </a:r>
            <a:endParaRPr sz="2000">
              <a:solidFill>
                <a:srgbClr val="666677"/>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11"/>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Three rules for async/await</a:t>
            </a:r>
            <a:endParaRPr/>
          </a:p>
        </p:txBody>
      </p:sp>
      <p:sp>
        <p:nvSpPr>
          <p:cNvPr id="220" name="Google Shape;220;p11"/>
          <p:cNvSpPr txBox="1"/>
          <p:nvPr/>
        </p:nvSpPr>
        <p:spPr>
          <a:xfrm>
            <a:off x="914400" y="1463040"/>
            <a:ext cx="10362900" cy="520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Rule 1.</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ourier Prime"/>
                <a:ea typeface="Courier Prime"/>
                <a:cs typeface="Courier Prime"/>
                <a:sym typeface="Courier Prime"/>
              </a:rPr>
              <a:t>async</a:t>
            </a:r>
            <a:r>
              <a:rPr b="0" i="0" lang="en-US" sz="2400" u="none" cap="none" strike="noStrike">
                <a:solidFill>
                  <a:srgbClr val="333344"/>
                </a:solidFill>
                <a:latin typeface="Calibri"/>
                <a:ea typeface="Calibri"/>
                <a:cs typeface="Calibri"/>
                <a:sym typeface="Calibri"/>
              </a:rPr>
              <a:t>` in front of a function makes it return a promise.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Always. Even if you just return `42`.</a:t>
            </a:r>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async function getNumber() { return 42; }</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 returns Promise&lt;number&gt;, not number</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Rule 2.</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ourier Prime"/>
                <a:ea typeface="Courier Prime"/>
                <a:cs typeface="Courier Prime"/>
                <a:sym typeface="Courier Prime"/>
              </a:rPr>
              <a:t>await</a:t>
            </a:r>
            <a:r>
              <a:rPr b="0" i="0" lang="en-US" sz="2400" u="none" cap="none" strike="noStrike">
                <a:solidFill>
                  <a:srgbClr val="333344"/>
                </a:solidFill>
                <a:latin typeface="Calibri"/>
                <a:ea typeface="Calibri"/>
                <a:cs typeface="Calibri"/>
                <a:sym typeface="Calibri"/>
              </a:rPr>
              <a:t>` in front of a promise pauses the current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until it settles, then gives you the value - as if it were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always there.</a:t>
            </a:r>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a:t>
            </a:r>
            <a:r>
              <a:rPr b="1" lang="en-US" sz="2000">
                <a:solidFill>
                  <a:srgbClr val="666677"/>
                </a:solidFill>
                <a:latin typeface="Courier Prime"/>
                <a:ea typeface="Courier Prime"/>
                <a:cs typeface="Courier Prime"/>
                <a:sym typeface="Courier Prime"/>
              </a:rPr>
              <a:t> </a:t>
            </a:r>
            <a:r>
              <a:rPr b="1" i="0" lang="en-US" sz="2000" u="none" cap="none" strike="noStrike">
                <a:solidFill>
                  <a:srgbClr val="666677"/>
                </a:solidFill>
                <a:latin typeface="Courier Prime"/>
                <a:ea typeface="Courier Prime"/>
                <a:cs typeface="Courier Prime"/>
                <a:sym typeface="Courier Prime"/>
              </a:rPr>
              <a:t>const response = await fetch("/api/messages");</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Rule 3.</a:t>
            </a:r>
            <a:r>
              <a:rPr b="0" i="0" lang="en-US" sz="2400" u="none" cap="none" strike="noStrike">
                <a:solidFill>
                  <a:srgbClr val="333344"/>
                </a:solidFill>
                <a:latin typeface="Calibri"/>
                <a:ea typeface="Calibri"/>
                <a:cs typeface="Calibri"/>
                <a:sym typeface="Calibri"/>
              </a:rPr>
              <a:t> You can </a:t>
            </a:r>
            <a:r>
              <a:rPr b="1" i="0" lang="en-US" sz="2400" u="none" cap="none" strike="noStrike">
                <a:solidFill>
                  <a:srgbClr val="333344"/>
                </a:solidFill>
                <a:latin typeface="Calibri"/>
                <a:ea typeface="Calibri"/>
                <a:cs typeface="Calibri"/>
                <a:sym typeface="Calibri"/>
              </a:rPr>
              <a:t>only</a:t>
            </a:r>
            <a:r>
              <a:rPr b="0" i="0" lang="en-US" sz="2400" u="none" cap="none" strike="noStrike">
                <a:solidFill>
                  <a:srgbClr val="333344"/>
                </a:solidFill>
                <a:latin typeface="Calibri"/>
                <a:ea typeface="Calibri"/>
                <a:cs typeface="Calibri"/>
                <a:sym typeface="Calibri"/>
              </a:rPr>
              <a:t> use `</a:t>
            </a:r>
            <a:r>
              <a:rPr b="1" i="0" lang="en-US" sz="2400" u="none" cap="none" strike="noStrike">
                <a:solidFill>
                  <a:srgbClr val="333344"/>
                </a:solidFill>
                <a:latin typeface="Courier Prime"/>
                <a:ea typeface="Courier Prime"/>
                <a:cs typeface="Courier Prime"/>
                <a:sym typeface="Courier Prime"/>
              </a:rPr>
              <a:t>await</a:t>
            </a:r>
            <a:r>
              <a:rPr b="0" i="0" lang="en-US" sz="2400" u="none" cap="none" strike="noStrike">
                <a:solidFill>
                  <a:srgbClr val="333344"/>
                </a:solidFill>
                <a:latin typeface="Calibri"/>
                <a:ea typeface="Calibri"/>
                <a:cs typeface="Calibri"/>
                <a:sym typeface="Calibri"/>
              </a:rPr>
              <a:t>` inside an `</a:t>
            </a:r>
            <a:r>
              <a:rPr b="1" i="0" lang="en-US" sz="2400" u="none" cap="none" strike="noStrike">
                <a:solidFill>
                  <a:srgbClr val="333344"/>
                </a:solidFill>
                <a:latin typeface="Courier Prime"/>
                <a:ea typeface="Courier Prime"/>
                <a:cs typeface="Courier Prime"/>
                <a:sym typeface="Courier Prime"/>
              </a:rPr>
              <a:t>async</a:t>
            </a:r>
            <a:r>
              <a:rPr b="0" i="0" lang="en-US" sz="2400" u="none" cap="none" strike="noStrike">
                <a:solidFill>
                  <a:srgbClr val="333344"/>
                </a:solidFill>
                <a:latin typeface="Calibri"/>
                <a:ea typeface="Calibri"/>
                <a:cs typeface="Calibri"/>
                <a:sym typeface="Calibri"/>
              </a:rPr>
              <a:t>`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Try it at the top level and the compiler says no. (There's a</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module-level exception, don't worry about it for this class.)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g3daffe9b800_0_174"/>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same thing, two ways</a:t>
            </a:r>
            <a:endParaRPr/>
          </a:p>
        </p:txBody>
      </p:sp>
      <p:sp>
        <p:nvSpPr>
          <p:cNvPr id="227" name="Google Shape;227;g3daffe9b800_0_174"/>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28" name="Google Shape;228;g3daffe9b800_0_174"/>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g3daffe9b800_0_174"/>
          <p:cNvSpPr txBox="1"/>
          <p:nvPr/>
        </p:nvSpPr>
        <p:spPr>
          <a:xfrm>
            <a:off x="1005846" y="1645925"/>
            <a:ext cx="5661600" cy="290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WITH .then() chains: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loadMessages()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fetch("/api/messages")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.then((response) =&gt; response.json())</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.then((data) =&gt;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console.log("got", data.length,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a:t>
            </a:r>
            <a:r>
              <a:rPr b="1" i="0" lang="en-US" sz="1500" u="none" cap="none" strike="noStrike">
                <a:solidFill>
                  <a:srgbClr val="333344"/>
                </a:solidFill>
                <a:latin typeface="Courier New"/>
                <a:ea typeface="Courier New"/>
                <a:cs typeface="Courier New"/>
                <a:sym typeface="Courier New"/>
              </a:rPr>
              <a:t>"messages");</a:t>
            </a:r>
            <a:endParaRPr sz="18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data;</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sz="1600"/>
          </a:p>
          <a:p>
            <a:pPr indent="0" lvl="0" marL="0" marR="0" rtl="0" algn="l">
              <a:spcBef>
                <a:spcPts val="200"/>
              </a:spcBef>
              <a:spcAft>
                <a:spcPts val="0"/>
              </a:spcAft>
              <a:buNone/>
            </a:pPr>
            <a:r>
              <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1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same thing, two ways</a:t>
            </a:r>
            <a:endParaRPr/>
          </a:p>
        </p:txBody>
      </p:sp>
      <p:sp>
        <p:nvSpPr>
          <p:cNvPr id="236" name="Google Shape;236;p12"/>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37" name="Google Shape;237;p12"/>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12"/>
          <p:cNvSpPr txBox="1"/>
          <p:nvPr/>
        </p:nvSpPr>
        <p:spPr>
          <a:xfrm>
            <a:off x="1005846" y="1645925"/>
            <a:ext cx="5661600" cy="290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WITH .then() chains: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loadMessages()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fetch("/api/messages")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.then((response) =&gt; response.json())</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.then((data) =&gt;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console.log("got", data.length,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a:t>
            </a:r>
            <a:r>
              <a:rPr b="1" i="0" lang="en-US" sz="1500" u="none" cap="none" strike="noStrike">
                <a:solidFill>
                  <a:srgbClr val="333344"/>
                </a:solidFill>
                <a:latin typeface="Courier New"/>
                <a:ea typeface="Courier New"/>
                <a:cs typeface="Courier New"/>
                <a:sym typeface="Courier New"/>
              </a:rPr>
              <a:t>"messages");</a:t>
            </a:r>
            <a:endParaRPr sz="18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data;</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sz="1600"/>
          </a:p>
          <a:p>
            <a:pPr indent="0" lvl="0" marL="0" marR="0" rtl="0" algn="l">
              <a:spcBef>
                <a:spcPts val="200"/>
              </a:spcBef>
              <a:spcAft>
                <a:spcPts val="0"/>
              </a:spcAft>
              <a:buNone/>
            </a:pPr>
            <a:r>
              <a:t/>
            </a:r>
            <a:endParaRPr sz="1600"/>
          </a:p>
        </p:txBody>
      </p:sp>
      <p:sp>
        <p:nvSpPr>
          <p:cNvPr id="239" name="Google Shape;239;p12"/>
          <p:cNvSpPr txBox="1"/>
          <p:nvPr/>
        </p:nvSpPr>
        <p:spPr>
          <a:xfrm>
            <a:off x="5442850" y="3286400"/>
            <a:ext cx="6017400" cy="21345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WITH async/await: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async function loadMessages()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response = await fetch("/api/messages");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data = await response.json();</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console.log("got", data.length, "messages");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data;</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sz="1600"/>
          </a:p>
          <a:p>
            <a:pPr indent="0" lvl="0" marL="0" marR="0" rtl="0" algn="l">
              <a:spcBef>
                <a:spcPts val="200"/>
              </a:spcBef>
              <a:spcAft>
                <a:spcPts val="0"/>
              </a:spcAft>
              <a:buNone/>
            </a:pPr>
            <a:r>
              <a:t/>
            </a:r>
            <a:endParaRPr sz="1600"/>
          </a:p>
        </p:txBody>
      </p:sp>
      <p:sp>
        <p:nvSpPr>
          <p:cNvPr id="240" name="Google Shape;240;p12"/>
          <p:cNvSpPr txBox="1"/>
          <p:nvPr/>
        </p:nvSpPr>
        <p:spPr>
          <a:xfrm>
            <a:off x="1741725" y="5099025"/>
            <a:ext cx="9389100" cy="12315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t/>
            </a:r>
            <a:endParaRPr sz="1800"/>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Same behavior. The bottom reads top to bottom. Variables from</a:t>
            </a:r>
            <a:endParaRPr sz="1800"/>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each await stay in scope. Errors propagate like normal throws.</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`await` actually does</a:t>
            </a:r>
            <a:endParaRPr/>
          </a:p>
        </p:txBody>
      </p:sp>
      <p:sp>
        <p:nvSpPr>
          <p:cNvPr id="247" name="Google Shape;247;p13"/>
          <p:cNvSpPr txBox="1"/>
          <p:nvPr/>
        </p:nvSpPr>
        <p:spPr>
          <a:xfrm>
            <a:off x="571500" y="1280150"/>
            <a:ext cx="11008200" cy="494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Quick clarification, because this trips almost everyone up: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await</a:t>
            </a:r>
            <a:r>
              <a:rPr b="0" i="0" lang="en-US" sz="2000" u="none" cap="none" strike="noStrike">
                <a:solidFill>
                  <a:srgbClr val="666677"/>
                </a:solidFill>
                <a:latin typeface="Calibri"/>
                <a:ea typeface="Calibri"/>
                <a:cs typeface="Calibri"/>
                <a:sym typeface="Calibri"/>
              </a:rPr>
              <a:t>` does NOT block the browser.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When an async function hits an `</a:t>
            </a:r>
            <a:r>
              <a:rPr b="1" i="0" lang="en-US" sz="2400" u="none" cap="none" strike="noStrike">
                <a:solidFill>
                  <a:srgbClr val="333344"/>
                </a:solidFill>
                <a:latin typeface="Courier Prime"/>
                <a:ea typeface="Courier Prime"/>
                <a:cs typeface="Courier Prime"/>
                <a:sym typeface="Courier Prime"/>
              </a:rPr>
              <a:t>await</a:t>
            </a:r>
            <a:r>
              <a:rPr b="0" i="0" lang="en-US" sz="2400" u="none" cap="none" strike="noStrike">
                <a:solidFill>
                  <a:srgbClr val="333344"/>
                </a:solidFill>
                <a:latin typeface="Calibri"/>
                <a:ea typeface="Calibri"/>
                <a:cs typeface="Calibri"/>
                <a:sym typeface="Calibri"/>
              </a:rPr>
              <a:t>`, it </a:t>
            </a:r>
            <a:r>
              <a:rPr b="1" i="0" lang="en-US" sz="2400" u="none" cap="none" strike="noStrike">
                <a:solidFill>
                  <a:srgbClr val="333344"/>
                </a:solidFill>
                <a:latin typeface="Calibri"/>
                <a:ea typeface="Calibri"/>
                <a:cs typeface="Calibri"/>
                <a:sym typeface="Calibri"/>
              </a:rPr>
              <a:t>pauses that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and returns control to the browser. The browser keeps rendering,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firing events, and running other code while the function is parked.</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When the promise settles, the browser wakes your function back up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right where it left off, with the value in hand.</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This is really the whole reason async exists: pause one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keep the browser responsive.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g3daffe9b800_0_193"/>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A1A2E"/>
                </a:solidFill>
                <a:latin typeface="Calibri"/>
                <a:ea typeface="Calibri"/>
                <a:cs typeface="Calibri"/>
                <a:sym typeface="Calibri"/>
              </a:rPr>
              <a:t>Mashing the button</a:t>
            </a:r>
            <a:endParaRPr/>
          </a:p>
        </p:txBody>
      </p:sp>
      <p:sp>
        <p:nvSpPr>
          <p:cNvPr id="254" name="Google Shape;254;g3daffe9b800_0_193"/>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55" name="Google Shape;255;g3daffe9b800_0_193"/>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g3daffe9b800_0_193"/>
          <p:cNvSpPr txBox="1"/>
          <p:nvPr/>
        </p:nvSpPr>
        <p:spPr>
          <a:xfrm>
            <a:off x="1087478" y="2163000"/>
            <a:ext cx="9022500" cy="14160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b="1" lang="en-US" sz="2000">
                <a:solidFill>
                  <a:srgbClr val="333344"/>
                </a:solidFill>
                <a:latin typeface="Courier New"/>
                <a:ea typeface="Courier New"/>
                <a:cs typeface="Courier New"/>
                <a:sym typeface="Courier New"/>
              </a:rPr>
              <a:t>button.addEventListener("click", async () =&gt; {</a:t>
            </a:r>
            <a:endParaRPr b="1" sz="20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2000">
                <a:solidFill>
                  <a:srgbClr val="333344"/>
                </a:solidFill>
                <a:latin typeface="Courier New"/>
                <a:ea typeface="Courier New"/>
                <a:cs typeface="Courier New"/>
                <a:sym typeface="Courier New"/>
              </a:rPr>
              <a:t>  await doWork();</a:t>
            </a:r>
            <a:endParaRPr b="1" sz="20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2000">
                <a:solidFill>
                  <a:srgbClr val="333344"/>
                </a:solidFill>
                <a:latin typeface="Courier New"/>
                <a:ea typeface="Courier New"/>
                <a:cs typeface="Courier New"/>
                <a:sym typeface="Courier New"/>
              </a:rPr>
              <a:t>});</a:t>
            </a:r>
            <a:endParaRPr b="1" sz="20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sz="2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g3daffe9b800_0_184"/>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A1A2E"/>
                </a:solidFill>
                <a:latin typeface="Calibri"/>
                <a:ea typeface="Calibri"/>
                <a:cs typeface="Calibri"/>
                <a:sym typeface="Calibri"/>
              </a:rPr>
              <a:t>Mashing the button</a:t>
            </a:r>
            <a:endParaRPr/>
          </a:p>
        </p:txBody>
      </p:sp>
      <p:sp>
        <p:nvSpPr>
          <p:cNvPr id="263" name="Google Shape;263;g3daffe9b800_0_184"/>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64" name="Google Shape;264;g3daffe9b800_0_184"/>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g3daffe9b800_0_184"/>
          <p:cNvSpPr txBox="1"/>
          <p:nvPr/>
        </p:nvSpPr>
        <p:spPr>
          <a:xfrm>
            <a:off x="1087475" y="2163000"/>
            <a:ext cx="9689400" cy="17496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b="1" lang="en-US" sz="2000">
                <a:solidFill>
                  <a:srgbClr val="333344"/>
                </a:solidFill>
                <a:latin typeface="Courier New"/>
                <a:ea typeface="Courier New"/>
                <a:cs typeface="Courier New"/>
                <a:sym typeface="Courier New"/>
              </a:rPr>
              <a:t>button.addEventListener("click", async () =&gt; {</a:t>
            </a:r>
            <a:endParaRPr b="1" sz="20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2000">
                <a:solidFill>
                  <a:srgbClr val="333344"/>
                </a:solidFill>
                <a:latin typeface="Courier New"/>
                <a:ea typeface="Courier New"/>
                <a:cs typeface="Courier New"/>
                <a:sym typeface="Courier New"/>
              </a:rPr>
              <a:t>  button.disabled = true;</a:t>
            </a:r>
            <a:endParaRPr b="1" sz="20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2000">
                <a:solidFill>
                  <a:srgbClr val="333344"/>
                </a:solidFill>
                <a:latin typeface="Courier New"/>
                <a:ea typeface="Courier New"/>
                <a:cs typeface="Courier New"/>
                <a:sym typeface="Courier New"/>
              </a:rPr>
              <a:t>  try { await doWork(); } finally { button.disabled = false; }</a:t>
            </a:r>
            <a:endParaRPr b="1" sz="20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2000">
                <a:solidFill>
                  <a:srgbClr val="333344"/>
                </a:solidFill>
                <a:latin typeface="Courier New"/>
                <a:ea typeface="Courier New"/>
                <a:cs typeface="Courier New"/>
                <a:sym typeface="Courier New"/>
              </a:rPr>
              <a:t>});</a:t>
            </a:r>
            <a:endParaRPr b="1" sz="20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sz="2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270" name="Shape 270"/>
        <p:cNvGrpSpPr/>
        <p:nvPr/>
      </p:nvGrpSpPr>
      <p:grpSpPr>
        <a:xfrm>
          <a:off x="0" y="0"/>
          <a:ext cx="0" cy="0"/>
          <a:chOff x="0" y="0"/>
          <a:chExt cx="0" cy="0"/>
        </a:xfrm>
      </p:grpSpPr>
      <p:sp>
        <p:nvSpPr>
          <p:cNvPr id="271" name="Google Shape;271;p14"/>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fetch</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5"/>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fetch returns a promise for a Response</a:t>
            </a:r>
            <a:endParaRPr/>
          </a:p>
        </p:txBody>
      </p:sp>
      <p:sp>
        <p:nvSpPr>
          <p:cNvPr id="278" name="Google Shape;278;p15"/>
          <p:cNvSpPr txBox="1"/>
          <p:nvPr/>
        </p:nvSpPr>
        <p:spPr>
          <a:xfrm>
            <a:off x="914400" y="1463040"/>
            <a:ext cx="10362900" cy="520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t>
            </a:r>
            <a:r>
              <a:rPr b="1" i="0" lang="en-US" sz="2400" u="none" cap="none" strike="noStrike">
                <a:solidFill>
                  <a:srgbClr val="333344"/>
                </a:solidFill>
                <a:latin typeface="Courier Prime"/>
                <a:ea typeface="Courier Prime"/>
                <a:cs typeface="Courier Prime"/>
                <a:sym typeface="Courier Prime"/>
              </a:rPr>
              <a:t>fetch(url)</a:t>
            </a:r>
            <a:r>
              <a:rPr b="0" i="0" lang="en-US" sz="2400" u="none" cap="none" strike="noStrike">
                <a:solidFill>
                  <a:srgbClr val="333344"/>
                </a:solidFill>
                <a:latin typeface="Calibri"/>
                <a:ea typeface="Calibri"/>
                <a:cs typeface="Calibri"/>
                <a:sym typeface="Calibri"/>
              </a:rPr>
              <a:t>` is the browser's built-in way to make HTTP requests,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I</a:t>
            </a:r>
            <a:r>
              <a:rPr b="0" i="0" lang="en-US" sz="2000" u="none" cap="none" strike="noStrike">
                <a:solidFill>
                  <a:srgbClr val="666677"/>
                </a:solidFill>
                <a:latin typeface="Calibri"/>
                <a:ea typeface="Calibri"/>
                <a:cs typeface="Calibri"/>
                <a:sym typeface="Calibri"/>
              </a:rPr>
              <a:t>t returns a </a:t>
            </a:r>
            <a:r>
              <a:rPr b="1" i="0" lang="en-US" sz="2000" u="none" cap="none" strike="noStrike">
                <a:solidFill>
                  <a:srgbClr val="666677"/>
                </a:solidFill>
                <a:latin typeface="Calibri"/>
                <a:ea typeface="Calibri"/>
                <a:cs typeface="Calibri"/>
                <a:sym typeface="Calibri"/>
              </a:rPr>
              <a:t>promise for a Response object</a:t>
            </a:r>
            <a:r>
              <a:rPr b="0" i="0" lang="en-US" sz="2000" u="none" cap="none" strike="noStrike">
                <a:solidFill>
                  <a:srgbClr val="666677"/>
                </a:solidFill>
                <a:latin typeface="Calibri"/>
                <a:ea typeface="Calibri"/>
                <a:cs typeface="Calibri"/>
                <a:sym typeface="Calibri"/>
              </a:rPr>
              <a: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 usually need </a:t>
            </a:r>
            <a:r>
              <a:rPr b="1" i="0" lang="en-US" sz="2400" u="none" cap="none" strike="noStrike">
                <a:solidFill>
                  <a:srgbClr val="333344"/>
                </a:solidFill>
                <a:latin typeface="Calibri"/>
                <a:ea typeface="Calibri"/>
                <a:cs typeface="Calibri"/>
                <a:sym typeface="Calibri"/>
              </a:rPr>
              <a:t>two</a:t>
            </a:r>
            <a:r>
              <a:rPr b="0" i="0" lang="en-US" sz="2400" u="none" cap="none" strike="noStrike">
                <a:solidFill>
                  <a:srgbClr val="333344"/>
                </a:solidFill>
                <a:latin typeface="Calibri"/>
                <a:ea typeface="Calibri"/>
                <a:cs typeface="Calibri"/>
                <a:sym typeface="Calibri"/>
              </a:rPr>
              <a:t> awaits to actually get data out of it:</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First await</a:t>
            </a:r>
            <a:r>
              <a:rPr b="0" i="0" lang="en-US" sz="2000" u="none" cap="none" strike="noStrike">
                <a:solidFill>
                  <a:srgbClr val="666677"/>
                </a:solidFill>
                <a:latin typeface="Calibri"/>
                <a:ea typeface="Calibri"/>
                <a:cs typeface="Calibri"/>
                <a:sym typeface="Calibri"/>
              </a:rPr>
              <a:t> - the Response object arrives once the server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sends response headers. At this point you know the status code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and whether the request succeeded, but not the body yet.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Second await</a:t>
            </a:r>
            <a:r>
              <a:rPr b="0" i="0" lang="en-US" sz="2000" u="none" cap="none" strike="noStrike">
                <a:solidFill>
                  <a:srgbClr val="666677"/>
                </a:solidFill>
                <a:latin typeface="Calibri"/>
                <a:ea typeface="Calibri"/>
                <a:cs typeface="Calibri"/>
                <a:sym typeface="Calibri"/>
              </a:rPr>
              <a:t> - the body. `</a:t>
            </a:r>
            <a:r>
              <a:rPr b="1" i="0" lang="en-US" sz="2000" u="none" cap="none" strike="noStrike">
                <a:solidFill>
                  <a:srgbClr val="666677"/>
                </a:solidFill>
                <a:latin typeface="Courier Prime"/>
                <a:ea typeface="Courier Prime"/>
                <a:cs typeface="Courier Prime"/>
                <a:sym typeface="Courier Prime"/>
              </a:rPr>
              <a:t>response.json()</a:t>
            </a:r>
            <a:r>
              <a:rPr b="0" i="0" lang="en-US" sz="2000" u="none" cap="none" strike="noStrike">
                <a:solidFill>
                  <a:srgbClr val="666677"/>
                </a:solidFill>
                <a:latin typeface="Calibri"/>
                <a:ea typeface="Calibri"/>
                <a:cs typeface="Calibri"/>
                <a:sym typeface="Calibri"/>
              </a:rPr>
              <a:t>` returns another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promise, because the body might still be streaming in.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 two awaits aren't gratuitous - they let you check the status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code before committing to parse the body.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16"/>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GET: fetching a list of messages</a:t>
            </a:r>
            <a:endParaRPr/>
          </a:p>
        </p:txBody>
      </p:sp>
      <p:sp>
        <p:nvSpPr>
          <p:cNvPr id="285" name="Google Shape;285;p16"/>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86" name="Google Shape;286;p16"/>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6"/>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async function loadMessages(): Promise&lt;Message[]&gt;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First await: headers arrive, we get the Response object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response = await fetch("/api/messages");</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if (!response.ok)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throw new Error(`HTTP ${response.status}`);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Second await: the JSON body is parsed</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data: Message[] = await response.json();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data;</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Calling it: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messages = await loadMessages();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console.log("loaded", messages.length, "messages");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17"/>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POST: sending a new message</a:t>
            </a:r>
            <a:endParaRPr/>
          </a:p>
        </p:txBody>
      </p:sp>
      <p:sp>
        <p:nvSpPr>
          <p:cNvPr id="294" name="Google Shape;294;p17"/>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95" name="Google Shape;295;p17"/>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17"/>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async function postMessage(author: string, text: string): Promise&lt;Message&gt;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response = await fetch("/api/messages",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method: "POST",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headers: { "Content-Type": "application/json"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body: JSON.stringify({ author, text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if (!response.ok)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throw new Error(`HTTP ${response.status}`);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created: Message = await response.json();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created;</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Calling it: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newMsg = await postMessage("alice", "first!");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g3daffe9b800_0_209"/>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gotcha fetch will burn you with</a:t>
            </a:r>
            <a:endParaRPr/>
          </a:p>
        </p:txBody>
      </p:sp>
      <p:sp>
        <p:nvSpPr>
          <p:cNvPr id="303" name="Google Shape;303;g3daffe9b800_0_209"/>
          <p:cNvSpPr txBox="1"/>
          <p:nvPr/>
        </p:nvSpPr>
        <p:spPr>
          <a:xfrm>
            <a:off x="914401" y="1147500"/>
            <a:ext cx="10978200" cy="289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`fetch` does not throw on 404 or 500.</a:t>
            </a:r>
            <a:endParaRPr/>
          </a:p>
          <a:p>
            <a:pPr indent="0" lvl="0" marL="0" marR="0" rtl="0" algn="l">
              <a:spcBef>
                <a:spcPts val="600"/>
              </a:spcBef>
              <a:spcAft>
                <a:spcPts val="0"/>
              </a:spcAft>
              <a:buNone/>
            </a:pPr>
            <a:r>
              <a:t/>
            </a:r>
            <a:endParaRPr b="1"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An error-status response is still a "successful" fetch from the browser's perspective.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promise </a:t>
            </a:r>
            <a:r>
              <a:rPr b="1" i="0" lang="en-US" sz="2000" u="none" cap="none" strike="noStrike">
                <a:solidFill>
                  <a:srgbClr val="666677"/>
                </a:solidFill>
                <a:latin typeface="Calibri"/>
                <a:ea typeface="Calibri"/>
                <a:cs typeface="Calibri"/>
                <a:sym typeface="Calibri"/>
              </a:rPr>
              <a:t>fulfills</a:t>
            </a:r>
            <a:r>
              <a:rPr b="0" i="0" lang="en-US" sz="2000" u="none" cap="none" strike="noStrike">
                <a:solidFill>
                  <a:srgbClr val="666677"/>
                </a:solidFill>
                <a:latin typeface="Calibri"/>
                <a:ea typeface="Calibri"/>
                <a:cs typeface="Calibri"/>
                <a:sym typeface="Calibri"/>
              </a:rPr>
              <a:t>, not rejects.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const response = await fetch("/api/doesnt-exist");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sp>
        <p:nvSpPr>
          <p:cNvPr id="309" name="Google Shape;309;g3daffe9b800_0_21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gotcha fetch will burn you with</a:t>
            </a:r>
            <a:endParaRPr/>
          </a:p>
        </p:txBody>
      </p:sp>
      <p:sp>
        <p:nvSpPr>
          <p:cNvPr id="310" name="Google Shape;310;g3daffe9b800_0_215"/>
          <p:cNvSpPr txBox="1"/>
          <p:nvPr/>
        </p:nvSpPr>
        <p:spPr>
          <a:xfrm>
            <a:off x="914400" y="1147500"/>
            <a:ext cx="10728600" cy="4494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`fetch` does not throw on 404 or 500.</a:t>
            </a:r>
            <a:endParaRPr/>
          </a:p>
          <a:p>
            <a:pPr indent="0" lvl="0" marL="0" marR="0" rtl="0" algn="l">
              <a:spcBef>
                <a:spcPts val="600"/>
              </a:spcBef>
              <a:spcAft>
                <a:spcPts val="0"/>
              </a:spcAft>
              <a:buNone/>
            </a:pPr>
            <a:r>
              <a:t/>
            </a:r>
            <a:endParaRPr b="1" i="0" sz="2400" u="none" cap="none" strike="noStrike">
              <a:solidFill>
                <a:srgbClr val="333344"/>
              </a:solidFill>
              <a:latin typeface="Calibri"/>
              <a:ea typeface="Calibri"/>
              <a:cs typeface="Calibri"/>
              <a:sym typeface="Calibri"/>
            </a:endParaRPr>
          </a:p>
          <a:p>
            <a:pPr indent="0" lvl="0" marL="0" rtl="0" algn="l">
              <a:spcBef>
                <a:spcPts val="600"/>
              </a:spcBef>
              <a:spcAft>
                <a:spcPts val="0"/>
              </a:spcAft>
              <a:buClr>
                <a:schemeClr val="dk1"/>
              </a:buClr>
              <a:buFont typeface="Arial"/>
              <a:buNone/>
            </a:pPr>
            <a:r>
              <a:rPr lang="en-US" sz="2400">
                <a:solidFill>
                  <a:srgbClr val="333344"/>
                </a:solidFill>
                <a:latin typeface="Calibri"/>
                <a:ea typeface="Calibri"/>
                <a:cs typeface="Calibri"/>
                <a:sym typeface="Calibri"/>
              </a:rPr>
              <a:t>An error-status response is still a "successful" fetch from the browser's perspective.</a:t>
            </a:r>
            <a:endParaRPr>
              <a:solidFill>
                <a:schemeClr val="dk1"/>
              </a:solidFill>
            </a:endParaRPr>
          </a:p>
          <a:p>
            <a:pPr indent="0" lvl="1" marL="457200" rtl="0" algn="l">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The promise </a:t>
            </a:r>
            <a:r>
              <a:rPr b="1" lang="en-US" sz="2000">
                <a:solidFill>
                  <a:srgbClr val="666677"/>
                </a:solidFill>
                <a:latin typeface="Calibri"/>
                <a:ea typeface="Calibri"/>
                <a:cs typeface="Calibri"/>
                <a:sym typeface="Calibri"/>
              </a:rPr>
              <a:t>fulfills</a:t>
            </a:r>
            <a:r>
              <a:rPr lang="en-US" sz="2000">
                <a:solidFill>
                  <a:srgbClr val="666677"/>
                </a:solidFill>
                <a:latin typeface="Calibri"/>
                <a:ea typeface="Calibri"/>
                <a:cs typeface="Calibri"/>
                <a:sym typeface="Calibri"/>
              </a:rPr>
              <a:t>, not rejects.</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const response = await fetch("/api/doesnt-exist");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 response.status === 404, response.ok === false</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 but NO exception is thrown. Code keeps running.</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 have to check `</a:t>
            </a:r>
            <a:r>
              <a:rPr b="1" i="0" lang="en-US" sz="2400" u="none" cap="none" strike="noStrike">
                <a:solidFill>
                  <a:srgbClr val="333344"/>
                </a:solidFill>
                <a:latin typeface="Courier Prime"/>
                <a:ea typeface="Courier Prime"/>
                <a:cs typeface="Courier Prime"/>
                <a:sym typeface="Courier Prime"/>
              </a:rPr>
              <a:t>response.ok</a:t>
            </a:r>
            <a:r>
              <a:rPr b="0" i="0" lang="en-US" sz="2400" u="none" cap="none" strike="noStrike">
                <a:solidFill>
                  <a:srgbClr val="333344"/>
                </a:solidFill>
                <a:latin typeface="Calibri"/>
                <a:ea typeface="Calibri"/>
                <a:cs typeface="Calibri"/>
                <a:sym typeface="Calibri"/>
              </a:rPr>
              <a:t>` yourself and throw if it's false.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1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gotcha fetch will burn you with</a:t>
            </a:r>
            <a:endParaRPr/>
          </a:p>
        </p:txBody>
      </p:sp>
      <p:sp>
        <p:nvSpPr>
          <p:cNvPr id="317" name="Google Shape;317;p18"/>
          <p:cNvSpPr txBox="1"/>
          <p:nvPr/>
        </p:nvSpPr>
        <p:spPr>
          <a:xfrm>
            <a:off x="914401" y="1147500"/>
            <a:ext cx="10869300" cy="555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`fetch` does not throw on 404 or 500.</a:t>
            </a:r>
            <a:endParaRPr/>
          </a:p>
          <a:p>
            <a:pPr indent="0" lvl="0" marL="0" marR="0" rtl="0" algn="l">
              <a:spcBef>
                <a:spcPts val="600"/>
              </a:spcBef>
              <a:spcAft>
                <a:spcPts val="0"/>
              </a:spcAft>
              <a:buNone/>
            </a:pPr>
            <a:r>
              <a:t/>
            </a:r>
            <a:endParaRPr b="1" i="0" sz="2400" u="none" cap="none" strike="noStrike">
              <a:solidFill>
                <a:srgbClr val="333344"/>
              </a:solidFill>
              <a:latin typeface="Calibri"/>
              <a:ea typeface="Calibri"/>
              <a:cs typeface="Calibri"/>
              <a:sym typeface="Calibri"/>
            </a:endParaRPr>
          </a:p>
          <a:p>
            <a:pPr indent="0" lvl="0" marL="0" rtl="0" algn="l">
              <a:spcBef>
                <a:spcPts val="600"/>
              </a:spcBef>
              <a:spcAft>
                <a:spcPts val="0"/>
              </a:spcAft>
              <a:buClr>
                <a:schemeClr val="dk1"/>
              </a:buClr>
              <a:buFont typeface="Arial"/>
              <a:buNone/>
            </a:pPr>
            <a:r>
              <a:rPr lang="en-US" sz="2400">
                <a:solidFill>
                  <a:srgbClr val="333344"/>
                </a:solidFill>
                <a:latin typeface="Calibri"/>
                <a:ea typeface="Calibri"/>
                <a:cs typeface="Calibri"/>
                <a:sym typeface="Calibri"/>
              </a:rPr>
              <a:t>An error-status response is still a "successful" fetch from the browser's perspective.</a:t>
            </a:r>
            <a:endParaRPr>
              <a:solidFill>
                <a:schemeClr val="dk1"/>
              </a:solidFill>
            </a:endParaRPr>
          </a:p>
          <a:p>
            <a:pPr indent="0" lvl="1" marL="457200" rtl="0" algn="l">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The promise </a:t>
            </a:r>
            <a:r>
              <a:rPr b="1" lang="en-US" sz="2000">
                <a:solidFill>
                  <a:srgbClr val="666677"/>
                </a:solidFill>
                <a:latin typeface="Calibri"/>
                <a:ea typeface="Calibri"/>
                <a:cs typeface="Calibri"/>
                <a:sym typeface="Calibri"/>
              </a:rPr>
              <a:t>fulfills</a:t>
            </a:r>
            <a:r>
              <a:rPr lang="en-US" sz="2000">
                <a:solidFill>
                  <a:srgbClr val="666677"/>
                </a:solidFill>
                <a:latin typeface="Calibri"/>
                <a:ea typeface="Calibri"/>
                <a:cs typeface="Calibri"/>
                <a:sym typeface="Calibri"/>
              </a:rPr>
              <a:t>, not rejects.</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const response = await fetch("/api/doesnt-exist");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 response.status === 404, response.ok === false</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 but NO exception is thrown. Code keeps running.</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 have to check `</a:t>
            </a:r>
            <a:r>
              <a:rPr b="1" i="0" lang="en-US" sz="2400" u="none" cap="none" strike="noStrike">
                <a:solidFill>
                  <a:srgbClr val="333344"/>
                </a:solidFill>
                <a:latin typeface="Courier Prime"/>
                <a:ea typeface="Courier Prime"/>
                <a:cs typeface="Courier Prime"/>
                <a:sym typeface="Courier Prime"/>
              </a:rPr>
              <a:t>response.ok</a:t>
            </a:r>
            <a:r>
              <a:rPr b="0" i="0" lang="en-US" sz="2400" u="none" cap="none" strike="noStrike">
                <a:solidFill>
                  <a:srgbClr val="333344"/>
                </a:solidFill>
                <a:latin typeface="Calibri"/>
                <a:ea typeface="Calibri"/>
                <a:cs typeface="Calibri"/>
                <a:sym typeface="Calibri"/>
              </a:rPr>
              <a:t>` yourself and throw if it's false.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promise only </a:t>
            </a:r>
            <a:r>
              <a:rPr b="1" i="0" lang="en-US" sz="2000" u="none" cap="none" strike="noStrike">
                <a:solidFill>
                  <a:srgbClr val="666677"/>
                </a:solidFill>
                <a:latin typeface="Calibri"/>
                <a:ea typeface="Calibri"/>
                <a:cs typeface="Calibri"/>
                <a:sym typeface="Calibri"/>
              </a:rPr>
              <a:t>rejects</a:t>
            </a:r>
            <a:r>
              <a:rPr b="0" i="0" lang="en-US" sz="2000" u="none" cap="none" strike="noStrike">
                <a:solidFill>
                  <a:srgbClr val="666677"/>
                </a:solidFill>
                <a:latin typeface="Calibri"/>
                <a:ea typeface="Calibri"/>
                <a:cs typeface="Calibri"/>
                <a:sym typeface="Calibri"/>
              </a:rPr>
              <a:t> on actual network failure - DNS,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connection refused, CORS, offline. 4xx/5xx do NOT reject.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g3daffe9b800_0_22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Three kinds of failure</a:t>
            </a:r>
            <a:endParaRPr/>
          </a:p>
        </p:txBody>
      </p:sp>
      <p:sp>
        <p:nvSpPr>
          <p:cNvPr id="324" name="Google Shape;324;g3daffe9b800_0_221"/>
          <p:cNvSpPr txBox="1"/>
          <p:nvPr/>
        </p:nvSpPr>
        <p:spPr>
          <a:xfrm>
            <a:off x="914400" y="1190890"/>
            <a:ext cx="10362900" cy="350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fetch can fail three ways:</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 Network failure</a:t>
            </a:r>
            <a:r>
              <a:rPr b="0" i="0" lang="en-US" sz="2000" u="none" cap="none" strike="noStrike">
                <a:solidFill>
                  <a:srgbClr val="666677"/>
                </a:solidFill>
                <a:latin typeface="Calibri"/>
                <a:ea typeface="Calibri"/>
                <a:cs typeface="Calibri"/>
                <a:sym typeface="Calibri"/>
              </a:rPr>
              <a:t> - DNS, server down, offline, CORS blocked.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promise rejects</a:t>
            </a:r>
            <a:r>
              <a:rPr b="0" i="0" lang="en-US" sz="2000" u="none" cap="none" strike="noStrike">
                <a:solidFill>
                  <a:srgbClr val="666677"/>
                </a:solidFill>
                <a:latin typeface="Calibri"/>
                <a:ea typeface="Calibri"/>
                <a:cs typeface="Calibri"/>
                <a:sym typeface="Calibri"/>
              </a:rPr>
              <a:t>, and `try`/`catch` around the await catches it.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 HTTP error status</a:t>
            </a:r>
            <a:r>
              <a:rPr b="0" i="0" lang="en-US" sz="2000" u="none" cap="none" strike="noStrike">
                <a:solidFill>
                  <a:srgbClr val="666677"/>
                </a:solidFill>
                <a:latin typeface="Calibri"/>
                <a:ea typeface="Calibri"/>
                <a:cs typeface="Calibri"/>
                <a:sym typeface="Calibri"/>
              </a:rPr>
              <a:t> (4xx or 5xx) - server responded, but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with an error. The </a:t>
            </a:r>
            <a:r>
              <a:rPr b="1" i="0" lang="en-US" sz="2000" u="none" cap="none" strike="noStrike">
                <a:solidFill>
                  <a:srgbClr val="666677"/>
                </a:solidFill>
                <a:latin typeface="Calibri"/>
                <a:ea typeface="Calibri"/>
                <a:cs typeface="Calibri"/>
                <a:sym typeface="Calibri"/>
              </a:rPr>
              <a:t>promise fulfills normally</a:t>
            </a:r>
            <a:r>
              <a:rPr b="0" i="0" lang="en-US" sz="2000" u="none" cap="none" strike="noStrike">
                <a:solidFill>
                  <a:srgbClr val="666677"/>
                </a:solidFill>
                <a:latin typeface="Calibri"/>
                <a:ea typeface="Calibri"/>
                <a:cs typeface="Calibri"/>
                <a:sym typeface="Calibri"/>
              </a:rPr>
              <a:t>, so you have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 check `response.ok` and throw yourself.</a:t>
            </a:r>
            <a:endParaRPr/>
          </a:p>
          <a:p>
            <a:pPr indent="0" lvl="1" marL="457200" marR="0" rtl="0" algn="l">
              <a:spcBef>
                <a:spcPts val="6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19"/>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Three kinds of failure</a:t>
            </a:r>
            <a:endParaRPr/>
          </a:p>
        </p:txBody>
      </p:sp>
      <p:sp>
        <p:nvSpPr>
          <p:cNvPr id="331" name="Google Shape;331;p19"/>
          <p:cNvSpPr txBox="1"/>
          <p:nvPr/>
        </p:nvSpPr>
        <p:spPr>
          <a:xfrm>
            <a:off x="914400" y="1190890"/>
            <a:ext cx="10362900" cy="520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fetch can fail three ways:</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 Network failure</a:t>
            </a:r>
            <a:r>
              <a:rPr b="0" i="0" lang="en-US" sz="2000" u="none" cap="none" strike="noStrike">
                <a:solidFill>
                  <a:srgbClr val="666677"/>
                </a:solidFill>
                <a:latin typeface="Calibri"/>
                <a:ea typeface="Calibri"/>
                <a:cs typeface="Calibri"/>
                <a:sym typeface="Calibri"/>
              </a:rPr>
              <a:t> - DNS, server down, offline, CORS blocked.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promise rejects</a:t>
            </a:r>
            <a:r>
              <a:rPr b="0" i="0" lang="en-US" sz="2000" u="none" cap="none" strike="noStrike">
                <a:solidFill>
                  <a:srgbClr val="666677"/>
                </a:solidFill>
                <a:latin typeface="Calibri"/>
                <a:ea typeface="Calibri"/>
                <a:cs typeface="Calibri"/>
                <a:sym typeface="Calibri"/>
              </a:rPr>
              <a:t>, and `try`/`catch` around the await catches it.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 HTTP error status</a:t>
            </a:r>
            <a:r>
              <a:rPr b="0" i="0" lang="en-US" sz="2000" u="none" cap="none" strike="noStrike">
                <a:solidFill>
                  <a:srgbClr val="666677"/>
                </a:solidFill>
                <a:latin typeface="Calibri"/>
                <a:ea typeface="Calibri"/>
                <a:cs typeface="Calibri"/>
                <a:sym typeface="Calibri"/>
              </a:rPr>
              <a:t> (4xx or 5xx) - server responded, but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with an error. The </a:t>
            </a:r>
            <a:r>
              <a:rPr b="1" i="0" lang="en-US" sz="2000" u="none" cap="none" strike="noStrike">
                <a:solidFill>
                  <a:srgbClr val="666677"/>
                </a:solidFill>
                <a:latin typeface="Calibri"/>
                <a:ea typeface="Calibri"/>
                <a:cs typeface="Calibri"/>
                <a:sym typeface="Calibri"/>
              </a:rPr>
              <a:t>promise fulfills normally</a:t>
            </a:r>
            <a:r>
              <a:rPr b="0" i="0" lang="en-US" sz="2000" u="none" cap="none" strike="noStrike">
                <a:solidFill>
                  <a:srgbClr val="666677"/>
                </a:solidFill>
                <a:latin typeface="Calibri"/>
                <a:ea typeface="Calibri"/>
                <a:cs typeface="Calibri"/>
                <a:sym typeface="Calibri"/>
              </a:rPr>
              <a:t>, so you have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 check `response.ok` and throw yourself.</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 Bad JSON</a:t>
            </a:r>
            <a:r>
              <a:rPr b="0" i="0" lang="en-US" sz="2000" u="none" cap="none" strike="noStrike">
                <a:solidFill>
                  <a:srgbClr val="666677"/>
                </a:solidFill>
                <a:latin typeface="Calibri"/>
                <a:ea typeface="Calibri"/>
                <a:cs typeface="Calibri"/>
                <a:sym typeface="Calibri"/>
              </a:rPr>
              <a:t> - `response.json()` throws a `SyntaxError`,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caught by the same `try`/`catch`.</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0" marR="0" rtl="0" algn="l">
              <a:spcBef>
                <a:spcPts val="600"/>
              </a:spcBef>
              <a:spcAft>
                <a:spcPts val="0"/>
              </a:spcAft>
              <a:buNone/>
            </a:pPr>
            <a:r>
              <a:rPr lang="en-US" sz="2400">
                <a:solidFill>
                  <a:srgbClr val="333344"/>
                </a:solidFill>
                <a:latin typeface="Calibri"/>
                <a:ea typeface="Calibri"/>
                <a:cs typeface="Calibri"/>
                <a:sym typeface="Calibri"/>
              </a:rPr>
              <a:t>You gotta handle all three.</a:t>
            </a:r>
            <a:endParaRPr sz="2400">
              <a:solidFill>
                <a:srgbClr val="333344"/>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20"/>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One try/catch, three failures handled</a:t>
            </a:r>
            <a:endParaRPr/>
          </a:p>
        </p:txBody>
      </p:sp>
      <p:sp>
        <p:nvSpPr>
          <p:cNvPr id="338" name="Google Shape;338;p20"/>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39" name="Google Shape;339;p20"/>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20"/>
          <p:cNvSpPr txBox="1"/>
          <p:nvPr/>
        </p:nvSpPr>
        <p:spPr>
          <a:xfrm>
            <a:off x="1005840" y="1645920"/>
            <a:ext cx="10179900" cy="468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async function loadMessagesSafely(): Promise&lt;Message[]&gt;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response = await fetch("/api/messages");</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Case 2: HTTP error - fetch succeeded, server said no</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if (!response.ok)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throw new Error(`HTTP ${response.status}`);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Case 3: bad JSON throws inside response.json()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data: Message[] = await response.json();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data;</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catch (err)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Network (cas</a:t>
            </a:r>
            <a:r>
              <a:rPr b="1" lang="en-US" sz="1500">
                <a:solidFill>
                  <a:srgbClr val="333344"/>
                </a:solidFill>
                <a:latin typeface="Courier New"/>
                <a:ea typeface="Courier New"/>
                <a:cs typeface="Courier New"/>
                <a:sym typeface="Courier New"/>
              </a:rPr>
              <a:t>e 1)</a:t>
            </a:r>
            <a:r>
              <a:rPr b="1" i="0" lang="en-US" sz="1500" u="none" cap="none" strike="noStrike">
                <a:solidFill>
                  <a:srgbClr val="333344"/>
                </a:solidFill>
                <a:latin typeface="Courier New"/>
                <a:ea typeface="Courier New"/>
                <a:cs typeface="Courier New"/>
                <a:sym typeface="Courier New"/>
              </a:rPr>
              <a:t>, HTTP error, and bad JSON all land here.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console.error("loadMessages failed:", err);</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345" name="Shape 345"/>
        <p:cNvGrpSpPr/>
        <p:nvPr/>
      </p:nvGrpSpPr>
      <p:grpSpPr>
        <a:xfrm>
          <a:off x="0" y="0"/>
          <a:ext cx="0" cy="0"/>
          <a:chOff x="0" y="0"/>
          <a:chExt cx="0" cy="0"/>
        </a:xfrm>
      </p:grpSpPr>
      <p:sp>
        <p:nvSpPr>
          <p:cNvPr id="346" name="Google Shape;346;p21"/>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When answers arrive in the wrong order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g3daffe9b800_0_346"/>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second-clicked button wins</a:t>
            </a:r>
            <a:endParaRPr/>
          </a:p>
        </p:txBody>
      </p:sp>
      <p:sp>
        <p:nvSpPr>
          <p:cNvPr id="353" name="Google Shape;353;g3daffe9b800_0_346"/>
          <p:cNvSpPr txBox="1"/>
          <p:nvPr/>
        </p:nvSpPr>
        <p:spPr>
          <a:xfrm>
            <a:off x="914400" y="1177890"/>
            <a:ext cx="10362900" cy="1231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a chat UI with a filter. User clicks </a:t>
            </a:r>
            <a:r>
              <a:rPr b="1" i="0" lang="en-US" sz="2400" u="none" cap="none" strike="noStrike">
                <a:solidFill>
                  <a:srgbClr val="333344"/>
                </a:solidFill>
                <a:latin typeface="Calibri"/>
                <a:ea typeface="Calibri"/>
                <a:cs typeface="Calibri"/>
                <a:sym typeface="Calibri"/>
              </a:rPr>
              <a:t>Active</a:t>
            </a:r>
            <a:r>
              <a:rPr b="0" i="0" lang="en-US" sz="2400" u="none" cap="none" strike="noStrike">
                <a:solidFill>
                  <a:srgbClr val="333344"/>
                </a:solidFill>
                <a:latin typeface="Calibri"/>
                <a:ea typeface="Calibri"/>
                <a:cs typeface="Calibri"/>
                <a:sym typeface="Calibri"/>
              </a:rPr>
              <a:t>, then </a:t>
            </a:r>
            <a:r>
              <a:rPr lang="en-US" sz="2400">
                <a:solidFill>
                  <a:srgbClr val="333344"/>
                </a:solidFill>
                <a:latin typeface="Calibri"/>
                <a:ea typeface="Calibri"/>
                <a:cs typeface="Calibri"/>
                <a:sym typeface="Calibri"/>
              </a:rPr>
              <a:t>immediately clicks </a:t>
            </a:r>
            <a:r>
              <a:rPr b="1" lang="en-US" sz="2400">
                <a:solidFill>
                  <a:srgbClr val="333344"/>
                </a:solidFill>
                <a:latin typeface="Calibri"/>
                <a:ea typeface="Calibri"/>
                <a:cs typeface="Calibri"/>
                <a:sym typeface="Calibri"/>
              </a:rPr>
              <a:t>All</a:t>
            </a:r>
            <a:endParaRPr b="1"/>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Two fetches go out, both succeed.</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But the second fetch finishes FIRST. Then the</a:t>
            </a:r>
            <a:r>
              <a:rPr lang="en-US"/>
              <a:t> </a:t>
            </a:r>
            <a:r>
              <a:rPr b="0" i="0" lang="en-US" sz="2000" u="none" cap="none" strike="noStrike">
                <a:solidFill>
                  <a:srgbClr val="666677"/>
                </a:solidFill>
                <a:latin typeface="Calibri"/>
                <a:ea typeface="Calibri"/>
                <a:cs typeface="Calibri"/>
                <a:sym typeface="Calibri"/>
              </a:rPr>
              <a:t>first fetch</a:t>
            </a:r>
            <a:r>
              <a:rPr lang="en-US" sz="2000">
                <a:solidFill>
                  <a:srgbClr val="666677"/>
                </a:solidFill>
                <a:latin typeface="Calibri"/>
                <a:ea typeface="Calibri"/>
                <a:cs typeface="Calibri"/>
                <a:sym typeface="Calibri"/>
              </a:rPr>
              <a:t> </a:t>
            </a:r>
            <a:r>
              <a:rPr b="0" i="0" lang="en-US" sz="2000" u="none" cap="none" strike="noStrike">
                <a:solidFill>
                  <a:srgbClr val="666677"/>
                </a:solidFill>
                <a:latin typeface="Calibri"/>
                <a:ea typeface="Calibri"/>
                <a:cs typeface="Calibri"/>
                <a:sym typeface="Calibri"/>
              </a:rPr>
              <a:t>finishes second</a:t>
            </a:r>
            <a:r>
              <a:rPr lang="en-US" sz="2000">
                <a:solidFill>
                  <a:srgbClr val="666677"/>
                </a:solidFill>
                <a:latin typeface="Calibri"/>
                <a:ea typeface="Calibri"/>
                <a:cs typeface="Calibri"/>
                <a:sym typeface="Calibri"/>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2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second-clicked button wins</a:t>
            </a:r>
            <a:endParaRPr/>
          </a:p>
        </p:txBody>
      </p:sp>
      <p:sp>
        <p:nvSpPr>
          <p:cNvPr id="360" name="Google Shape;360;p22"/>
          <p:cNvSpPr txBox="1"/>
          <p:nvPr/>
        </p:nvSpPr>
        <p:spPr>
          <a:xfrm>
            <a:off x="914400" y="1177890"/>
            <a:ext cx="10362900" cy="487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a chat UI with a filter. User clicks </a:t>
            </a:r>
            <a:r>
              <a:rPr b="1" i="0" lang="en-US" sz="2400" u="none" cap="none" strike="noStrike">
                <a:solidFill>
                  <a:srgbClr val="333344"/>
                </a:solidFill>
                <a:latin typeface="Calibri"/>
                <a:ea typeface="Calibri"/>
                <a:cs typeface="Calibri"/>
                <a:sym typeface="Calibri"/>
              </a:rPr>
              <a:t>Active</a:t>
            </a:r>
            <a:r>
              <a:rPr b="0" i="0" lang="en-US" sz="2400" u="none" cap="none" strike="noStrike">
                <a:solidFill>
                  <a:srgbClr val="333344"/>
                </a:solidFill>
                <a:latin typeface="Calibri"/>
                <a:ea typeface="Calibri"/>
                <a:cs typeface="Calibri"/>
                <a:sym typeface="Calibri"/>
              </a:rPr>
              <a:t>, then </a:t>
            </a:r>
            <a:r>
              <a:rPr lang="en-US" sz="2400">
                <a:solidFill>
                  <a:srgbClr val="333344"/>
                </a:solidFill>
                <a:latin typeface="Calibri"/>
                <a:ea typeface="Calibri"/>
                <a:cs typeface="Calibri"/>
                <a:sym typeface="Calibri"/>
              </a:rPr>
              <a:t>immediately clicks </a:t>
            </a:r>
            <a:r>
              <a:rPr b="1" lang="en-US" sz="2400">
                <a:solidFill>
                  <a:srgbClr val="333344"/>
                </a:solidFill>
                <a:latin typeface="Calibri"/>
                <a:ea typeface="Calibri"/>
                <a:cs typeface="Calibri"/>
                <a:sym typeface="Calibri"/>
              </a:rPr>
              <a:t>All</a:t>
            </a:r>
            <a:endParaRPr b="1"/>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Two fetches go out, both succeed.</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But the second fetch finishes FIRST. Then the</a:t>
            </a:r>
            <a:r>
              <a:rPr lang="en-US"/>
              <a:t> </a:t>
            </a:r>
            <a:r>
              <a:rPr b="0" i="0" lang="en-US" sz="2000" u="none" cap="none" strike="noStrike">
                <a:solidFill>
                  <a:srgbClr val="666677"/>
                </a:solidFill>
                <a:latin typeface="Calibri"/>
                <a:ea typeface="Calibri"/>
                <a:cs typeface="Calibri"/>
                <a:sym typeface="Calibri"/>
              </a:rPr>
              <a:t>first fetch finishes second</a:t>
            </a:r>
            <a:r>
              <a:rPr lang="en-US" sz="2000">
                <a:solidFill>
                  <a:srgbClr val="666677"/>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a:t>
            </a:r>
            <a:r>
              <a:rPr lang="en-US" sz="2000">
                <a:solidFill>
                  <a:srgbClr val="666677"/>
                </a:solidFill>
                <a:latin typeface="Calibri"/>
                <a:ea typeface="Calibri"/>
                <a:cs typeface="Calibri"/>
                <a:sym typeface="Calibri"/>
              </a:rPr>
              <a:t>r render </a:t>
            </a:r>
            <a:r>
              <a:rPr b="0" i="0" lang="en-US" sz="2000" u="none" cap="none" strike="noStrike">
                <a:solidFill>
                  <a:srgbClr val="666677"/>
                </a:solidFill>
                <a:latin typeface="Calibri"/>
                <a:ea typeface="Calibri"/>
                <a:cs typeface="Calibri"/>
                <a:sym typeface="Calibri"/>
              </a:rPr>
              <a:t>callback overwrites the All list with the stale Active list.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 UI now shows the wrong data and nothing threw an error.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filter says All, the list shows Active. Welcome to async.</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Synchronous function calls return in the order they're called.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Promises don't - network jitter decides.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When two requests can race</a:t>
            </a:r>
            <a:r>
              <a:rPr b="0" i="0" lang="en-US" sz="2400" u="none" cap="none" strike="noStrike">
                <a:solidFill>
                  <a:srgbClr val="333344"/>
                </a:solidFill>
                <a:latin typeface="Calibri"/>
                <a:ea typeface="Calibri"/>
                <a:cs typeface="Calibri"/>
                <a:sym typeface="Calibri"/>
              </a:rPr>
              <a:t>, you have to </a:t>
            </a:r>
            <a:r>
              <a:rPr b="1" i="0" lang="en-US" sz="2400" u="none" cap="none" strike="noStrike">
                <a:solidFill>
                  <a:srgbClr val="333344"/>
                </a:solidFill>
                <a:latin typeface="Calibri"/>
                <a:ea typeface="Calibri"/>
                <a:cs typeface="Calibri"/>
                <a:sym typeface="Calibri"/>
              </a:rPr>
              <a:t>decide which one wins</a:t>
            </a:r>
            <a:r>
              <a:rPr b="0" i="0" lang="en-US" sz="2400" u="none" cap="none" strike="noStrike">
                <a:solidFill>
                  <a:srgbClr val="333344"/>
                </a:solidFill>
                <a:latin typeface="Calibri"/>
                <a:ea typeface="Calibri"/>
                <a:cs typeface="Calibri"/>
                <a:sym typeface="Calibri"/>
              </a:rPr>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g3daffe9b800_0_247"/>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AbortController: cancel the previous request</a:t>
            </a:r>
            <a:endParaRPr/>
          </a:p>
        </p:txBody>
      </p:sp>
      <p:sp>
        <p:nvSpPr>
          <p:cNvPr id="367" name="Google Shape;367;g3daffe9b800_0_247"/>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68" name="Google Shape;368;g3daffe9b800_0_247"/>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g3daffe9b800_0_247"/>
          <p:cNvSpPr txBox="1"/>
          <p:nvPr/>
        </p:nvSpPr>
        <p:spPr>
          <a:xfrm>
            <a:off x="1005840" y="1645920"/>
            <a:ext cx="10179900" cy="46485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async function loadFiltered(filter: string): Promise&lt;void&gt; {</a:t>
            </a:r>
            <a:endParaRPr/>
          </a:p>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response = await fetch(</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`/api/messages?filter=${filter}`,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signal: controller.signal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data = await response.json();</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renderMessages(data);</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catch (err: any)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if (err.name === "AbortError") return;   // expected, ignore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console.error("fetch failed:", err);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g3daffe9b800_0_239"/>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AbortController: cancel the previous request</a:t>
            </a:r>
            <a:endParaRPr/>
          </a:p>
        </p:txBody>
      </p:sp>
      <p:sp>
        <p:nvSpPr>
          <p:cNvPr id="376" name="Google Shape;376;g3daffe9b800_0_239"/>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77" name="Google Shape;377;g3daffe9b800_0_239"/>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g3daffe9b800_0_239"/>
          <p:cNvSpPr txBox="1"/>
          <p:nvPr/>
        </p:nvSpPr>
        <p:spPr>
          <a:xfrm>
            <a:off x="1005840" y="1645920"/>
            <a:ext cx="10179900" cy="464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 Cancel the in-flight fetch when a newer one starts.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The cancelled fetch's promise rejects with an AbortError.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let controller: AbortController | null = null;</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async function loadFiltered(filter: string): Promise&lt;void&gt; {</a:t>
            </a:r>
            <a:endParaRPr/>
          </a:p>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response = await fetch(</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`/api/messages?filter=${filter}`,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signal: controller.signal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data = await response.json();</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renderMessages(data);</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catch (err: any)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if (err.name === "AbortError") return;   // expected, ignore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console.error("fetch failed:", err);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2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AbortController: cancel the previous request</a:t>
            </a:r>
            <a:endParaRPr/>
          </a:p>
        </p:txBody>
      </p:sp>
      <p:sp>
        <p:nvSpPr>
          <p:cNvPr id="385" name="Google Shape;385;p23"/>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86" name="Google Shape;386;p23"/>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3"/>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 Cancel the in-flight fetch when a newer one starts.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The cancelled fetch's promise rejects with an AbortError.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let controller: AbortController | null = null;</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async function loadFiltered(filter: string): Promise&lt;void&gt;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controller?.abort();              // cancel previous, if any</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controller = new AbortController();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response = await fetch(</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`/api/messages?filter=${filter}`,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signal: controller.signal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data = await response.json();</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renderMessages(data);</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catch (err: any)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if (err.name === "AbortError") return;   // expected, ignore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console.error("fetch failed:", err);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p24"/>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TRY IT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Fetch todos and render them into the page</a:t>
            </a:r>
            <a:endParaRPr/>
          </a:p>
        </p:txBody>
      </p:sp>
      <p:sp>
        <p:nvSpPr>
          <p:cNvPr id="394" name="Google Shape;394;p24"/>
          <p:cNvSpPr/>
          <p:nvPr/>
        </p:nvSpPr>
        <p:spPr>
          <a:xfrm>
            <a:off x="640080" y="228600"/>
            <a:ext cx="1097280" cy="365760"/>
          </a:xfrm>
          <a:prstGeom prst="roundRect">
            <a:avLst>
              <a:gd fmla="val 16667" name="adj"/>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24"/>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24"/>
          <p:cNvSpPr txBox="1"/>
          <p:nvPr/>
        </p:nvSpPr>
        <p:spPr>
          <a:xfrm>
            <a:off x="1005840" y="1554480"/>
            <a:ext cx="10179900" cy="48075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Goal: GET /api/todos, append one &lt;li&gt; per todo, show errors.</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async function loadAndRenderTodos(): Promise&lt;void&gt;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list  = document.querySelector("#todo-list") as HTMLUListElement;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error = document.querySelector("#error")    as HTMLDivElement;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const response = await ________("/api/todos");</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if (</a:t>
            </a:r>
            <a:r>
              <a:rPr b="1" lang="en-US" sz="1300">
                <a:solidFill>
                  <a:srgbClr val="B0B0C0"/>
                </a:solidFill>
                <a:latin typeface="Courier New"/>
                <a:ea typeface="Courier New"/>
                <a:cs typeface="Courier New"/>
                <a:sym typeface="Courier New"/>
              </a:rPr>
              <a:t>________</a:t>
            </a:r>
            <a:r>
              <a:rPr b="1" lang="en-US" sz="1300">
                <a:solidFill>
                  <a:srgbClr val="B0B0C0"/>
                </a:solidFill>
                <a:latin typeface="Courier New"/>
                <a:ea typeface="Courier New"/>
                <a:cs typeface="Courier New"/>
                <a:sym typeface="Courier New"/>
              </a:rPr>
              <a:t>________)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throw new Error(`HTTP ${response.status}`);</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const todos = await response.________();</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todos.forEach((todo) =&gt; {</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const li = _______________;</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li.textContent = ________;</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list.________(li);</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 catch (err)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error.textContent = `Could not load: ${err}`;</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a:t>
            </a:r>
            <a:r>
              <a:rPr b="1" lang="en-US" sz="1300">
                <a:solidFill>
                  <a:srgbClr val="333344"/>
                </a:solidFill>
                <a:latin typeface="Courier New"/>
                <a:ea typeface="Courier New"/>
                <a:cs typeface="Courier New"/>
                <a:sym typeface="Courier New"/>
              </a:rPr>
              <a:t>error.style.display = "block";</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01" name="Shape 401"/>
        <p:cNvGrpSpPr/>
        <p:nvPr/>
      </p:nvGrpSpPr>
      <p:grpSpPr>
        <a:xfrm>
          <a:off x="0" y="0"/>
          <a:ext cx="0" cy="0"/>
          <a:chOff x="0" y="0"/>
          <a:chExt cx="0" cy="0"/>
        </a:xfrm>
      </p:grpSpPr>
      <p:sp>
        <p:nvSpPr>
          <p:cNvPr id="402" name="Google Shape;402;p25"/>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ANSWER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Fetch todos and render them into the page</a:t>
            </a:r>
            <a:endParaRPr/>
          </a:p>
        </p:txBody>
      </p:sp>
      <p:sp>
        <p:nvSpPr>
          <p:cNvPr id="403" name="Google Shape;403;p25"/>
          <p:cNvSpPr/>
          <p:nvPr/>
        </p:nvSpPr>
        <p:spPr>
          <a:xfrm>
            <a:off x="640080" y="228600"/>
            <a:ext cx="1188720" cy="365760"/>
          </a:xfrm>
          <a:prstGeom prst="roundRect">
            <a:avLst>
              <a:gd fmla="val 16667" name="adj"/>
            </a:avLst>
          </a:prstGeom>
          <a:solidFill>
            <a:srgbClr val="16653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25"/>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25"/>
          <p:cNvSpPr txBox="1"/>
          <p:nvPr/>
        </p:nvSpPr>
        <p:spPr>
          <a:xfrm>
            <a:off x="1005840" y="1554480"/>
            <a:ext cx="10180015" cy="4663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44"/>
                </a:solidFill>
                <a:latin typeface="Courier New"/>
                <a:ea typeface="Courier New"/>
                <a:cs typeface="Courier New"/>
                <a:sym typeface="Courier New"/>
              </a:rPr>
              <a:t>async function loadAndRenderTodos(): Promise&lt;void&gt;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list  = document.querySelector("#todo-list") as HTMLUListElement;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error = document.querySelector("#error")    as HTMLDivElement;</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response = await fetch("/api/todos");</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if (!response.ok)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throw new Error(`HTTP ${response.status}`);</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todos = await response.json();</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todos.forEach((todo) =&gt;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li = document.createElement("li");</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li.textContent = todo.title;</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list.append(li);</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 catch (err)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error.textContent = `Could not load: ${err}`;</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error.style.display = "block";</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26"/>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TRY IT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POST a new todo and append it to the list</a:t>
            </a:r>
            <a:endParaRPr/>
          </a:p>
        </p:txBody>
      </p:sp>
      <p:sp>
        <p:nvSpPr>
          <p:cNvPr id="412" name="Google Shape;412;p26"/>
          <p:cNvSpPr/>
          <p:nvPr/>
        </p:nvSpPr>
        <p:spPr>
          <a:xfrm>
            <a:off x="640080" y="228600"/>
            <a:ext cx="1097280" cy="365760"/>
          </a:xfrm>
          <a:prstGeom prst="roundRect">
            <a:avLst>
              <a:gd fmla="val 16667" name="adj"/>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26"/>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6"/>
          <p:cNvSpPr txBox="1"/>
          <p:nvPr/>
        </p:nvSpPr>
        <p:spPr>
          <a:xfrm>
            <a:off x="1005878" y="1454680"/>
            <a:ext cx="10179900" cy="48075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r>
              <a:rPr b="1" lang="en-US" sz="1300">
                <a:solidFill>
                  <a:srgbClr val="333344"/>
                </a:solidFill>
                <a:latin typeface="Courier New"/>
                <a:ea typeface="Courier New"/>
                <a:cs typeface="Courier New"/>
                <a:sym typeface="Courier New"/>
              </a:rPr>
              <a:t>/ On submit: POST /api/todos with {title}, then append the new &lt;li&gt;.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const form  = document.querySelector("#new-todo") as HTMLFormElement;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const list  = document.querySelector("#todo-list") as HTMLUListElement;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const input = document.querySelector("#text")     as HTMLInputElement;</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form.addEventListener("submit", async (event) =&gt; {</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a:t>
            </a:r>
            <a:r>
              <a:rPr b="1" lang="en-US" sz="1300">
                <a:solidFill>
                  <a:srgbClr val="333344"/>
                </a:solidFill>
                <a:latin typeface="Courier New"/>
                <a:ea typeface="Courier New"/>
                <a:cs typeface="Courier New"/>
                <a:sym typeface="Courier New"/>
              </a:rPr>
              <a:t>event.preventDefault();</a:t>
            </a:r>
            <a:r>
              <a:rPr b="1" lang="en-US" sz="1300">
                <a:solidFill>
                  <a:srgbClr val="B0B0C0"/>
                </a:solidFill>
                <a:latin typeface="Courier New"/>
                <a:ea typeface="Courier New"/>
                <a:cs typeface="Courier New"/>
                <a:sym typeface="Courier New"/>
              </a:rPr>
              <a:t>                       </a:t>
            </a:r>
            <a:r>
              <a:rPr b="1" lang="en-US" sz="1300">
                <a:solidFill>
                  <a:schemeClr val="dk1"/>
                </a:solidFill>
                <a:latin typeface="Courier New"/>
                <a:ea typeface="Courier New"/>
                <a:cs typeface="Courier New"/>
                <a:sym typeface="Courier New"/>
              </a:rPr>
              <a:t>// stop the page reload</a:t>
            </a:r>
            <a:endParaRPr>
              <a:solidFill>
                <a:schemeClr val="dk1"/>
              </a:solidFill>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response = await fetch("/api/todos", {</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________: </a:t>
            </a:r>
            <a:r>
              <a:rPr b="1" lang="en-US" sz="1300">
                <a:solidFill>
                  <a:srgbClr val="B0B0C0"/>
                </a:solidFill>
                <a:latin typeface="Courier New"/>
                <a:ea typeface="Courier New"/>
                <a:cs typeface="Courier New"/>
                <a:sym typeface="Courier New"/>
              </a:rPr>
              <a:t>____</a:t>
            </a:r>
            <a:r>
              <a:rPr b="1" lang="en-US" sz="1300">
                <a:solidFill>
                  <a:srgbClr val="B0B0C0"/>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headers: { "Content-Type": "application/json" },</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body: ________({ title: input.value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if (_______________) throw new Error(`HTTP ${response.status}`);</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const created = await response.________();</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li = </a:t>
            </a:r>
            <a:r>
              <a:rPr b="1" lang="en-US" sz="1300">
                <a:solidFill>
                  <a:srgbClr val="B0B0C0"/>
                </a:solidFill>
                <a:latin typeface="Courier New"/>
                <a:ea typeface="Courier New"/>
                <a:cs typeface="Courier New"/>
                <a:sym typeface="Courier New"/>
              </a:rPr>
              <a:t>_______________</a:t>
            </a:r>
            <a:r>
              <a:rPr b="1" lang="en-US" sz="13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li.textContent = created.title;</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list.________(li);</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input.value =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 catch (err) { console.error(err);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19" name="Shape 419"/>
        <p:cNvGrpSpPr/>
        <p:nvPr/>
      </p:nvGrpSpPr>
      <p:grpSpPr>
        <a:xfrm>
          <a:off x="0" y="0"/>
          <a:ext cx="0" cy="0"/>
          <a:chOff x="0" y="0"/>
          <a:chExt cx="0" cy="0"/>
        </a:xfrm>
      </p:grpSpPr>
      <p:sp>
        <p:nvSpPr>
          <p:cNvPr id="420" name="Google Shape;420;p27"/>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ANSWER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POST a new todo and append it to the list</a:t>
            </a:r>
            <a:endParaRPr/>
          </a:p>
        </p:txBody>
      </p:sp>
      <p:sp>
        <p:nvSpPr>
          <p:cNvPr id="421" name="Google Shape;421;p27"/>
          <p:cNvSpPr/>
          <p:nvPr/>
        </p:nvSpPr>
        <p:spPr>
          <a:xfrm>
            <a:off x="640080" y="228600"/>
            <a:ext cx="1188720" cy="365760"/>
          </a:xfrm>
          <a:prstGeom prst="roundRect">
            <a:avLst>
              <a:gd fmla="val 16667" name="adj"/>
            </a:avLst>
          </a:prstGeom>
          <a:solidFill>
            <a:srgbClr val="16653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7"/>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7"/>
          <p:cNvSpPr txBox="1"/>
          <p:nvPr/>
        </p:nvSpPr>
        <p:spPr>
          <a:xfrm>
            <a:off x="1005840" y="1554480"/>
            <a:ext cx="10180015" cy="4663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44"/>
                </a:solidFill>
                <a:latin typeface="Courier New"/>
                <a:ea typeface="Courier New"/>
                <a:cs typeface="Courier New"/>
                <a:sym typeface="Courier New"/>
              </a:rPr>
              <a:t>const form  = document.querySelector("#new-todo") as HTMLFormElement;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const list  = document.querySelector("#todo-list") as HTMLUListElement;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const input = document.querySelector("#text")     as HTMLInputElement;</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form.addEventListener("submit", async (event) =&gt;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event.preventDefault();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response = await fetch("/api/todos",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method: "POST",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headers: { "Content-Type": "application/json"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body: JSON.stringify({ title: input.value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if (!response.ok)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throw new Error(`HTTP ${response.status}`);</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created = await response.json();</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const li = document.createElement("li");</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li.textContent = created.title;</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list.append(li);</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input.value =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 catch (err) { console.error(err);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2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Where this goes next</a:t>
            </a:r>
            <a:endParaRPr/>
          </a:p>
        </p:txBody>
      </p:sp>
      <p:sp>
        <p:nvSpPr>
          <p:cNvPr id="430" name="Google Shape;430;p28"/>
          <p:cNvSpPr txBox="1"/>
          <p:nvPr/>
        </p:nvSpPr>
        <p:spPr>
          <a:xfrm>
            <a:off x="914400" y="1120840"/>
            <a:ext cx="10362900" cy="350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3344"/>
                </a:solidFill>
                <a:latin typeface="Calibri"/>
                <a:ea typeface="Calibri"/>
                <a:cs typeface="Calibri"/>
                <a:sym typeface="Calibri"/>
              </a:rPr>
              <a:t>Five things to walk away with:</a:t>
            </a:r>
            <a:endParaRPr b="1"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alibri"/>
                <a:ea typeface="Calibri"/>
                <a:cs typeface="Calibri"/>
                <a:sym typeface="Calibri"/>
              </a:rPr>
              <a:t>promise</a:t>
            </a:r>
            <a:r>
              <a:rPr b="0" i="0" lang="en-US" sz="2000" u="none" cap="none" strike="noStrike">
                <a:solidFill>
                  <a:srgbClr val="666677"/>
                </a:solidFill>
                <a:latin typeface="Calibri"/>
                <a:ea typeface="Calibri"/>
                <a:cs typeface="Calibri"/>
                <a:sym typeface="Calibri"/>
              </a:rPr>
              <a:t> is a placeholder for a value that will arrive later.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async/await</a:t>
            </a:r>
            <a:r>
              <a:rPr b="0" i="0" lang="en-US" sz="2000" u="none" cap="none" strike="noStrike">
                <a:solidFill>
                  <a:srgbClr val="666677"/>
                </a:solidFill>
                <a:latin typeface="Calibri"/>
                <a:ea typeface="Calibri"/>
                <a:cs typeface="Calibri"/>
                <a:sym typeface="Calibri"/>
              </a:rPr>
              <a:t> is the syntax for working with them cleanly.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fetch</a:t>
            </a:r>
            <a:r>
              <a:rPr b="0" i="0" lang="en-US" sz="2000" u="none" cap="none" strike="noStrike">
                <a:solidFill>
                  <a:srgbClr val="666677"/>
                </a:solidFill>
                <a:latin typeface="Calibri"/>
                <a:ea typeface="Calibri"/>
                <a:cs typeface="Calibri"/>
                <a:sym typeface="Calibri"/>
              </a:rPr>
              <a:t> is the browser's HTTP API; check `response.ok` yourself.</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Three failures</a:t>
            </a:r>
            <a:r>
              <a:rPr b="0" i="0" lang="en-US" sz="2000" u="none" cap="none" strike="noStrike">
                <a:solidFill>
                  <a:srgbClr val="666677"/>
                </a:solidFill>
                <a:latin typeface="Calibri"/>
                <a:ea typeface="Calibri"/>
                <a:cs typeface="Calibri"/>
                <a:sym typeface="Calibri"/>
              </a:rPr>
              <a:t> - network, HTTP, bad JSON - each needs a plan.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Races</a:t>
            </a:r>
            <a:r>
              <a:rPr b="0" i="0" lang="en-US" sz="2000" u="none" cap="none" strike="noStrike">
                <a:solidFill>
                  <a:srgbClr val="666677"/>
                </a:solidFill>
                <a:latin typeface="Calibri"/>
                <a:ea typeface="Calibri"/>
                <a:cs typeface="Calibri"/>
                <a:sym typeface="Calibri"/>
              </a:rPr>
              <a:t> are real - when two promises can land in any order, decide who wins.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You now have every piece of the browser side: DOM, events, network.</a:t>
            </a:r>
            <a:endParaRPr/>
          </a:p>
          <a:p>
            <a:pPr indent="0" lvl="1" marL="457200" marR="0" rtl="0" algn="l">
              <a:spcBef>
                <a:spcPts val="60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sp>
        <p:nvSpPr>
          <p:cNvPr id="436" name="Google Shape;436;g3daffe9b800_0_255"/>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Vanilla-JS after a fetch</a:t>
            </a:r>
            <a:endParaRPr/>
          </a:p>
        </p:txBody>
      </p:sp>
      <p:sp>
        <p:nvSpPr>
          <p:cNvPr id="437" name="Google Shape;437;g3daffe9b800_0_255"/>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38" name="Google Shape;438;g3daffe9b800_0_255"/>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g3daffe9b800_0_255"/>
          <p:cNvSpPr txBox="1"/>
          <p:nvPr/>
        </p:nvSpPr>
        <p:spPr>
          <a:xfrm>
            <a:off x="1005840" y="1645920"/>
            <a:ext cx="10179900" cy="458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After fetching new todos, update every piece of the page BY HAND.</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async function refresh()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todos = await loadTodos();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 1. clear and rebuild the list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list = document.querySelector("#todo-list")!;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list.replaceChildren();</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todos.forEach((t) =&gt;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li = document.createElement("li");</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li.textContent = t.title;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if (t.done) li.classList.add("done");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list.append(li);</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 2. update the counter</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counter = document.querySelector("#counter")!;</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counter.textContent = `${todos.filter(t =&gt; !t.done).length} left`;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 3. show or hide the "empty" message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empty = document.querySelector("#empty")! as HTMLElement;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empty.style.display = todos.length === 0 ? "block" : "none";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4" name="Shape 444"/>
        <p:cNvGrpSpPr/>
        <p:nvPr/>
      </p:nvGrpSpPr>
      <p:grpSpPr>
        <a:xfrm>
          <a:off x="0" y="0"/>
          <a:ext cx="0" cy="0"/>
          <a:chOff x="0" y="0"/>
          <a:chExt cx="0" cy="0"/>
        </a:xfrm>
      </p:grpSpPr>
      <p:sp>
        <p:nvSpPr>
          <p:cNvPr id="445" name="Google Shape;445;g3daffe9b800_0_338"/>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Where this goes next</a:t>
            </a:r>
            <a:endParaRPr/>
          </a:p>
        </p:txBody>
      </p:sp>
      <p:sp>
        <p:nvSpPr>
          <p:cNvPr id="446" name="Google Shape;446;g3daffe9b800_0_338"/>
          <p:cNvSpPr txBox="1"/>
          <p:nvPr/>
        </p:nvSpPr>
        <p:spPr>
          <a:xfrm>
            <a:off x="914400" y="1120840"/>
            <a:ext cx="10362900" cy="487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3344"/>
                </a:solidFill>
                <a:latin typeface="Calibri"/>
                <a:ea typeface="Calibri"/>
                <a:cs typeface="Calibri"/>
                <a:sym typeface="Calibri"/>
              </a:rPr>
              <a:t>Five things to walk away with:</a:t>
            </a:r>
            <a:endParaRPr b="1"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alibri"/>
                <a:ea typeface="Calibri"/>
                <a:cs typeface="Calibri"/>
                <a:sym typeface="Calibri"/>
              </a:rPr>
              <a:t>promise</a:t>
            </a:r>
            <a:r>
              <a:rPr b="0" i="0" lang="en-US" sz="2000" u="none" cap="none" strike="noStrike">
                <a:solidFill>
                  <a:srgbClr val="666677"/>
                </a:solidFill>
                <a:latin typeface="Calibri"/>
                <a:ea typeface="Calibri"/>
                <a:cs typeface="Calibri"/>
                <a:sym typeface="Calibri"/>
              </a:rPr>
              <a:t> is a placeholder for a value that will arrive later.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async/await</a:t>
            </a:r>
            <a:r>
              <a:rPr b="0" i="0" lang="en-US" sz="2000" u="none" cap="none" strike="noStrike">
                <a:solidFill>
                  <a:srgbClr val="666677"/>
                </a:solidFill>
                <a:latin typeface="Calibri"/>
                <a:ea typeface="Calibri"/>
                <a:cs typeface="Calibri"/>
                <a:sym typeface="Calibri"/>
              </a:rPr>
              <a:t> is the syntax for working with them cleanly.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fetch</a:t>
            </a:r>
            <a:r>
              <a:rPr b="0" i="0" lang="en-US" sz="2000" u="none" cap="none" strike="noStrike">
                <a:solidFill>
                  <a:srgbClr val="666677"/>
                </a:solidFill>
                <a:latin typeface="Calibri"/>
                <a:ea typeface="Calibri"/>
                <a:cs typeface="Calibri"/>
                <a:sym typeface="Calibri"/>
              </a:rPr>
              <a:t> is the browser's HTTP API; check `response.ok` yourself.</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Three failures</a:t>
            </a:r>
            <a:r>
              <a:rPr b="0" i="0" lang="en-US" sz="2000" u="none" cap="none" strike="noStrike">
                <a:solidFill>
                  <a:srgbClr val="666677"/>
                </a:solidFill>
                <a:latin typeface="Calibri"/>
                <a:ea typeface="Calibri"/>
                <a:cs typeface="Calibri"/>
                <a:sym typeface="Calibri"/>
              </a:rPr>
              <a:t> - network, HTTP, bad JSON - each needs a plan.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Races</a:t>
            </a:r>
            <a:r>
              <a:rPr b="0" i="0" lang="en-US" sz="2000" u="none" cap="none" strike="noStrike">
                <a:solidFill>
                  <a:srgbClr val="666677"/>
                </a:solidFill>
                <a:latin typeface="Calibri"/>
                <a:ea typeface="Calibri"/>
                <a:cs typeface="Calibri"/>
                <a:sym typeface="Calibri"/>
              </a:rPr>
              <a:t> are real - when two promises can land in any order, decide who wins.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You now have every piece of the browser side: DOM, events, network.</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Next </a:t>
            </a:r>
            <a:r>
              <a:rPr lang="en-US" sz="2400">
                <a:solidFill>
                  <a:srgbClr val="333344"/>
                </a:solidFill>
                <a:latin typeface="Calibri"/>
                <a:ea typeface="Calibri"/>
                <a:cs typeface="Calibri"/>
                <a:sym typeface="Calibri"/>
              </a:rPr>
              <a:t>time</a:t>
            </a:r>
            <a:r>
              <a:rPr b="0" lang="en-US" sz="2400">
                <a:solidFill>
                  <a:srgbClr val="333344"/>
                </a:solidFill>
                <a:latin typeface="Calibri"/>
                <a:ea typeface="Calibri"/>
                <a:cs typeface="Calibri"/>
                <a:sym typeface="Calibri"/>
              </a:rPr>
              <a:t>: </a:t>
            </a:r>
            <a:r>
              <a:rPr b="1" lang="en-US" sz="2400">
                <a:solidFill>
                  <a:srgbClr val="333344"/>
                </a:solidFill>
                <a:latin typeface="Calibri"/>
                <a:ea typeface="Calibri"/>
                <a:cs typeface="Calibri"/>
                <a:sym typeface="Calibri"/>
              </a:rPr>
              <a:t>React.</a:t>
            </a:r>
            <a:r>
              <a:rPr b="0" lang="en-US" sz="2400">
                <a:solidFill>
                  <a:srgbClr val="333344"/>
                </a:solidFill>
                <a:latin typeface="Calibri"/>
                <a:ea typeface="Calibri"/>
                <a:cs typeface="Calibri"/>
                <a:sym typeface="Calibri"/>
              </a:rPr>
              <a:t> All this machinery gets wrapped in a</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component model that answers the hardest question in frontend: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"what do I re-render after this promise resolves?"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