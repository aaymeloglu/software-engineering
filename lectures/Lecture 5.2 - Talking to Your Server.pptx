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Lst>
  <p:sldSz cy="6858000" cx="12191675"/>
  <p:notesSz cx="6858000" cy="9144000"/>
  <p:embeddedFontLst>
    <p:embeddedFont>
      <p:font typeface="Courier Prime"/>
      <p:regular r:id="rId53"/>
      <p:bold r:id="rId54"/>
      <p:italic r:id="rId55"/>
      <p:boldItalic r:id="rId5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7" roundtripDataSignature="AMtx7mhcWw1hVakNLBxW95UMPu9Ime75t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font" Target="fonts/CourierPrime-regular.fntdata"/><Relationship Id="rId54" Type="http://schemas.openxmlformats.org/officeDocument/2006/relationships/font" Target="fonts/CourierPrime-bold.fntdata"/><Relationship Id="rId55" Type="http://schemas.openxmlformats.org/officeDocument/2006/relationships/font" Target="fonts/CourierPrime-italic.fntdata"/><Relationship Id="rId56" Type="http://schemas.openxmlformats.org/officeDocument/2006/relationships/font" Target="fonts/CourierPrime-boldItalic.fntdata"/><Relationship Id="rId57"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response.ok" TargetMode="Externa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response.ok"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response.ok"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daffe9b800_0_35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g3daffe9b800_0_35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Recap only. Today's topic: code that waits.</a:t>
            </a:r>
          </a:p>
        </p:txBody>
      </p:sp>
      <p:sp>
        <p:nvSpPr>
          <p:cNvPr id="92" name="Google Shape;92;g3daffe9b800_0_35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daffe9b800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8" name="Google Shape;98;g3daffe9b800_0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p:txBody>
      </p:sp>
      <p:sp>
        <p:nvSpPr>
          <p:cNvPr id="99" name="Google Shape;99;g3daffe9b800_0_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daffe9b800_0_1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g3daffe9b800_0_1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Contrast with function calls: microseconds. Pause on 'never'.</a:t>
            </a:r>
          </a:p>
        </p:txBody>
      </p:sp>
      <p:sp>
        <p:nvSpPr>
          <p:cNvPr id="105" name="Google Shape;105;g3daffe9b800_0_1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3daffe9b800_0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1" name="Google Shape;111;g3daffe9b800_0_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Contrast with function calls: microseconds. Pause on 'never'.</a:t>
            </a:r>
          </a:p>
        </p:txBody>
      </p:sp>
      <p:sp>
        <p:nvSpPr>
          <p:cNvPr id="112" name="Google Shape;112;g3daffe9b800_0_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daffe9b800_0_4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8" name="Google Shape;118;g3daffe9b800_0_4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One UI thread is why async exists. Optional aside: halting problem.</a:t>
            </a:r>
          </a:p>
        </p:txBody>
      </p:sp>
      <p:sp>
        <p:nvSpPr>
          <p:cNvPr id="119" name="Google Shape;119;g3daffe9b800_0_4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daffe9b800_0_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5" name="Google Shape;125;g3daffe9b800_0_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One UI thread is why async exists. Optional aside: halting problem.</a:t>
            </a:r>
          </a:p>
          <a:p/>
          <a:p>
            <a:r>
              <a:t>    if doesItHalt(fn, input):</a:t>
            </a:r>
          </a:p>
          <a:p>
            <a:r>
              <a:t>          while(True):</a:t>
            </a:r>
          </a:p>
          <a:p>
            <a:r>
              <a:t>   		pass</a:t>
            </a:r>
          </a:p>
          <a:p>
            <a:r>
              <a:t>    return 0</a:t>
            </a:r>
          </a:p>
          <a:p/>
          <a:p>
            <a:r>
              <a:t>doesItHalt(ifHaltLoop, (ifHaltLoop, ifHaltLoop))</a:t>
            </a:r>
          </a:p>
        </p:txBody>
      </p:sp>
      <p:sp>
        <p:nvSpPr>
          <p:cNvPr id="126" name="Google Shape;126;g3daffe9b800_0_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daffe9b800_0_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2" name="Google Shape;132;g3daffe9b800_0_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Expect callback, polling, event, state-object. Leave on board; (d) is a promise, (a) is .then().</a:t>
            </a:r>
          </a:p>
        </p:txBody>
      </p:sp>
      <p:sp>
        <p:nvSpPr>
          <p:cNvPr id="133" name="Google Shape;133;g3daffe9b800_0_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daffe9b800_0_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0" name="Google Shape;140;g3daffe9b800_0_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Concept before API; no .then() until the model is in place.</a:t>
            </a:r>
          </a:p>
        </p:txBody>
      </p:sp>
      <p:sp>
        <p:nvSpPr>
          <p:cNvPr id="141" name="Google Shape;141;g3daffe9b800_0_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daffe9b800_0_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6" name="Google Shape;146;g3daffe9b800_0_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Settles once, never back to pending.</a:t>
            </a:r>
          </a:p>
        </p:txBody>
      </p:sp>
      <p:sp>
        <p:nvSpPr>
          <p:cNvPr id="147" name="Google Shape;147;g3daffe9b800_0_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3daffe9b800_0_15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g3daffe9b800_0_15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Recognize only, we won't write it. Each .then() returns a new promise.</a:t>
            </a:r>
          </a:p>
        </p:txBody>
      </p:sp>
      <p:sp>
        <p:nvSpPr>
          <p:cNvPr id="154" name="Google Shape;154;g3daffe9b800_0_15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daffe9b800_0_1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2" name="Google Shape;162;g3daffe9b800_0_1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Recognize only, we won't write it. Each .then() returns a new promise.</a:t>
            </a:r>
          </a:p>
        </p:txBody>
      </p:sp>
      <p:sp>
        <p:nvSpPr>
          <p:cNvPr id="163" name="Google Shape;163;g3daffe9b800_0_1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daffe9b800_0_1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1" name="Google Shape;171;g3daffe9b800_0_1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Recognize only, we won't write it. Each .then() returns a new promise.</a:t>
            </a:r>
          </a:p>
        </p:txBody>
      </p:sp>
      <p:sp>
        <p:nvSpPr>
          <p:cNvPr id="172" name="Google Shape;172;g3daffe9b800_0_1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affe9b800_0_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0" name="Google Shape;180;g3daffe9b800_0_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Recognize only, we won't write it. Each .then() returns a new promise.</a:t>
            </a:r>
          </a:p>
        </p:txBody>
      </p:sp>
      <p:sp>
        <p:nvSpPr>
          <p:cNvPr id="181" name="Google Shape;181;g3daffe9b800_0_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g3daffe9b800_0_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9" name="Google Shape;189;g3daffe9b800_0_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If asked why .then() still exists: the language can't delete things.</a:t>
            </a:r>
          </a:p>
        </p:txBody>
      </p:sp>
      <p:sp>
        <p:nvSpPr>
          <p:cNvPr id="190" name="Google Shape;190;g3daffe9b800_0_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6" name="Google Shape;196;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p:txBody>
      </p:sp>
      <p:sp>
        <p:nvSpPr>
          <p:cNvPr id="197" name="Google Shape;197;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3daffe9b800_0_2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2" name="Google Shape;202;g3daffe9b800_0_2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Rule 3 workaround: `(async () =&gt; { ... })()`. Error message is clear.</a:t>
            </a:r>
          </a:p>
        </p:txBody>
      </p:sp>
      <p:sp>
        <p:nvSpPr>
          <p:cNvPr id="203" name="Google Shape;203;g3daffe9b800_0_2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daffe9b800_0_2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9" name="Google Shape;209;g3daffe9b800_0_2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Rule 3 workaround: `(async () =&gt; { ... })()`. Error message is clear.</a:t>
            </a:r>
          </a:p>
        </p:txBody>
      </p:sp>
      <p:sp>
        <p:nvSpPr>
          <p:cNvPr id="210" name="Google Shape;210;g3daffe9b800_0_2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 name="Google Shape;216;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Rule 3 workaround: `(async () =&gt; { ... })()`. Error message is clear.</a:t>
            </a:r>
          </a:p>
        </p:txBody>
      </p:sp>
      <p:sp>
        <p:nvSpPr>
          <p:cNvPr id="217" name="Google Shape;217;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daffe9b800_0_17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g3daffe9b800_0_17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Point at `data` staying in scope after the second await.</a:t>
            </a:r>
          </a:p>
        </p:txBody>
      </p:sp>
      <p:sp>
        <p:nvSpPr>
          <p:cNvPr id="224" name="Google Shape;224;g3daffe9b800_0_17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2" name="Google Shape;232;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Point at `data` staying in scope after the second await.</a:t>
            </a:r>
          </a:p>
        </p:txBody>
      </p:sp>
      <p:sp>
        <p:nvSpPr>
          <p:cNvPr id="233" name="Google Shape;233;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3" name="Google Shape;243;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Debugging angle: a hung fetch parks one function, page stays live.</a:t>
            </a:r>
          </a:p>
        </p:txBody>
      </p:sp>
      <p:sp>
        <p:nvSpPr>
          <p:cNvPr id="244" name="Google Shape;244;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daffe9b800_0_19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0" name="Google Shape;250;g3daffe9b800_0_19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Ask what happens if clicked twice before doWork finishes.</a:t>
            </a:r>
          </a:p>
        </p:txBody>
      </p:sp>
      <p:sp>
        <p:nvSpPr>
          <p:cNvPr id="251" name="Google Shape;251;g3daffe9b800_0_19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g3daffe9b800_0_18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9" name="Google Shape;259;g3daffe9b800_0_18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0" name="Google Shape;260;g3daffe9b800_0_18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8" name="Google Shape;268;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p:txBody>
      </p:sp>
      <p:sp>
        <p:nvSpPr>
          <p:cNvPr id="269" name="Google Shape;269;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4" name="Google Shape;274;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Matches the wire: HTTP sends headers, then streams the body.</a:t>
            </a:r>
          </a:p>
        </p:txBody>
      </p:sp>
      <p:sp>
        <p:nvSpPr>
          <p:cNvPr id="275" name="Google Shape;275;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1" name="Google Shape;281;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`response.ok` gets its own slide later. `Message[]`: define the interface in a shared file.</a:t>
            </a:r>
          </a:p>
        </p:txBody>
      </p:sp>
      <p:sp>
        <p:nvSpPr>
          <p:cNvPr id="282" name="Google Shape;282;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0" name="Google Shape;290;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Body is a string, stringify yourself. Missing Content-Type header gives a FastAPI 422.</a:t>
            </a:r>
          </a:p>
        </p:txBody>
      </p:sp>
      <p:sp>
        <p:nvSpPr>
          <p:cNvPr id="291" name="Google Shape;291;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daffe9b800_0_20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g3daffe9b800_0_20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`ok` means 200-299. Ask: so when does fetch throw? Check agent output for this.</a:t>
            </a:r>
          </a:p>
        </p:txBody>
      </p:sp>
      <p:sp>
        <p:nvSpPr>
          <p:cNvPr id="300" name="Google Shape;300;g3daffe9b800_0_20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3daffe9b800_0_2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6" name="Google Shape;306;g3daffe9b800_0_2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`ok` means 200-299. Ask: so when does fetch throw? Check agent output for this.</a:t>
            </a:r>
          </a:p>
        </p:txBody>
      </p:sp>
      <p:sp>
        <p:nvSpPr>
          <p:cNvPr id="307" name="Google Shape;307;g3daffe9b800_0_2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3" name="Google Shape;313;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`ok` means 200-299. Ask: so when does fetch throw? Check agent output for this.</a:t>
            </a:r>
          </a:p>
        </p:txBody>
      </p:sp>
      <p:sp>
        <p:nvSpPr>
          <p:cNvPr id="314" name="Google Shape;314;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g3daffe9b800_0_2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0" name="Google Shape;320;g3daffe9b800_0_2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Ask for failure modes before showing each.</a:t>
            </a:r>
          </a:p>
        </p:txBody>
      </p:sp>
      <p:sp>
        <p:nvSpPr>
          <p:cNvPr id="321" name="Google Shape;321;g3daffe9b800_0_2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7" name="Google Shape;327;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Ask for failure modes before showing each.</a:t>
            </a:r>
          </a:p>
        </p:txBody>
      </p:sp>
      <p:sp>
        <p:nvSpPr>
          <p:cNvPr id="328" name="Google Shape;328;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4" name="Google Shape;334;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Order matters: `ok` check before `.json()`, or you parse an error page.</a:t>
            </a:r>
          </a:p>
        </p:txBody>
      </p:sp>
      <p:sp>
        <p:nvSpPr>
          <p:cNvPr id="335" name="Google Shape;335;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3" name="Google Shape;343;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p:txBody>
      </p:sp>
      <p:sp>
        <p:nvSpPr>
          <p:cNvPr id="344" name="Google Shape;344;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3daffe9b800_0_3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9" name="Google Shape;349;g3daffe9b800_0_3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Draw the timeline: t0 Active, t1 All, t2 All returns, t3 Active clobbers.</a:t>
            </a:r>
          </a:p>
        </p:txBody>
      </p:sp>
      <p:sp>
        <p:nvSpPr>
          <p:cNvPr id="350" name="Google Shape;350;g3daffe9b800_0_3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6" name="Google Shape;356;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Draw the timeline: t0 Active, t1 All, t2 All returns, t3 Active clobbers.</a:t>
            </a:r>
          </a:p>
        </p:txBody>
      </p:sp>
      <p:sp>
        <p:nvSpPr>
          <p:cNvPr id="357" name="Google Shape;357;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g3daffe9b800_0_24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3" name="Google Shape;363;g3daffe9b800_0_24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Same shape as React useEffect cleanup next class. Alternative: request id, ignore stale.</a:t>
            </a:r>
          </a:p>
        </p:txBody>
      </p:sp>
      <p:sp>
        <p:nvSpPr>
          <p:cNvPr id="364" name="Google Shape;364;g3daffe9b800_0_24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g3daffe9b800_0_2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2" name="Google Shape;372;g3daffe9b800_0_2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Same shape as React useEffect cleanup next class. Alternative: request id, ignore stale.</a:t>
            </a:r>
          </a:p>
        </p:txBody>
      </p:sp>
      <p:sp>
        <p:nvSpPr>
          <p:cNvPr id="373" name="Google Shape;373;g3daffe9b800_0_23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1" name="Google Shape;381;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Same shape as React useEffect cleanup next class. Alternative: request id, ignore stale.</a:t>
            </a:r>
          </a:p>
        </p:txBody>
      </p:sp>
      <p:sp>
        <p:nvSpPr>
          <p:cNvPr id="382" name="Google Shape;382;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0" name="Google Shape;390;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Answers: fetch, !response.ok, json(), createElement("li"), todo.title, append.</a:t>
            </a:r>
          </a:p>
          <a:p/>
          <a:p>
            <a:r>
              <a:t>json()</a:t>
            </a:r>
          </a:p>
          <a:p>
            <a:r>
              <a:t>document.createElement(“li”)</a:t>
            </a:r>
          </a:p>
        </p:txBody>
      </p:sp>
      <p:sp>
        <p:nvSpPr>
          <p:cNvPr id="391" name="Google Shape;391;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9" name="Google Shape;39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Only the combination is new.</a:t>
            </a:r>
          </a:p>
        </p:txBody>
      </p:sp>
      <p:sp>
        <p:nvSpPr>
          <p:cNvPr id="400" name="Google Shape;400;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8" name="Google Shape;408;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Answers: method "POST", JSON.stringify, !response.ok, json(), createElement("li"), append.</a:t>
            </a:r>
          </a:p>
          <a:p/>
          <a:p>
            <a:r>
              <a:t>method: POST</a:t>
            </a:r>
          </a:p>
          <a:p>
            <a:r>
              <a:t>JSON.stringify</a:t>
            </a:r>
          </a:p>
          <a:p>
            <a:r>
              <a:t>!response.ok</a:t>
            </a:r>
          </a:p>
          <a:p>
            <a:r>
              <a:t>json()</a:t>
            </a:r>
          </a:p>
          <a:p>
            <a:r>
              <a:t>document.createElement(“li”)</a:t>
            </a:r>
          </a:p>
        </p:txBody>
      </p:sp>
      <p:sp>
        <p:nvSpPr>
          <p:cNvPr id="409" name="Google Shape;409;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7" name="Google Shape;417;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Trust `created.title` over `input.value`: server may trim, assigns the id.</a:t>
            </a:r>
          </a:p>
        </p:txBody>
      </p:sp>
      <p:sp>
        <p:nvSpPr>
          <p:cNvPr id="418" name="Google Shape;418;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6" name="Google Shape;426;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AbortController is useEffect cleanup in 6.1. Re-render was the manual part today.</a:t>
            </a:r>
          </a:p>
        </p:txBody>
      </p:sp>
      <p:sp>
        <p:nvSpPr>
          <p:cNvPr id="427" name="Google Shape;427;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g3daffe9b800_0_25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g3daffe9b800_0_25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Ask: imagine fifteen dependent elements instead of three. Miss one, UI is wrong.</a:t>
            </a:r>
          </a:p>
        </p:txBody>
      </p:sp>
      <p:sp>
        <p:nvSpPr>
          <p:cNvPr id="434" name="Google Shape;434;g3daffe9b800_0_25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g3daffe9b800_0_3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2" name="Google Shape;442;g3daffe9b800_0_3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AbortController is useEffect cleanup in 6.1. Re-render was the manual part today.</a:t>
            </a:r>
          </a:p>
        </p:txBody>
      </p:sp>
      <p:sp>
        <p:nvSpPr>
          <p:cNvPr id="443" name="Google Shape;443;g3daffe9b800_0_33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1"/>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1"/>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3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32"/>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33"/>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33"/>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3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3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3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3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34"/>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34"/>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3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3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3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3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35"/>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35"/>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35"/>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35"/>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3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3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3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3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3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3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3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37"/>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37"/>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37"/>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3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3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3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8"/>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8"/>
          <p:cNvSpPr/>
          <p:nvPr>
            <p:ph idx="2" type="pic"/>
          </p:nvPr>
        </p:nvSpPr>
        <p:spPr>
          <a:xfrm>
            <a:off x="1792288" y="612775"/>
            <a:ext cx="5486400" cy="4114800"/>
          </a:xfrm>
          <a:prstGeom prst="rect">
            <a:avLst/>
          </a:prstGeom>
          <a:noFill/>
          <a:ln>
            <a:noFill/>
          </a:ln>
        </p:spPr>
      </p:sp>
      <p:sp>
        <p:nvSpPr>
          <p:cNvPr id="64" name="Google Shape;64;p38"/>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3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9"/>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40"/>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40"/>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4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4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4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9"/>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5B21B6"/>
                </a:solidFill>
                <a:latin typeface="Calibri"/>
                <a:ea typeface="Calibri"/>
                <a:cs typeface="Calibri"/>
                <a:sym typeface="Calibri"/>
              </a:rPr>
              <a:t>Lecture 5.2</a:t>
            </a:r>
            <a:endParaRPr/>
          </a:p>
        </p:txBody>
      </p:sp>
      <p:sp>
        <p:nvSpPr>
          <p:cNvPr id="87" name="Google Shape;87;p1"/>
          <p:cNvSpPr txBox="1"/>
          <p:nvPr/>
        </p:nvSpPr>
        <p:spPr>
          <a:xfrm>
            <a:off x="914400" y="2468880"/>
            <a:ext cx="10362895" cy="1828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4800" u="none" cap="none" strike="noStrike">
                <a:solidFill>
                  <a:srgbClr val="1A1A2E"/>
                </a:solidFill>
                <a:latin typeface="Calibri"/>
                <a:ea typeface="Calibri"/>
                <a:cs typeface="Calibri"/>
                <a:sym typeface="Calibri"/>
              </a:rPr>
              <a:t>Talking to Your Server</a:t>
            </a:r>
            <a:endParaRPr/>
          </a:p>
        </p:txBody>
      </p:sp>
      <p:sp>
        <p:nvSpPr>
          <p:cNvPr id="88" name="Google Shape;88;p1"/>
          <p:cNvSpPr txBox="1"/>
          <p:nvPr/>
        </p:nvSpPr>
        <p:spPr>
          <a:xfrm>
            <a:off x="914400" y="4754880"/>
            <a:ext cx="1036289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u="none" cap="none" strike="noStrik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 name="Shape 93"/>
        <p:cNvGrpSpPr/>
        <p:nvPr/>
      </p:nvGrpSpPr>
      <p:grpSpPr>
        <a:xfrm>
          <a:off x="0" y="0"/>
          <a:ext cx="0" cy="0"/>
          <a:chOff x="0" y="0"/>
          <a:chExt cx="0" cy="0"/>
        </a:xfrm>
      </p:grpSpPr>
      <p:sp>
        <p:nvSpPr>
          <p:cNvPr id="94" name="Google Shape;94;g3daffe9b800_0_352"/>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To recap</a:t>
            </a:r>
            <a:endParaRPr/>
          </a:p>
        </p:txBody>
      </p:sp>
      <p:sp>
        <p:nvSpPr>
          <p:cNvPr id="95" name="Google Shape;95;g3daffe9b800_0_352"/>
          <p:cNvSpPr txBox="1"/>
          <p:nvPr/>
        </p:nvSpPr>
        <p:spPr>
          <a:xfrm>
            <a:off x="914388" y="1188815"/>
            <a:ext cx="10362900" cy="4663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JavaScript is a ten-day language given a browser to mutate.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Read it with empathy for the constraints; use the modern way.</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`let` and `const`. Never `var`.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 Never `==` (except `x == null`).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`.map()` / `.filter()` / `.reduce()` instead of `for` loops.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TypeScript. Annotate at boundaries; let inference do the rest.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Mutate the DOM via `textContent` and `createElement`, not `innerHTML`.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Register callbacks with `addEventListener`.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Next: a way to talk to your </a:t>
            </a:r>
            <a:r>
              <a:rPr lang="en-US" sz="2400">
                <a:solidFill>
                  <a:srgbClr val="333344"/>
                </a:solidFill>
                <a:latin typeface="Calibri"/>
                <a:ea typeface="Calibri"/>
                <a:cs typeface="Calibri"/>
                <a:sym typeface="Calibri"/>
              </a:rPr>
              <a:t>webserver.</a:t>
            </a:r>
            <a:endParaRPr/>
          </a:p>
          <a:p>
            <a:pPr indent="0" lvl="1" marL="457200" marR="0" rtl="0" algn="l">
              <a:spcBef>
                <a:spcPts val="600"/>
              </a:spcBef>
              <a:spcAft>
                <a:spcPts val="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00" name="Shape 100"/>
        <p:cNvGrpSpPr/>
        <p:nvPr/>
      </p:nvGrpSpPr>
      <p:grpSpPr>
        <a:xfrm>
          <a:off x="0" y="0"/>
          <a:ext cx="0" cy="0"/>
          <a:chOff x="0" y="0"/>
          <a:chExt cx="0" cy="0"/>
        </a:xfrm>
      </p:grpSpPr>
      <p:sp>
        <p:nvSpPr>
          <p:cNvPr id="101" name="Google Shape;101;g3daffe9b800_0_0"/>
          <p:cNvSpPr txBox="1"/>
          <p:nvPr/>
        </p:nvSpPr>
        <p:spPr>
          <a:xfrm>
            <a:off x="914400" y="2286000"/>
            <a:ext cx="10362900" cy="769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Code That Has to Wait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 name="Shape 106"/>
        <p:cNvGrpSpPr/>
        <p:nvPr/>
      </p:nvGrpSpPr>
      <p:grpSpPr>
        <a:xfrm>
          <a:off x="0" y="0"/>
          <a:ext cx="0" cy="0"/>
          <a:chOff x="0" y="0"/>
          <a:chExt cx="0" cy="0"/>
        </a:xfrm>
      </p:grpSpPr>
      <p:sp>
        <p:nvSpPr>
          <p:cNvPr id="107" name="Google Shape;107;g3daffe9b800_0_124"/>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third thing the browser gives you</a:t>
            </a:r>
            <a:endParaRPr/>
          </a:p>
        </p:txBody>
      </p:sp>
      <p:sp>
        <p:nvSpPr>
          <p:cNvPr id="108" name="Google Shape;108;g3daffe9b800_0_124"/>
          <p:cNvSpPr txBox="1"/>
          <p:nvPr/>
        </p:nvSpPr>
        <p:spPr>
          <a:xfrm>
            <a:off x="914400" y="1463040"/>
            <a:ext cx="10362900" cy="190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rgbClr val="333344"/>
                </a:solidFill>
                <a:latin typeface="Calibri"/>
                <a:ea typeface="Calibri"/>
                <a:cs typeface="Calibri"/>
                <a:sym typeface="Calibri"/>
              </a:rPr>
              <a:t>To recap,</a:t>
            </a:r>
            <a:r>
              <a:rPr b="0" i="0" lang="en-US" sz="2400" u="none" cap="none" strike="noStrike">
                <a:solidFill>
                  <a:srgbClr val="333344"/>
                </a:solidFill>
                <a:latin typeface="Calibri"/>
                <a:ea typeface="Calibri"/>
                <a:cs typeface="Calibri"/>
                <a:sym typeface="Calibri"/>
              </a:rPr>
              <a:t> we said the browser gives your JavaScript three things:</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1.</a:t>
            </a:r>
            <a:r>
              <a:rPr b="0" i="0" lang="en-US" sz="2000" u="none" cap="none" strike="noStrike">
                <a:solidFill>
                  <a:srgbClr val="666677"/>
                </a:solidFill>
                <a:latin typeface="Calibri"/>
                <a:ea typeface="Calibri"/>
                <a:cs typeface="Calibri"/>
                <a:sym typeface="Calibri"/>
              </a:rPr>
              <a:t> A document you can read and mutate (the DOM)</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2.</a:t>
            </a:r>
            <a:r>
              <a:rPr b="0" i="0" lang="en-US" sz="2000" u="none" cap="none" strike="noStrike">
                <a:solidFill>
                  <a:srgbClr val="666677"/>
                </a:solidFill>
                <a:latin typeface="Calibri"/>
                <a:ea typeface="Calibri"/>
                <a:cs typeface="Calibri"/>
                <a:sym typeface="Calibri"/>
              </a:rPr>
              <a:t> Events for responding to user input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3.</a:t>
            </a:r>
            <a:r>
              <a:rPr b="0" i="0" lang="en-US" sz="2000" u="none" cap="none" strike="noStrike">
                <a:solidFill>
                  <a:srgbClr val="666677"/>
                </a:solidFill>
                <a:latin typeface="Calibri"/>
                <a:ea typeface="Calibri"/>
                <a:cs typeface="Calibri"/>
                <a:sym typeface="Calibri"/>
              </a:rPr>
              <a:t> A way to talk to a server without reloading the page</a:t>
            </a:r>
            <a:endParaRPr/>
          </a:p>
          <a:p>
            <a:pPr indent="0" lvl="0" marL="0" marR="0" rtl="0" algn="l">
              <a:spcBef>
                <a:spcPts val="60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 name="Shape 113"/>
        <p:cNvGrpSpPr/>
        <p:nvPr/>
      </p:nvGrpSpPr>
      <p:grpSpPr>
        <a:xfrm>
          <a:off x="0" y="0"/>
          <a:ext cx="0" cy="0"/>
          <a:chOff x="0" y="0"/>
          <a:chExt cx="0" cy="0"/>
        </a:xfrm>
      </p:grpSpPr>
      <p:sp>
        <p:nvSpPr>
          <p:cNvPr id="114" name="Google Shape;114;g3daffe9b800_0_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third thing the browser gives you</a:t>
            </a:r>
            <a:endParaRPr/>
          </a:p>
        </p:txBody>
      </p:sp>
      <p:sp>
        <p:nvSpPr>
          <p:cNvPr id="115" name="Google Shape;115;g3daffe9b800_0_5"/>
          <p:cNvSpPr txBox="1"/>
          <p:nvPr/>
        </p:nvSpPr>
        <p:spPr>
          <a:xfrm>
            <a:off x="914400" y="1463040"/>
            <a:ext cx="10362900" cy="4556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rgbClr val="333344"/>
                </a:solidFill>
                <a:latin typeface="Calibri"/>
                <a:ea typeface="Calibri"/>
                <a:cs typeface="Calibri"/>
                <a:sym typeface="Calibri"/>
              </a:rPr>
              <a:t>To recap,</a:t>
            </a:r>
            <a:r>
              <a:rPr b="0" i="0" lang="en-US" sz="2400" u="none" cap="none" strike="noStrike">
                <a:solidFill>
                  <a:srgbClr val="333344"/>
                </a:solidFill>
                <a:latin typeface="Calibri"/>
                <a:ea typeface="Calibri"/>
                <a:cs typeface="Calibri"/>
                <a:sym typeface="Calibri"/>
              </a:rPr>
              <a:t> we said the browser gives your JavaScript three things:</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sngStrike">
                <a:solidFill>
                  <a:srgbClr val="666677"/>
                </a:solidFill>
                <a:latin typeface="Calibri"/>
                <a:ea typeface="Calibri"/>
                <a:cs typeface="Calibri"/>
                <a:sym typeface="Calibri"/>
              </a:rPr>
              <a:t>  </a:t>
            </a:r>
            <a:r>
              <a:rPr b="1" i="0" lang="en-US" sz="2000" u="none" cap="none" strike="sngStrike">
                <a:solidFill>
                  <a:srgbClr val="666677"/>
                </a:solidFill>
                <a:latin typeface="Calibri"/>
                <a:ea typeface="Calibri"/>
                <a:cs typeface="Calibri"/>
                <a:sym typeface="Calibri"/>
              </a:rPr>
              <a:t>1.</a:t>
            </a:r>
            <a:r>
              <a:rPr b="0" i="0" lang="en-US" sz="2000" u="none" cap="none" strike="sngStrike">
                <a:solidFill>
                  <a:srgbClr val="666677"/>
                </a:solidFill>
                <a:latin typeface="Calibri"/>
                <a:ea typeface="Calibri"/>
                <a:cs typeface="Calibri"/>
                <a:sym typeface="Calibri"/>
              </a:rPr>
              <a:t> A document you can read and mutate (the DOM)</a:t>
            </a:r>
            <a:endParaRPr strike="sngStrike"/>
          </a:p>
          <a:p>
            <a:pPr indent="0" lvl="1" marL="457200" marR="0" rtl="0" algn="l">
              <a:spcBef>
                <a:spcPts val="600"/>
              </a:spcBef>
              <a:spcAft>
                <a:spcPts val="0"/>
              </a:spcAft>
              <a:buNone/>
            </a:pPr>
            <a:r>
              <a:rPr b="0" i="0" lang="en-US" sz="2000" u="none" cap="none" strike="sngStrike">
                <a:solidFill>
                  <a:srgbClr val="666677"/>
                </a:solidFill>
                <a:latin typeface="Calibri"/>
                <a:ea typeface="Calibri"/>
                <a:cs typeface="Calibri"/>
                <a:sym typeface="Calibri"/>
              </a:rPr>
              <a:t>  </a:t>
            </a:r>
            <a:r>
              <a:rPr b="1" i="0" lang="en-US" sz="2000" u="none" cap="none" strike="sngStrike">
                <a:solidFill>
                  <a:srgbClr val="666677"/>
                </a:solidFill>
                <a:latin typeface="Calibri"/>
                <a:ea typeface="Calibri"/>
                <a:cs typeface="Calibri"/>
                <a:sym typeface="Calibri"/>
              </a:rPr>
              <a:t>2.</a:t>
            </a:r>
            <a:r>
              <a:rPr b="0" i="0" lang="en-US" sz="2000" u="none" cap="none" strike="sngStrike">
                <a:solidFill>
                  <a:srgbClr val="666677"/>
                </a:solidFill>
                <a:latin typeface="Calibri"/>
                <a:ea typeface="Calibri"/>
                <a:cs typeface="Calibri"/>
                <a:sym typeface="Calibri"/>
              </a:rPr>
              <a:t> Events for responding to user input</a:t>
            </a:r>
            <a:endParaRPr strike="sngStrike"/>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3.</a:t>
            </a:r>
            <a:r>
              <a:rPr b="0" i="0" lang="en-US" sz="2000" u="none" cap="none" strike="noStrike">
                <a:solidFill>
                  <a:srgbClr val="666677"/>
                </a:solidFill>
                <a:latin typeface="Calibri"/>
                <a:ea typeface="Calibri"/>
                <a:cs typeface="Calibri"/>
                <a:sym typeface="Calibri"/>
              </a:rPr>
              <a:t> A way to talk to a server without reloading the page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We did the first two. </a:t>
            </a:r>
            <a:r>
              <a:rPr lang="en-US" sz="2400">
                <a:solidFill>
                  <a:srgbClr val="333344"/>
                </a:solidFill>
                <a:latin typeface="Calibri"/>
                <a:ea typeface="Calibri"/>
                <a:cs typeface="Calibri"/>
                <a:sym typeface="Calibri"/>
              </a:rPr>
              <a:t>Now to talk about</a:t>
            </a:r>
            <a:r>
              <a:rPr b="0" i="0" lang="en-US" sz="2400" u="none" cap="none" strike="noStrike">
                <a:solidFill>
                  <a:srgbClr val="333344"/>
                </a:solidFill>
                <a:latin typeface="Calibri"/>
                <a:ea typeface="Calibri"/>
                <a:cs typeface="Calibri"/>
                <a:sym typeface="Calibri"/>
              </a:rPr>
              <a:t> the third</a:t>
            </a:r>
            <a:endParaRPr sz="2400">
              <a:solidFill>
                <a:srgbClr val="333344"/>
              </a:solidFill>
              <a:latin typeface="Calibri"/>
              <a:ea typeface="Calibri"/>
              <a:cs typeface="Calibri"/>
              <a:sym typeface="Calibri"/>
            </a:endParaRPr>
          </a:p>
          <a:p>
            <a:pPr indent="457200" lvl="0" marL="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I</a:t>
            </a:r>
            <a:r>
              <a:rPr b="0" i="0" lang="en-US" sz="2000" u="none" cap="none" strike="noStrike">
                <a:solidFill>
                  <a:srgbClr val="666677"/>
                </a:solidFill>
                <a:latin typeface="Calibri"/>
                <a:ea typeface="Calibri"/>
                <a:cs typeface="Calibri"/>
                <a:sym typeface="Calibri"/>
              </a:rPr>
              <a:t>t</a:t>
            </a:r>
            <a:r>
              <a:rPr lang="en-US" sz="2000">
                <a:solidFill>
                  <a:srgbClr val="666677"/>
                </a:solidFill>
                <a:latin typeface="Calibri"/>
                <a:ea typeface="Calibri"/>
                <a:cs typeface="Calibri"/>
                <a:sym typeface="Calibri"/>
              </a:rPr>
              <a:t>’s </a:t>
            </a:r>
            <a:r>
              <a:rPr b="0" i="0" lang="en-US" sz="2000" u="none" cap="none" strike="noStrike">
                <a:solidFill>
                  <a:srgbClr val="666677"/>
                </a:solidFill>
                <a:latin typeface="Calibri"/>
                <a:ea typeface="Calibri"/>
                <a:cs typeface="Calibri"/>
                <a:sym typeface="Calibri"/>
              </a:rPr>
              <a:t>different from everything else you've done in this course.</a:t>
            </a:r>
            <a:endParaRPr/>
          </a:p>
          <a:p>
            <a:pPr indent="0" lvl="1" marL="0" marR="0" rtl="0" algn="l">
              <a:spcBef>
                <a:spcPts val="600"/>
              </a:spcBef>
              <a:spcAft>
                <a:spcPts val="0"/>
              </a:spcAft>
              <a:buNone/>
            </a:pPr>
            <a:r>
              <a:t/>
            </a:r>
            <a:endParaRPr sz="2000">
              <a:solidFill>
                <a:srgbClr val="666677"/>
              </a:solidFill>
              <a:latin typeface="Calibri"/>
              <a:ea typeface="Calibri"/>
              <a:cs typeface="Calibri"/>
              <a:sym typeface="Calibri"/>
            </a:endParaRPr>
          </a:p>
          <a:p>
            <a:pPr indent="0" lvl="1" marL="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400">
                <a:solidFill>
                  <a:srgbClr val="333344"/>
                </a:solidFill>
                <a:latin typeface="Calibri"/>
                <a:ea typeface="Calibri"/>
                <a:cs typeface="Calibri"/>
                <a:sym typeface="Calibri"/>
              </a:rPr>
              <a:t>Network requests can return in milliseconds, seconds, or </a:t>
            </a:r>
            <a:r>
              <a:rPr b="1" lang="en-US" sz="2400">
                <a:solidFill>
                  <a:srgbClr val="333344"/>
                </a:solidFill>
                <a:latin typeface="Calibri"/>
                <a:ea typeface="Calibri"/>
                <a:cs typeface="Calibri"/>
                <a:sym typeface="Calibri"/>
              </a:rPr>
              <a:t>never</a:t>
            </a:r>
            <a:endParaRPr sz="2400">
              <a:solidFill>
                <a:srgbClr val="333344"/>
              </a:solidFill>
              <a:latin typeface="Calibri"/>
              <a:ea typeface="Calibri"/>
              <a:cs typeface="Calibri"/>
              <a:sym typeface="Calibri"/>
            </a:endParaRPr>
          </a:p>
          <a:p>
            <a:pPr indent="0" lvl="1" marL="0" marR="0" rtl="0" algn="l">
              <a:spcBef>
                <a:spcPts val="600"/>
              </a:spcBef>
              <a:spcAft>
                <a:spcPts val="0"/>
              </a:spcAft>
              <a:buNone/>
            </a:pPr>
            <a:r>
              <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So control flow has to change.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g3daffe9b800_0_433"/>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Why you can't just block and wait</a:t>
            </a:r>
            <a:endParaRPr/>
          </a:p>
        </p:txBody>
      </p:sp>
      <p:sp>
        <p:nvSpPr>
          <p:cNvPr id="122" name="Google Shape;122;g3daffe9b800_0_433"/>
          <p:cNvSpPr txBox="1"/>
          <p:nvPr/>
        </p:nvSpPr>
        <p:spPr>
          <a:xfrm>
            <a:off x="914400" y="1463040"/>
            <a:ext cx="10362900" cy="2293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Imagine JavaScript had a </a:t>
            </a:r>
            <a:r>
              <a:rPr b="1" i="0" lang="en-US" sz="2400" u="none" cap="none" strike="noStrike">
                <a:solidFill>
                  <a:srgbClr val="333344"/>
                </a:solidFill>
                <a:latin typeface="Courier Prime"/>
                <a:ea typeface="Courier Prime"/>
                <a:cs typeface="Courier Prime"/>
                <a:sym typeface="Courier Prime"/>
              </a:rPr>
              <a:t>fetchSync()</a:t>
            </a:r>
            <a:r>
              <a:rPr i="0" lang="en-US" sz="2400" u="none" cap="none" strike="noStrike">
                <a:solidFill>
                  <a:srgbClr val="333344"/>
                </a:solidFill>
                <a:latin typeface="Courier Prime"/>
                <a:ea typeface="Courier Prime"/>
                <a:cs typeface="Courier Prime"/>
                <a:sym typeface="Courier Prime"/>
              </a:rPr>
              <a:t> </a:t>
            </a:r>
            <a:r>
              <a:rPr b="0" i="0" lang="en-US" sz="2400" u="none" cap="none" strike="noStrike">
                <a:solidFill>
                  <a:srgbClr val="333344"/>
                </a:solidFill>
                <a:latin typeface="Calibri"/>
                <a:ea typeface="Calibri"/>
                <a:cs typeface="Calibri"/>
                <a:sym typeface="Calibri"/>
              </a:rPr>
              <a:t>that worked like Python's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requests.get()</a:t>
            </a:r>
            <a:r>
              <a:rPr b="0" i="0" lang="en-US" sz="2000" u="none" cap="none" strike="noStrike">
                <a:solidFill>
                  <a:srgbClr val="666677"/>
                </a:solidFill>
                <a:latin typeface="Calibri"/>
                <a:ea typeface="Calibri"/>
                <a:cs typeface="Calibri"/>
                <a:sym typeface="Calibri"/>
              </a:rPr>
              <a:t>` - call it, wait for the answer, move on.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const messages = fetchSync("/api/messages");</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console.log(messages);</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 name="Shape 127"/>
        <p:cNvGrpSpPr/>
        <p:nvPr/>
      </p:nvGrpSpPr>
      <p:grpSpPr>
        <a:xfrm>
          <a:off x="0" y="0"/>
          <a:ext cx="0" cy="0"/>
          <a:chOff x="0" y="0"/>
          <a:chExt cx="0" cy="0"/>
        </a:xfrm>
      </p:grpSpPr>
      <p:sp>
        <p:nvSpPr>
          <p:cNvPr id="128" name="Google Shape;128;g3daffe9b800_0_11"/>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Why you can't just block and wait</a:t>
            </a:r>
            <a:endParaRPr/>
          </a:p>
        </p:txBody>
      </p:sp>
      <p:sp>
        <p:nvSpPr>
          <p:cNvPr id="129" name="Google Shape;129;g3daffe9b800_0_11"/>
          <p:cNvSpPr txBox="1"/>
          <p:nvPr/>
        </p:nvSpPr>
        <p:spPr>
          <a:xfrm>
            <a:off x="914400" y="146304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Imagine JavaScript had a </a:t>
            </a:r>
            <a:r>
              <a:rPr b="1" i="0" lang="en-US" sz="2400" u="none" cap="none" strike="noStrike">
                <a:solidFill>
                  <a:srgbClr val="333344"/>
                </a:solidFill>
                <a:latin typeface="Courier Prime"/>
                <a:ea typeface="Courier Prime"/>
                <a:cs typeface="Courier Prime"/>
                <a:sym typeface="Courier Prime"/>
              </a:rPr>
              <a:t>fetchSync()</a:t>
            </a:r>
            <a:r>
              <a:rPr i="0" lang="en-US" sz="2400" u="none" cap="none" strike="noStrike">
                <a:solidFill>
                  <a:srgbClr val="333344"/>
                </a:solidFill>
                <a:latin typeface="Courier Prime"/>
                <a:ea typeface="Courier Prime"/>
                <a:cs typeface="Courier Prime"/>
                <a:sym typeface="Courier Prime"/>
              </a:rPr>
              <a:t> </a:t>
            </a:r>
            <a:r>
              <a:rPr b="0" i="0" lang="en-US" sz="2400" u="none" cap="none" strike="noStrike">
                <a:solidFill>
                  <a:srgbClr val="333344"/>
                </a:solidFill>
                <a:latin typeface="Calibri"/>
                <a:ea typeface="Calibri"/>
                <a:cs typeface="Calibri"/>
                <a:sym typeface="Calibri"/>
              </a:rPr>
              <a:t>that worked like Python's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requests.get()</a:t>
            </a:r>
            <a:r>
              <a:rPr b="0" i="0" lang="en-US" sz="2000" u="none" cap="none" strike="noStrike">
                <a:solidFill>
                  <a:srgbClr val="666677"/>
                </a:solidFill>
                <a:latin typeface="Calibri"/>
                <a:ea typeface="Calibri"/>
                <a:cs typeface="Calibri"/>
                <a:sym typeface="Calibri"/>
              </a:rPr>
              <a:t>` - call it, wait for the answer, move on.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const messages = fetchSync("/api/messages");</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console.log(messages);</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That line sits on one thread while it waits for the server, 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browser's UI is on that same thread.</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page freezes, clicks don't register, scrolling stops, 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tab shows a spinning beach ball until the server answers.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This is why `</a:t>
            </a:r>
            <a:r>
              <a:rPr b="1" i="0" lang="en-US" sz="2400" u="none" cap="none" strike="noStrike">
                <a:solidFill>
                  <a:srgbClr val="333344"/>
                </a:solidFill>
                <a:latin typeface="Courier Prime"/>
                <a:ea typeface="Courier Prime"/>
                <a:cs typeface="Courier Prime"/>
                <a:sym typeface="Courier Prime"/>
              </a:rPr>
              <a:t>fetchSync</a:t>
            </a:r>
            <a:r>
              <a:rPr b="0" i="0" lang="en-US" sz="2400" u="none" cap="none" strike="noStrike">
                <a:solidFill>
                  <a:srgbClr val="333344"/>
                </a:solidFill>
                <a:latin typeface="Calibri"/>
                <a:ea typeface="Calibri"/>
                <a:cs typeface="Calibri"/>
                <a:sym typeface="Calibri"/>
              </a:rPr>
              <a:t>` doesn't exist. The browser won't let you.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34" name="Shape 134"/>
        <p:cNvGrpSpPr/>
        <p:nvPr/>
      </p:nvGrpSpPr>
      <p:grpSpPr>
        <a:xfrm>
          <a:off x="0" y="0"/>
          <a:ext cx="0" cy="0"/>
          <a:chOff x="0" y="0"/>
          <a:chExt cx="0" cy="0"/>
        </a:xfrm>
      </p:grpSpPr>
      <p:sp>
        <p:nvSpPr>
          <p:cNvPr id="135" name="Google Shape;135;g3daffe9b800_0_17"/>
          <p:cNvSpPr txBox="1"/>
          <p:nvPr/>
        </p:nvSpPr>
        <p:spPr>
          <a:xfrm>
            <a:off x="5303520" y="457200"/>
            <a:ext cx="1584600" cy="1200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200" u="none" cap="none" strike="noStrike">
                <a:solidFill>
                  <a:srgbClr val="5B21B6"/>
                </a:solidFill>
                <a:latin typeface="Calibri"/>
                <a:ea typeface="Calibri"/>
                <a:cs typeface="Calibri"/>
                <a:sym typeface="Calibri"/>
              </a:rPr>
              <a:t>?</a:t>
            </a:r>
            <a:endParaRPr/>
          </a:p>
        </p:txBody>
      </p:sp>
      <p:sp>
        <p:nvSpPr>
          <p:cNvPr id="136" name="Google Shape;136;g3daffe9b800_0_17"/>
          <p:cNvSpPr txBox="1"/>
          <p:nvPr/>
        </p:nvSpPr>
        <p:spPr>
          <a:xfrm>
            <a:off x="1371600" y="2011680"/>
            <a:ext cx="9448500" cy="1139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400" u="none" cap="none" strike="noStrike">
                <a:solidFill>
                  <a:srgbClr val="1A1A2E"/>
                </a:solidFill>
                <a:latin typeface="Calibri"/>
                <a:ea typeface="Calibri"/>
                <a:cs typeface="Calibri"/>
                <a:sym typeface="Calibri"/>
              </a:rPr>
              <a:t>How would you design an API for a function that has to wait?</a:t>
            </a:r>
            <a:endParaRPr/>
          </a:p>
        </p:txBody>
      </p:sp>
      <p:sp>
        <p:nvSpPr>
          <p:cNvPr id="137" name="Google Shape;137;g3daffe9b800_0_17"/>
          <p:cNvSpPr txBox="1"/>
          <p:nvPr/>
        </p:nvSpPr>
        <p:spPr>
          <a:xfrm>
            <a:off x="1828800" y="4572000"/>
            <a:ext cx="8534100" cy="1108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2200" u="none" cap="none" strike="noStrike">
                <a:solidFill>
                  <a:srgbClr val="666677"/>
                </a:solidFill>
                <a:latin typeface="Calibri"/>
                <a:ea typeface="Calibri"/>
                <a:cs typeface="Calibri"/>
                <a:sym typeface="Calibri"/>
              </a:rPr>
              <a:t>The function needs to return immediately (can't block) but the answer comes later. What do you hand back to the caller? How does the caller get the real value when it arrives?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42" name="Shape 142"/>
        <p:cNvGrpSpPr/>
        <p:nvPr/>
      </p:nvGrpSpPr>
      <p:grpSpPr>
        <a:xfrm>
          <a:off x="0" y="0"/>
          <a:ext cx="0" cy="0"/>
          <a:chOff x="0" y="0"/>
          <a:chExt cx="0" cy="0"/>
        </a:xfrm>
      </p:grpSpPr>
      <p:sp>
        <p:nvSpPr>
          <p:cNvPr id="143" name="Google Shape;143;g3daffe9b800_0_24"/>
          <p:cNvSpPr txBox="1"/>
          <p:nvPr/>
        </p:nvSpPr>
        <p:spPr>
          <a:xfrm>
            <a:off x="914400" y="2286000"/>
            <a:ext cx="10362900" cy="769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Promises</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g3daffe9b800_0_29"/>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A promise is a placeholder for a future value</a:t>
            </a:r>
            <a:endParaRPr/>
          </a:p>
        </p:txBody>
      </p:sp>
      <p:sp>
        <p:nvSpPr>
          <p:cNvPr id="150" name="Google Shape;150;g3daffe9b800_0_29"/>
          <p:cNvSpPr txBox="1"/>
          <p:nvPr/>
        </p:nvSpPr>
        <p:spPr>
          <a:xfrm>
            <a:off x="914400" y="1463040"/>
            <a:ext cx="10362900" cy="5264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 </a:t>
            </a:r>
            <a:r>
              <a:rPr b="1" i="0" lang="en-US" sz="2400" u="none" cap="none" strike="noStrike">
                <a:solidFill>
                  <a:srgbClr val="333344"/>
                </a:solidFill>
                <a:latin typeface="Calibri"/>
                <a:ea typeface="Calibri"/>
                <a:cs typeface="Calibri"/>
                <a:sym typeface="Calibri"/>
              </a:rPr>
              <a:t>promise</a:t>
            </a:r>
            <a:r>
              <a:rPr b="0" i="0" lang="en-US" sz="2400" u="none" cap="none" strike="noStrike">
                <a:solidFill>
                  <a:srgbClr val="333344"/>
                </a:solidFill>
                <a:latin typeface="Calibri"/>
                <a:ea typeface="Calibri"/>
                <a:cs typeface="Calibri"/>
                <a:sym typeface="Calibri"/>
              </a:rPr>
              <a:t> is an object representing "a value that will arrive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later, or a failure that will arrive later."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Call `</a:t>
            </a:r>
            <a:r>
              <a:rPr b="1" i="0" lang="en-US" sz="2400" u="none" cap="none" strike="noStrike">
                <a:solidFill>
                  <a:srgbClr val="333344"/>
                </a:solidFill>
                <a:latin typeface="Courier Prime"/>
                <a:ea typeface="Courier Prime"/>
                <a:cs typeface="Courier Prime"/>
                <a:sym typeface="Courier Prime"/>
              </a:rPr>
              <a:t>fetch(url)</a:t>
            </a:r>
            <a:r>
              <a:rPr b="0" i="0" lang="en-US" sz="2400" u="none" cap="none" strike="noStrike">
                <a:solidFill>
                  <a:srgbClr val="333344"/>
                </a:solidFill>
                <a:latin typeface="Calibri"/>
                <a:ea typeface="Calibri"/>
                <a:cs typeface="Calibri"/>
                <a:sym typeface="Calibri"/>
              </a:rPr>
              <a:t>` and you get a promise back </a:t>
            </a:r>
            <a:r>
              <a:rPr b="1" i="0" lang="en-US" sz="2400" u="none" cap="none" strike="noStrike">
                <a:solidFill>
                  <a:srgbClr val="333344"/>
                </a:solidFill>
                <a:latin typeface="Calibri"/>
                <a:ea typeface="Calibri"/>
                <a:cs typeface="Calibri"/>
                <a:sym typeface="Calibri"/>
              </a:rPr>
              <a:t>immediately</a:t>
            </a:r>
            <a:r>
              <a:rPr b="0" i="0" lang="en-US" sz="2400" u="none" cap="none" strike="noStrike">
                <a:solidFill>
                  <a:srgbClr val="333344"/>
                </a:solidFill>
                <a:latin typeface="Calibri"/>
                <a:ea typeface="Calibri"/>
                <a:cs typeface="Calibri"/>
                <a:sym typeface="Calibri"/>
              </a:rPr>
              <a:t>. </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actual HTTP response isn't there yet. The promise is.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Three states: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Pending</a:t>
            </a:r>
            <a:r>
              <a:rPr b="0" i="0" lang="en-US" sz="2000" u="none" cap="none" strike="noStrike">
                <a:solidFill>
                  <a:srgbClr val="666677"/>
                </a:solidFill>
                <a:latin typeface="Calibri"/>
                <a:ea typeface="Calibri"/>
                <a:cs typeface="Calibri"/>
                <a:sym typeface="Calibri"/>
              </a:rPr>
              <a:t>    - still waiting for the answer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Fulfilled</a:t>
            </a:r>
            <a:r>
              <a:rPr b="0" i="0" lang="en-US" sz="2000" u="none" cap="none" strike="noStrike">
                <a:solidFill>
                  <a:srgbClr val="666677"/>
                </a:solidFill>
                <a:latin typeface="Calibri"/>
                <a:ea typeface="Calibri"/>
                <a:cs typeface="Calibri"/>
                <a:sym typeface="Calibri"/>
              </a:rPr>
              <a:t> - value arrived, ready to use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Rejected</a:t>
            </a:r>
            <a:r>
              <a:rPr b="0" i="0" lang="en-US" sz="2000" u="none" cap="none" strike="noStrike">
                <a:solidFill>
                  <a:srgbClr val="666677"/>
                </a:solidFill>
                <a:latin typeface="Calibri"/>
                <a:ea typeface="Calibri"/>
                <a:cs typeface="Calibri"/>
                <a:sym typeface="Calibri"/>
              </a:rPr>
              <a:t>  - something went wrong</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A promise starts pending and </a:t>
            </a:r>
            <a:r>
              <a:rPr b="1" i="0" lang="en-US" sz="2400" u="none" cap="none" strike="noStrike">
                <a:solidFill>
                  <a:srgbClr val="333344"/>
                </a:solidFill>
                <a:latin typeface="Calibri"/>
                <a:ea typeface="Calibri"/>
                <a:cs typeface="Calibri"/>
                <a:sym typeface="Calibri"/>
              </a:rPr>
              <a:t>settles</a:t>
            </a:r>
            <a:r>
              <a:rPr b="0" i="0" lang="en-US" sz="2400" u="none" cap="none" strike="noStrike">
                <a:solidFill>
                  <a:srgbClr val="333344"/>
                </a:solidFill>
                <a:latin typeface="Calibri"/>
                <a:ea typeface="Calibri"/>
                <a:cs typeface="Calibri"/>
                <a:sym typeface="Calibri"/>
              </a:rPr>
              <a:t> into fulfilled or rejected exactly once.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 register code to run when it settles.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 name="Shape 155"/>
        <p:cNvGrpSpPr/>
        <p:nvPr/>
      </p:nvGrpSpPr>
      <p:grpSpPr>
        <a:xfrm>
          <a:off x="0" y="0"/>
          <a:ext cx="0" cy="0"/>
          <a:chOff x="0" y="0"/>
          <a:chExt cx="0" cy="0"/>
        </a:xfrm>
      </p:grpSpPr>
      <p:sp>
        <p:nvSpPr>
          <p:cNvPr id="156" name="Google Shape;156;g3daffe9b800_0_154"/>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classic API: .then()</a:t>
            </a:r>
            <a:endParaRPr/>
          </a:p>
        </p:txBody>
      </p:sp>
      <p:sp>
        <p:nvSpPr>
          <p:cNvPr id="157" name="Google Shape;157;g3daffe9b800_0_154"/>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158" name="Google Shape;158;g3daffe9b800_0_154"/>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 name="Google Shape;159;g3daffe9b800_0_154"/>
          <p:cNvSpPr txBox="1"/>
          <p:nvPr/>
        </p:nvSpPr>
        <p:spPr>
          <a:xfrm>
            <a:off x="1005840" y="1645920"/>
            <a:ext cx="10179900" cy="2339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fetch returns a promise. .then() registers a callback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that runs when the promise fulfills.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promise = fetch("/api/messages");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promise.then((response) =&gt;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console.log("headers arrived:", response.status);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 name="Shape 164"/>
        <p:cNvGrpSpPr/>
        <p:nvPr/>
      </p:nvGrpSpPr>
      <p:grpSpPr>
        <a:xfrm>
          <a:off x="0" y="0"/>
          <a:ext cx="0" cy="0"/>
          <a:chOff x="0" y="0"/>
          <a:chExt cx="0" cy="0"/>
        </a:xfrm>
      </p:grpSpPr>
      <p:sp>
        <p:nvSpPr>
          <p:cNvPr id="165" name="Google Shape;165;g3daffe9b800_0_146"/>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classic API: .then()</a:t>
            </a:r>
            <a:endParaRPr/>
          </a:p>
        </p:txBody>
      </p:sp>
      <p:sp>
        <p:nvSpPr>
          <p:cNvPr id="166" name="Google Shape;166;g3daffe9b800_0_146"/>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167" name="Google Shape;167;g3daffe9b800_0_146"/>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 name="Google Shape;168;g3daffe9b800_0_146"/>
          <p:cNvSpPr txBox="1"/>
          <p:nvPr/>
        </p:nvSpPr>
        <p:spPr>
          <a:xfrm>
            <a:off x="1005840" y="1645920"/>
            <a:ext cx="10179900" cy="3227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fetch returns a promise. .then() registers a callback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that runs when the promise fulfills.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promise = fetch("/api/messages");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promise.then((response) =&gt;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console.log("headers arrived:", response.status);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Typical use of .then() chains parsing and further work: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fetch("/api/messages")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.then((response) =&gt; response.json())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sp>
        <p:nvSpPr>
          <p:cNvPr id="174" name="Google Shape;174;g3daffe9b800_0_130"/>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classic API: .then()</a:t>
            </a:r>
            <a:endParaRPr/>
          </a:p>
        </p:txBody>
      </p:sp>
      <p:sp>
        <p:nvSpPr>
          <p:cNvPr id="175" name="Google Shape;175;g3daffe9b800_0_130"/>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176" name="Google Shape;176;g3daffe9b800_0_130"/>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 name="Google Shape;177;g3daffe9b800_0_130"/>
          <p:cNvSpPr txBox="1"/>
          <p:nvPr/>
        </p:nvSpPr>
        <p:spPr>
          <a:xfrm>
            <a:off x="1005840" y="1645920"/>
            <a:ext cx="10179900" cy="3453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fetch returns a promise. .then() registers a callback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that runs when the promise fulfills.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promise = fetch("/api/messages");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promise.then((response) =&gt;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console.log("headers arrived:", response.status);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Typical use of .then() chains parsing and further work: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fetch("/api/messages")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.then((response) =&gt; response.json())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.then((data)      =&gt; console.log(data))</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 name="Shape 182"/>
        <p:cNvGrpSpPr/>
        <p:nvPr/>
      </p:nvGrpSpPr>
      <p:grpSpPr>
        <a:xfrm>
          <a:off x="0" y="0"/>
          <a:ext cx="0" cy="0"/>
          <a:chOff x="0" y="0"/>
          <a:chExt cx="0" cy="0"/>
        </a:xfrm>
      </p:grpSpPr>
      <p:sp>
        <p:nvSpPr>
          <p:cNvPr id="183" name="Google Shape;183;g3daffe9b800_0_35"/>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classic API: .then()</a:t>
            </a:r>
            <a:endParaRPr/>
          </a:p>
        </p:txBody>
      </p:sp>
      <p:sp>
        <p:nvSpPr>
          <p:cNvPr id="184" name="Google Shape;184;g3daffe9b800_0_35"/>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185" name="Google Shape;185;g3daffe9b800_0_35"/>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 name="Google Shape;186;g3daffe9b800_0_35"/>
          <p:cNvSpPr txBox="1"/>
          <p:nvPr/>
        </p:nvSpPr>
        <p:spPr>
          <a:xfrm>
            <a:off x="1005840" y="1645920"/>
            <a:ext cx="10179900" cy="458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fetch returns a promise. .then() registers a callback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that runs when the promise fulfills.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const promise = fetch("/api/messages");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promise.then((response) =&gt;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console.log("headers arrived:", response.status);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Typical use of .then() chains parsing and further work:</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fetch("/api/messages")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.then((response)  =&gt; response.json())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.then((data)      =&gt; console.log(data))</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.catch((err)      =&gt; console.error("fetch failed:", err));</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This works. But chains get ugly fast when logic branches.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We're going to learn a nicer way next - this slide is so you</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recognize .then() when you see it in older code.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g3daffe9b800_0_43"/>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Why we're not going to write .then() chains</a:t>
            </a:r>
            <a:endParaRPr/>
          </a:p>
        </p:txBody>
      </p:sp>
      <p:sp>
        <p:nvSpPr>
          <p:cNvPr id="193" name="Google Shape;193;g3daffe9b800_0_43"/>
          <p:cNvSpPr txBox="1"/>
          <p:nvPr/>
        </p:nvSpPr>
        <p:spPr>
          <a:xfrm>
            <a:off x="914388" y="1196565"/>
            <a:ext cx="10362900" cy="4817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t>
            </a:r>
            <a:r>
              <a:rPr b="1" i="0" lang="en-US" sz="2400" u="none" cap="none" strike="noStrike">
                <a:solidFill>
                  <a:srgbClr val="333344"/>
                </a:solidFill>
                <a:latin typeface="Courier Prime"/>
                <a:ea typeface="Courier Prime"/>
                <a:cs typeface="Courier Prime"/>
                <a:sym typeface="Courier Prime"/>
              </a:rPr>
              <a:t>.then()</a:t>
            </a:r>
            <a:r>
              <a:rPr b="0" i="0" lang="en-US" sz="2400" u="none" cap="none" strike="noStrike">
                <a:solidFill>
                  <a:srgbClr val="333344"/>
                </a:solidFill>
                <a:latin typeface="Calibri"/>
                <a:ea typeface="Calibri"/>
                <a:cs typeface="Calibri"/>
                <a:sym typeface="Calibri"/>
              </a:rPr>
              <a:t>` works. But as soon as your code has real logic, it falls apart</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Conditional branches mean nested `.then()` calls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Error handling gets spread across `.catch()` blocks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Variables from one `.then()` aren't visible in the next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Loops over async operations end up convoluted</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Modern JavaScript has </a:t>
            </a:r>
            <a:r>
              <a:rPr b="1" i="0" lang="en-US" sz="2400" u="none" cap="none" strike="noStrike">
                <a:solidFill>
                  <a:srgbClr val="333344"/>
                </a:solidFill>
                <a:latin typeface="Courier Prime"/>
                <a:ea typeface="Courier Prime"/>
                <a:cs typeface="Courier Prime"/>
                <a:sym typeface="Courier Prime"/>
              </a:rPr>
              <a:t>async/await</a:t>
            </a:r>
            <a:r>
              <a:rPr b="0" i="0" lang="en-US" sz="2400" u="none" cap="none" strike="noStrike">
                <a:solidFill>
                  <a:srgbClr val="333344"/>
                </a:solidFill>
                <a:latin typeface="Calibri"/>
                <a:ea typeface="Calibri"/>
                <a:cs typeface="Calibri"/>
                <a:sym typeface="Calibri"/>
              </a:rPr>
              <a:t>, a pair of keywords that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let you use promises with code that reads top-to-bottom, the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way you're already used to from Python.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Underneath it's still promises - just syntax that makes them</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readable. You'll write </a:t>
            </a:r>
            <a:r>
              <a:rPr b="1" i="0" lang="en-US" sz="2000" u="none" cap="none" strike="noStrike">
                <a:solidFill>
                  <a:srgbClr val="666677"/>
                </a:solidFill>
                <a:latin typeface="Courier Prime"/>
                <a:ea typeface="Courier Prime"/>
                <a:cs typeface="Courier Prime"/>
                <a:sym typeface="Courier Prime"/>
              </a:rPr>
              <a:t>async/await</a:t>
            </a:r>
            <a:r>
              <a:rPr b="1" lang="en-US" sz="2000">
                <a:solidFill>
                  <a:srgbClr val="666677"/>
                </a:solidFill>
                <a:latin typeface="Courier Prime"/>
                <a:ea typeface="Courier Prime"/>
                <a:cs typeface="Courier Prime"/>
                <a:sym typeface="Courier Prime"/>
              </a:rPr>
              <a:t> </a:t>
            </a:r>
            <a:r>
              <a:rPr b="0" i="0" lang="en-US" sz="2000" u="none" cap="none" strike="noStrike">
                <a:solidFill>
                  <a:srgbClr val="666677"/>
                </a:solidFill>
                <a:latin typeface="Calibri"/>
                <a:ea typeface="Calibri"/>
                <a:cs typeface="Calibri"/>
                <a:sym typeface="Calibri"/>
              </a:rPr>
              <a:t>for the rest of the course.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98" name="Shape 198"/>
        <p:cNvGrpSpPr/>
        <p:nvPr/>
      </p:nvGrpSpPr>
      <p:grpSpPr>
        <a:xfrm>
          <a:off x="0" y="0"/>
          <a:ext cx="0" cy="0"/>
          <a:chOff x="0" y="0"/>
          <a:chExt cx="0" cy="0"/>
        </a:xfrm>
      </p:grpSpPr>
      <p:sp>
        <p:nvSpPr>
          <p:cNvPr id="199" name="Google Shape;199;p10"/>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async and await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g3daffe9b800_0_227"/>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Three rules for async/await</a:t>
            </a:r>
            <a:endParaRPr/>
          </a:p>
        </p:txBody>
      </p:sp>
      <p:sp>
        <p:nvSpPr>
          <p:cNvPr id="206" name="Google Shape;206;g3daffe9b800_0_227"/>
          <p:cNvSpPr txBox="1"/>
          <p:nvPr/>
        </p:nvSpPr>
        <p:spPr>
          <a:xfrm>
            <a:off x="914400" y="1463040"/>
            <a:ext cx="10362900" cy="190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Rule 1.</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ourier Prime"/>
                <a:ea typeface="Courier Prime"/>
                <a:cs typeface="Courier Prime"/>
                <a:sym typeface="Courier Prime"/>
              </a:rPr>
              <a:t>async</a:t>
            </a:r>
            <a:r>
              <a:rPr b="0" i="0" lang="en-US" sz="2400" u="none" cap="none" strike="noStrike">
                <a:solidFill>
                  <a:srgbClr val="333344"/>
                </a:solidFill>
                <a:latin typeface="Calibri"/>
                <a:ea typeface="Calibri"/>
                <a:cs typeface="Calibri"/>
                <a:sym typeface="Calibri"/>
              </a:rPr>
              <a:t>` in front of a function makes it return a promise.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Always. Even if you just return `42`.</a:t>
            </a:r>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async function getNumber() { return 42; }</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returns Promise&lt;number&gt;, not number</a:t>
            </a:r>
            <a:endParaRPr b="1">
              <a:latin typeface="Courier Prime"/>
              <a:ea typeface="Courier Prime"/>
              <a:cs typeface="Courier Prime"/>
              <a:sym typeface="Courier Prime"/>
            </a:endParaRPr>
          </a:p>
          <a:p>
            <a:pPr indent="0" lvl="1" marL="457200" marR="0" rtl="0" algn="l">
              <a:spcBef>
                <a:spcPts val="60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g3daffe9b800_0_233"/>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Three rules for async/await</a:t>
            </a:r>
            <a:endParaRPr/>
          </a:p>
        </p:txBody>
      </p:sp>
      <p:sp>
        <p:nvSpPr>
          <p:cNvPr id="213" name="Google Shape;213;g3daffe9b800_0_233"/>
          <p:cNvSpPr txBox="1"/>
          <p:nvPr/>
        </p:nvSpPr>
        <p:spPr>
          <a:xfrm>
            <a:off x="914400" y="1463040"/>
            <a:ext cx="10362900" cy="3601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Rule 1.</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ourier Prime"/>
                <a:ea typeface="Courier Prime"/>
                <a:cs typeface="Courier Prime"/>
                <a:sym typeface="Courier Prime"/>
              </a:rPr>
              <a:t>async</a:t>
            </a:r>
            <a:r>
              <a:rPr b="0" i="0" lang="en-US" sz="2400" u="none" cap="none" strike="noStrike">
                <a:solidFill>
                  <a:srgbClr val="333344"/>
                </a:solidFill>
                <a:latin typeface="Calibri"/>
                <a:ea typeface="Calibri"/>
                <a:cs typeface="Calibri"/>
                <a:sym typeface="Calibri"/>
              </a:rPr>
              <a:t>` in front of a function makes it return a promise.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Always. Even if you just return `42`.</a:t>
            </a:r>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async function getNumber() { return 42; }</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returns Promise&lt;number&gt;, not number</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Rule 2.</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ourier Prime"/>
                <a:ea typeface="Courier Prime"/>
                <a:cs typeface="Courier Prime"/>
                <a:sym typeface="Courier Prime"/>
              </a:rPr>
              <a:t>await</a:t>
            </a:r>
            <a:r>
              <a:rPr b="0" i="0" lang="en-US" sz="2400" u="none" cap="none" strike="noStrike">
                <a:solidFill>
                  <a:srgbClr val="333344"/>
                </a:solidFill>
                <a:latin typeface="Calibri"/>
                <a:ea typeface="Calibri"/>
                <a:cs typeface="Calibri"/>
                <a:sym typeface="Calibri"/>
              </a:rPr>
              <a:t>` in front of a promise pauses the current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until it settles, then gives you the value - as if it were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always there.</a:t>
            </a:r>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t>
            </a:r>
            <a:r>
              <a:rPr b="1" lang="en-US" sz="2000">
                <a:solidFill>
                  <a:srgbClr val="666677"/>
                </a:solidFill>
                <a:latin typeface="Courier Prime"/>
                <a:ea typeface="Courier Prime"/>
                <a:cs typeface="Courier Prime"/>
                <a:sym typeface="Courier Prime"/>
              </a:rPr>
              <a:t> </a:t>
            </a:r>
            <a:r>
              <a:rPr b="1" i="0" lang="en-US" sz="2000" u="none" cap="none" strike="noStrike">
                <a:solidFill>
                  <a:srgbClr val="666677"/>
                </a:solidFill>
                <a:latin typeface="Courier Prime"/>
                <a:ea typeface="Courier Prime"/>
                <a:cs typeface="Courier Prime"/>
                <a:sym typeface="Courier Prime"/>
              </a:rPr>
              <a:t>const response = await fetch("/api/messages");</a:t>
            </a:r>
            <a:endParaRPr sz="2000">
              <a:solidFill>
                <a:srgbClr val="666677"/>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 name="Shape 218"/>
        <p:cNvGrpSpPr/>
        <p:nvPr/>
      </p:nvGrpSpPr>
      <p:grpSpPr>
        <a:xfrm>
          <a:off x="0" y="0"/>
          <a:ext cx="0" cy="0"/>
          <a:chOff x="0" y="0"/>
          <a:chExt cx="0" cy="0"/>
        </a:xfrm>
      </p:grpSpPr>
      <p:sp>
        <p:nvSpPr>
          <p:cNvPr id="219" name="Google Shape;219;p11"/>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Three rules for async/await</a:t>
            </a:r>
            <a:endParaRPr/>
          </a:p>
        </p:txBody>
      </p:sp>
      <p:sp>
        <p:nvSpPr>
          <p:cNvPr id="220" name="Google Shape;220;p11"/>
          <p:cNvSpPr txBox="1"/>
          <p:nvPr/>
        </p:nvSpPr>
        <p:spPr>
          <a:xfrm>
            <a:off x="914400" y="146304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Rule 1.</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ourier Prime"/>
                <a:ea typeface="Courier Prime"/>
                <a:cs typeface="Courier Prime"/>
                <a:sym typeface="Courier Prime"/>
              </a:rPr>
              <a:t>async</a:t>
            </a:r>
            <a:r>
              <a:rPr b="0" i="0" lang="en-US" sz="2400" u="none" cap="none" strike="noStrike">
                <a:solidFill>
                  <a:srgbClr val="333344"/>
                </a:solidFill>
                <a:latin typeface="Calibri"/>
                <a:ea typeface="Calibri"/>
                <a:cs typeface="Calibri"/>
                <a:sym typeface="Calibri"/>
              </a:rPr>
              <a:t>` in front of a function makes it return a promise.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Always. Even if you just return `42`.</a:t>
            </a:r>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async function getNumber() { return 42; }</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returns Promise&lt;number&gt;, not number</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Rule 2.</a:t>
            </a:r>
            <a:r>
              <a:rPr b="0" i="0" lang="en-US" sz="2400" u="none" cap="none" strike="noStrike">
                <a:solidFill>
                  <a:srgbClr val="333344"/>
                </a:solidFill>
                <a:latin typeface="Calibri"/>
                <a:ea typeface="Calibri"/>
                <a:cs typeface="Calibri"/>
                <a:sym typeface="Calibri"/>
              </a:rPr>
              <a:t> `</a:t>
            </a:r>
            <a:r>
              <a:rPr b="1" i="0" lang="en-US" sz="2400" u="none" cap="none" strike="noStrike">
                <a:solidFill>
                  <a:srgbClr val="333344"/>
                </a:solidFill>
                <a:latin typeface="Courier Prime"/>
                <a:ea typeface="Courier Prime"/>
                <a:cs typeface="Courier Prime"/>
                <a:sym typeface="Courier Prime"/>
              </a:rPr>
              <a:t>await</a:t>
            </a:r>
            <a:r>
              <a:rPr b="0" i="0" lang="en-US" sz="2400" u="none" cap="none" strike="noStrike">
                <a:solidFill>
                  <a:srgbClr val="333344"/>
                </a:solidFill>
                <a:latin typeface="Calibri"/>
                <a:ea typeface="Calibri"/>
                <a:cs typeface="Calibri"/>
                <a:sym typeface="Calibri"/>
              </a:rPr>
              <a:t>` in front of a promise pauses the current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until it settles, then gives you the value - as if it were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always there.</a:t>
            </a:r>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t>
            </a:r>
            <a:r>
              <a:rPr b="1" lang="en-US" sz="2000">
                <a:solidFill>
                  <a:srgbClr val="666677"/>
                </a:solidFill>
                <a:latin typeface="Courier Prime"/>
                <a:ea typeface="Courier Prime"/>
                <a:cs typeface="Courier Prime"/>
                <a:sym typeface="Courier Prime"/>
              </a:rPr>
              <a:t> </a:t>
            </a:r>
            <a:r>
              <a:rPr b="1" i="0" lang="en-US" sz="2000" u="none" cap="none" strike="noStrike">
                <a:solidFill>
                  <a:srgbClr val="666677"/>
                </a:solidFill>
                <a:latin typeface="Courier Prime"/>
                <a:ea typeface="Courier Prime"/>
                <a:cs typeface="Courier Prime"/>
                <a:sym typeface="Courier Prime"/>
              </a:rPr>
              <a:t>const response = await fetch("/api/messages");</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Rule 3.</a:t>
            </a:r>
            <a:r>
              <a:rPr b="0" i="0" lang="en-US" sz="2400" u="none" cap="none" strike="noStrike">
                <a:solidFill>
                  <a:srgbClr val="333344"/>
                </a:solidFill>
                <a:latin typeface="Calibri"/>
                <a:ea typeface="Calibri"/>
                <a:cs typeface="Calibri"/>
                <a:sym typeface="Calibri"/>
              </a:rPr>
              <a:t> You can </a:t>
            </a:r>
            <a:r>
              <a:rPr b="1" i="0" lang="en-US" sz="2400" u="none" cap="none" strike="noStrike">
                <a:solidFill>
                  <a:srgbClr val="333344"/>
                </a:solidFill>
                <a:latin typeface="Calibri"/>
                <a:ea typeface="Calibri"/>
                <a:cs typeface="Calibri"/>
                <a:sym typeface="Calibri"/>
              </a:rPr>
              <a:t>only</a:t>
            </a:r>
            <a:r>
              <a:rPr b="0" i="0" lang="en-US" sz="2400" u="none" cap="none" strike="noStrike">
                <a:solidFill>
                  <a:srgbClr val="333344"/>
                </a:solidFill>
                <a:latin typeface="Calibri"/>
                <a:ea typeface="Calibri"/>
                <a:cs typeface="Calibri"/>
                <a:sym typeface="Calibri"/>
              </a:rPr>
              <a:t> use `</a:t>
            </a:r>
            <a:r>
              <a:rPr b="1" i="0" lang="en-US" sz="2400" u="none" cap="none" strike="noStrike">
                <a:solidFill>
                  <a:srgbClr val="333344"/>
                </a:solidFill>
                <a:latin typeface="Courier Prime"/>
                <a:ea typeface="Courier Prime"/>
                <a:cs typeface="Courier Prime"/>
                <a:sym typeface="Courier Prime"/>
              </a:rPr>
              <a:t>await</a:t>
            </a:r>
            <a:r>
              <a:rPr b="0" i="0" lang="en-US" sz="2400" u="none" cap="none" strike="noStrike">
                <a:solidFill>
                  <a:srgbClr val="333344"/>
                </a:solidFill>
                <a:latin typeface="Calibri"/>
                <a:ea typeface="Calibri"/>
                <a:cs typeface="Calibri"/>
                <a:sym typeface="Calibri"/>
              </a:rPr>
              <a:t>` inside an `</a:t>
            </a:r>
            <a:r>
              <a:rPr b="1" i="0" lang="en-US" sz="2400" u="none" cap="none" strike="noStrike">
                <a:solidFill>
                  <a:srgbClr val="333344"/>
                </a:solidFill>
                <a:latin typeface="Courier Prime"/>
                <a:ea typeface="Courier Prime"/>
                <a:cs typeface="Courier Prime"/>
                <a:sym typeface="Courier Prime"/>
              </a:rPr>
              <a:t>async</a:t>
            </a:r>
            <a:r>
              <a:rPr b="0" i="0" lang="en-US" sz="2400" u="none" cap="none" strike="noStrike">
                <a:solidFill>
                  <a:srgbClr val="333344"/>
                </a:solidFill>
                <a:latin typeface="Calibri"/>
                <a:ea typeface="Calibri"/>
                <a:cs typeface="Calibri"/>
                <a:sym typeface="Calibri"/>
              </a:rPr>
              <a:t>`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Try it at the top level and the compiler says no. (There's a</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module-level exception, don't worry about it for this class.)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 name="Shape 225"/>
        <p:cNvGrpSpPr/>
        <p:nvPr/>
      </p:nvGrpSpPr>
      <p:grpSpPr>
        <a:xfrm>
          <a:off x="0" y="0"/>
          <a:ext cx="0" cy="0"/>
          <a:chOff x="0" y="0"/>
          <a:chExt cx="0" cy="0"/>
        </a:xfrm>
      </p:grpSpPr>
      <p:sp>
        <p:nvSpPr>
          <p:cNvPr id="226" name="Google Shape;226;g3daffe9b800_0_174"/>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same thing, two ways</a:t>
            </a:r>
            <a:endParaRPr/>
          </a:p>
        </p:txBody>
      </p:sp>
      <p:sp>
        <p:nvSpPr>
          <p:cNvPr id="227" name="Google Shape;227;g3daffe9b800_0_174"/>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28" name="Google Shape;228;g3daffe9b800_0_174"/>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9" name="Google Shape;229;g3daffe9b800_0_174"/>
          <p:cNvSpPr txBox="1"/>
          <p:nvPr/>
        </p:nvSpPr>
        <p:spPr>
          <a:xfrm>
            <a:off x="1005846" y="1645925"/>
            <a:ext cx="5661600" cy="290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WITH .then() chains: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function loadMessages()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fetch("/api/messages")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.then((response) =&gt; response.json())</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.then((data) =&gt;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console.log("got", data.length,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a:t>
            </a:r>
            <a:r>
              <a:rPr b="1" i="0" lang="en-US" sz="1500" u="none" cap="none" strike="noStrike">
                <a:solidFill>
                  <a:srgbClr val="333344"/>
                </a:solidFill>
                <a:latin typeface="Courier New"/>
                <a:ea typeface="Courier New"/>
                <a:cs typeface="Courier New"/>
                <a:sym typeface="Courier New"/>
              </a:rPr>
              <a:t>"messages");</a:t>
            </a:r>
            <a:endParaRPr sz="18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data;</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sz="1600"/>
          </a:p>
          <a:p>
            <a:pPr indent="0" lvl="0" marL="0" marR="0" rtl="0" algn="l">
              <a:spcBef>
                <a:spcPts val="200"/>
              </a:spcBef>
              <a:spcAft>
                <a:spcPts val="0"/>
              </a:spcAft>
              <a:buNone/>
            </a:pPr>
            <a:r>
              <a:t/>
            </a:r>
            <a:endParaRPr sz="1600"/>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 name="Shape 234"/>
        <p:cNvGrpSpPr/>
        <p:nvPr/>
      </p:nvGrpSpPr>
      <p:grpSpPr>
        <a:xfrm>
          <a:off x="0" y="0"/>
          <a:ext cx="0" cy="0"/>
          <a:chOff x="0" y="0"/>
          <a:chExt cx="0" cy="0"/>
        </a:xfrm>
      </p:grpSpPr>
      <p:sp>
        <p:nvSpPr>
          <p:cNvPr id="235" name="Google Shape;235;p1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same thing, two ways</a:t>
            </a:r>
            <a:endParaRPr/>
          </a:p>
        </p:txBody>
      </p:sp>
      <p:sp>
        <p:nvSpPr>
          <p:cNvPr id="236" name="Google Shape;236;p12"/>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37" name="Google Shape;237;p12"/>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8" name="Google Shape;238;p12"/>
          <p:cNvSpPr txBox="1"/>
          <p:nvPr/>
        </p:nvSpPr>
        <p:spPr>
          <a:xfrm>
            <a:off x="1005846" y="1645925"/>
            <a:ext cx="5661600" cy="2904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WITH .then() chains: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function loadMessages()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fetch("/api/messages")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.then((response) =&gt; response.json())</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.then((data) =&gt;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console.log("got", data.length,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a:t>
            </a:r>
            <a:r>
              <a:rPr b="1" i="0" lang="en-US" sz="1500" u="none" cap="none" strike="noStrike">
                <a:solidFill>
                  <a:srgbClr val="333344"/>
                </a:solidFill>
                <a:latin typeface="Courier New"/>
                <a:ea typeface="Courier New"/>
                <a:cs typeface="Courier New"/>
                <a:sym typeface="Courier New"/>
              </a:rPr>
              <a:t>"messages");</a:t>
            </a:r>
            <a:endParaRPr sz="18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data;</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sz="1600"/>
          </a:p>
          <a:p>
            <a:pPr indent="0" lvl="0" marL="0" marR="0" rtl="0" algn="l">
              <a:spcBef>
                <a:spcPts val="200"/>
              </a:spcBef>
              <a:spcAft>
                <a:spcPts val="0"/>
              </a:spcAft>
              <a:buNone/>
            </a:pPr>
            <a:r>
              <a:t/>
            </a:r>
            <a:endParaRPr sz="1600"/>
          </a:p>
        </p:txBody>
      </p:sp>
      <p:sp>
        <p:nvSpPr>
          <p:cNvPr id="239" name="Google Shape;239;p12"/>
          <p:cNvSpPr txBox="1"/>
          <p:nvPr/>
        </p:nvSpPr>
        <p:spPr>
          <a:xfrm>
            <a:off x="5442850" y="3286400"/>
            <a:ext cx="6017400" cy="21345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WITH async/await:</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async function loadMessages() {</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response = await fetch("/api/messages");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data = await response.json();</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console.log("got", data.length, "messages");</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data;</a:t>
            </a:r>
            <a:endParaRPr sz="1600"/>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sz="1600"/>
          </a:p>
          <a:p>
            <a:pPr indent="0" lvl="0" marL="0" marR="0" rtl="0" algn="l">
              <a:spcBef>
                <a:spcPts val="200"/>
              </a:spcBef>
              <a:spcAft>
                <a:spcPts val="0"/>
              </a:spcAft>
              <a:buNone/>
            </a:pPr>
            <a:r>
              <a:t/>
            </a:r>
            <a:endParaRPr sz="1600"/>
          </a:p>
        </p:txBody>
      </p:sp>
      <p:sp>
        <p:nvSpPr>
          <p:cNvPr id="240" name="Google Shape;240;p12"/>
          <p:cNvSpPr txBox="1"/>
          <p:nvPr/>
        </p:nvSpPr>
        <p:spPr>
          <a:xfrm>
            <a:off x="1741725" y="5099025"/>
            <a:ext cx="9389100" cy="12315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t/>
            </a:r>
            <a:endParaRPr sz="1800"/>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Same behavior. The bottom reads top to bottom. Variables from</a:t>
            </a:r>
            <a:endParaRPr sz="1800"/>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each await stay in scope. Errors propagate like normal throws.</a:t>
            </a:r>
            <a:endParaRPr sz="18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 name="Shape 245"/>
        <p:cNvGrpSpPr/>
        <p:nvPr/>
      </p:nvGrpSpPr>
      <p:grpSpPr>
        <a:xfrm>
          <a:off x="0" y="0"/>
          <a:ext cx="0" cy="0"/>
          <a:chOff x="0" y="0"/>
          <a:chExt cx="0" cy="0"/>
        </a:xfrm>
      </p:grpSpPr>
      <p:sp>
        <p:nvSpPr>
          <p:cNvPr id="246" name="Google Shape;246;p13"/>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What `await` actually does</a:t>
            </a:r>
            <a:endParaRPr/>
          </a:p>
        </p:txBody>
      </p:sp>
      <p:sp>
        <p:nvSpPr>
          <p:cNvPr id="247" name="Google Shape;247;p13"/>
          <p:cNvSpPr txBox="1"/>
          <p:nvPr/>
        </p:nvSpPr>
        <p:spPr>
          <a:xfrm>
            <a:off x="571500" y="1280150"/>
            <a:ext cx="11008200" cy="4941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Quick clarification, because this trips almost everyone up:</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await</a:t>
            </a:r>
            <a:r>
              <a:rPr b="0" i="0" lang="en-US" sz="2000" u="none" cap="none" strike="noStrike">
                <a:solidFill>
                  <a:srgbClr val="666677"/>
                </a:solidFill>
                <a:latin typeface="Calibri"/>
                <a:ea typeface="Calibri"/>
                <a:cs typeface="Calibri"/>
                <a:sym typeface="Calibri"/>
              </a:rPr>
              <a:t>` does NOT block the browser.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When an async function hits an `</a:t>
            </a:r>
            <a:r>
              <a:rPr b="1" i="0" lang="en-US" sz="2400" u="none" cap="none" strike="noStrike">
                <a:solidFill>
                  <a:srgbClr val="333344"/>
                </a:solidFill>
                <a:latin typeface="Courier Prime"/>
                <a:ea typeface="Courier Prime"/>
                <a:cs typeface="Courier Prime"/>
                <a:sym typeface="Courier Prime"/>
              </a:rPr>
              <a:t>await</a:t>
            </a:r>
            <a:r>
              <a:rPr b="0" i="0" lang="en-US" sz="2400" u="none" cap="none" strike="noStrike">
                <a:solidFill>
                  <a:srgbClr val="333344"/>
                </a:solidFill>
                <a:latin typeface="Calibri"/>
                <a:ea typeface="Calibri"/>
                <a:cs typeface="Calibri"/>
                <a:sym typeface="Calibri"/>
              </a:rPr>
              <a:t>`, it </a:t>
            </a:r>
            <a:r>
              <a:rPr b="1" i="0" lang="en-US" sz="2400" u="none" cap="none" strike="noStrike">
                <a:solidFill>
                  <a:srgbClr val="333344"/>
                </a:solidFill>
                <a:latin typeface="Calibri"/>
                <a:ea typeface="Calibri"/>
                <a:cs typeface="Calibri"/>
                <a:sym typeface="Calibri"/>
              </a:rPr>
              <a:t>pauses that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and returns control to the browser. The browser keeps rendering,</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firing events, and running other code while the function is parked.</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When the promise settles, the browser wakes your function back up</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right where it left off, with the value in hand.</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This is really the whole reason async exists: pause one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keep the browser responsive.</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 name="Shape 252"/>
        <p:cNvGrpSpPr/>
        <p:nvPr/>
      </p:nvGrpSpPr>
      <p:grpSpPr>
        <a:xfrm>
          <a:off x="0" y="0"/>
          <a:ext cx="0" cy="0"/>
          <a:chOff x="0" y="0"/>
          <a:chExt cx="0" cy="0"/>
        </a:xfrm>
      </p:grpSpPr>
      <p:sp>
        <p:nvSpPr>
          <p:cNvPr id="253" name="Google Shape;253;g3daffe9b800_0_193"/>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Mashing the button</a:t>
            </a:r>
            <a:endParaRPr/>
          </a:p>
        </p:txBody>
      </p:sp>
      <p:sp>
        <p:nvSpPr>
          <p:cNvPr id="254" name="Google Shape;254;g3daffe9b800_0_193"/>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55" name="Google Shape;255;g3daffe9b800_0_193"/>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6" name="Google Shape;256;g3daffe9b800_0_193"/>
          <p:cNvSpPr txBox="1"/>
          <p:nvPr/>
        </p:nvSpPr>
        <p:spPr>
          <a:xfrm>
            <a:off x="1087478" y="2163000"/>
            <a:ext cx="9022500" cy="14160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button.addEventListener("click", async () =&gt; {</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  await doWork();</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sz="21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 name="Shape 261"/>
        <p:cNvGrpSpPr/>
        <p:nvPr/>
      </p:nvGrpSpPr>
      <p:grpSpPr>
        <a:xfrm>
          <a:off x="0" y="0"/>
          <a:ext cx="0" cy="0"/>
          <a:chOff x="0" y="0"/>
          <a:chExt cx="0" cy="0"/>
        </a:xfrm>
      </p:grpSpPr>
      <p:sp>
        <p:nvSpPr>
          <p:cNvPr id="262" name="Google Shape;262;g3daffe9b800_0_184"/>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Mashing the button</a:t>
            </a:r>
            <a:endParaRPr/>
          </a:p>
        </p:txBody>
      </p:sp>
      <p:sp>
        <p:nvSpPr>
          <p:cNvPr id="263" name="Google Shape;263;g3daffe9b800_0_184"/>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64" name="Google Shape;264;g3daffe9b800_0_184"/>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5" name="Google Shape;265;g3daffe9b800_0_184"/>
          <p:cNvSpPr txBox="1"/>
          <p:nvPr/>
        </p:nvSpPr>
        <p:spPr>
          <a:xfrm>
            <a:off x="1087475" y="2163000"/>
            <a:ext cx="9689400" cy="17496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button.addEventListener("click", async () =&gt; {</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  button.disabled = true;</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  try { await doWork(); } finally { button.disabled = false; }</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2000">
                <a:solidFill>
                  <a:srgbClr val="333344"/>
                </a:solidFill>
                <a:latin typeface="Courier New"/>
                <a:ea typeface="Courier New"/>
                <a:cs typeface="Courier New"/>
                <a:sym typeface="Courier New"/>
              </a:rPr>
              <a:t>});</a:t>
            </a:r>
            <a:endParaRPr b="1" sz="20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sz="21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270" name="Shape 270"/>
        <p:cNvGrpSpPr/>
        <p:nvPr/>
      </p:nvGrpSpPr>
      <p:grpSpPr>
        <a:xfrm>
          <a:off x="0" y="0"/>
          <a:ext cx="0" cy="0"/>
          <a:chOff x="0" y="0"/>
          <a:chExt cx="0" cy="0"/>
        </a:xfrm>
      </p:grpSpPr>
      <p:sp>
        <p:nvSpPr>
          <p:cNvPr id="271" name="Google Shape;271;p14"/>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fetch</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 name="Shape 276"/>
        <p:cNvGrpSpPr/>
        <p:nvPr/>
      </p:nvGrpSpPr>
      <p:grpSpPr>
        <a:xfrm>
          <a:off x="0" y="0"/>
          <a:ext cx="0" cy="0"/>
          <a:chOff x="0" y="0"/>
          <a:chExt cx="0" cy="0"/>
        </a:xfrm>
      </p:grpSpPr>
      <p:sp>
        <p:nvSpPr>
          <p:cNvPr id="277" name="Google Shape;277;p1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fetch returns a promise for a Response</a:t>
            </a:r>
            <a:endParaRPr/>
          </a:p>
        </p:txBody>
      </p:sp>
      <p:sp>
        <p:nvSpPr>
          <p:cNvPr id="278" name="Google Shape;278;p15"/>
          <p:cNvSpPr txBox="1"/>
          <p:nvPr/>
        </p:nvSpPr>
        <p:spPr>
          <a:xfrm>
            <a:off x="914400" y="146304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t>
            </a:r>
            <a:r>
              <a:rPr b="1" i="0" lang="en-US" sz="2400" u="none" cap="none" strike="noStrike">
                <a:solidFill>
                  <a:srgbClr val="333344"/>
                </a:solidFill>
                <a:latin typeface="Courier Prime"/>
                <a:ea typeface="Courier Prime"/>
                <a:cs typeface="Courier Prime"/>
                <a:sym typeface="Courier Prime"/>
              </a:rPr>
              <a:t>fetch(url)</a:t>
            </a:r>
            <a:r>
              <a:rPr b="0" i="0" lang="en-US" sz="2400" u="none" cap="none" strike="noStrike">
                <a:solidFill>
                  <a:srgbClr val="333344"/>
                </a:solidFill>
                <a:latin typeface="Calibri"/>
                <a:ea typeface="Calibri"/>
                <a:cs typeface="Calibri"/>
                <a:sym typeface="Calibri"/>
              </a:rPr>
              <a:t>` is the browser's built-in way to make HTTP requests,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I</a:t>
            </a:r>
            <a:r>
              <a:rPr b="0" i="0" lang="en-US" sz="2000" u="none" cap="none" strike="noStrike">
                <a:solidFill>
                  <a:srgbClr val="666677"/>
                </a:solidFill>
                <a:latin typeface="Calibri"/>
                <a:ea typeface="Calibri"/>
                <a:cs typeface="Calibri"/>
                <a:sym typeface="Calibri"/>
              </a:rPr>
              <a:t>t returns a </a:t>
            </a:r>
            <a:r>
              <a:rPr b="1" i="0" lang="en-US" sz="2000" u="none" cap="none" strike="noStrike">
                <a:solidFill>
                  <a:srgbClr val="666677"/>
                </a:solidFill>
                <a:latin typeface="Calibri"/>
                <a:ea typeface="Calibri"/>
                <a:cs typeface="Calibri"/>
                <a:sym typeface="Calibri"/>
              </a:rPr>
              <a:t>promise for a Response object</a:t>
            </a:r>
            <a:r>
              <a:rPr b="0" i="0" lang="en-US" sz="2000" u="none" cap="none" strike="noStrike">
                <a:solidFill>
                  <a:srgbClr val="666677"/>
                </a:solidFill>
                <a:latin typeface="Calibri"/>
                <a:ea typeface="Calibri"/>
                <a:cs typeface="Calibri"/>
                <a:sym typeface="Calibri"/>
              </a:rPr>
              <a: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 usually need </a:t>
            </a:r>
            <a:r>
              <a:rPr b="1" i="0" lang="en-US" sz="2400" u="none" cap="none" strike="noStrike">
                <a:solidFill>
                  <a:srgbClr val="333344"/>
                </a:solidFill>
                <a:latin typeface="Calibri"/>
                <a:ea typeface="Calibri"/>
                <a:cs typeface="Calibri"/>
                <a:sym typeface="Calibri"/>
              </a:rPr>
              <a:t>two</a:t>
            </a:r>
            <a:r>
              <a:rPr b="0" i="0" lang="en-US" sz="2400" u="none" cap="none" strike="noStrike">
                <a:solidFill>
                  <a:srgbClr val="333344"/>
                </a:solidFill>
                <a:latin typeface="Calibri"/>
                <a:ea typeface="Calibri"/>
                <a:cs typeface="Calibri"/>
                <a:sym typeface="Calibri"/>
              </a:rPr>
              <a:t> awaits to actually get data out of it:</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First await</a:t>
            </a:r>
            <a:r>
              <a:rPr b="0" i="0" lang="en-US" sz="2000" u="none" cap="none" strike="noStrike">
                <a:solidFill>
                  <a:srgbClr val="666677"/>
                </a:solidFill>
                <a:latin typeface="Calibri"/>
                <a:ea typeface="Calibri"/>
                <a:cs typeface="Calibri"/>
                <a:sym typeface="Calibri"/>
              </a:rPr>
              <a:t> - the Response object arrives once the server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sends response headers. At this point you know the status code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and whether the request succeeded, but not the body yet.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Second await</a:t>
            </a:r>
            <a:r>
              <a:rPr b="0" i="0" lang="en-US" sz="2000" u="none" cap="none" strike="noStrike">
                <a:solidFill>
                  <a:srgbClr val="666677"/>
                </a:solidFill>
                <a:latin typeface="Calibri"/>
                <a:ea typeface="Calibri"/>
                <a:cs typeface="Calibri"/>
                <a:sym typeface="Calibri"/>
              </a:rPr>
              <a:t> - the body. `</a:t>
            </a:r>
            <a:r>
              <a:rPr b="1" i="0" lang="en-US" sz="2000" u="none" cap="none" strike="noStrike">
                <a:solidFill>
                  <a:srgbClr val="666677"/>
                </a:solidFill>
                <a:latin typeface="Courier Prime"/>
                <a:ea typeface="Courier Prime"/>
                <a:cs typeface="Courier Prime"/>
                <a:sym typeface="Courier Prime"/>
              </a:rPr>
              <a:t>response.json()</a:t>
            </a:r>
            <a:r>
              <a:rPr b="0" i="0" lang="en-US" sz="2000" u="none" cap="none" strike="noStrike">
                <a:solidFill>
                  <a:srgbClr val="666677"/>
                </a:solidFill>
                <a:latin typeface="Calibri"/>
                <a:ea typeface="Calibri"/>
                <a:cs typeface="Calibri"/>
                <a:sym typeface="Calibri"/>
              </a:rPr>
              <a:t>` returns another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promise, because the body might still be streaming in.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The two awaits aren't gratuitous - they let you check the status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code before committing to parse the body.</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3" name="Shape 283"/>
        <p:cNvGrpSpPr/>
        <p:nvPr/>
      </p:nvGrpSpPr>
      <p:grpSpPr>
        <a:xfrm>
          <a:off x="0" y="0"/>
          <a:ext cx="0" cy="0"/>
          <a:chOff x="0" y="0"/>
          <a:chExt cx="0" cy="0"/>
        </a:xfrm>
      </p:grpSpPr>
      <p:sp>
        <p:nvSpPr>
          <p:cNvPr id="284" name="Google Shape;284;p16"/>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GET: fetching a list of messages</a:t>
            </a:r>
            <a:endParaRPr/>
          </a:p>
        </p:txBody>
      </p:sp>
      <p:sp>
        <p:nvSpPr>
          <p:cNvPr id="285" name="Google Shape;285;p16"/>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86" name="Google Shape;286;p16"/>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7" name="Google Shape;287;p16"/>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async function loadMessages(): Promise&lt;Message[]&gt;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First await: headers arrive, we get the Response object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response = await fetch("/api/messages");</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if (!response.ok)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throw new Error(`HTTP ${response.status}`);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Second await: the JSON body is parsed</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data: Message[] = await response.json();</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data;</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Calling it: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messages = await loadMessages();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console.log("loaded", messages.length, "messages");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2" name="Shape 292"/>
        <p:cNvGrpSpPr/>
        <p:nvPr/>
      </p:nvGrpSpPr>
      <p:grpSpPr>
        <a:xfrm>
          <a:off x="0" y="0"/>
          <a:ext cx="0" cy="0"/>
          <a:chOff x="0" y="0"/>
          <a:chExt cx="0" cy="0"/>
        </a:xfrm>
      </p:grpSpPr>
      <p:sp>
        <p:nvSpPr>
          <p:cNvPr id="293" name="Google Shape;293;p17"/>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POST: sending a new message</a:t>
            </a:r>
            <a:endParaRPr/>
          </a:p>
        </p:txBody>
      </p:sp>
      <p:sp>
        <p:nvSpPr>
          <p:cNvPr id="294" name="Google Shape;294;p17"/>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295" name="Google Shape;295;p17"/>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6" name="Google Shape;296;p17"/>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async function postMessage(author: string, text: string): Promise&lt;Message&gt;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response = await fetch("/api/messages",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method: "POST",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headers: { "Content-Type": "application/json"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body: JSON.stringify({ author, text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if (!response.ok)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throw new Error(`HTTP ${response.status}`);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created: Message = await response.json();</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created;</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Calling it: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const newMsg = await postMessage("alice", "first!");</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g3daffe9b800_0_209"/>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gotcha fetch will burn you with</a:t>
            </a:r>
            <a:endParaRPr/>
          </a:p>
        </p:txBody>
      </p:sp>
      <p:sp>
        <p:nvSpPr>
          <p:cNvPr id="303" name="Google Shape;303;g3daffe9b800_0_209"/>
          <p:cNvSpPr txBox="1"/>
          <p:nvPr/>
        </p:nvSpPr>
        <p:spPr>
          <a:xfrm>
            <a:off x="914401" y="1147500"/>
            <a:ext cx="10978200" cy="2893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`fetch` does not throw on 404 or 500.</a:t>
            </a:r>
            <a:endParaRPr/>
          </a:p>
          <a:p>
            <a:pPr indent="0" lvl="0" marL="0" marR="0" rtl="0" algn="l">
              <a:spcBef>
                <a:spcPts val="600"/>
              </a:spcBef>
              <a:spcAft>
                <a:spcPts val="0"/>
              </a:spcAft>
              <a:buNone/>
            </a:pPr>
            <a:r>
              <a:t/>
            </a:r>
            <a:endParaRPr b="1"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An error-status response is still a "successful" fetch from the browser's perspective.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promise </a:t>
            </a:r>
            <a:r>
              <a:rPr b="1" i="0" lang="en-US" sz="2000" u="none" cap="none" strike="noStrike">
                <a:solidFill>
                  <a:srgbClr val="666677"/>
                </a:solidFill>
                <a:latin typeface="Calibri"/>
                <a:ea typeface="Calibri"/>
                <a:cs typeface="Calibri"/>
                <a:sym typeface="Calibri"/>
              </a:rPr>
              <a:t>fulfills</a:t>
            </a:r>
            <a:r>
              <a:rPr b="0" i="0" lang="en-US" sz="2000" u="none" cap="none" strike="noStrike">
                <a:solidFill>
                  <a:srgbClr val="666677"/>
                </a:solidFill>
                <a:latin typeface="Calibri"/>
                <a:ea typeface="Calibri"/>
                <a:cs typeface="Calibri"/>
                <a:sym typeface="Calibri"/>
              </a:rPr>
              <a:t>, not rejects.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const response = await fetch("/api/doesnt-exist");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8" name="Shape 308"/>
        <p:cNvGrpSpPr/>
        <p:nvPr/>
      </p:nvGrpSpPr>
      <p:grpSpPr>
        <a:xfrm>
          <a:off x="0" y="0"/>
          <a:ext cx="0" cy="0"/>
          <a:chOff x="0" y="0"/>
          <a:chExt cx="0" cy="0"/>
        </a:xfrm>
      </p:grpSpPr>
      <p:sp>
        <p:nvSpPr>
          <p:cNvPr id="309" name="Google Shape;309;g3daffe9b800_0_21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gotcha fetch will burn you with</a:t>
            </a:r>
            <a:endParaRPr/>
          </a:p>
        </p:txBody>
      </p:sp>
      <p:sp>
        <p:nvSpPr>
          <p:cNvPr id="310" name="Google Shape;310;g3daffe9b800_0_215"/>
          <p:cNvSpPr txBox="1"/>
          <p:nvPr/>
        </p:nvSpPr>
        <p:spPr>
          <a:xfrm>
            <a:off x="914400" y="1147500"/>
            <a:ext cx="10728600" cy="4494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`fetch` does not throw on 404 or 500.</a:t>
            </a:r>
            <a:endParaRPr/>
          </a:p>
          <a:p>
            <a:pPr indent="0" lvl="0" marL="0" marR="0" rtl="0" algn="l">
              <a:spcBef>
                <a:spcPts val="600"/>
              </a:spcBef>
              <a:spcAft>
                <a:spcPts val="0"/>
              </a:spcAft>
              <a:buNone/>
            </a:pPr>
            <a:r>
              <a:t/>
            </a:r>
            <a:endParaRPr b="1" i="0" sz="2400" u="none" cap="none" strike="noStrike">
              <a:solidFill>
                <a:srgbClr val="333344"/>
              </a:solidFill>
              <a:latin typeface="Calibri"/>
              <a:ea typeface="Calibri"/>
              <a:cs typeface="Calibri"/>
              <a:sym typeface="Calibri"/>
            </a:endParaRPr>
          </a:p>
          <a:p>
            <a:pPr indent="0" lvl="0" marL="0" rtl="0" algn="l">
              <a:spcBef>
                <a:spcPts val="600"/>
              </a:spcBef>
              <a:spcAft>
                <a:spcPts val="0"/>
              </a:spcAft>
              <a:buClr>
                <a:schemeClr val="dk1"/>
              </a:buClr>
              <a:buFont typeface="Arial"/>
              <a:buNone/>
            </a:pPr>
            <a:r>
              <a:rPr lang="en-US" sz="2400">
                <a:solidFill>
                  <a:srgbClr val="333344"/>
                </a:solidFill>
                <a:latin typeface="Calibri"/>
                <a:ea typeface="Calibri"/>
                <a:cs typeface="Calibri"/>
                <a:sym typeface="Calibri"/>
              </a:rPr>
              <a:t>An error-status response is still a "successful" fetch from the browser's perspective.</a:t>
            </a:r>
            <a:endParaRPr>
              <a:solidFill>
                <a:schemeClr val="dk1"/>
              </a:solidFill>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The promise </a:t>
            </a:r>
            <a:r>
              <a:rPr b="1" lang="en-US" sz="2000">
                <a:solidFill>
                  <a:srgbClr val="666677"/>
                </a:solidFill>
                <a:latin typeface="Calibri"/>
                <a:ea typeface="Calibri"/>
                <a:cs typeface="Calibri"/>
                <a:sym typeface="Calibri"/>
              </a:rPr>
              <a:t>fulfills</a:t>
            </a:r>
            <a:r>
              <a:rPr lang="en-US" sz="2000">
                <a:solidFill>
                  <a:srgbClr val="666677"/>
                </a:solidFill>
                <a:latin typeface="Calibri"/>
                <a:ea typeface="Calibri"/>
                <a:cs typeface="Calibri"/>
                <a:sym typeface="Calibri"/>
              </a:rPr>
              <a:t>, not rejects.</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const response = await fetch("/api/doesnt-exist");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response.status === 404, response.ok === false</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but NO exception is thrown. Code keeps running.</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 have to check `</a:t>
            </a:r>
            <a:r>
              <a:rPr b="1" i="0" lang="en-US" sz="2400" u="none" cap="none" strike="noStrike">
                <a:solidFill>
                  <a:srgbClr val="333344"/>
                </a:solidFill>
                <a:latin typeface="Courier Prime"/>
                <a:ea typeface="Courier Prime"/>
                <a:cs typeface="Courier Prime"/>
                <a:sym typeface="Courier Prime"/>
              </a:rPr>
              <a:t>response.ok</a:t>
            </a:r>
            <a:r>
              <a:rPr b="0" i="0" lang="en-US" sz="2400" u="none" cap="none" strike="noStrike">
                <a:solidFill>
                  <a:srgbClr val="333344"/>
                </a:solidFill>
                <a:latin typeface="Calibri"/>
                <a:ea typeface="Calibri"/>
                <a:cs typeface="Calibri"/>
                <a:sym typeface="Calibri"/>
              </a:rPr>
              <a:t>` yourself and throw if it's false.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5" name="Shape 315"/>
        <p:cNvGrpSpPr/>
        <p:nvPr/>
      </p:nvGrpSpPr>
      <p:grpSpPr>
        <a:xfrm>
          <a:off x="0" y="0"/>
          <a:ext cx="0" cy="0"/>
          <a:chOff x="0" y="0"/>
          <a:chExt cx="0" cy="0"/>
        </a:xfrm>
      </p:grpSpPr>
      <p:sp>
        <p:nvSpPr>
          <p:cNvPr id="316" name="Google Shape;316;p18"/>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gotcha fetch will burn you with</a:t>
            </a:r>
            <a:endParaRPr/>
          </a:p>
        </p:txBody>
      </p:sp>
      <p:sp>
        <p:nvSpPr>
          <p:cNvPr id="317" name="Google Shape;317;p18"/>
          <p:cNvSpPr txBox="1"/>
          <p:nvPr/>
        </p:nvSpPr>
        <p:spPr>
          <a:xfrm>
            <a:off x="914401" y="1147500"/>
            <a:ext cx="10869300" cy="5556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`fetch` does not throw on 404 or 500.</a:t>
            </a:r>
            <a:endParaRPr/>
          </a:p>
          <a:p>
            <a:pPr indent="0" lvl="0" marL="0" marR="0" rtl="0" algn="l">
              <a:spcBef>
                <a:spcPts val="600"/>
              </a:spcBef>
              <a:spcAft>
                <a:spcPts val="0"/>
              </a:spcAft>
              <a:buNone/>
            </a:pPr>
            <a:r>
              <a:t/>
            </a:r>
            <a:endParaRPr b="1" i="0" sz="2400" u="none" cap="none" strike="noStrike">
              <a:solidFill>
                <a:srgbClr val="333344"/>
              </a:solidFill>
              <a:latin typeface="Calibri"/>
              <a:ea typeface="Calibri"/>
              <a:cs typeface="Calibri"/>
              <a:sym typeface="Calibri"/>
            </a:endParaRPr>
          </a:p>
          <a:p>
            <a:pPr indent="0" lvl="0" marL="0" rtl="0" algn="l">
              <a:spcBef>
                <a:spcPts val="600"/>
              </a:spcBef>
              <a:spcAft>
                <a:spcPts val="0"/>
              </a:spcAft>
              <a:buClr>
                <a:schemeClr val="dk1"/>
              </a:buClr>
              <a:buFont typeface="Arial"/>
              <a:buNone/>
            </a:pPr>
            <a:r>
              <a:rPr lang="en-US" sz="2400">
                <a:solidFill>
                  <a:srgbClr val="333344"/>
                </a:solidFill>
                <a:latin typeface="Calibri"/>
                <a:ea typeface="Calibri"/>
                <a:cs typeface="Calibri"/>
                <a:sym typeface="Calibri"/>
              </a:rPr>
              <a:t>An error-status response is still a "successful" fetch from the browser's perspective.</a:t>
            </a:r>
            <a:endParaRPr>
              <a:solidFill>
                <a:schemeClr val="dk1"/>
              </a:solidFill>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The promise </a:t>
            </a:r>
            <a:r>
              <a:rPr b="1" lang="en-US" sz="2000">
                <a:solidFill>
                  <a:srgbClr val="666677"/>
                </a:solidFill>
                <a:latin typeface="Calibri"/>
                <a:ea typeface="Calibri"/>
                <a:cs typeface="Calibri"/>
                <a:sym typeface="Calibri"/>
              </a:rPr>
              <a:t>fulfills</a:t>
            </a:r>
            <a:r>
              <a:rPr lang="en-US" sz="2000">
                <a:solidFill>
                  <a:srgbClr val="666677"/>
                </a:solidFill>
                <a:latin typeface="Calibri"/>
                <a:ea typeface="Calibri"/>
                <a:cs typeface="Calibri"/>
                <a:sym typeface="Calibri"/>
              </a:rPr>
              <a:t>, not rejects.</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const response = await fetch("/api/doesnt-exist");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response.status === 404, response.ok === false</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 but NO exception is thrown. Code keeps running.</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 have to check `</a:t>
            </a:r>
            <a:r>
              <a:rPr b="1" i="0" lang="en-US" sz="2400" u="none" cap="none" strike="noStrike">
                <a:solidFill>
                  <a:srgbClr val="333344"/>
                </a:solidFill>
                <a:latin typeface="Courier Prime"/>
                <a:ea typeface="Courier Prime"/>
                <a:cs typeface="Courier Prime"/>
                <a:sym typeface="Courier Prime"/>
              </a:rPr>
              <a:t>response.ok</a:t>
            </a:r>
            <a:r>
              <a:rPr b="0" i="0" lang="en-US" sz="2400" u="none" cap="none" strike="noStrike">
                <a:solidFill>
                  <a:srgbClr val="333344"/>
                </a:solidFill>
                <a:latin typeface="Calibri"/>
                <a:ea typeface="Calibri"/>
                <a:cs typeface="Calibri"/>
                <a:sym typeface="Calibri"/>
              </a:rPr>
              <a:t>` yourself and throw if it's false.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promise only </a:t>
            </a:r>
            <a:r>
              <a:rPr b="1" i="0" lang="en-US" sz="2000" u="none" cap="none" strike="noStrike">
                <a:solidFill>
                  <a:srgbClr val="666677"/>
                </a:solidFill>
                <a:latin typeface="Calibri"/>
                <a:ea typeface="Calibri"/>
                <a:cs typeface="Calibri"/>
                <a:sym typeface="Calibri"/>
              </a:rPr>
              <a:t>rejects</a:t>
            </a:r>
            <a:r>
              <a:rPr b="0" i="0" lang="en-US" sz="2000" u="none" cap="none" strike="noStrike">
                <a:solidFill>
                  <a:srgbClr val="666677"/>
                </a:solidFill>
                <a:latin typeface="Calibri"/>
                <a:ea typeface="Calibri"/>
                <a:cs typeface="Calibri"/>
                <a:sym typeface="Calibri"/>
              </a:rPr>
              <a:t> on actual network failure - DNS,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connection refused, CORS, offline. 4xx/5xx do NOT reject.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2" name="Shape 322"/>
        <p:cNvGrpSpPr/>
        <p:nvPr/>
      </p:nvGrpSpPr>
      <p:grpSpPr>
        <a:xfrm>
          <a:off x="0" y="0"/>
          <a:ext cx="0" cy="0"/>
          <a:chOff x="0" y="0"/>
          <a:chExt cx="0" cy="0"/>
        </a:xfrm>
      </p:grpSpPr>
      <p:sp>
        <p:nvSpPr>
          <p:cNvPr id="323" name="Google Shape;323;g3daffe9b800_0_221"/>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Three kinds of failure</a:t>
            </a:r>
            <a:endParaRPr/>
          </a:p>
        </p:txBody>
      </p:sp>
      <p:sp>
        <p:nvSpPr>
          <p:cNvPr id="324" name="Google Shape;324;g3daffe9b800_0_221"/>
          <p:cNvSpPr txBox="1"/>
          <p:nvPr/>
        </p:nvSpPr>
        <p:spPr>
          <a:xfrm>
            <a:off x="914400" y="1190890"/>
            <a:ext cx="10362900" cy="3509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 fetch can fail three ways:</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1. Network failure</a:t>
            </a:r>
            <a:r>
              <a:rPr b="0" i="0" lang="en-US" sz="2000" u="none" cap="none" strike="noStrike">
                <a:solidFill>
                  <a:srgbClr val="666677"/>
                </a:solidFill>
                <a:latin typeface="Calibri"/>
                <a:ea typeface="Calibri"/>
                <a:cs typeface="Calibri"/>
                <a:sym typeface="Calibri"/>
              </a:rPr>
              <a:t> - DNS, server down, offline, CORS blocked.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a:t>
            </a:r>
            <a:r>
              <a:rPr b="1" i="0" lang="en-US" sz="2000" u="none" cap="none" strike="noStrike">
                <a:solidFill>
                  <a:srgbClr val="666677"/>
                </a:solidFill>
                <a:latin typeface="Calibri"/>
                <a:ea typeface="Calibri"/>
                <a:cs typeface="Calibri"/>
                <a:sym typeface="Calibri"/>
              </a:rPr>
              <a:t>promise rejects</a:t>
            </a:r>
            <a:r>
              <a:rPr b="0" i="0" lang="en-US" sz="2000" u="none" cap="none" strike="noStrike">
                <a:solidFill>
                  <a:srgbClr val="666677"/>
                </a:solidFill>
                <a:latin typeface="Calibri"/>
                <a:ea typeface="Calibri"/>
                <a:cs typeface="Calibri"/>
                <a:sym typeface="Calibri"/>
              </a:rPr>
              <a:t>, and `try`/`catch` around the await catches it.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2. HTTP error status</a:t>
            </a:r>
            <a:r>
              <a:rPr b="0" i="0" lang="en-US" sz="2000" u="none" cap="none" strike="noStrike">
                <a:solidFill>
                  <a:srgbClr val="666677"/>
                </a:solidFill>
                <a:latin typeface="Calibri"/>
                <a:ea typeface="Calibri"/>
                <a:cs typeface="Calibri"/>
                <a:sym typeface="Calibri"/>
              </a:rPr>
              <a:t> (4xx or 5xx) - server responded, but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with an error. The </a:t>
            </a:r>
            <a:r>
              <a:rPr b="1" i="0" lang="en-US" sz="2000" u="none" cap="none" strike="noStrike">
                <a:solidFill>
                  <a:srgbClr val="666677"/>
                </a:solidFill>
                <a:latin typeface="Calibri"/>
                <a:ea typeface="Calibri"/>
                <a:cs typeface="Calibri"/>
                <a:sym typeface="Calibri"/>
              </a:rPr>
              <a:t>promise fulfills normally</a:t>
            </a:r>
            <a:r>
              <a:rPr b="0" i="0" lang="en-US" sz="2000" u="none" cap="none" strike="noStrike">
                <a:solidFill>
                  <a:srgbClr val="666677"/>
                </a:solidFill>
                <a:latin typeface="Calibri"/>
                <a:ea typeface="Calibri"/>
                <a:cs typeface="Calibri"/>
                <a:sym typeface="Calibri"/>
              </a:rPr>
              <a:t>, so you have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to check `response.ok` and throw yourself.</a:t>
            </a:r>
            <a:endParaRPr/>
          </a:p>
          <a:p>
            <a:pPr indent="0" lvl="1" marL="457200" marR="0" rtl="0" algn="l">
              <a:spcBef>
                <a:spcPts val="600"/>
              </a:spcBef>
              <a:spcAft>
                <a:spcPts val="0"/>
              </a:spcAft>
              <a:buNone/>
            </a:pPr>
            <a:r>
              <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9" name="Shape 329"/>
        <p:cNvGrpSpPr/>
        <p:nvPr/>
      </p:nvGrpSpPr>
      <p:grpSpPr>
        <a:xfrm>
          <a:off x="0" y="0"/>
          <a:ext cx="0" cy="0"/>
          <a:chOff x="0" y="0"/>
          <a:chExt cx="0" cy="0"/>
        </a:xfrm>
      </p:grpSpPr>
      <p:sp>
        <p:nvSpPr>
          <p:cNvPr id="330" name="Google Shape;330;p19"/>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Three kinds of failure</a:t>
            </a:r>
            <a:endParaRPr/>
          </a:p>
        </p:txBody>
      </p:sp>
      <p:sp>
        <p:nvSpPr>
          <p:cNvPr id="331" name="Google Shape;331;p19"/>
          <p:cNvSpPr txBox="1"/>
          <p:nvPr/>
        </p:nvSpPr>
        <p:spPr>
          <a:xfrm>
            <a:off x="914400" y="119089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 fetch can fail three ways:</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1. Network failure</a:t>
            </a:r>
            <a:r>
              <a:rPr b="0" i="0" lang="en-US" sz="2000" u="none" cap="none" strike="noStrike">
                <a:solidFill>
                  <a:srgbClr val="666677"/>
                </a:solidFill>
                <a:latin typeface="Calibri"/>
                <a:ea typeface="Calibri"/>
                <a:cs typeface="Calibri"/>
                <a:sym typeface="Calibri"/>
              </a:rPr>
              <a:t> - DNS, server down, offline, CORS blocked.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a:t>
            </a:r>
            <a:r>
              <a:rPr b="1" i="0" lang="en-US" sz="2000" u="none" cap="none" strike="noStrike">
                <a:solidFill>
                  <a:srgbClr val="666677"/>
                </a:solidFill>
                <a:latin typeface="Calibri"/>
                <a:ea typeface="Calibri"/>
                <a:cs typeface="Calibri"/>
                <a:sym typeface="Calibri"/>
              </a:rPr>
              <a:t>promise rejects</a:t>
            </a:r>
            <a:r>
              <a:rPr b="0" i="0" lang="en-US" sz="2000" u="none" cap="none" strike="noStrike">
                <a:solidFill>
                  <a:srgbClr val="666677"/>
                </a:solidFill>
                <a:latin typeface="Calibri"/>
                <a:ea typeface="Calibri"/>
                <a:cs typeface="Calibri"/>
                <a:sym typeface="Calibri"/>
              </a:rPr>
              <a:t>, and `try`/`catch` around the await catches it.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2. HTTP error status</a:t>
            </a:r>
            <a:r>
              <a:rPr b="0" i="0" lang="en-US" sz="2000" u="none" cap="none" strike="noStrike">
                <a:solidFill>
                  <a:srgbClr val="666677"/>
                </a:solidFill>
                <a:latin typeface="Calibri"/>
                <a:ea typeface="Calibri"/>
                <a:cs typeface="Calibri"/>
                <a:sym typeface="Calibri"/>
              </a:rPr>
              <a:t> (4xx or 5xx) - server responded, but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with an error. The </a:t>
            </a:r>
            <a:r>
              <a:rPr b="1" i="0" lang="en-US" sz="2000" u="none" cap="none" strike="noStrike">
                <a:solidFill>
                  <a:srgbClr val="666677"/>
                </a:solidFill>
                <a:latin typeface="Calibri"/>
                <a:ea typeface="Calibri"/>
                <a:cs typeface="Calibri"/>
                <a:sym typeface="Calibri"/>
              </a:rPr>
              <a:t>promise fulfills normally</a:t>
            </a:r>
            <a:r>
              <a:rPr b="0" i="0" lang="en-US" sz="2000" u="none" cap="none" strike="noStrike">
                <a:solidFill>
                  <a:srgbClr val="666677"/>
                </a:solidFill>
                <a:latin typeface="Calibri"/>
                <a:ea typeface="Calibri"/>
                <a:cs typeface="Calibri"/>
                <a:sym typeface="Calibri"/>
              </a:rPr>
              <a:t>, so you have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to check `response.ok` and throw yourself.</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3. Bad JSON</a:t>
            </a:r>
            <a:r>
              <a:rPr b="0" i="0" lang="en-US" sz="2000" u="none" cap="none" strike="noStrike">
                <a:solidFill>
                  <a:srgbClr val="666677"/>
                </a:solidFill>
                <a:latin typeface="Calibri"/>
                <a:ea typeface="Calibri"/>
                <a:cs typeface="Calibri"/>
                <a:sym typeface="Calibri"/>
              </a:rPr>
              <a:t> - `response.json()` throws a `SyntaxError`,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caught by the same `try`/`catch`.</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0" marR="0" rtl="0" algn="l">
              <a:spcBef>
                <a:spcPts val="600"/>
              </a:spcBef>
              <a:spcAft>
                <a:spcPts val="0"/>
              </a:spcAft>
              <a:buNone/>
            </a:pPr>
            <a:r>
              <a:rPr lang="en-US" sz="2400">
                <a:solidFill>
                  <a:srgbClr val="333344"/>
                </a:solidFill>
                <a:latin typeface="Calibri"/>
                <a:ea typeface="Calibri"/>
                <a:cs typeface="Calibri"/>
                <a:sym typeface="Calibri"/>
              </a:rPr>
              <a:t>You gotta handle all three.</a:t>
            </a:r>
            <a:endParaRPr sz="2400">
              <a:solidFill>
                <a:srgbClr val="333344"/>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6" name="Shape 336"/>
        <p:cNvGrpSpPr/>
        <p:nvPr/>
      </p:nvGrpSpPr>
      <p:grpSpPr>
        <a:xfrm>
          <a:off x="0" y="0"/>
          <a:ext cx="0" cy="0"/>
          <a:chOff x="0" y="0"/>
          <a:chExt cx="0" cy="0"/>
        </a:xfrm>
      </p:grpSpPr>
      <p:sp>
        <p:nvSpPr>
          <p:cNvPr id="337" name="Google Shape;337;p20"/>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One try/catch, three failures handled</a:t>
            </a:r>
            <a:endParaRPr/>
          </a:p>
        </p:txBody>
      </p:sp>
      <p:sp>
        <p:nvSpPr>
          <p:cNvPr id="338" name="Google Shape;338;p20"/>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39" name="Google Shape;339;p20"/>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0" name="Google Shape;340;p20"/>
          <p:cNvSpPr txBox="1"/>
          <p:nvPr/>
        </p:nvSpPr>
        <p:spPr>
          <a:xfrm>
            <a:off x="1005840" y="1645920"/>
            <a:ext cx="10179900" cy="4684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async function loadMessagesSafely(): Promise&lt;Message[]&gt;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response = await fetch("/api/messages");</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Case 2: HTTP error - fetch succeeded, server said no</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if (!response.ok)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throw new Error(`HTTP ${response.status}`);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Case 3: bad JSON throws inside response.json()</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const data: Message[] = await response.json();</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data;</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catch (err)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Network (cas</a:t>
            </a:r>
            <a:r>
              <a:rPr b="1" lang="en-US" sz="1500">
                <a:solidFill>
                  <a:srgbClr val="333344"/>
                </a:solidFill>
                <a:latin typeface="Courier New"/>
                <a:ea typeface="Courier New"/>
                <a:cs typeface="Courier New"/>
                <a:sym typeface="Courier New"/>
              </a:rPr>
              <a:t>e 1)</a:t>
            </a:r>
            <a:r>
              <a:rPr b="1" i="0" lang="en-US" sz="1500" u="none" cap="none" strike="noStrike">
                <a:solidFill>
                  <a:srgbClr val="333344"/>
                </a:solidFill>
                <a:latin typeface="Courier New"/>
                <a:ea typeface="Courier New"/>
                <a:cs typeface="Courier New"/>
                <a:sym typeface="Courier New"/>
              </a:rPr>
              <a:t>, HTTP error, and bad JSON all land here.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console.error("loadMessages failed:", err);</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return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345" name="Shape 345"/>
        <p:cNvGrpSpPr/>
        <p:nvPr/>
      </p:nvGrpSpPr>
      <p:grpSpPr>
        <a:xfrm>
          <a:off x="0" y="0"/>
          <a:ext cx="0" cy="0"/>
          <a:chOff x="0" y="0"/>
          <a:chExt cx="0" cy="0"/>
        </a:xfrm>
      </p:grpSpPr>
      <p:sp>
        <p:nvSpPr>
          <p:cNvPr id="346" name="Google Shape;346;p21"/>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When answers arrive in the wrong order</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1" name="Shape 351"/>
        <p:cNvGrpSpPr/>
        <p:nvPr/>
      </p:nvGrpSpPr>
      <p:grpSpPr>
        <a:xfrm>
          <a:off x="0" y="0"/>
          <a:ext cx="0" cy="0"/>
          <a:chOff x="0" y="0"/>
          <a:chExt cx="0" cy="0"/>
        </a:xfrm>
      </p:grpSpPr>
      <p:sp>
        <p:nvSpPr>
          <p:cNvPr id="352" name="Google Shape;352;g3daffe9b800_0_346"/>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second-clicked button wins</a:t>
            </a:r>
            <a:endParaRPr/>
          </a:p>
        </p:txBody>
      </p:sp>
      <p:sp>
        <p:nvSpPr>
          <p:cNvPr id="353" name="Google Shape;353;g3daffe9b800_0_346"/>
          <p:cNvSpPr txBox="1"/>
          <p:nvPr/>
        </p:nvSpPr>
        <p:spPr>
          <a:xfrm>
            <a:off x="914400" y="1177890"/>
            <a:ext cx="10362900" cy="1231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Imagine a chat UI with a filter. User clicks </a:t>
            </a:r>
            <a:r>
              <a:rPr b="1" i="0" lang="en-US" sz="2400" u="none" cap="none" strike="noStrike">
                <a:solidFill>
                  <a:srgbClr val="333344"/>
                </a:solidFill>
                <a:latin typeface="Calibri"/>
                <a:ea typeface="Calibri"/>
                <a:cs typeface="Calibri"/>
                <a:sym typeface="Calibri"/>
              </a:rPr>
              <a:t>Active</a:t>
            </a:r>
            <a:r>
              <a:rPr b="0" i="0" lang="en-US" sz="2400" u="none" cap="none" strike="noStrike">
                <a:solidFill>
                  <a:srgbClr val="333344"/>
                </a:solidFill>
                <a:latin typeface="Calibri"/>
                <a:ea typeface="Calibri"/>
                <a:cs typeface="Calibri"/>
                <a:sym typeface="Calibri"/>
              </a:rPr>
              <a:t>, then </a:t>
            </a:r>
            <a:r>
              <a:rPr lang="en-US" sz="2400">
                <a:solidFill>
                  <a:srgbClr val="333344"/>
                </a:solidFill>
                <a:latin typeface="Calibri"/>
                <a:ea typeface="Calibri"/>
                <a:cs typeface="Calibri"/>
                <a:sym typeface="Calibri"/>
              </a:rPr>
              <a:t>immediately clicks </a:t>
            </a:r>
            <a:r>
              <a:rPr b="1" lang="en-US" sz="2400">
                <a:solidFill>
                  <a:srgbClr val="333344"/>
                </a:solidFill>
                <a:latin typeface="Calibri"/>
                <a:ea typeface="Calibri"/>
                <a:cs typeface="Calibri"/>
                <a:sym typeface="Calibri"/>
              </a:rPr>
              <a:t>All</a:t>
            </a:r>
            <a:endParaRPr b="1"/>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Two fetches go out, both succeed.</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But the second fetch finishes FIRST. Then the</a:t>
            </a:r>
            <a:r>
              <a:rPr lang="en-US"/>
              <a:t> </a:t>
            </a:r>
            <a:r>
              <a:rPr b="0" i="0" lang="en-US" sz="2000" u="none" cap="none" strike="noStrike">
                <a:solidFill>
                  <a:srgbClr val="666677"/>
                </a:solidFill>
                <a:latin typeface="Calibri"/>
                <a:ea typeface="Calibri"/>
                <a:cs typeface="Calibri"/>
                <a:sym typeface="Calibri"/>
              </a:rPr>
              <a:t>first fetch</a:t>
            </a:r>
            <a:r>
              <a:rPr lang="en-US" sz="2000">
                <a:solidFill>
                  <a:srgbClr val="666677"/>
                </a:solidFill>
                <a:latin typeface="Calibri"/>
                <a:ea typeface="Calibri"/>
                <a:cs typeface="Calibri"/>
                <a:sym typeface="Calibri"/>
              </a:rPr>
              <a:t> </a:t>
            </a:r>
            <a:r>
              <a:rPr b="0" i="0" lang="en-US" sz="2000" u="none" cap="none" strike="noStrike">
                <a:solidFill>
                  <a:srgbClr val="666677"/>
                </a:solidFill>
                <a:latin typeface="Calibri"/>
                <a:ea typeface="Calibri"/>
                <a:cs typeface="Calibri"/>
                <a:sym typeface="Calibri"/>
              </a:rPr>
              <a:t>finishes second</a:t>
            </a:r>
            <a:r>
              <a:rPr lang="en-US" sz="2000">
                <a:solidFill>
                  <a:srgbClr val="666677"/>
                </a:solidFill>
                <a:latin typeface="Calibri"/>
                <a:ea typeface="Calibri"/>
                <a:cs typeface="Calibri"/>
                <a:sym typeface="Calibri"/>
              </a:rPr>
              <a:t>.</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8" name="Shape 358"/>
        <p:cNvGrpSpPr/>
        <p:nvPr/>
      </p:nvGrpSpPr>
      <p:grpSpPr>
        <a:xfrm>
          <a:off x="0" y="0"/>
          <a:ext cx="0" cy="0"/>
          <a:chOff x="0" y="0"/>
          <a:chExt cx="0" cy="0"/>
        </a:xfrm>
      </p:grpSpPr>
      <p:sp>
        <p:nvSpPr>
          <p:cNvPr id="359" name="Google Shape;359;p2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second-clicked button wins</a:t>
            </a:r>
            <a:endParaRPr/>
          </a:p>
        </p:txBody>
      </p:sp>
      <p:sp>
        <p:nvSpPr>
          <p:cNvPr id="360" name="Google Shape;360;p22"/>
          <p:cNvSpPr txBox="1"/>
          <p:nvPr/>
        </p:nvSpPr>
        <p:spPr>
          <a:xfrm>
            <a:off x="914400" y="1177890"/>
            <a:ext cx="10362900" cy="4879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Imagine a chat UI with a filter. User clicks </a:t>
            </a:r>
            <a:r>
              <a:rPr b="1" i="0" lang="en-US" sz="2400" u="none" cap="none" strike="noStrike">
                <a:solidFill>
                  <a:srgbClr val="333344"/>
                </a:solidFill>
                <a:latin typeface="Calibri"/>
                <a:ea typeface="Calibri"/>
                <a:cs typeface="Calibri"/>
                <a:sym typeface="Calibri"/>
              </a:rPr>
              <a:t>Active</a:t>
            </a:r>
            <a:r>
              <a:rPr b="0" i="0" lang="en-US" sz="2400" u="none" cap="none" strike="noStrike">
                <a:solidFill>
                  <a:srgbClr val="333344"/>
                </a:solidFill>
                <a:latin typeface="Calibri"/>
                <a:ea typeface="Calibri"/>
                <a:cs typeface="Calibri"/>
                <a:sym typeface="Calibri"/>
              </a:rPr>
              <a:t>, then </a:t>
            </a:r>
            <a:r>
              <a:rPr lang="en-US" sz="2400">
                <a:solidFill>
                  <a:srgbClr val="333344"/>
                </a:solidFill>
                <a:latin typeface="Calibri"/>
                <a:ea typeface="Calibri"/>
                <a:cs typeface="Calibri"/>
                <a:sym typeface="Calibri"/>
              </a:rPr>
              <a:t>immediately clicks </a:t>
            </a:r>
            <a:r>
              <a:rPr b="1" lang="en-US" sz="2400">
                <a:solidFill>
                  <a:srgbClr val="333344"/>
                </a:solidFill>
                <a:latin typeface="Calibri"/>
                <a:ea typeface="Calibri"/>
                <a:cs typeface="Calibri"/>
                <a:sym typeface="Calibri"/>
              </a:rPr>
              <a:t>All</a:t>
            </a:r>
            <a:endParaRPr b="1"/>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Two fetches go out, both succeed.</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But the second fetch finishes FIRST. Then the</a:t>
            </a:r>
            <a:r>
              <a:rPr lang="en-US"/>
              <a:t> </a:t>
            </a:r>
            <a:r>
              <a:rPr b="0" i="0" lang="en-US" sz="2000" u="none" cap="none" strike="noStrike">
                <a:solidFill>
                  <a:srgbClr val="666677"/>
                </a:solidFill>
                <a:latin typeface="Calibri"/>
                <a:ea typeface="Calibri"/>
                <a:cs typeface="Calibri"/>
                <a:sym typeface="Calibri"/>
              </a:rPr>
              <a:t>first fetch finishes second</a:t>
            </a:r>
            <a:r>
              <a:rPr lang="en-US" sz="2000">
                <a:solidFill>
                  <a:srgbClr val="666677"/>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a:t>
            </a:r>
            <a:r>
              <a:rPr lang="en-US" sz="2000">
                <a:solidFill>
                  <a:srgbClr val="666677"/>
                </a:solidFill>
                <a:latin typeface="Calibri"/>
                <a:ea typeface="Calibri"/>
                <a:cs typeface="Calibri"/>
                <a:sym typeface="Calibri"/>
              </a:rPr>
              <a:t>r render </a:t>
            </a:r>
            <a:r>
              <a:rPr b="0" i="0" lang="en-US" sz="2000" u="none" cap="none" strike="noStrike">
                <a:solidFill>
                  <a:srgbClr val="666677"/>
                </a:solidFill>
                <a:latin typeface="Calibri"/>
                <a:ea typeface="Calibri"/>
                <a:cs typeface="Calibri"/>
                <a:sym typeface="Calibri"/>
              </a:rPr>
              <a:t>callback overwrites the All list with the stale Active list.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The UI now shows the wrong data and nothing threw an error.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filter says All, the list shows Active. Welcome to async.</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Synchronous function calls return in the order they're called.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Promises don't - network jitter decides.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When two requests can race</a:t>
            </a:r>
            <a:r>
              <a:rPr b="0" i="0" lang="en-US" sz="2400" u="none" cap="none" strike="noStrike">
                <a:solidFill>
                  <a:srgbClr val="333344"/>
                </a:solidFill>
                <a:latin typeface="Calibri"/>
                <a:ea typeface="Calibri"/>
                <a:cs typeface="Calibri"/>
                <a:sym typeface="Calibri"/>
              </a:rPr>
              <a:t>, you have to </a:t>
            </a:r>
            <a:r>
              <a:rPr b="1" i="0" lang="en-US" sz="2400" u="none" cap="none" strike="noStrike">
                <a:solidFill>
                  <a:srgbClr val="333344"/>
                </a:solidFill>
                <a:latin typeface="Calibri"/>
                <a:ea typeface="Calibri"/>
                <a:cs typeface="Calibri"/>
                <a:sym typeface="Calibri"/>
              </a:rPr>
              <a:t>decide which one wins</a:t>
            </a:r>
            <a:r>
              <a:rPr b="0" i="0" lang="en-US" sz="2400" u="none" cap="none" strike="noStrike">
                <a:solidFill>
                  <a:srgbClr val="333344"/>
                </a:solidFill>
                <a:latin typeface="Calibri"/>
                <a:ea typeface="Calibri"/>
                <a:cs typeface="Calibri"/>
                <a:sym typeface="Calibri"/>
              </a:rPr>
              <a:t>.</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5" name="Shape 365"/>
        <p:cNvGrpSpPr/>
        <p:nvPr/>
      </p:nvGrpSpPr>
      <p:grpSpPr>
        <a:xfrm>
          <a:off x="0" y="0"/>
          <a:ext cx="0" cy="0"/>
          <a:chOff x="0" y="0"/>
          <a:chExt cx="0" cy="0"/>
        </a:xfrm>
      </p:grpSpPr>
      <p:sp>
        <p:nvSpPr>
          <p:cNvPr id="366" name="Google Shape;366;g3daffe9b800_0_247"/>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AbortController: cancel the previous request</a:t>
            </a:r>
            <a:endParaRPr/>
          </a:p>
        </p:txBody>
      </p:sp>
      <p:sp>
        <p:nvSpPr>
          <p:cNvPr id="367" name="Google Shape;367;g3daffe9b800_0_247"/>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68" name="Google Shape;368;g3daffe9b800_0_247"/>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9" name="Google Shape;369;g3daffe9b800_0_247"/>
          <p:cNvSpPr txBox="1"/>
          <p:nvPr/>
        </p:nvSpPr>
        <p:spPr>
          <a:xfrm>
            <a:off x="1005840" y="1645920"/>
            <a:ext cx="10179900" cy="46485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async function loadFiltered(filter: string): Promise&lt;void&gt; {</a:t>
            </a:r>
            <a:endParaRPr/>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response = await fetch(</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`/api/messages?filter=${filter}`,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signal: controller.signal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data = await response.json();</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renderMessages(data);</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catch (err: any)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if (err.name === "AbortError") return;   // expected, ignore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console.error("fetch failed:", err);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4" name="Shape 374"/>
        <p:cNvGrpSpPr/>
        <p:nvPr/>
      </p:nvGrpSpPr>
      <p:grpSpPr>
        <a:xfrm>
          <a:off x="0" y="0"/>
          <a:ext cx="0" cy="0"/>
          <a:chOff x="0" y="0"/>
          <a:chExt cx="0" cy="0"/>
        </a:xfrm>
      </p:grpSpPr>
      <p:sp>
        <p:nvSpPr>
          <p:cNvPr id="375" name="Google Shape;375;g3daffe9b800_0_239"/>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AbortController: cancel the previous request</a:t>
            </a:r>
            <a:endParaRPr/>
          </a:p>
        </p:txBody>
      </p:sp>
      <p:sp>
        <p:nvSpPr>
          <p:cNvPr id="376" name="Google Shape;376;g3daffe9b800_0_239"/>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77" name="Google Shape;377;g3daffe9b800_0_239"/>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8" name="Google Shape;378;g3daffe9b800_0_239"/>
          <p:cNvSpPr txBox="1"/>
          <p:nvPr/>
        </p:nvSpPr>
        <p:spPr>
          <a:xfrm>
            <a:off x="1005840" y="1645920"/>
            <a:ext cx="10179900" cy="4648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 Cancel the in-flight fetch when a newer one starts.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The cancelled fetch's promise rejects with an AbortError.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let controller: AbortController | null = null;</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async function loadFiltered(filter: string): Promise&lt;void&gt; {</a:t>
            </a:r>
            <a:endParaRPr/>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response = await fetch(</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`/api/messages?filter=${filter}`,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signal: controller.signal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data = await response.json();</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renderMessages(data);</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catch (err: any)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if (err.name === "AbortError") return;   // expected, ignore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console.error("fetch failed:", err);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3" name="Shape 383"/>
        <p:cNvGrpSpPr/>
        <p:nvPr/>
      </p:nvGrpSpPr>
      <p:grpSpPr>
        <a:xfrm>
          <a:off x="0" y="0"/>
          <a:ext cx="0" cy="0"/>
          <a:chOff x="0" y="0"/>
          <a:chExt cx="0" cy="0"/>
        </a:xfrm>
      </p:grpSpPr>
      <p:sp>
        <p:nvSpPr>
          <p:cNvPr id="384" name="Google Shape;384;p23"/>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AbortController: cancel the previous request</a:t>
            </a:r>
            <a:endParaRPr/>
          </a:p>
        </p:txBody>
      </p:sp>
      <p:sp>
        <p:nvSpPr>
          <p:cNvPr id="385" name="Google Shape;385;p23"/>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386" name="Google Shape;386;p23"/>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7" name="Google Shape;387;p23"/>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333344"/>
                </a:solidFill>
                <a:latin typeface="Courier New"/>
                <a:ea typeface="Courier New"/>
                <a:cs typeface="Courier New"/>
                <a:sym typeface="Courier New"/>
              </a:rPr>
              <a:t>// Cancel the in-flight fetch when a newer one starts.</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The cancelled fetch's promise rejects with an AbortError.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let controller: AbortController | null = null;</a:t>
            </a:r>
            <a:endParaRPr/>
          </a:p>
          <a:p>
            <a:pPr indent="0" lvl="0" marL="0" marR="0" rtl="0" algn="l">
              <a:spcBef>
                <a:spcPts val="200"/>
              </a:spcBef>
              <a:spcAft>
                <a:spcPts val="0"/>
              </a:spcAft>
              <a:buNone/>
            </a:pPr>
            <a:r>
              <a:t/>
            </a:r>
            <a:endParaRPr b="1" i="0" sz="1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async function loadFiltered(filter: string): Promise&lt;void&gt;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controller?.abort();              // cancel previous, if any</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controller = new AbortController();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response = await fetch(</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`/api/messages?filter=${filter}`,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signal: controller.signal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const data = await response.json();</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renderMessages(data);</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 catch (err: any)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if (err.name === "AbortError") return;   // expected, ignore</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console.error("fetch failed:", err);</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4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2" name="Shape 392"/>
        <p:cNvGrpSpPr/>
        <p:nvPr/>
      </p:nvGrpSpPr>
      <p:grpSpPr>
        <a:xfrm>
          <a:off x="0" y="0"/>
          <a:ext cx="0" cy="0"/>
          <a:chOff x="0" y="0"/>
          <a:chExt cx="0" cy="0"/>
        </a:xfrm>
      </p:grpSpPr>
      <p:sp>
        <p:nvSpPr>
          <p:cNvPr id="393" name="Google Shape;393;p24"/>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Fetch todos and render them into the page</a:t>
            </a:r>
            <a:endParaRPr/>
          </a:p>
        </p:txBody>
      </p:sp>
      <p:sp>
        <p:nvSpPr>
          <p:cNvPr id="394" name="Google Shape;394;p24"/>
          <p:cNvSpPr/>
          <p:nvPr/>
        </p:nvSpPr>
        <p:spPr>
          <a:xfrm>
            <a:off x="640080" y="228600"/>
            <a:ext cx="1097280" cy="365760"/>
          </a:xfrm>
          <a:prstGeom prst="roundRect">
            <a:avLst>
              <a:gd fmla="val 16667"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5" name="Google Shape;395;p24"/>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6" name="Google Shape;396;p24"/>
          <p:cNvSpPr txBox="1"/>
          <p:nvPr/>
        </p:nvSpPr>
        <p:spPr>
          <a:xfrm>
            <a:off x="1005840" y="1554480"/>
            <a:ext cx="10179900" cy="48075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Goal: GET /api/todos, append one &lt;li&gt; per todo, show errors.</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async function loadAndRenderTodos(): Promise&lt;void&gt;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list  = document.querySelector("#todo-list") as HTMLUListElement;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error = document.querySelector("#error")    as HTMLDivElement;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const response = await ________("/api/todos");</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if (</a:t>
            </a:r>
            <a:r>
              <a:rPr b="1" lang="en-US" sz="1300">
                <a:solidFill>
                  <a:srgbClr val="B0B0C0"/>
                </a:solidFill>
                <a:latin typeface="Courier New"/>
                <a:ea typeface="Courier New"/>
                <a:cs typeface="Courier New"/>
                <a:sym typeface="Courier New"/>
              </a:rPr>
              <a:t>________</a:t>
            </a:r>
            <a:r>
              <a:rPr b="1" lang="en-US" sz="1300">
                <a:solidFill>
                  <a:srgbClr val="B0B0C0"/>
                </a:solidFill>
                <a:latin typeface="Courier New"/>
                <a:ea typeface="Courier New"/>
                <a:cs typeface="Courier New"/>
                <a:sym typeface="Courier New"/>
              </a:rPr>
              <a:t>________)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throw new Error(`HTTP ${response.status}`);</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const todos = await response.________();</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todos.forEach((todo) =&gt;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const li = _______________;</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li.textContent = ________;</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list.________(li);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 catch (err)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error.textContent = `Could not load: ${err}`;</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a:t>
            </a:r>
            <a:r>
              <a:rPr b="1" lang="en-US" sz="1300">
                <a:solidFill>
                  <a:srgbClr val="333344"/>
                </a:solidFill>
                <a:latin typeface="Courier New"/>
                <a:ea typeface="Courier New"/>
                <a:cs typeface="Courier New"/>
                <a:sym typeface="Courier New"/>
              </a:rPr>
              <a:t>error.style.display = "block";</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401" name="Shape 401"/>
        <p:cNvGrpSpPr/>
        <p:nvPr/>
      </p:nvGrpSpPr>
      <p:grpSpPr>
        <a:xfrm>
          <a:off x="0" y="0"/>
          <a:ext cx="0" cy="0"/>
          <a:chOff x="0" y="0"/>
          <a:chExt cx="0" cy="0"/>
        </a:xfrm>
      </p:grpSpPr>
      <p:sp>
        <p:nvSpPr>
          <p:cNvPr id="402" name="Google Shape;402;p25"/>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ANSWER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Fetch todos and render them into the page</a:t>
            </a:r>
            <a:endParaRPr/>
          </a:p>
        </p:txBody>
      </p:sp>
      <p:sp>
        <p:nvSpPr>
          <p:cNvPr id="403" name="Google Shape;403;p25"/>
          <p:cNvSpPr/>
          <p:nvPr/>
        </p:nvSpPr>
        <p:spPr>
          <a:xfrm>
            <a:off x="640080" y="228600"/>
            <a:ext cx="1188720" cy="365760"/>
          </a:xfrm>
          <a:prstGeom prst="roundRect">
            <a:avLst>
              <a:gd fmla="val 16667" name="adj"/>
            </a:avLst>
          </a:prstGeom>
          <a:solidFill>
            <a:srgbClr val="16653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4" name="Google Shape;404;p25"/>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5" name="Google Shape;405;p25"/>
          <p:cNvSpPr txBox="1"/>
          <p:nvPr/>
        </p:nvSpPr>
        <p:spPr>
          <a:xfrm>
            <a:off x="1005840" y="1554480"/>
            <a:ext cx="10180015" cy="46634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333344"/>
                </a:solidFill>
                <a:latin typeface="Courier New"/>
                <a:ea typeface="Courier New"/>
                <a:cs typeface="Courier New"/>
                <a:sym typeface="Courier New"/>
              </a:rPr>
              <a:t>async function loadAndRenderTodos(): Promise&lt;void&gt;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list  = document.querySelector("#todo-list") as HTMLUListElement;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error = document.querySelector("#error")    as HTMLDivElement;</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response = await fetch("/api/todos");</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if (!response.ok)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throw new Error(`HTTP ${response.status}`);</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todos = await response.json();</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todos.forEach((todo) =&gt;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li = document.createElement("li");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li.textContent = todo.title;</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list.append(li);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 catch (err)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error.textContent = `Could not load: ${err}`;</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error.style.display = "block";</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0" name="Shape 410"/>
        <p:cNvGrpSpPr/>
        <p:nvPr/>
      </p:nvGrpSpPr>
      <p:grpSpPr>
        <a:xfrm>
          <a:off x="0" y="0"/>
          <a:ext cx="0" cy="0"/>
          <a:chOff x="0" y="0"/>
          <a:chExt cx="0" cy="0"/>
        </a:xfrm>
      </p:grpSpPr>
      <p:sp>
        <p:nvSpPr>
          <p:cNvPr id="411" name="Google Shape;411;p26"/>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POST a new todo and append it to the list</a:t>
            </a:r>
            <a:endParaRPr/>
          </a:p>
        </p:txBody>
      </p:sp>
      <p:sp>
        <p:nvSpPr>
          <p:cNvPr id="412" name="Google Shape;412;p26"/>
          <p:cNvSpPr/>
          <p:nvPr/>
        </p:nvSpPr>
        <p:spPr>
          <a:xfrm>
            <a:off x="640080" y="228600"/>
            <a:ext cx="1097280" cy="365760"/>
          </a:xfrm>
          <a:prstGeom prst="roundRect">
            <a:avLst>
              <a:gd fmla="val 16667"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3" name="Google Shape;413;p26"/>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26"/>
          <p:cNvSpPr txBox="1"/>
          <p:nvPr/>
        </p:nvSpPr>
        <p:spPr>
          <a:xfrm>
            <a:off x="1005878" y="1454680"/>
            <a:ext cx="10179900" cy="48075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r>
              <a:rPr b="1" lang="en-US" sz="1300">
                <a:solidFill>
                  <a:srgbClr val="333344"/>
                </a:solidFill>
                <a:latin typeface="Courier New"/>
                <a:ea typeface="Courier New"/>
                <a:cs typeface="Courier New"/>
                <a:sym typeface="Courier New"/>
              </a:rPr>
              <a:t>/ On submit: POST /api/todos with {title}, then append the new &lt;li&gt;.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const form  = document.querySelector("#new-todo") as HTMLFormElement;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const list  = document.querySelector("#todo-list") as HTMLUListElement;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const input = document.querySelector("#text")     as HTMLInputElement;</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form.addEventListener("submit", async (event) =&gt;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a:t>
            </a:r>
            <a:r>
              <a:rPr b="1" lang="en-US" sz="1300">
                <a:solidFill>
                  <a:srgbClr val="333344"/>
                </a:solidFill>
                <a:latin typeface="Courier New"/>
                <a:ea typeface="Courier New"/>
                <a:cs typeface="Courier New"/>
                <a:sym typeface="Courier New"/>
              </a:rPr>
              <a:t>event.preventDefault();</a:t>
            </a:r>
            <a:r>
              <a:rPr b="1" lang="en-US" sz="1300">
                <a:solidFill>
                  <a:srgbClr val="B0B0C0"/>
                </a:solidFill>
                <a:latin typeface="Courier New"/>
                <a:ea typeface="Courier New"/>
                <a:cs typeface="Courier New"/>
                <a:sym typeface="Courier New"/>
              </a:rPr>
              <a:t>                       </a:t>
            </a:r>
            <a:r>
              <a:rPr b="1" lang="en-US" sz="1300">
                <a:solidFill>
                  <a:schemeClr val="dk1"/>
                </a:solidFill>
                <a:latin typeface="Courier New"/>
                <a:ea typeface="Courier New"/>
                <a:cs typeface="Courier New"/>
                <a:sym typeface="Courier New"/>
              </a:rPr>
              <a:t>// stop the page reload</a:t>
            </a:r>
            <a:endParaRPr>
              <a:solidFill>
                <a:schemeClr val="dk1"/>
              </a:solidFill>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response = await fetch("/api/todos",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________: </a:t>
            </a:r>
            <a:r>
              <a:rPr b="1" lang="en-US" sz="1300">
                <a:solidFill>
                  <a:srgbClr val="B0B0C0"/>
                </a:solidFill>
                <a:latin typeface="Courier New"/>
                <a:ea typeface="Courier New"/>
                <a:cs typeface="Courier New"/>
                <a:sym typeface="Courier New"/>
              </a:rPr>
              <a:t>____</a:t>
            </a:r>
            <a:r>
              <a:rPr b="1" lang="en-US" sz="1300">
                <a:solidFill>
                  <a:srgbClr val="B0B0C0"/>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headers: { "Content-Type": "application/json"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body: ________({ title: input.value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if (_______________) throw new Error(`HTTP ${response.status}`);</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const created = await response.________();</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li = </a:t>
            </a:r>
            <a:r>
              <a:rPr b="1" lang="en-US" sz="1300">
                <a:solidFill>
                  <a:srgbClr val="B0B0C0"/>
                </a:solidFill>
                <a:latin typeface="Courier New"/>
                <a:ea typeface="Courier New"/>
                <a:cs typeface="Courier New"/>
                <a:sym typeface="Courier New"/>
              </a:rPr>
              <a:t>_______________</a:t>
            </a:r>
            <a:r>
              <a:rPr b="1" lang="en-US" sz="13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li.textContent = created.title;</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list.________(li);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input.value =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 catch (err) { console.error(err);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419" name="Shape 419"/>
        <p:cNvGrpSpPr/>
        <p:nvPr/>
      </p:nvGrpSpPr>
      <p:grpSpPr>
        <a:xfrm>
          <a:off x="0" y="0"/>
          <a:ext cx="0" cy="0"/>
          <a:chOff x="0" y="0"/>
          <a:chExt cx="0" cy="0"/>
        </a:xfrm>
      </p:grpSpPr>
      <p:sp>
        <p:nvSpPr>
          <p:cNvPr id="420" name="Google Shape;420;p27"/>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ANSWER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POST a new todo and append it to the list</a:t>
            </a:r>
            <a:endParaRPr/>
          </a:p>
        </p:txBody>
      </p:sp>
      <p:sp>
        <p:nvSpPr>
          <p:cNvPr id="421" name="Google Shape;421;p27"/>
          <p:cNvSpPr/>
          <p:nvPr/>
        </p:nvSpPr>
        <p:spPr>
          <a:xfrm>
            <a:off x="640080" y="228600"/>
            <a:ext cx="1188720" cy="365760"/>
          </a:xfrm>
          <a:prstGeom prst="roundRect">
            <a:avLst>
              <a:gd fmla="val 16667" name="adj"/>
            </a:avLst>
          </a:prstGeom>
          <a:solidFill>
            <a:srgbClr val="16653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2" name="Google Shape;422;p27"/>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3" name="Google Shape;423;p27"/>
          <p:cNvSpPr txBox="1"/>
          <p:nvPr/>
        </p:nvSpPr>
        <p:spPr>
          <a:xfrm>
            <a:off x="1005840" y="1554480"/>
            <a:ext cx="10180015" cy="46634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333344"/>
                </a:solidFill>
                <a:latin typeface="Courier New"/>
                <a:ea typeface="Courier New"/>
                <a:cs typeface="Courier New"/>
                <a:sym typeface="Courier New"/>
              </a:rPr>
              <a:t>const form  = document.querySelector("#new-todo") as HTMLFormElement;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const list  = document.querySelector("#todo-list") as HTMLUListElement;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const input = document.querySelector("#text")     as HTMLInputElement;</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form.addEventListener("submit", async (event) =&gt;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event.preventDefault();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try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response = await fetch("/api/todos",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method: "POST",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headers: { "Content-Type": "application/json"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body: JSON.stringify({ title: input.value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if (!response.ok)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throw new Error(`HTTP ${response.status}`);</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created = await response.json();</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const li = document.createElement("li");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li.textContent = created.title;</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list.append(li);</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input.value =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 catch (err) { console.error(err); }</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8" name="Shape 428"/>
        <p:cNvGrpSpPr/>
        <p:nvPr/>
      </p:nvGrpSpPr>
      <p:grpSpPr>
        <a:xfrm>
          <a:off x="0" y="0"/>
          <a:ext cx="0" cy="0"/>
          <a:chOff x="0" y="0"/>
          <a:chExt cx="0" cy="0"/>
        </a:xfrm>
      </p:grpSpPr>
      <p:sp>
        <p:nvSpPr>
          <p:cNvPr id="429" name="Google Shape;429;p28"/>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Where this goes next</a:t>
            </a:r>
            <a:endParaRPr/>
          </a:p>
        </p:txBody>
      </p:sp>
      <p:sp>
        <p:nvSpPr>
          <p:cNvPr id="430" name="Google Shape;430;p28"/>
          <p:cNvSpPr txBox="1"/>
          <p:nvPr/>
        </p:nvSpPr>
        <p:spPr>
          <a:xfrm>
            <a:off x="914400" y="1120840"/>
            <a:ext cx="10362900" cy="3509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44"/>
                </a:solidFill>
                <a:latin typeface="Calibri"/>
                <a:ea typeface="Calibri"/>
                <a:cs typeface="Calibri"/>
                <a:sym typeface="Calibri"/>
              </a:rPr>
              <a:t>Five things to walk away with:</a:t>
            </a:r>
            <a:endParaRPr b="1" sz="2400">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a:t>
            </a:r>
            <a:r>
              <a:rPr b="1" i="0" lang="en-US" sz="2000" u="none" cap="none" strike="noStrike">
                <a:solidFill>
                  <a:srgbClr val="666677"/>
                </a:solidFill>
                <a:latin typeface="Calibri"/>
                <a:ea typeface="Calibri"/>
                <a:cs typeface="Calibri"/>
                <a:sym typeface="Calibri"/>
              </a:rPr>
              <a:t>promise</a:t>
            </a:r>
            <a:r>
              <a:rPr b="0" i="0" lang="en-US" sz="2000" u="none" cap="none" strike="noStrike">
                <a:solidFill>
                  <a:srgbClr val="666677"/>
                </a:solidFill>
                <a:latin typeface="Calibri"/>
                <a:ea typeface="Calibri"/>
                <a:cs typeface="Calibri"/>
                <a:sym typeface="Calibri"/>
              </a:rPr>
              <a:t> is a placeholder for a value that will arrive later.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async/await</a:t>
            </a:r>
            <a:r>
              <a:rPr b="0" i="0" lang="en-US" sz="2000" u="none" cap="none" strike="noStrike">
                <a:solidFill>
                  <a:srgbClr val="666677"/>
                </a:solidFill>
                <a:latin typeface="Calibri"/>
                <a:ea typeface="Calibri"/>
                <a:cs typeface="Calibri"/>
                <a:sym typeface="Calibri"/>
              </a:rPr>
              <a:t> is the syntax for working with them cleanly.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fetch</a:t>
            </a:r>
            <a:r>
              <a:rPr b="0" i="0" lang="en-US" sz="2000" u="none" cap="none" strike="noStrike">
                <a:solidFill>
                  <a:srgbClr val="666677"/>
                </a:solidFill>
                <a:latin typeface="Calibri"/>
                <a:ea typeface="Calibri"/>
                <a:cs typeface="Calibri"/>
                <a:sym typeface="Calibri"/>
              </a:rPr>
              <a:t> is the browser's HTTP API; check `response.ok` yourself.</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Three failures</a:t>
            </a:r>
            <a:r>
              <a:rPr b="0" i="0" lang="en-US" sz="2000" u="none" cap="none" strike="noStrike">
                <a:solidFill>
                  <a:srgbClr val="666677"/>
                </a:solidFill>
                <a:latin typeface="Calibri"/>
                <a:ea typeface="Calibri"/>
                <a:cs typeface="Calibri"/>
                <a:sym typeface="Calibri"/>
              </a:rPr>
              <a:t> - network, HTTP, bad JSON - each needs a plan.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Races</a:t>
            </a:r>
            <a:r>
              <a:rPr b="0" i="0" lang="en-US" sz="2000" u="none" cap="none" strike="noStrike">
                <a:solidFill>
                  <a:srgbClr val="666677"/>
                </a:solidFill>
                <a:latin typeface="Calibri"/>
                <a:ea typeface="Calibri"/>
                <a:cs typeface="Calibri"/>
                <a:sym typeface="Calibri"/>
              </a:rPr>
              <a:t> are real - when two promises can land in any order, decide who wins.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You now have every piece of the browser side: DOM, events, network.</a:t>
            </a:r>
            <a:endParaRPr/>
          </a:p>
          <a:p>
            <a:pPr indent="0" lvl="1" marL="457200" marR="0" rtl="0" algn="l">
              <a:spcBef>
                <a:spcPts val="600"/>
              </a:spcBef>
              <a:spcAft>
                <a:spcPts val="0"/>
              </a:spcAft>
              <a:buNone/>
            </a:pPr>
            <a:r>
              <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5" name="Shape 435"/>
        <p:cNvGrpSpPr/>
        <p:nvPr/>
      </p:nvGrpSpPr>
      <p:grpSpPr>
        <a:xfrm>
          <a:off x="0" y="0"/>
          <a:ext cx="0" cy="0"/>
          <a:chOff x="0" y="0"/>
          <a:chExt cx="0" cy="0"/>
        </a:xfrm>
      </p:grpSpPr>
      <p:sp>
        <p:nvSpPr>
          <p:cNvPr id="436" name="Google Shape;436;g3daffe9b800_0_255"/>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Vanilla-JS after a fetch</a:t>
            </a:r>
            <a:endParaRPr/>
          </a:p>
        </p:txBody>
      </p:sp>
      <p:sp>
        <p:nvSpPr>
          <p:cNvPr id="437" name="Google Shape;437;g3daffe9b800_0_255"/>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TypeScript</a:t>
            </a:r>
            <a:endParaRPr/>
          </a:p>
        </p:txBody>
      </p:sp>
      <p:sp>
        <p:nvSpPr>
          <p:cNvPr id="438" name="Google Shape;438;g3daffe9b800_0_255"/>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9" name="Google Shape;439;g3daffe9b800_0_255"/>
          <p:cNvSpPr txBox="1"/>
          <p:nvPr/>
        </p:nvSpPr>
        <p:spPr>
          <a:xfrm>
            <a:off x="1005840" y="1645920"/>
            <a:ext cx="10179900" cy="458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After fetching new todos, update every piece of the page BY HAND.</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async function refresh()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todos = await loadTodos();</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1. clear and rebuild the list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list = document.querySelector("#todo-list")!;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list.replaceChildren();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todos.forEach((t) =&gt;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li = document.createElement("li");</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li.textContent = t.title;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if (t.done) li.classList.add("done");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list.append(li);</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2. update the counter</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counter = document.querySelector("#counter")!;</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counter.textContent = `${todos.filter(t =&gt; !t.done).length} left`;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3. show or hide the "empty" message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const empty = document.querySelector("#empty")! as HTMLElement;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empty.style.display = todos.length === 0 ? "block" : "none";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4" name="Shape 444"/>
        <p:cNvGrpSpPr/>
        <p:nvPr/>
      </p:nvGrpSpPr>
      <p:grpSpPr>
        <a:xfrm>
          <a:off x="0" y="0"/>
          <a:ext cx="0" cy="0"/>
          <a:chOff x="0" y="0"/>
          <a:chExt cx="0" cy="0"/>
        </a:xfrm>
      </p:grpSpPr>
      <p:sp>
        <p:nvSpPr>
          <p:cNvPr id="445" name="Google Shape;445;g3daffe9b800_0_338"/>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Where this goes next</a:t>
            </a:r>
            <a:endParaRPr/>
          </a:p>
        </p:txBody>
      </p:sp>
      <p:sp>
        <p:nvSpPr>
          <p:cNvPr id="446" name="Google Shape;446;g3daffe9b800_0_338"/>
          <p:cNvSpPr txBox="1"/>
          <p:nvPr/>
        </p:nvSpPr>
        <p:spPr>
          <a:xfrm>
            <a:off x="914400" y="1120840"/>
            <a:ext cx="10362900" cy="4879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44"/>
                </a:solidFill>
                <a:latin typeface="Calibri"/>
                <a:ea typeface="Calibri"/>
                <a:cs typeface="Calibri"/>
                <a:sym typeface="Calibri"/>
              </a:rPr>
              <a:t>Five things to walk away with:</a:t>
            </a:r>
            <a:endParaRPr b="1" sz="2400">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a:t>
            </a:r>
            <a:r>
              <a:rPr b="1" i="0" lang="en-US" sz="2000" u="none" cap="none" strike="noStrike">
                <a:solidFill>
                  <a:srgbClr val="666677"/>
                </a:solidFill>
                <a:latin typeface="Calibri"/>
                <a:ea typeface="Calibri"/>
                <a:cs typeface="Calibri"/>
                <a:sym typeface="Calibri"/>
              </a:rPr>
              <a:t>promise</a:t>
            </a:r>
            <a:r>
              <a:rPr b="0" i="0" lang="en-US" sz="2000" u="none" cap="none" strike="noStrike">
                <a:solidFill>
                  <a:srgbClr val="666677"/>
                </a:solidFill>
                <a:latin typeface="Calibri"/>
                <a:ea typeface="Calibri"/>
                <a:cs typeface="Calibri"/>
                <a:sym typeface="Calibri"/>
              </a:rPr>
              <a:t> is a placeholder for a value that will arrive later.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async/await</a:t>
            </a:r>
            <a:r>
              <a:rPr b="0" i="0" lang="en-US" sz="2000" u="none" cap="none" strike="noStrike">
                <a:solidFill>
                  <a:srgbClr val="666677"/>
                </a:solidFill>
                <a:latin typeface="Calibri"/>
                <a:ea typeface="Calibri"/>
                <a:cs typeface="Calibri"/>
                <a:sym typeface="Calibri"/>
              </a:rPr>
              <a:t> is the syntax for working with them cleanly.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fetch</a:t>
            </a:r>
            <a:r>
              <a:rPr b="0" i="0" lang="en-US" sz="2000" u="none" cap="none" strike="noStrike">
                <a:solidFill>
                  <a:srgbClr val="666677"/>
                </a:solidFill>
                <a:latin typeface="Calibri"/>
                <a:ea typeface="Calibri"/>
                <a:cs typeface="Calibri"/>
                <a:sym typeface="Calibri"/>
              </a:rPr>
              <a:t> is the browser's HTTP API; check `response.ok` yourself.</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Three failures</a:t>
            </a:r>
            <a:r>
              <a:rPr b="0" i="0" lang="en-US" sz="2000" u="none" cap="none" strike="noStrike">
                <a:solidFill>
                  <a:srgbClr val="666677"/>
                </a:solidFill>
                <a:latin typeface="Calibri"/>
                <a:ea typeface="Calibri"/>
                <a:cs typeface="Calibri"/>
                <a:sym typeface="Calibri"/>
              </a:rPr>
              <a:t> - network, HTTP, bad JSON - each needs a plan.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Races</a:t>
            </a:r>
            <a:r>
              <a:rPr b="0" i="0" lang="en-US" sz="2000" u="none" cap="none" strike="noStrike">
                <a:solidFill>
                  <a:srgbClr val="666677"/>
                </a:solidFill>
                <a:latin typeface="Calibri"/>
                <a:ea typeface="Calibri"/>
                <a:cs typeface="Calibri"/>
                <a:sym typeface="Calibri"/>
              </a:rPr>
              <a:t> are real - when two promises can land in any order, decide who wins.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You now have every piece of the browser side: DOM, events, network.</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Next </a:t>
            </a:r>
            <a:r>
              <a:rPr lang="en-US" sz="2400">
                <a:solidFill>
                  <a:srgbClr val="333344"/>
                </a:solidFill>
                <a:latin typeface="Calibri"/>
                <a:ea typeface="Calibri"/>
                <a:cs typeface="Calibri"/>
                <a:sym typeface="Calibri"/>
              </a:rPr>
              <a:t>time</a:t>
            </a:r>
            <a:r>
              <a:rPr b="0" lang="en-US" sz="2400">
                <a:solidFill>
                  <a:srgbClr val="333344"/>
                </a:solidFill>
                <a:latin typeface="Calibri"/>
                <a:ea typeface="Calibri"/>
                <a:cs typeface="Calibri"/>
                <a:sym typeface="Calibri"/>
              </a:rPr>
              <a:t>: </a:t>
            </a:r>
            <a:r>
              <a:rPr b="1" lang="en-US" sz="2400">
                <a:solidFill>
                  <a:srgbClr val="333344"/>
                </a:solidFill>
                <a:latin typeface="Calibri"/>
                <a:ea typeface="Calibri"/>
                <a:cs typeface="Calibri"/>
                <a:sym typeface="Calibri"/>
              </a:rPr>
              <a:t>React.</a:t>
            </a:r>
            <a:r>
              <a:rPr b="0" lang="en-US" sz="2400">
                <a:solidFill>
                  <a:srgbClr val="333344"/>
                </a:solidFill>
                <a:latin typeface="Calibri"/>
                <a:ea typeface="Calibri"/>
                <a:cs typeface="Calibri"/>
                <a:sym typeface="Calibri"/>
              </a:rPr>
              <a:t> All this machinery gets wrapped in a</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component model that answers the hardest question in frontend: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"what do I re-render after this promise resolves?"</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