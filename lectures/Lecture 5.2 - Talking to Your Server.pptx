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Lst>
  <p:sldSz cy="6858000" cx="12191675"/>
  <p:notesSz cx="6858000" cy="9144000"/>
  <p:embeddedFontLst>
    <p:embeddedFont>
      <p:font typeface="Courier Prime"/>
      <p:regular r:id="rId53"/>
      <p:bold r:id="rId54"/>
      <p:italic r:id="rId55"/>
      <p:boldItalic r:id="rId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7" roundtripDataSignature="AMtx7mhcWw1hVakNLBxW95UMPu9Ime75t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font" Target="fonts/CourierPrime-regular.fntdata"/><Relationship Id="rId54" Type="http://schemas.openxmlformats.org/officeDocument/2006/relationships/font" Target="fonts/CourierPrime-bold.fntdata"/><Relationship Id="rId55" Type="http://schemas.openxmlformats.org/officeDocument/2006/relationships/font" Target="fonts/CourierPrime-italic.fntdata"/><Relationship Id="rId56" Type="http://schemas.openxmlformats.org/officeDocument/2006/relationships/font" Target="fonts/CourierPrime-boldItalic.fntdata"/><Relationship Id="rId5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daffe9b800_0_35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g3daffe9b800_0_35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Recap only. Today's topic: code that waits.</a:t>
            </a:r>
          </a:p>
        </p:txBody>
      </p:sp>
      <p:sp>
        <p:nvSpPr>
          <p:cNvPr id="92" name="Google Shape;92;g3daffe9b800_0_35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daffe9b800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g3daffe9b800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99" name="Google Shape;99;g3daffe9b800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affe9b800_0_1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g3daffe9b800_0_1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Contrast with function calls: microseconds. Pause on 'never'.</a:t>
            </a:r>
          </a:p>
        </p:txBody>
      </p:sp>
      <p:sp>
        <p:nvSpPr>
          <p:cNvPr id="105" name="Google Shape;105;g3daffe9b800_0_1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daffe9b800_0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g3daffe9b800_0_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Contrast with function calls: microseconds. Pause on 'never'.</a:t>
            </a:r>
          </a:p>
        </p:txBody>
      </p:sp>
      <p:sp>
        <p:nvSpPr>
          <p:cNvPr id="112" name="Google Shape;112;g3daffe9b800_0_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daffe9b800_0_4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 name="Google Shape;118;g3daffe9b800_0_4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One UI thread is why async exists. Optional aside: halting problem.</a:t>
            </a:r>
          </a:p>
        </p:txBody>
      </p:sp>
      <p:sp>
        <p:nvSpPr>
          <p:cNvPr id="119" name="Google Shape;119;g3daffe9b800_0_4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daffe9b800_0_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g3daffe9b800_0_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One UI thread is why async exists. Optional aside: halting problem.</a:t>
            </a:r>
          </a:p>
        </p:txBody>
      </p:sp>
      <p:sp>
        <p:nvSpPr>
          <p:cNvPr id="126" name="Google Shape;126;g3daffe9b800_0_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daffe9b800_0_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2" name="Google Shape;132;g3daffe9b800_0_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Expect callback, polling, event, state-object. Leave on board; (d) is a promise, (a) is .then().</a:t>
            </a:r>
          </a:p>
        </p:txBody>
      </p:sp>
      <p:sp>
        <p:nvSpPr>
          <p:cNvPr id="133" name="Google Shape;133;g3daffe9b800_0_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daffe9b800_0_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g3daffe9b800_0_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Concept before API; no .then() until the model is in place.</a:t>
            </a:r>
          </a:p>
        </p:txBody>
      </p:sp>
      <p:sp>
        <p:nvSpPr>
          <p:cNvPr id="141" name="Google Shape;141;g3daffe9b800_0_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daffe9b800_0_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g3daffe9b800_0_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Settles once, never back to pending.</a:t>
            </a:r>
          </a:p>
        </p:txBody>
      </p:sp>
      <p:sp>
        <p:nvSpPr>
          <p:cNvPr id="147" name="Google Shape;147;g3daffe9b800_0_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daffe9b800_0_15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g3daffe9b800_0_15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Recognize only, we won't write it. Each .then() returns a new promise.</a:t>
            </a:r>
          </a:p>
        </p:txBody>
      </p:sp>
      <p:sp>
        <p:nvSpPr>
          <p:cNvPr id="154" name="Google Shape;154;g3daffe9b800_0_15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daffe9b800_0_1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g3daffe9b800_0_1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Recognize only, we won't write it. Each .then() returns a new promise.</a:t>
            </a:r>
          </a:p>
        </p:txBody>
      </p:sp>
      <p:sp>
        <p:nvSpPr>
          <p:cNvPr id="163" name="Google Shape;163;g3daffe9b800_0_1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affe9b800_0_1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g3daffe9b800_0_1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Recognize only, we won't write it. Each .then() returns a new promise.</a:t>
            </a:r>
          </a:p>
        </p:txBody>
      </p:sp>
      <p:sp>
        <p:nvSpPr>
          <p:cNvPr id="172" name="Google Shape;172;g3daffe9b800_0_1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affe9b800_0_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g3daffe9b800_0_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Recognize only, we won't write it. Each .then() returns a new promise.</a:t>
            </a:r>
          </a:p>
        </p:txBody>
      </p:sp>
      <p:sp>
        <p:nvSpPr>
          <p:cNvPr id="181" name="Google Shape;181;g3daffe9b800_0_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daffe9b800_0_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9" name="Google Shape;189;g3daffe9b800_0_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If asked why .then() still exists: the language can't delete things.</a:t>
            </a:r>
          </a:p>
        </p:txBody>
      </p:sp>
      <p:sp>
        <p:nvSpPr>
          <p:cNvPr id="190" name="Google Shape;190;g3daffe9b800_0_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197" name="Google Shape;197;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daffe9b800_0_2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g3daffe9b800_0_2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Rule 3 workaround: `(async () =&gt; { ... })()`. Error message is clear.</a:t>
            </a:r>
          </a:p>
        </p:txBody>
      </p:sp>
      <p:sp>
        <p:nvSpPr>
          <p:cNvPr id="203" name="Google Shape;203;g3daffe9b800_0_2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daffe9b800_0_2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g3daffe9b800_0_2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Rule 3 workaround: `(async () =&gt; { ... })()`. Error message is clear.</a:t>
            </a:r>
          </a:p>
        </p:txBody>
      </p:sp>
      <p:sp>
        <p:nvSpPr>
          <p:cNvPr id="210" name="Google Shape;210;g3daffe9b800_0_2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Rule 3 workaround: `(async () =&gt; { ... })()`. Error message is clear.</a:t>
            </a:r>
          </a:p>
        </p:txBody>
      </p:sp>
      <p:sp>
        <p:nvSpPr>
          <p:cNvPr id="217" name="Google Shape;217;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daffe9b800_0_17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g3daffe9b800_0_1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Point at `data` staying in scope after the second await.</a:t>
            </a:r>
          </a:p>
        </p:txBody>
      </p:sp>
      <p:sp>
        <p:nvSpPr>
          <p:cNvPr id="224" name="Google Shape;224;g3daffe9b800_0_17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2" name="Google Shape;232;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Point at `data` staying in scope after the second await.</a:t>
            </a:r>
          </a:p>
        </p:txBody>
      </p:sp>
      <p:sp>
        <p:nvSpPr>
          <p:cNvPr id="233" name="Google Shape;233;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Debugging angle: a hung fetch parks one function, page stays live.</a:t>
            </a:r>
          </a:p>
        </p:txBody>
      </p:sp>
      <p:sp>
        <p:nvSpPr>
          <p:cNvPr id="244" name="Google Shape;244;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daffe9b800_0_1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0" name="Google Shape;250;g3daffe9b800_0_1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Ask what happens if clicked twice before doWork finishes.</a:t>
            </a:r>
          </a:p>
        </p:txBody>
      </p:sp>
      <p:sp>
        <p:nvSpPr>
          <p:cNvPr id="251" name="Google Shape;251;g3daffe9b800_0_19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daffe9b800_0_1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g3daffe9b800_0_1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0" name="Google Shape;260;g3daffe9b800_0_18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269" name="Google Shape;269;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Matches the wire: HTTP sends headers, then streams the body.</a:t>
            </a:r>
          </a:p>
        </p:txBody>
      </p:sp>
      <p:sp>
        <p:nvSpPr>
          <p:cNvPr id="275" name="Google Shape;275;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1" name="Google Shape;28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`response.ok` gets its own slide later. `Message[]`: define the interface in a shared file.</a:t>
            </a:r>
          </a:p>
        </p:txBody>
      </p:sp>
      <p:sp>
        <p:nvSpPr>
          <p:cNvPr id="282" name="Google Shape;282;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Body is a string, stringify yourself. Missing Content-Type header gives a FastAPI 422.</a:t>
            </a:r>
          </a:p>
        </p:txBody>
      </p:sp>
      <p:sp>
        <p:nvSpPr>
          <p:cNvPr id="291" name="Google Shape;291;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daffe9b800_0_20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g3daffe9b800_0_20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`ok` means 200-299. Ask: so when does fetch throw? Check agent output for this.</a:t>
            </a:r>
          </a:p>
        </p:txBody>
      </p:sp>
      <p:sp>
        <p:nvSpPr>
          <p:cNvPr id="300" name="Google Shape;300;g3daffe9b800_0_20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daffe9b800_0_2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6" name="Google Shape;306;g3daffe9b800_0_2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`ok` means 200-299. Ask: so when does fetch throw? Check agent output for this.</a:t>
            </a:r>
          </a:p>
        </p:txBody>
      </p:sp>
      <p:sp>
        <p:nvSpPr>
          <p:cNvPr id="307" name="Google Shape;307;g3daffe9b800_0_2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3" name="Google Shape;313;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`ok` means 200-299. Ask: so when does fetch throw? Check agent output for this.</a:t>
            </a:r>
          </a:p>
        </p:txBody>
      </p:sp>
      <p:sp>
        <p:nvSpPr>
          <p:cNvPr id="314" name="Google Shape;314;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daffe9b800_0_2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0" name="Google Shape;320;g3daffe9b800_0_2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Ask for failure modes before showing each.</a:t>
            </a:r>
          </a:p>
        </p:txBody>
      </p:sp>
      <p:sp>
        <p:nvSpPr>
          <p:cNvPr id="321" name="Google Shape;321;g3daffe9b800_0_2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7" name="Google Shape;327;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Ask for failure modes before showing each.</a:t>
            </a:r>
          </a:p>
        </p:txBody>
      </p:sp>
      <p:sp>
        <p:nvSpPr>
          <p:cNvPr id="328" name="Google Shape;328;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4" name="Google Shape;334;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Order matters: `ok` check before `.json()`, or you parse an error page.</a:t>
            </a:r>
          </a:p>
        </p:txBody>
      </p:sp>
      <p:sp>
        <p:nvSpPr>
          <p:cNvPr id="335" name="Google Shape;335;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344" name="Google Shape;34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daffe9b800_0_3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9" name="Google Shape;349;g3daffe9b800_0_3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Draw the timeline: t0 Active, t1 All, t2 All returns, t3 Active clobbers.</a:t>
            </a:r>
          </a:p>
        </p:txBody>
      </p:sp>
      <p:sp>
        <p:nvSpPr>
          <p:cNvPr id="350" name="Google Shape;350;g3daffe9b800_0_3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6" name="Google Shape;356;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Draw the timeline: t0 Active, t1 All, t2 All returns, t3 Active clobbers.</a:t>
            </a:r>
          </a:p>
        </p:txBody>
      </p:sp>
      <p:sp>
        <p:nvSpPr>
          <p:cNvPr id="357" name="Google Shape;357;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daffe9b800_0_24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3" name="Google Shape;363;g3daffe9b800_0_24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Same shape as React useEffect cleanup next class. Alternative: request id, ignore stale.</a:t>
            </a:r>
          </a:p>
        </p:txBody>
      </p:sp>
      <p:sp>
        <p:nvSpPr>
          <p:cNvPr id="364" name="Google Shape;364;g3daffe9b800_0_24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3daffe9b800_0_2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g3daffe9b800_0_2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Same shape as React useEffect cleanup next class. Alternative: request id, ignore stale.</a:t>
            </a:r>
          </a:p>
        </p:txBody>
      </p:sp>
      <p:sp>
        <p:nvSpPr>
          <p:cNvPr id="373" name="Google Shape;373;g3daffe9b800_0_2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1" name="Google Shape;381;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Same shape as React useEffect cleanup next class. Alternative: request id, ignore stale.</a:t>
            </a:r>
          </a:p>
        </p:txBody>
      </p:sp>
      <p:sp>
        <p:nvSpPr>
          <p:cNvPr id="382" name="Google Shape;382;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Answers: fetch, !response.ok, json(), createElement("li"), todo.title, append.</a:t>
            </a:r>
          </a:p>
        </p:txBody>
      </p:sp>
      <p:sp>
        <p:nvSpPr>
          <p:cNvPr id="391" name="Google Shape;391;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Only the combination is new.</a:t>
            </a:r>
          </a:p>
        </p:txBody>
      </p:sp>
      <p:sp>
        <p:nvSpPr>
          <p:cNvPr id="400" name="Google Shape;400;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8" name="Google Shape;408;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Answers: method "POST", JSON.stringify, !response.ok, json(), createElement("li"), append.</a:t>
            </a:r>
          </a:p>
        </p:txBody>
      </p:sp>
      <p:sp>
        <p:nvSpPr>
          <p:cNvPr id="409" name="Google Shape;409;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Trust `created.title` over `input.value`: server may trim, assigns the id.</a:t>
            </a:r>
          </a:p>
        </p:txBody>
      </p:sp>
      <p:sp>
        <p:nvSpPr>
          <p:cNvPr id="418" name="Google Shape;418;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AbortController is useEffect cleanup in 6.1. Re-render was the manual part today.</a:t>
            </a:r>
          </a:p>
        </p:txBody>
      </p:sp>
      <p:sp>
        <p:nvSpPr>
          <p:cNvPr id="427" name="Google Shape;427;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daffe9b800_0_2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g3daffe9b800_0_25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Ask: imagine fifteen dependent elements instead of three. Miss one, UI is wrong.</a:t>
            </a:r>
          </a:p>
        </p:txBody>
      </p:sp>
      <p:sp>
        <p:nvSpPr>
          <p:cNvPr id="434" name="Google Shape;434;g3daffe9b800_0_25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daffe9b800_0_3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g3daffe9b800_0_3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AbortController is useEffect cleanup in 6.1. Re-render was the manual part today.</a:t>
            </a:r>
          </a:p>
        </p:txBody>
      </p:sp>
      <p:sp>
        <p:nvSpPr>
          <p:cNvPr id="443" name="Google Shape;443;g3daffe9b800_0_3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1"/>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1"/>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3"/>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3"/>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4"/>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4"/>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5"/>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5"/>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5"/>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5"/>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7"/>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7"/>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7"/>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8"/>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8"/>
          <p:cNvSpPr/>
          <p:nvPr>
            <p:ph idx="2" type="pic"/>
          </p:nvPr>
        </p:nvSpPr>
        <p:spPr>
          <a:xfrm>
            <a:off x="1792288" y="612775"/>
            <a:ext cx="5486400" cy="4114800"/>
          </a:xfrm>
          <a:prstGeom prst="rect">
            <a:avLst/>
          </a:prstGeom>
          <a:noFill/>
          <a:ln>
            <a:noFill/>
          </a:ln>
        </p:spPr>
      </p:sp>
      <p:sp>
        <p:nvSpPr>
          <p:cNvPr id="64" name="Google Shape;64;p38"/>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9"/>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40"/>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40"/>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4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4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5.2</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Talking to Your Server</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g3daffe9b800_0_35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To recap</a:t>
            </a:r>
            <a:endParaRPr/>
          </a:p>
        </p:txBody>
      </p:sp>
      <p:sp>
        <p:nvSpPr>
          <p:cNvPr id="95" name="Google Shape;95;g3daffe9b800_0_352"/>
          <p:cNvSpPr txBox="1"/>
          <p:nvPr/>
        </p:nvSpPr>
        <p:spPr>
          <a:xfrm>
            <a:off x="914388" y="1188815"/>
            <a:ext cx="10362900" cy="466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JavaScript is a ten-day language given a browser to mutate.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Read it with empathy for the constraints; use the modern way.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`let` and `const`. Never `var`.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 Never `==` (except `x == null`).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`.map()` / `.filter()` / `.reduce()` instead of `for` loops.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TypeScript. Annotate at boundaries; let inference do the rest.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Mutate the DOM via `textContent` and `createElement`, not `innerHTML`.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Register callbacks with `addEventListener`.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a way to talk to your </a:t>
            </a:r>
            <a:r>
              <a:rPr lang="en-US" sz="2400">
                <a:solidFill>
                  <a:srgbClr val="333344"/>
                </a:solidFill>
                <a:latin typeface="Calibri"/>
                <a:ea typeface="Calibri"/>
                <a:cs typeface="Calibri"/>
                <a:sym typeface="Calibri"/>
              </a:rPr>
              <a:t>webserver.</a:t>
            </a:r>
            <a:endParaRPr/>
          </a:p>
          <a:p>
            <a:pPr indent="0" lvl="1" marL="457200" marR="0" rtl="0" algn="l">
              <a:spcBef>
                <a:spcPts val="60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00" name="Shape 100"/>
        <p:cNvGrpSpPr/>
        <p:nvPr/>
      </p:nvGrpSpPr>
      <p:grpSpPr>
        <a:xfrm>
          <a:off x="0" y="0"/>
          <a:ext cx="0" cy="0"/>
          <a:chOff x="0" y="0"/>
          <a:chExt cx="0" cy="0"/>
        </a:xfrm>
      </p:grpSpPr>
      <p:sp>
        <p:nvSpPr>
          <p:cNvPr id="101" name="Google Shape;101;g3daffe9b800_0_0"/>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Code That Has to Wait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g3daffe9b800_0_12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third thing the browser gives you</a:t>
            </a:r>
            <a:endParaRPr/>
          </a:p>
        </p:txBody>
      </p:sp>
      <p:sp>
        <p:nvSpPr>
          <p:cNvPr id="108" name="Google Shape;108;g3daffe9b800_0_124"/>
          <p:cNvSpPr txBox="1"/>
          <p:nvPr/>
        </p:nvSpPr>
        <p:spPr>
          <a:xfrm>
            <a:off x="914400" y="1463040"/>
            <a:ext cx="103629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To recap,</a:t>
            </a:r>
            <a:r>
              <a:rPr b="0" i="0" lang="en-US" sz="2400" u="none" cap="none" strike="noStrike">
                <a:solidFill>
                  <a:srgbClr val="333344"/>
                </a:solidFill>
                <a:latin typeface="Calibri"/>
                <a:ea typeface="Calibri"/>
                <a:cs typeface="Calibri"/>
                <a:sym typeface="Calibri"/>
              </a:rPr>
              <a:t> we said the browser gives your JavaScript three things: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a:t>
            </a:r>
            <a:r>
              <a:rPr b="0" i="0" lang="en-US" sz="2000" u="none" cap="none" strike="noStrike">
                <a:solidFill>
                  <a:srgbClr val="666677"/>
                </a:solidFill>
                <a:latin typeface="Calibri"/>
                <a:ea typeface="Calibri"/>
                <a:cs typeface="Calibri"/>
                <a:sym typeface="Calibri"/>
              </a:rPr>
              <a:t> A document you can read and mutate (the DOM)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a:t>
            </a:r>
            <a:r>
              <a:rPr b="0" i="0" lang="en-US" sz="2000" u="none" cap="none" strike="noStrike">
                <a:solidFill>
                  <a:srgbClr val="666677"/>
                </a:solidFill>
                <a:latin typeface="Calibri"/>
                <a:ea typeface="Calibri"/>
                <a:cs typeface="Calibri"/>
                <a:sym typeface="Calibri"/>
              </a:rPr>
              <a:t> Events for responding to user input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A way to talk to a server without reloading the page</a:t>
            </a:r>
            <a:endParaRPr/>
          </a:p>
          <a:p>
            <a:pPr indent="0" lvl="0" marL="0" marR="0" rtl="0" algn="l">
              <a:spcBef>
                <a:spcPts val="60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g3daffe9b800_0_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third thing the browser gives you</a:t>
            </a:r>
            <a:endParaRPr/>
          </a:p>
        </p:txBody>
      </p:sp>
      <p:sp>
        <p:nvSpPr>
          <p:cNvPr id="115" name="Google Shape;115;g3daffe9b800_0_5"/>
          <p:cNvSpPr txBox="1"/>
          <p:nvPr/>
        </p:nvSpPr>
        <p:spPr>
          <a:xfrm>
            <a:off x="914400" y="1463040"/>
            <a:ext cx="10362900" cy="4556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To recap,</a:t>
            </a:r>
            <a:r>
              <a:rPr b="0" i="0" lang="en-US" sz="2400" u="none" cap="none" strike="noStrike">
                <a:solidFill>
                  <a:srgbClr val="333344"/>
                </a:solidFill>
                <a:latin typeface="Calibri"/>
                <a:ea typeface="Calibri"/>
                <a:cs typeface="Calibri"/>
                <a:sym typeface="Calibri"/>
              </a:rPr>
              <a:t> we said the browser gives your JavaScript three things: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t>
            </a:r>
            <a:r>
              <a:rPr b="1" i="0" lang="en-US" sz="2000" u="none" cap="none" strike="sngStrike">
                <a:solidFill>
                  <a:srgbClr val="666677"/>
                </a:solidFill>
                <a:latin typeface="Calibri"/>
                <a:ea typeface="Calibri"/>
                <a:cs typeface="Calibri"/>
                <a:sym typeface="Calibri"/>
              </a:rPr>
              <a:t>1.</a:t>
            </a:r>
            <a:r>
              <a:rPr b="0" i="0" lang="en-US" sz="2000" u="none" cap="none" strike="sngStrike">
                <a:solidFill>
                  <a:srgbClr val="666677"/>
                </a:solidFill>
                <a:latin typeface="Calibri"/>
                <a:ea typeface="Calibri"/>
                <a:cs typeface="Calibri"/>
                <a:sym typeface="Calibri"/>
              </a:rPr>
              <a:t> A document you can read and mutate (the DOM)</a:t>
            </a:r>
            <a:endParaRPr strike="sngStrike"/>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t>
            </a:r>
            <a:r>
              <a:rPr b="1" i="0" lang="en-US" sz="2000" u="none" cap="none" strike="sngStrike">
                <a:solidFill>
                  <a:srgbClr val="666677"/>
                </a:solidFill>
                <a:latin typeface="Calibri"/>
                <a:ea typeface="Calibri"/>
                <a:cs typeface="Calibri"/>
                <a:sym typeface="Calibri"/>
              </a:rPr>
              <a:t>2.</a:t>
            </a:r>
            <a:r>
              <a:rPr b="0" i="0" lang="en-US" sz="2000" u="none" cap="none" strike="sngStrike">
                <a:solidFill>
                  <a:srgbClr val="666677"/>
                </a:solidFill>
                <a:latin typeface="Calibri"/>
                <a:ea typeface="Calibri"/>
                <a:cs typeface="Calibri"/>
                <a:sym typeface="Calibri"/>
              </a:rPr>
              <a:t> Events for responding to user input</a:t>
            </a:r>
            <a:endParaRPr strike="sngStrike"/>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A way to talk to a server without reloading the page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We did the first two. </a:t>
            </a:r>
            <a:r>
              <a:rPr lang="en-US" sz="2400">
                <a:solidFill>
                  <a:srgbClr val="333344"/>
                </a:solidFill>
                <a:latin typeface="Calibri"/>
                <a:ea typeface="Calibri"/>
                <a:cs typeface="Calibri"/>
                <a:sym typeface="Calibri"/>
              </a:rPr>
              <a:t>Now to talk about</a:t>
            </a:r>
            <a:r>
              <a:rPr b="0" i="0" lang="en-US" sz="2400" u="none" cap="none" strike="noStrike">
                <a:solidFill>
                  <a:srgbClr val="333344"/>
                </a:solidFill>
                <a:latin typeface="Calibri"/>
                <a:ea typeface="Calibri"/>
                <a:cs typeface="Calibri"/>
                <a:sym typeface="Calibri"/>
              </a:rPr>
              <a:t> the third</a:t>
            </a:r>
            <a:endParaRPr sz="2400">
              <a:solidFill>
                <a:srgbClr val="333344"/>
              </a:solidFill>
              <a:latin typeface="Calibri"/>
              <a:ea typeface="Calibri"/>
              <a:cs typeface="Calibri"/>
              <a:sym typeface="Calibri"/>
            </a:endParaRPr>
          </a:p>
          <a:p>
            <a:pPr indent="457200" lvl="0" marL="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a:t>
            </a:r>
            <a:r>
              <a:rPr b="0" i="0" lang="en-US" sz="2000" u="none" cap="none" strike="noStrike">
                <a:solidFill>
                  <a:srgbClr val="666677"/>
                </a:solidFill>
                <a:latin typeface="Calibri"/>
                <a:ea typeface="Calibri"/>
                <a:cs typeface="Calibri"/>
                <a:sym typeface="Calibri"/>
              </a:rPr>
              <a:t>t</a:t>
            </a:r>
            <a:r>
              <a:rPr lang="en-US" sz="2000">
                <a:solidFill>
                  <a:srgbClr val="666677"/>
                </a:solidFill>
                <a:latin typeface="Calibri"/>
                <a:ea typeface="Calibri"/>
                <a:cs typeface="Calibri"/>
                <a:sym typeface="Calibri"/>
              </a:rPr>
              <a:t>’s </a:t>
            </a:r>
            <a:r>
              <a:rPr b="0" i="0" lang="en-US" sz="2000" u="none" cap="none" strike="noStrike">
                <a:solidFill>
                  <a:srgbClr val="666677"/>
                </a:solidFill>
                <a:latin typeface="Calibri"/>
                <a:ea typeface="Calibri"/>
                <a:cs typeface="Calibri"/>
                <a:sym typeface="Calibri"/>
              </a:rPr>
              <a:t>different from everything else you've done in this course.</a:t>
            </a:r>
            <a:endParaRPr/>
          </a:p>
          <a:p>
            <a:pPr indent="0" lvl="1" marL="0" marR="0" rtl="0" algn="l">
              <a:spcBef>
                <a:spcPts val="600"/>
              </a:spcBef>
              <a:spcAft>
                <a:spcPts val="0"/>
              </a:spcAft>
              <a:buNone/>
            </a:pPr>
            <a:r>
              <a:t/>
            </a:r>
            <a:endParaRPr sz="2000">
              <a:solidFill>
                <a:srgbClr val="666677"/>
              </a:solidFill>
              <a:latin typeface="Calibri"/>
              <a:ea typeface="Calibri"/>
              <a:cs typeface="Calibri"/>
              <a:sym typeface="Calibri"/>
            </a:endParaRPr>
          </a:p>
          <a:p>
            <a:pPr indent="0" lvl="1" marL="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400">
                <a:solidFill>
                  <a:srgbClr val="333344"/>
                </a:solidFill>
                <a:latin typeface="Calibri"/>
                <a:ea typeface="Calibri"/>
                <a:cs typeface="Calibri"/>
                <a:sym typeface="Calibri"/>
              </a:rPr>
              <a:t>Network requests can return in milliseconds, seconds, or </a:t>
            </a:r>
            <a:r>
              <a:rPr b="1" lang="en-US" sz="2400">
                <a:solidFill>
                  <a:srgbClr val="333344"/>
                </a:solidFill>
                <a:latin typeface="Calibri"/>
                <a:ea typeface="Calibri"/>
                <a:cs typeface="Calibri"/>
                <a:sym typeface="Calibri"/>
              </a:rPr>
              <a:t>never</a:t>
            </a:r>
            <a:endParaRPr sz="2400">
              <a:solidFill>
                <a:srgbClr val="333344"/>
              </a:solidFill>
              <a:latin typeface="Calibri"/>
              <a:ea typeface="Calibri"/>
              <a:cs typeface="Calibri"/>
              <a:sym typeface="Calibri"/>
            </a:endParaRPr>
          </a:p>
          <a:p>
            <a:pPr indent="0" lvl="1"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 control flow has to change.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g3daffe9b800_0_43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you can't just block and wait</a:t>
            </a:r>
            <a:endParaRPr/>
          </a:p>
        </p:txBody>
      </p:sp>
      <p:sp>
        <p:nvSpPr>
          <p:cNvPr id="122" name="Google Shape;122;g3daffe9b800_0_433"/>
          <p:cNvSpPr txBox="1"/>
          <p:nvPr/>
        </p:nvSpPr>
        <p:spPr>
          <a:xfrm>
            <a:off x="914400" y="1463040"/>
            <a:ext cx="10362900" cy="2293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JavaScript had a </a:t>
            </a:r>
            <a:r>
              <a:rPr b="1" i="0" lang="en-US" sz="2400" u="none" cap="none" strike="noStrike">
                <a:solidFill>
                  <a:srgbClr val="333344"/>
                </a:solidFill>
                <a:latin typeface="Courier Prime"/>
                <a:ea typeface="Courier Prime"/>
                <a:cs typeface="Courier Prime"/>
                <a:sym typeface="Courier Prime"/>
              </a:rPr>
              <a:t>fetchSync()</a:t>
            </a:r>
            <a:r>
              <a:rPr i="0" lang="en-US" sz="2400" u="none" cap="none" strike="noStrike">
                <a:solidFill>
                  <a:srgbClr val="333344"/>
                </a:solidFill>
                <a:latin typeface="Courier Prime"/>
                <a:ea typeface="Courier Prime"/>
                <a:cs typeface="Courier Prime"/>
                <a:sym typeface="Courier Prime"/>
              </a:rPr>
              <a:t> </a:t>
            </a:r>
            <a:r>
              <a:rPr b="0" i="0" lang="en-US" sz="2400" u="none" cap="none" strike="noStrike">
                <a:solidFill>
                  <a:srgbClr val="333344"/>
                </a:solidFill>
                <a:latin typeface="Calibri"/>
                <a:ea typeface="Calibri"/>
                <a:cs typeface="Calibri"/>
                <a:sym typeface="Calibri"/>
              </a:rPr>
              <a:t>that worked like Python's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requests.get()</a:t>
            </a:r>
            <a:r>
              <a:rPr b="0" i="0" lang="en-US" sz="2000" u="none" cap="none" strike="noStrike">
                <a:solidFill>
                  <a:srgbClr val="666677"/>
                </a:solidFill>
                <a:latin typeface="Calibri"/>
                <a:ea typeface="Calibri"/>
                <a:cs typeface="Calibri"/>
                <a:sym typeface="Calibri"/>
              </a:rPr>
              <a:t>` - call it, wait for the answer, move 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messages = fetchSync("/api/messages");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console.log(messages);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 name="Shape 127"/>
        <p:cNvGrpSpPr/>
        <p:nvPr/>
      </p:nvGrpSpPr>
      <p:grpSpPr>
        <a:xfrm>
          <a:off x="0" y="0"/>
          <a:ext cx="0" cy="0"/>
          <a:chOff x="0" y="0"/>
          <a:chExt cx="0" cy="0"/>
        </a:xfrm>
      </p:grpSpPr>
      <p:sp>
        <p:nvSpPr>
          <p:cNvPr id="128" name="Google Shape;128;g3daffe9b800_0_1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you can't just block and wait</a:t>
            </a:r>
            <a:endParaRPr/>
          </a:p>
        </p:txBody>
      </p:sp>
      <p:sp>
        <p:nvSpPr>
          <p:cNvPr id="129" name="Google Shape;129;g3daffe9b800_0_11"/>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JavaScript had a </a:t>
            </a:r>
            <a:r>
              <a:rPr b="1" i="0" lang="en-US" sz="2400" u="none" cap="none" strike="noStrike">
                <a:solidFill>
                  <a:srgbClr val="333344"/>
                </a:solidFill>
                <a:latin typeface="Courier Prime"/>
                <a:ea typeface="Courier Prime"/>
                <a:cs typeface="Courier Prime"/>
                <a:sym typeface="Courier Prime"/>
              </a:rPr>
              <a:t>fetchSync()</a:t>
            </a:r>
            <a:r>
              <a:rPr i="0" lang="en-US" sz="2400" u="none" cap="none" strike="noStrike">
                <a:solidFill>
                  <a:srgbClr val="333344"/>
                </a:solidFill>
                <a:latin typeface="Courier Prime"/>
                <a:ea typeface="Courier Prime"/>
                <a:cs typeface="Courier Prime"/>
                <a:sym typeface="Courier Prime"/>
              </a:rPr>
              <a:t> </a:t>
            </a:r>
            <a:r>
              <a:rPr b="0" i="0" lang="en-US" sz="2400" u="none" cap="none" strike="noStrike">
                <a:solidFill>
                  <a:srgbClr val="333344"/>
                </a:solidFill>
                <a:latin typeface="Calibri"/>
                <a:ea typeface="Calibri"/>
                <a:cs typeface="Calibri"/>
                <a:sym typeface="Calibri"/>
              </a:rPr>
              <a:t>that worked like Python's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requests.get()</a:t>
            </a:r>
            <a:r>
              <a:rPr b="0" i="0" lang="en-US" sz="2000" u="none" cap="none" strike="noStrike">
                <a:solidFill>
                  <a:srgbClr val="666677"/>
                </a:solidFill>
                <a:latin typeface="Calibri"/>
                <a:ea typeface="Calibri"/>
                <a:cs typeface="Calibri"/>
                <a:sym typeface="Calibri"/>
              </a:rPr>
              <a:t>` - call it, wait for the answer, move 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messages = fetchSync("/api/messages");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console.log(messages);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That line sits on one thread while it waits for the server,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browser's UI is on that same thread.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page freezes, clicks don't register, scrolling stops,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tab shows a spinning beach ball until the server answers.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why `</a:t>
            </a:r>
            <a:r>
              <a:rPr b="1" i="0" lang="en-US" sz="2400" u="none" cap="none" strike="noStrike">
                <a:solidFill>
                  <a:srgbClr val="333344"/>
                </a:solidFill>
                <a:latin typeface="Courier Prime"/>
                <a:ea typeface="Courier Prime"/>
                <a:cs typeface="Courier Prime"/>
                <a:sym typeface="Courier Prime"/>
              </a:rPr>
              <a:t>fetchSync</a:t>
            </a:r>
            <a:r>
              <a:rPr b="0" i="0" lang="en-US" sz="2400" u="none" cap="none" strike="noStrike">
                <a:solidFill>
                  <a:srgbClr val="333344"/>
                </a:solidFill>
                <a:latin typeface="Calibri"/>
                <a:ea typeface="Calibri"/>
                <a:cs typeface="Calibri"/>
                <a:sym typeface="Calibri"/>
              </a:rPr>
              <a:t>` doesn't exist. The browser won't let you.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34" name="Shape 134"/>
        <p:cNvGrpSpPr/>
        <p:nvPr/>
      </p:nvGrpSpPr>
      <p:grpSpPr>
        <a:xfrm>
          <a:off x="0" y="0"/>
          <a:ext cx="0" cy="0"/>
          <a:chOff x="0" y="0"/>
          <a:chExt cx="0" cy="0"/>
        </a:xfrm>
      </p:grpSpPr>
      <p:sp>
        <p:nvSpPr>
          <p:cNvPr id="135" name="Google Shape;135;g3daffe9b800_0_17"/>
          <p:cNvSpPr txBox="1"/>
          <p:nvPr/>
        </p:nvSpPr>
        <p:spPr>
          <a:xfrm>
            <a:off x="5303520" y="457200"/>
            <a:ext cx="1584600" cy="1200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136" name="Google Shape;136;g3daffe9b800_0_17"/>
          <p:cNvSpPr txBox="1"/>
          <p:nvPr/>
        </p:nvSpPr>
        <p:spPr>
          <a:xfrm>
            <a:off x="1371600" y="2011680"/>
            <a:ext cx="9448500" cy="1139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How would you design an API for a function that has to wait?</a:t>
            </a:r>
            <a:endParaRPr/>
          </a:p>
        </p:txBody>
      </p:sp>
      <p:sp>
        <p:nvSpPr>
          <p:cNvPr id="137" name="Google Shape;137;g3daffe9b800_0_17"/>
          <p:cNvSpPr txBox="1"/>
          <p:nvPr/>
        </p:nvSpPr>
        <p:spPr>
          <a:xfrm>
            <a:off x="1828800" y="4572000"/>
            <a:ext cx="8534100" cy="1108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200" u="none" cap="none" strike="noStrike">
                <a:solidFill>
                  <a:srgbClr val="666677"/>
                </a:solidFill>
                <a:latin typeface="Calibri"/>
                <a:ea typeface="Calibri"/>
                <a:cs typeface="Calibri"/>
                <a:sym typeface="Calibri"/>
              </a:rPr>
              <a:t>The function needs to return immediately (can't block) but the answer comes later. What do you hand back to the caller? How does the caller get the real value when it arrives?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42" name="Shape 142"/>
        <p:cNvGrpSpPr/>
        <p:nvPr/>
      </p:nvGrpSpPr>
      <p:grpSpPr>
        <a:xfrm>
          <a:off x="0" y="0"/>
          <a:ext cx="0" cy="0"/>
          <a:chOff x="0" y="0"/>
          <a:chExt cx="0" cy="0"/>
        </a:xfrm>
      </p:grpSpPr>
      <p:sp>
        <p:nvSpPr>
          <p:cNvPr id="143" name="Google Shape;143;g3daffe9b800_0_24"/>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Promises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g3daffe9b800_0_2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A promise is a placeholder for a future value</a:t>
            </a:r>
            <a:endParaRPr/>
          </a:p>
        </p:txBody>
      </p:sp>
      <p:sp>
        <p:nvSpPr>
          <p:cNvPr id="150" name="Google Shape;150;g3daffe9b800_0_29"/>
          <p:cNvSpPr txBox="1"/>
          <p:nvPr/>
        </p:nvSpPr>
        <p:spPr>
          <a:xfrm>
            <a:off x="914400" y="1463040"/>
            <a:ext cx="10362900" cy="526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a:t>
            </a:r>
            <a:r>
              <a:rPr b="1" i="0" lang="en-US" sz="2400" u="none" cap="none" strike="noStrike">
                <a:solidFill>
                  <a:srgbClr val="333344"/>
                </a:solidFill>
                <a:latin typeface="Calibri"/>
                <a:ea typeface="Calibri"/>
                <a:cs typeface="Calibri"/>
                <a:sym typeface="Calibri"/>
              </a:rPr>
              <a:t>promise</a:t>
            </a:r>
            <a:r>
              <a:rPr b="0" i="0" lang="en-US" sz="2400" u="none" cap="none" strike="noStrike">
                <a:solidFill>
                  <a:srgbClr val="333344"/>
                </a:solidFill>
                <a:latin typeface="Calibri"/>
                <a:ea typeface="Calibri"/>
                <a:cs typeface="Calibri"/>
                <a:sym typeface="Calibri"/>
              </a:rPr>
              <a:t> is an object representing "a value that will arrive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later, or a failure that will arrive later."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Call `</a:t>
            </a:r>
            <a:r>
              <a:rPr b="1" i="0" lang="en-US" sz="2400" u="none" cap="none" strike="noStrike">
                <a:solidFill>
                  <a:srgbClr val="333344"/>
                </a:solidFill>
                <a:latin typeface="Courier Prime"/>
                <a:ea typeface="Courier Prime"/>
                <a:cs typeface="Courier Prime"/>
                <a:sym typeface="Courier Prime"/>
              </a:rPr>
              <a:t>fetch(url)</a:t>
            </a:r>
            <a:r>
              <a:rPr b="0" i="0" lang="en-US" sz="2400" u="none" cap="none" strike="noStrike">
                <a:solidFill>
                  <a:srgbClr val="333344"/>
                </a:solidFill>
                <a:latin typeface="Calibri"/>
                <a:ea typeface="Calibri"/>
                <a:cs typeface="Calibri"/>
                <a:sym typeface="Calibri"/>
              </a:rPr>
              <a:t>` and you get a promise back </a:t>
            </a:r>
            <a:r>
              <a:rPr b="1" i="0" lang="en-US" sz="2400" u="none" cap="none" strike="noStrike">
                <a:solidFill>
                  <a:srgbClr val="333344"/>
                </a:solidFill>
                <a:latin typeface="Calibri"/>
                <a:ea typeface="Calibri"/>
                <a:cs typeface="Calibri"/>
                <a:sym typeface="Calibri"/>
              </a:rPr>
              <a:t>immediately</a:t>
            </a:r>
            <a:r>
              <a:rPr b="0" i="0" lang="en-US" sz="2400" u="none" cap="none" strike="noStrike">
                <a:solidFill>
                  <a:srgbClr val="333344"/>
                </a:solidFill>
                <a:latin typeface="Calibri"/>
                <a:ea typeface="Calibri"/>
                <a:cs typeface="Calibri"/>
                <a:sym typeface="Calibri"/>
              </a:rPr>
              <a:t>.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actual HTTP response isn't there yet. The promise is.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Three states: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Pending</a:t>
            </a:r>
            <a:r>
              <a:rPr b="0" i="0" lang="en-US" sz="2000" u="none" cap="none" strike="noStrike">
                <a:solidFill>
                  <a:srgbClr val="666677"/>
                </a:solidFill>
                <a:latin typeface="Calibri"/>
                <a:ea typeface="Calibri"/>
                <a:cs typeface="Calibri"/>
                <a:sym typeface="Calibri"/>
              </a:rPr>
              <a:t>    - still waiting for the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Fulfilled</a:t>
            </a:r>
            <a:r>
              <a:rPr b="0" i="0" lang="en-US" sz="2000" u="none" cap="none" strike="noStrike">
                <a:solidFill>
                  <a:srgbClr val="666677"/>
                </a:solidFill>
                <a:latin typeface="Calibri"/>
                <a:ea typeface="Calibri"/>
                <a:cs typeface="Calibri"/>
                <a:sym typeface="Calibri"/>
              </a:rPr>
              <a:t> - value arrived, ready to use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Rejected</a:t>
            </a:r>
            <a:r>
              <a:rPr b="0" i="0" lang="en-US" sz="2000" u="none" cap="none" strike="noStrike">
                <a:solidFill>
                  <a:srgbClr val="666677"/>
                </a:solidFill>
                <a:latin typeface="Calibri"/>
                <a:ea typeface="Calibri"/>
                <a:cs typeface="Calibri"/>
                <a:sym typeface="Calibri"/>
              </a:rPr>
              <a:t>  - something went wrong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promise starts pending and </a:t>
            </a:r>
            <a:r>
              <a:rPr b="1" i="0" lang="en-US" sz="2400" u="none" cap="none" strike="noStrike">
                <a:solidFill>
                  <a:srgbClr val="333344"/>
                </a:solidFill>
                <a:latin typeface="Calibri"/>
                <a:ea typeface="Calibri"/>
                <a:cs typeface="Calibri"/>
                <a:sym typeface="Calibri"/>
              </a:rPr>
              <a:t>settles</a:t>
            </a:r>
            <a:r>
              <a:rPr b="0" i="0" lang="en-US" sz="2400" u="none" cap="none" strike="noStrike">
                <a:solidFill>
                  <a:srgbClr val="333344"/>
                </a:solidFill>
                <a:latin typeface="Calibri"/>
                <a:ea typeface="Calibri"/>
                <a:cs typeface="Calibri"/>
                <a:sym typeface="Calibri"/>
              </a:rPr>
              <a:t> into fulfilled or rejected exactly once.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register code to run when it settles.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 name="Shape 155"/>
        <p:cNvGrpSpPr/>
        <p:nvPr/>
      </p:nvGrpSpPr>
      <p:grpSpPr>
        <a:xfrm>
          <a:off x="0" y="0"/>
          <a:ext cx="0" cy="0"/>
          <a:chOff x="0" y="0"/>
          <a:chExt cx="0" cy="0"/>
        </a:xfrm>
      </p:grpSpPr>
      <p:sp>
        <p:nvSpPr>
          <p:cNvPr id="156" name="Google Shape;156;g3daffe9b800_0_15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57" name="Google Shape;157;g3daffe9b800_0_15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58" name="Google Shape;158;g3daffe9b800_0_15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 name="Google Shape;159;g3daffe9b800_0_154"/>
          <p:cNvSpPr txBox="1"/>
          <p:nvPr/>
        </p:nvSpPr>
        <p:spPr>
          <a:xfrm>
            <a:off x="1005840" y="1645920"/>
            <a:ext cx="10179900" cy="233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sp>
        <p:nvSpPr>
          <p:cNvPr id="165" name="Google Shape;165;g3daffe9b800_0_146"/>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66" name="Google Shape;166;g3daffe9b800_0_146"/>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67" name="Google Shape;167;g3daffe9b800_0_146"/>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g3daffe9b800_0_146"/>
          <p:cNvSpPr txBox="1"/>
          <p:nvPr/>
        </p:nvSpPr>
        <p:spPr>
          <a:xfrm>
            <a:off x="1005840" y="1645920"/>
            <a:ext cx="10179900" cy="3227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g3daffe9b800_0_13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75" name="Google Shape;175;g3daffe9b800_0_130"/>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76" name="Google Shape;176;g3daffe9b800_0_13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g3daffe9b800_0_130"/>
          <p:cNvSpPr txBox="1"/>
          <p:nvPr/>
        </p:nvSpPr>
        <p:spPr>
          <a:xfrm>
            <a:off x="1005840" y="1645920"/>
            <a:ext cx="10179900" cy="3453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.then((data)      =&gt; console.log(data))</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sp>
        <p:nvSpPr>
          <p:cNvPr id="183" name="Google Shape;183;g3daffe9b800_0_35"/>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84" name="Google Shape;184;g3daffe9b800_0_35"/>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85" name="Google Shape;185;g3daffe9b800_0_35"/>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 name="Google Shape;186;g3daffe9b800_0_35"/>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.then((data)      =&gt; console.log(data))</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.catch((err)      =&gt; console.error("fetch failed:", err));</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This works. But chains get ugly fast when logic branches.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We're going to learn a nicer way next - this slide is so you</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recognize .then() when you see it in older code.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g3daffe9b800_0_4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we're not going to write .then() chains</a:t>
            </a:r>
            <a:endParaRPr/>
          </a:p>
        </p:txBody>
      </p:sp>
      <p:sp>
        <p:nvSpPr>
          <p:cNvPr id="193" name="Google Shape;193;g3daffe9b800_0_43"/>
          <p:cNvSpPr txBox="1"/>
          <p:nvPr/>
        </p:nvSpPr>
        <p:spPr>
          <a:xfrm>
            <a:off x="914388" y="1196565"/>
            <a:ext cx="103629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.then()</a:t>
            </a:r>
            <a:r>
              <a:rPr b="0" i="0" lang="en-US" sz="2400" u="none" cap="none" strike="noStrike">
                <a:solidFill>
                  <a:srgbClr val="333344"/>
                </a:solidFill>
                <a:latin typeface="Calibri"/>
                <a:ea typeface="Calibri"/>
                <a:cs typeface="Calibri"/>
                <a:sym typeface="Calibri"/>
              </a:rPr>
              <a:t>` works. But as soon as your code has real logic, it falls apart</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Conditional branches mean nested `.then()` calls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Error handling gets spread across `.catch()` blocks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Variables from one `.then()` aren't visible in the next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Loops over async operations end up convoluted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Modern JavaScript has </a:t>
            </a:r>
            <a:r>
              <a:rPr b="1" i="0" lang="en-US" sz="2400" u="none" cap="none" strike="noStrike">
                <a:solidFill>
                  <a:srgbClr val="333344"/>
                </a:solidFill>
                <a:latin typeface="Courier Prime"/>
                <a:ea typeface="Courier Prime"/>
                <a:cs typeface="Courier Prime"/>
                <a:sym typeface="Courier Prime"/>
              </a:rPr>
              <a:t>async/await</a:t>
            </a:r>
            <a:r>
              <a:rPr b="0" i="0" lang="en-US" sz="2400" u="none" cap="none" strike="noStrike">
                <a:solidFill>
                  <a:srgbClr val="333344"/>
                </a:solidFill>
                <a:latin typeface="Calibri"/>
                <a:ea typeface="Calibri"/>
                <a:cs typeface="Calibri"/>
                <a:sym typeface="Calibri"/>
              </a:rPr>
              <a:t>, a pair of keywords that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let you use promises with code that reads top-to-bottom,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way you're already used to from Python.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Underneath it's still promises - just syntax that makes them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readable. You'll write </a:t>
            </a:r>
            <a:r>
              <a:rPr b="1" i="0" lang="en-US" sz="2000" u="none" cap="none" strike="noStrike">
                <a:solidFill>
                  <a:srgbClr val="666677"/>
                </a:solidFill>
                <a:latin typeface="Courier Prime"/>
                <a:ea typeface="Courier Prime"/>
                <a:cs typeface="Courier Prime"/>
                <a:sym typeface="Courier Prime"/>
              </a:rPr>
              <a:t>async/await</a:t>
            </a:r>
            <a:r>
              <a:rPr b="1" lang="en-US" sz="2000">
                <a:solidFill>
                  <a:srgbClr val="666677"/>
                </a:solidFill>
                <a:latin typeface="Courier Prime"/>
                <a:ea typeface="Courier Prime"/>
                <a:cs typeface="Courier Prime"/>
                <a:sym typeface="Courier Prime"/>
              </a:rPr>
              <a:t> </a:t>
            </a:r>
            <a:r>
              <a:rPr b="0" i="0" lang="en-US" sz="2000" u="none" cap="none" strike="noStrike">
                <a:solidFill>
                  <a:srgbClr val="666677"/>
                </a:solidFill>
                <a:latin typeface="Calibri"/>
                <a:ea typeface="Calibri"/>
                <a:cs typeface="Calibri"/>
                <a:sym typeface="Calibri"/>
              </a:rPr>
              <a:t>for the rest of the course.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98" name="Shape 198"/>
        <p:cNvGrpSpPr/>
        <p:nvPr/>
      </p:nvGrpSpPr>
      <p:grpSpPr>
        <a:xfrm>
          <a:off x="0" y="0"/>
          <a:ext cx="0" cy="0"/>
          <a:chOff x="0" y="0"/>
          <a:chExt cx="0" cy="0"/>
        </a:xfrm>
      </p:grpSpPr>
      <p:sp>
        <p:nvSpPr>
          <p:cNvPr id="199" name="Google Shape;199;p10"/>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async and await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g3daffe9b800_0_22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06" name="Google Shape;206;g3daffe9b800_0_227"/>
          <p:cNvSpPr txBox="1"/>
          <p:nvPr/>
        </p:nvSpPr>
        <p:spPr>
          <a:xfrm>
            <a:off x="914400" y="1463040"/>
            <a:ext cx="103629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1" marL="457200" marR="0" rtl="0" algn="l">
              <a:spcBef>
                <a:spcPts val="60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g3daffe9b800_0_23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13" name="Google Shape;213;g3daffe9b800_0_233"/>
          <p:cNvSpPr txBox="1"/>
          <p:nvPr/>
        </p:nvSpPr>
        <p:spPr>
          <a:xfrm>
            <a:off x="914400" y="1463040"/>
            <a:ext cx="10362900" cy="3601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2.</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 front of a promise pauses the current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until it settles, then gives you the value - as if it were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there.</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const response = await fetch("/api/messages");</a:t>
            </a:r>
            <a:endParaRPr sz="2000">
              <a:solidFill>
                <a:srgbClr val="666677"/>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20" name="Google Shape;220;p11"/>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2.</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 front of a promise pauses the current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until it settles, then gives you the value - as if it were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there.</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const response = await fetch("/api/messages");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3.</a:t>
            </a:r>
            <a:r>
              <a:rPr b="0" i="0" lang="en-US" sz="2400" u="none" cap="none" strike="noStrike">
                <a:solidFill>
                  <a:srgbClr val="333344"/>
                </a:solidFill>
                <a:latin typeface="Calibri"/>
                <a:ea typeface="Calibri"/>
                <a:cs typeface="Calibri"/>
                <a:sym typeface="Calibri"/>
              </a:rPr>
              <a:t> You can </a:t>
            </a:r>
            <a:r>
              <a:rPr b="1" i="0" lang="en-US" sz="2400" u="none" cap="none" strike="noStrike">
                <a:solidFill>
                  <a:srgbClr val="333344"/>
                </a:solidFill>
                <a:latin typeface="Calibri"/>
                <a:ea typeface="Calibri"/>
                <a:cs typeface="Calibri"/>
                <a:sym typeface="Calibri"/>
              </a:rPr>
              <a:t>only</a:t>
            </a:r>
            <a:r>
              <a:rPr b="0" i="0" lang="en-US" sz="2400" u="none" cap="none" strike="noStrike">
                <a:solidFill>
                  <a:srgbClr val="333344"/>
                </a:solidFill>
                <a:latin typeface="Calibri"/>
                <a:ea typeface="Calibri"/>
                <a:cs typeface="Calibri"/>
                <a:sym typeface="Calibri"/>
              </a:rPr>
              <a:t> use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inside an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Try it at the top level and the compiler says no. (There's 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module-level exception, don't worry about it for this class.)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sp>
        <p:nvSpPr>
          <p:cNvPr id="226" name="Google Shape;226;g3daffe9b800_0_17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same thing, two ways</a:t>
            </a:r>
            <a:endParaRPr/>
          </a:p>
        </p:txBody>
      </p:sp>
      <p:sp>
        <p:nvSpPr>
          <p:cNvPr id="227" name="Google Shape;227;g3daffe9b800_0_17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28" name="Google Shape;228;g3daffe9b800_0_17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 name="Google Shape;229;g3daffe9b800_0_174"/>
          <p:cNvSpPr txBox="1"/>
          <p:nvPr/>
        </p:nvSpPr>
        <p:spPr>
          <a:xfrm>
            <a:off x="1005846" y="1645925"/>
            <a:ext cx="5661600" cy="290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WITH .then() chains: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.then((response) =&gt;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.then((data) =&gt;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a:t>
            </a:r>
            <a:r>
              <a:rPr b="1" i="0" lang="en-US" sz="1500" u="none" cap="none" strike="noStrike">
                <a:solidFill>
                  <a:srgbClr val="333344"/>
                </a:solidFill>
                <a:latin typeface="Courier New"/>
                <a:ea typeface="Courier New"/>
                <a:cs typeface="Courier New"/>
                <a:sym typeface="Courier New"/>
              </a:rPr>
              <a:t>"messages");</a:t>
            </a:r>
            <a:endParaRPr sz="18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 name="Shape 234"/>
        <p:cNvGrpSpPr/>
        <p:nvPr/>
      </p:nvGrpSpPr>
      <p:grpSpPr>
        <a:xfrm>
          <a:off x="0" y="0"/>
          <a:ext cx="0" cy="0"/>
          <a:chOff x="0" y="0"/>
          <a:chExt cx="0" cy="0"/>
        </a:xfrm>
      </p:grpSpPr>
      <p:sp>
        <p:nvSpPr>
          <p:cNvPr id="235" name="Google Shape;235;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same thing, two ways</a:t>
            </a:r>
            <a:endParaRPr/>
          </a:p>
        </p:txBody>
      </p:sp>
      <p:sp>
        <p:nvSpPr>
          <p:cNvPr id="236" name="Google Shape;236;p12"/>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37" name="Google Shape;237;p12"/>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 name="Google Shape;238;p12"/>
          <p:cNvSpPr txBox="1"/>
          <p:nvPr/>
        </p:nvSpPr>
        <p:spPr>
          <a:xfrm>
            <a:off x="1005846" y="1645925"/>
            <a:ext cx="5661600" cy="290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WITH .then() chains: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.then((response) =&gt;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.then((data) =&gt;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a:t>
            </a:r>
            <a:r>
              <a:rPr b="1" i="0" lang="en-US" sz="1500" u="none" cap="none" strike="noStrike">
                <a:solidFill>
                  <a:srgbClr val="333344"/>
                </a:solidFill>
                <a:latin typeface="Courier New"/>
                <a:ea typeface="Courier New"/>
                <a:cs typeface="Courier New"/>
                <a:sym typeface="Courier New"/>
              </a:rPr>
              <a:t>"messages");</a:t>
            </a:r>
            <a:endParaRPr sz="18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
        <p:nvSpPr>
          <p:cNvPr id="239" name="Google Shape;239;p12"/>
          <p:cNvSpPr txBox="1"/>
          <p:nvPr/>
        </p:nvSpPr>
        <p:spPr>
          <a:xfrm>
            <a:off x="5442850" y="3286400"/>
            <a:ext cx="6017400" cy="2134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WITH async/await: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 await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
        <p:nvSpPr>
          <p:cNvPr id="240" name="Google Shape;240;p12"/>
          <p:cNvSpPr txBox="1"/>
          <p:nvPr/>
        </p:nvSpPr>
        <p:spPr>
          <a:xfrm>
            <a:off x="1741725" y="5099025"/>
            <a:ext cx="9389100" cy="1231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sz="1800"/>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Same behavior. The bottom reads top to bottom. Variables from</a:t>
            </a:r>
            <a:endParaRPr sz="1800"/>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each await stay in scope. Errors propagate like normal throws.</a:t>
            </a:r>
            <a:endParaRPr sz="18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`await` actually does</a:t>
            </a:r>
            <a:endParaRPr/>
          </a:p>
        </p:txBody>
      </p:sp>
      <p:sp>
        <p:nvSpPr>
          <p:cNvPr id="247" name="Google Shape;247;p13"/>
          <p:cNvSpPr txBox="1"/>
          <p:nvPr/>
        </p:nvSpPr>
        <p:spPr>
          <a:xfrm>
            <a:off x="571500" y="1280150"/>
            <a:ext cx="11008200" cy="494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Quick clarification, because this trips almost everyone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await</a:t>
            </a:r>
            <a:r>
              <a:rPr b="0" i="0" lang="en-US" sz="2000" u="none" cap="none" strike="noStrike">
                <a:solidFill>
                  <a:srgbClr val="666677"/>
                </a:solidFill>
                <a:latin typeface="Calibri"/>
                <a:ea typeface="Calibri"/>
                <a:cs typeface="Calibri"/>
                <a:sym typeface="Calibri"/>
              </a:rPr>
              <a:t>` does NOT block the browser.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an async function hits an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it </a:t>
            </a:r>
            <a:r>
              <a:rPr b="1" i="0" lang="en-US" sz="2400" u="none" cap="none" strike="noStrike">
                <a:solidFill>
                  <a:srgbClr val="333344"/>
                </a:solidFill>
                <a:latin typeface="Calibri"/>
                <a:ea typeface="Calibri"/>
                <a:cs typeface="Calibri"/>
                <a:sym typeface="Calibri"/>
              </a:rPr>
              <a:t>pauses that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returns control to the browser. The browser keeps rendering,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firing events, and running other code while the function is parked.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the promise settles, the browser wakes your function back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right where it left off, with the value in hand.</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really the whole reason async exists: pause one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keep the browser responsive.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g3daffe9b800_0_193"/>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Mashing the button</a:t>
            </a:r>
            <a:endParaRPr/>
          </a:p>
        </p:txBody>
      </p:sp>
      <p:sp>
        <p:nvSpPr>
          <p:cNvPr id="254" name="Google Shape;254;g3daffe9b800_0_193"/>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55" name="Google Shape;255;g3daffe9b800_0_193"/>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6" name="Google Shape;256;g3daffe9b800_0_193"/>
          <p:cNvSpPr txBox="1"/>
          <p:nvPr/>
        </p:nvSpPr>
        <p:spPr>
          <a:xfrm>
            <a:off x="1087478" y="2163000"/>
            <a:ext cx="9022500" cy="14160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button.addEventListener("click", async () =&gt;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await doWork();</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sz="21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 name="Shape 261"/>
        <p:cNvGrpSpPr/>
        <p:nvPr/>
      </p:nvGrpSpPr>
      <p:grpSpPr>
        <a:xfrm>
          <a:off x="0" y="0"/>
          <a:ext cx="0" cy="0"/>
          <a:chOff x="0" y="0"/>
          <a:chExt cx="0" cy="0"/>
        </a:xfrm>
      </p:grpSpPr>
      <p:sp>
        <p:nvSpPr>
          <p:cNvPr id="262" name="Google Shape;262;g3daffe9b800_0_18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Mashing the button</a:t>
            </a:r>
            <a:endParaRPr/>
          </a:p>
        </p:txBody>
      </p:sp>
      <p:sp>
        <p:nvSpPr>
          <p:cNvPr id="263" name="Google Shape;263;g3daffe9b800_0_18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64" name="Google Shape;264;g3daffe9b800_0_18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g3daffe9b800_0_184"/>
          <p:cNvSpPr txBox="1"/>
          <p:nvPr/>
        </p:nvSpPr>
        <p:spPr>
          <a:xfrm>
            <a:off x="1087475" y="2163000"/>
            <a:ext cx="9689400" cy="17496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button.addEventListener("click", async () =&gt;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button.disabled = true;</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try { await doWork(); } finally { button.disabled = false;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sz="21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70" name="Shape 270"/>
        <p:cNvGrpSpPr/>
        <p:nvPr/>
      </p:nvGrpSpPr>
      <p:grpSpPr>
        <a:xfrm>
          <a:off x="0" y="0"/>
          <a:ext cx="0" cy="0"/>
          <a:chOff x="0" y="0"/>
          <a:chExt cx="0" cy="0"/>
        </a:xfrm>
      </p:grpSpPr>
      <p:sp>
        <p:nvSpPr>
          <p:cNvPr id="271" name="Google Shape;271;p14"/>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fetch</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 name="Shape 276"/>
        <p:cNvGrpSpPr/>
        <p:nvPr/>
      </p:nvGrpSpPr>
      <p:grpSpPr>
        <a:xfrm>
          <a:off x="0" y="0"/>
          <a:ext cx="0" cy="0"/>
          <a:chOff x="0" y="0"/>
          <a:chExt cx="0" cy="0"/>
        </a:xfrm>
      </p:grpSpPr>
      <p:sp>
        <p:nvSpPr>
          <p:cNvPr id="277" name="Google Shape;277;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fetch returns a promise for a Response</a:t>
            </a:r>
            <a:endParaRPr/>
          </a:p>
        </p:txBody>
      </p:sp>
      <p:sp>
        <p:nvSpPr>
          <p:cNvPr id="278" name="Google Shape;278;p15"/>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fetch(url)</a:t>
            </a:r>
            <a:r>
              <a:rPr b="0" i="0" lang="en-US" sz="2400" u="none" cap="none" strike="noStrike">
                <a:solidFill>
                  <a:srgbClr val="333344"/>
                </a:solidFill>
                <a:latin typeface="Calibri"/>
                <a:ea typeface="Calibri"/>
                <a:cs typeface="Calibri"/>
                <a:sym typeface="Calibri"/>
              </a:rPr>
              <a:t>` is the browser's built-in way to make HTTP requests,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a:t>
            </a:r>
            <a:r>
              <a:rPr b="0" i="0" lang="en-US" sz="2000" u="none" cap="none" strike="noStrike">
                <a:solidFill>
                  <a:srgbClr val="666677"/>
                </a:solidFill>
                <a:latin typeface="Calibri"/>
                <a:ea typeface="Calibri"/>
                <a:cs typeface="Calibri"/>
                <a:sym typeface="Calibri"/>
              </a:rPr>
              <a:t>t returns a </a:t>
            </a:r>
            <a:r>
              <a:rPr b="1" i="0" lang="en-US" sz="2000" u="none" cap="none" strike="noStrike">
                <a:solidFill>
                  <a:srgbClr val="666677"/>
                </a:solidFill>
                <a:latin typeface="Calibri"/>
                <a:ea typeface="Calibri"/>
                <a:cs typeface="Calibri"/>
                <a:sym typeface="Calibri"/>
              </a:rPr>
              <a:t>promise for a Response object</a:t>
            </a:r>
            <a:r>
              <a:rPr b="0" i="0" lang="en-US" sz="2000" u="none" cap="none" strike="noStrike">
                <a:solidFill>
                  <a:srgbClr val="666677"/>
                </a:solidFill>
                <a:latin typeface="Calibri"/>
                <a:ea typeface="Calibri"/>
                <a:cs typeface="Calibri"/>
                <a:sym typeface="Calibri"/>
              </a:rPr>
              <a: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usually need </a:t>
            </a:r>
            <a:r>
              <a:rPr b="1" i="0" lang="en-US" sz="2400" u="none" cap="none" strike="noStrike">
                <a:solidFill>
                  <a:srgbClr val="333344"/>
                </a:solidFill>
                <a:latin typeface="Calibri"/>
                <a:ea typeface="Calibri"/>
                <a:cs typeface="Calibri"/>
                <a:sym typeface="Calibri"/>
              </a:rPr>
              <a:t>two</a:t>
            </a:r>
            <a:r>
              <a:rPr b="0" i="0" lang="en-US" sz="2400" u="none" cap="none" strike="noStrike">
                <a:solidFill>
                  <a:srgbClr val="333344"/>
                </a:solidFill>
                <a:latin typeface="Calibri"/>
                <a:ea typeface="Calibri"/>
                <a:cs typeface="Calibri"/>
                <a:sym typeface="Calibri"/>
              </a:rPr>
              <a:t> awaits to actually get data out of it:</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First await</a:t>
            </a:r>
            <a:r>
              <a:rPr b="0" i="0" lang="en-US" sz="2000" u="none" cap="none" strike="noStrike">
                <a:solidFill>
                  <a:srgbClr val="666677"/>
                </a:solidFill>
                <a:latin typeface="Calibri"/>
                <a:ea typeface="Calibri"/>
                <a:cs typeface="Calibri"/>
                <a:sym typeface="Calibri"/>
              </a:rPr>
              <a:t> - the Response object arrives once the server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sends response headers. At this point you know the status code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whether the request succeeded, but not the body yet.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Second await</a:t>
            </a:r>
            <a:r>
              <a:rPr b="0" i="0" lang="en-US" sz="2000" u="none" cap="none" strike="noStrike">
                <a:solidFill>
                  <a:srgbClr val="666677"/>
                </a:solidFill>
                <a:latin typeface="Calibri"/>
                <a:ea typeface="Calibri"/>
                <a:cs typeface="Calibri"/>
                <a:sym typeface="Calibri"/>
              </a:rPr>
              <a:t> - the body. `</a:t>
            </a:r>
            <a:r>
              <a:rPr b="1" i="0" lang="en-US" sz="2000" u="none" cap="none" strike="noStrike">
                <a:solidFill>
                  <a:srgbClr val="666677"/>
                </a:solidFill>
                <a:latin typeface="Courier Prime"/>
                <a:ea typeface="Courier Prime"/>
                <a:cs typeface="Courier Prime"/>
                <a:sym typeface="Courier Prime"/>
              </a:rPr>
              <a:t>response.json()</a:t>
            </a:r>
            <a:r>
              <a:rPr b="0" i="0" lang="en-US" sz="2000" u="none" cap="none" strike="noStrike">
                <a:solidFill>
                  <a:srgbClr val="666677"/>
                </a:solidFill>
                <a:latin typeface="Calibri"/>
                <a:ea typeface="Calibri"/>
                <a:cs typeface="Calibri"/>
                <a:sym typeface="Calibri"/>
              </a:rPr>
              <a:t>` returns another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promise, because the body might still be streaming in.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two awaits aren't gratuitous - they let you check the status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code before committing to parse the body.</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 name="Shape 283"/>
        <p:cNvGrpSpPr/>
        <p:nvPr/>
      </p:nvGrpSpPr>
      <p:grpSpPr>
        <a:xfrm>
          <a:off x="0" y="0"/>
          <a:ext cx="0" cy="0"/>
          <a:chOff x="0" y="0"/>
          <a:chExt cx="0" cy="0"/>
        </a:xfrm>
      </p:grpSpPr>
      <p:sp>
        <p:nvSpPr>
          <p:cNvPr id="284" name="Google Shape;284;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GET: fetching a list of messages</a:t>
            </a:r>
            <a:endParaRPr/>
          </a:p>
        </p:txBody>
      </p:sp>
      <p:sp>
        <p:nvSpPr>
          <p:cNvPr id="285" name="Google Shape;285;p16"/>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86" name="Google Shape;286;p16"/>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6"/>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First await: headers arrive, we get the Response object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Second await: the JSON body is parsed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Calling it: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messages = await loadMessages();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console.log("loaded", messages.length, "messages");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2" name="Shape 292"/>
        <p:cNvGrpSpPr/>
        <p:nvPr/>
      </p:nvGrpSpPr>
      <p:grpSpPr>
        <a:xfrm>
          <a:off x="0" y="0"/>
          <a:ext cx="0" cy="0"/>
          <a:chOff x="0" y="0"/>
          <a:chExt cx="0" cy="0"/>
        </a:xfrm>
      </p:grpSpPr>
      <p:sp>
        <p:nvSpPr>
          <p:cNvPr id="293" name="Google Shape;293;p1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POST: sending a new message</a:t>
            </a:r>
            <a:endParaRPr/>
          </a:p>
        </p:txBody>
      </p:sp>
      <p:sp>
        <p:nvSpPr>
          <p:cNvPr id="294" name="Google Shape;294;p17"/>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95" name="Google Shape;295;p17"/>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6" name="Google Shape;296;p17"/>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postMessage(author: string, text: string):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method: "POST",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body: JSON.stringify({ author, text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created: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created;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Calling it: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newMsg = await postMessage("alice", "first!");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g3daffe9b800_0_20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03" name="Google Shape;303;g3daffe9b800_0_209"/>
          <p:cNvSpPr txBox="1"/>
          <p:nvPr/>
        </p:nvSpPr>
        <p:spPr>
          <a:xfrm>
            <a:off x="914401" y="1147500"/>
            <a:ext cx="10978200" cy="289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An error-status response is still a "successful" fetch from the browser's perspective.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promise </a:t>
            </a:r>
            <a:r>
              <a:rPr b="1" i="0" lang="en-US" sz="2000" u="none" cap="none" strike="noStrike">
                <a:solidFill>
                  <a:srgbClr val="666677"/>
                </a:solidFill>
                <a:latin typeface="Calibri"/>
                <a:ea typeface="Calibri"/>
                <a:cs typeface="Calibri"/>
                <a:sym typeface="Calibri"/>
              </a:rPr>
              <a:t>fulfills</a:t>
            </a:r>
            <a:r>
              <a:rPr b="0" i="0" lang="en-US" sz="2000" u="none" cap="none" strike="noStrike">
                <a:solidFill>
                  <a:srgbClr val="666677"/>
                </a:solidFill>
                <a:latin typeface="Calibri"/>
                <a:ea typeface="Calibri"/>
                <a:cs typeface="Calibri"/>
                <a:sym typeface="Calibri"/>
              </a:rPr>
              <a:t>, not rejects.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8" name="Shape 308"/>
        <p:cNvGrpSpPr/>
        <p:nvPr/>
      </p:nvGrpSpPr>
      <p:grpSpPr>
        <a:xfrm>
          <a:off x="0" y="0"/>
          <a:ext cx="0" cy="0"/>
          <a:chOff x="0" y="0"/>
          <a:chExt cx="0" cy="0"/>
        </a:xfrm>
      </p:grpSpPr>
      <p:sp>
        <p:nvSpPr>
          <p:cNvPr id="309" name="Google Shape;309;g3daffe9b800_0_21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10" name="Google Shape;310;g3daffe9b800_0_215"/>
          <p:cNvSpPr txBox="1"/>
          <p:nvPr/>
        </p:nvSpPr>
        <p:spPr>
          <a:xfrm>
            <a:off x="914400" y="1147500"/>
            <a:ext cx="10728600" cy="4494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rtl="0" algn="l">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An error-status response is still a "successful" fetch from the browser's perspective.</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The promise </a:t>
            </a:r>
            <a:r>
              <a:rPr b="1" lang="en-US" sz="2000">
                <a:solidFill>
                  <a:srgbClr val="666677"/>
                </a:solidFill>
                <a:latin typeface="Calibri"/>
                <a:ea typeface="Calibri"/>
                <a:cs typeface="Calibri"/>
                <a:sym typeface="Calibri"/>
              </a:rPr>
              <a:t>fulfills</a:t>
            </a:r>
            <a:r>
              <a:rPr lang="en-US" sz="2000">
                <a:solidFill>
                  <a:srgbClr val="666677"/>
                </a:solidFill>
                <a:latin typeface="Calibri"/>
                <a:ea typeface="Calibri"/>
                <a:cs typeface="Calibri"/>
                <a:sym typeface="Calibri"/>
              </a:rPr>
              <a:t>, not rejects.</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response.status === 404, response.ok === false</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but NO exception is thrown. Code keeps running.</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have to check `</a:t>
            </a:r>
            <a:r>
              <a:rPr b="1" i="0" lang="en-US" sz="2400" u="none" cap="none" strike="noStrike">
                <a:solidFill>
                  <a:srgbClr val="333344"/>
                </a:solidFill>
                <a:latin typeface="Courier Prime"/>
                <a:ea typeface="Courier Prime"/>
                <a:cs typeface="Courier Prime"/>
                <a:sym typeface="Courier Prime"/>
              </a:rPr>
              <a:t>response.ok</a:t>
            </a:r>
            <a:r>
              <a:rPr b="0" i="0" lang="en-US" sz="2400" u="none" cap="none" strike="noStrike">
                <a:solidFill>
                  <a:srgbClr val="333344"/>
                </a:solidFill>
                <a:latin typeface="Calibri"/>
                <a:ea typeface="Calibri"/>
                <a:cs typeface="Calibri"/>
                <a:sym typeface="Calibri"/>
              </a:rPr>
              <a:t>` yourself and throw if it's false.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1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17" name="Google Shape;317;p18"/>
          <p:cNvSpPr txBox="1"/>
          <p:nvPr/>
        </p:nvSpPr>
        <p:spPr>
          <a:xfrm>
            <a:off x="914401" y="1147500"/>
            <a:ext cx="10869300" cy="5556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rtl="0" algn="l">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An error-status response is still a "successful" fetch from the browser's perspective.</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The promise </a:t>
            </a:r>
            <a:r>
              <a:rPr b="1" lang="en-US" sz="2000">
                <a:solidFill>
                  <a:srgbClr val="666677"/>
                </a:solidFill>
                <a:latin typeface="Calibri"/>
                <a:ea typeface="Calibri"/>
                <a:cs typeface="Calibri"/>
                <a:sym typeface="Calibri"/>
              </a:rPr>
              <a:t>fulfills</a:t>
            </a:r>
            <a:r>
              <a:rPr lang="en-US" sz="2000">
                <a:solidFill>
                  <a:srgbClr val="666677"/>
                </a:solidFill>
                <a:latin typeface="Calibri"/>
                <a:ea typeface="Calibri"/>
                <a:cs typeface="Calibri"/>
                <a:sym typeface="Calibri"/>
              </a:rPr>
              <a:t>, not rejects.</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response.status === 404, response.ok === false</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but NO exception is thrown. Code keeps running.</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have to check `</a:t>
            </a:r>
            <a:r>
              <a:rPr b="1" i="0" lang="en-US" sz="2400" u="none" cap="none" strike="noStrike">
                <a:solidFill>
                  <a:srgbClr val="333344"/>
                </a:solidFill>
                <a:latin typeface="Courier Prime"/>
                <a:ea typeface="Courier Prime"/>
                <a:cs typeface="Courier Prime"/>
                <a:sym typeface="Courier Prime"/>
              </a:rPr>
              <a:t>response.ok</a:t>
            </a:r>
            <a:r>
              <a:rPr b="0" i="0" lang="en-US" sz="2400" u="none" cap="none" strike="noStrike">
                <a:solidFill>
                  <a:srgbClr val="333344"/>
                </a:solidFill>
                <a:latin typeface="Calibri"/>
                <a:ea typeface="Calibri"/>
                <a:cs typeface="Calibri"/>
                <a:sym typeface="Calibri"/>
              </a:rPr>
              <a:t>` yourself and throw if it's false.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promise only </a:t>
            </a:r>
            <a:r>
              <a:rPr b="1" i="0" lang="en-US" sz="2000" u="none" cap="none" strike="noStrike">
                <a:solidFill>
                  <a:srgbClr val="666677"/>
                </a:solidFill>
                <a:latin typeface="Calibri"/>
                <a:ea typeface="Calibri"/>
                <a:cs typeface="Calibri"/>
                <a:sym typeface="Calibri"/>
              </a:rPr>
              <a:t>rejects</a:t>
            </a:r>
            <a:r>
              <a:rPr b="0" i="0" lang="en-US" sz="2000" u="none" cap="none" strike="noStrike">
                <a:solidFill>
                  <a:srgbClr val="666677"/>
                </a:solidFill>
                <a:latin typeface="Calibri"/>
                <a:ea typeface="Calibri"/>
                <a:cs typeface="Calibri"/>
                <a:sym typeface="Calibri"/>
              </a:rPr>
              <a:t> on actual network failure - DNS,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connection refused, CORS, offline. 4xx/5xx do NOT reject.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g3daffe9b800_0_22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kinds of failure</a:t>
            </a:r>
            <a:endParaRPr/>
          </a:p>
        </p:txBody>
      </p:sp>
      <p:sp>
        <p:nvSpPr>
          <p:cNvPr id="324" name="Google Shape;324;g3daffe9b800_0_221"/>
          <p:cNvSpPr txBox="1"/>
          <p:nvPr/>
        </p:nvSpPr>
        <p:spPr>
          <a:xfrm>
            <a:off x="914400" y="1190890"/>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fetch can fail three ways: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Network failure</a:t>
            </a:r>
            <a:r>
              <a:rPr b="0" i="0" lang="en-US" sz="2000" u="none" cap="none" strike="noStrike">
                <a:solidFill>
                  <a:srgbClr val="666677"/>
                </a:solidFill>
                <a:latin typeface="Calibri"/>
                <a:ea typeface="Calibri"/>
                <a:cs typeface="Calibri"/>
                <a:sym typeface="Calibri"/>
              </a:rPr>
              <a:t> - DNS, server down, offline, CORS blocked.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promise rejects</a:t>
            </a:r>
            <a:r>
              <a:rPr b="0" i="0" lang="en-US" sz="2000" u="none" cap="none" strike="noStrike">
                <a:solidFill>
                  <a:srgbClr val="666677"/>
                </a:solidFill>
                <a:latin typeface="Calibri"/>
                <a:ea typeface="Calibri"/>
                <a:cs typeface="Calibri"/>
                <a:sym typeface="Calibri"/>
              </a:rPr>
              <a:t>, and `try`/`catch` around the await catches it.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HTTP error status</a:t>
            </a:r>
            <a:r>
              <a:rPr b="0" i="0" lang="en-US" sz="2000" u="none" cap="none" strike="noStrike">
                <a:solidFill>
                  <a:srgbClr val="666677"/>
                </a:solidFill>
                <a:latin typeface="Calibri"/>
                <a:ea typeface="Calibri"/>
                <a:cs typeface="Calibri"/>
                <a:sym typeface="Calibri"/>
              </a:rPr>
              <a:t> (4xx or 5xx) - server responded, but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with an error. The </a:t>
            </a:r>
            <a:r>
              <a:rPr b="1" i="0" lang="en-US" sz="2000" u="none" cap="none" strike="noStrike">
                <a:solidFill>
                  <a:srgbClr val="666677"/>
                </a:solidFill>
                <a:latin typeface="Calibri"/>
                <a:ea typeface="Calibri"/>
                <a:cs typeface="Calibri"/>
                <a:sym typeface="Calibri"/>
              </a:rPr>
              <a:t>promise fulfills normally</a:t>
            </a:r>
            <a:r>
              <a:rPr b="0" i="0" lang="en-US" sz="2000" u="none" cap="none" strike="noStrike">
                <a:solidFill>
                  <a:srgbClr val="666677"/>
                </a:solidFill>
                <a:latin typeface="Calibri"/>
                <a:ea typeface="Calibri"/>
                <a:cs typeface="Calibri"/>
                <a:sym typeface="Calibri"/>
              </a:rPr>
              <a:t>, so you have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check `response.ok` and throw yourself.</a:t>
            </a:r>
            <a:endParaRPr/>
          </a:p>
          <a:p>
            <a:pPr indent="0" lvl="1" marL="457200" marR="0" rtl="0" algn="l">
              <a:spcBef>
                <a:spcPts val="600"/>
              </a:spcBef>
              <a:spcAft>
                <a:spcPts val="0"/>
              </a:spcAft>
              <a:buNone/>
            </a:pPr>
            <a:r>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1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kinds of failure</a:t>
            </a:r>
            <a:endParaRPr/>
          </a:p>
        </p:txBody>
      </p:sp>
      <p:sp>
        <p:nvSpPr>
          <p:cNvPr id="331" name="Google Shape;331;p19"/>
          <p:cNvSpPr txBox="1"/>
          <p:nvPr/>
        </p:nvSpPr>
        <p:spPr>
          <a:xfrm>
            <a:off x="914400" y="119089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fetch can fail three ways: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Network failure</a:t>
            </a:r>
            <a:r>
              <a:rPr b="0" i="0" lang="en-US" sz="2000" u="none" cap="none" strike="noStrike">
                <a:solidFill>
                  <a:srgbClr val="666677"/>
                </a:solidFill>
                <a:latin typeface="Calibri"/>
                <a:ea typeface="Calibri"/>
                <a:cs typeface="Calibri"/>
                <a:sym typeface="Calibri"/>
              </a:rPr>
              <a:t> - DNS, server down, offline, CORS blocked.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promise rejects</a:t>
            </a:r>
            <a:r>
              <a:rPr b="0" i="0" lang="en-US" sz="2000" u="none" cap="none" strike="noStrike">
                <a:solidFill>
                  <a:srgbClr val="666677"/>
                </a:solidFill>
                <a:latin typeface="Calibri"/>
                <a:ea typeface="Calibri"/>
                <a:cs typeface="Calibri"/>
                <a:sym typeface="Calibri"/>
              </a:rPr>
              <a:t>, and `try`/`catch` around the await catches it.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HTTP error status</a:t>
            </a:r>
            <a:r>
              <a:rPr b="0" i="0" lang="en-US" sz="2000" u="none" cap="none" strike="noStrike">
                <a:solidFill>
                  <a:srgbClr val="666677"/>
                </a:solidFill>
                <a:latin typeface="Calibri"/>
                <a:ea typeface="Calibri"/>
                <a:cs typeface="Calibri"/>
                <a:sym typeface="Calibri"/>
              </a:rPr>
              <a:t> (4xx or 5xx) - server responded, but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with an error. The </a:t>
            </a:r>
            <a:r>
              <a:rPr b="1" i="0" lang="en-US" sz="2000" u="none" cap="none" strike="noStrike">
                <a:solidFill>
                  <a:srgbClr val="666677"/>
                </a:solidFill>
                <a:latin typeface="Calibri"/>
                <a:ea typeface="Calibri"/>
                <a:cs typeface="Calibri"/>
                <a:sym typeface="Calibri"/>
              </a:rPr>
              <a:t>promise fulfills normally</a:t>
            </a:r>
            <a:r>
              <a:rPr b="0" i="0" lang="en-US" sz="2000" u="none" cap="none" strike="noStrike">
                <a:solidFill>
                  <a:srgbClr val="666677"/>
                </a:solidFill>
                <a:latin typeface="Calibri"/>
                <a:ea typeface="Calibri"/>
                <a:cs typeface="Calibri"/>
                <a:sym typeface="Calibri"/>
              </a:rPr>
              <a:t>, so you have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check `response.ok` and throw yourself.</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 Bad JSON</a:t>
            </a:r>
            <a:r>
              <a:rPr b="0" i="0" lang="en-US" sz="2000" u="none" cap="none" strike="noStrike">
                <a:solidFill>
                  <a:srgbClr val="666677"/>
                </a:solidFill>
                <a:latin typeface="Calibri"/>
                <a:ea typeface="Calibri"/>
                <a:cs typeface="Calibri"/>
                <a:sym typeface="Calibri"/>
              </a:rPr>
              <a:t> - `response.json()` throws a `SyntaxError`,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caught by the same `try`/`catch`.</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0" marR="0" rtl="0" algn="l">
              <a:spcBef>
                <a:spcPts val="600"/>
              </a:spcBef>
              <a:spcAft>
                <a:spcPts val="0"/>
              </a:spcAft>
              <a:buNone/>
            </a:pPr>
            <a:r>
              <a:rPr lang="en-US" sz="2400">
                <a:solidFill>
                  <a:srgbClr val="333344"/>
                </a:solidFill>
                <a:latin typeface="Calibri"/>
                <a:ea typeface="Calibri"/>
                <a:cs typeface="Calibri"/>
                <a:sym typeface="Calibri"/>
              </a:rPr>
              <a:t>You gotta handle all three.</a:t>
            </a:r>
            <a:endParaRPr sz="2400">
              <a:solidFill>
                <a:srgbClr val="333344"/>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6" name="Shape 336"/>
        <p:cNvGrpSpPr/>
        <p:nvPr/>
      </p:nvGrpSpPr>
      <p:grpSpPr>
        <a:xfrm>
          <a:off x="0" y="0"/>
          <a:ext cx="0" cy="0"/>
          <a:chOff x="0" y="0"/>
          <a:chExt cx="0" cy="0"/>
        </a:xfrm>
      </p:grpSpPr>
      <p:sp>
        <p:nvSpPr>
          <p:cNvPr id="337" name="Google Shape;337;p2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One try/catch, three failures handled</a:t>
            </a:r>
            <a:endParaRPr/>
          </a:p>
        </p:txBody>
      </p:sp>
      <p:sp>
        <p:nvSpPr>
          <p:cNvPr id="338" name="Google Shape;338;p20"/>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39" name="Google Shape;339;p20"/>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0" name="Google Shape;340;p20"/>
          <p:cNvSpPr txBox="1"/>
          <p:nvPr/>
        </p:nvSpPr>
        <p:spPr>
          <a:xfrm>
            <a:off x="1005840" y="1645920"/>
            <a:ext cx="10179900" cy="4684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loadMessagesSafely():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Case 2: HTTP error - fetch succeeded, server said no</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Case 3: bad JSON throws inside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Network (cas</a:t>
            </a:r>
            <a:r>
              <a:rPr b="1" lang="en-US" sz="1500">
                <a:solidFill>
                  <a:srgbClr val="333344"/>
                </a:solidFill>
                <a:latin typeface="Courier New"/>
                <a:ea typeface="Courier New"/>
                <a:cs typeface="Courier New"/>
                <a:sym typeface="Courier New"/>
              </a:rPr>
              <a:t>e 1)</a:t>
            </a:r>
            <a:r>
              <a:rPr b="1" i="0" lang="en-US" sz="1500" u="none" cap="none" strike="noStrike">
                <a:solidFill>
                  <a:srgbClr val="333344"/>
                </a:solidFill>
                <a:latin typeface="Courier New"/>
                <a:ea typeface="Courier New"/>
                <a:cs typeface="Courier New"/>
                <a:sym typeface="Courier New"/>
              </a:rPr>
              <a:t>, HTTP error, and bad JSON all land here.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console.error("loadMessages failed:", err);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45" name="Shape 345"/>
        <p:cNvGrpSpPr/>
        <p:nvPr/>
      </p:nvGrpSpPr>
      <p:grpSpPr>
        <a:xfrm>
          <a:off x="0" y="0"/>
          <a:ext cx="0" cy="0"/>
          <a:chOff x="0" y="0"/>
          <a:chExt cx="0" cy="0"/>
        </a:xfrm>
      </p:grpSpPr>
      <p:sp>
        <p:nvSpPr>
          <p:cNvPr id="346" name="Google Shape;346;p21"/>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When answers arrive in the wrong order</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1" name="Shape 351"/>
        <p:cNvGrpSpPr/>
        <p:nvPr/>
      </p:nvGrpSpPr>
      <p:grpSpPr>
        <a:xfrm>
          <a:off x="0" y="0"/>
          <a:ext cx="0" cy="0"/>
          <a:chOff x="0" y="0"/>
          <a:chExt cx="0" cy="0"/>
        </a:xfrm>
      </p:grpSpPr>
      <p:sp>
        <p:nvSpPr>
          <p:cNvPr id="352" name="Google Shape;352;g3daffe9b800_0_34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second-clicked button wins</a:t>
            </a:r>
            <a:endParaRPr/>
          </a:p>
        </p:txBody>
      </p:sp>
      <p:sp>
        <p:nvSpPr>
          <p:cNvPr id="353" name="Google Shape;353;g3daffe9b800_0_346"/>
          <p:cNvSpPr txBox="1"/>
          <p:nvPr/>
        </p:nvSpPr>
        <p:spPr>
          <a:xfrm>
            <a:off x="914400" y="1177890"/>
            <a:ext cx="10362900" cy="1231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a chat UI with a filter. User clicks </a:t>
            </a:r>
            <a:r>
              <a:rPr b="1" i="0" lang="en-US" sz="2400" u="none" cap="none" strike="noStrike">
                <a:solidFill>
                  <a:srgbClr val="333344"/>
                </a:solidFill>
                <a:latin typeface="Calibri"/>
                <a:ea typeface="Calibri"/>
                <a:cs typeface="Calibri"/>
                <a:sym typeface="Calibri"/>
              </a:rPr>
              <a:t>Active</a:t>
            </a:r>
            <a:r>
              <a:rPr b="0" i="0" lang="en-US" sz="2400" u="none" cap="none" strike="noStrike">
                <a:solidFill>
                  <a:srgbClr val="333344"/>
                </a:solidFill>
                <a:latin typeface="Calibri"/>
                <a:ea typeface="Calibri"/>
                <a:cs typeface="Calibri"/>
                <a:sym typeface="Calibri"/>
              </a:rPr>
              <a:t>, then </a:t>
            </a:r>
            <a:r>
              <a:rPr lang="en-US" sz="2400">
                <a:solidFill>
                  <a:srgbClr val="333344"/>
                </a:solidFill>
                <a:latin typeface="Calibri"/>
                <a:ea typeface="Calibri"/>
                <a:cs typeface="Calibri"/>
                <a:sym typeface="Calibri"/>
              </a:rPr>
              <a:t>immediately clicks </a:t>
            </a:r>
            <a:r>
              <a:rPr b="1" lang="en-US" sz="2400">
                <a:solidFill>
                  <a:srgbClr val="333344"/>
                </a:solidFill>
                <a:latin typeface="Calibri"/>
                <a:ea typeface="Calibri"/>
                <a:cs typeface="Calibri"/>
                <a:sym typeface="Calibri"/>
              </a:rPr>
              <a:t>All</a:t>
            </a:r>
            <a:endParaRPr b="1"/>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Two fetches go out, both succeed.</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the second fetch finishes FIRST. Then the</a:t>
            </a:r>
            <a:r>
              <a:rPr lang="en-US"/>
              <a:t> </a:t>
            </a:r>
            <a:r>
              <a:rPr b="0" i="0" lang="en-US" sz="2000" u="none" cap="none" strike="noStrike">
                <a:solidFill>
                  <a:srgbClr val="666677"/>
                </a:solidFill>
                <a:latin typeface="Calibri"/>
                <a:ea typeface="Calibri"/>
                <a:cs typeface="Calibri"/>
                <a:sym typeface="Calibri"/>
              </a:rPr>
              <a:t>first fetch</a:t>
            </a:r>
            <a:r>
              <a:rPr lang="en-US" sz="2000">
                <a:solidFill>
                  <a:srgbClr val="666677"/>
                </a:solidFill>
                <a:latin typeface="Calibri"/>
                <a:ea typeface="Calibri"/>
                <a:cs typeface="Calibri"/>
                <a:sym typeface="Calibri"/>
              </a:rPr>
              <a:t> </a:t>
            </a:r>
            <a:r>
              <a:rPr b="0" i="0" lang="en-US" sz="2000" u="none" cap="none" strike="noStrike">
                <a:solidFill>
                  <a:srgbClr val="666677"/>
                </a:solidFill>
                <a:latin typeface="Calibri"/>
                <a:ea typeface="Calibri"/>
                <a:cs typeface="Calibri"/>
                <a:sym typeface="Calibri"/>
              </a:rPr>
              <a:t>finishes second</a:t>
            </a:r>
            <a:r>
              <a:rPr lang="en-US" sz="2000">
                <a:solidFill>
                  <a:srgbClr val="666677"/>
                </a:solidFill>
                <a:latin typeface="Calibri"/>
                <a:ea typeface="Calibri"/>
                <a:cs typeface="Calibri"/>
                <a:sym typeface="Calibri"/>
              </a:rPr>
              <a:t>.</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2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second-clicked button wins</a:t>
            </a:r>
            <a:endParaRPr/>
          </a:p>
        </p:txBody>
      </p:sp>
      <p:sp>
        <p:nvSpPr>
          <p:cNvPr id="360" name="Google Shape;360;p22"/>
          <p:cNvSpPr txBox="1"/>
          <p:nvPr/>
        </p:nvSpPr>
        <p:spPr>
          <a:xfrm>
            <a:off x="914400" y="117789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a chat UI with a filter. User clicks </a:t>
            </a:r>
            <a:r>
              <a:rPr b="1" i="0" lang="en-US" sz="2400" u="none" cap="none" strike="noStrike">
                <a:solidFill>
                  <a:srgbClr val="333344"/>
                </a:solidFill>
                <a:latin typeface="Calibri"/>
                <a:ea typeface="Calibri"/>
                <a:cs typeface="Calibri"/>
                <a:sym typeface="Calibri"/>
              </a:rPr>
              <a:t>Active</a:t>
            </a:r>
            <a:r>
              <a:rPr b="0" i="0" lang="en-US" sz="2400" u="none" cap="none" strike="noStrike">
                <a:solidFill>
                  <a:srgbClr val="333344"/>
                </a:solidFill>
                <a:latin typeface="Calibri"/>
                <a:ea typeface="Calibri"/>
                <a:cs typeface="Calibri"/>
                <a:sym typeface="Calibri"/>
              </a:rPr>
              <a:t>, then </a:t>
            </a:r>
            <a:r>
              <a:rPr lang="en-US" sz="2400">
                <a:solidFill>
                  <a:srgbClr val="333344"/>
                </a:solidFill>
                <a:latin typeface="Calibri"/>
                <a:ea typeface="Calibri"/>
                <a:cs typeface="Calibri"/>
                <a:sym typeface="Calibri"/>
              </a:rPr>
              <a:t>immediately clicks </a:t>
            </a:r>
            <a:r>
              <a:rPr b="1" lang="en-US" sz="2400">
                <a:solidFill>
                  <a:srgbClr val="333344"/>
                </a:solidFill>
                <a:latin typeface="Calibri"/>
                <a:ea typeface="Calibri"/>
                <a:cs typeface="Calibri"/>
                <a:sym typeface="Calibri"/>
              </a:rPr>
              <a:t>All</a:t>
            </a:r>
            <a:endParaRPr b="1"/>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Two fetches go out, both succeed.</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the second fetch finishes FIRST. Then the</a:t>
            </a:r>
            <a:r>
              <a:rPr lang="en-US"/>
              <a:t> </a:t>
            </a:r>
            <a:r>
              <a:rPr b="0" i="0" lang="en-US" sz="2000" u="none" cap="none" strike="noStrike">
                <a:solidFill>
                  <a:srgbClr val="666677"/>
                </a:solidFill>
                <a:latin typeface="Calibri"/>
                <a:ea typeface="Calibri"/>
                <a:cs typeface="Calibri"/>
                <a:sym typeface="Calibri"/>
              </a:rPr>
              <a:t>first fetch finishes second</a:t>
            </a:r>
            <a:r>
              <a:rPr lang="en-US" sz="2000">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a:t>
            </a:r>
            <a:r>
              <a:rPr lang="en-US" sz="2000">
                <a:solidFill>
                  <a:srgbClr val="666677"/>
                </a:solidFill>
                <a:latin typeface="Calibri"/>
                <a:ea typeface="Calibri"/>
                <a:cs typeface="Calibri"/>
                <a:sym typeface="Calibri"/>
              </a:rPr>
              <a:t>r render </a:t>
            </a:r>
            <a:r>
              <a:rPr b="0" i="0" lang="en-US" sz="2000" u="none" cap="none" strike="noStrike">
                <a:solidFill>
                  <a:srgbClr val="666677"/>
                </a:solidFill>
                <a:latin typeface="Calibri"/>
                <a:ea typeface="Calibri"/>
                <a:cs typeface="Calibri"/>
                <a:sym typeface="Calibri"/>
              </a:rPr>
              <a:t>callback overwrites the All list with the stale Active list.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UI now shows the wrong data and nothing threw an error.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filter says All, the list shows Active. Welcome to async.</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Synchronous function calls return in the order they're called.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Promises don't - network jitter decides.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two requests can race</a:t>
            </a:r>
            <a:r>
              <a:rPr b="0" i="0" lang="en-US" sz="2400" u="none" cap="none" strike="noStrike">
                <a:solidFill>
                  <a:srgbClr val="333344"/>
                </a:solidFill>
                <a:latin typeface="Calibri"/>
                <a:ea typeface="Calibri"/>
                <a:cs typeface="Calibri"/>
                <a:sym typeface="Calibri"/>
              </a:rPr>
              <a:t>, you have to </a:t>
            </a:r>
            <a:r>
              <a:rPr b="1" i="0" lang="en-US" sz="2400" u="none" cap="none" strike="noStrike">
                <a:solidFill>
                  <a:srgbClr val="333344"/>
                </a:solidFill>
                <a:latin typeface="Calibri"/>
                <a:ea typeface="Calibri"/>
                <a:cs typeface="Calibri"/>
                <a:sym typeface="Calibri"/>
              </a:rPr>
              <a:t>decide which one wins</a:t>
            </a:r>
            <a:r>
              <a:rPr b="0" i="0" lang="en-US" sz="2400" u="none" cap="none" strike="noStrike">
                <a:solidFill>
                  <a:srgbClr val="333344"/>
                </a:solidFill>
                <a:latin typeface="Calibri"/>
                <a:ea typeface="Calibri"/>
                <a:cs typeface="Calibri"/>
                <a:sym typeface="Calibri"/>
              </a:rPr>
              <a:t>.</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5" name="Shape 365"/>
        <p:cNvGrpSpPr/>
        <p:nvPr/>
      </p:nvGrpSpPr>
      <p:grpSpPr>
        <a:xfrm>
          <a:off x="0" y="0"/>
          <a:ext cx="0" cy="0"/>
          <a:chOff x="0" y="0"/>
          <a:chExt cx="0" cy="0"/>
        </a:xfrm>
      </p:grpSpPr>
      <p:sp>
        <p:nvSpPr>
          <p:cNvPr id="366" name="Google Shape;366;g3daffe9b800_0_24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67" name="Google Shape;367;g3daffe9b800_0_24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68" name="Google Shape;368;g3daffe9b800_0_24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g3daffe9b800_0_247"/>
          <p:cNvSpPr txBox="1"/>
          <p:nvPr/>
        </p:nvSpPr>
        <p:spPr>
          <a:xfrm>
            <a:off x="1005840" y="1645920"/>
            <a:ext cx="10179900" cy="4648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g3daffe9b800_0_239"/>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76" name="Google Shape;376;g3daffe9b800_0_239"/>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77" name="Google Shape;377;g3daffe9b800_0_239"/>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8" name="Google Shape;378;g3daffe9b800_0_239"/>
          <p:cNvSpPr txBox="1"/>
          <p:nvPr/>
        </p:nvSpPr>
        <p:spPr>
          <a:xfrm>
            <a:off x="1005840" y="1645920"/>
            <a:ext cx="10179900" cy="464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Cancel the in-flight fetch when a newer one starts.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cancelled fetch's promise rejects with an AbortError.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let controller: AbortController | null = null;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85" name="Google Shape;385;p23"/>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86" name="Google Shape;386;p23"/>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7" name="Google Shape;387;p23"/>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Cancel the in-flight fetch when a newer one starts.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cancelled fetch's promise rejects with an AbortError.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let controller: AbortController | null = null;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controller?.abort();              // cancel previous, if any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 = new AbortController();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p24"/>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Fetch todos and render them into the page</a:t>
            </a:r>
            <a:endParaRPr/>
          </a:p>
        </p:txBody>
      </p:sp>
      <p:sp>
        <p:nvSpPr>
          <p:cNvPr id="394" name="Google Shape;394;p24"/>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5" name="Google Shape;395;p24"/>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24"/>
          <p:cNvSpPr txBox="1"/>
          <p:nvPr/>
        </p:nvSpPr>
        <p:spPr>
          <a:xfrm>
            <a:off x="1005840" y="1554480"/>
            <a:ext cx="10179900" cy="4807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Goal: GET /api/todos, append one &lt;li&gt; per todo, show errors.</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async function loadAndRenderTodos(): Promise&lt;void&gt;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error = document.querySelector("#error")    as HTMLDivElement;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response = await ________("/api/todos");</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if (</a:t>
            </a:r>
            <a:r>
              <a:rPr b="1" lang="en-US" sz="1300">
                <a:solidFill>
                  <a:srgbClr val="B0B0C0"/>
                </a:solidFill>
                <a:latin typeface="Courier New"/>
                <a:ea typeface="Courier New"/>
                <a:cs typeface="Courier New"/>
                <a:sym typeface="Courier New"/>
              </a:rPr>
              <a:t>________</a:t>
            </a:r>
            <a:r>
              <a:rPr b="1" lang="en-US" sz="1300">
                <a:solidFill>
                  <a:srgbClr val="B0B0C0"/>
                </a:solidFill>
                <a:latin typeface="Courier New"/>
                <a:ea typeface="Courier New"/>
                <a:cs typeface="Courier New"/>
                <a:sym typeface="Courier New"/>
              </a:rPr>
              <a:t>________)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todos = await response.________();</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todos.forEach((todo) =&gt;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li = _______________;</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li.textContent = ________;</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list.________(li);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error.textContent = `Could not load: ${err}`;</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t>
            </a:r>
            <a:r>
              <a:rPr b="1" lang="en-US" sz="1300">
                <a:solidFill>
                  <a:srgbClr val="333344"/>
                </a:solidFill>
                <a:latin typeface="Courier New"/>
                <a:ea typeface="Courier New"/>
                <a:cs typeface="Courier New"/>
                <a:sym typeface="Courier New"/>
              </a:rPr>
              <a:t>error.style.display = "block";</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401" name="Shape 401"/>
        <p:cNvGrpSpPr/>
        <p:nvPr/>
      </p:nvGrpSpPr>
      <p:grpSpPr>
        <a:xfrm>
          <a:off x="0" y="0"/>
          <a:ext cx="0" cy="0"/>
          <a:chOff x="0" y="0"/>
          <a:chExt cx="0" cy="0"/>
        </a:xfrm>
      </p:grpSpPr>
      <p:sp>
        <p:nvSpPr>
          <p:cNvPr id="402" name="Google Shape;402;p25"/>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Fetch todos and render them into the page</a:t>
            </a:r>
            <a:endParaRPr/>
          </a:p>
        </p:txBody>
      </p:sp>
      <p:sp>
        <p:nvSpPr>
          <p:cNvPr id="403" name="Google Shape;403;p25"/>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4" name="Google Shape;404;p25"/>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5" name="Google Shape;405;p25"/>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async function loadAndRenderTodos(): Promise&lt;void&gt;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error = document.querySelector("#error")    as HTMLDivElement;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todos = await response.json();</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todos.forEach((todo) =&gt;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todo.title;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error.textContent = `Could not load: ${err}`;</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error.style.display = "block";</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0" name="Shape 410"/>
        <p:cNvGrpSpPr/>
        <p:nvPr/>
      </p:nvGrpSpPr>
      <p:grpSpPr>
        <a:xfrm>
          <a:off x="0" y="0"/>
          <a:ext cx="0" cy="0"/>
          <a:chOff x="0" y="0"/>
          <a:chExt cx="0" cy="0"/>
        </a:xfrm>
      </p:grpSpPr>
      <p:sp>
        <p:nvSpPr>
          <p:cNvPr id="411" name="Google Shape;411;p26"/>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POST a new todo and append it to the list</a:t>
            </a:r>
            <a:endParaRPr/>
          </a:p>
        </p:txBody>
      </p:sp>
      <p:sp>
        <p:nvSpPr>
          <p:cNvPr id="412" name="Google Shape;412;p26"/>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26"/>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6"/>
          <p:cNvSpPr txBox="1"/>
          <p:nvPr/>
        </p:nvSpPr>
        <p:spPr>
          <a:xfrm>
            <a:off x="1005878" y="1454680"/>
            <a:ext cx="10179900" cy="4807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r>
              <a:rPr b="1" lang="en-US" sz="1300">
                <a:solidFill>
                  <a:srgbClr val="333344"/>
                </a:solidFill>
                <a:latin typeface="Courier New"/>
                <a:ea typeface="Courier New"/>
                <a:cs typeface="Courier New"/>
                <a:sym typeface="Courier New"/>
              </a:rPr>
              <a:t>/ On submit: POST /api/todos with {title}, then append the new &lt;li&gt;.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form  = document.querySelector("#new-todo") as HTMLFormElement;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input = document.querySelector("#text")     as HTMLInputElement;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form.addEventListener("submit", async (event) =&gt;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t>
            </a:r>
            <a:r>
              <a:rPr b="1" lang="en-US" sz="1300">
                <a:solidFill>
                  <a:srgbClr val="333344"/>
                </a:solidFill>
                <a:latin typeface="Courier New"/>
                <a:ea typeface="Courier New"/>
                <a:cs typeface="Courier New"/>
                <a:sym typeface="Courier New"/>
              </a:rPr>
              <a:t>event.preventDefault();</a:t>
            </a:r>
            <a:r>
              <a:rPr b="1" lang="en-US" sz="1300">
                <a:solidFill>
                  <a:srgbClr val="B0B0C0"/>
                </a:solidFill>
                <a:latin typeface="Courier New"/>
                <a:ea typeface="Courier New"/>
                <a:cs typeface="Courier New"/>
                <a:sym typeface="Courier New"/>
              </a:rPr>
              <a:t>                       </a:t>
            </a:r>
            <a:r>
              <a:rPr b="1" lang="en-US" sz="1300">
                <a:solidFill>
                  <a:schemeClr val="dk1"/>
                </a:solidFill>
                <a:latin typeface="Courier New"/>
                <a:ea typeface="Courier New"/>
                <a:cs typeface="Courier New"/>
                <a:sym typeface="Courier New"/>
              </a:rPr>
              <a:t>// stop the page reload</a:t>
            </a:r>
            <a:endParaRPr>
              <a:solidFill>
                <a:schemeClr val="dk1"/>
              </a:solidFill>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________: </a:t>
            </a:r>
            <a:r>
              <a:rPr b="1" lang="en-US" sz="1300">
                <a:solidFill>
                  <a:srgbClr val="B0B0C0"/>
                </a:solidFill>
                <a:latin typeface="Courier New"/>
                <a:ea typeface="Courier New"/>
                <a:cs typeface="Courier New"/>
                <a:sym typeface="Courier New"/>
              </a:rPr>
              <a:t>____</a:t>
            </a:r>
            <a:r>
              <a:rPr b="1" lang="en-US" sz="1300">
                <a:solidFill>
                  <a:srgbClr val="B0B0C0"/>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body: ________({ title: input.value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if (_______________) throw new Error(`HTTP ${response.status}`);</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created = await response.________();</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a:t>
            </a:r>
            <a:r>
              <a:rPr b="1" lang="en-US" sz="1300">
                <a:solidFill>
                  <a:srgbClr val="B0B0C0"/>
                </a:solidFill>
                <a:latin typeface="Courier New"/>
                <a:ea typeface="Courier New"/>
                <a:cs typeface="Courier New"/>
                <a:sym typeface="Courier New"/>
              </a:rPr>
              <a:t>_______________</a:t>
            </a: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created.title;</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list.________(li);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input.value =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 console.error(err);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419" name="Shape 419"/>
        <p:cNvGrpSpPr/>
        <p:nvPr/>
      </p:nvGrpSpPr>
      <p:grpSpPr>
        <a:xfrm>
          <a:off x="0" y="0"/>
          <a:ext cx="0" cy="0"/>
          <a:chOff x="0" y="0"/>
          <a:chExt cx="0" cy="0"/>
        </a:xfrm>
      </p:grpSpPr>
      <p:sp>
        <p:nvSpPr>
          <p:cNvPr id="420" name="Google Shape;420;p27"/>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POST a new todo and append it to the list</a:t>
            </a:r>
            <a:endParaRPr/>
          </a:p>
        </p:txBody>
      </p:sp>
      <p:sp>
        <p:nvSpPr>
          <p:cNvPr id="421" name="Google Shape;421;p27"/>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7"/>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27"/>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const form  = document.querySelector("#new-todo") as HTMLFormElement;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input = document.querySelector("#text")     as HTMLInputElement;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form.addEventListener("submit", async (event) =&gt;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event.preventDefault();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method: "POST",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body: JSON.stringify({ title: input.value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created = await response.json();</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created.title;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input.value =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 console.error(err);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2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30" name="Google Shape;430;p28"/>
          <p:cNvSpPr txBox="1"/>
          <p:nvPr/>
        </p:nvSpPr>
        <p:spPr>
          <a:xfrm>
            <a:off x="914400" y="1120840"/>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Five things to walk away with:</a:t>
            </a:r>
            <a:endParaRPr b="1"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promise</a:t>
            </a:r>
            <a:r>
              <a:rPr b="0" i="0" lang="en-US" sz="2000" u="none" cap="none" strike="noStrike">
                <a:solidFill>
                  <a:srgbClr val="666677"/>
                </a:solidFill>
                <a:latin typeface="Calibri"/>
                <a:ea typeface="Calibri"/>
                <a:cs typeface="Calibri"/>
                <a:sym typeface="Calibri"/>
              </a:rPr>
              <a:t> is a placeholder for a value that will arrive later.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async/await</a:t>
            </a:r>
            <a:r>
              <a:rPr b="0" i="0" lang="en-US" sz="2000" u="none" cap="none" strike="noStrike">
                <a:solidFill>
                  <a:srgbClr val="666677"/>
                </a:solidFill>
                <a:latin typeface="Calibri"/>
                <a:ea typeface="Calibri"/>
                <a:cs typeface="Calibri"/>
                <a:sym typeface="Calibri"/>
              </a:rPr>
              <a:t> is the syntax for working with them cleanly.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fetch</a:t>
            </a:r>
            <a:r>
              <a:rPr b="0" i="0" lang="en-US" sz="2000" u="none" cap="none" strike="noStrike">
                <a:solidFill>
                  <a:srgbClr val="666677"/>
                </a:solidFill>
                <a:latin typeface="Calibri"/>
                <a:ea typeface="Calibri"/>
                <a:cs typeface="Calibri"/>
                <a:sym typeface="Calibri"/>
              </a:rPr>
              <a:t> is the browser's HTTP API; check `response.ok` yourself.</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Three failures</a:t>
            </a:r>
            <a:r>
              <a:rPr b="0" i="0" lang="en-US" sz="2000" u="none" cap="none" strike="noStrike">
                <a:solidFill>
                  <a:srgbClr val="666677"/>
                </a:solidFill>
                <a:latin typeface="Calibri"/>
                <a:ea typeface="Calibri"/>
                <a:cs typeface="Calibri"/>
                <a:sym typeface="Calibri"/>
              </a:rPr>
              <a:t> - network, HTTP, bad JSON - each needs a plan.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Races</a:t>
            </a:r>
            <a:r>
              <a:rPr b="0" i="0" lang="en-US" sz="2000" u="none" cap="none" strike="noStrike">
                <a:solidFill>
                  <a:srgbClr val="666677"/>
                </a:solidFill>
                <a:latin typeface="Calibri"/>
                <a:ea typeface="Calibri"/>
                <a:cs typeface="Calibri"/>
                <a:sym typeface="Calibri"/>
              </a:rPr>
              <a:t> are real - when two promises can land in any order, decide who wins.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now have every piece of the browser side: DOM, events, network.</a:t>
            </a:r>
            <a:endParaRPr/>
          </a:p>
          <a:p>
            <a:pPr indent="0" lvl="1" marL="457200" marR="0" rtl="0" algn="l">
              <a:spcBef>
                <a:spcPts val="600"/>
              </a:spcBef>
              <a:spcAft>
                <a:spcPts val="0"/>
              </a:spcAft>
              <a:buNone/>
            </a:pPr>
            <a:r>
              <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5" name="Shape 435"/>
        <p:cNvGrpSpPr/>
        <p:nvPr/>
      </p:nvGrpSpPr>
      <p:grpSpPr>
        <a:xfrm>
          <a:off x="0" y="0"/>
          <a:ext cx="0" cy="0"/>
          <a:chOff x="0" y="0"/>
          <a:chExt cx="0" cy="0"/>
        </a:xfrm>
      </p:grpSpPr>
      <p:sp>
        <p:nvSpPr>
          <p:cNvPr id="436" name="Google Shape;436;g3daffe9b800_0_255"/>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Vanilla-JS after a fetch</a:t>
            </a:r>
            <a:endParaRPr/>
          </a:p>
        </p:txBody>
      </p:sp>
      <p:sp>
        <p:nvSpPr>
          <p:cNvPr id="437" name="Google Shape;437;g3daffe9b800_0_255"/>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38" name="Google Shape;438;g3daffe9b800_0_255"/>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g3daffe9b800_0_255"/>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After fetching new todos, update every piece of the page BY HAND.</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async function refresh()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todos = await loadTodos();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1. clear and rebuild the list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list = document.querySelector("#todo-list")!;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list.replaceChildren();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todos.forEach((t)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li.textContent = t.title;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if (t.done) li.classList.add("done");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2. update the counter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counter = document.querySelector("#counter")!;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counter.textContent = `${todos.filter(t =&gt; !t.done).length} left`;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3. show or hide the "empty" message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empty = document.querySelector("#empty")! as HTMLElement;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empty.style.display = todos.length === 0 ? "block" : "none";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4" name="Shape 444"/>
        <p:cNvGrpSpPr/>
        <p:nvPr/>
      </p:nvGrpSpPr>
      <p:grpSpPr>
        <a:xfrm>
          <a:off x="0" y="0"/>
          <a:ext cx="0" cy="0"/>
          <a:chOff x="0" y="0"/>
          <a:chExt cx="0" cy="0"/>
        </a:xfrm>
      </p:grpSpPr>
      <p:sp>
        <p:nvSpPr>
          <p:cNvPr id="445" name="Google Shape;445;g3daffe9b800_0_33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46" name="Google Shape;446;g3daffe9b800_0_338"/>
          <p:cNvSpPr txBox="1"/>
          <p:nvPr/>
        </p:nvSpPr>
        <p:spPr>
          <a:xfrm>
            <a:off x="914400" y="112084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Five things to walk away with:</a:t>
            </a:r>
            <a:endParaRPr b="1"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promise</a:t>
            </a:r>
            <a:r>
              <a:rPr b="0" i="0" lang="en-US" sz="2000" u="none" cap="none" strike="noStrike">
                <a:solidFill>
                  <a:srgbClr val="666677"/>
                </a:solidFill>
                <a:latin typeface="Calibri"/>
                <a:ea typeface="Calibri"/>
                <a:cs typeface="Calibri"/>
                <a:sym typeface="Calibri"/>
              </a:rPr>
              <a:t> is a placeholder for a value that will arrive later.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async/await</a:t>
            </a:r>
            <a:r>
              <a:rPr b="0" i="0" lang="en-US" sz="2000" u="none" cap="none" strike="noStrike">
                <a:solidFill>
                  <a:srgbClr val="666677"/>
                </a:solidFill>
                <a:latin typeface="Calibri"/>
                <a:ea typeface="Calibri"/>
                <a:cs typeface="Calibri"/>
                <a:sym typeface="Calibri"/>
              </a:rPr>
              <a:t> is the syntax for working with them cleanly.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fetch</a:t>
            </a:r>
            <a:r>
              <a:rPr b="0" i="0" lang="en-US" sz="2000" u="none" cap="none" strike="noStrike">
                <a:solidFill>
                  <a:srgbClr val="666677"/>
                </a:solidFill>
                <a:latin typeface="Calibri"/>
                <a:ea typeface="Calibri"/>
                <a:cs typeface="Calibri"/>
                <a:sym typeface="Calibri"/>
              </a:rPr>
              <a:t> is the browser's HTTP API; check `response.ok` yourself.</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Three failures</a:t>
            </a:r>
            <a:r>
              <a:rPr b="0" i="0" lang="en-US" sz="2000" u="none" cap="none" strike="noStrike">
                <a:solidFill>
                  <a:srgbClr val="666677"/>
                </a:solidFill>
                <a:latin typeface="Calibri"/>
                <a:ea typeface="Calibri"/>
                <a:cs typeface="Calibri"/>
                <a:sym typeface="Calibri"/>
              </a:rPr>
              <a:t> - network, HTTP, bad JSON - each needs a plan.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Races</a:t>
            </a:r>
            <a:r>
              <a:rPr b="0" i="0" lang="en-US" sz="2000" u="none" cap="none" strike="noStrike">
                <a:solidFill>
                  <a:srgbClr val="666677"/>
                </a:solidFill>
                <a:latin typeface="Calibri"/>
                <a:ea typeface="Calibri"/>
                <a:cs typeface="Calibri"/>
                <a:sym typeface="Calibri"/>
              </a:rPr>
              <a:t> are real - when two promises can land in any order, decide who wins.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now have every piece of the browser side: DOM, events, network.</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a:t>
            </a:r>
            <a:r>
              <a:rPr lang="en-US" sz="2400">
                <a:solidFill>
                  <a:srgbClr val="333344"/>
                </a:solidFill>
                <a:latin typeface="Calibri"/>
                <a:ea typeface="Calibri"/>
                <a:cs typeface="Calibri"/>
                <a:sym typeface="Calibri"/>
              </a:rPr>
              <a:t>time</a:t>
            </a:r>
            <a:r>
              <a:rPr b="0" lang="en-US" sz="2400">
                <a:solidFill>
                  <a:srgbClr val="333344"/>
                </a:solidFill>
                <a:latin typeface="Calibri"/>
                <a:ea typeface="Calibri"/>
                <a:cs typeface="Calibri"/>
                <a:sym typeface="Calibri"/>
              </a:rPr>
              <a:t>: </a:t>
            </a:r>
            <a:r>
              <a:rPr b="1" lang="en-US" sz="2400">
                <a:solidFill>
                  <a:srgbClr val="333344"/>
                </a:solidFill>
                <a:latin typeface="Calibri"/>
                <a:ea typeface="Calibri"/>
                <a:cs typeface="Calibri"/>
                <a:sym typeface="Calibri"/>
              </a:rPr>
              <a:t>React.</a:t>
            </a:r>
            <a:r>
              <a:rPr b="0" lang="en-US" sz="2400">
                <a:solidFill>
                  <a:srgbClr val="333344"/>
                </a:solidFill>
                <a:latin typeface="Calibri"/>
                <a:ea typeface="Calibri"/>
                <a:cs typeface="Calibri"/>
                <a:sym typeface="Calibri"/>
              </a:rPr>
              <a:t> All this machinery gets wrapped in 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component model that answers the hardest question in frontend: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do I re-render after this promise resolves?"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