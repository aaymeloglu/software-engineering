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12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12192000" cy="6858000"/>
  <p:notesSz cx="6858000" cy="9144000"/>
  <p:embeddedFontLst>
    <p:embeddedFont>
      <p:font typeface="Courier Prime" pitchFamily="49" charset="77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Q+768D3hoI2RbVVyzkcLd9dxr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4"/>
    <p:restoredTop sz="89193"/>
  </p:normalViewPr>
  <p:slideViewPr>
    <p:cSldViewPr snapToGrid="0">
      <p:cViewPr varScale="1">
        <p:scale>
          <a:sx n="101" d="100"/>
          <a:sy n="101" d="100"/>
        </p:scale>
        <p:origin x="9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6" Type="http://customschemas.google.com/relationships/presentationmetadata" Target="metadata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/>
            </a:r>
            <a:endParaRPr dirty="0"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No preamble, straight to the bank example.</a:t>
            </a:r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98caeef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e498caeefa_0_1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Don't explain why yet, timeline comes next.</a:t>
            </a:r>
          </a:p>
        </p:txBody>
      </p:sp>
      <p:sp>
        <p:nvSpPr>
          <p:cNvPr id="123" name="Google Shape;123;g3e498caeefa_0_1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Don't explain why yet, timeline comes next.</a:t>
            </a:r>
          </a:p>
        </p:txBody>
      </p:sp>
      <p:sp>
        <p:nvSpPr>
          <p:cNvPr id="130" name="Google Shape;13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98caeef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e498caeefa_0_1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Don't explain why yet, timeline comes next.</a:t>
            </a:r>
          </a:p>
        </p:txBody>
      </p:sp>
      <p:sp>
        <p:nvSpPr>
          <p:cNvPr id="137" name="Google Shape;137;g3e498caeefa_0_15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98caeef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e498caeefa_0_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line by line. Key row: T2 sees 100, T1 hasn't written yet.</a:t>
            </a:r>
          </a:p>
        </p:txBody>
      </p:sp>
      <p:sp>
        <p:nvSpPr>
          <p:cNvPr id="144" name="Google Shape;144;g3e498caeefa_0_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498caeef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e498caeefa_0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line by line. Key row: T2 sees 100, T1 hasn't written yet.</a:t>
            </a:r>
          </a:p>
        </p:txBody>
      </p:sp>
      <p:sp>
        <p:nvSpPr>
          <p:cNvPr id="153" name="Google Shape;153;g3e498caeefa_0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98caeef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e498caeefa_0_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line by line. Key row: T2 sees 100, T1 hasn't written yet.</a:t>
            </a:r>
          </a:p>
        </p:txBody>
      </p:sp>
      <p:sp>
        <p:nvSpPr>
          <p:cNvPr id="162" name="Google Shape;162;g3e498caeefa_0_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498caee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e498caeefa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line by line. Key row: T2 sees 100, T1 hasn't written yet.</a:t>
            </a:r>
          </a:p>
        </p:txBody>
      </p:sp>
      <p:sp>
        <p:nvSpPr>
          <p:cNvPr id="171" name="Google Shape;171;g3e498caeefa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line by line. Key row: T2 sees 100, T1 hasn't written yet.</a:t>
            </a:r>
          </a:p>
        </p:txBody>
      </p:sp>
      <p:sp>
        <p:nvSpPr>
          <p:cNvPr id="180" name="Google Shape;18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498caeef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e498caeefa_0_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 'read-modify-write' out loud twice.</a:t>
            </a:r>
          </a:p>
        </p:txBody>
      </p:sp>
      <p:sp>
        <p:nvSpPr>
          <p:cNvPr id="189" name="Google Shape;189;g3e498caeefa_0_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 'read-modify-write' out loud twice.</a:t>
            </a:r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 out: store and signup are check-then-act, bank is read-modify-write.</a:t>
            </a:r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 it twice, comes back at the end. Appends don't contend, first counter will.</a:t>
            </a:r>
          </a:p>
        </p:txBody>
      </p:sp>
      <p:sp>
        <p:nvSpPr>
          <p:cNvPr id="210" name="Google Shape;21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17" name="Google Shape;21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498caeef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e498caeefa_0_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Shared memory: same reason threads are fast (no copying) and dangerous.</a:t>
            </a:r>
          </a:p>
        </p:txBody>
      </p:sp>
      <p:sp>
        <p:nvSpPr>
          <p:cNvPr id="223" name="Google Shape;223;g3e498caeefa_0_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Shared memory: same reason threads are fast (no copying) and dangerous.</a:t>
            </a:r>
          </a:p>
        </p:txBody>
      </p:sp>
      <p:sp>
        <p:nvSpPr>
          <p:cNvPr id="230" name="Google Shape;23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37" name="Google Shape;2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Say: this is why FastAPI looks different from front-end code.</a:t>
            </a:r>
          </a:p>
        </p:txBody>
      </p:sp>
      <p:sp>
        <p:nvSpPr>
          <p:cNvPr id="244" name="Google Shape;24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51" name="Google Shape;251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Next slide: event loop is why the industry switched.</a:t>
            </a:r>
          </a:p>
        </p:txBody>
      </p:sp>
      <p:sp>
        <p:nvSpPr>
          <p:cNvPr id="257" name="Google Shape;25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Server-side version of what the browser does. await = 'I'm waiting, run another request.'</a:t>
            </a:r>
          </a:p>
        </p:txBody>
      </p:sp>
      <p:sp>
        <p:nvSpPr>
          <p:cNvPr id="264" name="Google Shape;26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71" name="Google Shape;27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498caeef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e498caeefa_0_1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it slowly. Lost update at request layer via a global. Fix: pass as arguments.</a:t>
            </a:r>
          </a:p>
        </p:txBody>
      </p:sp>
      <p:sp>
        <p:nvSpPr>
          <p:cNvPr id="278" name="Google Shape;278;g3e498caeefa_0_1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498caeef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e498caeefa_0_1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it slowly. Lost update at request layer via a global. Fix: pass as arguments.</a:t>
            </a:r>
          </a:p>
        </p:txBody>
      </p:sp>
      <p:sp>
        <p:nvSpPr>
          <p:cNvPr id="287" name="Google Shape;287;g3e498caeefa_0_1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96" name="Google Shape;296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498caeefa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e498caeefa_0_4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Pause a beat before revealing the answer.</a:t>
            </a:r>
          </a:p>
        </p:txBody>
      </p:sp>
      <p:sp>
        <p:nvSpPr>
          <p:cNvPr id="303" name="Google Shape;303;g3e498caeefa_0_4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Pause a beat before revealing the answer.</a:t>
            </a:r>
          </a:p>
        </p:txBody>
      </p:sp>
      <p:sp>
        <p:nvSpPr>
          <p:cNvPr id="310" name="Google Shape;31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17" name="Google Shape;317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498caeefa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e498caeefa_0_50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Flag the word 'lock', comes back in the Java coda.</a:t>
            </a:r>
          </a:p>
        </p:txBody>
      </p:sp>
      <p:sp>
        <p:nvSpPr>
          <p:cNvPr id="323" name="Google Shape;323;g3e498caeefa_0_50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498caeefa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e498caeefa_0_5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Flag the word 'lock', comes back in the Java coda.</a:t>
            </a:r>
          </a:p>
        </p:txBody>
      </p:sp>
      <p:sp>
        <p:nvSpPr>
          <p:cNvPr id="330" name="Google Shape;330;g3e498caeefa_0_5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Flag the word 'lock', comes back in the Java coda.</a:t>
            </a:r>
          </a:p>
        </p:txBody>
      </p:sp>
      <p:sp>
        <p:nvSpPr>
          <p:cNvPr id="337" name="Google Shape;337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498caeefa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e498caeefa_0_5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FOR UPDATE is the one detail: without it SELECT doesn't lock, race returns.</a:t>
            </a:r>
          </a:p>
        </p:txBody>
      </p:sp>
      <p:sp>
        <p:nvSpPr>
          <p:cNvPr id="344" name="Google Shape;344;g3e498caeefa_0_5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FOR UPDATE is the one detail: without it SELECT doesn't lock, race returns.</a:t>
            </a:r>
          </a:p>
        </p:txBody>
      </p:sp>
      <p:sp>
        <p:nvSpPr>
          <p:cNvPr id="353" name="Google Shape;353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62" name="Google Shape;362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61842EFC-3D5D-6490-8C86-E00DB8EF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>
            <a:extLst>
              <a:ext uri="{FF2B5EF4-FFF2-40B4-BE49-F238E27FC236}">
                <a16:creationId xmlns:a16="http://schemas.microsoft.com/office/drawing/2014/main" id="{7FC86141-C3A9-1F11-831E-E6CECEB59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2:notes">
            <a:extLst>
              <a:ext uri="{FF2B5EF4-FFF2-40B4-BE49-F238E27FC236}">
                <a16:creationId xmlns:a16="http://schemas.microsoft.com/office/drawing/2014/main" id="{5B6CBF89-E8DD-79D2-6AB8-62FF9A1B3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Differences: async def, async with, await on execute.</a:t>
            </a:r>
          </a:p>
        </p:txBody>
      </p:sp>
      <p:sp>
        <p:nvSpPr>
          <p:cNvPr id="369" name="Google Shape;369;p22:notes">
            <a:extLst>
              <a:ext uri="{FF2B5EF4-FFF2-40B4-BE49-F238E27FC236}">
                <a16:creationId xmlns:a16="http://schemas.microsoft.com/office/drawing/2014/main" id="{E9514CB3-33D6-D9A7-2531-4AF1CB2BE9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9916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Differences: async def, async with, await on execute.</a:t>
            </a:r>
          </a:p>
        </p:txBody>
      </p:sp>
      <p:sp>
        <p:nvSpPr>
          <p:cNvPr id="369" name="Google Shape;369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Default sync, async only when measured. Coding agents go async unprompted.</a:t>
            </a:r>
          </a:p>
        </p:txBody>
      </p:sp>
      <p:sp>
        <p:nvSpPr>
          <p:cNvPr id="378" name="Google Shape;378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85" name="Google Shape;385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They know Java, not threads or locks. Concept only, they won't write this.</a:t>
            </a:r>
          </a:p>
        </p:txBody>
      </p:sp>
      <p:sp>
        <p:nvSpPr>
          <p:cNvPr id="392" name="Google Shape;39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498caeefa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3e498caeefa_0_16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398" name="Google Shape;398;g3e498caeefa_0_16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498caeefa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e498caeefa_0_3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407" name="Google Shape;407;g3e498caeefa_0_3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498caeefa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3e498caeefa_0_36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416" name="Google Shape;416;g3e498caeefa_0_36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498caeefa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e498caeefa_0_35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425" name="Google Shape;425;g3e498caeefa_0_35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498caeefa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g3e498caeefa_0_3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434" name="Google Shape;434;g3e498caeefa_0_3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498caeef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e498caeefa_0_26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Explain Runnable/start/join, then cold-call. Answer (c): both load before either stores. (d) compiles fine.</a:t>
            </a:r>
          </a:p>
        </p:txBody>
      </p:sp>
      <p:sp>
        <p:nvSpPr>
          <p:cNvPr id="443" name="Google Shape;443;g3e498caeefa_0_26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498caeefa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g3e498caeefa_0_17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ReentrantLock is the same idea, lock()/unlock().</a:t>
            </a:r>
          </a:p>
        </p:txBody>
      </p:sp>
      <p:sp>
        <p:nvSpPr>
          <p:cNvPr id="452" name="Google Shape;452;g3e498caeefa_0_1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498caeefa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e498caeefa_0_3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e498caeefa_0_3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498caeefa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e498caeefa_0_48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Cold-call, don't reveal. Answer (c) deadlock. (d) wrong: JVM never detects it.</a:t>
            </a:r>
          </a:p>
        </p:txBody>
      </p:sp>
      <p:sp>
        <p:nvSpPr>
          <p:cNvPr id="470" name="Google Shape;470;g3e498caeefa_0_48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498caeefa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g3e498caeefa_0_38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Cold-call, don't reveal. Answer (c) deadlock. (d) wrong: JVM never detects it.</a:t>
            </a:r>
          </a:p>
        </p:txBody>
      </p:sp>
      <p:sp>
        <p:nvSpPr>
          <p:cNvPr id="479" name="Google Shape;479;g3e498caeefa_0_38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498caeefa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g3e498caeefa_0_49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Consistent order needs every contributor to follow it. Won't hit this in final project.</a:t>
            </a:r>
          </a:p>
        </p:txBody>
      </p:sp>
      <p:sp>
        <p:nvSpPr>
          <p:cNvPr id="488" name="Google Shape;488;g3e498caeefa_0_49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498caeefa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3e498caeefa_0_3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Consistent order needs every contributor to follow it. Won't hit this in final project.</a:t>
            </a:r>
          </a:p>
        </p:txBody>
      </p:sp>
      <p:sp>
        <p:nvSpPr>
          <p:cNvPr id="497" name="Google Shape;497;g3e498caeefa_0_3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506" name="Google Shape;50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First bullet is the one to keep.</a:t>
            </a:r>
          </a:p>
        </p:txBody>
      </p:sp>
      <p:sp>
        <p:nvSpPr>
          <p:cNvPr id="513" name="Google Shape;513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9.1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Concurrency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A Bug You Can't Reproduce on Your Laptop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98caeefa_0_15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people withdraw $10 at the same time</a:t>
            </a:r>
            <a:endParaRPr/>
          </a:p>
        </p:txBody>
      </p:sp>
      <p:sp>
        <p:nvSpPr>
          <p:cNvPr id="126" name="Google Shape;126;g3e498caeefa_0_151"/>
          <p:cNvSpPr txBox="1"/>
          <p:nvPr/>
        </p:nvSpPr>
        <p:spPr>
          <a:xfrm>
            <a:off x="914400" y="1463040"/>
            <a:ext cx="10362900" cy="3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bank account, one row in your database: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`accounts`: { id: 42, balance: 100 }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withdraw - $10 requests land at the same millisecond. Each handler does: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 the current balance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Subtract $10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the new balance back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people withdraw $10 at the same time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1463040"/>
            <a:ext cx="10362900" cy="4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bank account, one row in your database: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`accounts`: { id: 42, balance: 100 }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withdraw - $10 requests land at the same millisecond. Each handler does: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 the current balance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Subtract $10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the new balance back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one alone is correct: 100 - 10 = 90. Run the two at the same time.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account lands at $90, not $80, and a whole withdrawal vanished.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98caeefa_0_15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people withdraw $10 at the same time</a:t>
            </a:r>
            <a:endParaRPr/>
          </a:p>
        </p:txBody>
      </p:sp>
      <p:sp>
        <p:nvSpPr>
          <p:cNvPr id="140" name="Google Shape;140;g3e498caeefa_0_157"/>
          <p:cNvSpPr txBox="1"/>
          <p:nvPr/>
        </p:nvSpPr>
        <p:spPr>
          <a:xfrm>
            <a:off x="914400" y="1463040"/>
            <a:ext cx="10362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bank account, one row in your database: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`accounts`: { id: 42, balance: 100 }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withdraw - $10 requests land at the same millisecond. Each handler does: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 the current balance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Subtract $10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the new balance back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one alone is correct: 100 - 10 = 90. Run the two at the same time.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account lands at $90, not $80, and a whole withdrawal vanished.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MAYBE</a:t>
            </a:r>
            <a:endParaRPr sz="5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98caeefa_0_16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timeline of the race</a:t>
            </a:r>
            <a:endParaRPr/>
          </a:p>
        </p:txBody>
      </p:sp>
      <p:sp>
        <p:nvSpPr>
          <p:cNvPr id="147" name="Google Shape;147;g3e498caeefa_0_16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race timeline</a:t>
            </a:r>
            <a:endParaRPr/>
          </a:p>
        </p:txBody>
      </p:sp>
      <p:sp>
        <p:nvSpPr>
          <p:cNvPr id="148" name="Google Shape;148;g3e498caeefa_0_16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498caeefa_0_16"/>
          <p:cNvSpPr txBox="1"/>
          <p:nvPr/>
        </p:nvSpPr>
        <p:spPr>
          <a:xfrm>
            <a:off x="1005840" y="1645920"/>
            <a:ext cx="101799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Starting balance: $100. Two withdraw-$10 requests, T1 and T2.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 T2 | DB state        | What happened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------+-----------------+-----------------------------------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498caeefa_0_24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timeline of the race</a:t>
            </a:r>
            <a:endParaRPr/>
          </a:p>
        </p:txBody>
      </p:sp>
      <p:sp>
        <p:nvSpPr>
          <p:cNvPr id="156" name="Google Shape;156;g3e498caeefa_0_24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race timeline</a:t>
            </a:r>
            <a:endParaRPr/>
          </a:p>
        </p:txBody>
      </p:sp>
      <p:sp>
        <p:nvSpPr>
          <p:cNvPr id="157" name="Google Shape;157;g3e498caeefa_0_24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498caeefa_0_24"/>
          <p:cNvSpPr txBox="1"/>
          <p:nvPr/>
        </p:nvSpPr>
        <p:spPr>
          <a:xfrm>
            <a:off x="1005840" y="1645920"/>
            <a:ext cx="10179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Starting balance: $100. Two withdraw-$10 requests, T1 and T2.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 T2 | DB state        | What happened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------+-----------------+-----------------------------------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498caeefa_0_8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timeline of the race</a:t>
            </a:r>
            <a:endParaRPr/>
          </a:p>
        </p:txBody>
      </p:sp>
      <p:sp>
        <p:nvSpPr>
          <p:cNvPr id="165" name="Google Shape;165;g3e498caeefa_0_8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race timeline</a:t>
            </a:r>
            <a:endParaRPr/>
          </a:p>
        </p:txBody>
      </p:sp>
      <p:sp>
        <p:nvSpPr>
          <p:cNvPr id="166" name="Google Shape;166;g3e498caeefa_0_8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498caeefa_0_8"/>
          <p:cNvSpPr txBox="1"/>
          <p:nvPr/>
        </p:nvSpPr>
        <p:spPr>
          <a:xfrm>
            <a:off x="1005840" y="1645920"/>
            <a:ext cx="10179900" cy="24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Starting balance: $100. Two withdraw-$10 requests, T1 and T2.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 T2 | DB state        | What happened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------+-----------------+-----------------------------------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computes 100 - 10 =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498caeefa_0_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timeline of the race</a:t>
            </a:r>
            <a:endParaRPr/>
          </a:p>
        </p:txBody>
      </p:sp>
      <p:sp>
        <p:nvSpPr>
          <p:cNvPr id="174" name="Google Shape;174;g3e498caeefa_0_0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race timeline</a:t>
            </a:r>
            <a:endParaRPr/>
          </a:p>
        </p:txBody>
      </p:sp>
      <p:sp>
        <p:nvSpPr>
          <p:cNvPr id="175" name="Google Shape;175;g3e498caeefa_0_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498caeefa_0_0"/>
          <p:cNvSpPr txBox="1"/>
          <p:nvPr/>
        </p:nvSpPr>
        <p:spPr>
          <a:xfrm>
            <a:off x="1005840" y="1645920"/>
            <a:ext cx="10179900" cy="27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Starting balance: $100. Two withdraw-$10 requests, T1 and T2.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 T2 | DB state        | What happened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------+-----------------+-----------------------------------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computes 100 - 10 =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computes 100 - 10 =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timeline of the race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race timeline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Starting balance: $100. Two withdraw-$10 requests, T1 and T2.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 T2 | DB state        | What happened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------+-----------------+-----------------------------------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reads balance -&gt; sees 100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100   | T1 computes 100 - 10 =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100   | T2 computes 100 - 10 =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&gt;    | balance =  90   | T1 writes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&gt; | balance =  90   | T2 writes 90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Final balance: $90. It should have been $80, because the second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write landed on top of the first and erased one whole withdrawal.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98caeefa_0_4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is the lost update bug</a:t>
            </a:r>
            <a:endParaRPr/>
          </a:p>
        </p:txBody>
      </p:sp>
      <p:sp>
        <p:nvSpPr>
          <p:cNvPr id="192" name="Google Shape;192;g3e498caeefa_0_40"/>
          <p:cNvSpPr txBox="1"/>
          <p:nvPr/>
        </p:nvSpPr>
        <p:spPr>
          <a:xfrm>
            <a:off x="914400" y="1463040"/>
            <a:ext cx="10362900" cy="320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time you: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 a value from the database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Compute a new value based on the old one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the new value back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... you have a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race condition 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lurking. If another request does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same thing between steps 1 and 3, one update vanishes.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is the lost update bug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914400" y="1463040"/>
            <a:ext cx="103629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time you: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 a value from the database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Compute a new value based on the old one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the new value back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... you have a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race condition 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lurking. If another request does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same thing between steps 1 and 3, one update vanishes.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It's sneaky because it passes all your tests (tests don't run con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currently)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 only shows up in production under real load,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when two real users happen to hit it at the same time, and then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 lose data and have a hard time reproducing why.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same shape shows up everywhere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914400" y="1463040"/>
            <a:ext cx="103629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is shows anywhere two requests touch the same data: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 online store with one item left. Two people check out at once,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both see "1 available," both orders go through, and you oversold.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reaction counter on a chat message. Two hearts arrive together,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each reads 5, each writes 6, and the count should have been 7.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booking app. Two people grab the 7pm slot because both saw it free.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Signup. Two people register "andy" at once, both pass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is-it-taken check, and both rows get inserted.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shapes underneath all of it:</a:t>
            </a:r>
            <a:endParaRPr sz="2400" b="1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ead-modify-write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(read, compute,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write back) 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check-then-act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(check a condition, then act on it).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Both have the same hole: something changes between the two steps.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Concurrency in practice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544275" y="1435850"/>
            <a:ext cx="11266800" cy="44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Race conditions classically involve concepts like threads, locks, etc.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But 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ou never wrote `import threading`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or did anything with worker pools or locks.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our server has been handling overlapping requests since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running </a:t>
            </a: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uvicorn app:app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Concurrency is not a feature you add.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It's the environment your web code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runs in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chat app hasn't bitten you yet only because it barely has any shared state or users.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So: where does the concurrency you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already have bite, and what do you do about it?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What a Thread Actually 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498caeefa_0_4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Process vs thread</a:t>
            </a:r>
            <a:endParaRPr/>
          </a:p>
        </p:txBody>
      </p:sp>
      <p:sp>
        <p:nvSpPr>
          <p:cNvPr id="226" name="Google Shape;226;g3e498caeefa_0_46"/>
          <p:cNvSpPr txBox="1"/>
          <p:nvPr/>
        </p:nvSpPr>
        <p:spPr>
          <a:xfrm>
            <a:off x="914400" y="1463040"/>
            <a:ext cx="103629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running program.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app.py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creates one.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has a PID, its own memory, its own files, and at least one</a:t>
            </a:r>
            <a:r>
              <a:rPr lang="en-US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of execution.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Process vs thread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914400" y="1463040"/>
            <a:ext cx="10362900" cy="4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running program.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app.py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creates one.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has a PID, its own memory, its own files, and at least one</a:t>
            </a:r>
            <a:r>
              <a:rPr lang="en-US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of execution.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an independent flow of execution inside a process.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has: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Its own call stack (local variables, "where am I")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Shared memory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with every other thread in the same process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scheduled slot on the CPU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One process can hold many threads, and they all share the same memory.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"multiple threads" gives you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914400" y="1463040"/>
            <a:ext cx="10362900" cy="4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multiple threads 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 a process, the OS can run different parts of your code at the "same" time.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On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single-core CPU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the OS rapidly alternates between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threads, giving each a slice of time. It looks simultaneous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from the outside but isn't.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On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multi-core CPU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threads can literally run at the same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moment on different cores, which is actually simultaneous.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Either way, from your code's perspective, another thread can be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running while this one is paused, so any variable they share might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change between one line and the next. That gap is where the bug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we opened with came from.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Callback: browsers are single-threaded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914400" y="1463040"/>
            <a:ext cx="10362900" cy="47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Previously we learned that the browser is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single-threaded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Your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JavaScript shares one thread with the page's rendering and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event handling, so if your JS blocks, the page freezes.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Then we learned that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await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doesn't actually block that thread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 pauses your function and lets the browser run other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events on the same single thread. That's why async matters in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browser: it's the only way to do slow things without freezing.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Web servers don't have that constraint. A server can use multiple threads,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or a smart single thread, or even a pool of processes.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How Your Server Handles Multiple Requests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A: thread-per-request</a:t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914400" y="1463050"/>
            <a:ext cx="10607100" cy="4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classic model. Django + gunicorn, Rails, Java servlets.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Server starts with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of N threads (say, 10)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Request arrives -&gt; grab a free thread, run the handler on it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Handler finishes -&gt; thread returns to the pool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All N busy? Queue the request until one frees up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It's simple to reason about, since each request gets its own thread.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catch is that threads are expensive - ~1 MB of stack each, plus OS book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keeping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With 10 threads you handle 10 concurrent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requests.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With 1,000 your memory explodes. And most of the time,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each thread is just sitting there waiting on the database.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/>
          <p:nvPr/>
        </p:nvSpPr>
        <p:spPr>
          <a:xfrm>
            <a:off x="731520" y="365760"/>
            <a:ext cx="1072865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B: event loop</a:t>
            </a:r>
            <a:endParaRPr dirty="0"/>
          </a:p>
        </p:txBody>
      </p:sp>
      <p:sp>
        <p:nvSpPr>
          <p:cNvPr id="267" name="Google Shape;267;p14"/>
          <p:cNvSpPr txBox="1"/>
          <p:nvPr/>
        </p:nvSpPr>
        <p:spPr>
          <a:xfrm>
            <a:off x="914400" y="1463040"/>
            <a:ext cx="103629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 if instead of one thread per request, you used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one thread.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had it handle many requests concurrently?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hen a handler waits on I/O (database, network), it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yields control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a scheduler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scheduler runs another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ready handler. When the first handler's I/O finishes,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scheduler resumes it where it left off.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called an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event loop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 one thread handling many concurrent tasks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Node.js, Go, Python's asyncio, and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all work this way.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get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tons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of concurrent requests on a single thread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ost of the time your code is waiting on I/O and the event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loop spends that wait running someone else's request.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FastAPI does both, sort of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914400" y="1463040"/>
            <a:ext cx="103629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is event-loop based. When you write an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async def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FastAPI runs it directly on uvicorn's event loop.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But FastAPI also handles plain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endpoints gracefully.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When you write a regular synchronous endpoint, FastAPI runs it in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small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thread pool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so the event loop isn't blocked while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your sync code runs.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Practical result: you can write your endpoints as either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or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async def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and FastAPI does the right thing.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It’s easiest to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write plain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unless you have a specific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reason to go async (we'll see one in a few slides).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Either way your concurrent requests get handled, which is all you need.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498caeefa_0_14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REST is stateless</a:t>
            </a:r>
            <a:endParaRPr/>
          </a:p>
        </p:txBody>
      </p:sp>
      <p:sp>
        <p:nvSpPr>
          <p:cNvPr id="281" name="Google Shape;281;g3e498caeefa_0_143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82" name="Google Shape;282;g3e498caeefa_0_14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498caeefa_0_143"/>
          <p:cNvSpPr txBox="1"/>
          <p:nvPr/>
        </p:nvSpPr>
        <p:spPr>
          <a:xfrm>
            <a:off x="1005840" y="1645920"/>
            <a:ext cx="101799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Naive "current user" stash. Saves you passing it through every call.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current_user: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@app.post("/transfer")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transfer(req: TransferRequest):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global current_user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current_user = req.username       # 1. stash who's calling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= look_up_account()       # 2. some other work (DB, HTTP, ...)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deduct(req.amount)  # 3. read it back later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498caeefa_0_13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REST is stateless</a:t>
            </a:r>
            <a:endParaRPr/>
          </a:p>
        </p:txBody>
      </p:sp>
      <p:sp>
        <p:nvSpPr>
          <p:cNvPr id="290" name="Google Shape;290;g3e498caeefa_0_135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91" name="Google Shape;291;g3e498caeefa_0_13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498caeefa_0_135"/>
          <p:cNvSpPr txBox="1"/>
          <p:nvPr/>
        </p:nvSpPr>
        <p:spPr>
          <a:xfrm>
            <a:off x="1005840" y="164592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Naive "current user" stash. Saves you passing it through every call.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current_user: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@app.post("/transfer")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transfer(req: TransferRequest):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global current_user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current_user = req.username       # 1. stash who's calling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= look_up_account()       # 2. some other work (DB, HTTP, ...)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deduct(req.amount)  # 3. read it back later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Two requests, interleaved on the same process: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T1 (alice):  sets current_user = "alice", calls look_up_account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T2 (bob):    sets current_user = "bob",   calls look_up_account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T1 resumes:  reads current_user -&gt; "bob", deducts from BOB.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Alice's withdrawal came out of bob's account. The handler ran top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to bottom; it just didn't run alone. This whole class of bug is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what statelessness rules out by construction.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tatelessness was a concurrency decision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914400" y="1218090"/>
            <a:ext cx="103629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 learned that 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REST's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statelessness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was one of its four design rules: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very request carries its context, the server remembers nothing.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We sold it as operational - run 1,000 copies behind a load balancer.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deeper reason is concurrency. Statelessness is what makes it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safe to handle overlapping requests at all.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your server kept per-session state, two requests running at once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could see each other's half-finished writes, which is a race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condition in ordinary handler code, no database required.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Because there's no per-request state, that entire class of bug is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ruled out before your handler code even runs.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498caeefa_0_498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 why are we </a:t>
            </a: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06" name="Google Shape;306;g3e498caeefa_0_498"/>
          <p:cNvSpPr txBox="1"/>
          <p:nvPr/>
        </p:nvSpPr>
        <p:spPr>
          <a:xfrm>
            <a:off x="914400" y="1463040"/>
            <a:ext cx="10362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statelessness prevents bugs at the request level, what's left?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 why are we </a:t>
            </a: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914400" y="1463040"/>
            <a:ext cx="103629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statelessness prevents bugs at the request level, what's left?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REQUESTS are stateless, but your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not.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lost-update bug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lives in the DB - in the one row they both reached for.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Stateless requests plus a shared database is the entire modern web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 moves the hard part from the request layer (easy) to the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data layer (not easy).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The Fix: Transactions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498caeefa_0_50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Transactions: atomicity from the database</a:t>
            </a:r>
            <a:endParaRPr/>
          </a:p>
        </p:txBody>
      </p:sp>
      <p:sp>
        <p:nvSpPr>
          <p:cNvPr id="326" name="Google Shape;326;g3e498caeefa_0_504"/>
          <p:cNvSpPr txBox="1"/>
          <p:nvPr/>
        </p:nvSpPr>
        <p:spPr>
          <a:xfrm>
            <a:off x="914400" y="1463040"/>
            <a:ext cx="103629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 has a built-in guarantee called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Wrap a set of statements in `BEGIN ... COMMIT` and the database treats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them as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one indivisible operation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all happen, or none do.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498caeefa_0_519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Transactions: atomicity from the database</a:t>
            </a:r>
            <a:endParaRPr/>
          </a:p>
        </p:txBody>
      </p:sp>
      <p:sp>
        <p:nvSpPr>
          <p:cNvPr id="333" name="Google Shape;333;g3e498caeefa_0_519"/>
          <p:cNvSpPr txBox="1"/>
          <p:nvPr/>
        </p:nvSpPr>
        <p:spPr>
          <a:xfrm>
            <a:off x="914400" y="1463040"/>
            <a:ext cx="10362900" cy="2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 has a built-in guarantee called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Wrap a set of statements in `BEGIN ... COMMIT` and the database treats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them as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one indivisible operation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all happen, or none do.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acquires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lock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on the affected rows for the duration of the transaction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Other transactions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touching the same rows wait until the first one commits.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Transactions: atomicity from the database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914400" y="1463040"/>
            <a:ext cx="10362900" cy="5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 has a built-in guarantee called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Wrap a set of statements in `BEGIN ... COMMIT` and the database treats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them as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one indivisible operation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all happen, or none do.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acquires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lock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on the affected rows for the duration of the transaction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Other transactions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touching the same rows wait until the first one commits.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Lock: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synchronization primitive that restricts access to a shared resource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thread attempting to execute code behind a lock must first 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acquire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it.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the lock is already acquired, the thread must wait until the lock is released.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`BEGIN ... UPDATE balance ... COMMIT` transactions on the sa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 row: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They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get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serialized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one runs to completion, then the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other runs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98caeefa_0_51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fix, using the helper you already know</a:t>
            </a:r>
            <a:endParaRPr/>
          </a:p>
        </p:txBody>
      </p:sp>
      <p:sp>
        <p:nvSpPr>
          <p:cNvPr id="347" name="Google Shape;347;g3e498caeefa_0_510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48" name="Google Shape;348;g3e498caeefa_0_51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498caeefa_0_510"/>
          <p:cNvSpPr txBox="1"/>
          <p:nvPr/>
        </p:nvSpPr>
        <p:spPr>
          <a:xfrm>
            <a:off x="1005840" y="1645920"/>
            <a:ext cx="10179900" cy="4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sqlalchemy import text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db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withdraw(account_id: int, amount: float) -&gt; None: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db.engine.begin() opens a transaction and commits on exit.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If an exception fires, it rolls back instead.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db.engine.begin()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# Read the current balance (inside the transaction)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balance FROM accounts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account_id},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new_balance = row.balance - amount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# Write the new balance (still inside the transaction)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text("UPDATE accounts SET balance = :b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{"b": new_balance, "id": account_id},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fix, using the helper you already know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1005840" y="1645920"/>
            <a:ext cx="10179900" cy="47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sqlalchemy import text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db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withdraw(account_id: int, amount: float) -&gt; None: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db.engine.begin() opens a transaction and commits on exit.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If an exception fires, it rolls back instead.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db.engine.begin()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# Read the current balance (inside the transaction)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balance FROM accounts WHERE id = :id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FOR UPDATE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account_id},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new_balance = row.balance - amount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# Write the new balance (still inside the transaction)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text("UPDATE accounts SET balance = :b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{"b": new_balance, "id": account_id},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async/await, now in Python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already met async/await in JavaScript.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Now in python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async def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makes a function return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coroutine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await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pauses the coroutine until something finishes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await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only works inside `async def`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 FastAPI you can write endpoints either way: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list_messages():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runs in FastAPI's thread pool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async def list_messages():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runs on uvicorn's event loop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async version is faster under load for I/O-heavy endpoints --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yields to the event loop while waiting on the database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instead of tying up a whole thread doing nothing.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>
          <a:extLst>
            <a:ext uri="{FF2B5EF4-FFF2-40B4-BE49-F238E27FC236}">
              <a16:creationId xmlns:a16="http://schemas.microsoft.com/office/drawing/2014/main" id="{F0A66BCC-04B9-D37C-8B65-E52A358C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">
            <a:extLst>
              <a:ext uri="{FF2B5EF4-FFF2-40B4-BE49-F238E27FC236}">
                <a16:creationId xmlns:a16="http://schemas.microsoft.com/office/drawing/2014/main" id="{FF3AD28C-9E2B-52B5-978B-74C344514DAB}"/>
              </a:ext>
            </a:extLst>
          </p:cNvPr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Sync vs async endpoint</a:t>
            </a:r>
            <a:endParaRPr/>
          </a:p>
        </p:txBody>
      </p:sp>
      <p:sp>
        <p:nvSpPr>
          <p:cNvPr id="372" name="Google Shape;372;p22">
            <a:extLst>
              <a:ext uri="{FF2B5EF4-FFF2-40B4-BE49-F238E27FC236}">
                <a16:creationId xmlns:a16="http://schemas.microsoft.com/office/drawing/2014/main" id="{D74B9207-62B2-51E3-2CED-2A57B09A2791}"/>
              </a:ext>
            </a:extLst>
          </p:cNvPr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73" name="Google Shape;373;p22">
            <a:extLst>
              <a:ext uri="{FF2B5EF4-FFF2-40B4-BE49-F238E27FC236}">
                <a16:creationId xmlns:a16="http://schemas.microsoft.com/office/drawing/2014/main" id="{E7A58D12-70AF-692E-3512-F97FE18C0679}"/>
              </a:ext>
            </a:extLst>
          </p:cNvPr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>
            <a:extLst>
              <a:ext uri="{FF2B5EF4-FFF2-40B4-BE49-F238E27FC236}">
                <a16:creationId xmlns:a16="http://schemas.microsoft.com/office/drawing/2014/main" id="{19A7321E-A44E-62E6-3827-8E74097CBC70}"/>
              </a:ext>
            </a:extLst>
          </p:cNvPr>
          <p:cNvSpPr txBox="1"/>
          <p:nvPr/>
        </p:nvSpPr>
        <p:spPr>
          <a:xfrm>
            <a:off x="1005840" y="1645920"/>
            <a:ext cx="10179900" cy="160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Sync version - runs in </a:t>
            </a:r>
            <a:r>
              <a:rPr lang="en-US" sz="1500" b="1" i="0" u="none" strike="noStrike" cap="none" dirty="0" err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FastAPI's</a:t>
            </a: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thread pool</a:t>
            </a: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1500" b="1" i="0" u="none" strike="noStrike" cap="none" dirty="0" err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app.get</a:t>
            </a: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("/messages")</a:t>
            </a: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500" b="1" i="0" u="none" strike="noStrike" cap="none" dirty="0" err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list_messages</a:t>
            </a: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</a:t>
            </a:r>
            <a:r>
              <a:rPr lang="en-US" sz="1500" b="1" i="0" u="none" strike="noStrike" cap="none" dirty="0" err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db.engine.connect</a:t>
            </a: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() as conn:</a:t>
            </a: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rows = </a:t>
            </a:r>
            <a:r>
              <a:rPr lang="en-US" sz="1500" b="1" i="0" u="none" strike="noStrike" cap="none" dirty="0" err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</a:t>
            </a: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(text("SELECT * FROM messages")).mappings().all()</a:t>
            </a: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list(rows)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566189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Sync vs async endpoint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1005840" y="164592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Sync version - runs in FastAPI's thread pool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@app.get("/messages")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list_messages():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db.engine.connect() as conn: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rows = conn.execute(text("SELECT * FROM messages")).mappings().all()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list(rows)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Async version - runs on uvicorn's event loop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@app.get("/messages")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async def list_messages():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async with db.engine.connect() as conn: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= await conn.execute(text("SELECT * FROM messages"))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rows = result.mappings().all()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list(rows)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For the final project</a:t>
            </a: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I suggest</a:t>
            </a: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sync unless you hit a real perf problem.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to reach for async def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914400" y="1463040"/>
            <a:ext cx="103629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async def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when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of these are true: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endpoint does I/O (database, external API, file read)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 expect high concurrency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You're using an async-native library for that I/O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you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await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 synchronous call,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gain nothing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thread still blocks. You need an</a:t>
            </a:r>
            <a:r>
              <a:rPr lang="en-US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async-aware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driver, HTTP client, etc.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GIL, in one slide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You'll hear about the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Global Interpreter Lock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(GIL). 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Here it is so you can recognize the term and otherwise move 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CPython has a lock that stops two threads from executing Python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bytecode at the same time.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nly one thread at any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instant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actually running Python code.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CPU-bound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Python (math loops, image processing) does NOT get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faster with threads. Use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multiprocessing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instead.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I/O-bound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Python (database, HTTP, file reads) DOES get faster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with threads, because the GIL releases during the I/O wait.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Web apps are almost entirely I/O-bound, so for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our purposes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’m showing you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term, and otherwise don't spend time on it.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Stepping Back: This Is Just Locking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498caeefa_0_169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01" name="Google Shape;401;g3e498caeefa_0_169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02" name="Google Shape;402;g3e498caeefa_0_169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498caeefa_0_169"/>
          <p:cNvSpPr txBox="1"/>
          <p:nvPr/>
        </p:nvSpPr>
        <p:spPr>
          <a:xfrm>
            <a:off x="1005840" y="1645920"/>
            <a:ext cx="10179900" cy="24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exact same read-modify-write shape as the bank withdrawal,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this time in a language with built-in threading syntax</a:t>
            </a: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Counter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 = 0;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void increment() { count++; }   // read, add 1, write back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498caeefa_0_35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10" name="Google Shape;410;g3e498caeefa_0_351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11" name="Google Shape;411;g3e498caeefa_0_35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498caeefa_0_351"/>
          <p:cNvSpPr txBox="1"/>
          <p:nvPr/>
        </p:nvSpPr>
        <p:spPr>
          <a:xfrm>
            <a:off x="1005850" y="1645924"/>
            <a:ext cx="101799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Counter counter = new Counter();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Runnable bump1000 = () -&gt; {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i &lt; 1000; i++) counter.increment();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498caeefa_0_36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19" name="Google Shape;419;g3e498caeefa_0_367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20" name="Google Shape;420;g3e498caeefa_0_367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498caeefa_0_367"/>
          <p:cNvSpPr txBox="1"/>
          <p:nvPr/>
        </p:nvSpPr>
        <p:spPr>
          <a:xfrm>
            <a:off x="1005850" y="1645924"/>
            <a:ext cx="101799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Counter counter = new Counter();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Runnable bump1000 = () -&gt; {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i &lt; 1000; i++) counter.increment();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Thread t1 = new Thread(bump1000), t2 = new Thread(bump1000);</a:t>
            </a:r>
            <a:endParaRPr sz="2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498caeefa_0_359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28" name="Google Shape;428;g3e498caeefa_0_359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29" name="Google Shape;429;g3e498caeefa_0_359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498caeefa_0_359"/>
          <p:cNvSpPr txBox="1"/>
          <p:nvPr/>
        </p:nvSpPr>
        <p:spPr>
          <a:xfrm>
            <a:off x="1005850" y="1645924"/>
            <a:ext cx="10179900" cy="24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Counter counter = new Counter();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Runnable bump1000 = () -&gt; {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i &lt; 1000; i++) counter.increment();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Thread t1 = new Thread(bump1000), t2 = new Thread(bump1000);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t1.start(); t2.start();      // run both threads concurrently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498caeefa_0_34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37" name="Google Shape;437;g3e498caeefa_0_343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38" name="Google Shape;438;g3e498caeefa_0_34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498caeefa_0_343"/>
          <p:cNvSpPr txBox="1"/>
          <p:nvPr/>
        </p:nvSpPr>
        <p:spPr>
          <a:xfrm>
            <a:off x="1005850" y="1645924"/>
            <a:ext cx="10179900" cy="27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Counter counter = new Counter();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Runnable bump1000 = () -&gt; {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i &lt; 1000; i++) counter.increment();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Thread t1 = new Thread(bump1000), t2 = new Thread(bump1000);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t1.start(); t2.start();      // run both threads concurrently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t1.join();  t2.join();       // wait for both to finish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498caeefa_0_26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46" name="Google Shape;446;g3e498caeefa_0_260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47" name="Google Shape;447;g3e498caeefa_0_26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498caeefa_0_260"/>
          <p:cNvSpPr txBox="1"/>
          <p:nvPr/>
        </p:nvSpPr>
        <p:spPr>
          <a:xfrm>
            <a:off x="1005850" y="1645924"/>
            <a:ext cx="10179900" cy="30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Counter counter = new Counter();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Runnable bump1000 = () -&gt; {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0; i &lt; 1000; i++) counter.increment();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Thread t1 = new Thread(bump1000), t2 = new Thread(bump1000);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t1.start(); t2.start();      // run both threads concurrently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t1.join();  t2.join();       // wait for both to finish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counter.count is now...</a:t>
            </a:r>
            <a:endParaRPr sz="2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498caeefa_0_17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Java's fix: a `synchronized` block</a:t>
            </a:r>
            <a:endParaRPr/>
          </a:p>
        </p:txBody>
      </p:sp>
      <p:sp>
        <p:nvSpPr>
          <p:cNvPr id="455" name="Google Shape;455;g3e498caeefa_0_177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56" name="Google Shape;456;g3e498caeefa_0_177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498caeefa_0_177"/>
          <p:cNvSpPr txBox="1"/>
          <p:nvPr/>
        </p:nvSpPr>
        <p:spPr>
          <a:xfrm>
            <a:off x="1005840" y="1645920"/>
            <a:ext cx="10179900" cy="3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Java's fix is a LOCK</a:t>
            </a: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 Every object has one, accessed</a:t>
            </a: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via</a:t>
            </a: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`synchronized`. // While one thread is</a:t>
            </a:r>
            <a:r>
              <a:rPr lang="en-US" sz="1700"/>
              <a:t> </a:t>
            </a: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the block,</a:t>
            </a: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other threads asking for the lock wait: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synchronized (counter) {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counter.increment();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T1 enters the block, runs the three operations, exits, releases the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lock. T2 (which has been waiting) enters, runs the three operations,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exits. The read-modify-write is now atomic, and the final count is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exactly 2000 every run.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498caeefa_0_37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threads, one shared counter</a:t>
            </a:r>
            <a:endParaRPr/>
          </a:p>
        </p:txBody>
      </p:sp>
      <p:sp>
        <p:nvSpPr>
          <p:cNvPr id="464" name="Google Shape;464;g3e498caeefa_0_375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65" name="Google Shape;465;g3e498caeefa_0_37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498caeefa_0_375"/>
          <p:cNvSpPr txBox="1"/>
          <p:nvPr/>
        </p:nvSpPr>
        <p:spPr>
          <a:xfrm>
            <a:off x="1005840" y="1645920"/>
            <a:ext cx="10179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Thread-aware classes can also synchronize their methods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Counter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 = 0;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synchronized void increment() { count++; }</a:t>
            </a: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498caeefa_0_48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transfers in opposite directions</a:t>
            </a:r>
            <a:endParaRPr/>
          </a:p>
        </p:txBody>
      </p:sp>
      <p:sp>
        <p:nvSpPr>
          <p:cNvPr id="473" name="Google Shape;473;g3e498caeefa_0_482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74" name="Google Shape;474;g3e498caeefa_0_482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498caeefa_0_482"/>
          <p:cNvSpPr txBox="1"/>
          <p:nvPr/>
        </p:nvSpPr>
        <p:spPr>
          <a:xfrm>
            <a:off x="1005840" y="1645920"/>
            <a:ext cx="10179900" cy="3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Now locks are doing their job, but locks have their own bug. The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same transfer function, called from two threads at the same time: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void transfer(Account from, Account to, int amount)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synchronized (from)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synchronized (to)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from.balance -= amount;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to.balance += amount;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498caeefa_0_38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Predict: two transfers in opposite directions</a:t>
            </a:r>
            <a:endParaRPr/>
          </a:p>
        </p:txBody>
      </p:sp>
      <p:sp>
        <p:nvSpPr>
          <p:cNvPr id="482" name="Google Shape;482;g3e498caeefa_0_383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/>
          </a:p>
        </p:txBody>
      </p:sp>
      <p:sp>
        <p:nvSpPr>
          <p:cNvPr id="483" name="Google Shape;483;g3e498caeefa_0_38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e498caeefa_0_383"/>
          <p:cNvSpPr txBox="1"/>
          <p:nvPr/>
        </p:nvSpPr>
        <p:spPr>
          <a:xfrm>
            <a:off x="1005840" y="1645920"/>
            <a:ext cx="10179900" cy="46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Now locks are doing their job, but locks have their own bug. The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same transfer function, called from two threads at the same time: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void transfer(Account from, Account to, int amount)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synchronized (from)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synchronized (to) {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from.balance -= amount;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to.balance += amount;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Thread T1:  transfer(alice, bob, 10);   // locks alice, then bob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Thread T2:  transfer(bob, alice,  5);   // locks bob,   then alice</a:t>
            </a:r>
            <a:endParaRPr sz="18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Both calls start at the exact same moment. What happens?</a:t>
            </a:r>
            <a:endParaRPr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498caeefa_0_49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Deadlock</a:t>
            </a:r>
            <a:endParaRPr/>
          </a:p>
        </p:txBody>
      </p:sp>
      <p:sp>
        <p:nvSpPr>
          <p:cNvPr id="491" name="Google Shape;491;g3e498caeefa_0_490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 / Postgres</a:t>
            </a:r>
            <a:endParaRPr/>
          </a:p>
        </p:txBody>
      </p:sp>
      <p:sp>
        <p:nvSpPr>
          <p:cNvPr id="492" name="Google Shape;492;g3e498caeefa_0_49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e498caeefa_0_490"/>
          <p:cNvSpPr txBox="1"/>
          <p:nvPr/>
        </p:nvSpPr>
        <p:spPr>
          <a:xfrm>
            <a:off x="1005840" y="1645920"/>
            <a:ext cx="10179900" cy="3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Deadlock: every thread is waiting for a lock another thread holds,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nobody can proceed, the program hangs until you kill it. Java does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NOT detect it for you. Two ways out: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(1) Lock in a CONSISTENT ORDER (e.g. always lowest-id account first):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void transfer(Account from, Account to, int amount)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first  = from.id &lt; to.id ? from : to;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second = from.id &lt; to.id ? to   : from;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synchronized (first)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synchronized (second) { /* move money */ 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Both transfers now grab alice's lock first, then bob's. No cycle.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498caeefa_0_39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Deadlock</a:t>
            </a:r>
            <a:endParaRPr/>
          </a:p>
        </p:txBody>
      </p:sp>
      <p:sp>
        <p:nvSpPr>
          <p:cNvPr id="500" name="Google Shape;500;g3e498caeefa_0_391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 / Postgres</a:t>
            </a:r>
            <a:endParaRPr/>
          </a:p>
        </p:txBody>
      </p:sp>
      <p:sp>
        <p:nvSpPr>
          <p:cNvPr id="501" name="Google Shape;501;g3e498caeefa_0_39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e498caeefa_0_391"/>
          <p:cNvSpPr txBox="1"/>
          <p:nvPr/>
        </p:nvSpPr>
        <p:spPr>
          <a:xfrm>
            <a:off x="1005840" y="164592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Deadlock: every thread is waiting for a lock another thread holds,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nobody can proceed, the program hangs until you kill it. Java does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NOT detect it for you. Two ways out: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(1) Lock in a CONSISTENT ORDER (e.g. always lowest-id account first):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void transfer(Account from, Account to, int amount)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first  = from.id &lt; to.id ? from : to;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Account second = from.id &lt; to.id ? to   : from;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synchronized (first)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synchronized (second) { /* move money */ 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Both transfers now grab alice's lock first, then bob's. No cycle.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(2) Let Postgres handle it: a transaction holding lock A and asking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    for lock B (held by another transaction asking for A) gets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    DETECTED, the DB raises a DeadlockDetected error, and your code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    catches it and retries. The DB is your deadlock cop.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the lock had to move</a:t>
            </a:r>
            <a:endParaRPr/>
          </a:p>
        </p:txBody>
      </p:sp>
      <p:sp>
        <p:nvSpPr>
          <p:cNvPr id="509" name="Google Shape;509;p27"/>
          <p:cNvSpPr txBox="1"/>
          <p:nvPr/>
        </p:nvSpPr>
        <p:spPr>
          <a:xfrm>
            <a:off x="914397" y="1270500"/>
            <a:ext cx="10362900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Same idea as Java, with one difference that changes everything: in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Java the shared counter lived in one process's memory, so a lock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in that process could guard it.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shared state does not live in one process. It lives in the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r>
              <a:rPr lang="en-US" sz="2400" b="1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behind however many server processes you're running,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maybe on several machines behind a load balancer. </a:t>
            </a:r>
          </a:p>
          <a:p>
            <a:pPr marL="457200" lvl="1">
              <a:spcBef>
                <a:spcPts val="600"/>
              </a:spcBef>
            </a:pP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`synchronized`</a:t>
            </a:r>
            <a:r>
              <a:rPr lang="en-US" sz="2000" dirty="0">
                <a:ea typeface="Calibri"/>
              </a:rPr>
              <a:t>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block in one of them can't coordinate with the others, because they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don't share memory to put a lock in.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 the lock moved into the database, the one place every request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meets, and a transaction is how you reach it. `synchronized` and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`BEGIN ... COMMIT` are the same concept, applied at the layer where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shared data actually lives.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this goes next</a:t>
            </a:r>
            <a:endParaRPr/>
          </a:p>
        </p:txBody>
      </p:sp>
      <p:sp>
        <p:nvSpPr>
          <p:cNvPr id="516" name="Google Shape;516;p28"/>
          <p:cNvSpPr txBox="1"/>
          <p:nvPr/>
        </p:nvSpPr>
        <p:spPr>
          <a:xfrm>
            <a:off x="914400" y="1280140"/>
            <a:ext cx="103629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Walk away with these:</a:t>
            </a:r>
            <a:endParaRPr sz="2400" b="1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lost-update race is the core bug.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Read-modify-write or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check-then-act on shared state, and one update silently vanishes.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Concurrency is your server's environment, not a feature.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FastAPI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already handles overlapping requests on an event loop.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Statelessness keeps the request layer safe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(3.1);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shared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 where the race actually lives.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 transaction is a lock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 reach over the network: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db.engine.begin()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plus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FOR UPDATE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Next: web security basics.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10847</Words>
  <Application>Microsoft Macintosh PowerPoint</Application>
  <PresentationFormat>Widescreen</PresentationFormat>
  <Paragraphs>671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Courier Prime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Aymeloglu</cp:lastModifiedBy>
  <cp:revision>2</cp:revision>
  <dcterms:created xsi:type="dcterms:W3CDTF">2013-01-27T09:14:16Z</dcterms:created>
  <dcterms:modified xsi:type="dcterms:W3CDTF">2026-05-27T14:29:29Z</dcterms:modified>
</cp:coreProperties>
</file>