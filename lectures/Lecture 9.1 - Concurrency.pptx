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59"/>
  </p:notesMasterIdLst>
  <p:sldIdLst>
    <p:sldId id="256" r:id="rId2"/>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31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12192000" cy="6858000"/>
  <p:notesSz cx="6858000" cy="9144000"/>
  <p:embeddedFontLst>
    <p:embeddedFont>
      <p:font typeface="Courier Prime" pitchFamily="49" charset="77"/>
      <p:regular r:id="rId60"/>
      <p:bold r:id="rId61"/>
      <p:italic r:id="rId62"/>
      <p:boldItalic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gQ+768D3hoI2RbVVyzkcLd9dxrP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4"/>
    <p:restoredTop sz="89193"/>
  </p:normalViewPr>
  <p:slideViewPr>
    <p:cSldViewPr snapToGrid="0">
      <p:cViewPr varScale="1">
        <p:scale>
          <a:sx n="101" d="100"/>
          <a:sy n="101" d="100"/>
        </p:scale>
        <p:origin x="96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a:r>
            <a:endParaRPr dirty="0"/>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6" name="Google Shape;116;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Cold open. Don't preamble - put the bug on the screen and let it bother them. The whole reframe of the lecture is that they can write this code today, it'll pass every test, and it'll still be wrong in a way that only shows up once two real users hit it at the same moment.</a:t>
            </a:r>
            <a:endParaRPr dirty="0"/>
          </a:p>
        </p:txBody>
      </p:sp>
      <p:sp>
        <p:nvSpPr>
          <p:cNvPr id="117" name="Google Shape;117;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e498caeefa_0_15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2" name="Google Shape;122;g3e498caeefa_0_1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it up carefully, put two faces on the two users if it helps. The thing to land is that nobody wrote a buggy line - each handler is individually correct, read the balance, subtract, write it back, exactly what you'd do. The bug is in the interaction between two of them running at once, which is why it's so easy to write and so hard to catch in review. Don't explain WHY yet, that's the next few slides. Just let them sit with 'the math is right and the money is wrong.'</a:t>
            </a:r>
            <a:endParaRPr dirty="0"/>
          </a:p>
        </p:txBody>
      </p:sp>
      <p:sp>
        <p:nvSpPr>
          <p:cNvPr id="123" name="Google Shape;123;g3e498caeefa_0_15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9" name="Google Shape;129;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it up carefully, put two faces on the two users if it helps. The thing to land is that nobody wrote a buggy line - each handler is individually correct, read the balance, subtract, write it back, exactly what you'd do. The bug is in the interaction between two of them running at once, which is why it's so easy to write and so hard to catch in review. Don't explain WHY yet, that's the next few slides. Just let them sit with 'the math is right and the money is wrong.'</a:t>
            </a:r>
            <a:endParaRPr dirty="0"/>
          </a:p>
        </p:txBody>
      </p:sp>
      <p:sp>
        <p:nvSpPr>
          <p:cNvPr id="130" name="Google Shape;130;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e498caeefa_0_15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6" name="Google Shape;136;g3e498caeefa_0_1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it up carefully, put two faces on the two users if it helps. The thing to land is that nobody wrote a buggy line - each handler is individually correct, read the balance, subtract, write it back, exactly what you'd do. The bug is in the interaction between two of them running at once, which is why it's so easy to write and so hard to catch in review. Don't explain WHY yet, that's the next few slides. Just let them sit with 'the math is right and the money is wrong.'</a:t>
            </a:r>
            <a:endParaRPr dirty="0"/>
          </a:p>
        </p:txBody>
      </p:sp>
      <p:sp>
        <p:nvSpPr>
          <p:cNvPr id="137" name="Google Shape;137;g3e498caeefa_0_15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e498caeefa_0_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3" name="Google Shape;143;g3e498caeefa_0_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44" name="Google Shape;144;g3e498caeefa_0_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e498caeefa_0_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e498caeefa_0_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53" name="Google Shape;153;g3e498caeefa_0_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e498caeefa_0_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1" name="Google Shape;161;g3e498caeefa_0_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62" name="Google Shape;162;g3e498caeefa_0_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e498caeefa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0" name="Google Shape;170;g3e498caeefa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71" name="Google Shape;171;g3e498caeefa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9" name="Google Shape;179;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slowly, line by line. The key moment is the second row: T2 reads the balance and sees 100, not 90, because T1 hasn't written its update yet. Both then compute 90 independently and both write 90, and the second write quietly overwrites the first. One whole withdrawal leaves no trace. This is about as common as concurrency bugs get in web apps, so it's worth making sure everyone actually sees the interleaving before moving on.</a:t>
            </a:r>
            <a:endParaRPr dirty="0"/>
          </a:p>
        </p:txBody>
      </p:sp>
      <p:sp>
        <p:nvSpPr>
          <p:cNvPr id="180" name="Google Shape;180;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e498caeefa_0_4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8" name="Google Shape;188;g3e498caeefa_0_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Naming the bug is the point of this slide. Once 'read-modify-write' is a shape you can name, you start spotting it everywhere: balance updates, inventory decrements, a vote counter, a like count, marking a row as done. Every one of those reads a value, computes a new one from it, and writes it back, and every one is vulnerable in exactly this way. The vocabulary is what makes the pattern visible, so say the name out loud a couple times.</a:t>
            </a:r>
            <a:endParaRPr dirty="0"/>
          </a:p>
        </p:txBody>
      </p:sp>
      <p:sp>
        <p:nvSpPr>
          <p:cNvPr id="189" name="Google Shape;189;g3e498caeefa_0_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5" name="Google Shape;195;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Naming the bug is the point of this slide. Once 'read-modify-write' is a shape you can name, you start spotting it everywhere: balance updates, inventory decrements, a vote counter, a like count, marking a row as done. Every one of those reads a value, computes a new one from it, and writes it back, and every one is vulnerable in exactly this way. The vocabulary is what makes the pattern visible, so say the name out loud a couple times.</a:t>
            </a:r>
            <a:endParaRPr dirty="0"/>
          </a:p>
        </p:txBody>
      </p:sp>
      <p:sp>
        <p:nvSpPr>
          <p:cNvPr id="196" name="Google Shape;196;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2" name="Google Shape;202;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generalization slide. The bank account makes it feel like a money thing, but it's a shared-state thing, and the gallery is here so they stop thinking 'I'm not writing a bank, I'm fine.' Worth pulling the second shape out explicitly: the bank is read-modify-write, but the store and the signup are check-then-act, where you check a condition (one in stock, name not taken) and act on it, and the condition stops being true in the gap. Same family of bug, slightly different smell.</a:t>
            </a:r>
            <a:endParaRPr dirty="0"/>
          </a:p>
        </p:txBody>
      </p:sp>
      <p:sp>
        <p:nvSpPr>
          <p:cNvPr id="203" name="Google Shape;203;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 name="Google Shape;209;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reframe the whole lecture hangs on, and leading with the bug makes it land harder than asserting it cold - now the thesis is the answer to a question they actually have. Say it out loud twice, it comes back at the end. The 'your chat app barely has shared state' point is worth dwelling on: they haven't been bitten yet because appending messages doesn't really contend on a shared value, which is luck about the shape of the app rather than anything safe about the code. The first counter or balance they add changes that.</a:t>
            </a:r>
            <a:endParaRPr dirty="0"/>
          </a:p>
        </p:txBody>
      </p:sp>
      <p:sp>
        <p:nvSpPr>
          <p:cNvPr id="210" name="Google Shape;210;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6" name="Google Shape;216;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Vocabulary section, now motivated by the bug. Everything downstream leans on process-vs-thread being clear, so don't rush it. They have a concrete bug in hand to attach the abstractions to.</a:t>
            </a:r>
            <a:endParaRPr dirty="0"/>
          </a:p>
        </p:txBody>
      </p:sp>
      <p:sp>
        <p:nvSpPr>
          <p:cNvPr id="217" name="Google Shape;217;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e498caeefa_0_4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2" name="Google Shape;222;g3e498caeefa_0_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distinction that matters here is that processes are isolated from each other while threads inside a single process share memory. That shared-memory property is what makes threads fast (no copying) and also what makes them dangerous (two threads stepping on the same variable). Both of those facts come from the same place, which is a nice thing to point out.</a:t>
            </a:r>
            <a:endParaRPr dirty="0"/>
          </a:p>
        </p:txBody>
      </p:sp>
      <p:sp>
        <p:nvSpPr>
          <p:cNvPr id="223" name="Google Shape;223;g3e498caeefa_0_4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9" name="Google Shape;229;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distinction that matters here is that processes are isolated from each other while threads inside a single process share memory. That shared-memory property is what makes threads fast (no copying) and also what makes them dangerous (two threads stepping on the same variable). Both of those facts come from the same place, which is a nice thing to point out.</a:t>
            </a:r>
            <a:endParaRPr dirty="0"/>
          </a:p>
        </p:txBody>
      </p:sp>
      <p:sp>
        <p:nvSpPr>
          <p:cNvPr id="230" name="Google Shape;230;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'any shared variable might change between line N and line N+1' framing is the intuition I want them to leave with, and it's literally what happened in the withdrawal: between T1's read and T1's write, T2 moved the balance underneath it. Single-threaded code goes line N then line N+1 and stays predictable, and multi-threaded code just doesn't get that guarantee, because the world can shift in the gap. Once they feel that, every race example after this explains itself.</a:t>
            </a:r>
            <a:endParaRPr dirty="0"/>
          </a:p>
        </p:txBody>
      </p:sp>
      <p:sp>
        <p:nvSpPr>
          <p:cNvPr id="237" name="Google Shape;237;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3" name="Google Shape;243;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Reinforce the 5.1 and 6.1 connections hard here. They've spent weeks living in a single-threaded world (the browser) and now they're seeing that the server has options the browser never did, which is a big part of why </a:t>
            </a:r>
            <a:r>
              <a:rPr lang="en-US" dirty="0" err="1"/>
              <a:t>FastAPI</a:t>
            </a:r>
            <a:r>
              <a:rPr lang="en-US" dirty="0"/>
              <a:t> looks so different from anything they wrote on the front end. Helpful to say that out loud.</a:t>
            </a:r>
            <a:endParaRPr dirty="0"/>
          </a:p>
        </p:txBody>
      </p:sp>
      <p:sp>
        <p:nvSpPr>
          <p:cNvPr id="244" name="Google Shape;244;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0" name="Google Shape;250;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models, the old way and the modern way. </a:t>
            </a:r>
            <a:r>
              <a:rPr lang="en-US" dirty="0" err="1"/>
              <a:t>FastAPI</a:t>
            </a:r>
            <a:r>
              <a:rPr lang="en-US" dirty="0"/>
              <a:t> does the modern way by default, which is part of why they haven't had to think about any of this yet.</a:t>
            </a:r>
            <a:endParaRPr dirty="0"/>
          </a:p>
        </p:txBody>
      </p:sp>
      <p:sp>
        <p:nvSpPr>
          <p:cNvPr id="251" name="Google Shape;251;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6" name="Google Shape;256;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Thread-per-request is simple but wasteful. Each thread is mostly idle, blocked on I/O, and yet it still costs a full 1 MB of stack plus scheduler overhead. I want them to feel the inefficiency before the next slide hands them the alternative, otherwise the event loop just sounds like 'another option' instead of 'the reason the industry switched.'</a:t>
            </a:r>
            <a:endParaRPr dirty="0"/>
          </a:p>
        </p:txBody>
      </p:sp>
      <p:sp>
        <p:nvSpPr>
          <p:cNvPr id="257" name="Google Shape;257;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3" name="Google Shape;263;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event loop is the modern default for web servers, and it's the server-side version of what the browser has been doing all along, which is why async/await matters in Python too: it's how you tell the event loop 'I'm about to wait on something, feel free to go run another request in the meantime.'</a:t>
            </a:r>
            <a:endParaRPr dirty="0"/>
          </a:p>
        </p:txBody>
      </p:sp>
      <p:sp>
        <p:nvSpPr>
          <p:cNvPr id="264" name="Google Shape;264;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0" name="Google Shape;270;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FastAPI's</a:t>
            </a:r>
            <a:r>
              <a:rPr lang="en-US" dirty="0"/>
              <a:t> pragmatic mixed model is a big part of why they haven't had to think about any of this yet. Sync endpoints run in a thread pool, async endpoints run on the event loop, same public API, totally different machinery underneath, and you get to stay ignorant of the machinery until you actually need it.</a:t>
            </a:r>
            <a:endParaRPr dirty="0"/>
          </a:p>
        </p:txBody>
      </p:sp>
      <p:sp>
        <p:nvSpPr>
          <p:cNvPr id="271" name="Google Shape;271;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e498caeefa_0_14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7" name="Google Shape;277;g3e498caeefa_0_1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as carefully as the bank race. The trap is that the code reads totally fine line by line - stash the user, do some work, use the user - and it would pass every single-request test you wrote for it. The bug needs two requests overlapping on the same process, and as soon as </a:t>
            </a:r>
            <a:r>
              <a:rPr lang="en-US" dirty="0" err="1"/>
              <a:t>FastAPI's</a:t>
            </a:r>
            <a:r>
              <a:rPr lang="en-US" dirty="0"/>
              <a:t> thread pool gives you that (or an async def endpoint hits an await), the global gets clobbered between the stash and the read. Tie it back to the bank race directly: same lost-update flavor, but happening at the REQUEST layer through a Python global instead of at the DATA layer through a row. This is precisely the bug statelessness rules out by design, which is why we don't stash per-request stuff at module scope in the first place. Mention that the fix in real code is to pass values down as arguments (or use a request-scoped dependency injection primitive in </a:t>
            </a:r>
            <a:r>
              <a:rPr lang="en-US" dirty="0" err="1"/>
              <a:t>FastAPI</a:t>
            </a:r>
            <a:r>
              <a:rPr lang="en-US" dirty="0"/>
              <a:t>, </a:t>
            </a:r>
            <a:r>
              <a:rPr lang="en-US" dirty="0" err="1"/>
              <a:t>contextvars</a:t>
            </a:r>
            <a:r>
              <a:rPr lang="en-US" dirty="0"/>
              <a:t> under the hood) - but the deeper lesson is that the platform already pushes you toward the safe shape.</a:t>
            </a:r>
            <a:endParaRPr dirty="0"/>
          </a:p>
        </p:txBody>
      </p:sp>
      <p:sp>
        <p:nvSpPr>
          <p:cNvPr id="278" name="Google Shape;278;g3e498caeefa_0_14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e498caeefa_0_1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6" name="Google Shape;286;g3e498caeefa_0_1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this one as carefully as the bank race. The trap is that the code reads totally fine line by line - stash the user, do some work, use the user - and it would pass every single-request test you wrote for it. The bug needs two requests overlapping on the same process, and as soon as </a:t>
            </a:r>
            <a:r>
              <a:rPr lang="en-US" dirty="0" err="1"/>
              <a:t>FastAPI's</a:t>
            </a:r>
            <a:r>
              <a:rPr lang="en-US" dirty="0"/>
              <a:t> thread pool gives you that (or an async def endpoint hits an await), the global gets clobbered between the stash and the read. Tie it back to the bank race directly: same lost-update flavor, but happening at the REQUEST layer through a Python global instead of at the DATA layer through a row. This is precisely the bug statelessness rules out by design, which is why we don't stash per-request stuff at module scope in the first place. Mention that the fix in real code is to pass values down as arguments (or use a request-scoped dependency injection primitive in </a:t>
            </a:r>
            <a:r>
              <a:rPr lang="en-US" dirty="0" err="1"/>
              <a:t>FastAPI</a:t>
            </a:r>
            <a:r>
              <a:rPr lang="en-US" dirty="0"/>
              <a:t>, </a:t>
            </a:r>
            <a:r>
              <a:rPr lang="en-US" dirty="0" err="1"/>
              <a:t>contextvars</a:t>
            </a:r>
            <a:r>
              <a:rPr lang="en-US" dirty="0"/>
              <a:t> under the hood) - but the deeper lesson is that the platform already pushes you toward the safe shape.</a:t>
            </a:r>
            <a:endParaRPr dirty="0"/>
          </a:p>
        </p:txBody>
      </p:sp>
      <p:sp>
        <p:nvSpPr>
          <p:cNvPr id="287" name="Google Shape;287;g3e498caeefa_0_1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5" name="Google Shape;295;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What statelessness bought wasn't only 'you can scale to 1,000 servers' - it also means two requests can run at the same time without stepping on each other, because there's no per-request memory sitting there for them to step on.</a:t>
            </a:r>
            <a:endParaRPr dirty="0"/>
          </a:p>
        </p:txBody>
      </p:sp>
      <p:sp>
        <p:nvSpPr>
          <p:cNvPr id="296" name="Google Shape;296;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e498caeefa_0_49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2" name="Google Shape;302;g3e498caeefa_0_49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bug we opened with lives in the database, not in the request handling. Both things are true at once - statelessness saves you at the request layer, and shared database state still bites you. Step back for a beat here, the back half of the lecture hinges on this.</a:t>
            </a:r>
            <a:endParaRPr dirty="0"/>
          </a:p>
        </p:txBody>
      </p:sp>
      <p:sp>
        <p:nvSpPr>
          <p:cNvPr id="303" name="Google Shape;303;g3e498caeefa_0_49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9" name="Google Shape;309;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bug we opened with lives in the database, not in the request handling. Both things are true at once - statelessness saves you at the request layer, and shared database state still bites you. Step back for a beat here, the back half of the lecture hinges on this.</a:t>
            </a:r>
            <a:endParaRPr dirty="0"/>
          </a:p>
        </p:txBody>
      </p:sp>
      <p:sp>
        <p:nvSpPr>
          <p:cNvPr id="310" name="Google Shape;310;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6" name="Google Shape;316;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race was the cold open; this is the fix. The key idea is that the database already knows how to do this for you, and you reach it with a small BEGIN-COMMIT wrapper.</a:t>
            </a:r>
            <a:endParaRPr dirty="0"/>
          </a:p>
        </p:txBody>
      </p:sp>
      <p:sp>
        <p:nvSpPr>
          <p:cNvPr id="317" name="Google Shape;317;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3e498caeefa_0_50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2" name="Google Shape;322;g3e498caeefa_0_50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Transactions are the database's answer to 'how do two things happen at once without corrupting each other.' Underneath it's all locks, and from your code's perspective it's a BEGIN-COMMIT wrapper and nothing more. The database is doing the hard part for you, which is exactly why it's the right place to solve this instead of trying to coordinate it in application code. Flag the word 'lock' here - it comes back hard in the Java coda.</a:t>
            </a:r>
            <a:endParaRPr dirty="0"/>
          </a:p>
        </p:txBody>
      </p:sp>
      <p:sp>
        <p:nvSpPr>
          <p:cNvPr id="323" name="Google Shape;323;g3e498caeefa_0_50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e498caeefa_0_5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g3e498caeefa_0_5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Transactions are the database's answer to 'how do two things happen at once without corrupting each other.' Underneath it's all locks, and from your code's perspective it's a BEGIN-COMMIT wrapper and nothing more. The database is doing the hard part for you, which is exactly why it's the right place to solve this instead of trying to coordinate it in application code. Flag the word 'lock' here - it comes back hard in the Java coda.</a:t>
            </a:r>
            <a:endParaRPr dirty="0"/>
          </a:p>
        </p:txBody>
      </p:sp>
      <p:sp>
        <p:nvSpPr>
          <p:cNvPr id="330" name="Google Shape;330;g3e498caeefa_0_5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6" name="Google Shape;336;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Transactions are the database's answer to 'how do two things happen at once without corrupting each other.' Underneath it's all locks, and from your code's perspective it's a BEGIN-COMMIT wrapper and nothing more. The database is doing the hard part for you, which is exactly why it's the right place to solve this instead of trying to coordinate it in application code. Flag the word 'lock' here - it comes back hard in the Java coda.</a:t>
            </a:r>
            <a:endParaRPr dirty="0"/>
          </a:p>
        </p:txBody>
      </p:sp>
      <p:sp>
        <p:nvSpPr>
          <p:cNvPr id="337" name="Google Shape;337;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e498caeefa_0_5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g3e498caeefa_0_5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pieces make this safe: </a:t>
            </a:r>
            <a:r>
              <a:rPr lang="en-US" dirty="0" err="1"/>
              <a:t>db.engine.begin</a:t>
            </a:r>
            <a:r>
              <a:rPr lang="en-US" dirty="0"/>
              <a:t>() wraps the whole thing in a transaction, and the FOR UPDATE clause on the SELECT tells Postgres to lock the row for the duration of the transaction. Without FOR UPDATE the SELECT doesn't lock and the race comes right back, so it's the one small detail they need to remember to actually be safe in practice.</a:t>
            </a:r>
            <a:endParaRPr dirty="0"/>
          </a:p>
        </p:txBody>
      </p:sp>
      <p:sp>
        <p:nvSpPr>
          <p:cNvPr id="344" name="Google Shape;344;g3e498caeefa_0_5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Two pieces make this safe: </a:t>
            </a:r>
            <a:r>
              <a:rPr lang="en-US" dirty="0" err="1"/>
              <a:t>db.engine.begin</a:t>
            </a:r>
            <a:r>
              <a:rPr lang="en-US" dirty="0"/>
              <a:t>() wraps the whole thing in a transaction, and the FOR UPDATE clause on the SELECT tells Postgres to lock the row for the duration of the transaction. Without FOR UPDATE the SELECT doesn't lock and the race comes right back, so it's the one small detail they need to remember to actually be safe in practice.</a:t>
            </a:r>
            <a:endParaRPr dirty="0"/>
          </a:p>
        </p:txBody>
      </p:sp>
      <p:sp>
        <p:nvSpPr>
          <p:cNvPr id="353" name="Google Shape;353;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6.1 callback makes this land easily. They already understand async/await conceptually from JS, so this is really just 'same tool, different runtime.' The sync-vs-async choice is a practical one, and </a:t>
            </a:r>
            <a:r>
              <a:rPr lang="en-US" dirty="0" err="1"/>
              <a:t>FastAPI</a:t>
            </a:r>
            <a:r>
              <a:rPr lang="en-US" dirty="0"/>
              <a:t> handles both gracefully, so it isn't something to agonize over.</a:t>
            </a:r>
            <a:endParaRPr dirty="0"/>
          </a:p>
        </p:txBody>
      </p:sp>
      <p:sp>
        <p:nvSpPr>
          <p:cNvPr id="362" name="Google Shape;362;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61842EFC-3D5D-6490-8C86-E00DB8EFC64D}"/>
            </a:ext>
          </a:extLst>
        </p:cNvPr>
        <p:cNvGrpSpPr/>
        <p:nvPr/>
      </p:nvGrpSpPr>
      <p:grpSpPr>
        <a:xfrm>
          <a:off x="0" y="0"/>
          <a:ext cx="0" cy="0"/>
          <a:chOff x="0" y="0"/>
          <a:chExt cx="0" cy="0"/>
        </a:xfrm>
      </p:grpSpPr>
      <p:sp>
        <p:nvSpPr>
          <p:cNvPr id="367" name="Google Shape;367;p22:notes">
            <a:extLst>
              <a:ext uri="{FF2B5EF4-FFF2-40B4-BE49-F238E27FC236}">
                <a16:creationId xmlns:a16="http://schemas.microsoft.com/office/drawing/2014/main" id="{7FC86141-C3A9-1F11-831E-E6CECEB593CC}"/>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8" name="Google Shape;368;p22:notes">
            <a:extLst>
              <a:ext uri="{FF2B5EF4-FFF2-40B4-BE49-F238E27FC236}">
                <a16:creationId xmlns:a16="http://schemas.microsoft.com/office/drawing/2014/main" id="{5B6CBF89-E8DD-79D2-6AB8-62FF9A1B3001}"/>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Side by side. The differences are: (a) async def, (b) async with on the connection, and (c) await on the execute call.</a:t>
            </a:r>
            <a:br>
              <a:rPr lang="en-US" dirty="0"/>
            </a:br>
            <a:endParaRPr dirty="0"/>
          </a:p>
          <a:p>
            <a:pPr marL="0" lvl="0" indent="0" algn="l" rtl="0">
              <a:spcBef>
                <a:spcPts val="0"/>
              </a:spcBef>
              <a:spcAft>
                <a:spcPts val="0"/>
              </a:spcAft>
              <a:buNone/>
            </a:pPr>
            <a:r>
              <a:rPr lang="en-US" dirty="0"/>
              <a:t/>
            </a:r>
            <a:br>
              <a:rPr lang="en-US" dirty="0"/>
            </a:br>
            <a:r>
              <a:rPr lang="en-US" dirty="0"/>
              <a:t/>
            </a:r>
            <a:r>
              <a:rPr lang="en-US" dirty="0" err="1"/>
              <a:t/>
            </a:r>
            <a:r>
              <a:rPr lang="en-US" dirty="0"/>
              <a:t/>
            </a:r>
            <a:r>
              <a:rPr lang="en-US" dirty="0" err="1"/>
              <a:t/>
            </a:r>
            <a:r>
              <a:rPr lang="en-US" dirty="0"/>
              <a:t/>
            </a:r>
            <a:endParaRPr dirty="0"/>
          </a:p>
        </p:txBody>
      </p:sp>
      <p:sp>
        <p:nvSpPr>
          <p:cNvPr id="369" name="Google Shape;369;p22:notes">
            <a:extLst>
              <a:ext uri="{FF2B5EF4-FFF2-40B4-BE49-F238E27FC236}">
                <a16:creationId xmlns:a16="http://schemas.microsoft.com/office/drawing/2014/main" id="{E9514CB3-33D6-D9A7-2531-4AF1CB2BE9A5}"/>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09916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8" name="Google Shape;368;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Side by side. The differences are: (a) async def, (b) async with on the connection, and (c) await on the execute call.</a:t>
            </a:r>
            <a:br>
              <a:rPr lang="en-US" dirty="0"/>
            </a:br>
            <a:endParaRPr dirty="0"/>
          </a:p>
          <a:p>
            <a:pPr marL="0" lvl="0" indent="0" algn="l" rtl="0">
              <a:spcBef>
                <a:spcPts val="0"/>
              </a:spcBef>
              <a:spcAft>
                <a:spcPts val="0"/>
              </a:spcAft>
              <a:buNone/>
            </a:pPr>
            <a:r>
              <a:rPr lang="en-US" dirty="0"/>
              <a:t/>
            </a:r>
            <a:br>
              <a:rPr lang="en-US" dirty="0"/>
            </a:br>
            <a:r>
              <a:rPr lang="en-US" dirty="0"/>
              <a:t/>
            </a:r>
            <a:r>
              <a:rPr lang="en-US" dirty="0" err="1"/>
              <a:t/>
            </a:r>
            <a:r>
              <a:rPr lang="en-US" dirty="0"/>
              <a:t/>
            </a:r>
            <a:r>
              <a:rPr lang="en-US" dirty="0" err="1"/>
              <a:t/>
            </a:r>
            <a:r>
              <a:rPr lang="en-US" dirty="0"/>
              <a:t/>
            </a:r>
            <a:endParaRPr dirty="0"/>
          </a:p>
        </p:txBody>
      </p:sp>
      <p:sp>
        <p:nvSpPr>
          <p:cNvPr id="369" name="Google Shape;369;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7" name="Google Shape;377;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practical guidance is: default to sync, only go async when you have a measured reason. That's the opposite of what a lot of hobbyist tutorials push (they reach for async by default), but it's the right call for actual projects. Reaching for async before you've measured anything is just optimizing a problem you don't have yet, and a coding agent will happily go there if you don't tell it not to.</a:t>
            </a:r>
            <a:endParaRPr dirty="0"/>
          </a:p>
        </p:txBody>
      </p:sp>
      <p:sp>
        <p:nvSpPr>
          <p:cNvPr id="378" name="Google Shape;378;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GIL gets infinite internet debate and almost never matters in practice for web work. Give them the vocabulary so they don't get scared by a Stack Overflow thread, and tell them plainly not to worry about it for this class. They'll have plenty to worry about without adding the GIL to the pile.</a:t>
            </a:r>
            <a:endParaRPr dirty="0"/>
          </a:p>
        </p:txBody>
      </p:sp>
      <p:sp>
        <p:nvSpPr>
          <p:cNvPr id="385" name="Google Shape;385;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1" name="Google Shape;391;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conceptual capstone. They know Java from their prior CS course, but not threads or locks. The point of this coda is to connect that to today's database transaction and explain why the lock had to move out of memory and into the database. They're not gonna write any of this, it's here to make the concept click rather than to hand them another skill.</a:t>
            </a:r>
            <a:endParaRPr dirty="0"/>
          </a:p>
        </p:txBody>
      </p:sp>
      <p:sp>
        <p:nvSpPr>
          <p:cNvPr id="392" name="Google Shape;392;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3e498caeefa_0_16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7" name="Google Shape;397;g3e498caeefa_0_16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398" name="Google Shape;398;g3e498caeefa_0_16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3e498caeefa_0_35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6" name="Google Shape;406;g3e498caeefa_0_3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07" name="Google Shape;407;g3e498caeefa_0_35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3e498caeefa_0_36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5" name="Google Shape;415;g3e498caeefa_0_3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16" name="Google Shape;416;g3e498caeefa_0_36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e498caeefa_0_35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4" name="Google Shape;424;g3e498caeefa_0_35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25" name="Google Shape;425;g3e498caeefa_0_35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3e498caeefa_0_34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3" name="Google Shape;433;g3e498caeefa_0_3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They haven't necessarily seen Java threading before, so the boilerplate is itself part of what they're being exposed to: a `Runnable` is a piece of code you can hand to a thread, `new Thread(r)` creates one, `.start()` actually runs it, and `.join()` blocks the calling thread until that thread finishes. Real Java would also catch </a:t>
            </a:r>
            <a:r>
              <a:rPr lang="en-US" dirty="0" err="1"/>
              <a:t>InterruptedException</a:t>
            </a:r>
            <a:r>
              <a:rPr lang="en-US" dirty="0"/>
              <a:t> off the join; eliding it for the slide. Once the syntax is introduced, call on someone for the prediction. The math instinct is (a) - two threads, 1000 each, 2000 total, the same way 100 - 10 - 10 = 80 felt obvious on the cold open. The real answer is (c): count++ is three operations under the hood (load, increment, store), and two threads can both load the same value before either has stored, so increments get lost. Final count varies between runs depending on timing. (b) is wrong because both threads run, they just step on each other; you get MOST of the increments through. (d) is the important wrong answer - Java is happy to compile this; the language itself doesn't protect you from threading bugs, you have to opt into protection. The next slide is how you opt in.</a:t>
            </a:r>
            <a:endParaRPr dirty="0"/>
          </a:p>
        </p:txBody>
      </p:sp>
      <p:sp>
        <p:nvSpPr>
          <p:cNvPr id="434" name="Google Shape;434;g3e498caeefa_0_34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3e498caeefa_0_2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g3e498caeefa_0_2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dirty="0">
                <a:solidFill>
                  <a:schemeClr val="dk1"/>
                </a:solidFill>
              </a:rPr>
              <a:t>// The answer is: somewhere between 1000 and 2000, varies every</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run. count++ is three operations underneath (load, increment, store),</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and two threads can both load the same value before either stores --</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the exact same lost-update shape as the bank withdrawal, just in</a:t>
            </a:r>
            <a:endParaRPr dirty="0">
              <a:solidFill>
                <a:schemeClr val="dk1"/>
              </a:solidFill>
            </a:endParaRPr>
          </a:p>
          <a:p>
            <a:pPr marL="0" lvl="0" indent="0" algn="l" rtl="0">
              <a:spcBef>
                <a:spcPts val="0"/>
              </a:spcBef>
              <a:spcAft>
                <a:spcPts val="0"/>
              </a:spcAft>
              <a:buClr>
                <a:schemeClr val="dk1"/>
              </a:buClr>
              <a:buSzPts val="1100"/>
              <a:buFont typeface="Arial"/>
              <a:buNone/>
            </a:pPr>
            <a:r>
              <a:rPr lang="en-US" dirty="0">
                <a:solidFill>
                  <a:schemeClr val="dk1"/>
                </a:solidFill>
              </a:rPr>
              <a:t>// memory instead of in a database row.</a:t>
            </a:r>
            <a:endParaRPr dirty="0">
              <a:solidFill>
                <a:schemeClr val="dk1"/>
              </a:solidFill>
            </a:endParaRPr>
          </a:p>
          <a:p>
            <a:pPr marL="0" lvl="0" indent="0" algn="l" rtl="0">
              <a:spcBef>
                <a:spcPts val="0"/>
              </a:spcBef>
              <a:spcAft>
                <a:spcPts val="0"/>
              </a:spcAft>
              <a:buNone/>
            </a:pPr>
            <a:endParaRPr dirty="0"/>
          </a:p>
        </p:txBody>
      </p:sp>
      <p:sp>
        <p:nvSpPr>
          <p:cNvPr id="443" name="Google Shape;443;g3e498caeefa_0_26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e498caeefa_0_17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1" name="Google Shape;451;g3e498caeefa_0_17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dirty="0">
                <a:solidFill>
                  <a:schemeClr val="dk1"/>
                </a:solidFill>
              </a:rPr>
              <a:t>(Java also has </a:t>
            </a:r>
            <a:r>
              <a:rPr lang="en-US" dirty="0" err="1">
                <a:solidFill>
                  <a:schemeClr val="dk1"/>
                </a:solidFill>
              </a:rPr>
              <a:t>ReentrantLock</a:t>
            </a:r>
            <a:r>
              <a:rPr lang="en-US" dirty="0">
                <a:solidFill>
                  <a:schemeClr val="dk1"/>
                </a:solidFill>
              </a:rPr>
              <a:t> for the same idea: lock() / unlock().)</a:t>
            </a:r>
            <a:endParaRPr dirty="0">
              <a:solidFill>
                <a:schemeClr val="dk1"/>
              </a:solidFill>
            </a:endParaRPr>
          </a:p>
          <a:p>
            <a:pPr marL="0" lvl="0" indent="0" algn="l" rtl="0">
              <a:spcBef>
                <a:spcPts val="0"/>
              </a:spcBef>
              <a:spcAft>
                <a:spcPts val="0"/>
              </a:spcAft>
              <a:buNone/>
            </a:pPr>
            <a:endParaRPr dirty="0"/>
          </a:p>
        </p:txBody>
      </p:sp>
      <p:sp>
        <p:nvSpPr>
          <p:cNvPr id="452" name="Google Shape;452;g3e498caeefa_0_17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3e498caeefa_0_37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0" name="Google Shape;460;g3e498caeefa_0_3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1" name="Google Shape;461;g3e498caeefa_0_37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3e498caeefa_0_48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9" name="Google Shape;469;g3e498caeefa_0_48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don't reveal. The answer is (c). Walk the interleaving: T1 enters transfer(</a:t>
            </a:r>
            <a:r>
              <a:rPr lang="en-US" dirty="0" err="1"/>
              <a:t>alice</a:t>
            </a:r>
            <a:r>
              <a:rPr lang="en-US" dirty="0"/>
              <a:t>, bob, 10) and grabs the lock on </a:t>
            </a:r>
            <a:r>
              <a:rPr lang="en-US" dirty="0" err="1"/>
              <a:t>alice</a:t>
            </a:r>
            <a:r>
              <a:rPr lang="en-US" dirty="0"/>
              <a:t>. T2 enters transfer(bob, </a:t>
            </a:r>
            <a:r>
              <a:rPr lang="en-US" dirty="0" err="1"/>
              <a:t>alice</a:t>
            </a:r>
            <a:r>
              <a:rPr lang="en-US" dirty="0"/>
              <a:t>, 5) and grabs the lock on bob. T1 now tries to enter the inner synchronized(bob) block and WAITS, because T2 holds bob's lock. T2 tries to enter the inner synchronized(</a:t>
            </a:r>
            <a:r>
              <a:rPr lang="en-US" dirty="0" err="1"/>
              <a:t>alice</a:t>
            </a:r>
            <a:r>
              <a:rPr lang="en-US" dirty="0"/>
              <a:t>) block and WAITS, because T1 holds </a:t>
            </a:r>
            <a:r>
              <a:rPr lang="en-US" dirty="0" err="1"/>
              <a:t>alice's</a:t>
            </a:r>
            <a:r>
              <a:rPr lang="en-US" dirty="0"/>
              <a:t> lock. Both threads are blocked, each waiting for a lock the other holds, and neither will ever release. The program just sits there until you kill it. This is a DEADLOCK. (a) is the no-race answer. (b) is the with-only-one-lock answer. (d) is the trap - Java does NOT detect deadlock, the JVM happily lets your program sit forever; one of the most common ways to find out you have a deadlock in Java is 'production wedged at 3am, take a thread dump, find a lock cycle.' The next slide is the fix, and the punchline of the whole coda.</a:t>
            </a:r>
            <a:endParaRPr dirty="0"/>
          </a:p>
        </p:txBody>
      </p:sp>
      <p:sp>
        <p:nvSpPr>
          <p:cNvPr id="470" name="Google Shape;470;g3e498caeefa_0_48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3e498caeefa_0_38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8" name="Google Shape;478;g3e498caeefa_0_38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 on someone, don't reveal. The answer is (c). Walk the interleaving: T1 enters transfer(</a:t>
            </a:r>
            <a:r>
              <a:rPr lang="en-US" dirty="0" err="1"/>
              <a:t>alice</a:t>
            </a:r>
            <a:r>
              <a:rPr lang="en-US" dirty="0"/>
              <a:t>, bob, 10) and grabs the lock on </a:t>
            </a:r>
            <a:r>
              <a:rPr lang="en-US" dirty="0" err="1"/>
              <a:t>alice</a:t>
            </a:r>
            <a:r>
              <a:rPr lang="en-US" dirty="0"/>
              <a:t>. T2 enters transfer(bob, </a:t>
            </a:r>
            <a:r>
              <a:rPr lang="en-US" dirty="0" err="1"/>
              <a:t>alice</a:t>
            </a:r>
            <a:r>
              <a:rPr lang="en-US" dirty="0"/>
              <a:t>, 5) and grabs the lock on bob. T1 now tries to enter the inner synchronized(bob) block and WAITS, because T2 holds bob's lock. T2 tries to enter the inner synchronized(</a:t>
            </a:r>
            <a:r>
              <a:rPr lang="en-US" dirty="0" err="1"/>
              <a:t>alice</a:t>
            </a:r>
            <a:r>
              <a:rPr lang="en-US" dirty="0"/>
              <a:t>) block and WAITS, because T1 holds </a:t>
            </a:r>
            <a:r>
              <a:rPr lang="en-US" dirty="0" err="1"/>
              <a:t>alice's</a:t>
            </a:r>
            <a:r>
              <a:rPr lang="en-US" dirty="0"/>
              <a:t> lock. Both threads are blocked, each waiting for a lock the other holds, and neither will ever release. The program just sits there until you kill it. This is a DEADLOCK. (a) is the no-race answer. (b) is the with-only-one-lock answer. (d) is the trap - Java does NOT detect deadlock, the JVM happily lets your program sit forever; one of the most common ways to find out you have a deadlock in Java is 'production wedged at 3am, take a thread dump, find a lock cycle.' The next slide is the fix, and the punchline of the whole coda.</a:t>
            </a:r>
            <a:endParaRPr dirty="0"/>
          </a:p>
        </p:txBody>
      </p:sp>
      <p:sp>
        <p:nvSpPr>
          <p:cNvPr id="479" name="Google Shape;479;g3e498caeefa_0_38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e498caeefa_0_49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7" name="Google Shape;487;g3e498caeefa_0_49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second 'the database is doing concurrency engineering for you' moment (transactions were the first). Two fixes. The consistent-order fix is the textbook prevention - if every code path grabs locks in the same canonical order (lowest id first, alphabetical, whatever), no cycle can possibly form. It works but requires every contributor to know and follow the rule. The Postgres fix is the magic one: Postgres actively watches the lock-wait graph, and when it sees a cycle, it picks one transaction and aborts it with a </a:t>
            </a:r>
            <a:r>
              <a:rPr lang="en-US" dirty="0" err="1"/>
              <a:t>DeadlockDetected</a:t>
            </a:r>
            <a:r>
              <a:rPr lang="en-US" dirty="0"/>
              <a:t> exception. Your handler catches the exception, optionally retries the transaction, and life continues. They are almost certainly not going to hit this in the final project - it shows up once you have multi-row updates racing with each other - but it's worth knowing the DB has your back, since the symptom in pure Java (silent wedge) is brutal to debug.</a:t>
            </a:r>
            <a:endParaRPr dirty="0"/>
          </a:p>
        </p:txBody>
      </p:sp>
      <p:sp>
        <p:nvSpPr>
          <p:cNvPr id="488" name="Google Shape;488;g3e498caeefa_0_49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3e498caeefa_0_39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6" name="Google Shape;496;g3e498caeefa_0_39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second 'the database is doing concurrency engineering for you' moment (transactions were the first). Two fixes. The consistent-order fix is the textbook prevention - if every code path grabs locks in the same canonical order (lowest id first, alphabetical, whatever), no cycle can possibly form. It works but requires every contributor to know and follow the rule. The Postgres fix is the magic one: Postgres actively watches the lock-wait graph, and when it sees a cycle, it picks one transaction and aborts it with a </a:t>
            </a:r>
            <a:r>
              <a:rPr lang="en-US" dirty="0" err="1"/>
              <a:t>DeadlockDetected</a:t>
            </a:r>
            <a:r>
              <a:rPr lang="en-US" dirty="0"/>
              <a:t> exception. Your handler catches the exception, optionally retries the transaction, and life continues. They are almost certainly not going to hit this in the final project - it shows up once you have multi-row updates racing with each other - but it's worth knowing the DB has your back, since the symptom in pure Java (silent wedge) is brutal to debug.</a:t>
            </a:r>
            <a:endParaRPr dirty="0"/>
          </a:p>
        </p:txBody>
      </p:sp>
      <p:sp>
        <p:nvSpPr>
          <p:cNvPr id="497" name="Google Shape;497;g3e498caeefa_0_39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
        <p:cNvGrpSpPr/>
        <p:nvPr/>
      </p:nvGrpSpPr>
      <p:grpSpPr>
        <a:xfrm>
          <a:off x="0" y="0"/>
          <a:ext cx="0" cy="0"/>
          <a:chOff x="0" y="0"/>
          <a:chExt cx="0" cy="0"/>
        </a:xfrm>
      </p:grpSpPr>
      <p:sp>
        <p:nvSpPr>
          <p:cNvPr id="504" name="Google Shape;504;p2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05" name="Google Shape;505;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concept they already know (a lock serializes access to shared state) is exactly right; the only thing that changed is WHERE the shared state is. In a single Java process, memory is shared, so a memory lock works. In a web app you've got multiple processes, maybe multiple machines, and they share nothing except the database, so the lock has to live there too. That's why the fix earlier was a transaction and not a Python version of synchronized. Good place to land the lecture's concept before the recap.</a:t>
            </a:r>
            <a:endParaRPr dirty="0"/>
          </a:p>
        </p:txBody>
      </p:sp>
      <p:sp>
        <p:nvSpPr>
          <p:cNvPr id="506" name="Google Shape;506;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2" name="Google Shape;512;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Four takeaways and a forward ref to 9.2. The first one is the one I most want them to keep - the lost-update race on shared state is the actual lesson, and the transaction is the tool that makes it safe. Everything else (threads, event loop, async, the GIL) is supporting structure around that. If someone remembers one thing from the hour, I want it to be 'read-modify-write on shared state is a bug, and the database transaction is the lock that fixes it.'</a:t>
            </a:r>
            <a:endParaRPr dirty="0"/>
          </a:p>
        </p:txBody>
      </p:sp>
      <p:sp>
        <p:nvSpPr>
          <p:cNvPr id="513" name="Google Shape;513;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1"/>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1"/>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3"/>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3"/>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4"/>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4"/>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7"/>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7"/>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7"/>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8"/>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8"/>
          <p:cNvSpPr>
            <a:spLocks noGrp="1"/>
          </p:cNvSpPr>
          <p:nvPr>
            <p:ph type="pic" idx="2"/>
          </p:nvPr>
        </p:nvSpPr>
        <p:spPr>
          <a:xfrm>
            <a:off x="1792288" y="612775"/>
            <a:ext cx="5486400" cy="4114800"/>
          </a:xfrm>
          <a:prstGeom prst="rect">
            <a:avLst/>
          </a:prstGeom>
          <a:noFill/>
          <a:ln>
            <a:noFill/>
          </a:ln>
        </p:spPr>
      </p:sp>
      <p:sp>
        <p:nvSpPr>
          <p:cNvPr id="64" name="Google Shape;64;p38"/>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9"/>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9.1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Concurrency</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18"/>
        <p:cNvGrpSpPr/>
        <p:nvPr/>
      </p:nvGrpSpPr>
      <p:grpSpPr>
        <a:xfrm>
          <a:off x="0" y="0"/>
          <a:ext cx="0" cy="0"/>
          <a:chOff x="0" y="0"/>
          <a:chExt cx="0" cy="0"/>
        </a:xfrm>
      </p:grpSpPr>
      <p:sp>
        <p:nvSpPr>
          <p:cNvPr id="119" name="Google Shape;119;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A Bug You Can't Reproduce on Your Laptop</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4"/>
        <p:cNvGrpSpPr/>
        <p:nvPr/>
      </p:nvGrpSpPr>
      <p:grpSpPr>
        <a:xfrm>
          <a:off x="0" y="0"/>
          <a:ext cx="0" cy="0"/>
          <a:chOff x="0" y="0"/>
          <a:chExt cx="0" cy="0"/>
        </a:xfrm>
      </p:grpSpPr>
      <p:sp>
        <p:nvSpPr>
          <p:cNvPr id="125" name="Google Shape;125;g3e498caeefa_0_15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Two people withdraw $10 at the same time</a:t>
            </a:r>
            <a:endParaRPr/>
          </a:p>
        </p:txBody>
      </p:sp>
      <p:sp>
        <p:nvSpPr>
          <p:cNvPr id="126" name="Google Shape;126;g3e498caeefa_0_151"/>
          <p:cNvSpPr txBox="1"/>
          <p:nvPr/>
        </p:nvSpPr>
        <p:spPr>
          <a:xfrm>
            <a:off x="914400" y="1463040"/>
            <a:ext cx="10362900" cy="3124500"/>
          </a:xfrm>
          <a:prstGeom prst="rect">
            <a:avLst/>
          </a:prstGeom>
          <a:noFill/>
          <a:ln>
            <a:noFill/>
          </a:ln>
        </p:spPr>
        <p:txBody>
          <a:bodyPr spcFirstLastPara="1" wrap="square" lIns="91425" tIns="45700" rIns="91425" bIns="45700" anchor="t" anchorCtr="0">
            <a:spAutoFit/>
          </a:bodyPr>
          <a:lstStyle/>
          <a:p>
            <a:pPr marL="0" marR="0" lvl="1" indent="0" algn="l" rtl="0">
              <a:spcBef>
                <a:spcPts val="600"/>
              </a:spcBef>
              <a:spcAft>
                <a:spcPts val="0"/>
              </a:spcAft>
              <a:buNone/>
            </a:pPr>
            <a:r>
              <a:rPr lang="en-US" sz="2400">
                <a:solidFill>
                  <a:srgbClr val="333344"/>
                </a:solidFill>
                <a:latin typeface="Calibri"/>
                <a:ea typeface="Calibri"/>
                <a:cs typeface="Calibri"/>
                <a:sym typeface="Calibri"/>
              </a:rPr>
              <a:t>A bank account, one row in your database: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`accounts`: { id: 42, balance: 100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withdraw - $10 requests land at the same millisecond. Each handler does: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Read the current balance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Subtract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Write the new balance back</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1"/>
        <p:cNvGrpSpPr/>
        <p:nvPr/>
      </p:nvGrpSpPr>
      <p:grpSpPr>
        <a:xfrm>
          <a:off x="0" y="0"/>
          <a:ext cx="0" cy="0"/>
          <a:chOff x="0" y="0"/>
          <a:chExt cx="0" cy="0"/>
        </a:xfrm>
      </p:grpSpPr>
      <p:sp>
        <p:nvSpPr>
          <p:cNvPr id="132" name="Google Shape;132;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Two people withdraw $10 at the same time</a:t>
            </a:r>
            <a:endParaRPr/>
          </a:p>
        </p:txBody>
      </p:sp>
      <p:sp>
        <p:nvSpPr>
          <p:cNvPr id="133" name="Google Shape;133;p3"/>
          <p:cNvSpPr txBox="1"/>
          <p:nvPr/>
        </p:nvSpPr>
        <p:spPr>
          <a:xfrm>
            <a:off x="914400" y="1463040"/>
            <a:ext cx="10362900" cy="4048200"/>
          </a:xfrm>
          <a:prstGeom prst="rect">
            <a:avLst/>
          </a:prstGeom>
          <a:noFill/>
          <a:ln>
            <a:noFill/>
          </a:ln>
        </p:spPr>
        <p:txBody>
          <a:bodyPr spcFirstLastPara="1" wrap="square" lIns="91425" tIns="45700" rIns="91425" bIns="45700" anchor="t" anchorCtr="0">
            <a:spAutoFit/>
          </a:bodyPr>
          <a:lstStyle/>
          <a:p>
            <a:pPr marL="0" marR="0" lvl="1" indent="0" algn="l" rtl="0">
              <a:spcBef>
                <a:spcPts val="600"/>
              </a:spcBef>
              <a:spcAft>
                <a:spcPts val="0"/>
              </a:spcAft>
              <a:buNone/>
            </a:pPr>
            <a:r>
              <a:rPr lang="en-US" sz="2400">
                <a:solidFill>
                  <a:srgbClr val="333344"/>
                </a:solidFill>
                <a:latin typeface="Calibri"/>
                <a:ea typeface="Calibri"/>
                <a:cs typeface="Calibri"/>
                <a:sym typeface="Calibri"/>
              </a:rPr>
              <a:t>A bank account, one row in your database: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`accounts`: { id: 42, balance: 100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withdraw - $10 requests land at the same millisecond. Each handler does: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Read the current balance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Subtract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Write the new balance back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one alone is correct: 100 - 10 = 90. Run the two at the same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account lands at $90, not $80, and a whole withdrawal vanished.</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8"/>
        <p:cNvGrpSpPr/>
        <p:nvPr/>
      </p:nvGrpSpPr>
      <p:grpSpPr>
        <a:xfrm>
          <a:off x="0" y="0"/>
          <a:ext cx="0" cy="0"/>
          <a:chOff x="0" y="0"/>
          <a:chExt cx="0" cy="0"/>
        </a:xfrm>
      </p:grpSpPr>
      <p:sp>
        <p:nvSpPr>
          <p:cNvPr id="139" name="Google Shape;139;g3e498caeefa_0_15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Two people withdraw $10 at the same time</a:t>
            </a:r>
            <a:endParaRPr/>
          </a:p>
        </p:txBody>
      </p:sp>
      <p:sp>
        <p:nvSpPr>
          <p:cNvPr id="140" name="Google Shape;140;g3e498caeefa_0_157"/>
          <p:cNvSpPr txBox="1"/>
          <p:nvPr/>
        </p:nvSpPr>
        <p:spPr>
          <a:xfrm>
            <a:off x="914400" y="1463040"/>
            <a:ext cx="10362900" cy="4894800"/>
          </a:xfrm>
          <a:prstGeom prst="rect">
            <a:avLst/>
          </a:prstGeom>
          <a:noFill/>
          <a:ln>
            <a:noFill/>
          </a:ln>
        </p:spPr>
        <p:txBody>
          <a:bodyPr spcFirstLastPara="1" wrap="square" lIns="91425" tIns="45700" rIns="91425" bIns="45700" anchor="t" anchorCtr="0">
            <a:spAutoFit/>
          </a:bodyPr>
          <a:lstStyle/>
          <a:p>
            <a:pPr marL="0" marR="0" lvl="1" indent="0" algn="l" rtl="0">
              <a:spcBef>
                <a:spcPts val="600"/>
              </a:spcBef>
              <a:spcAft>
                <a:spcPts val="0"/>
              </a:spcAft>
              <a:buNone/>
            </a:pPr>
            <a:r>
              <a:rPr lang="en-US" sz="2400">
                <a:solidFill>
                  <a:srgbClr val="333344"/>
                </a:solidFill>
                <a:latin typeface="Calibri"/>
                <a:ea typeface="Calibri"/>
                <a:cs typeface="Calibri"/>
                <a:sym typeface="Calibri"/>
              </a:rPr>
              <a:t>A bank account, one row in your database: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`accounts`: { id: 42, balance: 100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withdraw - $10 requests land at the same millisecond. Each handler does: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Read the current balance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Subtract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Write the new balance back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one alone is correct: 100 - 10 = 90. Run the two at the same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account lands at $90, not $80, and a whole withdrawal vanished.</a:t>
            </a:r>
            <a:endParaRPr sz="2000" b="0" i="0" u="none" strike="noStrike" cap="none">
              <a:solidFill>
                <a:srgbClr val="666677"/>
              </a:solidFill>
              <a:latin typeface="Calibri"/>
              <a:ea typeface="Calibri"/>
              <a:cs typeface="Calibri"/>
              <a:sym typeface="Calibri"/>
            </a:endParaRPr>
          </a:p>
          <a:p>
            <a:pPr marL="0" marR="0" lvl="1" indent="0" algn="ctr" rtl="0">
              <a:spcBef>
                <a:spcPts val="600"/>
              </a:spcBef>
              <a:spcAft>
                <a:spcPts val="0"/>
              </a:spcAft>
              <a:buNone/>
            </a:pPr>
            <a:r>
              <a:rPr lang="en-US" sz="5000" b="1">
                <a:solidFill>
                  <a:srgbClr val="FF0000"/>
                </a:solidFill>
                <a:latin typeface="Calibri"/>
                <a:ea typeface="Calibri"/>
                <a:cs typeface="Calibri"/>
                <a:sym typeface="Calibri"/>
              </a:rPr>
              <a:t>MAYBE</a:t>
            </a:r>
            <a:endParaRPr sz="5000" b="1">
              <a:solidFill>
                <a:srgbClr val="FF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5"/>
        <p:cNvGrpSpPr/>
        <p:nvPr/>
      </p:nvGrpSpPr>
      <p:grpSpPr>
        <a:xfrm>
          <a:off x="0" y="0"/>
          <a:ext cx="0" cy="0"/>
          <a:chOff x="0" y="0"/>
          <a:chExt cx="0" cy="0"/>
        </a:xfrm>
      </p:grpSpPr>
      <p:sp>
        <p:nvSpPr>
          <p:cNvPr id="146" name="Google Shape;146;g3e498caeefa_0_1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47" name="Google Shape;147;g3e498caeefa_0_1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48" name="Google Shape;148;g3e498caeefa_0_1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9" name="Google Shape;149;g3e498caeefa_0_16"/>
          <p:cNvSpPr txBox="1"/>
          <p:nvPr/>
        </p:nvSpPr>
        <p:spPr>
          <a:xfrm>
            <a:off x="1005840" y="1645920"/>
            <a:ext cx="10179900" cy="2062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endParaRPr/>
          </a:p>
          <a:p>
            <a:pPr marL="0" marR="0" lvl="0" indent="0" algn="l" rtl="0">
              <a:spcBef>
                <a:spcPts val="20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
        <p:cNvGrpSpPr/>
        <p:nvPr/>
      </p:nvGrpSpPr>
      <p:grpSpPr>
        <a:xfrm>
          <a:off x="0" y="0"/>
          <a:ext cx="0" cy="0"/>
          <a:chOff x="0" y="0"/>
          <a:chExt cx="0" cy="0"/>
        </a:xfrm>
      </p:grpSpPr>
      <p:sp>
        <p:nvSpPr>
          <p:cNvPr id="155" name="Google Shape;155;g3e498caeefa_0_2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56" name="Google Shape;156;g3e498caeefa_0_2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57" name="Google Shape;157;g3e498caeefa_0_2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8" name="Google Shape;158;g3e498caeefa_0_24"/>
          <p:cNvSpPr txBox="1"/>
          <p:nvPr/>
        </p:nvSpPr>
        <p:spPr>
          <a:xfrm>
            <a:off x="1005840" y="1645920"/>
            <a:ext cx="10179900" cy="212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g3e498caeefa_0_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65" name="Google Shape;165;g3e498caeefa_0_8"/>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66" name="Google Shape;166;g3e498caeefa_0_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7" name="Google Shape;167;g3e498caeefa_0_8"/>
          <p:cNvSpPr txBox="1"/>
          <p:nvPr/>
        </p:nvSpPr>
        <p:spPr>
          <a:xfrm>
            <a:off x="1005840" y="1645920"/>
            <a:ext cx="10179900" cy="242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computes 100 - 10 = 90</a:t>
            </a:r>
            <a:endParaRPr/>
          </a:p>
          <a:p>
            <a:pPr marL="0" marR="0" lvl="0" indent="0" algn="l" rtl="0">
              <a:spcBef>
                <a:spcPts val="20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2"/>
        <p:cNvGrpSpPr/>
        <p:nvPr/>
      </p:nvGrpSpPr>
      <p:grpSpPr>
        <a:xfrm>
          <a:off x="0" y="0"/>
          <a:ext cx="0" cy="0"/>
          <a:chOff x="0" y="0"/>
          <a:chExt cx="0" cy="0"/>
        </a:xfrm>
      </p:grpSpPr>
      <p:sp>
        <p:nvSpPr>
          <p:cNvPr id="173" name="Google Shape;173;g3e498caeefa_0_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74" name="Google Shape;174;g3e498caeefa_0_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75" name="Google Shape;175;g3e498caeefa_0_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6" name="Google Shape;176;g3e498caeefa_0_0"/>
          <p:cNvSpPr txBox="1"/>
          <p:nvPr/>
        </p:nvSpPr>
        <p:spPr>
          <a:xfrm>
            <a:off x="1005840" y="1645920"/>
            <a:ext cx="10179900" cy="272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computes 100 - 10 =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computes 100 - 10 = 90</a:t>
            </a:r>
            <a:endParaRPr/>
          </a:p>
          <a:p>
            <a:pPr marL="0" marR="0" lvl="0" indent="0" algn="l" rtl="0">
              <a:spcBef>
                <a:spcPts val="20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1"/>
        <p:cNvGrpSpPr/>
        <p:nvPr/>
      </p:nvGrpSpPr>
      <p:grpSpPr>
        <a:xfrm>
          <a:off x="0" y="0"/>
          <a:ext cx="0" cy="0"/>
          <a:chOff x="0" y="0"/>
          <a:chExt cx="0" cy="0"/>
        </a:xfrm>
      </p:grpSpPr>
      <p:sp>
        <p:nvSpPr>
          <p:cNvPr id="182" name="Google Shape;182;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timeline of the race</a:t>
            </a:r>
            <a:endParaRPr/>
          </a:p>
        </p:txBody>
      </p:sp>
      <p:sp>
        <p:nvSpPr>
          <p:cNvPr id="183" name="Google Shape;183;p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race timeline</a:t>
            </a:r>
            <a:endParaRPr/>
          </a:p>
        </p:txBody>
      </p:sp>
      <p:sp>
        <p:nvSpPr>
          <p:cNvPr id="184" name="Google Shape;184;p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5" name="Google Shape;185;p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Starting balance: $100. Two withdraw-$10 requests, T1 and T2.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T1 T2 | DB state        | What happened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reads balance -&gt; sees 100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T1 computes 100 - 10 =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100   | T2 computes 100 - 10 =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90   | T1 writes 90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&gt; | balance =  90   | T2 writes 90</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Final balance: $90. It should have been $80, because the second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write landed on top of the first and erased one whole withdrawal.</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0"/>
        <p:cNvGrpSpPr/>
        <p:nvPr/>
      </p:nvGrpSpPr>
      <p:grpSpPr>
        <a:xfrm>
          <a:off x="0" y="0"/>
          <a:ext cx="0" cy="0"/>
          <a:chOff x="0" y="0"/>
          <a:chExt cx="0" cy="0"/>
        </a:xfrm>
      </p:grpSpPr>
      <p:sp>
        <p:nvSpPr>
          <p:cNvPr id="191" name="Google Shape;191;g3e498caeefa_0_4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This is the lost update bug</a:t>
            </a:r>
            <a:endParaRPr/>
          </a:p>
        </p:txBody>
      </p:sp>
      <p:sp>
        <p:nvSpPr>
          <p:cNvPr id="192" name="Google Shape;192;g3e498caeefa_0_40"/>
          <p:cNvSpPr txBox="1"/>
          <p:nvPr/>
        </p:nvSpPr>
        <p:spPr>
          <a:xfrm>
            <a:off x="914400" y="1463040"/>
            <a:ext cx="10362900" cy="3200836"/>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Every time you:</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a:t>
            </a:r>
            <a:r>
              <a:rPr lang="en-US" sz="2000" b="0" i="0" u="none" strike="noStrike" cap="none" dirty="0">
                <a:solidFill>
                  <a:srgbClr val="666677"/>
                </a:solidFill>
                <a:latin typeface="Calibri"/>
                <a:ea typeface="Calibri"/>
                <a:cs typeface="Calibri"/>
                <a:sym typeface="Calibri"/>
              </a:rPr>
              <a:t> Read a value from the database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a:t>
            </a:r>
            <a:r>
              <a:rPr lang="en-US" sz="2000" b="0" i="0" u="none" strike="noStrike" cap="none" dirty="0">
                <a:solidFill>
                  <a:srgbClr val="666677"/>
                </a:solidFill>
                <a:latin typeface="Calibri"/>
                <a:ea typeface="Calibri"/>
                <a:cs typeface="Calibri"/>
                <a:sym typeface="Calibri"/>
              </a:rPr>
              <a:t> Compute a new value based on the old one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a:t>
            </a:r>
            <a:r>
              <a:rPr lang="en-US" sz="2000" b="0" i="0" u="none" strike="noStrike" cap="none" dirty="0">
                <a:solidFill>
                  <a:srgbClr val="666677"/>
                </a:solidFill>
                <a:latin typeface="Calibri"/>
                <a:ea typeface="Calibri"/>
                <a:cs typeface="Calibri"/>
                <a:sym typeface="Calibri"/>
              </a:rPr>
              <a:t> Write the new value back</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 you have a </a:t>
            </a:r>
            <a:r>
              <a:rPr lang="en-US" sz="2400" b="1" i="0" u="none" strike="noStrike" cap="none" dirty="0">
                <a:solidFill>
                  <a:srgbClr val="333344"/>
                </a:solidFill>
                <a:latin typeface="Calibri"/>
                <a:ea typeface="Calibri"/>
                <a:cs typeface="Calibri"/>
                <a:sym typeface="Calibri"/>
              </a:rPr>
              <a:t>race condition </a:t>
            </a:r>
            <a:r>
              <a:rPr lang="en-US" sz="2400" b="0" i="0" u="none" strike="noStrike" cap="none" dirty="0">
                <a:solidFill>
                  <a:srgbClr val="333344"/>
                </a:solidFill>
                <a:latin typeface="Calibri"/>
                <a:ea typeface="Calibri"/>
                <a:cs typeface="Calibri"/>
                <a:sym typeface="Calibri"/>
              </a:rPr>
              <a:t>lurking. If another request does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same thing between steps 1 and 3, one update vanishes.</a:t>
            </a:r>
            <a:endParaRPr dirty="0"/>
          </a:p>
          <a:p>
            <a:pPr marL="457200" marR="0" lvl="1" indent="0" algn="l" rtl="0">
              <a:spcBef>
                <a:spcPts val="600"/>
              </a:spcBef>
              <a:spcAft>
                <a:spcPts val="0"/>
              </a:spcAft>
              <a:buNone/>
            </a:pP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7"/>
        <p:cNvGrpSpPr/>
        <p:nvPr/>
      </p:nvGrpSpPr>
      <p:grpSpPr>
        <a:xfrm>
          <a:off x="0" y="0"/>
          <a:ext cx="0" cy="0"/>
          <a:chOff x="0" y="0"/>
          <a:chExt cx="0" cy="0"/>
        </a:xfrm>
      </p:grpSpPr>
      <p:sp>
        <p:nvSpPr>
          <p:cNvPr id="198" name="Google Shape;198;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This is the lost update bug</a:t>
            </a:r>
            <a:endParaRPr/>
          </a:p>
        </p:txBody>
      </p:sp>
      <p:sp>
        <p:nvSpPr>
          <p:cNvPr id="199" name="Google Shape;199;p5"/>
          <p:cNvSpPr txBox="1"/>
          <p:nvPr/>
        </p:nvSpPr>
        <p:spPr>
          <a:xfrm>
            <a:off x="914400" y="1463040"/>
            <a:ext cx="10362900" cy="4893607"/>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Every time you:</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a:t>
            </a:r>
            <a:r>
              <a:rPr lang="en-US" sz="2000" b="0" i="0" u="none" strike="noStrike" cap="none" dirty="0">
                <a:solidFill>
                  <a:srgbClr val="666677"/>
                </a:solidFill>
                <a:latin typeface="Calibri"/>
                <a:ea typeface="Calibri"/>
                <a:cs typeface="Calibri"/>
                <a:sym typeface="Calibri"/>
              </a:rPr>
              <a:t> Read a value from the database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a:t>
            </a:r>
            <a:r>
              <a:rPr lang="en-US" sz="2000" b="0" i="0" u="none" strike="noStrike" cap="none" dirty="0">
                <a:solidFill>
                  <a:srgbClr val="666677"/>
                </a:solidFill>
                <a:latin typeface="Calibri"/>
                <a:ea typeface="Calibri"/>
                <a:cs typeface="Calibri"/>
                <a:sym typeface="Calibri"/>
              </a:rPr>
              <a:t> Compute a new value based on the old one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a:t>
            </a:r>
            <a:r>
              <a:rPr lang="en-US" sz="2000" b="0" i="0" u="none" strike="noStrike" cap="none" dirty="0">
                <a:solidFill>
                  <a:srgbClr val="666677"/>
                </a:solidFill>
                <a:latin typeface="Calibri"/>
                <a:ea typeface="Calibri"/>
                <a:cs typeface="Calibri"/>
                <a:sym typeface="Calibri"/>
              </a:rPr>
              <a:t> Write the new value back</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 you have a </a:t>
            </a:r>
            <a:r>
              <a:rPr lang="en-US" sz="2400" b="1" i="0" u="none" strike="noStrike" cap="none" dirty="0">
                <a:solidFill>
                  <a:srgbClr val="333344"/>
                </a:solidFill>
                <a:latin typeface="Calibri"/>
                <a:ea typeface="Calibri"/>
                <a:cs typeface="Calibri"/>
                <a:sym typeface="Calibri"/>
              </a:rPr>
              <a:t>race condition </a:t>
            </a:r>
            <a:r>
              <a:rPr lang="en-US" sz="2400" b="0" i="0" u="none" strike="noStrike" cap="none" dirty="0">
                <a:solidFill>
                  <a:srgbClr val="333344"/>
                </a:solidFill>
                <a:latin typeface="Calibri"/>
                <a:ea typeface="Calibri"/>
                <a:cs typeface="Calibri"/>
                <a:sym typeface="Calibri"/>
              </a:rPr>
              <a:t>lurking. If another request does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same thing between steps 1 and 3, one update vanishes.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It's sneaky because it passes all your tests (tests don't run con</a:t>
            </a:r>
            <a:r>
              <a:rPr lang="en-US" sz="2400" dirty="0">
                <a:solidFill>
                  <a:srgbClr val="333344"/>
                </a:solidFill>
                <a:latin typeface="Calibri"/>
                <a:ea typeface="Calibri"/>
                <a:cs typeface="Calibri"/>
                <a:sym typeface="Calibri"/>
              </a:rPr>
              <a:t>currently)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I</a:t>
            </a:r>
            <a:r>
              <a:rPr lang="en-US" sz="2000" b="0" i="0" u="none" strike="noStrike" cap="none" dirty="0">
                <a:solidFill>
                  <a:srgbClr val="666677"/>
                </a:solidFill>
                <a:latin typeface="Calibri"/>
                <a:ea typeface="Calibri"/>
                <a:cs typeface="Calibri"/>
                <a:sym typeface="Calibri"/>
              </a:rPr>
              <a:t>t only shows up in production under real load,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when two real users happen to hit it at the same time, and then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lose data and have a hard time reproducing why.</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4"/>
        <p:cNvGrpSpPr/>
        <p:nvPr/>
      </p:nvGrpSpPr>
      <p:grpSpPr>
        <a:xfrm>
          <a:off x="0" y="0"/>
          <a:ext cx="0" cy="0"/>
          <a:chOff x="0" y="0"/>
          <a:chExt cx="0" cy="0"/>
        </a:xfrm>
      </p:grpSpPr>
      <p:sp>
        <p:nvSpPr>
          <p:cNvPr id="205" name="Google Shape;205;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same shape shows up everywhere</a:t>
            </a:r>
            <a:endParaRPr/>
          </a:p>
        </p:txBody>
      </p:sp>
      <p:sp>
        <p:nvSpPr>
          <p:cNvPr id="206" name="Google Shape;206;p6"/>
          <p:cNvSpPr txBox="1"/>
          <p:nvPr/>
        </p:nvSpPr>
        <p:spPr>
          <a:xfrm>
            <a:off x="914400" y="1463040"/>
            <a:ext cx="10362900" cy="5141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a:t>
            </a:r>
            <a:r>
              <a:rPr lang="en-US" sz="2400">
                <a:solidFill>
                  <a:srgbClr val="333344"/>
                </a:solidFill>
                <a:latin typeface="Calibri"/>
                <a:ea typeface="Calibri"/>
                <a:cs typeface="Calibri"/>
                <a:sym typeface="Calibri"/>
              </a:rPr>
              <a:t>is shows anywhere two requests touch the same data:</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 online store with one item left. Two people check out at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both see "1 available," both orders go through, and you oversold.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reaction counter on a chat message. Two hearts arrive together,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reads 5, each writes 6, and the count should have been 7.</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booking app. Two people grab the 7pm slot because both saw it free.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Signup. Two people register "andy" at once, both pass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is-it-taken check, and both rows get inserted.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shapes underneath all of it:</a:t>
            </a:r>
            <a:endParaRPr sz="2400" b="1">
              <a:solidFill>
                <a:srgbClr val="333344"/>
              </a:solidFill>
              <a:latin typeface="Calibri"/>
              <a:ea typeface="Calibri"/>
              <a:cs typeface="Calibri"/>
              <a:sym typeface="Calibri"/>
            </a:endParaRPr>
          </a:p>
          <a:p>
            <a:pPr marL="0" marR="0" lvl="0" indent="45720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t>
            </a:r>
            <a:r>
              <a:rPr lang="en-US" sz="2000" b="1">
                <a:solidFill>
                  <a:srgbClr val="666677"/>
                </a:solidFill>
                <a:latin typeface="Calibri"/>
                <a:ea typeface="Calibri"/>
                <a:cs typeface="Calibri"/>
                <a:sym typeface="Calibri"/>
              </a:rPr>
              <a:t>ead-modify-write </a:t>
            </a:r>
            <a:r>
              <a:rPr lang="en-US" sz="2000">
                <a:solidFill>
                  <a:srgbClr val="666677"/>
                </a:solidFill>
                <a:latin typeface="Calibri"/>
                <a:ea typeface="Calibri"/>
                <a:cs typeface="Calibri"/>
                <a:sym typeface="Calibri"/>
              </a:rPr>
              <a:t>(read, compute, </a:t>
            </a:r>
            <a:r>
              <a:rPr lang="en-US" sz="2000" b="0" i="0" u="none" strike="noStrike" cap="none">
                <a:solidFill>
                  <a:srgbClr val="666677"/>
                </a:solidFill>
                <a:latin typeface="Calibri"/>
                <a:ea typeface="Calibri"/>
                <a:cs typeface="Calibri"/>
                <a:sym typeface="Calibri"/>
              </a:rPr>
              <a:t>write back) </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check-then-act</a:t>
            </a:r>
            <a:r>
              <a:rPr lang="en-US" sz="2000" b="0" i="0" u="none" strike="noStrike" cap="none">
                <a:solidFill>
                  <a:srgbClr val="666677"/>
                </a:solidFill>
                <a:latin typeface="Calibri"/>
                <a:ea typeface="Calibri"/>
                <a:cs typeface="Calibri"/>
                <a:sym typeface="Calibri"/>
              </a:rPr>
              <a:t> (check a condition, then act on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Both have the same hole: something changes between the two steps.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1"/>
        <p:cNvGrpSpPr/>
        <p:nvPr/>
      </p:nvGrpSpPr>
      <p:grpSpPr>
        <a:xfrm>
          <a:off x="0" y="0"/>
          <a:ext cx="0" cy="0"/>
          <a:chOff x="0" y="0"/>
          <a:chExt cx="0" cy="0"/>
        </a:xfrm>
      </p:grpSpPr>
      <p:sp>
        <p:nvSpPr>
          <p:cNvPr id="212" name="Google Shape;212;p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Concurrency in practice</a:t>
            </a:r>
            <a:endParaRPr/>
          </a:p>
        </p:txBody>
      </p:sp>
      <p:sp>
        <p:nvSpPr>
          <p:cNvPr id="213" name="Google Shape;213;p7"/>
          <p:cNvSpPr txBox="1"/>
          <p:nvPr/>
        </p:nvSpPr>
        <p:spPr>
          <a:xfrm>
            <a:off x="544275" y="1435850"/>
            <a:ext cx="11266800" cy="446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Race conditions classically involve concepts like threads, locks, etc.</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a:solidFill>
                  <a:srgbClr val="333344"/>
                </a:solidFill>
                <a:latin typeface="Calibri"/>
                <a:ea typeface="Calibri"/>
                <a:cs typeface="Calibri"/>
                <a:sym typeface="Calibri"/>
              </a:rPr>
              <a:t>But y</a:t>
            </a:r>
            <a:r>
              <a:rPr lang="en-US" sz="2400" b="0" i="0" u="none" strike="noStrike" cap="none">
                <a:solidFill>
                  <a:srgbClr val="333344"/>
                </a:solidFill>
                <a:latin typeface="Calibri"/>
                <a:ea typeface="Calibri"/>
                <a:cs typeface="Calibri"/>
                <a:sym typeface="Calibri"/>
              </a:rPr>
              <a:t>ou never wrote `import threading`</a:t>
            </a:r>
            <a:r>
              <a:rPr lang="en-US" sz="2400">
                <a:solidFill>
                  <a:srgbClr val="333344"/>
                </a:solidFill>
                <a:latin typeface="Calibri"/>
                <a:ea typeface="Calibri"/>
                <a:cs typeface="Calibri"/>
                <a:sym typeface="Calibri"/>
              </a:rPr>
              <a:t> or did anything with worker pools or locks.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Y</a:t>
            </a:r>
            <a:r>
              <a:rPr lang="en-US" sz="2400" b="0" i="0" u="none" strike="noStrike" cap="none">
                <a:solidFill>
                  <a:srgbClr val="333344"/>
                </a:solidFill>
                <a:latin typeface="Calibri"/>
                <a:ea typeface="Calibri"/>
                <a:cs typeface="Calibri"/>
                <a:sym typeface="Calibri"/>
              </a:rPr>
              <a:t>our server has been handling overlapping requests since </a:t>
            </a:r>
            <a:r>
              <a:rPr lang="en-US" sz="2400">
                <a:solidFill>
                  <a:srgbClr val="333344"/>
                </a:solidFill>
                <a:latin typeface="Calibri"/>
                <a:ea typeface="Calibri"/>
                <a:cs typeface="Calibri"/>
                <a:sym typeface="Calibri"/>
              </a:rPr>
              <a:t>running </a:t>
            </a:r>
            <a:r>
              <a:rPr lang="en-US" sz="2400" b="1">
                <a:solidFill>
                  <a:srgbClr val="333344"/>
                </a:solidFill>
                <a:latin typeface="Courier Prime"/>
                <a:ea typeface="Courier Prime"/>
                <a:cs typeface="Courier Prime"/>
                <a:sym typeface="Courier Prime"/>
              </a:rPr>
              <a:t>uvicorn app:app</a:t>
            </a:r>
            <a:endParaRPr b="1">
              <a:latin typeface="Courier Prime"/>
              <a:ea typeface="Courier Prime"/>
              <a:cs typeface="Courier Prime"/>
              <a:sym typeface="Courier Prime"/>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Concurrency is not a feature you add.</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It's the environment your web code</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runs in</a:t>
            </a:r>
            <a:r>
              <a:rPr lang="en-US" sz="2000">
                <a:solidFill>
                  <a:srgbClr val="666677"/>
                </a:solidFill>
                <a:latin typeface="Calibri"/>
                <a:ea typeface="Calibri"/>
                <a:cs typeface="Calibri"/>
                <a:sym typeface="Calibri"/>
              </a:rPr>
              <a: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chat app hasn't bitten you yet only because it barely has any shared state or users.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 where does the concurrency you</a:t>
            </a:r>
            <a:r>
              <a:rPr lang="en-US"/>
              <a:t> </a:t>
            </a:r>
            <a:r>
              <a:rPr lang="en-US" sz="2000" b="0" i="0" u="none" strike="noStrike" cap="none">
                <a:solidFill>
                  <a:srgbClr val="666677"/>
                </a:solidFill>
                <a:latin typeface="Calibri"/>
                <a:ea typeface="Calibri"/>
                <a:cs typeface="Calibri"/>
                <a:sym typeface="Calibri"/>
              </a:rPr>
              <a:t>already have bite, and what do you do about it?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18"/>
        <p:cNvGrpSpPr/>
        <p:nvPr/>
      </p:nvGrpSpPr>
      <p:grpSpPr>
        <a:xfrm>
          <a:off x="0" y="0"/>
          <a:ext cx="0" cy="0"/>
          <a:chOff x="0" y="0"/>
          <a:chExt cx="0" cy="0"/>
        </a:xfrm>
      </p:grpSpPr>
      <p:sp>
        <p:nvSpPr>
          <p:cNvPr id="219" name="Google Shape;219;p8"/>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a Thread Actually Is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4"/>
        <p:cNvGrpSpPr/>
        <p:nvPr/>
      </p:nvGrpSpPr>
      <p:grpSpPr>
        <a:xfrm>
          <a:off x="0" y="0"/>
          <a:ext cx="0" cy="0"/>
          <a:chOff x="0" y="0"/>
          <a:chExt cx="0" cy="0"/>
        </a:xfrm>
      </p:grpSpPr>
      <p:sp>
        <p:nvSpPr>
          <p:cNvPr id="225" name="Google Shape;225;g3e498caeefa_0_4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Process vs thread</a:t>
            </a:r>
            <a:endParaRPr/>
          </a:p>
        </p:txBody>
      </p:sp>
      <p:sp>
        <p:nvSpPr>
          <p:cNvPr id="226" name="Google Shape;226;g3e498caeefa_0_46"/>
          <p:cNvSpPr txBox="1"/>
          <p:nvPr/>
        </p:nvSpPr>
        <p:spPr>
          <a:xfrm>
            <a:off x="914400" y="1463040"/>
            <a:ext cx="10362900" cy="1139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process</a:t>
            </a:r>
            <a:r>
              <a:rPr lang="en-US" sz="2400" b="0" i="0" u="none" strike="noStrike" cap="none">
                <a:solidFill>
                  <a:srgbClr val="333344"/>
                </a:solidFill>
                <a:latin typeface="Calibri"/>
                <a:ea typeface="Calibri"/>
                <a:cs typeface="Calibri"/>
                <a:sym typeface="Calibri"/>
              </a:rPr>
              <a:t> is a running program. </a:t>
            </a:r>
            <a:r>
              <a:rPr lang="en-US" sz="2400" b="1" i="0" u="none" strike="noStrike" cap="none">
                <a:solidFill>
                  <a:srgbClr val="333344"/>
                </a:solidFill>
                <a:latin typeface="Courier Prime"/>
                <a:ea typeface="Courier Prime"/>
                <a:cs typeface="Courier Prime"/>
                <a:sym typeface="Courier Prime"/>
              </a:rPr>
              <a:t>python app.py</a:t>
            </a:r>
            <a:r>
              <a:rPr lang="en-US" sz="2400" b="0" i="0" u="none" strike="noStrike" cap="none">
                <a:solidFill>
                  <a:srgbClr val="333344"/>
                </a:solidFill>
                <a:latin typeface="Calibri"/>
                <a:ea typeface="Calibri"/>
                <a:cs typeface="Calibri"/>
                <a:sym typeface="Calibri"/>
              </a:rPr>
              <a:t> creates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has a PID, its own memory, its own files, and at least one</a:t>
            </a:r>
            <a:r>
              <a:rPr lang="en-US"/>
              <a:t> </a:t>
            </a:r>
            <a:r>
              <a:rPr lang="en-US" sz="2000" b="1" i="0" u="none" strike="noStrike" cap="none">
                <a:solidFill>
                  <a:srgbClr val="666677"/>
                </a:solidFill>
                <a:latin typeface="Calibri"/>
                <a:ea typeface="Calibri"/>
                <a:cs typeface="Calibri"/>
                <a:sym typeface="Calibri"/>
              </a:rPr>
              <a:t>thread</a:t>
            </a:r>
            <a:r>
              <a:rPr lang="en-US" sz="2000" b="0" i="0" u="none" strike="noStrike" cap="none">
                <a:solidFill>
                  <a:srgbClr val="666677"/>
                </a:solidFill>
                <a:latin typeface="Calibri"/>
                <a:ea typeface="Calibri"/>
                <a:cs typeface="Calibri"/>
                <a:sym typeface="Calibri"/>
              </a:rPr>
              <a:t> of execution.</a:t>
            </a:r>
            <a:endParaRPr/>
          </a:p>
          <a:p>
            <a:pPr marL="0" marR="0" lvl="0" indent="0" algn="l" rtl="0">
              <a:spcBef>
                <a:spcPts val="60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1"/>
        <p:cNvGrpSpPr/>
        <p:nvPr/>
      </p:nvGrpSpPr>
      <p:grpSpPr>
        <a:xfrm>
          <a:off x="0" y="0"/>
          <a:ext cx="0" cy="0"/>
          <a:chOff x="0" y="0"/>
          <a:chExt cx="0" cy="0"/>
        </a:xfrm>
      </p:grpSpPr>
      <p:sp>
        <p:nvSpPr>
          <p:cNvPr id="232" name="Google Shape;232;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Process vs thread</a:t>
            </a:r>
            <a:endParaRPr/>
          </a:p>
        </p:txBody>
      </p:sp>
      <p:sp>
        <p:nvSpPr>
          <p:cNvPr id="233" name="Google Shape;233;p9"/>
          <p:cNvSpPr txBox="1"/>
          <p:nvPr/>
        </p:nvSpPr>
        <p:spPr>
          <a:xfrm>
            <a:off x="914400" y="1463040"/>
            <a:ext cx="10362900" cy="404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process</a:t>
            </a:r>
            <a:r>
              <a:rPr lang="en-US" sz="2400" b="0" i="0" u="none" strike="noStrike" cap="none">
                <a:solidFill>
                  <a:srgbClr val="333344"/>
                </a:solidFill>
                <a:latin typeface="Calibri"/>
                <a:ea typeface="Calibri"/>
                <a:cs typeface="Calibri"/>
                <a:sym typeface="Calibri"/>
              </a:rPr>
              <a:t> is a running program. </a:t>
            </a:r>
            <a:r>
              <a:rPr lang="en-US" sz="2400" b="1" i="0" u="none" strike="noStrike" cap="none">
                <a:solidFill>
                  <a:srgbClr val="333344"/>
                </a:solidFill>
                <a:latin typeface="Courier Prime"/>
                <a:ea typeface="Courier Prime"/>
                <a:cs typeface="Courier Prime"/>
                <a:sym typeface="Courier Prime"/>
              </a:rPr>
              <a:t>python app.py</a:t>
            </a:r>
            <a:r>
              <a:rPr lang="en-US" sz="2400" b="0" i="0" u="none" strike="noStrike" cap="none">
                <a:solidFill>
                  <a:srgbClr val="333344"/>
                </a:solidFill>
                <a:latin typeface="Calibri"/>
                <a:ea typeface="Calibri"/>
                <a:cs typeface="Calibri"/>
                <a:sym typeface="Calibri"/>
              </a:rPr>
              <a:t> creates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has a PID, its own memory, its own files, and at least one</a:t>
            </a:r>
            <a:r>
              <a:rPr lang="en-US"/>
              <a:t> </a:t>
            </a:r>
            <a:r>
              <a:rPr lang="en-US" sz="2000" b="1" i="0" u="none" strike="noStrike" cap="none">
                <a:solidFill>
                  <a:srgbClr val="666677"/>
                </a:solidFill>
                <a:latin typeface="Calibri"/>
                <a:ea typeface="Calibri"/>
                <a:cs typeface="Calibri"/>
                <a:sym typeface="Calibri"/>
              </a:rPr>
              <a:t>thread</a:t>
            </a:r>
            <a:r>
              <a:rPr lang="en-US" sz="2000" b="0" i="0" u="none" strike="noStrike" cap="none">
                <a:solidFill>
                  <a:srgbClr val="666677"/>
                </a:solidFill>
                <a:latin typeface="Calibri"/>
                <a:ea typeface="Calibri"/>
                <a:cs typeface="Calibri"/>
                <a:sym typeface="Calibri"/>
              </a:rPr>
              <a:t> of execution.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thread</a:t>
            </a:r>
            <a:r>
              <a:rPr lang="en-US" sz="2400" b="0" i="0" u="none" strike="noStrike" cap="none">
                <a:solidFill>
                  <a:srgbClr val="333344"/>
                </a:solidFill>
                <a:latin typeface="Calibri"/>
                <a:ea typeface="Calibri"/>
                <a:cs typeface="Calibri"/>
                <a:sym typeface="Calibri"/>
              </a:rPr>
              <a:t> is an independent flow of execution inside a process.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has:</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Its own call stack (local variables, "where am I")</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Shared memory</a:t>
            </a:r>
            <a:r>
              <a:rPr lang="en-US" sz="2000" b="0" i="0" u="none" strike="noStrike" cap="none">
                <a:solidFill>
                  <a:srgbClr val="666677"/>
                </a:solidFill>
                <a:latin typeface="Calibri"/>
                <a:ea typeface="Calibri"/>
                <a:cs typeface="Calibri"/>
                <a:sym typeface="Calibri"/>
              </a:rPr>
              <a:t> with every other thread in the same process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scheduled slot on the CPU</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process can hold many threads, and they all share the same memory.</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8"/>
        <p:cNvGrpSpPr/>
        <p:nvPr/>
      </p:nvGrpSpPr>
      <p:grpSpPr>
        <a:xfrm>
          <a:off x="0" y="0"/>
          <a:ext cx="0" cy="0"/>
          <a:chOff x="0" y="0"/>
          <a:chExt cx="0" cy="0"/>
        </a:xfrm>
      </p:grpSpPr>
      <p:sp>
        <p:nvSpPr>
          <p:cNvPr id="239" name="Google Shape;239;p1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"multiple threads" gives you</a:t>
            </a:r>
            <a:endParaRPr/>
          </a:p>
        </p:txBody>
      </p:sp>
      <p:sp>
        <p:nvSpPr>
          <p:cNvPr id="240" name="Google Shape;240;p10"/>
          <p:cNvSpPr txBox="1"/>
          <p:nvPr/>
        </p:nvSpPr>
        <p:spPr>
          <a:xfrm>
            <a:off x="914400" y="1463040"/>
            <a:ext cx="10362900" cy="4740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With</a:t>
            </a:r>
            <a:r>
              <a:rPr lang="en-US" sz="2400">
                <a:solidFill>
                  <a:srgbClr val="333344"/>
                </a:solidFill>
                <a:latin typeface="Calibri"/>
                <a:ea typeface="Calibri"/>
                <a:cs typeface="Calibri"/>
                <a:sym typeface="Calibri"/>
              </a:rPr>
              <a:t> multiple threads </a:t>
            </a:r>
            <a:r>
              <a:rPr lang="en-US" sz="2400" b="0" i="0" u="none" strike="noStrike" cap="none">
                <a:solidFill>
                  <a:srgbClr val="333344"/>
                </a:solidFill>
                <a:latin typeface="Calibri"/>
                <a:ea typeface="Calibri"/>
                <a:cs typeface="Calibri"/>
                <a:sym typeface="Calibri"/>
              </a:rPr>
              <a:t>in a process, the OS can run different parts of your code at the "same" time.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 a </a:t>
            </a:r>
            <a:r>
              <a:rPr lang="en-US" sz="2000" b="1" i="0" u="none" strike="noStrike" cap="none">
                <a:solidFill>
                  <a:srgbClr val="666677"/>
                </a:solidFill>
                <a:latin typeface="Calibri"/>
                <a:ea typeface="Calibri"/>
                <a:cs typeface="Calibri"/>
                <a:sym typeface="Calibri"/>
              </a:rPr>
              <a:t>single-core CPU</a:t>
            </a:r>
            <a:r>
              <a:rPr lang="en-US" sz="2000" b="0" i="0" u="none" strike="noStrike" cap="none">
                <a:solidFill>
                  <a:srgbClr val="666677"/>
                </a:solidFill>
                <a:latin typeface="Calibri"/>
                <a:ea typeface="Calibri"/>
                <a:cs typeface="Calibri"/>
                <a:sym typeface="Calibri"/>
              </a:rPr>
              <a:t>, the OS rapidly alternates between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threads, giving each a slice of time. It looks simultaneous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the outside but isn't.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 a </a:t>
            </a:r>
            <a:r>
              <a:rPr lang="en-US" sz="2000" b="1" i="0" u="none" strike="noStrike" cap="none">
                <a:solidFill>
                  <a:srgbClr val="666677"/>
                </a:solidFill>
                <a:latin typeface="Calibri"/>
                <a:ea typeface="Calibri"/>
                <a:cs typeface="Calibri"/>
                <a:sym typeface="Calibri"/>
              </a:rPr>
              <a:t>multi-core CPU</a:t>
            </a:r>
            <a:r>
              <a:rPr lang="en-US" sz="2000" b="0" i="0" u="none" strike="noStrike" cap="none">
                <a:solidFill>
                  <a:srgbClr val="666677"/>
                </a:solidFill>
                <a:latin typeface="Calibri"/>
                <a:ea typeface="Calibri"/>
                <a:cs typeface="Calibri"/>
                <a:sym typeface="Calibri"/>
              </a:rPr>
              <a:t>, threads can literally run at the same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moment on different cores, which is actually simultaneous.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Either way, from your code's perspective, another thread can be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running while this one is paused, so any variable they share might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change between one line and the next. That gap is where the bug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 opened with came from.</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5"/>
        <p:cNvGrpSpPr/>
        <p:nvPr/>
      </p:nvGrpSpPr>
      <p:grpSpPr>
        <a:xfrm>
          <a:off x="0" y="0"/>
          <a:ext cx="0" cy="0"/>
          <a:chOff x="0" y="0"/>
          <a:chExt cx="0" cy="0"/>
        </a:xfrm>
      </p:grpSpPr>
      <p:sp>
        <p:nvSpPr>
          <p:cNvPr id="246" name="Google Shape;246;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Callback: browsers are single-threaded</a:t>
            </a:r>
            <a:endParaRPr/>
          </a:p>
        </p:txBody>
      </p:sp>
      <p:sp>
        <p:nvSpPr>
          <p:cNvPr id="247" name="Google Shape;247;p11"/>
          <p:cNvSpPr txBox="1"/>
          <p:nvPr/>
        </p:nvSpPr>
        <p:spPr>
          <a:xfrm>
            <a:off x="914400" y="1463040"/>
            <a:ext cx="10362900" cy="4725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Previously we learned that the browser is </a:t>
            </a:r>
            <a:r>
              <a:rPr lang="en-US" sz="2400" b="1" i="0" u="none" strike="noStrike" cap="none" dirty="0">
                <a:solidFill>
                  <a:srgbClr val="333344"/>
                </a:solidFill>
                <a:latin typeface="Calibri"/>
                <a:ea typeface="Calibri"/>
                <a:cs typeface="Calibri"/>
                <a:sym typeface="Calibri"/>
              </a:rPr>
              <a:t>single-threaded</a:t>
            </a:r>
            <a:r>
              <a:rPr lang="en-US" sz="2400" b="0" i="0" u="none" strike="noStrike" cap="none" dirty="0">
                <a:solidFill>
                  <a:srgbClr val="333344"/>
                </a:solidFill>
                <a:latin typeface="Calibri"/>
                <a:ea typeface="Calibri"/>
                <a:cs typeface="Calibri"/>
                <a:sym typeface="Calibri"/>
              </a:rPr>
              <a:t>. Your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JavaScript shares one thread with the page's rendering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event handling, so if your JS blocks, the page freezes.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Then we learned that </a:t>
            </a:r>
            <a:r>
              <a:rPr lang="en-US" sz="2400" b="1" i="0" u="none" strike="noStrike" cap="none" dirty="0">
                <a:solidFill>
                  <a:srgbClr val="333344"/>
                </a:solidFill>
                <a:latin typeface="Courier New" panose="02070309020205020404" pitchFamily="49" charset="0"/>
                <a:ea typeface="Calibri"/>
                <a:cs typeface="Courier New" panose="02070309020205020404" pitchFamily="49" charset="0"/>
                <a:sym typeface="Calibri"/>
              </a:rPr>
              <a:t>await</a:t>
            </a:r>
            <a:r>
              <a:rPr lang="en-US" sz="2400" b="0" i="0" u="none" strike="noStrike" cap="none" dirty="0">
                <a:solidFill>
                  <a:srgbClr val="333344"/>
                </a:solidFill>
                <a:latin typeface="Calibri"/>
                <a:ea typeface="Calibri"/>
                <a:cs typeface="Calibri"/>
                <a:sym typeface="Calibri"/>
              </a:rPr>
              <a:t> doesn't actually block that thread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I</a:t>
            </a:r>
            <a:r>
              <a:rPr lang="en-US" sz="2000" b="0" i="0" u="none" strike="noStrike" cap="none" dirty="0">
                <a:solidFill>
                  <a:srgbClr val="666677"/>
                </a:solidFill>
                <a:latin typeface="Calibri"/>
                <a:ea typeface="Calibri"/>
                <a:cs typeface="Calibri"/>
                <a:sym typeface="Calibri"/>
              </a:rPr>
              <a:t>t pauses your function and lets the browser run other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events on the same single thread. That's why async matters in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browser: it's the only way to do slow things without freezing.</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Web servers don't have that constraint. A server can use multiple threads,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or a smart single thread, or even a pool of processes.</a:t>
            </a:r>
            <a:endParaRPr dirty="0"/>
          </a:p>
          <a:p>
            <a:pPr marL="457200" marR="0" lvl="1" indent="0" algn="l" rtl="0">
              <a:spcBef>
                <a:spcPts val="600"/>
              </a:spcBef>
              <a:spcAft>
                <a:spcPts val="0"/>
              </a:spcAft>
              <a:buNone/>
            </a:pP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52"/>
        <p:cNvGrpSpPr/>
        <p:nvPr/>
      </p:nvGrpSpPr>
      <p:grpSpPr>
        <a:xfrm>
          <a:off x="0" y="0"/>
          <a:ext cx="0" cy="0"/>
          <a:chOff x="0" y="0"/>
          <a:chExt cx="0" cy="0"/>
        </a:xfrm>
      </p:grpSpPr>
      <p:sp>
        <p:nvSpPr>
          <p:cNvPr id="253" name="Google Shape;253;p1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How Your Server Handles Multiple Requests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8"/>
        <p:cNvGrpSpPr/>
        <p:nvPr/>
      </p:nvGrpSpPr>
      <p:grpSpPr>
        <a:xfrm>
          <a:off x="0" y="0"/>
          <a:ext cx="0" cy="0"/>
          <a:chOff x="0" y="0"/>
          <a:chExt cx="0" cy="0"/>
        </a:xfrm>
      </p:grpSpPr>
      <p:sp>
        <p:nvSpPr>
          <p:cNvPr id="259" name="Google Shape;259;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Option A: thread-per-request</a:t>
            </a:r>
            <a:endParaRPr/>
          </a:p>
        </p:txBody>
      </p:sp>
      <p:sp>
        <p:nvSpPr>
          <p:cNvPr id="260" name="Google Shape;260;p13"/>
          <p:cNvSpPr txBox="1"/>
          <p:nvPr/>
        </p:nvSpPr>
        <p:spPr>
          <a:xfrm>
            <a:off x="914400" y="1463050"/>
            <a:ext cx="106071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classic model. Django + gunicorn, Rails, Java servlets.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Server starts with a </a:t>
            </a:r>
            <a:r>
              <a:rPr lang="en-US" sz="2000" b="1" i="0" u="none" strike="noStrike" cap="none">
                <a:solidFill>
                  <a:srgbClr val="666677"/>
                </a:solidFill>
                <a:latin typeface="Calibri"/>
                <a:ea typeface="Calibri"/>
                <a:cs typeface="Calibri"/>
                <a:sym typeface="Calibri"/>
              </a:rPr>
              <a:t>pool</a:t>
            </a:r>
            <a:r>
              <a:rPr lang="en-US" sz="2000" b="0" i="0" u="none" strike="noStrike" cap="none">
                <a:solidFill>
                  <a:srgbClr val="666677"/>
                </a:solidFill>
                <a:latin typeface="Calibri"/>
                <a:ea typeface="Calibri"/>
                <a:cs typeface="Calibri"/>
                <a:sym typeface="Calibri"/>
              </a:rPr>
              <a:t> of N threads (say, 10)</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Request arrives -&gt; grab a free thread, run the handler on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Handler finishes -&gt; thread returns to the pool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All N busy? Queue the request until one frees up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It's simple to reason about, since each request gets its own thread.</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catch is that threads are expensive - ~1 MB of stack each, plus OS book</a:t>
            </a:r>
            <a:r>
              <a:rPr lang="en-US" sz="2400">
                <a:solidFill>
                  <a:srgbClr val="333344"/>
                </a:solidFill>
                <a:latin typeface="Calibri"/>
                <a:ea typeface="Calibri"/>
                <a:cs typeface="Calibri"/>
                <a:sym typeface="Calibri"/>
              </a:rPr>
              <a:t>keeping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10 threads you handle 10 concurrent </a:t>
            </a:r>
            <a:r>
              <a:rPr lang="en-US" sz="2000">
                <a:solidFill>
                  <a:srgbClr val="666677"/>
                </a:solidFill>
                <a:latin typeface="Calibri"/>
                <a:ea typeface="Calibri"/>
                <a:cs typeface="Calibri"/>
                <a:sym typeface="Calibri"/>
              </a:rPr>
              <a:t>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With 1,000 your memory explodes. And most of the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thread is just sitting there waiting on the database.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5"/>
        <p:cNvGrpSpPr/>
        <p:nvPr/>
      </p:nvGrpSpPr>
      <p:grpSpPr>
        <a:xfrm>
          <a:off x="0" y="0"/>
          <a:ext cx="0" cy="0"/>
          <a:chOff x="0" y="0"/>
          <a:chExt cx="0" cy="0"/>
        </a:xfrm>
      </p:grpSpPr>
      <p:sp>
        <p:nvSpPr>
          <p:cNvPr id="266" name="Google Shape;266;p14"/>
          <p:cNvSpPr txBox="1"/>
          <p:nvPr/>
        </p:nvSpPr>
        <p:spPr>
          <a:xfrm>
            <a:off x="731520" y="365760"/>
            <a:ext cx="10728655" cy="64629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dirty="0">
                <a:solidFill>
                  <a:srgbClr val="1A1A2E"/>
                </a:solidFill>
                <a:latin typeface="Calibri"/>
                <a:ea typeface="Calibri"/>
                <a:cs typeface="Calibri"/>
                <a:sym typeface="Calibri"/>
              </a:rPr>
              <a:t>Option B: event loop</a:t>
            </a:r>
            <a:endParaRPr dirty="0"/>
          </a:p>
        </p:txBody>
      </p:sp>
      <p:sp>
        <p:nvSpPr>
          <p:cNvPr id="267" name="Google Shape;267;p14"/>
          <p:cNvSpPr txBox="1"/>
          <p:nvPr/>
        </p:nvSpPr>
        <p:spPr>
          <a:xfrm>
            <a:off x="914400" y="146304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What if instead of one thread per request, you used </a:t>
            </a:r>
            <a:r>
              <a:rPr lang="en-US" sz="2400" b="1" i="0" u="none" strike="noStrike" cap="none">
                <a:solidFill>
                  <a:srgbClr val="333344"/>
                </a:solidFill>
                <a:latin typeface="Calibri"/>
                <a:ea typeface="Calibri"/>
                <a:cs typeface="Calibri"/>
                <a:sym typeface="Calibri"/>
              </a:rPr>
              <a:t>one thread.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And</a:t>
            </a:r>
            <a:r>
              <a:rPr lang="en-US" sz="2000" b="0" i="0" u="none" strike="noStrike" cap="none">
                <a:solidFill>
                  <a:srgbClr val="666677"/>
                </a:solidFill>
                <a:latin typeface="Calibri"/>
                <a:ea typeface="Calibri"/>
                <a:cs typeface="Calibri"/>
                <a:sym typeface="Calibri"/>
              </a:rPr>
              <a:t> had it handle many requests concurrently?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W</a:t>
            </a:r>
            <a:r>
              <a:rPr lang="en-US" sz="2400" b="0" i="0" u="none" strike="noStrike" cap="none">
                <a:solidFill>
                  <a:srgbClr val="333344"/>
                </a:solidFill>
                <a:latin typeface="Calibri"/>
                <a:ea typeface="Calibri"/>
                <a:cs typeface="Calibri"/>
                <a:sym typeface="Calibri"/>
              </a:rPr>
              <a:t>hen a handler waits on I/O (database, network), it </a:t>
            </a:r>
            <a:r>
              <a:rPr lang="en-US" sz="2400" b="1" i="0" u="none" strike="noStrike" cap="none">
                <a:solidFill>
                  <a:srgbClr val="333344"/>
                </a:solidFill>
                <a:latin typeface="Calibri"/>
                <a:ea typeface="Calibri"/>
                <a:cs typeface="Calibri"/>
                <a:sym typeface="Calibri"/>
              </a:rPr>
              <a:t>yields control</a:t>
            </a:r>
            <a:r>
              <a:rPr lang="en-US" sz="2400" b="0" i="0" u="none" strike="noStrike" cap="none">
                <a:solidFill>
                  <a:srgbClr val="333344"/>
                </a:solidFill>
                <a:latin typeface="Calibri"/>
                <a:ea typeface="Calibri"/>
                <a:cs typeface="Calibri"/>
                <a:sym typeface="Calibri"/>
              </a:rPr>
              <a:t> to a scheduler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The scheduler runs another</a:t>
            </a:r>
            <a:r>
              <a:rPr lang="en-US"/>
              <a:t> </a:t>
            </a:r>
            <a:r>
              <a:rPr lang="en-US" sz="2000" b="0" i="0" u="none" strike="noStrike" cap="none">
                <a:solidFill>
                  <a:srgbClr val="666677"/>
                </a:solidFill>
                <a:latin typeface="Calibri"/>
                <a:ea typeface="Calibri"/>
                <a:cs typeface="Calibri"/>
                <a:sym typeface="Calibri"/>
              </a:rPr>
              <a:t>ready handler. When the first handler's I/O finishes,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scheduler resumes it where it left off.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called an </a:t>
            </a:r>
            <a:r>
              <a:rPr lang="en-US" sz="2400" b="1" i="0" u="none" strike="noStrike" cap="none">
                <a:solidFill>
                  <a:srgbClr val="333344"/>
                </a:solidFill>
                <a:latin typeface="Calibri"/>
                <a:ea typeface="Calibri"/>
                <a:cs typeface="Calibri"/>
                <a:sym typeface="Calibri"/>
              </a:rPr>
              <a:t>event loop</a:t>
            </a:r>
            <a:r>
              <a:rPr lang="en-US" sz="2400" b="0" i="0" u="none" strike="noStrike" cap="none">
                <a:solidFill>
                  <a:srgbClr val="333344"/>
                </a:solidFill>
                <a:latin typeface="Calibri"/>
                <a:ea typeface="Calibri"/>
                <a:cs typeface="Calibri"/>
                <a:sym typeface="Calibri"/>
              </a:rPr>
              <a:t>: one thread handling many concurrent tasks</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Node.js, Go, Python's asyncio, and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 all work this way.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You get</a:t>
            </a:r>
            <a:r>
              <a:rPr lang="en-US" sz="2400" b="0" i="0" u="none" strike="noStrike" cap="non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tons</a:t>
            </a:r>
            <a:r>
              <a:rPr lang="en-US" sz="2400" b="0" i="0" u="none" strike="noStrike" cap="none">
                <a:solidFill>
                  <a:srgbClr val="333344"/>
                </a:solidFill>
                <a:latin typeface="Calibri"/>
                <a:ea typeface="Calibri"/>
                <a:cs typeface="Calibri"/>
                <a:sym typeface="Calibri"/>
              </a:rPr>
              <a:t> of concurrent requests on a single thread</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lang="en-US" sz="2000" b="0" i="0" u="none" strike="noStrike" cap="none">
                <a:solidFill>
                  <a:srgbClr val="666677"/>
                </a:solidFill>
                <a:latin typeface="Calibri"/>
                <a:ea typeface="Calibri"/>
                <a:cs typeface="Calibri"/>
                <a:sym typeface="Calibri"/>
              </a:rPr>
              <a:t>ost of the time your code is waiting on I/O and the event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loop spends that wait running someone else's request.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2"/>
        <p:cNvGrpSpPr/>
        <p:nvPr/>
      </p:nvGrpSpPr>
      <p:grpSpPr>
        <a:xfrm>
          <a:off x="0" y="0"/>
          <a:ext cx="0" cy="0"/>
          <a:chOff x="0" y="0"/>
          <a:chExt cx="0" cy="0"/>
        </a:xfrm>
      </p:grpSpPr>
      <p:sp>
        <p:nvSpPr>
          <p:cNvPr id="273" name="Google Shape;273;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FastAPI does both, sort of</a:t>
            </a:r>
            <a:endParaRPr/>
          </a:p>
        </p:txBody>
      </p:sp>
      <p:sp>
        <p:nvSpPr>
          <p:cNvPr id="274" name="Google Shape;274;p15"/>
          <p:cNvSpPr txBox="1"/>
          <p:nvPr/>
        </p:nvSpPr>
        <p:spPr>
          <a:xfrm>
            <a:off x="914400" y="146304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FastAPI is event-loop based. When you write an </a:t>
            </a:r>
            <a:r>
              <a:rPr lang="en-US" sz="2400" b="1" i="0" u="none" strike="noStrike" cap="none">
                <a:solidFill>
                  <a:srgbClr val="333344"/>
                </a:solidFill>
                <a:latin typeface="Courier Prime"/>
                <a:ea typeface="Courier Prime"/>
                <a:cs typeface="Courier Prime"/>
                <a:sym typeface="Courier Prime"/>
              </a:rPr>
              <a:t>async def</a:t>
            </a:r>
            <a:r>
              <a:rPr lang="en-US" sz="2400" b="1">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endpoint</a:t>
            </a:r>
            <a:r>
              <a:rPr lang="en-US" sz="2400" b="1">
                <a:solidFill>
                  <a:srgbClr val="333344"/>
                </a:solidFill>
                <a:latin typeface="Calibri"/>
                <a:ea typeface="Calibri"/>
                <a:cs typeface="Calibri"/>
                <a:sym typeface="Calibri"/>
              </a:rPr>
              <a:t>,</a:t>
            </a:r>
            <a:endParaRPr b="1">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FastAPI runs it directly on uvicorn's event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But FastAPI also handles plain </a:t>
            </a:r>
            <a:r>
              <a:rPr lang="en-US" sz="2400" b="1" i="0" u="none" strike="noStrike" cap="none">
                <a:solidFill>
                  <a:srgbClr val="333344"/>
                </a:solidFill>
                <a:latin typeface="Courier Prime"/>
                <a:ea typeface="Courier Prime"/>
                <a:cs typeface="Courier Prime"/>
                <a:sym typeface="Courier Prime"/>
              </a:rPr>
              <a:t>def</a:t>
            </a:r>
            <a:r>
              <a:rPr lang="en-US" sz="2400" b="0" i="0" u="none" strike="noStrike" cap="none">
                <a:solidFill>
                  <a:srgbClr val="333344"/>
                </a:solidFill>
                <a:latin typeface="Calibri"/>
                <a:ea typeface="Calibri"/>
                <a:cs typeface="Calibri"/>
                <a:sym typeface="Calibri"/>
              </a:rPr>
              <a:t> endpoints gracefully.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you write a regular synchronous endpoint, FastAPI runs it 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small </a:t>
            </a:r>
            <a:r>
              <a:rPr lang="en-US" sz="2000" b="1" i="0" u="none" strike="noStrike" cap="none">
                <a:solidFill>
                  <a:srgbClr val="666677"/>
                </a:solidFill>
                <a:latin typeface="Calibri"/>
                <a:ea typeface="Calibri"/>
                <a:cs typeface="Calibri"/>
                <a:sym typeface="Calibri"/>
              </a:rPr>
              <a:t>thread pool</a:t>
            </a:r>
            <a:r>
              <a:rPr lang="en-US" sz="2000" b="0" i="0" u="none" strike="noStrike" cap="none">
                <a:solidFill>
                  <a:srgbClr val="666677"/>
                </a:solidFill>
                <a:latin typeface="Calibri"/>
                <a:ea typeface="Calibri"/>
                <a:cs typeface="Calibri"/>
                <a:sym typeface="Calibri"/>
              </a:rPr>
              <a:t> so the event loop isn't blocked while</a:t>
            </a:r>
            <a:r>
              <a:rPr lang="en-US"/>
              <a:t> </a:t>
            </a:r>
            <a:r>
              <a:rPr lang="en-US" sz="2000" b="0" i="0" u="none" strike="noStrike" cap="none">
                <a:solidFill>
                  <a:srgbClr val="666677"/>
                </a:solidFill>
                <a:latin typeface="Calibri"/>
                <a:ea typeface="Calibri"/>
                <a:cs typeface="Calibri"/>
                <a:sym typeface="Calibri"/>
              </a:rPr>
              <a:t>your sync code runs.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Practical result: you can write your endpoints as either </a:t>
            </a:r>
            <a:r>
              <a:rPr lang="en-US" sz="2400" b="1" i="0" u="none" strike="noStrike" cap="none">
                <a:solidFill>
                  <a:srgbClr val="333344"/>
                </a:solidFill>
                <a:latin typeface="Courier Prime"/>
                <a:ea typeface="Courier Prime"/>
                <a:cs typeface="Courier Prime"/>
                <a:sym typeface="Courier Prime"/>
              </a:rPr>
              <a:t>def</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or </a:t>
            </a:r>
            <a:r>
              <a:rPr lang="en-US" sz="2000" b="1" i="0" u="none" strike="noStrike" cap="none">
                <a:solidFill>
                  <a:srgbClr val="666677"/>
                </a:solidFill>
                <a:latin typeface="Courier Prime"/>
                <a:ea typeface="Courier Prime"/>
                <a:cs typeface="Courier Prime"/>
                <a:sym typeface="Courier Prime"/>
              </a:rPr>
              <a:t>async def</a:t>
            </a:r>
            <a:r>
              <a:rPr lang="en-US" sz="2000" b="0" i="0" u="none" strike="noStrike" cap="none">
                <a:solidFill>
                  <a:srgbClr val="666677"/>
                </a:solidFill>
                <a:latin typeface="Calibri"/>
                <a:ea typeface="Calibri"/>
                <a:cs typeface="Calibri"/>
                <a:sym typeface="Calibri"/>
              </a:rPr>
              <a:t>, and FastAPI does the right thing.</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It’s easiest to</a:t>
            </a:r>
            <a:r>
              <a:rPr lang="en-US" sz="2000" b="0" i="0" u="none" strike="noStrike" cap="none">
                <a:solidFill>
                  <a:srgbClr val="666677"/>
                </a:solidFill>
                <a:latin typeface="Calibri"/>
                <a:ea typeface="Calibri"/>
                <a:cs typeface="Calibri"/>
                <a:sym typeface="Calibri"/>
              </a:rPr>
              <a:t> write plain </a:t>
            </a:r>
            <a:r>
              <a:rPr lang="en-US" sz="2000" b="1" i="0" u="none" strike="noStrike" cap="none">
                <a:solidFill>
                  <a:srgbClr val="666677"/>
                </a:solidFill>
                <a:latin typeface="Courier Prime"/>
                <a:ea typeface="Courier Prime"/>
                <a:cs typeface="Courier Prime"/>
                <a:sym typeface="Courier Prime"/>
              </a:rPr>
              <a:t>def</a:t>
            </a:r>
            <a:r>
              <a:rPr lang="en-US" sz="2000" b="0" i="0" u="none" strike="noStrike" cap="none">
                <a:solidFill>
                  <a:srgbClr val="666677"/>
                </a:solidFill>
                <a:latin typeface="Calibri"/>
                <a:ea typeface="Calibri"/>
                <a:cs typeface="Calibri"/>
                <a:sym typeface="Calibri"/>
              </a:rPr>
              <a:t> unless you have a specific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reason to go async (we'll see one in a few slides).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Either way your concurrent requests get handled, which is all you need.</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9"/>
        <p:cNvGrpSpPr/>
        <p:nvPr/>
      </p:nvGrpSpPr>
      <p:grpSpPr>
        <a:xfrm>
          <a:off x="0" y="0"/>
          <a:ext cx="0" cy="0"/>
          <a:chOff x="0" y="0"/>
          <a:chExt cx="0" cy="0"/>
        </a:xfrm>
      </p:grpSpPr>
      <p:sp>
        <p:nvSpPr>
          <p:cNvPr id="280" name="Google Shape;280;g3e498caeefa_0_14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Why REST is stateless</a:t>
            </a:r>
            <a:endParaRPr/>
          </a:p>
        </p:txBody>
      </p:sp>
      <p:sp>
        <p:nvSpPr>
          <p:cNvPr id="281" name="Google Shape;281;g3e498caeefa_0_14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82" name="Google Shape;282;g3e498caeefa_0_14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3" name="Google Shape;283;g3e498caeefa_0_143"/>
          <p:cNvSpPr txBox="1"/>
          <p:nvPr/>
        </p:nvSpPr>
        <p:spPr>
          <a:xfrm>
            <a:off x="1005840" y="1645920"/>
            <a:ext cx="10179900" cy="261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Naive "current user" stash. Saves you passing it through every call.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current_user: str | None = None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@app.post("/transfer")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transfer(req: TransferRequest):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global current_user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current_user = req.username       # 1. stash who's calling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 look_up_account()       # 2. some other work (DB, HTTP,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deduct(req.amount)  # 3. read it back later</a:t>
            </a:r>
            <a:endParaRPr/>
          </a:p>
          <a:p>
            <a:pPr marL="0" marR="0" lvl="0" indent="0" algn="l" rtl="0">
              <a:spcBef>
                <a:spcPts val="20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8"/>
        <p:cNvGrpSpPr/>
        <p:nvPr/>
      </p:nvGrpSpPr>
      <p:grpSpPr>
        <a:xfrm>
          <a:off x="0" y="0"/>
          <a:ext cx="0" cy="0"/>
          <a:chOff x="0" y="0"/>
          <a:chExt cx="0" cy="0"/>
        </a:xfrm>
      </p:grpSpPr>
      <p:sp>
        <p:nvSpPr>
          <p:cNvPr id="289" name="Google Shape;289;g3e498caeefa_0_13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Why REST is stateless</a:t>
            </a:r>
            <a:endParaRPr/>
          </a:p>
        </p:txBody>
      </p:sp>
      <p:sp>
        <p:nvSpPr>
          <p:cNvPr id="290" name="Google Shape;290;g3e498caeefa_0_135"/>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91" name="Google Shape;291;g3e498caeefa_0_13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2" name="Google Shape;292;g3e498caeefa_0_135"/>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Naive "current user" stash. Saves you passing it through every call.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current_user: str | None = None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@app.post("/transfer")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transfer(req: TransferRequest):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global current_user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current_user = req.username       # 1. stash who's calling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 look_up_account()       # 2. some other work (DB, HTTP,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deduct(req.amount)  # 3. read it back later</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Two requests, interleaved on the same process: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T1 (alice):  sets current_user = "alice", calls look_up_account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T2 (bob):    sets current_user = "bob",   calls look_up_account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T1 resumes:  reads current_user -&gt; "bob", deducts from BOB.</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Alice's withdrawal came out of bob's account. The handler ran top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to bottom; it just didn't run alone. This whole class of bug is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what statelessness rules out by construction.</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7"/>
        <p:cNvGrpSpPr/>
        <p:nvPr/>
      </p:nvGrpSpPr>
      <p:grpSpPr>
        <a:xfrm>
          <a:off x="0" y="0"/>
          <a:ext cx="0" cy="0"/>
          <a:chOff x="0" y="0"/>
          <a:chExt cx="0" cy="0"/>
        </a:xfrm>
      </p:grpSpPr>
      <p:sp>
        <p:nvSpPr>
          <p:cNvPr id="298" name="Google Shape;298;p1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S</a:t>
            </a:r>
            <a:r>
              <a:rPr lang="en-US" sz="3600" b="1" i="0" u="none" strike="noStrike" cap="none">
                <a:solidFill>
                  <a:srgbClr val="1A1A2E"/>
                </a:solidFill>
                <a:latin typeface="Calibri"/>
                <a:ea typeface="Calibri"/>
                <a:cs typeface="Calibri"/>
                <a:sym typeface="Calibri"/>
              </a:rPr>
              <a:t>tatelessness was a concurrency decision</a:t>
            </a:r>
            <a:endParaRPr/>
          </a:p>
        </p:txBody>
      </p:sp>
      <p:sp>
        <p:nvSpPr>
          <p:cNvPr id="299" name="Google Shape;299;p16"/>
          <p:cNvSpPr txBox="1"/>
          <p:nvPr/>
        </p:nvSpPr>
        <p:spPr>
          <a:xfrm>
            <a:off x="914400" y="121809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 learned that </a:t>
            </a:r>
            <a:r>
              <a:rPr lang="en-US" sz="2400" b="0" i="0" u="none" strike="noStrike" cap="none">
                <a:solidFill>
                  <a:srgbClr val="333344"/>
                </a:solidFill>
                <a:latin typeface="Calibri"/>
                <a:ea typeface="Calibri"/>
                <a:cs typeface="Calibri"/>
                <a:sym typeface="Calibri"/>
              </a:rPr>
              <a:t>REST's </a:t>
            </a:r>
            <a:r>
              <a:rPr lang="en-US" sz="2400" b="1" i="0" u="none" strike="noStrike" cap="none">
                <a:solidFill>
                  <a:srgbClr val="333344"/>
                </a:solidFill>
                <a:latin typeface="Calibri"/>
                <a:ea typeface="Calibri"/>
                <a:cs typeface="Calibri"/>
                <a:sym typeface="Calibri"/>
              </a:rPr>
              <a:t>statelessness</a:t>
            </a:r>
            <a:r>
              <a:rPr lang="en-US" sz="2400" b="0" i="0" u="none" strike="noStrike" cap="none">
                <a:solidFill>
                  <a:srgbClr val="333344"/>
                </a:solidFill>
                <a:latin typeface="Calibri"/>
                <a:ea typeface="Calibri"/>
                <a:cs typeface="Calibri"/>
                <a:sym typeface="Calibri"/>
              </a:rPr>
              <a:t> was one of its four design rules: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E</a:t>
            </a:r>
            <a:r>
              <a:rPr lang="en-US" sz="2000" b="0" i="0" u="none" strike="noStrike" cap="none">
                <a:solidFill>
                  <a:srgbClr val="666677"/>
                </a:solidFill>
                <a:latin typeface="Calibri"/>
                <a:ea typeface="Calibri"/>
                <a:cs typeface="Calibri"/>
                <a:sym typeface="Calibri"/>
              </a:rPr>
              <a:t>very request carries its context, the server remembers nothing.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 sold it as operational - run 1,000 copies behind a load balancer.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deeper reason is concurrency. Statelessness is what makes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safe to handle overlapping requests at all.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If your server kept per-session state, two requests running at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could see each other's half-finished writes, which is a race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condition in ordinary handler code, no database required.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Because there's no per-request state, that entire class of bug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ruled out before your handler code even runs.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4"/>
        <p:cNvGrpSpPr/>
        <p:nvPr/>
      </p:nvGrpSpPr>
      <p:grpSpPr>
        <a:xfrm>
          <a:off x="0" y="0"/>
          <a:ext cx="0" cy="0"/>
          <a:chOff x="0" y="0"/>
          <a:chExt cx="0" cy="0"/>
        </a:xfrm>
      </p:grpSpPr>
      <p:sp>
        <p:nvSpPr>
          <p:cNvPr id="305" name="Google Shape;305;g3e498caeefa_0_49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 why are we </a:t>
            </a:r>
            <a:r>
              <a:rPr lang="en-US" sz="3600" b="1">
                <a:solidFill>
                  <a:srgbClr val="1A1A2E"/>
                </a:solidFill>
                <a:latin typeface="Calibri"/>
                <a:ea typeface="Calibri"/>
                <a:cs typeface="Calibri"/>
                <a:sym typeface="Calibri"/>
              </a:rPr>
              <a:t>here</a:t>
            </a:r>
            <a:r>
              <a:rPr lang="en-US" sz="3600" b="1" i="0" u="none" strike="noStrike" cap="none">
                <a:solidFill>
                  <a:srgbClr val="1A1A2E"/>
                </a:solidFill>
                <a:latin typeface="Calibri"/>
                <a:ea typeface="Calibri"/>
                <a:cs typeface="Calibri"/>
                <a:sym typeface="Calibri"/>
              </a:rPr>
              <a:t>?</a:t>
            </a:r>
            <a:endParaRPr/>
          </a:p>
        </p:txBody>
      </p:sp>
      <p:sp>
        <p:nvSpPr>
          <p:cNvPr id="306" name="Google Shape;306;g3e498caeefa_0_498"/>
          <p:cNvSpPr txBox="1"/>
          <p:nvPr/>
        </p:nvSpPr>
        <p:spPr>
          <a:xfrm>
            <a:off x="914400" y="1463040"/>
            <a:ext cx="10362900" cy="754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If statelessness prevents bugs at the request level, what's left?</a:t>
            </a:r>
            <a:endParaRPr/>
          </a:p>
          <a:p>
            <a:pPr marL="457200" marR="0" lvl="1" indent="0" algn="l" rtl="0">
              <a:spcBef>
                <a:spcPts val="60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1"/>
        <p:cNvGrpSpPr/>
        <p:nvPr/>
      </p:nvGrpSpPr>
      <p:grpSpPr>
        <a:xfrm>
          <a:off x="0" y="0"/>
          <a:ext cx="0" cy="0"/>
          <a:chOff x="0" y="0"/>
          <a:chExt cx="0" cy="0"/>
        </a:xfrm>
      </p:grpSpPr>
      <p:sp>
        <p:nvSpPr>
          <p:cNvPr id="312" name="Google Shape;312;p1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 why are we </a:t>
            </a:r>
            <a:r>
              <a:rPr lang="en-US" sz="3600" b="1">
                <a:solidFill>
                  <a:srgbClr val="1A1A2E"/>
                </a:solidFill>
                <a:latin typeface="Calibri"/>
                <a:ea typeface="Calibri"/>
                <a:cs typeface="Calibri"/>
                <a:sym typeface="Calibri"/>
              </a:rPr>
              <a:t>here</a:t>
            </a:r>
            <a:r>
              <a:rPr lang="en-US" sz="3600" b="1" i="0" u="none" strike="noStrike" cap="none">
                <a:solidFill>
                  <a:srgbClr val="1A1A2E"/>
                </a:solidFill>
                <a:latin typeface="Calibri"/>
                <a:ea typeface="Calibri"/>
                <a:cs typeface="Calibri"/>
                <a:sym typeface="Calibri"/>
              </a:rPr>
              <a:t>?</a:t>
            </a:r>
            <a:endParaRPr/>
          </a:p>
        </p:txBody>
      </p:sp>
      <p:sp>
        <p:nvSpPr>
          <p:cNvPr id="313" name="Google Shape;313;p17"/>
          <p:cNvSpPr txBox="1"/>
          <p:nvPr/>
        </p:nvSpPr>
        <p:spPr>
          <a:xfrm>
            <a:off x="914400" y="1463040"/>
            <a:ext cx="10362900" cy="375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If statelessness prevents bugs at the request level, what's left?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REQUESTS are stateless, but your </a:t>
            </a:r>
            <a:r>
              <a:rPr lang="en-US" sz="2400" b="1" i="0" u="none" strike="noStrike" cap="none">
                <a:solidFill>
                  <a:srgbClr val="333344"/>
                </a:solidFill>
                <a:latin typeface="Calibri"/>
                <a:ea typeface="Calibri"/>
                <a:cs typeface="Calibri"/>
                <a:sym typeface="Calibri"/>
              </a:rPr>
              <a:t>database</a:t>
            </a:r>
            <a:r>
              <a:rPr lang="en-US" sz="2400" b="0" i="0" u="none" strike="noStrike" cap="none">
                <a:solidFill>
                  <a:srgbClr val="333344"/>
                </a:solidFill>
                <a:latin typeface="Calibri"/>
                <a:ea typeface="Calibri"/>
                <a:cs typeface="Calibri"/>
                <a:sym typeface="Calibri"/>
              </a:rPr>
              <a:t> is not.</a:t>
            </a:r>
            <a:endParaRPr/>
          </a:p>
          <a:p>
            <a:pPr marL="457200" marR="0" lvl="1" indent="0" algn="l" rtl="0">
              <a:spcBef>
                <a:spcPts val="600"/>
              </a:spcBef>
              <a:spcAft>
                <a:spcPts val="0"/>
              </a:spcAft>
              <a:buNone/>
            </a:pP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lost-update bug </a:t>
            </a:r>
            <a:r>
              <a:rPr lang="en-US" sz="2400">
                <a:solidFill>
                  <a:srgbClr val="333344"/>
                </a:solidFill>
                <a:latin typeface="Calibri"/>
                <a:ea typeface="Calibri"/>
                <a:cs typeface="Calibri"/>
                <a:sym typeface="Calibri"/>
              </a:rPr>
              <a:t>lives in the DB - in the one row they both reached for.</a:t>
            </a:r>
            <a:endParaRPr sz="2400">
              <a:solidFill>
                <a:srgbClr val="333344"/>
              </a:solidFill>
              <a:latin typeface="Calibri"/>
              <a:ea typeface="Calibri"/>
              <a:cs typeface="Calibri"/>
              <a:sym typeface="Calibri"/>
            </a:endParaRPr>
          </a:p>
          <a:p>
            <a:pPr marL="0" marR="0" lvl="0" indent="0" algn="l" rtl="0">
              <a:spcBef>
                <a:spcPts val="60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Stateless requests plus a shared database is the entire modern web</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lang="en-US" sz="2000" b="0" i="0" u="none" strike="noStrike" cap="none">
                <a:solidFill>
                  <a:srgbClr val="666677"/>
                </a:solidFill>
                <a:latin typeface="Calibri"/>
                <a:ea typeface="Calibri"/>
                <a:cs typeface="Calibri"/>
                <a:sym typeface="Calibri"/>
              </a:rPr>
              <a:t>t moves the hard part from the request layer (easy) to the</a:t>
            </a:r>
            <a:r>
              <a:rPr lang="en-US"/>
              <a:t> </a:t>
            </a:r>
            <a:r>
              <a:rPr lang="en-US" sz="2000" b="0" i="0" u="none" strike="noStrike" cap="none">
                <a:solidFill>
                  <a:srgbClr val="666677"/>
                </a:solidFill>
                <a:latin typeface="Calibri"/>
                <a:ea typeface="Calibri"/>
                <a:cs typeface="Calibri"/>
                <a:sym typeface="Calibri"/>
              </a:rPr>
              <a:t>data layer (not easy).</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18"/>
        <p:cNvGrpSpPr/>
        <p:nvPr/>
      </p:nvGrpSpPr>
      <p:grpSpPr>
        <a:xfrm>
          <a:off x="0" y="0"/>
          <a:ext cx="0" cy="0"/>
          <a:chOff x="0" y="0"/>
          <a:chExt cx="0" cy="0"/>
        </a:xfrm>
      </p:grpSpPr>
      <p:sp>
        <p:nvSpPr>
          <p:cNvPr id="319" name="Google Shape;319;p18"/>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Fix: Transactions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4"/>
        <p:cNvGrpSpPr/>
        <p:nvPr/>
      </p:nvGrpSpPr>
      <p:grpSpPr>
        <a:xfrm>
          <a:off x="0" y="0"/>
          <a:ext cx="0" cy="0"/>
          <a:chOff x="0" y="0"/>
          <a:chExt cx="0" cy="0"/>
        </a:xfrm>
      </p:grpSpPr>
      <p:sp>
        <p:nvSpPr>
          <p:cNvPr id="325" name="Google Shape;325;g3e498caeefa_0_50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Transactions: atomicity from the database</a:t>
            </a:r>
            <a:endParaRPr/>
          </a:p>
        </p:txBody>
      </p:sp>
      <p:sp>
        <p:nvSpPr>
          <p:cNvPr id="326" name="Google Shape;326;g3e498caeefa_0_504"/>
          <p:cNvSpPr txBox="1"/>
          <p:nvPr/>
        </p:nvSpPr>
        <p:spPr>
          <a:xfrm>
            <a:off x="914400" y="146304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SQL has a built-in guarantee called a </a:t>
            </a:r>
            <a:r>
              <a:rPr lang="en-US" sz="2400" b="1" i="0" u="none" strike="noStrike" cap="none">
                <a:solidFill>
                  <a:srgbClr val="333344"/>
                </a:solidFill>
                <a:latin typeface="Calibri"/>
                <a:ea typeface="Calibri"/>
                <a:cs typeface="Calibri"/>
                <a:sym typeface="Calibri"/>
              </a:rPr>
              <a:t>transaction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Wrap a set of statements in `BEGIN ... COMMIT` and the database treats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as </a:t>
            </a:r>
            <a:r>
              <a:rPr lang="en-US" sz="2000" b="1" i="0" u="none" strike="noStrike" cap="none">
                <a:solidFill>
                  <a:srgbClr val="666677"/>
                </a:solidFill>
                <a:latin typeface="Calibri"/>
                <a:ea typeface="Calibri"/>
                <a:cs typeface="Calibri"/>
                <a:sym typeface="Calibri"/>
              </a:rPr>
              <a:t>one indivisible operation</a:t>
            </a:r>
            <a:r>
              <a:rPr lang="en-US" sz="2000" b="0" i="0" u="none" strike="noStrike" cap="none">
                <a:solidFill>
                  <a:srgbClr val="666677"/>
                </a:solidFill>
                <a:latin typeface="Calibri"/>
                <a:ea typeface="Calibri"/>
                <a:cs typeface="Calibri"/>
                <a:sym typeface="Calibri"/>
              </a:rPr>
              <a:t>: all happen, or none do.</a:t>
            </a:r>
            <a:endParaRPr/>
          </a:p>
          <a:p>
            <a:pPr marL="457200" marR="0" lvl="1" indent="0" algn="l" rtl="0">
              <a:spcBef>
                <a:spcPts val="600"/>
              </a:spcBef>
              <a:spcAft>
                <a:spcPts val="0"/>
              </a:spcAft>
              <a:buNone/>
            </a:pP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1"/>
        <p:cNvGrpSpPr/>
        <p:nvPr/>
      </p:nvGrpSpPr>
      <p:grpSpPr>
        <a:xfrm>
          <a:off x="0" y="0"/>
          <a:ext cx="0" cy="0"/>
          <a:chOff x="0" y="0"/>
          <a:chExt cx="0" cy="0"/>
        </a:xfrm>
      </p:grpSpPr>
      <p:sp>
        <p:nvSpPr>
          <p:cNvPr id="332" name="Google Shape;332;g3e498caeefa_0_519"/>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Transactions: atomicity from the database</a:t>
            </a:r>
            <a:endParaRPr/>
          </a:p>
        </p:txBody>
      </p:sp>
      <p:sp>
        <p:nvSpPr>
          <p:cNvPr id="333" name="Google Shape;333;g3e498caeefa_0_519"/>
          <p:cNvSpPr txBox="1"/>
          <p:nvPr/>
        </p:nvSpPr>
        <p:spPr>
          <a:xfrm>
            <a:off x="914400" y="1463040"/>
            <a:ext cx="10362900" cy="273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SQL has a built-in guarantee called a </a:t>
            </a:r>
            <a:r>
              <a:rPr lang="en-US" sz="2400" b="1" i="0" u="none" strike="noStrike" cap="none">
                <a:solidFill>
                  <a:srgbClr val="333344"/>
                </a:solidFill>
                <a:latin typeface="Calibri"/>
                <a:ea typeface="Calibri"/>
                <a:cs typeface="Calibri"/>
                <a:sym typeface="Calibri"/>
              </a:rPr>
              <a:t>transaction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Wrap a set of statements in `BEGIN ... COMMIT` and the database treats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as </a:t>
            </a:r>
            <a:r>
              <a:rPr lang="en-US" sz="2000" b="1" i="0" u="none" strike="noStrike" cap="none">
                <a:solidFill>
                  <a:srgbClr val="666677"/>
                </a:solidFill>
                <a:latin typeface="Calibri"/>
                <a:ea typeface="Calibri"/>
                <a:cs typeface="Calibri"/>
                <a:sym typeface="Calibri"/>
              </a:rPr>
              <a:t>one indivisible operation</a:t>
            </a:r>
            <a:r>
              <a:rPr lang="en-US" sz="2000" b="0" i="0" u="none" strike="noStrike" cap="none">
                <a:solidFill>
                  <a:srgbClr val="666677"/>
                </a:solidFill>
                <a:latin typeface="Calibri"/>
                <a:ea typeface="Calibri"/>
                <a:cs typeface="Calibri"/>
                <a:sym typeface="Calibri"/>
              </a:rPr>
              <a:t>: all happen, or none do.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a:t>
            </a:r>
            <a:r>
              <a:rPr lang="en-US" sz="2400" b="0" i="0" u="none" strike="noStrike" cap="none">
                <a:solidFill>
                  <a:srgbClr val="333344"/>
                </a:solidFill>
                <a:latin typeface="Calibri"/>
                <a:ea typeface="Calibri"/>
                <a:cs typeface="Calibri"/>
                <a:sym typeface="Calibri"/>
              </a:rPr>
              <a:t>he </a:t>
            </a:r>
            <a:r>
              <a:rPr lang="en-US" sz="2400">
                <a:solidFill>
                  <a:srgbClr val="333344"/>
                </a:solidFill>
                <a:latin typeface="Calibri"/>
                <a:ea typeface="Calibri"/>
                <a:cs typeface="Calibri"/>
                <a:sym typeface="Calibri"/>
              </a:rPr>
              <a:t>db</a:t>
            </a:r>
            <a:r>
              <a:rPr lang="en-US" sz="2400" b="0" i="0" u="none" strike="noStrike" cap="none">
                <a:solidFill>
                  <a:srgbClr val="333344"/>
                </a:solidFill>
                <a:latin typeface="Calibri"/>
                <a:ea typeface="Calibri"/>
                <a:cs typeface="Calibri"/>
                <a:sym typeface="Calibri"/>
              </a:rPr>
              <a:t> acquires a </a:t>
            </a:r>
            <a:r>
              <a:rPr lang="en-US" sz="2400" b="1" i="0" u="none" strike="noStrike" cap="none">
                <a:solidFill>
                  <a:srgbClr val="333344"/>
                </a:solidFill>
                <a:latin typeface="Calibri"/>
                <a:ea typeface="Calibri"/>
                <a:cs typeface="Calibri"/>
                <a:sym typeface="Calibri"/>
              </a:rPr>
              <a:t>lock</a:t>
            </a:r>
            <a:r>
              <a:rPr lang="en-US" sz="2400" b="0" i="0" u="none" strike="noStrike" cap="none">
                <a:solidFill>
                  <a:srgbClr val="333344"/>
                </a:solidFill>
                <a:latin typeface="Calibri"/>
                <a:ea typeface="Calibri"/>
                <a:cs typeface="Calibri"/>
                <a:sym typeface="Calibri"/>
              </a:rPr>
              <a:t> on the affected rows for the duration of the transaction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Other transactions </a:t>
            </a:r>
            <a:r>
              <a:rPr lang="en-US" sz="2000" b="0" i="0" u="none" strike="noStrike" cap="none">
                <a:solidFill>
                  <a:srgbClr val="666677"/>
                </a:solidFill>
                <a:latin typeface="Calibri"/>
                <a:ea typeface="Calibri"/>
                <a:cs typeface="Calibri"/>
                <a:sym typeface="Calibri"/>
              </a:rPr>
              <a:t>touching the same rows wait until the first one commits.</a:t>
            </a:r>
            <a:endParaRPr/>
          </a:p>
          <a:p>
            <a:pPr marL="457200" marR="0" lvl="1" indent="0" algn="l" rtl="0">
              <a:spcBef>
                <a:spcPts val="600"/>
              </a:spcBef>
              <a:spcAft>
                <a:spcPts val="0"/>
              </a:spcAft>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8"/>
        <p:cNvGrpSpPr/>
        <p:nvPr/>
      </p:nvGrpSpPr>
      <p:grpSpPr>
        <a:xfrm>
          <a:off x="0" y="0"/>
          <a:ext cx="0" cy="0"/>
          <a:chOff x="0" y="0"/>
          <a:chExt cx="0" cy="0"/>
        </a:xfrm>
      </p:grpSpPr>
      <p:sp>
        <p:nvSpPr>
          <p:cNvPr id="339" name="Google Shape;339;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Transactions: atomicity from the database</a:t>
            </a:r>
            <a:endParaRPr/>
          </a:p>
        </p:txBody>
      </p:sp>
      <p:sp>
        <p:nvSpPr>
          <p:cNvPr id="340" name="Google Shape;340;p19"/>
          <p:cNvSpPr txBox="1"/>
          <p:nvPr/>
        </p:nvSpPr>
        <p:spPr>
          <a:xfrm>
            <a:off x="914400" y="1463040"/>
            <a:ext cx="10362900" cy="5618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SQL has a built-in guarantee called a </a:t>
            </a:r>
            <a:r>
              <a:rPr lang="en-US" sz="2400" b="1" i="0" u="none" strike="noStrike" cap="none">
                <a:solidFill>
                  <a:srgbClr val="333344"/>
                </a:solidFill>
                <a:latin typeface="Calibri"/>
                <a:ea typeface="Calibri"/>
                <a:cs typeface="Calibri"/>
                <a:sym typeface="Calibri"/>
              </a:rPr>
              <a:t>transaction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Wrap a set of statements in `BEGIN ... COMMIT` and the database treats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as </a:t>
            </a:r>
            <a:r>
              <a:rPr lang="en-US" sz="2000" b="1" i="0" u="none" strike="noStrike" cap="none">
                <a:solidFill>
                  <a:srgbClr val="666677"/>
                </a:solidFill>
                <a:latin typeface="Calibri"/>
                <a:ea typeface="Calibri"/>
                <a:cs typeface="Calibri"/>
                <a:sym typeface="Calibri"/>
              </a:rPr>
              <a:t>one indivisible operation</a:t>
            </a:r>
            <a:r>
              <a:rPr lang="en-US" sz="2000" b="0" i="0" u="none" strike="noStrike" cap="none">
                <a:solidFill>
                  <a:srgbClr val="666677"/>
                </a:solidFill>
                <a:latin typeface="Calibri"/>
                <a:ea typeface="Calibri"/>
                <a:cs typeface="Calibri"/>
                <a:sym typeface="Calibri"/>
              </a:rPr>
              <a:t>: all happen, or none do.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a:t>
            </a:r>
            <a:r>
              <a:rPr lang="en-US" sz="2400" b="0" i="0" u="none" strike="noStrike" cap="none">
                <a:solidFill>
                  <a:srgbClr val="333344"/>
                </a:solidFill>
                <a:latin typeface="Calibri"/>
                <a:ea typeface="Calibri"/>
                <a:cs typeface="Calibri"/>
                <a:sym typeface="Calibri"/>
              </a:rPr>
              <a:t>he </a:t>
            </a:r>
            <a:r>
              <a:rPr lang="en-US" sz="2400">
                <a:solidFill>
                  <a:srgbClr val="333344"/>
                </a:solidFill>
                <a:latin typeface="Calibri"/>
                <a:ea typeface="Calibri"/>
                <a:cs typeface="Calibri"/>
                <a:sym typeface="Calibri"/>
              </a:rPr>
              <a:t>db</a:t>
            </a:r>
            <a:r>
              <a:rPr lang="en-US" sz="2400" b="0" i="0" u="none" strike="noStrike" cap="none">
                <a:solidFill>
                  <a:srgbClr val="333344"/>
                </a:solidFill>
                <a:latin typeface="Calibri"/>
                <a:ea typeface="Calibri"/>
                <a:cs typeface="Calibri"/>
                <a:sym typeface="Calibri"/>
              </a:rPr>
              <a:t> acquires a </a:t>
            </a:r>
            <a:r>
              <a:rPr lang="en-US" sz="2400" b="1" i="0" u="none" strike="noStrike" cap="none">
                <a:solidFill>
                  <a:srgbClr val="333344"/>
                </a:solidFill>
                <a:latin typeface="Calibri"/>
                <a:ea typeface="Calibri"/>
                <a:cs typeface="Calibri"/>
                <a:sym typeface="Calibri"/>
              </a:rPr>
              <a:t>lock</a:t>
            </a:r>
            <a:r>
              <a:rPr lang="en-US" sz="2400" b="0" i="0" u="none" strike="noStrike" cap="none">
                <a:solidFill>
                  <a:srgbClr val="333344"/>
                </a:solidFill>
                <a:latin typeface="Calibri"/>
                <a:ea typeface="Calibri"/>
                <a:cs typeface="Calibri"/>
                <a:sym typeface="Calibri"/>
              </a:rPr>
              <a:t> on the affected rows for the duration of the transaction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Other transactions </a:t>
            </a:r>
            <a:r>
              <a:rPr lang="en-US" sz="2000" b="0" i="0" u="none" strike="noStrike" cap="none">
                <a:solidFill>
                  <a:srgbClr val="666677"/>
                </a:solidFill>
                <a:latin typeface="Calibri"/>
                <a:ea typeface="Calibri"/>
                <a:cs typeface="Calibri"/>
                <a:sym typeface="Calibri"/>
              </a:rPr>
              <a:t>touching the same rows wait until the first one commits.</a:t>
            </a:r>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lvl="0" indent="0" algn="l" rtl="0">
              <a:spcBef>
                <a:spcPts val="600"/>
              </a:spcBef>
              <a:spcAft>
                <a:spcPts val="0"/>
              </a:spcAft>
              <a:buNone/>
            </a:pPr>
            <a:r>
              <a:rPr lang="en-US" sz="2400" b="1">
                <a:solidFill>
                  <a:srgbClr val="333344"/>
                </a:solidFill>
                <a:latin typeface="Calibri"/>
                <a:ea typeface="Calibri"/>
                <a:cs typeface="Calibri"/>
                <a:sym typeface="Calibri"/>
              </a:rPr>
              <a:t>Lock: </a:t>
            </a:r>
            <a:r>
              <a:rPr lang="en-US" sz="2400">
                <a:solidFill>
                  <a:srgbClr val="333344"/>
                </a:solidFill>
                <a:latin typeface="Calibri"/>
                <a:ea typeface="Calibri"/>
                <a:cs typeface="Calibri"/>
                <a:sym typeface="Calibri"/>
              </a:rPr>
              <a:t>a synchronization primitive that restricts access to a shared resource</a:t>
            </a:r>
            <a:endParaRPr sz="2400">
              <a:solidFill>
                <a:srgbClr val="333344"/>
              </a:solidFill>
              <a:latin typeface="Calibri"/>
              <a:ea typeface="Calibri"/>
              <a:cs typeface="Calibri"/>
              <a:sym typeface="Calibri"/>
            </a:endParaRPr>
          </a:p>
          <a:p>
            <a:pPr marL="457200" lvl="1" indent="0" algn="l" rtl="0">
              <a:spcBef>
                <a:spcPts val="600"/>
              </a:spcBef>
              <a:spcAft>
                <a:spcPts val="0"/>
              </a:spcAft>
              <a:buNone/>
            </a:pPr>
            <a:r>
              <a:rPr lang="en-US" sz="2000">
                <a:solidFill>
                  <a:srgbClr val="666677"/>
                </a:solidFill>
                <a:latin typeface="Calibri"/>
                <a:ea typeface="Calibri"/>
                <a:cs typeface="Calibri"/>
                <a:sym typeface="Calibri"/>
              </a:rPr>
              <a:t>  A thread attempting to execute code behind a lock must first </a:t>
            </a:r>
            <a:r>
              <a:rPr lang="en-US" sz="2000" b="1">
                <a:solidFill>
                  <a:srgbClr val="666677"/>
                </a:solidFill>
                <a:latin typeface="Calibri"/>
                <a:ea typeface="Calibri"/>
                <a:cs typeface="Calibri"/>
                <a:sym typeface="Calibri"/>
              </a:rPr>
              <a:t>acquire</a:t>
            </a:r>
            <a:r>
              <a:rPr lang="en-US" sz="2000">
                <a:solidFill>
                  <a:srgbClr val="666677"/>
                </a:solidFill>
                <a:latin typeface="Calibri"/>
                <a:ea typeface="Calibri"/>
                <a:cs typeface="Calibri"/>
                <a:sym typeface="Calibri"/>
              </a:rPr>
              <a:t> it.</a:t>
            </a:r>
            <a:endParaRPr sz="2000">
              <a:solidFill>
                <a:srgbClr val="666677"/>
              </a:solidFill>
              <a:latin typeface="Calibri"/>
              <a:ea typeface="Calibri"/>
              <a:cs typeface="Calibri"/>
              <a:sym typeface="Calibri"/>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If the lock is already acquired, the thread must wait until the lock is released.</a:t>
            </a: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Two `BEGIN ... UPDATE balance ... COMMIT` transactions on the sa</a:t>
            </a:r>
            <a:r>
              <a:rPr lang="en-US" sz="2400">
                <a:solidFill>
                  <a:srgbClr val="333344"/>
                </a:solidFill>
                <a:latin typeface="Calibri"/>
                <a:ea typeface="Calibri"/>
                <a:cs typeface="Calibri"/>
                <a:sym typeface="Calibri"/>
              </a:rPr>
              <a:t>me row:</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They </a:t>
            </a:r>
            <a:r>
              <a:rPr lang="en-US" sz="2000" b="0" i="0" u="none" strike="noStrike" cap="none">
                <a:solidFill>
                  <a:srgbClr val="666677"/>
                </a:solidFill>
                <a:latin typeface="Calibri"/>
                <a:ea typeface="Calibri"/>
                <a:cs typeface="Calibri"/>
                <a:sym typeface="Calibri"/>
              </a:rPr>
              <a:t>get </a:t>
            </a:r>
            <a:r>
              <a:rPr lang="en-US" sz="2000" b="1" i="0" u="none" strike="noStrike" cap="none">
                <a:solidFill>
                  <a:srgbClr val="666677"/>
                </a:solidFill>
                <a:latin typeface="Calibri"/>
                <a:ea typeface="Calibri"/>
                <a:cs typeface="Calibri"/>
                <a:sym typeface="Calibri"/>
              </a:rPr>
              <a:t>serialized</a:t>
            </a:r>
            <a:r>
              <a:rPr lang="en-US" sz="2000" b="0" i="0" u="none" strike="noStrike" cap="none">
                <a:solidFill>
                  <a:srgbClr val="666677"/>
                </a:solidFill>
                <a:latin typeface="Calibri"/>
                <a:ea typeface="Calibri"/>
                <a:cs typeface="Calibri"/>
                <a:sym typeface="Calibri"/>
              </a:rPr>
              <a:t>: one runs to completion, then the</a:t>
            </a:r>
            <a:r>
              <a:rPr lang="en-US"/>
              <a:t> </a:t>
            </a:r>
            <a:r>
              <a:rPr lang="en-US" sz="2000" b="0" i="0" u="none" strike="noStrike" cap="none">
                <a:solidFill>
                  <a:srgbClr val="666677"/>
                </a:solidFill>
                <a:latin typeface="Calibri"/>
                <a:ea typeface="Calibri"/>
                <a:cs typeface="Calibri"/>
                <a:sym typeface="Calibri"/>
              </a:rPr>
              <a:t>other runs</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5"/>
        <p:cNvGrpSpPr/>
        <p:nvPr/>
      </p:nvGrpSpPr>
      <p:grpSpPr>
        <a:xfrm>
          <a:off x="0" y="0"/>
          <a:ext cx="0" cy="0"/>
          <a:chOff x="0" y="0"/>
          <a:chExt cx="0" cy="0"/>
        </a:xfrm>
      </p:grpSpPr>
      <p:sp>
        <p:nvSpPr>
          <p:cNvPr id="346" name="Google Shape;346;g3e498caeefa_0_5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fix, using the helper you already know</a:t>
            </a:r>
            <a:endParaRPr/>
          </a:p>
        </p:txBody>
      </p:sp>
      <p:sp>
        <p:nvSpPr>
          <p:cNvPr id="347" name="Google Shape;347;g3e498caeefa_0_51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48" name="Google Shape;348;g3e498caeefa_0_5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9" name="Google Shape;349;g3e498caeefa_0_510"/>
          <p:cNvSpPr txBox="1"/>
          <p:nvPr/>
        </p:nvSpPr>
        <p:spPr>
          <a:xfrm>
            <a:off x="1005840" y="164592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from sqlalchemy import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import db</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withdraw(account_id: int, amount: float) -&gt;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db.engine.begin() opens a transaction and commits on exit.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If an exception fires, it rolls back instead.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db.engine.begin()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Read the current balance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row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text("SELECT balance FROM accounts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new_balance = row.balance - amount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Write the new balance (still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text("UPDATE accounts SET balance = :b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 new_balance,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4"/>
        <p:cNvGrpSpPr/>
        <p:nvPr/>
      </p:nvGrpSpPr>
      <p:grpSpPr>
        <a:xfrm>
          <a:off x="0" y="0"/>
          <a:ext cx="0" cy="0"/>
          <a:chOff x="0" y="0"/>
          <a:chExt cx="0" cy="0"/>
        </a:xfrm>
      </p:grpSpPr>
      <p:sp>
        <p:nvSpPr>
          <p:cNvPr id="355" name="Google Shape;355;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fix, using the helper you already know</a:t>
            </a:r>
            <a:endParaRPr/>
          </a:p>
        </p:txBody>
      </p:sp>
      <p:sp>
        <p:nvSpPr>
          <p:cNvPr id="356" name="Google Shape;356;p2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57" name="Google Shape;357;p2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8" name="Google Shape;358;p20"/>
          <p:cNvSpPr txBox="1"/>
          <p:nvPr/>
        </p:nvSpPr>
        <p:spPr>
          <a:xfrm>
            <a:off x="1005840" y="1645920"/>
            <a:ext cx="10179900" cy="4751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from sqlalchemy import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import db</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withdraw(account_id: int, amount: float) -&gt;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db.engine.begin() opens a transaction and commits on exit.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If an exception fires, it rolls back instead.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db.engine.begin()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Read the current balance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row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text("SELECT balance FROM accounts WHERE id = :id </a:t>
            </a:r>
            <a:r>
              <a:rPr lang="en-US" sz="2400" b="1" i="0" u="none" strike="noStrike" cap="none">
                <a:solidFill>
                  <a:srgbClr val="333344"/>
                </a:solidFill>
                <a:latin typeface="Courier New"/>
                <a:ea typeface="Courier New"/>
                <a:cs typeface="Courier New"/>
                <a:sym typeface="Courier New"/>
              </a:rPr>
              <a:t>FOR UPDATE</a:t>
            </a: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new_balance = row.balance - amount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Write the new balance (still inside the transaction)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text("UPDATE accounts SET balance = :b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 new_balance, "id": account_id},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3"/>
        <p:cNvGrpSpPr/>
        <p:nvPr/>
      </p:nvGrpSpPr>
      <p:grpSpPr>
        <a:xfrm>
          <a:off x="0" y="0"/>
          <a:ext cx="0" cy="0"/>
          <a:chOff x="0" y="0"/>
          <a:chExt cx="0" cy="0"/>
        </a:xfrm>
      </p:grpSpPr>
      <p:sp>
        <p:nvSpPr>
          <p:cNvPr id="364" name="Google Shape;364;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async/await, now in Python</a:t>
            </a:r>
            <a:endParaRPr/>
          </a:p>
        </p:txBody>
      </p:sp>
      <p:sp>
        <p:nvSpPr>
          <p:cNvPr id="365" name="Google Shape;365;p21"/>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already met async/await in JavaScript. </a:t>
            </a:r>
            <a:r>
              <a:rPr lang="en-US" sz="2400">
                <a:solidFill>
                  <a:srgbClr val="333344"/>
                </a:solidFill>
                <a:latin typeface="Calibri"/>
                <a:ea typeface="Calibri"/>
                <a:cs typeface="Calibri"/>
                <a:sym typeface="Calibri"/>
              </a:rPr>
              <a:t>Now in python</a:t>
            </a:r>
            <a:r>
              <a:rPr lang="en-US" sz="2000" b="0" i="0" u="none" strike="noStrike" cap="none">
                <a:solidFill>
                  <a:srgbClr val="666677"/>
                </a:solidFill>
                <a:latin typeface="Calibri"/>
                <a:ea typeface="Calibri"/>
                <a:cs typeface="Calibri"/>
                <a:sym typeface="Calibri"/>
              </a:rPr>
              <a: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async def</a:t>
            </a:r>
            <a:r>
              <a:rPr lang="en-US" sz="2000" b="0" i="0" u="none" strike="noStrike" cap="none">
                <a:solidFill>
                  <a:srgbClr val="666677"/>
                </a:solidFill>
                <a:latin typeface="Calibri"/>
                <a:ea typeface="Calibri"/>
                <a:cs typeface="Calibri"/>
                <a:sym typeface="Calibri"/>
              </a:rPr>
              <a:t> makes a function return a </a:t>
            </a:r>
            <a:r>
              <a:rPr lang="en-US" sz="2000" b="1" i="0" u="none" strike="noStrike" cap="none">
                <a:solidFill>
                  <a:srgbClr val="666677"/>
                </a:solidFill>
                <a:latin typeface="Calibri"/>
                <a:ea typeface="Calibri"/>
                <a:cs typeface="Calibri"/>
                <a:sym typeface="Calibri"/>
              </a:rPr>
              <a:t>coroutine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await</a:t>
            </a:r>
            <a:r>
              <a:rPr lang="en-US" sz="2000" b="0" i="0" u="none" strike="noStrike" cap="none">
                <a:solidFill>
                  <a:srgbClr val="666677"/>
                </a:solidFill>
                <a:latin typeface="Calibri"/>
                <a:ea typeface="Calibri"/>
                <a:cs typeface="Calibri"/>
                <a:sym typeface="Calibri"/>
              </a:rPr>
              <a:t> pauses the coroutine until something finishes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await</a:t>
            </a:r>
            <a:r>
              <a:rPr lang="en-US" sz="2000" b="0" i="0" u="none" strike="noStrike" cap="none">
                <a:solidFill>
                  <a:srgbClr val="666677"/>
                </a:solidFill>
                <a:latin typeface="Calibri"/>
                <a:ea typeface="Calibri"/>
                <a:cs typeface="Calibri"/>
                <a:sym typeface="Calibri"/>
              </a:rPr>
              <a:t> only works inside `async def`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 FastAPI you can write endpoints either way: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def list_messages():</a:t>
            </a:r>
            <a:r>
              <a:rPr lang="en-US" sz="2000" b="0" i="0" u="none" strike="noStrike" cap="none">
                <a:solidFill>
                  <a:srgbClr val="666677"/>
                </a:solidFill>
                <a:latin typeface="Calibri"/>
                <a:ea typeface="Calibri"/>
                <a:cs typeface="Calibri"/>
                <a:sym typeface="Calibri"/>
              </a:rPr>
              <a:t> - runs in FastAPI's thread pool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async def list_messages():</a:t>
            </a:r>
            <a:r>
              <a:rPr lang="en-US" sz="2000" b="0" i="0" u="none" strike="noStrike" cap="none">
                <a:solidFill>
                  <a:srgbClr val="666677"/>
                </a:solidFill>
                <a:latin typeface="Calibri"/>
                <a:ea typeface="Calibri"/>
                <a:cs typeface="Calibri"/>
                <a:sym typeface="Calibri"/>
              </a:rPr>
              <a:t> - runs on uvicorn's event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async version is faster under load for I/O-heavy endpoints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yields to the event loop while waiting on the database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instead of tying up a whole thread doing nothing.</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70">
          <a:extLst>
            <a:ext uri="{FF2B5EF4-FFF2-40B4-BE49-F238E27FC236}">
              <a16:creationId xmlns:a16="http://schemas.microsoft.com/office/drawing/2014/main" id="{F0A66BCC-04B9-D37C-8B65-E52A358CE630}"/>
            </a:ext>
          </a:extLst>
        </p:cNvPr>
        <p:cNvGrpSpPr/>
        <p:nvPr/>
      </p:nvGrpSpPr>
      <p:grpSpPr>
        <a:xfrm>
          <a:off x="0" y="0"/>
          <a:ext cx="0" cy="0"/>
          <a:chOff x="0" y="0"/>
          <a:chExt cx="0" cy="0"/>
        </a:xfrm>
      </p:grpSpPr>
      <p:sp>
        <p:nvSpPr>
          <p:cNvPr id="371" name="Google Shape;371;p22">
            <a:extLst>
              <a:ext uri="{FF2B5EF4-FFF2-40B4-BE49-F238E27FC236}">
                <a16:creationId xmlns:a16="http://schemas.microsoft.com/office/drawing/2014/main" id="{FF3AD28C-9E2B-52B5-978B-74C344514DAB}"/>
              </a:ext>
            </a:extLst>
          </p:cNvPr>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Sync vs async endpoint</a:t>
            </a:r>
            <a:endParaRPr/>
          </a:p>
        </p:txBody>
      </p:sp>
      <p:sp>
        <p:nvSpPr>
          <p:cNvPr id="372" name="Google Shape;372;p22">
            <a:extLst>
              <a:ext uri="{FF2B5EF4-FFF2-40B4-BE49-F238E27FC236}">
                <a16:creationId xmlns:a16="http://schemas.microsoft.com/office/drawing/2014/main" id="{D74B9207-62B2-51E3-2CED-2A57B09A2791}"/>
              </a:ext>
            </a:extLst>
          </p:cNvPr>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73" name="Google Shape;373;p22">
            <a:extLst>
              <a:ext uri="{FF2B5EF4-FFF2-40B4-BE49-F238E27FC236}">
                <a16:creationId xmlns:a16="http://schemas.microsoft.com/office/drawing/2014/main" id="{E7A58D12-70AF-692E-3512-F97FE18C0679}"/>
              </a:ext>
            </a:extLst>
          </p:cNvPr>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4" name="Google Shape;374;p22">
            <a:extLst>
              <a:ext uri="{FF2B5EF4-FFF2-40B4-BE49-F238E27FC236}">
                <a16:creationId xmlns:a16="http://schemas.microsoft.com/office/drawing/2014/main" id="{19A7321E-A44E-62E6-3827-8E74097CBC70}"/>
              </a:ext>
            </a:extLst>
          </p:cNvPr>
          <p:cNvSpPr txBox="1"/>
          <p:nvPr/>
        </p:nvSpPr>
        <p:spPr>
          <a:xfrm>
            <a:off x="1005840" y="1645920"/>
            <a:ext cx="10179900" cy="16055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dirty="0">
                <a:solidFill>
                  <a:srgbClr val="333344"/>
                </a:solidFill>
                <a:latin typeface="Courier New"/>
                <a:ea typeface="Courier New"/>
                <a:cs typeface="Courier New"/>
                <a:sym typeface="Courier New"/>
              </a:rPr>
              <a:t># Sync version - runs in </a:t>
            </a:r>
            <a:r>
              <a:rPr lang="en-US" sz="1500" b="1" i="0" u="none" strike="noStrike" cap="none" dirty="0" err="1">
                <a:solidFill>
                  <a:srgbClr val="333344"/>
                </a:solidFill>
                <a:latin typeface="Courier New"/>
                <a:ea typeface="Courier New"/>
                <a:cs typeface="Courier New"/>
                <a:sym typeface="Courier New"/>
              </a:rPr>
              <a:t>FastAPI's</a:t>
            </a:r>
            <a:r>
              <a:rPr lang="en-US" sz="1500" b="1" i="0" u="none" strike="noStrike" cap="none" dirty="0">
                <a:solidFill>
                  <a:srgbClr val="333344"/>
                </a:solidFill>
                <a:latin typeface="Courier New"/>
                <a:ea typeface="Courier New"/>
                <a:cs typeface="Courier New"/>
                <a:sym typeface="Courier New"/>
              </a:rPr>
              <a:t> thread pool</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a:t>
            </a:r>
            <a:r>
              <a:rPr lang="en-US" sz="1500" b="1" i="0" u="none" strike="noStrike" cap="none" dirty="0" err="1">
                <a:solidFill>
                  <a:srgbClr val="333344"/>
                </a:solidFill>
                <a:latin typeface="Courier New"/>
                <a:ea typeface="Courier New"/>
                <a:cs typeface="Courier New"/>
                <a:sym typeface="Courier New"/>
              </a:rPr>
              <a:t>app.get</a:t>
            </a:r>
            <a:r>
              <a:rPr lang="en-US" sz="1500" b="1" i="0" u="none" strike="noStrike" cap="none" dirty="0">
                <a:solidFill>
                  <a:srgbClr val="333344"/>
                </a:solidFill>
                <a:latin typeface="Courier New"/>
                <a:ea typeface="Courier New"/>
                <a:cs typeface="Courier New"/>
                <a:sym typeface="Courier New"/>
              </a:rPr>
              <a:t>("/messages")</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def </a:t>
            </a:r>
            <a:r>
              <a:rPr lang="en-US" sz="1500" b="1" i="0" u="none" strike="noStrike" cap="none" dirty="0" err="1">
                <a:solidFill>
                  <a:srgbClr val="333344"/>
                </a:solidFill>
                <a:latin typeface="Courier New"/>
                <a:ea typeface="Courier New"/>
                <a:cs typeface="Courier New"/>
                <a:sym typeface="Courier New"/>
              </a:rPr>
              <a:t>list_messages</a:t>
            </a:r>
            <a:r>
              <a:rPr lang="en-US" sz="1500" b="1" i="0" u="none" strike="noStrike" cap="none" dirty="0">
                <a:solidFill>
                  <a:srgbClr val="333344"/>
                </a:solidFill>
                <a:latin typeface="Courier New"/>
                <a:ea typeface="Courier New"/>
                <a:cs typeface="Courier New"/>
                <a:sym typeface="Courier New"/>
              </a:rPr>
              <a:t>():</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with </a:t>
            </a:r>
            <a:r>
              <a:rPr lang="en-US" sz="1500" b="1" i="0" u="none" strike="noStrike" cap="none" dirty="0" err="1">
                <a:solidFill>
                  <a:srgbClr val="333344"/>
                </a:solidFill>
                <a:latin typeface="Courier New"/>
                <a:ea typeface="Courier New"/>
                <a:cs typeface="Courier New"/>
                <a:sym typeface="Courier New"/>
              </a:rPr>
              <a:t>db.engine.connect</a:t>
            </a:r>
            <a:r>
              <a:rPr lang="en-US" sz="1500" b="1" i="0" u="none" strike="noStrike" cap="none" dirty="0">
                <a:solidFill>
                  <a:srgbClr val="333344"/>
                </a:solidFill>
                <a:latin typeface="Courier New"/>
                <a:ea typeface="Courier New"/>
                <a:cs typeface="Courier New"/>
                <a:sym typeface="Courier New"/>
              </a:rPr>
              <a:t>() as conn:</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rows = </a:t>
            </a:r>
            <a:r>
              <a:rPr lang="en-US" sz="1500" b="1" i="0" u="none" strike="noStrike" cap="none" dirty="0" err="1">
                <a:solidFill>
                  <a:srgbClr val="333344"/>
                </a:solidFill>
                <a:latin typeface="Courier New"/>
                <a:ea typeface="Courier New"/>
                <a:cs typeface="Courier New"/>
                <a:sym typeface="Courier New"/>
              </a:rPr>
              <a:t>conn.execute</a:t>
            </a:r>
            <a:r>
              <a:rPr lang="en-US" sz="1500" b="1" i="0" u="none" strike="noStrike" cap="none" dirty="0">
                <a:solidFill>
                  <a:srgbClr val="333344"/>
                </a:solidFill>
                <a:latin typeface="Courier New"/>
                <a:ea typeface="Courier New"/>
                <a:cs typeface="Courier New"/>
                <a:sym typeface="Courier New"/>
              </a:rPr>
              <a:t>(text("SELECT * FROM messages")).mappings().all()</a:t>
            </a:r>
            <a:endParaRPr sz="1600" dirty="0"/>
          </a:p>
          <a:p>
            <a:pPr marL="0" marR="0" lvl="0" indent="0" algn="l" rtl="0">
              <a:spcBef>
                <a:spcPts val="200"/>
              </a:spcBef>
              <a:spcAft>
                <a:spcPts val="0"/>
              </a:spcAft>
              <a:buNone/>
            </a:pPr>
            <a:r>
              <a:rPr lang="en-US" sz="1500" b="1" i="0" u="none" strike="noStrike" cap="none" dirty="0">
                <a:solidFill>
                  <a:srgbClr val="333344"/>
                </a:solidFill>
                <a:latin typeface="Courier New"/>
                <a:ea typeface="Courier New"/>
                <a:cs typeface="Courier New"/>
                <a:sym typeface="Courier New"/>
              </a:rPr>
              <a:t>    return list(rows)</a:t>
            </a:r>
            <a:endParaRPr sz="1600" dirty="0"/>
          </a:p>
        </p:txBody>
      </p:sp>
    </p:spTree>
    <p:extLst>
      <p:ext uri="{BB962C8B-B14F-4D97-AF65-F5344CB8AC3E}">
        <p14:creationId xmlns:p14="http://schemas.microsoft.com/office/powerpoint/2010/main" val="5661899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0"/>
        <p:cNvGrpSpPr/>
        <p:nvPr/>
      </p:nvGrpSpPr>
      <p:grpSpPr>
        <a:xfrm>
          <a:off x="0" y="0"/>
          <a:ext cx="0" cy="0"/>
          <a:chOff x="0" y="0"/>
          <a:chExt cx="0" cy="0"/>
        </a:xfrm>
      </p:grpSpPr>
      <p:sp>
        <p:nvSpPr>
          <p:cNvPr id="371" name="Google Shape;371;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Sync vs async endpoint</a:t>
            </a:r>
            <a:endParaRPr/>
          </a:p>
        </p:txBody>
      </p:sp>
      <p:sp>
        <p:nvSpPr>
          <p:cNvPr id="372" name="Google Shape;372;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73" name="Google Shape;373;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4" name="Google Shape;374;p22"/>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Sync version - runs in FastAPI's thread pool</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list_messages():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 db.engine.connect() as conn:</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rows = conn.execute(text("SELECT * FROM messages")).mappings().all()</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list(rows)</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Async version - runs on uvicorn's event loop</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async def list_messages():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async with db.engine.connect() as conn:</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result = await conn.execute(text("SELECT * FROM messages"))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rows = result.mappings().all()</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list(rows)</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For the final project</a:t>
            </a:r>
            <a:r>
              <a:rPr lang="en-US" sz="1500" b="1">
                <a:solidFill>
                  <a:srgbClr val="333344"/>
                </a:solidFill>
                <a:latin typeface="Courier New"/>
                <a:ea typeface="Courier New"/>
                <a:cs typeface="Courier New"/>
                <a:sym typeface="Courier New"/>
              </a:rPr>
              <a:t> I suggest</a:t>
            </a:r>
            <a:r>
              <a:rPr lang="en-US" sz="1500" b="1" i="0" u="none" strike="noStrike" cap="none">
                <a:solidFill>
                  <a:srgbClr val="333344"/>
                </a:solidFill>
                <a:latin typeface="Courier New"/>
                <a:ea typeface="Courier New"/>
                <a:cs typeface="Courier New"/>
                <a:sym typeface="Courier New"/>
              </a:rPr>
              <a:t> sync unless you hit a real perf problem.</a:t>
            </a:r>
            <a:endParaRPr sz="16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9"/>
        <p:cNvGrpSpPr/>
        <p:nvPr/>
      </p:nvGrpSpPr>
      <p:grpSpPr>
        <a:xfrm>
          <a:off x="0" y="0"/>
          <a:ext cx="0" cy="0"/>
          <a:chOff x="0" y="0"/>
          <a:chExt cx="0" cy="0"/>
        </a:xfrm>
      </p:grpSpPr>
      <p:sp>
        <p:nvSpPr>
          <p:cNvPr id="380" name="Google Shape;380;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to reach for async def</a:t>
            </a:r>
            <a:endParaRPr/>
          </a:p>
        </p:txBody>
      </p:sp>
      <p:sp>
        <p:nvSpPr>
          <p:cNvPr id="381" name="Google Shape;381;p23"/>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Use </a:t>
            </a:r>
            <a:r>
              <a:rPr lang="en-US" sz="2400" b="1" i="0" u="none" strike="noStrike" cap="none">
                <a:solidFill>
                  <a:srgbClr val="333344"/>
                </a:solidFill>
                <a:latin typeface="Courier Prime"/>
                <a:ea typeface="Courier Prime"/>
                <a:cs typeface="Courier Prime"/>
                <a:sym typeface="Courier Prime"/>
              </a:rPr>
              <a:t>async def</a:t>
            </a:r>
            <a:r>
              <a:rPr lang="en-US" sz="2400" b="0" i="0" u="none" strike="noStrike" cap="none">
                <a:solidFill>
                  <a:srgbClr val="333344"/>
                </a:solidFill>
                <a:latin typeface="Calibri"/>
                <a:ea typeface="Calibri"/>
                <a:cs typeface="Calibri"/>
                <a:sym typeface="Calibri"/>
              </a:rPr>
              <a:t> when </a:t>
            </a:r>
            <a:r>
              <a:rPr lang="en-US" sz="2400" b="1" i="0" u="none" strike="noStrike" cap="none">
                <a:solidFill>
                  <a:srgbClr val="333344"/>
                </a:solidFill>
                <a:latin typeface="Calibri"/>
                <a:ea typeface="Calibri"/>
                <a:cs typeface="Calibri"/>
                <a:sym typeface="Calibri"/>
              </a:rPr>
              <a:t>all</a:t>
            </a:r>
            <a:r>
              <a:rPr lang="en-US" sz="2400" b="0" i="0" u="none" strike="noStrike" cap="none">
                <a:solidFill>
                  <a:srgbClr val="333344"/>
                </a:solidFill>
                <a:latin typeface="Calibri"/>
                <a:ea typeface="Calibri"/>
                <a:cs typeface="Calibri"/>
                <a:sym typeface="Calibri"/>
              </a:rPr>
              <a:t> of these are true: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endpoint does I/O (database, external API, file read)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expect high concurrency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You're using an async-native library for that I/O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If you </a:t>
            </a:r>
            <a:r>
              <a:rPr lang="en-US" sz="2400" b="1" i="0" u="none" strike="noStrike" cap="none">
                <a:solidFill>
                  <a:srgbClr val="333344"/>
                </a:solidFill>
                <a:latin typeface="Courier Prime"/>
                <a:ea typeface="Courier Prime"/>
                <a:cs typeface="Courier Prime"/>
                <a:sym typeface="Courier Prime"/>
              </a:rPr>
              <a:t>await</a:t>
            </a:r>
            <a:r>
              <a:rPr lang="en-US" sz="2400" b="0" i="0" u="none" strike="noStrike" cap="none">
                <a:solidFill>
                  <a:srgbClr val="333344"/>
                </a:solidFill>
                <a:latin typeface="Calibri"/>
                <a:ea typeface="Calibri"/>
                <a:cs typeface="Calibri"/>
                <a:sym typeface="Calibri"/>
              </a:rPr>
              <a:t> a synchronous call, </a:t>
            </a:r>
            <a:r>
              <a:rPr lang="en-US" sz="2400" b="1" i="0" u="none" strike="noStrike" cap="none">
                <a:solidFill>
                  <a:srgbClr val="333344"/>
                </a:solidFill>
                <a:latin typeface="Calibri"/>
                <a:ea typeface="Calibri"/>
                <a:cs typeface="Calibri"/>
                <a:sym typeface="Calibri"/>
              </a:rPr>
              <a:t>you gain nothing</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thread still blocks. You need an</a:t>
            </a:r>
            <a:r>
              <a:rPr lang="en-US"/>
              <a:t> </a:t>
            </a:r>
            <a:r>
              <a:rPr lang="en-US" sz="2000" b="1" i="0" u="none" strike="noStrike" cap="none">
                <a:solidFill>
                  <a:srgbClr val="666677"/>
                </a:solidFill>
                <a:latin typeface="Calibri"/>
                <a:ea typeface="Calibri"/>
                <a:cs typeface="Calibri"/>
                <a:sym typeface="Calibri"/>
              </a:rPr>
              <a:t>async-aware</a:t>
            </a:r>
            <a:r>
              <a:rPr lang="en-US" sz="2000" b="0" i="0" u="none" strike="noStrike" cap="none">
                <a:solidFill>
                  <a:srgbClr val="666677"/>
                </a:solidFill>
                <a:latin typeface="Calibri"/>
                <a:ea typeface="Calibri"/>
                <a:cs typeface="Calibri"/>
                <a:sym typeface="Calibri"/>
              </a:rPr>
              <a:t> driver, HTTP client,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6"/>
        <p:cNvGrpSpPr/>
        <p:nvPr/>
      </p:nvGrpSpPr>
      <p:grpSpPr>
        <a:xfrm>
          <a:off x="0" y="0"/>
          <a:ext cx="0" cy="0"/>
          <a:chOff x="0" y="0"/>
          <a:chExt cx="0" cy="0"/>
        </a:xfrm>
      </p:grpSpPr>
      <p:sp>
        <p:nvSpPr>
          <p:cNvPr id="387" name="Google Shape;387;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GIL, in one slide</a:t>
            </a:r>
            <a:endParaRPr/>
          </a:p>
        </p:txBody>
      </p:sp>
      <p:sp>
        <p:nvSpPr>
          <p:cNvPr id="388" name="Google Shape;388;p24"/>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You'll hear about the </a:t>
            </a:r>
            <a:r>
              <a:rPr lang="en-US" sz="2400" b="1" i="0" u="none" strike="noStrike" cap="none">
                <a:solidFill>
                  <a:srgbClr val="333344"/>
                </a:solidFill>
                <a:latin typeface="Calibri"/>
                <a:ea typeface="Calibri"/>
                <a:cs typeface="Calibri"/>
                <a:sym typeface="Calibri"/>
              </a:rPr>
              <a:t>Global Interpreter Lock</a:t>
            </a:r>
            <a:r>
              <a:rPr lang="en-US" sz="2400" b="0" i="0" u="none" strike="noStrike" cap="none">
                <a:solidFill>
                  <a:srgbClr val="333344"/>
                </a:solidFill>
                <a:latin typeface="Calibri"/>
                <a:ea typeface="Calibri"/>
                <a:cs typeface="Calibri"/>
                <a:sym typeface="Calibri"/>
              </a:rPr>
              <a:t> (GIL).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Here it is so you can recognize the term and otherwise move 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CPython has a lock that stops two threads from executing Python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bytecode at the same time. </a:t>
            </a:r>
            <a:r>
              <a:rPr lang="en-US" sz="2000">
                <a:solidFill>
                  <a:srgbClr val="666677"/>
                </a:solidFill>
                <a:latin typeface="Calibri"/>
                <a:ea typeface="Calibri"/>
                <a:cs typeface="Calibri"/>
                <a:sym typeface="Calibri"/>
              </a:rPr>
              <a:t>O</a:t>
            </a:r>
            <a:r>
              <a:rPr lang="en-US" sz="2000" b="0" i="0" u="none" strike="noStrike" cap="none">
                <a:solidFill>
                  <a:srgbClr val="666677"/>
                </a:solidFill>
                <a:latin typeface="Calibri"/>
                <a:ea typeface="Calibri"/>
                <a:cs typeface="Calibri"/>
                <a:sym typeface="Calibri"/>
              </a:rPr>
              <a:t>nly one thread at any </a:t>
            </a:r>
            <a:r>
              <a:rPr lang="en-US" sz="2000">
                <a:solidFill>
                  <a:srgbClr val="666677"/>
                </a:solidFill>
                <a:latin typeface="Calibri"/>
                <a:ea typeface="Calibri"/>
                <a:cs typeface="Calibri"/>
                <a:sym typeface="Calibri"/>
              </a:rPr>
              <a:t>instant</a:t>
            </a:r>
            <a:r>
              <a:rPr lang="en-US" sz="2000" b="0" i="0" u="none" strike="noStrike" cap="none">
                <a:solidFill>
                  <a:srgbClr val="666677"/>
                </a:solidFill>
                <a:latin typeface="Calibri"/>
                <a:ea typeface="Calibri"/>
                <a:cs typeface="Calibri"/>
                <a:sym typeface="Calibri"/>
              </a:rPr>
              <a:t> is</a:t>
            </a:r>
            <a:r>
              <a:rPr lang="en-US"/>
              <a:t> </a:t>
            </a:r>
            <a:r>
              <a:rPr lang="en-US" sz="2000" b="0" i="0" u="none" strike="noStrike" cap="none">
                <a:solidFill>
                  <a:srgbClr val="666677"/>
                </a:solidFill>
                <a:latin typeface="Calibri"/>
                <a:ea typeface="Calibri"/>
                <a:cs typeface="Calibri"/>
                <a:sym typeface="Calibri"/>
              </a:rPr>
              <a:t>actually running Python code.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CPU-bound</a:t>
            </a:r>
            <a:r>
              <a:rPr lang="en-US" sz="2000" b="0" i="0" u="none" strike="noStrike" cap="none">
                <a:solidFill>
                  <a:srgbClr val="666677"/>
                </a:solidFill>
                <a:latin typeface="Calibri"/>
                <a:ea typeface="Calibri"/>
                <a:cs typeface="Calibri"/>
                <a:sym typeface="Calibri"/>
              </a:rPr>
              <a:t> Python (math loops, image processing) does NOT get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faster with threads. Use </a:t>
            </a:r>
            <a:r>
              <a:rPr lang="en-US" sz="2000" b="1" i="0" u="none" strike="noStrike" cap="none">
                <a:solidFill>
                  <a:srgbClr val="666677"/>
                </a:solidFill>
                <a:latin typeface="Courier Prime"/>
                <a:ea typeface="Courier Prime"/>
                <a:cs typeface="Courier Prime"/>
                <a:sym typeface="Courier Prime"/>
              </a:rPr>
              <a:t>multiprocessing</a:t>
            </a:r>
            <a:r>
              <a:rPr lang="en-US" sz="2000" b="0" i="0" u="none" strike="noStrike" cap="none">
                <a:solidFill>
                  <a:srgbClr val="666677"/>
                </a:solidFill>
                <a:latin typeface="Calibri"/>
                <a:ea typeface="Calibri"/>
                <a:cs typeface="Calibri"/>
                <a:sym typeface="Calibri"/>
              </a:rPr>
              <a:t> instead.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I/O-bound</a:t>
            </a:r>
            <a:r>
              <a:rPr lang="en-US" sz="2000" b="0" i="0" u="none" strike="noStrike" cap="none">
                <a:solidFill>
                  <a:srgbClr val="666677"/>
                </a:solidFill>
                <a:latin typeface="Calibri"/>
                <a:ea typeface="Calibri"/>
                <a:cs typeface="Calibri"/>
                <a:sym typeface="Calibri"/>
              </a:rPr>
              <a:t> Python (database, HTTP, file reads) DOES get faster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threads, because the GIL releases during the I/O wait.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Web apps are almost entirely I/O-bound, so for </a:t>
            </a:r>
            <a:r>
              <a:rPr lang="en-US" sz="2400">
                <a:solidFill>
                  <a:srgbClr val="333344"/>
                </a:solidFill>
                <a:latin typeface="Calibri"/>
                <a:ea typeface="Calibri"/>
                <a:cs typeface="Calibri"/>
                <a:sym typeface="Calibri"/>
              </a:rPr>
              <a:t>our purposes</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a:t>
            </a:r>
            <a:r>
              <a:rPr lang="en-US" sz="2000">
                <a:solidFill>
                  <a:srgbClr val="666677"/>
                </a:solidFill>
                <a:latin typeface="Calibri"/>
                <a:ea typeface="Calibri"/>
                <a:cs typeface="Calibri"/>
                <a:sym typeface="Calibri"/>
              </a:rPr>
              <a:t>’m showing you </a:t>
            </a:r>
            <a:r>
              <a:rPr lang="en-US" sz="2000" b="0" i="0" u="none" strike="noStrike" cap="none">
                <a:solidFill>
                  <a:srgbClr val="666677"/>
                </a:solidFill>
                <a:latin typeface="Calibri"/>
                <a:ea typeface="Calibri"/>
                <a:cs typeface="Calibri"/>
                <a:sym typeface="Calibri"/>
              </a:rPr>
              <a:t>the term, and otherwise don't spend time on it.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93"/>
        <p:cNvGrpSpPr/>
        <p:nvPr/>
      </p:nvGrpSpPr>
      <p:grpSpPr>
        <a:xfrm>
          <a:off x="0" y="0"/>
          <a:ext cx="0" cy="0"/>
          <a:chOff x="0" y="0"/>
          <a:chExt cx="0" cy="0"/>
        </a:xfrm>
      </p:grpSpPr>
      <p:sp>
        <p:nvSpPr>
          <p:cNvPr id="394" name="Google Shape;394;p25"/>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Stepping Back: This Is Just Locking</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9"/>
        <p:cNvGrpSpPr/>
        <p:nvPr/>
      </p:nvGrpSpPr>
      <p:grpSpPr>
        <a:xfrm>
          <a:off x="0" y="0"/>
          <a:ext cx="0" cy="0"/>
          <a:chOff x="0" y="0"/>
          <a:chExt cx="0" cy="0"/>
        </a:xfrm>
      </p:grpSpPr>
      <p:sp>
        <p:nvSpPr>
          <p:cNvPr id="400" name="Google Shape;400;g3e498caeefa_0_16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01" name="Google Shape;401;g3e498caeefa_0_16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02" name="Google Shape;402;g3e498caeefa_0_16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3" name="Google Shape;403;g3e498caeefa_0_169"/>
          <p:cNvSpPr txBox="1"/>
          <p:nvPr/>
        </p:nvSpPr>
        <p:spPr>
          <a:xfrm>
            <a:off x="1005840" y="1645920"/>
            <a:ext cx="10179900" cy="242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The exact same read-modify-write shape as the bank withdrawal,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this time in a language with built-in threading syntax</a:t>
            </a: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class Counter {</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int count = 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void increment() { count++; }   // read, add 1, write back</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8"/>
        <p:cNvGrpSpPr/>
        <p:nvPr/>
      </p:nvGrpSpPr>
      <p:grpSpPr>
        <a:xfrm>
          <a:off x="0" y="0"/>
          <a:ext cx="0" cy="0"/>
          <a:chOff x="0" y="0"/>
          <a:chExt cx="0" cy="0"/>
        </a:xfrm>
      </p:grpSpPr>
      <p:sp>
        <p:nvSpPr>
          <p:cNvPr id="409" name="Google Shape;409;g3e498caeefa_0_35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10" name="Google Shape;410;g3e498caeefa_0_351"/>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11" name="Google Shape;411;g3e498caeefa_0_35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2" name="Google Shape;412;g3e498caeefa_0_351"/>
          <p:cNvSpPr txBox="1"/>
          <p:nvPr/>
        </p:nvSpPr>
        <p:spPr>
          <a:xfrm>
            <a:off x="1005850" y="1645924"/>
            <a:ext cx="10179900" cy="14007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7"/>
        <p:cNvGrpSpPr/>
        <p:nvPr/>
      </p:nvGrpSpPr>
      <p:grpSpPr>
        <a:xfrm>
          <a:off x="0" y="0"/>
          <a:ext cx="0" cy="0"/>
          <a:chOff x="0" y="0"/>
          <a:chExt cx="0" cy="0"/>
        </a:xfrm>
      </p:grpSpPr>
      <p:sp>
        <p:nvSpPr>
          <p:cNvPr id="418" name="Google Shape;418;g3e498caeefa_0_36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19" name="Google Shape;419;g3e498caeefa_0_36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20" name="Google Shape;420;g3e498caeefa_0_367"/>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1" name="Google Shape;421;g3e498caeefa_0_367"/>
          <p:cNvSpPr txBox="1"/>
          <p:nvPr/>
        </p:nvSpPr>
        <p:spPr>
          <a:xfrm>
            <a:off x="1005850" y="1645924"/>
            <a:ext cx="10179900" cy="17343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6"/>
        <p:cNvGrpSpPr/>
        <p:nvPr/>
      </p:nvGrpSpPr>
      <p:grpSpPr>
        <a:xfrm>
          <a:off x="0" y="0"/>
          <a:ext cx="0" cy="0"/>
          <a:chOff x="0" y="0"/>
          <a:chExt cx="0" cy="0"/>
        </a:xfrm>
      </p:grpSpPr>
      <p:sp>
        <p:nvSpPr>
          <p:cNvPr id="427" name="Google Shape;427;g3e498caeefa_0_35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28" name="Google Shape;428;g3e498caeefa_0_35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29" name="Google Shape;429;g3e498caeefa_0_35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0" name="Google Shape;430;g3e498caeefa_0_359"/>
          <p:cNvSpPr txBox="1"/>
          <p:nvPr/>
        </p:nvSpPr>
        <p:spPr>
          <a:xfrm>
            <a:off x="1005850" y="1645924"/>
            <a:ext cx="10179900" cy="24165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t1.start(); t2.start();      // run both threads concurrently</a:t>
            </a:r>
            <a:endParaRPr sz="2100"/>
          </a:p>
          <a:p>
            <a:pPr marL="0" marR="0" lvl="0" indent="0" algn="l" rtl="0">
              <a:spcBef>
                <a:spcPts val="200"/>
              </a:spcBef>
              <a:spcAft>
                <a:spcPts val="0"/>
              </a:spcAft>
              <a:buNone/>
            </a:pPr>
            <a:endParaRPr sz="21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5"/>
        <p:cNvGrpSpPr/>
        <p:nvPr/>
      </p:nvGrpSpPr>
      <p:grpSpPr>
        <a:xfrm>
          <a:off x="0" y="0"/>
          <a:ext cx="0" cy="0"/>
          <a:chOff x="0" y="0"/>
          <a:chExt cx="0" cy="0"/>
        </a:xfrm>
      </p:grpSpPr>
      <p:sp>
        <p:nvSpPr>
          <p:cNvPr id="436" name="Google Shape;436;g3e498caeefa_0_34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37" name="Google Shape;437;g3e498caeefa_0_34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38" name="Google Shape;438;g3e498caeefa_0_34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9" name="Google Shape;439;g3e498caeefa_0_343"/>
          <p:cNvSpPr txBox="1"/>
          <p:nvPr/>
        </p:nvSpPr>
        <p:spPr>
          <a:xfrm>
            <a:off x="1005850" y="1645924"/>
            <a:ext cx="10179900" cy="27501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t1.start(); t2.start();      // run both threads concurrently</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t1.join();  t2.join();       // wait for both to finish</a:t>
            </a:r>
            <a:endParaRPr sz="2100"/>
          </a:p>
          <a:p>
            <a:pPr marL="0" marR="0" lvl="0" indent="0" algn="l" rtl="0">
              <a:spcBef>
                <a:spcPts val="200"/>
              </a:spcBef>
              <a:spcAft>
                <a:spcPts val="0"/>
              </a:spcAft>
              <a:buNone/>
            </a:pPr>
            <a:endParaRPr sz="21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4"/>
        <p:cNvGrpSpPr/>
        <p:nvPr/>
      </p:nvGrpSpPr>
      <p:grpSpPr>
        <a:xfrm>
          <a:off x="0" y="0"/>
          <a:ext cx="0" cy="0"/>
          <a:chOff x="0" y="0"/>
          <a:chExt cx="0" cy="0"/>
        </a:xfrm>
      </p:grpSpPr>
      <p:sp>
        <p:nvSpPr>
          <p:cNvPr id="445" name="Google Shape;445;g3e498caeefa_0_26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46" name="Google Shape;446;g3e498caeefa_0_26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47" name="Google Shape;447;g3e498caeefa_0_26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48" name="Google Shape;448;g3e498caeefa_0_260"/>
          <p:cNvSpPr txBox="1"/>
          <p:nvPr/>
        </p:nvSpPr>
        <p:spPr>
          <a:xfrm>
            <a:off x="1005850" y="1645924"/>
            <a:ext cx="10179900" cy="30681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Counter counter = new Counter();</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Runnable bump1000 = () -&gt; {</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(int i = 0; i &lt; 1000; i++) counter.increment();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Thread t1 = new Thread(bump1000), t2 = new Thread(bump1000);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t1.start(); t2.start();      // run both threads concurrently</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t1.join();  t2.join();       // wait for both to finish</a:t>
            </a:r>
            <a:endParaRPr sz="2100"/>
          </a:p>
          <a:p>
            <a:pPr marL="0" marR="0" lvl="0" indent="0" algn="l" rtl="0">
              <a:spcBef>
                <a:spcPts val="200"/>
              </a:spcBef>
              <a:spcAft>
                <a:spcPts val="0"/>
              </a:spcAft>
              <a:buNone/>
            </a:pPr>
            <a:endParaRPr sz="20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counter.count is now...</a:t>
            </a:r>
            <a:endParaRPr sz="21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3"/>
        <p:cNvGrpSpPr/>
        <p:nvPr/>
      </p:nvGrpSpPr>
      <p:grpSpPr>
        <a:xfrm>
          <a:off x="0" y="0"/>
          <a:ext cx="0" cy="0"/>
          <a:chOff x="0" y="0"/>
          <a:chExt cx="0" cy="0"/>
        </a:xfrm>
      </p:grpSpPr>
      <p:sp>
        <p:nvSpPr>
          <p:cNvPr id="454" name="Google Shape;454;g3e498caeefa_0_17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Java's fix: a `synchronized` block</a:t>
            </a:r>
            <a:endParaRPr/>
          </a:p>
        </p:txBody>
      </p:sp>
      <p:sp>
        <p:nvSpPr>
          <p:cNvPr id="455" name="Google Shape;455;g3e498caeefa_0_17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56" name="Google Shape;456;g3e498caeefa_0_177"/>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57" name="Google Shape;457;g3e498caeefa_0_177"/>
          <p:cNvSpPr txBox="1"/>
          <p:nvPr/>
        </p:nvSpPr>
        <p:spPr>
          <a:xfrm>
            <a:off x="1005840" y="1645920"/>
            <a:ext cx="10179900" cy="37761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Java's fix is a LOCK</a:t>
            </a:r>
            <a:r>
              <a:rPr lang="en-US" sz="1700" b="1">
                <a:solidFill>
                  <a:srgbClr val="333344"/>
                </a:solidFill>
                <a:latin typeface="Courier New"/>
                <a:ea typeface="Courier New"/>
                <a:cs typeface="Courier New"/>
                <a:sym typeface="Courier New"/>
              </a:rPr>
              <a:t>. Every object has one, accessed</a:t>
            </a:r>
            <a:r>
              <a:rPr lang="en-US" sz="1700" b="1" i="0" u="none" strike="noStrike" cap="none">
                <a:solidFill>
                  <a:srgbClr val="333344"/>
                </a:solidFill>
                <a:latin typeface="Courier New"/>
                <a:ea typeface="Courier New"/>
                <a:cs typeface="Courier New"/>
                <a:sym typeface="Courier New"/>
              </a:rPr>
              <a:t> </a:t>
            </a:r>
            <a:r>
              <a:rPr lang="en-US" sz="1700" b="1">
                <a:solidFill>
                  <a:srgbClr val="333344"/>
                </a:solidFill>
                <a:latin typeface="Courier New"/>
                <a:ea typeface="Courier New"/>
                <a:cs typeface="Courier New"/>
                <a:sym typeface="Courier New"/>
              </a:rPr>
              <a:t>via</a:t>
            </a:r>
            <a:r>
              <a:rPr lang="en-US" sz="1700" b="1" i="0" u="none" strike="noStrike" cap="none">
                <a:solidFill>
                  <a:srgbClr val="333344"/>
                </a:solidFill>
                <a:latin typeface="Courier New"/>
                <a:ea typeface="Courier New"/>
                <a:cs typeface="Courier New"/>
                <a:sym typeface="Courier New"/>
              </a:rPr>
              <a:t> `synchronized`. // While one thread is</a:t>
            </a:r>
            <a:r>
              <a:rPr lang="en-US" sz="1700"/>
              <a:t> </a:t>
            </a:r>
            <a:r>
              <a:rPr lang="en-US" sz="1700" b="1">
                <a:solidFill>
                  <a:srgbClr val="333344"/>
                </a:solidFill>
                <a:latin typeface="Courier New"/>
                <a:ea typeface="Courier New"/>
                <a:cs typeface="Courier New"/>
                <a:sym typeface="Courier New"/>
              </a:rPr>
              <a:t>in</a:t>
            </a:r>
            <a:r>
              <a:rPr lang="en-US" sz="1700" b="1" i="0" u="none" strike="noStrike" cap="none">
                <a:solidFill>
                  <a:srgbClr val="333344"/>
                </a:solidFill>
                <a:latin typeface="Courier New"/>
                <a:ea typeface="Courier New"/>
                <a:cs typeface="Courier New"/>
                <a:sym typeface="Courier New"/>
              </a:rPr>
              <a:t> the block,</a:t>
            </a:r>
            <a:r>
              <a:rPr lang="en-US" sz="1700" b="1">
                <a:solidFill>
                  <a:srgbClr val="333344"/>
                </a:solidFill>
                <a:latin typeface="Courier New"/>
                <a:ea typeface="Courier New"/>
                <a:cs typeface="Courier New"/>
                <a:sym typeface="Courier New"/>
              </a:rPr>
              <a:t> </a:t>
            </a:r>
            <a:r>
              <a:rPr lang="en-US" sz="1700" b="1" i="0" u="none" strike="noStrike" cap="none">
                <a:solidFill>
                  <a:srgbClr val="333344"/>
                </a:solidFill>
                <a:latin typeface="Courier New"/>
                <a:ea typeface="Courier New"/>
                <a:cs typeface="Courier New"/>
                <a:sym typeface="Courier New"/>
              </a:rPr>
              <a:t>other threads asking for the lock wait:</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synchronized (counter) {</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counter.increment();</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T1 enters the block, runs the three operations, exits, releases the</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lock. T2 (which has been waiting) enters, runs the three operations,</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exits. The read-modify-write is now atomic, and the final count is</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exactly 2000 every run.</a:t>
            </a:r>
            <a:endParaRPr sz="1700"/>
          </a:p>
          <a:p>
            <a:pPr marL="0" marR="0" lvl="0" indent="0" algn="l" rtl="0">
              <a:spcBef>
                <a:spcPts val="200"/>
              </a:spcBef>
              <a:spcAft>
                <a:spcPts val="0"/>
              </a:spcAft>
              <a:buNone/>
            </a:pPr>
            <a:endParaRPr sz="17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2"/>
        <p:cNvGrpSpPr/>
        <p:nvPr/>
      </p:nvGrpSpPr>
      <p:grpSpPr>
        <a:xfrm>
          <a:off x="0" y="0"/>
          <a:ext cx="0" cy="0"/>
          <a:chOff x="0" y="0"/>
          <a:chExt cx="0" cy="0"/>
        </a:xfrm>
      </p:grpSpPr>
      <p:sp>
        <p:nvSpPr>
          <p:cNvPr id="463" name="Google Shape;463;g3e498caeefa_0_37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threads, one shared counter</a:t>
            </a:r>
            <a:endParaRPr/>
          </a:p>
        </p:txBody>
      </p:sp>
      <p:sp>
        <p:nvSpPr>
          <p:cNvPr id="464" name="Google Shape;464;g3e498caeefa_0_375"/>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65" name="Google Shape;465;g3e498caeefa_0_37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66" name="Google Shape;466;g3e498caeefa_0_375"/>
          <p:cNvSpPr txBox="1"/>
          <p:nvPr/>
        </p:nvSpPr>
        <p:spPr>
          <a:xfrm>
            <a:off x="1005840" y="1645920"/>
            <a:ext cx="10179900" cy="212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a:t>
            </a:r>
            <a:r>
              <a:rPr lang="en-US" sz="1800" b="1">
                <a:solidFill>
                  <a:srgbClr val="333344"/>
                </a:solidFill>
                <a:latin typeface="Courier New"/>
                <a:ea typeface="Courier New"/>
                <a:cs typeface="Courier New"/>
                <a:sym typeface="Courier New"/>
              </a:rPr>
              <a:t>Thread-aware classes can also synchronize their methods</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class Counter {</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int count = 0;</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synchronized void increment() { count++; }</a:t>
            </a: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1"/>
        <p:cNvGrpSpPr/>
        <p:nvPr/>
      </p:nvGrpSpPr>
      <p:grpSpPr>
        <a:xfrm>
          <a:off x="0" y="0"/>
          <a:ext cx="0" cy="0"/>
          <a:chOff x="0" y="0"/>
          <a:chExt cx="0" cy="0"/>
        </a:xfrm>
      </p:grpSpPr>
      <p:sp>
        <p:nvSpPr>
          <p:cNvPr id="472" name="Google Shape;472;g3e498caeefa_0_48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transfers in opposite directions</a:t>
            </a:r>
            <a:endParaRPr/>
          </a:p>
        </p:txBody>
      </p:sp>
      <p:sp>
        <p:nvSpPr>
          <p:cNvPr id="473" name="Google Shape;473;g3e498caeefa_0_48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74" name="Google Shape;474;g3e498caeefa_0_48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75" name="Google Shape;475;g3e498caeefa_0_482"/>
          <p:cNvSpPr txBox="1"/>
          <p:nvPr/>
        </p:nvSpPr>
        <p:spPr>
          <a:xfrm>
            <a:off x="1005840" y="1645920"/>
            <a:ext cx="10179900" cy="352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Now locks are doing their job, but locks have their own bug. The</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same transfer function, called from two threads at the same time:</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void transfer(Account from, Account to, int amount)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(from)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(to)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from.balance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to.balance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800"/>
          </a:p>
          <a:p>
            <a:pPr marL="0" marR="0" lvl="0" indent="0" algn="l" rtl="0">
              <a:spcBef>
                <a:spcPts val="200"/>
              </a:spcBef>
              <a:spcAft>
                <a:spcPts val="0"/>
              </a:spcAft>
              <a:buNone/>
            </a:pPr>
            <a:endParaRPr sz="18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0"/>
        <p:cNvGrpSpPr/>
        <p:nvPr/>
      </p:nvGrpSpPr>
      <p:grpSpPr>
        <a:xfrm>
          <a:off x="0" y="0"/>
          <a:ext cx="0" cy="0"/>
          <a:chOff x="0" y="0"/>
          <a:chExt cx="0" cy="0"/>
        </a:xfrm>
      </p:grpSpPr>
      <p:sp>
        <p:nvSpPr>
          <p:cNvPr id="481" name="Google Shape;481;g3e498caeefa_0_38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Predict: two transfers in opposite directions</a:t>
            </a:r>
            <a:endParaRPr/>
          </a:p>
        </p:txBody>
      </p:sp>
      <p:sp>
        <p:nvSpPr>
          <p:cNvPr id="482" name="Google Shape;482;g3e498caeefa_0_38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a:t>
            </a:r>
            <a:endParaRPr/>
          </a:p>
        </p:txBody>
      </p:sp>
      <p:sp>
        <p:nvSpPr>
          <p:cNvPr id="483" name="Google Shape;483;g3e498caeefa_0_38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84" name="Google Shape;484;g3e498caeefa_0_383"/>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Now locks are doing their job, but locks have their own bug. The</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same transfer function, called from two threads at the same time:</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void transfer(Account from, Account to, int amount)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(from)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synchronized (to)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from.balance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to.balance += amount;</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Thread T1:  transfer(alice, bob, 10);   // locks alice, then bob</a:t>
            </a:r>
            <a:endParaRPr sz="18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Thread T2:  transfer(bob, alice,  5);   // locks bob,   then alice</a:t>
            </a:r>
            <a:endParaRPr sz="18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Both calls start at the exact same moment. What happens?</a:t>
            </a:r>
            <a:endParaRPr sz="180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9"/>
        <p:cNvGrpSpPr/>
        <p:nvPr/>
      </p:nvGrpSpPr>
      <p:grpSpPr>
        <a:xfrm>
          <a:off x="0" y="0"/>
          <a:ext cx="0" cy="0"/>
          <a:chOff x="0" y="0"/>
          <a:chExt cx="0" cy="0"/>
        </a:xfrm>
      </p:grpSpPr>
      <p:sp>
        <p:nvSpPr>
          <p:cNvPr id="490" name="Google Shape;490;g3e498caeefa_0_49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Deadlock</a:t>
            </a:r>
            <a:endParaRPr/>
          </a:p>
        </p:txBody>
      </p:sp>
      <p:sp>
        <p:nvSpPr>
          <p:cNvPr id="491" name="Google Shape;491;g3e498caeefa_0_49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 / Postgres</a:t>
            </a:r>
            <a:endParaRPr/>
          </a:p>
        </p:txBody>
      </p:sp>
      <p:sp>
        <p:nvSpPr>
          <p:cNvPr id="492" name="Google Shape;492;g3e498caeefa_0_49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93" name="Google Shape;493;g3e498caeefa_0_490"/>
          <p:cNvSpPr txBox="1"/>
          <p:nvPr/>
        </p:nvSpPr>
        <p:spPr>
          <a:xfrm>
            <a:off x="1005840" y="1645920"/>
            <a:ext cx="10179900" cy="340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Deadlock: every thread is waiting for a lock another thread holds,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nobody can proceed, the program hangs until you kill it. Java does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NOT detect it for you. Two ways out: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(1) Lock in a CONSISTENT ORDER (e.g. always lowest-id account first):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void transfer(Account from, Account to, int amount)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first  = from.id &lt; to.id ? from : to;</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second = from.id &lt; to.id ? to   : from;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(first)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(second) { /* move money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Both transfers now grab alice's lock first, then bob's. No cycle.</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98"/>
        <p:cNvGrpSpPr/>
        <p:nvPr/>
      </p:nvGrpSpPr>
      <p:grpSpPr>
        <a:xfrm>
          <a:off x="0" y="0"/>
          <a:ext cx="0" cy="0"/>
          <a:chOff x="0" y="0"/>
          <a:chExt cx="0" cy="0"/>
        </a:xfrm>
      </p:grpSpPr>
      <p:sp>
        <p:nvSpPr>
          <p:cNvPr id="499" name="Google Shape;499;g3e498caeefa_0_39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Deadlock</a:t>
            </a:r>
            <a:endParaRPr/>
          </a:p>
        </p:txBody>
      </p:sp>
      <p:sp>
        <p:nvSpPr>
          <p:cNvPr id="500" name="Google Shape;500;g3e498caeefa_0_391"/>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 / Postgres</a:t>
            </a:r>
            <a:endParaRPr/>
          </a:p>
        </p:txBody>
      </p:sp>
      <p:sp>
        <p:nvSpPr>
          <p:cNvPr id="501" name="Google Shape;501;g3e498caeefa_0_39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02" name="Google Shape;502;g3e498caeefa_0_391"/>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Deadlock: every thread is waiting for a lock another thread holds,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nobody can proceed, the program hangs until you kill it. Java does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NOT detect it for you. Two ways out: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(1) Lock in a CONSISTENT ORDER (e.g. always lowest-id account first):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void transfer(Account from, Account to, int amount)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first  = from.id &lt; to.id ? from : to;</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Account second = from.id &lt; to.id ? to   : from;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(first)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synchronized (second) { /* move money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Both transfers now grab alice's lock first, then bob's. No cycle.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(2) Let Postgres handle it: a transaction holding lock A and asking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for lock B (held by another transaction asking for A) gets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DETECTED, the DB raises a DeadlockDetected error, and your code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catches it and retries. The DB is your deadlock cop.</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7"/>
        <p:cNvGrpSpPr/>
        <p:nvPr/>
      </p:nvGrpSpPr>
      <p:grpSpPr>
        <a:xfrm>
          <a:off x="0" y="0"/>
          <a:ext cx="0" cy="0"/>
          <a:chOff x="0" y="0"/>
          <a:chExt cx="0" cy="0"/>
        </a:xfrm>
      </p:grpSpPr>
      <p:sp>
        <p:nvSpPr>
          <p:cNvPr id="508" name="Google Shape;508;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the lock had to move</a:t>
            </a:r>
            <a:endParaRPr/>
          </a:p>
        </p:txBody>
      </p:sp>
      <p:sp>
        <p:nvSpPr>
          <p:cNvPr id="509" name="Google Shape;509;p27"/>
          <p:cNvSpPr txBox="1"/>
          <p:nvPr/>
        </p:nvSpPr>
        <p:spPr>
          <a:xfrm>
            <a:off x="914397" y="1270500"/>
            <a:ext cx="10362900" cy="558610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Same idea as Java, with one difference that changes everything: in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Java the shared counter lived in one process's memory, so a lock</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in that process could guard it.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Your shared state does not live in one process. It lives in the </a:t>
            </a:r>
            <a:r>
              <a:rPr lang="en-US" sz="2400" b="1" i="0" u="none" strike="noStrike" cap="none" dirty="0">
                <a:solidFill>
                  <a:srgbClr val="333344"/>
                </a:solidFill>
                <a:latin typeface="Calibri"/>
                <a:ea typeface="Calibri"/>
                <a:cs typeface="Calibri"/>
                <a:sym typeface="Calibri"/>
              </a:rPr>
              <a:t>database</a:t>
            </a:r>
            <a:r>
              <a:rPr lang="en-US" sz="2400" b="1" dirty="0">
                <a:solidFill>
                  <a:srgbClr val="333344"/>
                </a:solidFill>
                <a:latin typeface="Calibri"/>
                <a:ea typeface="Calibri"/>
                <a:cs typeface="Calibri"/>
                <a:sym typeface="Calibri"/>
              </a:rPr>
              <a:t>,</a:t>
            </a:r>
            <a:endParaRPr b="1" dirty="0">
              <a:latin typeface="Calibri"/>
              <a:ea typeface="Calibri"/>
              <a:cs typeface="Calibri"/>
              <a:sym typeface="Calibri"/>
            </a:endParaRPr>
          </a:p>
          <a:p>
            <a:pPr marL="457200" marR="0" lvl="1" indent="0" algn="l" rtl="0">
              <a:spcBef>
                <a:spcPts val="600"/>
              </a:spcBef>
              <a:spcAft>
                <a:spcPts val="0"/>
              </a:spcAft>
              <a:buNone/>
            </a:pPr>
            <a:r>
              <a:rPr lang="en-US" sz="2000" dirty="0">
                <a:solidFill>
                  <a:srgbClr val="666677"/>
                </a:solidFill>
                <a:latin typeface="Calibri"/>
                <a:ea typeface="Calibri"/>
                <a:cs typeface="Calibri"/>
                <a:sym typeface="Calibri"/>
              </a:rPr>
              <a:t> </a:t>
            </a:r>
            <a:r>
              <a:rPr lang="en-US" sz="2000" b="0" i="0" u="none" strike="noStrike" cap="none" dirty="0">
                <a:solidFill>
                  <a:srgbClr val="666677"/>
                </a:solidFill>
                <a:latin typeface="Calibri"/>
                <a:ea typeface="Calibri"/>
                <a:cs typeface="Calibri"/>
                <a:sym typeface="Calibri"/>
              </a:rPr>
              <a:t> behind however many server processes you're running,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maybe on several machines behind a load balancer. </a:t>
            </a:r>
          </a:p>
          <a:p>
            <a:pPr marL="457200" lvl="1">
              <a:spcBef>
                <a:spcPts val="600"/>
              </a:spcBef>
            </a:pPr>
            <a:r>
              <a:rPr lang="en-US" sz="2000" dirty="0">
                <a:solidFill>
                  <a:srgbClr val="666677"/>
                </a:solidFill>
                <a:latin typeface="Calibri"/>
                <a:ea typeface="Calibri"/>
                <a:cs typeface="Calibri"/>
                <a:sym typeface="Calibri"/>
              </a:rPr>
              <a:t>  A `synchronized`</a:t>
            </a:r>
            <a:r>
              <a:rPr lang="en-US" sz="2000" dirty="0">
                <a:ea typeface="Calibri"/>
              </a:rPr>
              <a:t> </a:t>
            </a:r>
            <a:r>
              <a:rPr lang="en-US" sz="2000" b="0" i="0" u="none" strike="noStrike" cap="none" dirty="0">
                <a:solidFill>
                  <a:srgbClr val="666677"/>
                </a:solidFill>
                <a:latin typeface="Calibri"/>
                <a:ea typeface="Calibri"/>
                <a:cs typeface="Calibri"/>
                <a:sym typeface="Calibri"/>
              </a:rPr>
              <a:t>block in one of them can't coordinate with the others, because they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don't share memory to put a lock in.</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So the lock moved into the database, the one place every request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meets, and a transaction is how you reach it. `synchronized`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`BEGIN ... COMMIT` are the same concept, applied at the layer where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shared data actually lives.</a:t>
            </a:r>
            <a:endParaRP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4"/>
        <p:cNvGrpSpPr/>
        <p:nvPr/>
      </p:nvGrpSpPr>
      <p:grpSpPr>
        <a:xfrm>
          <a:off x="0" y="0"/>
          <a:ext cx="0" cy="0"/>
          <a:chOff x="0" y="0"/>
          <a:chExt cx="0" cy="0"/>
        </a:xfrm>
      </p:grpSpPr>
      <p:sp>
        <p:nvSpPr>
          <p:cNvPr id="515" name="Google Shape;515;p2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this goes next</a:t>
            </a:r>
            <a:endParaRPr/>
          </a:p>
        </p:txBody>
      </p:sp>
      <p:sp>
        <p:nvSpPr>
          <p:cNvPr id="516" name="Google Shape;516;p28"/>
          <p:cNvSpPr txBox="1"/>
          <p:nvPr/>
        </p:nvSpPr>
        <p:spPr>
          <a:xfrm>
            <a:off x="914400" y="1280140"/>
            <a:ext cx="10362900" cy="5141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Walk away with these:</a:t>
            </a:r>
            <a:endParaRPr sz="2400" b="1"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lost-update race is the core bug.</a:t>
            </a:r>
            <a:r>
              <a:rPr lang="en-US" sz="2000" b="0" i="0" u="none" strike="noStrike" cap="none">
                <a:solidFill>
                  <a:srgbClr val="666677"/>
                </a:solidFill>
                <a:latin typeface="Calibri"/>
                <a:ea typeface="Calibri"/>
                <a:cs typeface="Calibri"/>
                <a:sym typeface="Calibri"/>
              </a:rPr>
              <a:t> Read-modify-write or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check-then-act on shared state, and one update silently vanishes.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Concurrency is your server's environment, not a feature.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FastAPI </a:t>
            </a:r>
            <a:r>
              <a:rPr lang="en-US" sz="2000" b="0" i="0" u="none" strike="noStrike" cap="none">
                <a:solidFill>
                  <a:srgbClr val="666677"/>
                </a:solidFill>
                <a:latin typeface="Calibri"/>
                <a:ea typeface="Calibri"/>
                <a:cs typeface="Calibri"/>
                <a:sym typeface="Calibri"/>
              </a:rPr>
              <a:t>already handles overlapping requests on an event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Statelessness keeps the request layer safe</a:t>
            </a:r>
            <a:r>
              <a:rPr lang="en-US" sz="2000" b="0" i="0" u="none" strike="noStrike" cap="none">
                <a:solidFill>
                  <a:srgbClr val="666677"/>
                </a:solidFill>
                <a:latin typeface="Calibri"/>
                <a:ea typeface="Calibri"/>
                <a:cs typeface="Calibri"/>
                <a:sym typeface="Calibri"/>
              </a:rPr>
              <a:t> (3.1);</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a:t>
            </a:r>
            <a:r>
              <a:rPr lang="en-US" sz="2000">
                <a:solidFill>
                  <a:srgbClr val="666677"/>
                </a:solidFill>
                <a:latin typeface="Calibri"/>
                <a:ea typeface="Calibri"/>
                <a:cs typeface="Calibri"/>
                <a:sym typeface="Calibri"/>
              </a:rPr>
              <a:t>he shared </a:t>
            </a:r>
            <a:r>
              <a:rPr lang="en-US" sz="2000" b="1" i="0" u="none" strike="noStrike" cap="none">
                <a:solidFill>
                  <a:srgbClr val="666677"/>
                </a:solidFill>
                <a:latin typeface="Calibri"/>
                <a:ea typeface="Calibri"/>
                <a:cs typeface="Calibri"/>
                <a:sym typeface="Calibri"/>
              </a:rPr>
              <a:t>database</a:t>
            </a:r>
            <a:r>
              <a:rPr lang="en-US" sz="2000" b="0" i="0" u="none" strike="noStrike" cap="none">
                <a:solidFill>
                  <a:srgbClr val="666677"/>
                </a:solidFill>
                <a:latin typeface="Calibri"/>
                <a:ea typeface="Calibri"/>
                <a:cs typeface="Calibri"/>
                <a:sym typeface="Calibri"/>
              </a:rPr>
              <a:t> is where the race actually lives.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transaction is a lock</a:t>
            </a:r>
            <a:r>
              <a:rPr lang="en-US" sz="2000" b="0" i="0" u="none" strike="noStrike" cap="none">
                <a:solidFill>
                  <a:srgbClr val="666677"/>
                </a:solidFill>
                <a:latin typeface="Calibri"/>
                <a:ea typeface="Calibri"/>
                <a:cs typeface="Calibri"/>
                <a:sym typeface="Calibri"/>
              </a:rPr>
              <a:t> you reach over the network:</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db.engine.begin()</a:t>
            </a:r>
            <a:r>
              <a:rPr lang="en-US" sz="2000" b="0" i="0" u="none" strike="noStrike" cap="none">
                <a:solidFill>
                  <a:srgbClr val="666677"/>
                </a:solidFill>
                <a:latin typeface="Calibri"/>
                <a:ea typeface="Calibri"/>
                <a:cs typeface="Calibri"/>
                <a:sym typeface="Calibri"/>
              </a:rPr>
              <a:t>  plus  </a:t>
            </a:r>
            <a:r>
              <a:rPr lang="en-US" sz="2000" b="1" i="0" u="none" strike="noStrike" cap="none">
                <a:solidFill>
                  <a:srgbClr val="666677"/>
                </a:solidFill>
                <a:latin typeface="Courier Prime"/>
                <a:ea typeface="Courier Prime"/>
                <a:cs typeface="Courier Prime"/>
                <a:sym typeface="Courier Prime"/>
              </a:rPr>
              <a:t>FOR UPDATE</a:t>
            </a:r>
            <a:r>
              <a:rPr lang="en-US" sz="2000" b="0" i="0" u="none" strike="noStrike" cap="none">
                <a:solidFill>
                  <a:srgbClr val="666677"/>
                </a:solidFill>
                <a:latin typeface="Calibri"/>
                <a:ea typeface="Calibri"/>
                <a:cs typeface="Calibri"/>
                <a:sym typeface="Calibri"/>
              </a:rPr>
              <a:t>.</a:t>
            </a:r>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Next: web security basics.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1187</TotalTime>
  <Words>10847</Words>
  <Application>Microsoft Macintosh PowerPoint</Application>
  <PresentationFormat>Widescreen</PresentationFormat>
  <Paragraphs>671</Paragraphs>
  <Slides>57</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Arial</vt:lpstr>
      <vt:lpstr>Courier Prime</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2</cp:revision>
  <dcterms:created xsi:type="dcterms:W3CDTF">2013-01-27T09:14:16Z</dcterms:created>
  <dcterms:modified xsi:type="dcterms:W3CDTF">2026-05-27T14:29:29Z</dcterms:modified>
</cp:coreProperties>
</file>