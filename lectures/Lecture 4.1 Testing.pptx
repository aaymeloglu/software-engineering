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y="6858000" cx="12191675"/>
  <p:notesSz cx="6858000" cy="9144000"/>
  <p:embeddedFontLst>
    <p:embeddedFont>
      <p:font typeface="Courier Prime"/>
      <p:regular r:id="rId51"/>
      <p:bold r:id="rId52"/>
      <p:italic r:id="rId53"/>
      <p:boldItalic r:id="rId5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55" roundtripDataSignature="AMtx7mizArWxL6sKIQlFVQB9TwGdrdqr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font" Target="fonts/CourierPrime-regular.fntdata"/><Relationship Id="rId52" Type="http://schemas.openxmlformats.org/officeDocument/2006/relationships/font" Target="fonts/CourierPrime-bold.fntdata"/><Relationship Id="rId53" Type="http://schemas.openxmlformats.org/officeDocument/2006/relationships/font" Target="fonts/CourierPrime-italic.fntdata"/><Relationship Id="rId54" Type="http://schemas.openxmlformats.org/officeDocument/2006/relationships/font" Target="fonts/CourierPrime-boldItalic.fntdata"/><Relationship Id="rId55"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3e031ea9680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 name="Google Shape;91;g3e031ea9680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g3e031ea9680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e031ea9680_0_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8" name="Google Shape;98;g3e031ea9680_0_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g3e031ea9680_0_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 name="Google Shape;105;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Deliberate opening question. Don't start with 'testing is important.' Start by asking students to reckon with what they did last week.</a:t>
            </a:r>
            <a:endParaRPr/>
          </a:p>
        </p:txBody>
      </p:sp>
      <p:sp>
        <p:nvSpPr>
          <p:cNvPr id="106" name="Google Shape;106;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e031ea9680_0_8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1" name="Google Shape;111;g3e031ea9680_0_8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g3e031ea9680_0_8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e031ea9680_0_9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8" name="Google Shape;118;g3e031ea9680_0_9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9" name="Google Shape;119;g3e031ea9680_0_9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has a name - manual verification</a:t>
            </a:r>
            <a:endParaRPr/>
          </a:p>
        </p:txBody>
      </p:sp>
      <p:sp>
        <p:nvSpPr>
          <p:cNvPr id="126" name="Google Shape;126;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2" name="Google Shape;132;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We're not attacking manual verification, we're attacking one specific, inadequate kind of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Before we pick it apart, let's see what you'd naturally reach for.</a:t>
            </a:r>
            <a:endParaRPr/>
          </a:p>
          <a:p>
            <a:pPr indent="0" lvl="0" marL="0" rtl="0" algn="l">
              <a:spcBef>
                <a:spcPts val="0"/>
              </a:spcBef>
              <a:spcAft>
                <a:spcPts val="0"/>
              </a:spcAft>
              <a:buNone/>
            </a:pPr>
            <a:r>
              <a:t/>
            </a:r>
            <a:endParaRPr/>
          </a:p>
        </p:txBody>
      </p:sp>
      <p:sp>
        <p:nvSpPr>
          <p:cNvPr id="133" name="Google Shape;133;p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9" name="Google Shape;13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Show this, read it out loud, then put the discussion slide up. Don't explain it. Let students figure out what it's doing. The details they notice (edge cases, rounding, etc.) will come out in the discussion. This function is our running example for the whole pytest section, so leave it on the board mentally.</a:t>
            </a:r>
            <a:endParaRPr/>
          </a:p>
        </p:txBody>
      </p:sp>
      <p:sp>
        <p:nvSpPr>
          <p:cNvPr id="140" name="Google Shape;140;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d857cbebff_0_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g3d857cbebff_0_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You will hear: (a) 'run it with some example inputs and check the output' - the manual verification baseline. (b) 'put print statements in' - variation on (a). (c) 'read it line by line' - code review. (d) 'ask someone else to look at it' - peer review. (e) maybe: 'try weird inputs, like negative weight' - edge case thinking. All valid, all manual. Leave the list on the board; we're about to pick it apart one item at a time.</a:t>
            </a:r>
            <a:endParaRPr>
              <a:solidFill>
                <a:schemeClr val="dk1"/>
              </a:solidFill>
            </a:endParaRPr>
          </a:p>
          <a:p>
            <a:pPr indent="0" lvl="0" marL="0" rtl="0" algn="l">
              <a:spcBef>
                <a:spcPts val="0"/>
              </a:spcBef>
              <a:spcAft>
                <a:spcPts val="0"/>
              </a:spcAft>
              <a:buNone/>
            </a:pPr>
            <a:r>
              <a:t/>
            </a:r>
            <a:endParaRPr/>
          </a:p>
        </p:txBody>
      </p:sp>
      <p:sp>
        <p:nvSpPr>
          <p:cNvPr id="148" name="Google Shape;148;g3d857cbebff_0_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we pick apart the strategies students just named. Every pain point should land on something from the board.</a:t>
            </a:r>
            <a:endParaRPr/>
          </a:p>
        </p:txBody>
      </p:sp>
      <p:sp>
        <p:nvSpPr>
          <p:cNvPr id="156" name="Google Shape;156;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e031ea9680_0_1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1" name="Google Shape;161;g3e031ea9680_0_1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 through each point and tie it back to a strategy on the board. 'Run it with example inputs' fails #1 and #2. 'Read it line by line' fails #3 and #4. Etc. The critique is not that the strategies are wrong. It's that they don't compose.</a:t>
            </a:r>
            <a:endParaRPr/>
          </a:p>
        </p:txBody>
      </p:sp>
      <p:sp>
        <p:nvSpPr>
          <p:cNvPr id="162" name="Google Shape;162;g3e031ea9680_0_1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e031ea9680_0_1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8" name="Google Shape;168;g3e031ea9680_0_1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 through each point and tie it back to a strategy on the board. 'Run it with example inputs' fails #1 and #2. 'Read it line by line' fails #3 and #4. Etc. The critique is not that the strategies are wrong. It's that they don't compose.</a:t>
            </a:r>
            <a:endParaRPr/>
          </a:p>
        </p:txBody>
      </p:sp>
      <p:sp>
        <p:nvSpPr>
          <p:cNvPr id="169" name="Google Shape;169;g3e031ea9680_0_1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e031ea9680_0_1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 name="Google Shape;175;g3e031ea9680_0_1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 through each point and tie it back to a strategy on the board. 'Run it with example inputs' fails #1 and #2. 'Read it line by line' fails #3 and #4. Etc. The critique is not that the strategies are wrong. It's that they don't compose.</a:t>
            </a:r>
            <a:endParaRPr/>
          </a:p>
        </p:txBody>
      </p:sp>
      <p:sp>
        <p:nvSpPr>
          <p:cNvPr id="176" name="Google Shape;176;g3e031ea9680_0_1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3e031ea9680_0_1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2" name="Google Shape;182;g3e031ea9680_0_1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 through each point and tie it back to a strategy on the board. 'Run it with example inputs' fails #1 and #2. 'Read it line by line' fails #3 and #4. Etc. The critique is not that the strategies are wrong. It's that they don't compose.</a:t>
            </a:r>
            <a:endParaRPr/>
          </a:p>
        </p:txBody>
      </p:sp>
      <p:sp>
        <p:nvSpPr>
          <p:cNvPr id="183" name="Google Shape;183;g3e031ea9680_0_1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Work through each point and tie it back to a strategy on the board. 'Run it with example inputs' fails #1 and #2. 'Read it line by line' fails #3 and #4. Etc. The critique is not that the strategies are wrong. It's that they don't compose.</a:t>
            </a:r>
            <a:endParaRPr/>
          </a:p>
        </p:txBody>
      </p:sp>
      <p:sp>
        <p:nvSpPr>
          <p:cNvPr id="190" name="Google Shape;190;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e031ea9680_0_1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g3e031ea9680_0_1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frame for the rest of the lecture. Tests are not bureaucratic safety theater. They're the solution to the human brain being too small for modern software. If students buy this framing, everything else follows.</a:t>
            </a:r>
            <a:endParaRPr/>
          </a:p>
        </p:txBody>
      </p:sp>
      <p:sp>
        <p:nvSpPr>
          <p:cNvPr id="197" name="Google Shape;197;g3e031ea9680_0_1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e031ea9680_0_1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g3e031ea9680_0_1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frame for the rest of the lecture. Tests are not bureaucratic safety theater. They're the solution to the human brain being too small for modern software. If students buy this framing, everything else follows.</a:t>
            </a:r>
            <a:endParaRPr/>
          </a:p>
        </p:txBody>
      </p:sp>
      <p:sp>
        <p:nvSpPr>
          <p:cNvPr id="204" name="Google Shape;204;g3e031ea9680_0_1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frame for the rest of the lecture. Tests are not bureaucratic safety theater. They're the solution to the human brain being too small for modern software. If students buy this framing, everything else follows.</a:t>
            </a:r>
            <a:endParaRPr/>
          </a:p>
        </p:txBody>
      </p:sp>
      <p:sp>
        <p:nvSpPr>
          <p:cNvPr id="215" name="Google Shape;21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1" name="Google Shape;221;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Now the tool. Lighter than before: one framing slide, one conventions slide, a LIVE coding moment, and AAA. The live demo replaces three static slides from the old version.</a:t>
            </a:r>
            <a:endParaRPr/>
          </a:p>
        </p:txBody>
      </p:sp>
      <p:sp>
        <p:nvSpPr>
          <p:cNvPr id="222" name="Google Shape;222;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7" name="Google Shape;227;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point is friction. Anything that takes more than one line to write will not get written. pytest wins because its hello world is two lines of code and plain `assert`.</a:t>
            </a:r>
            <a:endParaRPr/>
          </a:p>
        </p:txBody>
      </p:sp>
      <p:sp>
        <p:nvSpPr>
          <p:cNvPr id="228" name="Google Shape;228;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4" name="Google Shape;23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Deliberately short. Students don't need a read-along hello world because we're about to write one live. Land the three rules and move to the live slide.</a:t>
            </a:r>
            <a:endParaRPr/>
          </a:p>
        </p:txBody>
      </p:sp>
      <p:sp>
        <p:nvSpPr>
          <p:cNvPr id="235" name="Google Shape;235;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1" name="Google Shape;24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A LIVE CODING SLIDE. Suggested script: (1) Open an empty test_shipping.py next to shipping.py in the editor, projector up. (2) Ask the class: 'give me a scenario.' You will hear '1 pound, $10 subtotal' or similar. Type the test in real time: `def test_flat_rate_under_2_lb():\n    assert shipping_cost(1.0, 10.0) == 5.99`. (3) Keep going until you have 3-4 tests covering: flat rate, over 2 lb surcharge, free shipping over $50, maybe exactly 2 lb or exactly $50 (edge cases). (4) Run `pytest -v` in the terminal. Watch it go green. Students see the per-test output live. (5) Comment out the `if subtotal &gt;= 50.0: return 0.0` lines. Run pytest again. The free-shipping test fails with assertion introspection: `assert 5.99 == 0.0`. Point at the output. Say: 'that's assertion introspection. We never wrote an error message and it told us exactly what broke.' (6) Restore the function, tests green again, move on to AAA. Total time: 5-7 minutes.</a:t>
            </a:r>
            <a:endParaRPr/>
          </a:p>
        </p:txBody>
      </p:sp>
      <p:sp>
        <p:nvSpPr>
          <p:cNvPr id="242" name="Google Shape;242;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d857cbebff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g3d857cbebff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0" name="Google Shape;250;g3d857cbebff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7" name="Google Shape;25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Combine the old AAA concept slide and AAA code slide into one. The same shipping_cost function from the live demo, now cleanly formatted. Point at each comment and name the phase. Blank lines between phases make the structure pop visually. Tell students: if you take one habit from this lecture, make it this one. It costs nothing and compounds forever.</a:t>
            </a:r>
            <a:endParaRPr/>
          </a:p>
        </p:txBody>
      </p:sp>
      <p:sp>
        <p:nvSpPr>
          <p:cNvPr id="258" name="Google Shape;258;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Both check the same three things. Which would you rather debug</a:t>
            </a:r>
            <a:endParaRPr/>
          </a:p>
          <a:p>
            <a:pPr indent="0" lvl="0" marL="0" rtl="0" algn="l">
              <a:spcBef>
                <a:spcPts val="0"/>
              </a:spcBef>
              <a:spcAft>
                <a:spcPts val="0"/>
              </a:spcAft>
              <a:buNone/>
            </a:pPr>
            <a:r>
              <a:rPr lang="en-US"/>
              <a:t># at 11pm when something broke in production?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DISCUSSION SLIDE. Give the class 30 seconds to read, then cold-call. Expect: 'Version B, because when it fails you know which scenario broke.' Press on it. What else? (a) The names in B are documentation - anyone reading the test file learns the shipping rules by reading test names. (b) In A, if the first assert fails, the second and third never run. You might have three bugs and only see one. (c) B is easier to add a fourth test to - you just add another function. In A you're editing one big one. Draw out these points from students rather than listing them. This discussion sets up the properties slide perfectly.</a:t>
            </a:r>
            <a:endParaRPr/>
          </a:p>
        </p:txBody>
      </p:sp>
      <p:sp>
        <p:nvSpPr>
          <p:cNvPr id="267" name="Google Shape;267;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5" name="Google Shape;275;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of these came out of the last discussion. Go quickly; students have already internalized the first two. Spend the most time on deterministic and independent, which are newer to them and will come up in 4.2 when we talk about databases and fixtures.</a:t>
            </a:r>
            <a:endParaRPr/>
          </a:p>
        </p:txBody>
      </p:sp>
      <p:sp>
        <p:nvSpPr>
          <p:cNvPr id="276" name="Google Shape;276;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3e031ea9680_0_2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2" name="Google Shape;282;g3e031ea9680_0_2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pytest.raises is how you test that something SHOULD raise. Without it, the exception would propagate out of the test and fail it. With it, the test passes when the exception fires and fails when it doesn't. The match= argument lets you check the error message too. Short slide; this is the only new pytest mechanic in the lecture.</a:t>
            </a:r>
            <a:endParaRPr/>
          </a:p>
        </p:txBody>
      </p:sp>
      <p:sp>
        <p:nvSpPr>
          <p:cNvPr id="283" name="Google Shape;283;g3e031ea9680_0_2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1" name="Google Shape;29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pytest.raises is how you test that something SHOULD raise. Without it, the exception would propagate out of the test and fail it. With it, the test passes when the exception fires and fails when it doesn't. The match= argument lets you check the error message too. Short slide; this is the only new pytest mechanic in the lecture.</a:t>
            </a:r>
            <a:endParaRPr/>
          </a:p>
        </p:txBody>
      </p:sp>
      <p:sp>
        <p:nvSpPr>
          <p:cNvPr id="292" name="Google Shape;292;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DISCUSSION SLIDE. Give the class a minute to read, then ask them to raise hands for each option. Expect most of the class to correctly pick C and D. Work through the wrong ones:   A tests PYTHON. Python is tested thousands of times by other people. You are not going to find a bug in `+`.   B tests SQLITE. Same problem. The sqlite team has this covered. If you need a sanity check that sqlite works, you have bigger problems.   C tests YOUR endpoint end-to-end - valuable.   D tests YOUR shipping_cost with a real business rule (the free-shipping threshold) - valuable. The general rule: test the behavior YOU wrote. Not that `int` can add or FastAPI can FastAPI or sqlite can sqlite. This is the single most common way beginners waste time on tests - hundreds of assertions that are all 'yes, Python is Python.'</a:t>
            </a:r>
            <a:endParaRPr/>
          </a:p>
        </p:txBody>
      </p:sp>
      <p:sp>
        <p:nvSpPr>
          <p:cNvPr id="301" name="Google Shape;301;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9" name="Google Shape;30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Everything so far has been 'tests are executable memory.' Now: tests are also a design tool, and that might be the more important benefit.</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If you’ve seen Superpowers, you may have seen “test-driven development”</a:t>
            </a:r>
            <a:endParaRPr/>
          </a:p>
        </p:txBody>
      </p:sp>
      <p:sp>
        <p:nvSpPr>
          <p:cNvPr id="310" name="Google Shape;31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e031ea9680_0_27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5" name="Google Shape;315;g3e031ea9680_0_27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trick is to make students notice that they're already doing design work when they write a test. They just usually do it AFTER they've already made the decisions. TDD is just moving that work earlier so it can actually influence the code.</a:t>
            </a:r>
            <a:endParaRPr/>
          </a:p>
        </p:txBody>
      </p:sp>
      <p:sp>
        <p:nvSpPr>
          <p:cNvPr id="316" name="Google Shape;316;g3e031ea9680_0_27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2" name="Google Shape;322;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trick is to make students notice that they're already doing design work when they write a test. They just usually do it AFTER they've already made the decisions. TDD is just moving that work earlier so it can actually influence the code.</a:t>
            </a:r>
            <a:endParaRPr/>
          </a:p>
        </p:txBody>
      </p:sp>
      <p:sp>
        <p:nvSpPr>
          <p:cNvPr id="323" name="Google Shape;323;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g3e031ea9680_0_26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9" name="Google Shape;329;g3e031ea9680_0_26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trick is to make students notice that they're already doing design work when they write a test. They just usually do it AFTER they've already made the decisions. TDD is just moving that work earlier so it can actually influence the code.</a:t>
            </a:r>
            <a:endParaRPr/>
          </a:p>
        </p:txBody>
      </p:sp>
      <p:sp>
        <p:nvSpPr>
          <p:cNvPr id="330" name="Google Shape;330;g3e031ea9680_0_26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6" name="Google Shape;336;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insight most students won't have heard before. TDD isn't about test coverage or catching bugs. Those are downstream effects. It's about being forced to make design decisions at the moment when they're cheapest to change.</a:t>
            </a:r>
            <a:endParaRPr/>
          </a:p>
        </p:txBody>
      </p:sp>
      <p:sp>
        <p:nvSpPr>
          <p:cNvPr id="337" name="Google Shape;337;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3" name="Google Shape;34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Don't oversell TDD as a panacea. Some code is hard to test first (UI, exploratory prototypes). For a function like shipping_cost or format_file_size, it is almost always worth trying.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Not a religion, not always right. But more often the right tool than you'd think, especially for pure functions.</a:t>
            </a:r>
            <a:endParaRPr/>
          </a:p>
          <a:p>
            <a:pPr indent="0" lvl="0" marL="0" rtl="0" algn="l">
              <a:spcBef>
                <a:spcPts val="0"/>
              </a:spcBef>
              <a:spcAft>
                <a:spcPts val="0"/>
              </a:spcAft>
              <a:buNone/>
            </a:pPr>
            <a:r>
              <a:t/>
            </a:r>
            <a:endParaRPr/>
          </a:p>
        </p:txBody>
      </p:sp>
      <p:sp>
        <p:nvSpPr>
          <p:cNvPr id="344" name="Google Shape;344;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3d857cbebff_0_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0" name="Google Shape;350;g3d857cbebff_0_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exercise is partly about the answers and partly about noticing that you can't fill in the blanks without making design decisions: should 1024 be '1 KB' or '1.0 KB'? Should 0 be '0 B' or '0 bytes' or '0'? There are no wrong answers, only decisions.</a:t>
            </a:r>
            <a:endParaRPr/>
          </a:p>
        </p:txBody>
      </p:sp>
      <p:sp>
        <p:nvSpPr>
          <p:cNvPr id="351" name="Google Shape;351;g3d857cbebff_0_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t>
            </a:r>
            <a:r>
              <a:rPr lang="en-US"/>
              <a:t>he exercise is partly about the answers and partly about noticing that you can't fill in the blanks without making design decisions: should 1024 be '1 KB' or '1.0 KB'? Should 0 be '0 B' or '0 bytes' or '0'? There are no wrong answers, only decisions.</a:t>
            </a:r>
            <a:endParaRPr/>
          </a:p>
        </p:txBody>
      </p:sp>
      <p:sp>
        <p:nvSpPr>
          <p:cNvPr id="360" name="Google Shape;360;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through the implementation and point at each line where a test pinned down a decision. The integer-vs-float formatting is the cleanest example: test_small_number_of_bytes forced us to use no decimals for bytes, while test_exactly_one_kilobyte forced us to use one decimal for everything else. We didn't decide that separately. The tests made us commit before we wrote any code.</a:t>
            </a:r>
            <a:endParaRPr/>
          </a:p>
        </p:txBody>
      </p:sp>
      <p:sp>
        <p:nvSpPr>
          <p:cNvPr id="369" name="Google Shape;369;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7" name="Google Shape;37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Summary of the two insights, then forward reference. Assignment 2 will have testing requirements starting at bronze tier, so students need to take 4.2 seriously.</a:t>
            </a:r>
            <a:endParaRPr/>
          </a:p>
        </p:txBody>
      </p:sp>
      <p:sp>
        <p:nvSpPr>
          <p:cNvPr id="378" name="Google Shape;378;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e031ea9680_0_15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4" name="Google Shape;384;g3e031ea9680_0_15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4.1 taught the fundamentals on pure functions. Now reality hits.</a:t>
            </a:r>
            <a:endParaRPr/>
          </a:p>
        </p:txBody>
      </p:sp>
      <p:sp>
        <p:nvSpPr>
          <p:cNvPr id="385" name="Google Shape;385;g3e031ea9680_0_15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e031ea9680_0_16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0" name="Google Shape;390;g3e031ea9680_0_16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Set up the contrast between pure functions (easy) and the real code students wrote last week (hard). Don't explain why yet - make them see it on the next slide.</a:t>
            </a:r>
            <a:endParaRPr/>
          </a:p>
        </p:txBody>
      </p:sp>
      <p:sp>
        <p:nvSpPr>
          <p:cNvPr id="391" name="Google Shape;391;g3e031ea9680_0_16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e031ea9680_0_17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g3e031ea9680_0_17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Every item on the list becomes a mini-section of this lecture. The phrase 'control the world around your code' is the central insight. Keep pointing back to it.</a:t>
            </a:r>
            <a:endParaRPr/>
          </a:p>
          <a:p>
            <a:pPr indent="0" lvl="0" marL="0" rtl="0" algn="l">
              <a:spcBef>
                <a:spcPts val="0"/>
              </a:spcBef>
              <a:spcAft>
                <a:spcPts val="0"/>
              </a:spcAft>
              <a:buNone/>
            </a:pPr>
            <a:r>
              <a:rPr lang="en-US"/>
              <a:t>The trick of practical testing is one phrase:</a:t>
            </a:r>
            <a:endParaRPr/>
          </a:p>
          <a:p>
            <a:pPr indent="0" lvl="0" marL="0" rtl="0" algn="l">
              <a:spcBef>
                <a:spcPts val="0"/>
              </a:spcBef>
              <a:spcAft>
                <a:spcPts val="0"/>
              </a:spcAft>
              <a:buNone/>
            </a:pPr>
            <a:r>
              <a:rPr lang="en-US"/>
              <a:t>control the world around your code.</a:t>
            </a:r>
            <a:endParaRPr/>
          </a:p>
          <a:p>
            <a:pPr indent="0" lvl="0" marL="0" rtl="0" algn="l">
              <a:spcBef>
                <a:spcPts val="0"/>
              </a:spcBef>
              <a:spcAft>
                <a:spcPts val="0"/>
              </a:spcAft>
              <a:buNone/>
            </a:pPr>
            <a:r>
              <a:t/>
            </a:r>
            <a:endParaRPr/>
          </a:p>
        </p:txBody>
      </p:sp>
      <p:sp>
        <p:nvSpPr>
          <p:cNvPr id="398" name="Google Shape;398;g3e031ea9680_0_17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e031ea9680_0_17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4" name="Google Shape;404;g3e031ea9680_0_17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test works. Technically. It spins up the real uvicorn, hits the real endpoint, and checks the real response. Every dependency is real - which is exactly the problem. Read it out loud line by line before the discussion slide.</a:t>
            </a:r>
            <a:endParaRPr/>
          </a:p>
        </p:txBody>
      </p:sp>
      <p:sp>
        <p:nvSpPr>
          <p:cNvPr id="405" name="Google Shape;405;g3e031ea9680_0_17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e031ea9680_0_27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3" name="Google Shape;413;g3e031ea9680_0_27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Most of these came out of the last discussion. Go quickly; students have already internalized the first two. Spend the most time on deterministic and independent, which are newer to them and will come up in 4.2 when we talk about databases and fixtures.</a:t>
            </a:r>
            <a:endParaRPr/>
          </a:p>
        </p:txBody>
      </p:sp>
      <p:sp>
        <p:nvSpPr>
          <p:cNvPr id="414" name="Google Shape;414;g3e031ea9680_0_27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3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3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3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3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5"/>
          <p:cNvSpPr/>
          <p:nvPr>
            <p:ph idx="2" type="pic"/>
          </p:nvPr>
        </p:nvSpPr>
        <p:spPr>
          <a:xfrm>
            <a:off x="1792288" y="612775"/>
            <a:ext cx="5486400" cy="4114800"/>
          </a:xfrm>
          <a:prstGeom prst="rect">
            <a:avLst/>
          </a:prstGeom>
          <a:noFill/>
          <a:ln>
            <a:noFill/>
          </a:ln>
        </p:spPr>
      </p:sp>
      <p:sp>
        <p:nvSpPr>
          <p:cNvPr id="64" name="Google Shape;64;p3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1.png"/><Relationship Id="rId6"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4"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5B21B6"/>
                </a:solidFill>
                <a:latin typeface="Calibri"/>
                <a:ea typeface="Calibri"/>
                <a:cs typeface="Calibri"/>
                <a:sym typeface="Calibri"/>
              </a:rPr>
              <a:t>Lecture 4.1</a:t>
            </a:r>
            <a:endParaRPr/>
          </a:p>
        </p:txBody>
      </p:sp>
      <p:sp>
        <p:nvSpPr>
          <p:cNvPr id="87" name="Google Shape;87;p1"/>
          <p:cNvSpPr txBox="1"/>
          <p:nvPr/>
        </p:nvSpPr>
        <p:spPr>
          <a:xfrm>
            <a:off x="914400" y="2468880"/>
            <a:ext cx="10362895" cy="1828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4800" u="none" cap="none" strike="noStrike">
                <a:solidFill>
                  <a:srgbClr val="1A1A2E"/>
                </a:solidFill>
                <a:latin typeface="Calibri"/>
                <a:ea typeface="Calibri"/>
                <a:cs typeface="Calibri"/>
                <a:sym typeface="Calibri"/>
              </a:rPr>
              <a:t>Testing Principles</a:t>
            </a:r>
            <a:endParaRPr/>
          </a:p>
        </p:txBody>
      </p:sp>
      <p:sp>
        <p:nvSpPr>
          <p:cNvPr id="88" name="Google Shape;88;p1"/>
          <p:cNvSpPr txBox="1"/>
          <p:nvPr/>
        </p:nvSpPr>
        <p:spPr>
          <a:xfrm>
            <a:off x="914400" y="4754880"/>
            <a:ext cx="1036289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3" name="Shape 93"/>
        <p:cNvGrpSpPr/>
        <p:nvPr/>
      </p:nvGrpSpPr>
      <p:grpSpPr>
        <a:xfrm>
          <a:off x="0" y="0"/>
          <a:ext cx="0" cy="0"/>
          <a:chOff x="0" y="0"/>
          <a:chExt cx="0" cy="0"/>
        </a:xfrm>
      </p:grpSpPr>
      <p:sp>
        <p:nvSpPr>
          <p:cNvPr id="94" name="Google Shape;94;g3e031ea9680_0_0"/>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An exercise</a:t>
            </a:r>
            <a:endParaRPr/>
          </a:p>
        </p:txBody>
      </p:sp>
      <p:sp>
        <p:nvSpPr>
          <p:cNvPr id="95" name="Google Shape;95;g3e031ea9680_0_0"/>
          <p:cNvSpPr txBox="1"/>
          <p:nvPr/>
        </p:nvSpPr>
        <p:spPr>
          <a:xfrm>
            <a:off x="914400" y="1463040"/>
            <a:ext cx="10362900" cy="44790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lang="en-US" sz="2400">
                <a:solidFill>
                  <a:srgbClr val="333344"/>
                </a:solidFill>
                <a:latin typeface="Calibri"/>
                <a:ea typeface="Calibri"/>
                <a:cs typeface="Calibri"/>
                <a:sym typeface="Calibri"/>
              </a:rPr>
              <a:t>What does this function do?</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rPr lang="en-US" sz="2400">
                <a:solidFill>
                  <a:srgbClr val="333344"/>
                </a:solidFill>
                <a:latin typeface="Courier Prime"/>
                <a:ea typeface="Courier Prime"/>
                <a:cs typeface="Courier Prime"/>
                <a:sym typeface="Courier Prime"/>
              </a:rPr>
              <a:t>	</a:t>
            </a:r>
            <a:r>
              <a:rPr b="1" lang="en-US" sz="2400">
                <a:solidFill>
                  <a:srgbClr val="333344"/>
                </a:solidFill>
                <a:latin typeface="Courier Prime"/>
                <a:ea typeface="Courier Prime"/>
                <a:cs typeface="Courier Prime"/>
                <a:sym typeface="Courier Prime"/>
              </a:rPr>
              <a:t>def foo(x: int, y: int, z: int) -&gt; bool:</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rPr b="1" lang="en-US" sz="2400">
                <a:solidFill>
                  <a:srgbClr val="333344"/>
                </a:solidFill>
                <a:latin typeface="Courier Prime"/>
                <a:ea typeface="Courier Prime"/>
                <a:cs typeface="Courier Prime"/>
                <a:sym typeface="Courier Prime"/>
              </a:rPr>
              <a:t>2, 4, 6 -&gt; True</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rPr b="1" lang="en-US" sz="2400">
                <a:solidFill>
                  <a:srgbClr val="333344"/>
                </a:solidFill>
                <a:latin typeface="Courier Prime"/>
                <a:ea typeface="Courier Prime"/>
                <a:cs typeface="Courier Prime"/>
                <a:sym typeface="Courier Prime"/>
              </a:rPr>
              <a:t>3, 6, 9 -&gt; True</a:t>
            </a:r>
            <a:endParaRPr b="1" sz="2400">
              <a:solidFill>
                <a:srgbClr val="333344"/>
              </a:solidFill>
              <a:latin typeface="Courier Prime"/>
              <a:ea typeface="Courier Prime"/>
              <a:cs typeface="Courier Prime"/>
              <a:sym typeface="Courier Prim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0" name="Shape 100"/>
        <p:cNvGrpSpPr/>
        <p:nvPr/>
      </p:nvGrpSpPr>
      <p:grpSpPr>
        <a:xfrm>
          <a:off x="0" y="0"/>
          <a:ext cx="0" cy="0"/>
          <a:chOff x="0" y="0"/>
          <a:chExt cx="0" cy="0"/>
        </a:xfrm>
      </p:grpSpPr>
      <p:sp>
        <p:nvSpPr>
          <p:cNvPr id="101" name="Google Shape;101;g3e031ea9680_0_6"/>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An exercise</a:t>
            </a:r>
            <a:endParaRPr/>
          </a:p>
        </p:txBody>
      </p:sp>
      <p:sp>
        <p:nvSpPr>
          <p:cNvPr id="102" name="Google Shape;102;g3e031ea9680_0_6"/>
          <p:cNvSpPr txBox="1"/>
          <p:nvPr/>
        </p:nvSpPr>
        <p:spPr>
          <a:xfrm>
            <a:off x="914400" y="1463040"/>
            <a:ext cx="10362900" cy="44790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lang="en-US" sz="2400">
                <a:solidFill>
                  <a:srgbClr val="333344"/>
                </a:solidFill>
                <a:latin typeface="Calibri"/>
                <a:ea typeface="Calibri"/>
                <a:cs typeface="Calibri"/>
                <a:sym typeface="Calibri"/>
              </a:rPr>
              <a:t>What does this function do?</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rPr lang="en-US" sz="2400">
                <a:solidFill>
                  <a:srgbClr val="333344"/>
                </a:solidFill>
                <a:latin typeface="Courier Prime"/>
                <a:ea typeface="Courier Prime"/>
                <a:cs typeface="Courier Prime"/>
                <a:sym typeface="Courier Prime"/>
              </a:rPr>
              <a:t>	</a:t>
            </a:r>
            <a:r>
              <a:rPr b="1" lang="en-US" sz="2400">
                <a:solidFill>
                  <a:srgbClr val="333344"/>
                </a:solidFill>
                <a:latin typeface="Courier Prime"/>
                <a:ea typeface="Courier Prime"/>
                <a:cs typeface="Courier Prime"/>
                <a:sym typeface="Courier Prime"/>
              </a:rPr>
              <a:t>def foo(x: int, y: int, z: int) -&gt; bool:</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rPr b="1" lang="en-US" sz="2400">
                <a:solidFill>
                  <a:srgbClr val="333344"/>
                </a:solidFill>
                <a:latin typeface="Courier Prime"/>
                <a:ea typeface="Courier Prime"/>
                <a:cs typeface="Courier Prime"/>
                <a:sym typeface="Courier Prime"/>
              </a:rPr>
              <a:t>		return True</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rPr b="1" lang="en-US" sz="2400">
                <a:solidFill>
                  <a:srgbClr val="333344"/>
                </a:solidFill>
                <a:latin typeface="Courier Prime"/>
                <a:ea typeface="Courier Prime"/>
                <a:cs typeface="Courier Prime"/>
                <a:sym typeface="Courier Prime"/>
              </a:rPr>
              <a:t>2, 4, 6 -&gt; True</a:t>
            </a:r>
            <a:endParaRPr b="1" sz="2400">
              <a:solidFill>
                <a:srgbClr val="333344"/>
              </a:solidFill>
              <a:latin typeface="Courier Prime"/>
              <a:ea typeface="Courier Prime"/>
              <a:cs typeface="Courier Prime"/>
              <a:sym typeface="Courier Prime"/>
            </a:endParaRPr>
          </a:p>
          <a:p>
            <a:pPr indent="0" lvl="0" marL="0" marR="0" rtl="0" algn="l">
              <a:spcBef>
                <a:spcPts val="600"/>
              </a:spcBef>
              <a:spcAft>
                <a:spcPts val="0"/>
              </a:spcAft>
              <a:buNone/>
            </a:pPr>
            <a:r>
              <a:rPr b="1" lang="en-US" sz="2400">
                <a:solidFill>
                  <a:srgbClr val="333344"/>
                </a:solidFill>
                <a:latin typeface="Courier Prime"/>
                <a:ea typeface="Courier Prime"/>
                <a:cs typeface="Courier Prime"/>
                <a:sym typeface="Courier Prime"/>
              </a:rPr>
              <a:t>3, 6, 9 -&gt; True</a:t>
            </a:r>
            <a:endParaRPr b="1" sz="2400">
              <a:solidFill>
                <a:srgbClr val="333344"/>
              </a:solidFill>
              <a:latin typeface="Courier Prime"/>
              <a:ea typeface="Courier Prime"/>
              <a:cs typeface="Courier Prime"/>
              <a:sym typeface="Courier Prim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07" name="Shape 107"/>
        <p:cNvGrpSpPr/>
        <p:nvPr/>
      </p:nvGrpSpPr>
      <p:grpSpPr>
        <a:xfrm>
          <a:off x="0" y="0"/>
          <a:ext cx="0" cy="0"/>
          <a:chOff x="0" y="0"/>
          <a:chExt cx="0" cy="0"/>
        </a:xfrm>
      </p:grpSpPr>
      <p:sp>
        <p:nvSpPr>
          <p:cNvPr id="108" name="Google Shape;108;p2"/>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How Do You Know Your Code Works?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3" name="Shape 113"/>
        <p:cNvGrpSpPr/>
        <p:nvPr/>
      </p:nvGrpSpPr>
      <p:grpSpPr>
        <a:xfrm>
          <a:off x="0" y="0"/>
          <a:ext cx="0" cy="0"/>
          <a:chOff x="0" y="0"/>
          <a:chExt cx="0" cy="0"/>
        </a:xfrm>
      </p:grpSpPr>
      <p:sp>
        <p:nvSpPr>
          <p:cNvPr id="114" name="Google Shape;114;g3e031ea9680_0_87"/>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Last week, you shipped code</a:t>
            </a:r>
            <a:endParaRPr/>
          </a:p>
        </p:txBody>
      </p:sp>
      <p:sp>
        <p:nvSpPr>
          <p:cNvPr id="115" name="Google Shape;115;g3e031ea9680_0_87"/>
          <p:cNvSpPr txBox="1"/>
          <p:nvPr/>
        </p:nvSpPr>
        <p:spPr>
          <a:xfrm>
            <a:off x="914400" y="1463050"/>
            <a:ext cx="10728600" cy="1139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This week you’re writing api endpoints to talk to a database.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GET /api/messages, POST /api/messages, DELETE /api/messages/{id}.</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0" name="Shape 120"/>
        <p:cNvGrpSpPr/>
        <p:nvPr/>
      </p:nvGrpSpPr>
      <p:grpSpPr>
        <a:xfrm>
          <a:off x="0" y="0"/>
          <a:ext cx="0" cy="0"/>
          <a:chOff x="0" y="0"/>
          <a:chExt cx="0" cy="0"/>
        </a:xfrm>
      </p:grpSpPr>
      <p:sp>
        <p:nvSpPr>
          <p:cNvPr id="121" name="Google Shape;121;g3e031ea9680_0_97"/>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Last week, you shipped code</a:t>
            </a:r>
            <a:endParaRPr/>
          </a:p>
        </p:txBody>
      </p:sp>
      <p:sp>
        <p:nvSpPr>
          <p:cNvPr id="122" name="Google Shape;122;g3e031ea9680_0_97"/>
          <p:cNvSpPr txBox="1"/>
          <p:nvPr/>
        </p:nvSpPr>
        <p:spPr>
          <a:xfrm>
            <a:off x="914400" y="1463050"/>
            <a:ext cx="10728600" cy="1970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This week you’re writing api endpoints to talk to a database.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GET /api/messages, POST /api/messages, DELETE /api/messages/{id}.</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lang="en-US" sz="2400">
                <a:solidFill>
                  <a:srgbClr val="333344"/>
                </a:solidFill>
                <a:latin typeface="Calibri"/>
                <a:ea typeface="Calibri"/>
                <a:cs typeface="Calibri"/>
                <a:sym typeface="Calibri"/>
              </a:rPr>
              <a:t>Ho</a:t>
            </a:r>
            <a:r>
              <a:rPr b="0" i="0" lang="en-US" sz="2400" u="none" cap="none" strike="noStrike">
                <a:solidFill>
                  <a:srgbClr val="333344"/>
                </a:solidFill>
                <a:latin typeface="Calibri"/>
                <a:ea typeface="Calibri"/>
                <a:cs typeface="Calibri"/>
                <a:sym typeface="Calibri"/>
              </a:rPr>
              <a:t>w </a:t>
            </a:r>
            <a:r>
              <a:rPr lang="en-US" sz="2400">
                <a:solidFill>
                  <a:srgbClr val="333344"/>
                </a:solidFill>
                <a:latin typeface="Calibri"/>
                <a:ea typeface="Calibri"/>
                <a:cs typeface="Calibri"/>
                <a:sym typeface="Calibri"/>
              </a:rPr>
              <a:t>do</a:t>
            </a:r>
            <a:r>
              <a:rPr b="0" i="0" lang="en-US" sz="2400" u="none" cap="none" strike="noStrike">
                <a:solidFill>
                  <a:srgbClr val="333344"/>
                </a:solidFill>
                <a:latin typeface="Calibri"/>
                <a:ea typeface="Calibri"/>
                <a:cs typeface="Calibri"/>
                <a:sym typeface="Calibri"/>
              </a:rPr>
              <a:t> you know they actually worked?</a:t>
            </a:r>
            <a:endParaRPr/>
          </a:p>
          <a:p>
            <a:pPr indent="0" lvl="0" marL="0" marR="0" rtl="0" algn="l">
              <a:spcBef>
                <a:spcPts val="6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7" name="Shape 127"/>
        <p:cNvGrpSpPr/>
        <p:nvPr/>
      </p:nvGrpSpPr>
      <p:grpSpPr>
        <a:xfrm>
          <a:off x="0" y="0"/>
          <a:ext cx="0" cy="0"/>
          <a:chOff x="0" y="0"/>
          <a:chExt cx="0" cy="0"/>
        </a:xfrm>
      </p:grpSpPr>
      <p:sp>
        <p:nvSpPr>
          <p:cNvPr id="128" name="Google Shape;128;p3"/>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Last week, you shipped code</a:t>
            </a:r>
            <a:endParaRPr/>
          </a:p>
        </p:txBody>
      </p:sp>
      <p:sp>
        <p:nvSpPr>
          <p:cNvPr id="129" name="Google Shape;129;p3"/>
          <p:cNvSpPr txBox="1"/>
          <p:nvPr/>
        </p:nvSpPr>
        <p:spPr>
          <a:xfrm>
            <a:off x="914400" y="1463050"/>
            <a:ext cx="10728600" cy="440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This week you’re writing api endpoints to talk to a database.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GET /api/messages, POST /api/messages, DELETE /api/messages/{id}.</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lang="en-US" sz="2400">
                <a:solidFill>
                  <a:srgbClr val="333344"/>
                </a:solidFill>
                <a:latin typeface="Calibri"/>
                <a:ea typeface="Calibri"/>
                <a:cs typeface="Calibri"/>
                <a:sym typeface="Calibri"/>
              </a:rPr>
              <a:t>Ho</a:t>
            </a:r>
            <a:r>
              <a:rPr b="0" i="0" lang="en-US" sz="2400" u="none" cap="none" strike="noStrike">
                <a:solidFill>
                  <a:srgbClr val="333344"/>
                </a:solidFill>
                <a:latin typeface="Calibri"/>
                <a:ea typeface="Calibri"/>
                <a:cs typeface="Calibri"/>
                <a:sym typeface="Calibri"/>
              </a:rPr>
              <a:t>w </a:t>
            </a:r>
            <a:r>
              <a:rPr lang="en-US" sz="2400">
                <a:solidFill>
                  <a:srgbClr val="333344"/>
                </a:solidFill>
                <a:latin typeface="Calibri"/>
                <a:ea typeface="Calibri"/>
                <a:cs typeface="Calibri"/>
                <a:sym typeface="Calibri"/>
              </a:rPr>
              <a:t>do</a:t>
            </a:r>
            <a:r>
              <a:rPr b="0" i="0" lang="en-US" sz="2400" u="none" cap="none" strike="noStrike">
                <a:solidFill>
                  <a:srgbClr val="333344"/>
                </a:solidFill>
                <a:latin typeface="Calibri"/>
                <a:ea typeface="Calibri"/>
                <a:cs typeface="Calibri"/>
                <a:sym typeface="Calibri"/>
              </a:rPr>
              <a:t> you know they actually worked?</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For most of you, the answer was something like: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Start </a:t>
            </a:r>
            <a:r>
              <a:rPr b="1" i="0" lang="en-US" sz="2000" u="none" cap="none" strike="noStrike">
                <a:solidFill>
                  <a:srgbClr val="666677"/>
                </a:solidFill>
                <a:latin typeface="Courier Prime"/>
                <a:ea typeface="Courier Prime"/>
                <a:cs typeface="Courier Prime"/>
                <a:sym typeface="Courier Prime"/>
              </a:rPr>
              <a:t>uvicorn</a:t>
            </a:r>
            <a:endParaRPr b="1">
              <a:latin typeface="Courier Prime"/>
              <a:ea typeface="Courier Prime"/>
              <a:cs typeface="Courier Prime"/>
              <a:sym typeface="Courier Prime"/>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Hit the endpoint with </a:t>
            </a:r>
            <a:r>
              <a:rPr b="1" i="0" lang="en-US" sz="2000" u="none" cap="none" strike="noStrike">
                <a:solidFill>
                  <a:srgbClr val="666677"/>
                </a:solidFill>
                <a:latin typeface="Courier Prime"/>
                <a:ea typeface="Courier Prime"/>
                <a:cs typeface="Courier Prime"/>
                <a:sym typeface="Courier Prime"/>
              </a:rPr>
              <a:t>curl</a:t>
            </a:r>
            <a:endParaRPr b="1">
              <a:latin typeface="Courier Prime"/>
              <a:ea typeface="Courier Prime"/>
              <a:cs typeface="Courier Prime"/>
              <a:sym typeface="Courier Prime"/>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Eyeball the JSON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"Yep, looks right."</a:t>
            </a:r>
            <a:endParaRPr/>
          </a:p>
          <a:p>
            <a:pPr indent="0" lvl="0" marL="0" marR="0" rtl="0" algn="l">
              <a:spcBef>
                <a:spcPts val="6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4"/>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That's called manual verification</a:t>
            </a:r>
            <a:endParaRPr/>
          </a:p>
        </p:txBody>
      </p:sp>
      <p:sp>
        <p:nvSpPr>
          <p:cNvPr id="136" name="Google Shape;136;p4"/>
          <p:cNvSpPr txBox="1"/>
          <p:nvPr/>
        </p:nvSpPr>
        <p:spPr>
          <a:xfrm>
            <a:off x="914400" y="1463040"/>
            <a:ext cx="10362900" cy="5479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rgbClr val="333344"/>
                </a:solidFill>
                <a:latin typeface="Calibri"/>
                <a:ea typeface="Calibri"/>
                <a:cs typeface="Calibri"/>
                <a:sym typeface="Calibri"/>
              </a:rPr>
              <a:t>Manual verification.</a:t>
            </a:r>
            <a:r>
              <a:rPr b="0" i="0" lang="en-US" sz="2400" u="none" cap="none" strike="noStrike">
                <a:solidFill>
                  <a:srgbClr val="333344"/>
                </a:solidFill>
                <a:latin typeface="Calibri"/>
                <a:ea typeface="Calibri"/>
                <a:cs typeface="Calibri"/>
                <a:sym typeface="Calibri"/>
              </a:rPr>
              <a:t> Running the code yourself and eyeballing the output to decide if it's right. </a:t>
            </a:r>
            <a:r>
              <a:rPr lang="en-US" sz="2400">
                <a:solidFill>
                  <a:srgbClr val="333344"/>
                </a:solidFill>
                <a:latin typeface="Calibri"/>
                <a:ea typeface="Calibri"/>
                <a:cs typeface="Calibri"/>
                <a:sym typeface="Calibri"/>
              </a:rPr>
              <a:t>Easiest</a:t>
            </a:r>
            <a:r>
              <a:rPr b="0" i="0" lang="en-US" sz="2400" u="none" cap="none" strike="noStrike">
                <a:solidFill>
                  <a:srgbClr val="333344"/>
                </a:solidFill>
                <a:latin typeface="Calibri"/>
                <a:ea typeface="Calibri"/>
                <a:cs typeface="Calibri"/>
                <a:sym typeface="Calibri"/>
              </a:rPr>
              <a:t> form of testing.</a:t>
            </a:r>
            <a:endParaRPr sz="2400">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Works fine for: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Five lines of throwaway code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one-shot script you'll never touch again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very first time you write anything</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Falls apart when: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have more than a few functions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plan to change the code later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want to sleep at night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1" name="Shape 141"/>
        <p:cNvGrpSpPr/>
        <p:nvPr/>
      </p:nvGrpSpPr>
      <p:grpSpPr>
        <a:xfrm>
          <a:off x="0" y="0"/>
          <a:ext cx="0" cy="0"/>
          <a:chOff x="0" y="0"/>
          <a:chExt cx="0" cy="0"/>
        </a:xfrm>
      </p:grpSpPr>
      <p:sp>
        <p:nvSpPr>
          <p:cNvPr id="142" name="Google Shape;142;p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function you might see anywhere</a:t>
            </a:r>
            <a:endParaRPr/>
          </a:p>
        </p:txBody>
      </p:sp>
      <p:sp>
        <p:nvSpPr>
          <p:cNvPr id="143" name="Google Shape;143;p5"/>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44" name="Google Shape;144;p5"/>
          <p:cNvSpPr txBox="1"/>
          <p:nvPr/>
        </p:nvSpPr>
        <p:spPr>
          <a:xfrm>
            <a:off x="1005840" y="1645920"/>
            <a:ext cx="10179900" cy="43764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shipping_cost(weight_lb: float, subtotal: float) -&gt; float: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the shipping cost for an order.</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Flat rate of $5.99 for orders under 2 lb.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Add $2.50/lb for every pound over 2 lb.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Free shipping on orders with a subtotal of $50 or more.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if subtotal &gt;= 50.0: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0.0</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base = 5.99</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if weight_lb &gt; 2.0: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base += 2.50 * (weight_lb - 2.0)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round(base, 2)</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9" name="Shape 149"/>
        <p:cNvGrpSpPr/>
        <p:nvPr/>
      </p:nvGrpSpPr>
      <p:grpSpPr>
        <a:xfrm>
          <a:off x="0" y="0"/>
          <a:ext cx="0" cy="0"/>
          <a:chOff x="0" y="0"/>
          <a:chExt cx="0" cy="0"/>
        </a:xfrm>
      </p:grpSpPr>
      <p:sp>
        <p:nvSpPr>
          <p:cNvPr id="150" name="Google Shape;150;g3d857cbebff_0_14"/>
          <p:cNvSpPr txBox="1"/>
          <p:nvPr/>
        </p:nvSpPr>
        <p:spPr>
          <a:xfrm>
            <a:off x="731520" y="365760"/>
            <a:ext cx="10728600" cy="708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4000">
                <a:solidFill>
                  <a:srgbClr val="1A1A2E"/>
                </a:solidFill>
                <a:latin typeface="Calibri"/>
                <a:ea typeface="Calibri"/>
                <a:cs typeface="Calibri"/>
                <a:sym typeface="Calibri"/>
              </a:rPr>
              <a:t>CONVINCE ME THIS IS CORRECT</a:t>
            </a:r>
            <a:endParaRPr sz="2200"/>
          </a:p>
        </p:txBody>
      </p:sp>
      <p:sp>
        <p:nvSpPr>
          <p:cNvPr id="151" name="Google Shape;151;g3d857cbebff_0_14"/>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52" name="Google Shape;152;g3d857cbebff_0_14"/>
          <p:cNvSpPr txBox="1"/>
          <p:nvPr/>
        </p:nvSpPr>
        <p:spPr>
          <a:xfrm>
            <a:off x="1005840" y="1645920"/>
            <a:ext cx="10179900" cy="43764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shipping_cost(weight_lb: float, subtotal: float) -&gt; float: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the shipping cost for an order.</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Flat rate of $5.99 for orders under 2 lb.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Add $2.50/lb for every pound over 2 lb.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Free shipping on orders with a subtotal of $50 or more.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if subtotal &gt;= 50.0: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0.0</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base = 5.99</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if weight_lb &gt; 2.0: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base += 2.50 * (weight_lb - 2.0)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round(base, 2)</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157" name="Shape 157"/>
        <p:cNvGrpSpPr/>
        <p:nvPr/>
      </p:nvGrpSpPr>
      <p:grpSpPr>
        <a:xfrm>
          <a:off x="0" y="0"/>
          <a:ext cx="0" cy="0"/>
          <a:chOff x="0" y="0"/>
          <a:chExt cx="0" cy="0"/>
        </a:xfrm>
      </p:grpSpPr>
      <p:sp>
        <p:nvSpPr>
          <p:cNvPr id="158" name="Google Shape;158;p7"/>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Manual Verification Falls Apart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3" name="Shape 163"/>
        <p:cNvGrpSpPr/>
        <p:nvPr/>
      </p:nvGrpSpPr>
      <p:grpSpPr>
        <a:xfrm>
          <a:off x="0" y="0"/>
          <a:ext cx="0" cy="0"/>
          <a:chOff x="0" y="0"/>
          <a:chExt cx="0" cy="0"/>
        </a:xfrm>
      </p:grpSpPr>
      <p:sp>
        <p:nvSpPr>
          <p:cNvPr id="164" name="Google Shape;164;g3e031ea9680_0_111"/>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"It worked on my machine, one time, last Tuesday"</a:t>
            </a:r>
            <a:endParaRPr/>
          </a:p>
        </p:txBody>
      </p:sp>
      <p:sp>
        <p:nvSpPr>
          <p:cNvPr id="165" name="Google Shape;165;g3e031ea9680_0_111"/>
          <p:cNvSpPr txBox="1"/>
          <p:nvPr/>
        </p:nvSpPr>
        <p:spPr>
          <a:xfrm>
            <a:off x="782925" y="1136000"/>
            <a:ext cx="11129400" cy="12315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1. Doesn't repeat.</a:t>
            </a:r>
            <a:r>
              <a:rPr b="0" i="0" lang="en-US" sz="2400" u="none" cap="none" strike="noStrike">
                <a:solidFill>
                  <a:srgbClr val="333344"/>
                </a:solidFill>
                <a:latin typeface="Calibri"/>
                <a:ea typeface="Calibri"/>
                <a:cs typeface="Calibri"/>
                <a:sym typeface="Calibri"/>
              </a:rPr>
              <a:t> Every change means redoing all the eyeballing.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Nobody actually does this.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0" name="Shape 170"/>
        <p:cNvGrpSpPr/>
        <p:nvPr/>
      </p:nvGrpSpPr>
      <p:grpSpPr>
        <a:xfrm>
          <a:off x="0" y="0"/>
          <a:ext cx="0" cy="0"/>
          <a:chOff x="0" y="0"/>
          <a:chExt cx="0" cy="0"/>
        </a:xfrm>
      </p:grpSpPr>
      <p:sp>
        <p:nvSpPr>
          <p:cNvPr id="171" name="Google Shape;171;g3e031ea9680_0_117"/>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"It worked on my machine, one time, last Tuesday"</a:t>
            </a:r>
            <a:endParaRPr/>
          </a:p>
        </p:txBody>
      </p:sp>
      <p:sp>
        <p:nvSpPr>
          <p:cNvPr id="172" name="Google Shape;172;g3e031ea9680_0_117"/>
          <p:cNvSpPr txBox="1"/>
          <p:nvPr/>
        </p:nvSpPr>
        <p:spPr>
          <a:xfrm>
            <a:off x="782925" y="1136000"/>
            <a:ext cx="11129400" cy="19701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1. Doesn't repeat.</a:t>
            </a:r>
            <a:r>
              <a:rPr b="0" i="0" lang="en-US" sz="2400" u="none" cap="none" strike="noStrike">
                <a:solidFill>
                  <a:srgbClr val="333344"/>
                </a:solidFill>
                <a:latin typeface="Calibri"/>
                <a:ea typeface="Calibri"/>
                <a:cs typeface="Calibri"/>
                <a:sym typeface="Calibri"/>
              </a:rPr>
              <a:t> Every change means redoing all the eyeballing.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Nobody actually does this.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2. Doesn't scale.</a:t>
            </a:r>
            <a:r>
              <a:rPr b="0" i="0" lang="en-US" sz="2400" u="none" cap="none" strike="noStrike">
                <a:solidFill>
                  <a:srgbClr val="333344"/>
                </a:solidFill>
                <a:latin typeface="Calibri"/>
                <a:ea typeface="Calibri"/>
                <a:cs typeface="Calibri"/>
                <a:sym typeface="Calibri"/>
              </a:rPr>
              <a:t> Ten functions times three scenarios = thirty checks</a:t>
            </a:r>
            <a:endParaRPr/>
          </a:p>
          <a:p>
            <a:pPr indent="0" lvl="1" marL="457200" marR="0" rtl="0" algn="l">
              <a:spcBef>
                <a:spcPts val="6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7" name="Shape 177"/>
        <p:cNvGrpSpPr/>
        <p:nvPr/>
      </p:nvGrpSpPr>
      <p:grpSpPr>
        <a:xfrm>
          <a:off x="0" y="0"/>
          <a:ext cx="0" cy="0"/>
          <a:chOff x="0" y="0"/>
          <a:chExt cx="0" cy="0"/>
        </a:xfrm>
      </p:grpSpPr>
      <p:sp>
        <p:nvSpPr>
          <p:cNvPr id="178" name="Google Shape;178;g3e031ea9680_0_12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"It worked on my machine, one time, last Tuesday"</a:t>
            </a:r>
            <a:endParaRPr/>
          </a:p>
        </p:txBody>
      </p:sp>
      <p:sp>
        <p:nvSpPr>
          <p:cNvPr id="179" name="Google Shape;179;g3e031ea9680_0_123"/>
          <p:cNvSpPr txBox="1"/>
          <p:nvPr/>
        </p:nvSpPr>
        <p:spPr>
          <a:xfrm>
            <a:off x="782925" y="1136000"/>
            <a:ext cx="11129400" cy="31863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1. Doesn't repeat.</a:t>
            </a:r>
            <a:r>
              <a:rPr b="0" i="0" lang="en-US" sz="2400" u="none" cap="none" strike="noStrike">
                <a:solidFill>
                  <a:srgbClr val="333344"/>
                </a:solidFill>
                <a:latin typeface="Calibri"/>
                <a:ea typeface="Calibri"/>
                <a:cs typeface="Calibri"/>
                <a:sym typeface="Calibri"/>
              </a:rPr>
              <a:t> Every change means redoing all the eyeballing.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Nobody actually does this.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2. Doesn't scale.</a:t>
            </a:r>
            <a:r>
              <a:rPr b="0" i="0" lang="en-US" sz="2400" u="none" cap="none" strike="noStrike">
                <a:solidFill>
                  <a:srgbClr val="333344"/>
                </a:solidFill>
                <a:latin typeface="Calibri"/>
                <a:ea typeface="Calibri"/>
                <a:cs typeface="Calibri"/>
                <a:sym typeface="Calibri"/>
              </a:rPr>
              <a:t> Ten functions times three scenarios = thirty checks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3. Doesn't remember.</a:t>
            </a:r>
            <a:r>
              <a:rPr b="0" i="0" lang="en-US" sz="2400" u="none" cap="none" strike="noStrike">
                <a:solidFill>
                  <a:srgbClr val="333344"/>
                </a:solidFill>
                <a:latin typeface="Calibri"/>
                <a:ea typeface="Calibri"/>
                <a:cs typeface="Calibri"/>
                <a:sym typeface="Calibri"/>
              </a:rPr>
              <a:t> Change A, silently break C. Call it a </a:t>
            </a:r>
            <a:r>
              <a:rPr b="1" i="0" lang="en-US" sz="2400" u="none" cap="none" strike="noStrike">
                <a:solidFill>
                  <a:srgbClr val="333344"/>
                </a:solidFill>
                <a:latin typeface="Calibri"/>
                <a:ea typeface="Calibri"/>
                <a:cs typeface="Calibri"/>
                <a:sym typeface="Calibri"/>
              </a:rPr>
              <a:t>regression.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#1 source of bugs in existing software.</a:t>
            </a:r>
            <a:endParaRPr/>
          </a:p>
          <a:p>
            <a:pPr indent="0" lvl="1" marL="457200" marR="0" rtl="0" algn="l">
              <a:spcBef>
                <a:spcPts val="60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4" name="Shape 184"/>
        <p:cNvGrpSpPr/>
        <p:nvPr/>
      </p:nvGrpSpPr>
      <p:grpSpPr>
        <a:xfrm>
          <a:off x="0" y="0"/>
          <a:ext cx="0" cy="0"/>
          <a:chOff x="0" y="0"/>
          <a:chExt cx="0" cy="0"/>
        </a:xfrm>
      </p:grpSpPr>
      <p:sp>
        <p:nvSpPr>
          <p:cNvPr id="185" name="Google Shape;185;g3e031ea9680_0_12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"It worked on my machine, one time, last Tuesday"</a:t>
            </a:r>
            <a:endParaRPr/>
          </a:p>
        </p:txBody>
      </p:sp>
      <p:sp>
        <p:nvSpPr>
          <p:cNvPr id="186" name="Google Shape;186;g3e031ea9680_0_129"/>
          <p:cNvSpPr txBox="1"/>
          <p:nvPr/>
        </p:nvSpPr>
        <p:spPr>
          <a:xfrm>
            <a:off x="782925" y="1136000"/>
            <a:ext cx="11129400" cy="44946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1. Doesn't repeat.</a:t>
            </a:r>
            <a:r>
              <a:rPr b="0" i="0" lang="en-US" sz="2400" u="none" cap="none" strike="noStrike">
                <a:solidFill>
                  <a:srgbClr val="333344"/>
                </a:solidFill>
                <a:latin typeface="Calibri"/>
                <a:ea typeface="Calibri"/>
                <a:cs typeface="Calibri"/>
                <a:sym typeface="Calibri"/>
              </a:rPr>
              <a:t> Every change means redoing all the eyeballing.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Nobody actually does this.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2. Doesn't scale.</a:t>
            </a:r>
            <a:r>
              <a:rPr b="0" i="0" lang="en-US" sz="2400" u="none" cap="none" strike="noStrike">
                <a:solidFill>
                  <a:srgbClr val="333344"/>
                </a:solidFill>
                <a:latin typeface="Calibri"/>
                <a:ea typeface="Calibri"/>
                <a:cs typeface="Calibri"/>
                <a:sym typeface="Calibri"/>
              </a:rPr>
              <a:t> Ten functions times three scenarios = thirty checks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3. Doesn't remember.</a:t>
            </a:r>
            <a:r>
              <a:rPr b="0" i="0" lang="en-US" sz="2400" u="none" cap="none" strike="noStrike">
                <a:solidFill>
                  <a:srgbClr val="333344"/>
                </a:solidFill>
                <a:latin typeface="Calibri"/>
                <a:ea typeface="Calibri"/>
                <a:cs typeface="Calibri"/>
                <a:sym typeface="Calibri"/>
              </a:rPr>
              <a:t> Change A, silently break C. Call it a </a:t>
            </a:r>
            <a:r>
              <a:rPr b="1" i="0" lang="en-US" sz="2400" u="none" cap="none" strike="noStrike">
                <a:solidFill>
                  <a:srgbClr val="333344"/>
                </a:solidFill>
                <a:latin typeface="Calibri"/>
                <a:ea typeface="Calibri"/>
                <a:cs typeface="Calibri"/>
                <a:sym typeface="Calibri"/>
              </a:rPr>
              <a:t>regression.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#1 source of bugs in existing software.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4. Doesn't prove anything.</a:t>
            </a:r>
            <a:r>
              <a:rPr b="0" i="0" lang="en-US" sz="2400" u="none" cap="none" strike="noStrike">
                <a:solidFill>
                  <a:srgbClr val="333344"/>
                </a:solidFill>
                <a:latin typeface="Calibri"/>
                <a:ea typeface="Calibri"/>
                <a:cs typeface="Calibri"/>
                <a:sym typeface="Calibri"/>
              </a:rPr>
              <a:t> "Looked right" is not "is right."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1" name="Shape 191"/>
        <p:cNvGrpSpPr/>
        <p:nvPr/>
      </p:nvGrpSpPr>
      <p:grpSpPr>
        <a:xfrm>
          <a:off x="0" y="0"/>
          <a:ext cx="0" cy="0"/>
          <a:chOff x="0" y="0"/>
          <a:chExt cx="0" cy="0"/>
        </a:xfrm>
      </p:grpSpPr>
      <p:sp>
        <p:nvSpPr>
          <p:cNvPr id="192" name="Google Shape;192;p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"It worked on my machine, one time, last Tuesday"</a:t>
            </a:r>
            <a:endParaRPr/>
          </a:p>
        </p:txBody>
      </p:sp>
      <p:sp>
        <p:nvSpPr>
          <p:cNvPr id="193" name="Google Shape;193;p8"/>
          <p:cNvSpPr txBox="1"/>
          <p:nvPr/>
        </p:nvSpPr>
        <p:spPr>
          <a:xfrm>
            <a:off x="782925" y="1136000"/>
            <a:ext cx="11129400" cy="49410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1</a:t>
            </a:r>
            <a:r>
              <a:rPr b="1" i="0" lang="en-US" sz="2400" u="none" cap="none" strike="noStrike">
                <a:solidFill>
                  <a:srgbClr val="333344"/>
                </a:solidFill>
                <a:latin typeface="Calibri"/>
                <a:ea typeface="Calibri"/>
                <a:cs typeface="Calibri"/>
                <a:sym typeface="Calibri"/>
              </a:rPr>
              <a:t>. Doesn't repeat.</a:t>
            </a:r>
            <a:r>
              <a:rPr b="0" i="0" lang="en-US" sz="2400" u="none" cap="none" strike="noStrike">
                <a:solidFill>
                  <a:srgbClr val="333344"/>
                </a:solidFill>
                <a:latin typeface="Calibri"/>
                <a:ea typeface="Calibri"/>
                <a:cs typeface="Calibri"/>
                <a:sym typeface="Calibri"/>
              </a:rPr>
              <a:t> Every change means redoing all the eyeballing.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Nobody actually does this.</a:t>
            </a:r>
            <a:endParaRPr/>
          </a:p>
          <a:p>
            <a:pPr indent="0" lvl="0" marL="0" marR="0" rtl="0" algn="l">
              <a:spcBef>
                <a:spcPts val="600"/>
              </a:spcBef>
              <a:spcAft>
                <a:spcPts val="0"/>
              </a:spcAft>
              <a:buClr>
                <a:srgbClr val="000000"/>
              </a:buClr>
              <a:buFont typeface="Arial"/>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2</a:t>
            </a:r>
            <a:r>
              <a:rPr b="1" i="0" lang="en-US" sz="2400" u="none" cap="none" strike="noStrike">
                <a:solidFill>
                  <a:srgbClr val="333344"/>
                </a:solidFill>
                <a:latin typeface="Calibri"/>
                <a:ea typeface="Calibri"/>
                <a:cs typeface="Calibri"/>
                <a:sym typeface="Calibri"/>
              </a:rPr>
              <a:t>. Doesn't scale.</a:t>
            </a:r>
            <a:r>
              <a:rPr b="0" i="0" lang="en-US" sz="2400" u="none" cap="none" strike="noStrike">
                <a:solidFill>
                  <a:srgbClr val="333344"/>
                </a:solidFill>
                <a:latin typeface="Calibri"/>
                <a:ea typeface="Calibri"/>
                <a:cs typeface="Calibri"/>
                <a:sym typeface="Calibri"/>
              </a:rPr>
              <a:t> Ten functions times three scenarios = thirty checks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3. Doesn't remember.</a:t>
            </a:r>
            <a:r>
              <a:rPr b="0" i="0" lang="en-US" sz="2400" u="none" cap="none" strike="noStrike">
                <a:solidFill>
                  <a:srgbClr val="333344"/>
                </a:solidFill>
                <a:latin typeface="Calibri"/>
                <a:ea typeface="Calibri"/>
                <a:cs typeface="Calibri"/>
                <a:sym typeface="Calibri"/>
              </a:rPr>
              <a:t> Change A, silently break C. Call it a </a:t>
            </a:r>
            <a:r>
              <a:rPr b="1" i="0" lang="en-US" sz="2400" u="none" cap="none" strike="noStrike">
                <a:solidFill>
                  <a:srgbClr val="333344"/>
                </a:solidFill>
                <a:latin typeface="Calibri"/>
                <a:ea typeface="Calibri"/>
                <a:cs typeface="Calibri"/>
                <a:sym typeface="Calibri"/>
              </a:rPr>
              <a:t>regression.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#1 source of bugs in existing software.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4. Doesn't prove anything.</a:t>
            </a:r>
            <a:r>
              <a:rPr b="0" i="0" lang="en-US" sz="2400" u="none" cap="none" strike="noStrike">
                <a:solidFill>
                  <a:srgbClr val="333344"/>
                </a:solidFill>
                <a:latin typeface="Calibri"/>
                <a:ea typeface="Calibri"/>
                <a:cs typeface="Calibri"/>
                <a:sym typeface="Calibri"/>
              </a:rPr>
              <a:t> "Looked right" is not "is right."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5. Doesn't survive people.</a:t>
            </a:r>
            <a:r>
              <a:rPr b="0" i="0" lang="en-US" sz="2400" u="none" cap="none" strike="noStrike">
                <a:solidFill>
                  <a:srgbClr val="333344"/>
                </a:solidFill>
                <a:latin typeface="Calibri"/>
                <a:ea typeface="Calibri"/>
                <a:cs typeface="Calibri"/>
                <a:sym typeface="Calibri"/>
              </a:rPr>
              <a:t> The one person who knew how to check this function leaves.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g3e031ea9680_0_14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You can't hold a whole program in your head</a:t>
            </a:r>
            <a:endParaRPr/>
          </a:p>
        </p:txBody>
      </p:sp>
      <p:sp>
        <p:nvSpPr>
          <p:cNvPr id="200" name="Google Shape;200;g3e031ea9680_0_143"/>
          <p:cNvSpPr txBox="1"/>
          <p:nvPr/>
        </p:nvSpPr>
        <p:spPr>
          <a:xfrm>
            <a:off x="914400" y="1463040"/>
            <a:ext cx="10362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g3e031ea9680_0_14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You can't hold a whole program in your head</a:t>
            </a:r>
            <a:endParaRPr/>
          </a:p>
        </p:txBody>
      </p:sp>
      <p:sp>
        <p:nvSpPr>
          <p:cNvPr id="207" name="Google Shape;207;g3e031ea9680_0_149"/>
          <p:cNvSpPr txBox="1"/>
          <p:nvPr/>
        </p:nvSpPr>
        <p:spPr>
          <a:xfrm>
            <a:off x="914400" y="1463040"/>
            <a:ext cx="10362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t/>
            </a:r>
            <a:endParaRPr/>
          </a:p>
        </p:txBody>
      </p:sp>
      <p:pic>
        <p:nvPicPr>
          <p:cNvPr id="208" name="Google Shape;208;g3e031ea9680_0_149"/>
          <p:cNvPicPr preferRelativeResize="0"/>
          <p:nvPr/>
        </p:nvPicPr>
        <p:blipFill>
          <a:blip r:embed="rId3">
            <a:alphaModFix/>
          </a:blip>
          <a:stretch>
            <a:fillRect/>
          </a:stretch>
        </p:blipFill>
        <p:spPr>
          <a:xfrm>
            <a:off x="1589425" y="1269115"/>
            <a:ext cx="1891690" cy="4782362"/>
          </a:xfrm>
          <a:prstGeom prst="rect">
            <a:avLst/>
          </a:prstGeom>
          <a:noFill/>
          <a:ln>
            <a:noFill/>
          </a:ln>
        </p:spPr>
      </p:pic>
      <p:pic>
        <p:nvPicPr>
          <p:cNvPr id="209" name="Google Shape;209;g3e031ea9680_0_149"/>
          <p:cNvPicPr preferRelativeResize="0"/>
          <p:nvPr/>
        </p:nvPicPr>
        <p:blipFill>
          <a:blip r:embed="rId4">
            <a:alphaModFix/>
          </a:blip>
          <a:stretch>
            <a:fillRect/>
          </a:stretch>
        </p:blipFill>
        <p:spPr>
          <a:xfrm>
            <a:off x="4050818" y="1090750"/>
            <a:ext cx="1787882" cy="5394400"/>
          </a:xfrm>
          <a:prstGeom prst="rect">
            <a:avLst/>
          </a:prstGeom>
          <a:noFill/>
          <a:ln>
            <a:noFill/>
          </a:ln>
        </p:spPr>
      </p:pic>
      <p:pic>
        <p:nvPicPr>
          <p:cNvPr id="210" name="Google Shape;210;g3e031ea9680_0_149"/>
          <p:cNvPicPr preferRelativeResize="0"/>
          <p:nvPr/>
        </p:nvPicPr>
        <p:blipFill>
          <a:blip r:embed="rId5">
            <a:alphaModFix/>
          </a:blip>
          <a:stretch>
            <a:fillRect/>
          </a:stretch>
        </p:blipFill>
        <p:spPr>
          <a:xfrm>
            <a:off x="6279075" y="1090750"/>
            <a:ext cx="1396250" cy="5577124"/>
          </a:xfrm>
          <a:prstGeom prst="rect">
            <a:avLst/>
          </a:prstGeom>
          <a:noFill/>
          <a:ln>
            <a:noFill/>
          </a:ln>
        </p:spPr>
      </p:pic>
      <p:pic>
        <p:nvPicPr>
          <p:cNvPr id="211" name="Google Shape;211;g3e031ea9680_0_149"/>
          <p:cNvPicPr preferRelativeResize="0"/>
          <p:nvPr/>
        </p:nvPicPr>
        <p:blipFill>
          <a:blip r:embed="rId6">
            <a:alphaModFix/>
          </a:blip>
          <a:stretch>
            <a:fillRect/>
          </a:stretch>
        </p:blipFill>
        <p:spPr>
          <a:xfrm>
            <a:off x="8272150" y="1808949"/>
            <a:ext cx="1891700" cy="350202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6" name="Shape 216"/>
        <p:cNvGrpSpPr/>
        <p:nvPr/>
      </p:nvGrpSpPr>
      <p:grpSpPr>
        <a:xfrm>
          <a:off x="0" y="0"/>
          <a:ext cx="0" cy="0"/>
          <a:chOff x="0" y="0"/>
          <a:chExt cx="0" cy="0"/>
        </a:xfrm>
      </p:grpSpPr>
      <p:sp>
        <p:nvSpPr>
          <p:cNvPr id="217" name="Google Shape;217;p9"/>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You can't hold a whole program in your head</a:t>
            </a:r>
            <a:endParaRPr/>
          </a:p>
        </p:txBody>
      </p:sp>
      <p:sp>
        <p:nvSpPr>
          <p:cNvPr id="218" name="Google Shape;218;p9"/>
          <p:cNvSpPr txBox="1"/>
          <p:nvPr/>
        </p:nvSpPr>
        <p:spPr>
          <a:xfrm>
            <a:off x="914400" y="1463040"/>
            <a:ext cx="10362900" cy="49254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Software grows past the size of a human brain. You physically</a:t>
            </a:r>
            <a:r>
              <a:rPr lang="en-US" sz="2400">
                <a:solidFill>
                  <a:srgbClr val="333344"/>
                </a:solidFill>
                <a:latin typeface="Calibri"/>
                <a:ea typeface="Calibri"/>
                <a:cs typeface="Calibri"/>
                <a:sym typeface="Calibri"/>
              </a:rPr>
              <a:t> </a:t>
            </a:r>
            <a:r>
              <a:rPr b="0" i="0" lang="en-US" sz="2400" u="none" cap="none" strike="noStrike">
                <a:solidFill>
                  <a:srgbClr val="333344"/>
                </a:solidFill>
                <a:latin typeface="Calibri"/>
                <a:ea typeface="Calibri"/>
                <a:cs typeface="Calibri"/>
                <a:sym typeface="Calibri"/>
              </a:rPr>
              <a:t>can't track which parts still work after a change.</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So you need </a:t>
            </a:r>
            <a:r>
              <a:rPr b="1" i="0" lang="en-US" sz="2400" u="none" cap="none" strike="noStrike">
                <a:solidFill>
                  <a:srgbClr val="333344"/>
                </a:solidFill>
                <a:latin typeface="Calibri"/>
                <a:ea typeface="Calibri"/>
                <a:cs typeface="Calibri"/>
                <a:sym typeface="Calibri"/>
              </a:rPr>
              <a:t>something else that remembers for you</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knows every case you've cared about,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re-checks them all instantly on demand,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speaks up the moment any of them breaks.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That something is a </a:t>
            </a:r>
            <a:r>
              <a:rPr b="1" i="0" lang="en-US" sz="2400" u="none" cap="none" strike="noStrike">
                <a:solidFill>
                  <a:srgbClr val="333344"/>
                </a:solidFill>
                <a:latin typeface="Calibri"/>
                <a:ea typeface="Calibri"/>
                <a:cs typeface="Calibri"/>
                <a:sym typeface="Calibri"/>
              </a:rPr>
              <a:t>test</a:t>
            </a:r>
            <a:r>
              <a:rPr b="0" i="0" lang="en-US" sz="2400" u="none" cap="none" strike="noStrike">
                <a:solidFill>
                  <a:srgbClr val="333344"/>
                </a:solidFill>
                <a:latin typeface="Calibri"/>
                <a:ea typeface="Calibri"/>
                <a:cs typeface="Calibri"/>
                <a:sym typeface="Calibri"/>
              </a:rPr>
              <a:t>: a function that describes expected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behavior and fails loudly when the behavior changes.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Tests are executable memory.</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223" name="Shape 223"/>
        <p:cNvGrpSpPr/>
        <p:nvPr/>
      </p:nvGrpSpPr>
      <p:grpSpPr>
        <a:xfrm>
          <a:off x="0" y="0"/>
          <a:ext cx="0" cy="0"/>
          <a:chOff x="0" y="0"/>
          <a:chExt cx="0" cy="0"/>
        </a:xfrm>
      </p:grpSpPr>
      <p:sp>
        <p:nvSpPr>
          <p:cNvPr id="224" name="Google Shape;224;p10"/>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pytest Makes It Cheap</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9" name="Shape 229"/>
        <p:cNvGrpSpPr/>
        <p:nvPr/>
      </p:nvGrpSpPr>
      <p:grpSpPr>
        <a:xfrm>
          <a:off x="0" y="0"/>
          <a:ext cx="0" cy="0"/>
          <a:chOff x="0" y="0"/>
          <a:chExt cx="0" cy="0"/>
        </a:xfrm>
      </p:grpSpPr>
      <p:sp>
        <p:nvSpPr>
          <p:cNvPr id="230" name="Google Shape;230;p11"/>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You could write tests by hand. You won't.</a:t>
            </a:r>
            <a:endParaRPr/>
          </a:p>
        </p:txBody>
      </p:sp>
      <p:sp>
        <p:nvSpPr>
          <p:cNvPr id="231" name="Google Shape;231;p11"/>
          <p:cNvSpPr txBox="1"/>
          <p:nvPr/>
        </p:nvSpPr>
        <p:spPr>
          <a:xfrm>
            <a:off x="914400" y="1463040"/>
            <a:ext cx="10362900" cy="5325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Technically, you could write a test like this right now:</a:t>
            </a:r>
            <a:endParaRPr/>
          </a:p>
          <a:p>
            <a:pPr indent="457200" lvl="1" marL="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result = shipping_cost(1.0, 10.0)</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if result != 5.99:</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print("BROKEN: got", result)</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That works. Exactly once. Then you get bored and stop.</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A testing framework gives you conventions, a runner that finds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and executes all tests automatically, good error messages, and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standard report you can read at a glance.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In Python, the </a:t>
            </a:r>
            <a:r>
              <a:rPr lang="en-US" sz="2400">
                <a:solidFill>
                  <a:srgbClr val="333344"/>
                </a:solidFill>
                <a:latin typeface="Calibri"/>
                <a:ea typeface="Calibri"/>
                <a:cs typeface="Calibri"/>
                <a:sym typeface="Calibri"/>
              </a:rPr>
              <a:t>most popular framework</a:t>
            </a:r>
            <a:r>
              <a:rPr b="0" i="0" lang="en-US" sz="2400" u="none" cap="none" strike="noStrike">
                <a:solidFill>
                  <a:srgbClr val="333344"/>
                </a:solidFill>
                <a:latin typeface="Calibri"/>
                <a:ea typeface="Calibri"/>
                <a:cs typeface="Calibri"/>
                <a:sym typeface="Calibri"/>
              </a:rPr>
              <a:t> is </a:t>
            </a:r>
            <a:r>
              <a:rPr b="1" i="0" lang="en-US" sz="2400" u="none" cap="none" strike="noStrike">
                <a:solidFill>
                  <a:srgbClr val="333344"/>
                </a:solidFill>
                <a:latin typeface="Calibri"/>
                <a:ea typeface="Calibri"/>
                <a:cs typeface="Calibri"/>
                <a:sym typeface="Calibri"/>
              </a:rPr>
              <a:t>pytest</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pip install pytest</a:t>
            </a:r>
            <a:r>
              <a:rPr b="0" i="0" lang="en-US" sz="2000" u="none" cap="none" strike="noStrike">
                <a:solidFill>
                  <a:srgbClr val="666677"/>
                </a:solidFill>
                <a:latin typeface="Calibri"/>
                <a:ea typeface="Calibri"/>
                <a:cs typeface="Calibri"/>
                <a:sym typeface="Calibri"/>
              </a:rPr>
              <a:t>`. No further setup.</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1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Three conventions and you're done</a:t>
            </a:r>
            <a:endParaRPr/>
          </a:p>
        </p:txBody>
      </p:sp>
      <p:sp>
        <p:nvSpPr>
          <p:cNvPr id="238" name="Google Shape;238;p12"/>
          <p:cNvSpPr txBox="1"/>
          <p:nvPr/>
        </p:nvSpPr>
        <p:spPr>
          <a:xfrm>
            <a:off x="914400" y="1463040"/>
            <a:ext cx="10362900" cy="481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pytest has almost no API to learn. Just three rules:</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1.</a:t>
            </a:r>
            <a:r>
              <a:rPr b="0" i="0" lang="en-US" sz="2000" u="none" cap="none" strike="noStrike">
                <a:solidFill>
                  <a:srgbClr val="666677"/>
                </a:solidFill>
                <a:latin typeface="Calibri"/>
                <a:ea typeface="Calibri"/>
                <a:cs typeface="Calibri"/>
                <a:sym typeface="Calibri"/>
              </a:rPr>
              <a:t> Test files are named `test_*.py` (or `*_test.py`).</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2.</a:t>
            </a:r>
            <a:r>
              <a:rPr b="0" i="0" lang="en-US" sz="2000" u="none" cap="none" strike="noStrike">
                <a:solidFill>
                  <a:srgbClr val="666677"/>
                </a:solidFill>
                <a:latin typeface="Calibri"/>
                <a:ea typeface="Calibri"/>
                <a:cs typeface="Calibri"/>
                <a:sym typeface="Calibri"/>
              </a:rPr>
              <a:t> Test functions are named `test_*`.</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3.</a:t>
            </a:r>
            <a:r>
              <a:rPr b="0" i="0" lang="en-US" sz="2000" u="none" cap="none" strike="noStrike">
                <a:solidFill>
                  <a:srgbClr val="666677"/>
                </a:solidFill>
                <a:latin typeface="Calibri"/>
                <a:ea typeface="Calibri"/>
                <a:cs typeface="Calibri"/>
                <a:sym typeface="Calibri"/>
              </a:rPr>
              <a:t> You write plain Python `assert`. No `assertEqual`, no</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`assertTrue`, no subclassing anything.</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Running the whole suite is one command: `</a:t>
            </a:r>
            <a:r>
              <a:rPr b="1" i="0" lang="en-US" sz="2400" u="none" cap="none" strike="noStrike">
                <a:solidFill>
                  <a:srgbClr val="333344"/>
                </a:solidFill>
                <a:latin typeface="Courier Prime"/>
                <a:ea typeface="Courier Prime"/>
                <a:cs typeface="Courier Prime"/>
                <a:sym typeface="Courier Prime"/>
              </a:rPr>
              <a:t>pytest</a:t>
            </a:r>
            <a:r>
              <a:rPr b="0" i="0" lang="en-US" sz="2400" u="none" cap="none" strike="noStrike">
                <a:solidFill>
                  <a:srgbClr val="333344"/>
                </a:solidFill>
                <a:latin typeface="Calibri"/>
                <a:ea typeface="Calibri"/>
                <a:cs typeface="Calibri"/>
                <a:sym typeface="Calibri"/>
              </a:rPr>
              <a: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Or `</a:t>
            </a:r>
            <a:r>
              <a:rPr b="1" i="0" lang="en-US" sz="2000" u="none" cap="none" strike="noStrike">
                <a:solidFill>
                  <a:srgbClr val="666677"/>
                </a:solidFill>
                <a:latin typeface="Courier Prime"/>
                <a:ea typeface="Courier Prime"/>
                <a:cs typeface="Courier Prime"/>
                <a:sym typeface="Courier Prime"/>
              </a:rPr>
              <a:t>pytest -v</a:t>
            </a:r>
            <a:r>
              <a:rPr b="0" i="0" lang="en-US" sz="2000" u="none" cap="none" strike="noStrike">
                <a:solidFill>
                  <a:srgbClr val="666677"/>
                </a:solidFill>
                <a:latin typeface="Calibri"/>
                <a:ea typeface="Calibri"/>
                <a:cs typeface="Calibri"/>
                <a:sym typeface="Calibri"/>
              </a:rPr>
              <a:t>` to see one line per test.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That's it. </a:t>
            </a:r>
            <a:r>
              <a:rPr lang="en-US" sz="2400">
                <a:solidFill>
                  <a:srgbClr val="333344"/>
                </a:solidFill>
                <a:latin typeface="Calibri"/>
                <a:ea typeface="Calibri"/>
                <a:cs typeface="Calibri"/>
                <a:sym typeface="Calibri"/>
              </a:rPr>
              <a:t>Now let’s write some.</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243" name="Shape 243"/>
        <p:cNvGrpSpPr/>
        <p:nvPr/>
      </p:nvGrpSpPr>
      <p:grpSpPr>
        <a:xfrm>
          <a:off x="0" y="0"/>
          <a:ext cx="0" cy="0"/>
          <a:chOff x="0" y="0"/>
          <a:chExt cx="0" cy="0"/>
        </a:xfrm>
      </p:grpSpPr>
      <p:sp>
        <p:nvSpPr>
          <p:cNvPr id="244" name="Google Shape;244;p13"/>
          <p:cNvSpPr txBox="1"/>
          <p:nvPr/>
        </p:nvSpPr>
        <p:spPr>
          <a:xfrm>
            <a:off x="5303520" y="457200"/>
            <a:ext cx="1584655"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7200" u="none" cap="none" strike="noStrike">
                <a:solidFill>
                  <a:srgbClr val="5B21B6"/>
                </a:solidFill>
                <a:latin typeface="Calibri"/>
                <a:ea typeface="Calibri"/>
                <a:cs typeface="Calibri"/>
                <a:sym typeface="Calibri"/>
              </a:rPr>
              <a:t>?</a:t>
            </a:r>
            <a:endParaRPr/>
          </a:p>
        </p:txBody>
      </p:sp>
      <p:sp>
        <p:nvSpPr>
          <p:cNvPr id="245" name="Google Shape;245;p13"/>
          <p:cNvSpPr txBox="1"/>
          <p:nvPr/>
        </p:nvSpPr>
        <p:spPr>
          <a:xfrm>
            <a:off x="1371600" y="2011680"/>
            <a:ext cx="94484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3400" u="none" cap="none" strike="noStrike">
                <a:solidFill>
                  <a:srgbClr val="1A1A2E"/>
                </a:solidFill>
                <a:latin typeface="Calibri"/>
                <a:ea typeface="Calibri"/>
                <a:cs typeface="Calibri"/>
                <a:sym typeface="Calibri"/>
              </a:rPr>
              <a:t>Your turn: shout me test cases for shipping_cost.</a:t>
            </a:r>
            <a:endParaRPr/>
          </a:p>
        </p:txBody>
      </p:sp>
      <p:sp>
        <p:nvSpPr>
          <p:cNvPr id="246" name="Google Shape;246;p13"/>
          <p:cNvSpPr txBox="1"/>
          <p:nvPr/>
        </p:nvSpPr>
        <p:spPr>
          <a:xfrm>
            <a:off x="1828800" y="4572000"/>
            <a:ext cx="8534095" cy="13716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n-US" sz="2200" u="none" cap="none" strike="noStrike">
                <a:solidFill>
                  <a:srgbClr val="666677"/>
                </a:solidFill>
                <a:latin typeface="Calibri"/>
                <a:ea typeface="Calibri"/>
                <a:cs typeface="Calibri"/>
                <a:sym typeface="Calibri"/>
              </a:rPr>
              <a:t>I open test_shipping.py. You call out scenarios. I write the test, we run pytest. Then I break the function on purpose and we watch pytest catch it.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1" name="Shape 251"/>
        <p:cNvGrpSpPr/>
        <p:nvPr/>
      </p:nvGrpSpPr>
      <p:grpSpPr>
        <a:xfrm>
          <a:off x="0" y="0"/>
          <a:ext cx="0" cy="0"/>
          <a:chOff x="0" y="0"/>
          <a:chExt cx="0" cy="0"/>
        </a:xfrm>
      </p:grpSpPr>
      <p:sp>
        <p:nvSpPr>
          <p:cNvPr id="252" name="Google Shape;252;g3d857cbebff_0_0"/>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function you might see anywhere</a:t>
            </a:r>
            <a:endParaRPr/>
          </a:p>
        </p:txBody>
      </p:sp>
      <p:sp>
        <p:nvSpPr>
          <p:cNvPr id="253" name="Google Shape;253;g3d857cbebff_0_0"/>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54" name="Google Shape;254;g3d857cbebff_0_0"/>
          <p:cNvSpPr txBox="1"/>
          <p:nvPr/>
        </p:nvSpPr>
        <p:spPr>
          <a:xfrm>
            <a:off x="1005840" y="1645920"/>
            <a:ext cx="10179900" cy="4376400"/>
          </a:xfrm>
          <a:prstGeom prst="rect">
            <a:avLst/>
          </a:prstGeom>
          <a:noFill/>
          <a:ln>
            <a:noFill/>
          </a:ln>
        </p:spPr>
        <p:txBody>
          <a:bodyPr anchorCtr="0" anchor="t" bIns="45700" lIns="91425" spcFirstLastPara="1" rIns="91425" wrap="square" tIns="45700">
            <a:spAutoFit/>
          </a:bodyPr>
          <a:lstStyle/>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def shipping_cost(weight_lb: float, subtotal: float) -&gt; float:</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the shipping cost for an order.</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Flat rate of $5.99 for orders under 2 lb.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Add $2.50/lb for every pound over 2 lb.</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Free shipping on orders with a subtotal of $50 or more.</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if subtotal &gt;= 50.0: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0.0</a:t>
            </a:r>
            <a:endParaRPr/>
          </a:p>
          <a:p>
            <a:pPr indent="0" lvl="0" marL="0" marR="0" rtl="0" algn="l">
              <a:spcBef>
                <a:spcPts val="200"/>
              </a:spcBef>
              <a:spcAft>
                <a:spcPts val="0"/>
              </a:spcAft>
              <a:buNone/>
            </a:pPr>
            <a:r>
              <a:t/>
            </a:r>
            <a:endParaRPr b="1" i="0" sz="17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base = 5.99</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if weight_lb &gt; 2.0: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base += 2.50 * (weight_lb - 2.0)</a:t>
            </a:r>
            <a:endParaRPr/>
          </a:p>
          <a:p>
            <a:pPr indent="0" lvl="0" marL="0" marR="0" rtl="0" algn="l">
              <a:spcBef>
                <a:spcPts val="200"/>
              </a:spcBef>
              <a:spcAft>
                <a:spcPts val="0"/>
              </a:spcAft>
              <a:buNone/>
            </a:pPr>
            <a:r>
              <a:rPr b="1" i="0" lang="en-US" sz="1700" u="none" cap="none" strike="noStrike">
                <a:solidFill>
                  <a:srgbClr val="333344"/>
                </a:solidFill>
                <a:latin typeface="Courier New"/>
                <a:ea typeface="Courier New"/>
                <a:cs typeface="Courier New"/>
                <a:sym typeface="Courier New"/>
              </a:rPr>
              <a:t>    return round(base, 2)</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9" name="Shape 259"/>
        <p:cNvGrpSpPr/>
        <p:nvPr/>
      </p:nvGrpSpPr>
      <p:grpSpPr>
        <a:xfrm>
          <a:off x="0" y="0"/>
          <a:ext cx="0" cy="0"/>
          <a:chOff x="0" y="0"/>
          <a:chExt cx="0" cy="0"/>
        </a:xfrm>
      </p:grpSpPr>
      <p:sp>
        <p:nvSpPr>
          <p:cNvPr id="260" name="Google Shape;260;p14"/>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Every test has three phases: Arrange, Act, Assert</a:t>
            </a:r>
            <a:endParaRPr/>
          </a:p>
        </p:txBody>
      </p:sp>
      <p:sp>
        <p:nvSpPr>
          <p:cNvPr id="261" name="Google Shape;261;p14"/>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62" name="Google Shape;262;p14"/>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63" name="Google Shape;263;p14"/>
          <p:cNvSpPr txBox="1"/>
          <p:nvPr/>
        </p:nvSpPr>
        <p:spPr>
          <a:xfrm>
            <a:off x="1005840" y="1645920"/>
            <a:ext cx="10179900" cy="442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def test_shipping_surcharge_over_2_lb():</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Arrange - set up the inputs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weight = 5.0</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subtotal = 10.00</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Act - call the function under test, once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cost = shipping_cost(weight, subtotal)</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Assert - check the result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cost == 13.49   # 5.99 + 2.50 * (5.0 - 2.0)</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Separate the three phases with blank lines. Every test in the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codebase ends up with the same shape, so reading an unfamiliar</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test takes ten seconds instead of a minute.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AAA is a habit, not a framework feature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8" name="Shape 268"/>
        <p:cNvGrpSpPr/>
        <p:nvPr/>
      </p:nvGrpSpPr>
      <p:grpSpPr>
        <a:xfrm>
          <a:off x="0" y="0"/>
          <a:ext cx="0" cy="0"/>
          <a:chOff x="0" y="0"/>
          <a:chExt cx="0" cy="0"/>
        </a:xfrm>
      </p:grpSpPr>
      <p:sp>
        <p:nvSpPr>
          <p:cNvPr id="269" name="Google Shape;269;p15"/>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Which of these is better?</a:t>
            </a:r>
            <a:endParaRPr/>
          </a:p>
        </p:txBody>
      </p:sp>
      <p:sp>
        <p:nvSpPr>
          <p:cNvPr id="270" name="Google Shape;270;p15"/>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71" name="Google Shape;271;p15"/>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72" name="Google Shape;272;p15"/>
          <p:cNvSpPr txBox="1"/>
          <p:nvPr/>
        </p:nvSpPr>
        <p:spPr>
          <a:xfrm>
            <a:off x="1005840" y="1645920"/>
            <a:ext cx="10179900" cy="4371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 Version A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test_shipping():</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shipping_cost(1.0, 10.0) == 5.99</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shipping_cost(5.0, 10.0) == 13.49</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shipping_cost(1.0, 75.0) == 0.0</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 Version B ------</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test_flat_rate_under_2_lb():</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shipping_cost(1.0, 10.0) == 5.99</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test_surcharge_over_2_lb():</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shipping_cost(5.0, 10.0) == 13.49</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test_free_shipping_over_50():</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shipping_cost(1.0, 75.0) == 0.0</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7" name="Shape 277"/>
        <p:cNvGrpSpPr/>
        <p:nvPr/>
      </p:nvGrpSpPr>
      <p:grpSpPr>
        <a:xfrm>
          <a:off x="0" y="0"/>
          <a:ext cx="0" cy="0"/>
          <a:chOff x="0" y="0"/>
          <a:chExt cx="0" cy="0"/>
        </a:xfrm>
      </p:grpSpPr>
      <p:sp>
        <p:nvSpPr>
          <p:cNvPr id="278" name="Google Shape;278;p16"/>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makes a test good</a:t>
            </a:r>
            <a:endParaRPr/>
          </a:p>
        </p:txBody>
      </p:sp>
      <p:sp>
        <p:nvSpPr>
          <p:cNvPr id="279" name="Google Shape;279;p16"/>
          <p:cNvSpPr txBox="1"/>
          <p:nvPr/>
        </p:nvSpPr>
        <p:spPr>
          <a:xfrm>
            <a:off x="731525" y="1165750"/>
            <a:ext cx="10824000" cy="51873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One behavior per test.</a:t>
            </a:r>
            <a:r>
              <a:rPr b="0" i="0" lang="en-US" sz="2400" u="none" cap="none" strike="noStrike">
                <a:solidFill>
                  <a:srgbClr val="333344"/>
                </a:solidFill>
                <a:latin typeface="Calibri"/>
                <a:ea typeface="Calibri"/>
                <a:cs typeface="Calibri"/>
                <a:sym typeface="Calibri"/>
              </a:rPr>
              <a:t> A test that checks three things is three tests crammed into one</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A name that reads like a sentence.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test_free_shipping_over_50</a:t>
            </a:r>
            <a:r>
              <a:rPr b="0" i="0" lang="en-US" sz="2000" u="none" cap="none" strike="noStrike">
                <a:solidFill>
                  <a:srgbClr val="666677"/>
                </a:solidFill>
                <a:latin typeface="Calibri"/>
                <a:ea typeface="Calibri"/>
                <a:cs typeface="Calibri"/>
                <a:sym typeface="Calibri"/>
              </a:rPr>
              <a:t> beats </a:t>
            </a:r>
            <a:r>
              <a:rPr b="1" i="0" lang="en-US" sz="2000" u="none" cap="none" strike="noStrike">
                <a:solidFill>
                  <a:srgbClr val="666677"/>
                </a:solidFill>
                <a:latin typeface="Courier Prime"/>
                <a:ea typeface="Courier Prime"/>
                <a:cs typeface="Courier Prime"/>
                <a:sym typeface="Courier Prime"/>
              </a:rPr>
              <a:t>test_shipping_3</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Obvious on failure.</a:t>
            </a:r>
            <a:r>
              <a:rPr b="0" i="0" lang="en-US" sz="2400" u="none" cap="none" strike="noStrike">
                <a:solidFill>
                  <a:srgbClr val="333344"/>
                </a:solidFill>
                <a:latin typeface="Calibri"/>
                <a:ea typeface="Calibri"/>
                <a:cs typeface="Calibri"/>
                <a:sym typeface="Calibri"/>
              </a:rPr>
              <a:t> You should know what broke without a debugger.</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Deterministic.</a:t>
            </a:r>
            <a:r>
              <a:rPr b="0" i="0" lang="en-US" sz="2400" u="none" cap="none" strike="noStrike">
                <a:solidFill>
                  <a:srgbClr val="333344"/>
                </a:solidFill>
                <a:latin typeface="Calibri"/>
                <a:ea typeface="Calibri"/>
                <a:cs typeface="Calibri"/>
                <a:sym typeface="Calibri"/>
              </a:rPr>
              <a:t> Same inputs, same result. No randomness, clock</a:t>
            </a:r>
            <a:r>
              <a:rPr lang="en-US" sz="2400">
                <a:solidFill>
                  <a:srgbClr val="333344"/>
                </a:solidFill>
                <a:latin typeface="Calibri"/>
                <a:ea typeface="Calibri"/>
                <a:cs typeface="Calibri"/>
                <a:sym typeface="Calibri"/>
              </a:rPr>
              <a:t>s, or network (yet)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Fast.</a:t>
            </a:r>
            <a:r>
              <a:rPr b="0" i="0" lang="en-US" sz="2400" u="none" cap="none" strike="noStrike">
                <a:solidFill>
                  <a:srgbClr val="333344"/>
                </a:solidFill>
                <a:latin typeface="Calibri"/>
                <a:ea typeface="Calibri"/>
                <a:cs typeface="Calibri"/>
                <a:sym typeface="Calibri"/>
              </a:rPr>
              <a:t> Slow tests don't get run.</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Independent.</a:t>
            </a:r>
            <a:r>
              <a:rPr b="0" i="0" lang="en-US" sz="2400" u="none" cap="none" strike="noStrike">
                <a:solidFill>
                  <a:srgbClr val="333344"/>
                </a:solidFill>
                <a:latin typeface="Calibri"/>
                <a:ea typeface="Calibri"/>
                <a:cs typeface="Calibri"/>
                <a:sym typeface="Calibri"/>
              </a:rPr>
              <a:t> Passes or fails the same alone or in any order.</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4" name="Shape 284"/>
        <p:cNvGrpSpPr/>
        <p:nvPr/>
      </p:nvGrpSpPr>
      <p:grpSpPr>
        <a:xfrm>
          <a:off x="0" y="0"/>
          <a:ext cx="0" cy="0"/>
          <a:chOff x="0" y="0"/>
          <a:chExt cx="0" cy="0"/>
        </a:xfrm>
      </p:grpSpPr>
      <p:sp>
        <p:nvSpPr>
          <p:cNvPr id="285" name="Google Shape;285;g3e031ea9680_0_259"/>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Testing that code raises on bad input</a:t>
            </a:r>
            <a:endParaRPr/>
          </a:p>
        </p:txBody>
      </p:sp>
      <p:sp>
        <p:nvSpPr>
          <p:cNvPr id="286" name="Google Shape;286;g3e031ea9680_0_259"/>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87" name="Google Shape;287;g3e031ea9680_0_259"/>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88" name="Google Shape;288;g3e031ea9680_0_259"/>
          <p:cNvSpPr txBox="1"/>
          <p:nvPr/>
        </p:nvSpPr>
        <p:spPr>
          <a:xfrm>
            <a:off x="1005840" y="1645920"/>
            <a:ext cx="10179900" cy="1662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price_utils.py</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parse_price(s: str) -&gt; float: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"""Parse a price string like '$19.99' into a float."""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if not s.startswith("$"):</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raise ValueError(f"price must start with $, got: {s!r}")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return float(s[1:])</a:t>
            </a:r>
            <a:endParaRPr/>
          </a:p>
          <a:p>
            <a:pPr indent="0" lvl="0" marL="0" marR="0" rtl="0" algn="l">
              <a:spcBef>
                <a:spcPts val="200"/>
              </a:spcBef>
              <a:spcAft>
                <a:spcPts val="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17"/>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Testing that code raises on bad input</a:t>
            </a:r>
            <a:endParaRPr/>
          </a:p>
        </p:txBody>
      </p:sp>
      <p:sp>
        <p:nvSpPr>
          <p:cNvPr id="295" name="Google Shape;295;p17"/>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296" name="Google Shape;296;p17"/>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297" name="Google Shape;297;p17"/>
          <p:cNvSpPr txBox="1"/>
          <p:nvPr/>
        </p:nvSpPr>
        <p:spPr>
          <a:xfrm>
            <a:off x="1005840" y="1645920"/>
            <a:ext cx="10179900" cy="458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price_utils.py</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parse_price(s: str) -&gt; float: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"""Parse a price string like '$19.99' into a float."""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if not s.startswith("$"):</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raise ValueError(f"price must start with $, got: {s!r}")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return float(s[1:])</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test_price_utils.py</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test_parses_a_normal_price():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parse_price("$19.99") == 19.99</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test_rejects_a_price_without_dollar_sign():</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with pytest.raises(ValueError):</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parse_price("19.99")</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test_error_message_mentions_the_bad_input():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with pytest.raises(ValueError, match="19.99"):</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parse_price("19.99")</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18"/>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Which of these tests is worth writing? (pick any)</a:t>
            </a:r>
            <a:endParaRPr/>
          </a:p>
        </p:txBody>
      </p:sp>
      <p:sp>
        <p:nvSpPr>
          <p:cNvPr id="304" name="Google Shape;304;p18"/>
          <p:cNvSpPr txBox="1"/>
          <p:nvPr/>
        </p:nvSpPr>
        <p:spPr>
          <a:xfrm>
            <a:off x="9601200" y="1188720"/>
            <a:ext cx="1828800" cy="36576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305" name="Google Shape;305;p18"/>
          <p:cNvSpPr/>
          <p:nvPr/>
        </p:nvSpPr>
        <p:spPr>
          <a:xfrm>
            <a:off x="731520" y="1463040"/>
            <a:ext cx="10728655" cy="493776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306" name="Google Shape;306;p18"/>
          <p:cNvSpPr txBox="1"/>
          <p:nvPr/>
        </p:nvSpPr>
        <p:spPr>
          <a:xfrm>
            <a:off x="1005840" y="1645920"/>
            <a:ext cx="10179900" cy="4581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300" u="none" cap="none" strike="noStrike">
                <a:solidFill>
                  <a:srgbClr val="333344"/>
                </a:solidFill>
                <a:latin typeface="Courier New"/>
                <a:ea typeface="Courier New"/>
                <a:cs typeface="Courier New"/>
                <a:sym typeface="Courier New"/>
              </a:rPr>
              <a:t># Option A</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test_python_addition_works():</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2 + 2 == 4</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Option B</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test_sqlite_can_store_a_row():</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conn = sqlite3.connect(":memory:")</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conn.execute("CREATE TABLE t (x INT)")</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conn.execute("INSERT INTO t VALUES (1)")</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conn.execute("SELECT x FROM t").fetchone() == (1,)</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Option C</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test_create_message_endpoint_stores_the_message():</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response = client.post("/api/messages", json={"text": "hi"})</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response.status_code == 201</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db.query("SELECT text FROM messages").fetchone() == ("hi",)</a:t>
            </a:r>
            <a:endParaRPr/>
          </a:p>
          <a:p>
            <a:pPr indent="0" lvl="0" marL="0" marR="0" rtl="0" algn="l">
              <a:spcBef>
                <a:spcPts val="200"/>
              </a:spcBef>
              <a:spcAft>
                <a:spcPts val="0"/>
              </a:spcAft>
              <a:buNone/>
            </a:pPr>
            <a:r>
              <a:t/>
            </a:r>
            <a:endParaRPr b="1" i="0" sz="13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Option D</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def test_shipping_cost_gives_free_shipping_over_50():</a:t>
            </a:r>
            <a:endParaRPr/>
          </a:p>
          <a:p>
            <a:pPr indent="0" lvl="0" marL="0" marR="0" rtl="0" algn="l">
              <a:spcBef>
                <a:spcPts val="200"/>
              </a:spcBef>
              <a:spcAft>
                <a:spcPts val="0"/>
              </a:spcAft>
              <a:buNone/>
            </a:pPr>
            <a:r>
              <a:rPr b="1" i="0" lang="en-US" sz="1300" u="none" cap="none" strike="noStrike">
                <a:solidFill>
                  <a:srgbClr val="333344"/>
                </a:solidFill>
                <a:latin typeface="Courier New"/>
                <a:ea typeface="Courier New"/>
                <a:cs typeface="Courier New"/>
                <a:sym typeface="Courier New"/>
              </a:rPr>
              <a:t>    assert shipping_cost(1.0, 75.0) == 0.0</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311" name="Shape 311"/>
        <p:cNvGrpSpPr/>
        <p:nvPr/>
      </p:nvGrpSpPr>
      <p:grpSpPr>
        <a:xfrm>
          <a:off x="0" y="0"/>
          <a:ext cx="0" cy="0"/>
          <a:chOff x="0" y="0"/>
          <a:chExt cx="0" cy="0"/>
        </a:xfrm>
      </p:grpSpPr>
      <p:sp>
        <p:nvSpPr>
          <p:cNvPr id="312" name="Google Shape;312;p19"/>
          <p:cNvSpPr txBox="1"/>
          <p:nvPr/>
        </p:nvSpPr>
        <p:spPr>
          <a:xfrm>
            <a:off x="914400" y="2286000"/>
            <a:ext cx="10362895" cy="22860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Tests Are a Design Tool</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g3e031ea9680_0_273"/>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Try writing the test first</a:t>
            </a:r>
            <a:endParaRPr/>
          </a:p>
        </p:txBody>
      </p:sp>
      <p:sp>
        <p:nvSpPr>
          <p:cNvPr id="319" name="Google Shape;319;g3e031ea9680_0_273"/>
          <p:cNvSpPr txBox="1"/>
          <p:nvPr/>
        </p:nvSpPr>
        <p:spPr>
          <a:xfrm>
            <a:off x="914400" y="1463040"/>
            <a:ext cx="10362900" cy="1139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Until now, the implicit order has been: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1. Write the function  -&gt;  2. Write some tests</a:t>
            </a:r>
            <a:endParaRPr/>
          </a:p>
          <a:p>
            <a:pPr indent="0" lvl="0" marL="0" marR="0" rtl="0" algn="l">
              <a:spcBef>
                <a:spcPts val="600"/>
              </a:spcBef>
              <a:spcAft>
                <a:spcPts val="0"/>
              </a:spcAft>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4" name="Shape 324"/>
        <p:cNvGrpSpPr/>
        <p:nvPr/>
      </p:nvGrpSpPr>
      <p:grpSpPr>
        <a:xfrm>
          <a:off x="0" y="0"/>
          <a:ext cx="0" cy="0"/>
          <a:chOff x="0" y="0"/>
          <a:chExt cx="0" cy="0"/>
        </a:xfrm>
      </p:grpSpPr>
      <p:sp>
        <p:nvSpPr>
          <p:cNvPr id="325" name="Google Shape;325;p20"/>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Try writing the test first</a:t>
            </a:r>
            <a:endParaRPr/>
          </a:p>
        </p:txBody>
      </p:sp>
      <p:sp>
        <p:nvSpPr>
          <p:cNvPr id="326" name="Google Shape;326;p20"/>
          <p:cNvSpPr txBox="1"/>
          <p:nvPr/>
        </p:nvSpPr>
        <p:spPr>
          <a:xfrm>
            <a:off x="914400" y="1463040"/>
            <a:ext cx="10362900" cy="235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Until now, the implicit order has been: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1. Write the function  -&gt;  2. Write some tests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Flip it: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1. Write the test  -&gt;  2. Write the function that passes it</a:t>
            </a:r>
            <a:endParaRPr/>
          </a:p>
          <a:p>
            <a:pPr indent="0" lvl="0" marL="0" marR="0" rtl="0" algn="l">
              <a:spcBef>
                <a:spcPts val="600"/>
              </a:spcBef>
              <a:spcAft>
                <a:spcPts val="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1" name="Shape 331"/>
        <p:cNvGrpSpPr/>
        <p:nvPr/>
      </p:nvGrpSpPr>
      <p:grpSpPr>
        <a:xfrm>
          <a:off x="0" y="0"/>
          <a:ext cx="0" cy="0"/>
          <a:chOff x="0" y="0"/>
          <a:chExt cx="0" cy="0"/>
        </a:xfrm>
      </p:grpSpPr>
      <p:sp>
        <p:nvSpPr>
          <p:cNvPr id="332" name="Google Shape;332;g3e031ea9680_0_267"/>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Try writing the test first</a:t>
            </a:r>
            <a:endParaRPr/>
          </a:p>
        </p:txBody>
      </p:sp>
      <p:sp>
        <p:nvSpPr>
          <p:cNvPr id="333" name="Google Shape;333;g3e031ea9680_0_267"/>
          <p:cNvSpPr txBox="1"/>
          <p:nvPr/>
        </p:nvSpPr>
        <p:spPr>
          <a:xfrm>
            <a:off x="914400" y="1463040"/>
            <a:ext cx="10362900" cy="32631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This sounds backwards. You can't test a function that doesn't exist.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But you also can't write the test without deciding what the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is called, what it takes, what it returns, and what 'correct' means.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Those are </a:t>
            </a:r>
            <a:r>
              <a:rPr b="1" i="0" lang="en-US" sz="2400" u="none" cap="none" strike="noStrike">
                <a:solidFill>
                  <a:srgbClr val="333344"/>
                </a:solidFill>
                <a:latin typeface="Calibri"/>
                <a:ea typeface="Calibri"/>
                <a:cs typeface="Calibri"/>
                <a:sym typeface="Calibri"/>
              </a:rPr>
              <a:t>design decisions</a:t>
            </a:r>
            <a:r>
              <a:rPr b="0" i="0" lang="en-US" sz="2400" u="none" cap="none" strike="noStrike">
                <a:solidFill>
                  <a:srgbClr val="333344"/>
                </a:solidFill>
                <a:latin typeface="Calibri"/>
                <a:ea typeface="Calibri"/>
                <a:cs typeface="Calibri"/>
                <a:sym typeface="Calibri"/>
              </a:rPr>
              <a:t>. Writing the test first forces you to make them </a:t>
            </a:r>
            <a:r>
              <a:rPr b="1" i="0" lang="en-US" sz="2400" u="none" cap="none" strike="noStrike">
                <a:solidFill>
                  <a:srgbClr val="333344"/>
                </a:solidFill>
                <a:latin typeface="Calibri"/>
                <a:ea typeface="Calibri"/>
                <a:cs typeface="Calibri"/>
                <a:sym typeface="Calibri"/>
              </a:rPr>
              <a:t>before</a:t>
            </a:r>
            <a:r>
              <a:rPr b="0" i="0" lang="en-US" sz="2400" u="none" cap="none" strike="noStrike">
                <a:solidFill>
                  <a:srgbClr val="333344"/>
                </a:solidFill>
                <a:latin typeface="Calibri"/>
                <a:ea typeface="Calibri"/>
                <a:cs typeface="Calibri"/>
                <a:sym typeface="Calibri"/>
              </a:rPr>
              <a:t> you write any implementation code.</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This practice has a name: </a:t>
            </a:r>
            <a:r>
              <a:rPr b="1" i="0" lang="en-US" sz="2400" u="none" cap="none" strike="noStrike">
                <a:solidFill>
                  <a:srgbClr val="333344"/>
                </a:solidFill>
                <a:latin typeface="Calibri"/>
                <a:ea typeface="Calibri"/>
                <a:cs typeface="Calibri"/>
                <a:sym typeface="Calibri"/>
              </a:rPr>
              <a:t>Test-Driven Development (TDD).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8" name="Shape 338"/>
        <p:cNvGrpSpPr/>
        <p:nvPr/>
      </p:nvGrpSpPr>
      <p:grpSpPr>
        <a:xfrm>
          <a:off x="0" y="0"/>
          <a:ext cx="0" cy="0"/>
          <a:chOff x="0" y="0"/>
          <a:chExt cx="0" cy="0"/>
        </a:xfrm>
      </p:grpSpPr>
      <p:sp>
        <p:nvSpPr>
          <p:cNvPr id="339" name="Google Shape;339;p21"/>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Why writing the test first works</a:t>
            </a:r>
            <a:endParaRPr/>
          </a:p>
        </p:txBody>
      </p:sp>
      <p:sp>
        <p:nvSpPr>
          <p:cNvPr id="340" name="Google Shape;340;p21"/>
          <p:cNvSpPr txBox="1"/>
          <p:nvPr/>
        </p:nvSpPr>
        <p:spPr>
          <a:xfrm>
            <a:off x="914400" y="1463040"/>
            <a:ext cx="10362895" cy="4937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When you write a test for a function that doesn't exist yet,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you become the </a:t>
            </a:r>
            <a:r>
              <a:rPr b="1" i="0" lang="en-US" sz="2000" u="none" cap="none" strike="noStrike">
                <a:solidFill>
                  <a:srgbClr val="666677"/>
                </a:solidFill>
                <a:latin typeface="Calibri"/>
                <a:ea typeface="Calibri"/>
                <a:cs typeface="Calibri"/>
                <a:sym typeface="Calibri"/>
              </a:rPr>
              <a:t>first user</a:t>
            </a:r>
            <a:r>
              <a:rPr b="0" i="0" lang="en-US" sz="2000" u="none" cap="none" strike="noStrike">
                <a:solidFill>
                  <a:srgbClr val="666677"/>
                </a:solidFill>
                <a:latin typeface="Calibri"/>
                <a:ea typeface="Calibri"/>
                <a:cs typeface="Calibri"/>
                <a:sym typeface="Calibri"/>
              </a:rPr>
              <a:t> of that function.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You have to answer, before writing any code: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What is it called?</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What does it take and return?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What happens on weird input? (empty? zero? negative?)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How do I </a:t>
            </a:r>
            <a:r>
              <a:rPr b="1" i="0" lang="en-US" sz="2000" u="none" cap="none" strike="noStrike">
                <a:solidFill>
                  <a:srgbClr val="666677"/>
                </a:solidFill>
                <a:latin typeface="Calibri"/>
                <a:ea typeface="Calibri"/>
                <a:cs typeface="Calibri"/>
                <a:sym typeface="Calibri"/>
              </a:rPr>
              <a:t>want</a:t>
            </a:r>
            <a:r>
              <a:rPr b="0" i="0" lang="en-US" sz="2000" u="none" cap="none" strike="noStrike">
                <a:solidFill>
                  <a:srgbClr val="666677"/>
                </a:solidFill>
                <a:latin typeface="Calibri"/>
                <a:ea typeface="Calibri"/>
                <a:cs typeface="Calibri"/>
                <a:sym typeface="Calibri"/>
              </a:rPr>
              <a:t> to call it from the outside?</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These are the questions your teammate or PR reviewer will ask later.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Answering them first means the code they find is already designed.</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 safety net is the second benefit of TDD. The design pressure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is the first.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5" name="Shape 345"/>
        <p:cNvGrpSpPr/>
        <p:nvPr/>
      </p:nvGrpSpPr>
      <p:grpSpPr>
        <a:xfrm>
          <a:off x="0" y="0"/>
          <a:ext cx="0" cy="0"/>
          <a:chOff x="0" y="0"/>
          <a:chExt cx="0" cy="0"/>
        </a:xfrm>
      </p:grpSpPr>
      <p:sp>
        <p:nvSpPr>
          <p:cNvPr id="346" name="Google Shape;346;p22"/>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Red, Green, Refactor</a:t>
            </a:r>
            <a:endParaRPr/>
          </a:p>
        </p:txBody>
      </p:sp>
      <p:sp>
        <p:nvSpPr>
          <p:cNvPr id="347" name="Google Shape;347;p22"/>
          <p:cNvSpPr txBox="1"/>
          <p:nvPr/>
        </p:nvSpPr>
        <p:spPr>
          <a:xfrm>
            <a:off x="914400" y="1463040"/>
            <a:ext cx="10362900" cy="5171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The TDD loop has three steps. Each one takes a minute or two.</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RED.</a:t>
            </a:r>
            <a:r>
              <a:rPr b="0" i="0" lang="en-US" sz="2000" u="none" cap="none" strike="noStrike">
                <a:solidFill>
                  <a:srgbClr val="666677"/>
                </a:solidFill>
                <a:latin typeface="Calibri"/>
                <a:ea typeface="Calibri"/>
                <a:cs typeface="Calibri"/>
                <a:sym typeface="Calibri"/>
              </a:rPr>
              <a:t>     Write a small test for behavior that doesn't exist yet.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Run it. Watch it fail with a clear error.</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GREEN.</a:t>
            </a:r>
            <a:r>
              <a:rPr b="0" i="0" lang="en-US" sz="2000" u="none" cap="none" strike="noStrike">
                <a:solidFill>
                  <a:srgbClr val="666677"/>
                </a:solidFill>
                <a:latin typeface="Calibri"/>
                <a:ea typeface="Calibri"/>
                <a:cs typeface="Calibri"/>
                <a:sym typeface="Calibri"/>
              </a:rPr>
              <a:t>   Write the </a:t>
            </a:r>
            <a:r>
              <a:rPr b="1" i="0" lang="en-US" sz="2000" u="none" cap="none" strike="noStrike">
                <a:solidFill>
                  <a:srgbClr val="666677"/>
                </a:solidFill>
                <a:latin typeface="Calibri"/>
                <a:ea typeface="Calibri"/>
                <a:cs typeface="Calibri"/>
                <a:sym typeface="Calibri"/>
              </a:rPr>
              <a:t>simplest</a:t>
            </a:r>
            <a:r>
              <a:rPr b="0" i="0" lang="en-US" sz="2000" u="none" cap="none" strike="noStrike">
                <a:solidFill>
                  <a:srgbClr val="666677"/>
                </a:solidFill>
                <a:latin typeface="Calibri"/>
                <a:ea typeface="Calibri"/>
                <a:cs typeface="Calibri"/>
                <a:sym typeface="Calibri"/>
              </a:rPr>
              <a:t> code that makes the test pass.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Run pytest. Watch it go green.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REFACTOR.</a:t>
            </a:r>
            <a:r>
              <a:rPr b="0" i="0" lang="en-US" sz="2000" u="none" cap="none" strike="noStrike">
                <a:solidFill>
                  <a:srgbClr val="666677"/>
                </a:solidFill>
                <a:latin typeface="Calibri"/>
                <a:ea typeface="Calibri"/>
                <a:cs typeface="Calibri"/>
                <a:sym typeface="Calibri"/>
              </a:rPr>
              <a:t> Clean up. Rename, extract, simplify. Re-run tests.</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Then pick the next behavior and go around again.</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2" name="Shape 352"/>
        <p:cNvGrpSpPr/>
        <p:nvPr/>
      </p:nvGrpSpPr>
      <p:grpSpPr>
        <a:xfrm>
          <a:off x="0" y="0"/>
          <a:ext cx="0" cy="0"/>
          <a:chOff x="0" y="0"/>
          <a:chExt cx="0" cy="0"/>
        </a:xfrm>
      </p:grpSpPr>
      <p:sp>
        <p:nvSpPr>
          <p:cNvPr id="353" name="Google Shape;353;g3d857cbebff_0_21"/>
          <p:cNvSpPr txBox="1"/>
          <p:nvPr/>
        </p:nvSpPr>
        <p:spPr>
          <a:xfrm>
            <a:off x="731520" y="274320"/>
            <a:ext cx="10728600" cy="80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TRY IT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Write tests for a function that doesn't exist yet</a:t>
            </a:r>
            <a:endParaRPr/>
          </a:p>
        </p:txBody>
      </p:sp>
      <p:sp>
        <p:nvSpPr>
          <p:cNvPr id="354" name="Google Shape;354;g3d857cbebff_0_21"/>
          <p:cNvSpPr/>
          <p:nvPr/>
        </p:nvSpPr>
        <p:spPr>
          <a:xfrm>
            <a:off x="640080" y="228600"/>
            <a:ext cx="1097400" cy="365700"/>
          </a:xfrm>
          <a:prstGeom prst="roundRect">
            <a:avLst>
              <a:gd fmla="val 16667" name="adj"/>
            </a:avLst>
          </a:prstGeom>
          <a:solidFill>
            <a:srgbClr val="5B21B6"/>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5" name="Google Shape;355;g3d857cbebff_0_21"/>
          <p:cNvSpPr/>
          <p:nvPr/>
        </p:nvSpPr>
        <p:spPr>
          <a:xfrm>
            <a:off x="731520" y="1371600"/>
            <a:ext cx="10728600"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56" name="Google Shape;356;g3d857cbebff_0_21"/>
          <p:cNvSpPr txBox="1"/>
          <p:nvPr/>
        </p:nvSpPr>
        <p:spPr>
          <a:xfrm>
            <a:off x="1005840" y="1554480"/>
            <a:ext cx="10179900" cy="4130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44"/>
                </a:solidFill>
                <a:latin typeface="Courier New"/>
                <a:ea typeface="Courier New"/>
                <a:cs typeface="Courier New"/>
                <a:sym typeface="Courier New"/>
              </a:rPr>
              <a:t># GOAL: we're going to write format_file_size(n: int) -&gt; str,</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which turns a byte count into a human-readable string:</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format_file_size(500)          -&gt; "500 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format_file_size(1024)         -&gt; "1.0 KB"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format_file_size(1_500_000)    -&gt; "1.4 MB"   (roughly)</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We have NOT written it yet.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Write the tests first. Then we'll make them pass.</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import pytest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from file_utils import format_file_size</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test_zero_bytes():</a:t>
            </a:r>
            <a:endParaRPr b="1" sz="1300">
              <a:solidFill>
                <a:srgbClr val="B0B0C0"/>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test_small_number_of_bytes():</a:t>
            </a:r>
            <a:endParaRPr b="1" sz="1300">
              <a:solidFill>
                <a:srgbClr val="B0B0C0"/>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test_exactly_one_kilobyte():</a:t>
            </a:r>
            <a:endParaRPr b="1" sz="1300">
              <a:solidFill>
                <a:srgbClr val="B0B0C0"/>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test_megabyte_range():</a:t>
            </a:r>
            <a:endParaRPr b="1" sz="1300">
              <a:solidFill>
                <a:srgbClr val="B0B0C0"/>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test_gigabyte_range():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1" name="Shape 361"/>
        <p:cNvGrpSpPr/>
        <p:nvPr/>
      </p:nvGrpSpPr>
      <p:grpSpPr>
        <a:xfrm>
          <a:off x="0" y="0"/>
          <a:ext cx="0" cy="0"/>
          <a:chOff x="0" y="0"/>
          <a:chExt cx="0" cy="0"/>
        </a:xfrm>
      </p:grpSpPr>
      <p:sp>
        <p:nvSpPr>
          <p:cNvPr id="362" name="Google Shape;362;p23"/>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600" u="none" cap="none" strike="noStrike">
                <a:solidFill>
                  <a:srgbClr val="FFFFFF"/>
                </a:solidFill>
                <a:latin typeface="Calibri"/>
                <a:ea typeface="Calibri"/>
                <a:cs typeface="Calibri"/>
                <a:sym typeface="Calibri"/>
              </a:rPr>
              <a:t>TRY IT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Write tests for a function that doesn't exist yet</a:t>
            </a:r>
            <a:endParaRPr/>
          </a:p>
        </p:txBody>
      </p:sp>
      <p:sp>
        <p:nvSpPr>
          <p:cNvPr id="363" name="Google Shape;363;p23"/>
          <p:cNvSpPr/>
          <p:nvPr/>
        </p:nvSpPr>
        <p:spPr>
          <a:xfrm>
            <a:off x="640080" y="228600"/>
            <a:ext cx="1097280" cy="365760"/>
          </a:xfrm>
          <a:prstGeom prst="roundRect">
            <a:avLst>
              <a:gd fmla="val 16667" name="adj"/>
            </a:avLst>
          </a:prstGeom>
          <a:solidFill>
            <a:srgbClr val="5B21B6"/>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4" name="Google Shape;364;p23"/>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65" name="Google Shape;365;p23"/>
          <p:cNvSpPr txBox="1"/>
          <p:nvPr/>
        </p:nvSpPr>
        <p:spPr>
          <a:xfrm>
            <a:off x="1005840" y="1554480"/>
            <a:ext cx="10179900" cy="2339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44"/>
                </a:solidFill>
                <a:latin typeface="Courier New"/>
                <a:ea typeface="Courier New"/>
                <a:cs typeface="Courier New"/>
                <a:sym typeface="Courier New"/>
              </a:rPr>
              <a:t># GOAL: we're going to write format_file_size(n: int) -&gt; str,</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which turns a byte count into a human-readable string:</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format_file_size(500)          -&gt; "500 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format_file_size(1024)         -&gt; "1.0 KB"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format_file_size(1_500_000)    -&gt; "1.4 MB"   (roughly)</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We have NOT written it yet.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Write the tests first. Then we'll make them pass.</a:t>
            </a:r>
            <a:endParaRPr/>
          </a:p>
          <a:p>
            <a:pPr indent="0" lvl="0" marL="0" marR="0" rtl="0" algn="l">
              <a:spcBef>
                <a:spcPts val="200"/>
              </a:spcBef>
              <a:spcAft>
                <a:spcPts val="0"/>
              </a:spcAft>
              <a:buNone/>
            </a:pPr>
            <a:r>
              <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p24"/>
          <p:cNvSpPr txBox="1"/>
          <p:nvPr/>
        </p:nvSpPr>
        <p:spPr>
          <a:xfrm>
            <a:off x="731520" y="27432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FFFFFF"/>
                </a:solidFill>
                <a:latin typeface="Calibri"/>
                <a:ea typeface="Calibri"/>
                <a:cs typeface="Calibri"/>
                <a:sym typeface="Calibri"/>
              </a:rPr>
              <a:t>ANSWER  </a:t>
            </a:r>
            <a:endParaRPr/>
          </a:p>
          <a:p>
            <a:pPr indent="0" lvl="0" marL="0" marR="0" rtl="0" algn="l">
              <a:spcBef>
                <a:spcPts val="0"/>
              </a:spcBef>
              <a:spcAft>
                <a:spcPts val="0"/>
              </a:spcAft>
              <a:buNone/>
            </a:pPr>
            <a:r>
              <a:rPr b="1" lang="en-US" sz="3000">
                <a:solidFill>
                  <a:srgbClr val="1A1A2E"/>
                </a:solidFill>
                <a:latin typeface="Calibri"/>
                <a:ea typeface="Calibri"/>
                <a:cs typeface="Calibri"/>
                <a:sym typeface="Calibri"/>
              </a:rPr>
              <a:t>Write tests first, then implement</a:t>
            </a:r>
            <a:endParaRPr/>
          </a:p>
        </p:txBody>
      </p:sp>
      <p:sp>
        <p:nvSpPr>
          <p:cNvPr id="372" name="Google Shape;372;p24"/>
          <p:cNvSpPr/>
          <p:nvPr/>
        </p:nvSpPr>
        <p:spPr>
          <a:xfrm>
            <a:off x="640080" y="228600"/>
            <a:ext cx="1188720" cy="365760"/>
          </a:xfrm>
          <a:prstGeom prst="roundRect">
            <a:avLst>
              <a:gd fmla="val 16667" name="adj"/>
            </a:avLst>
          </a:prstGeom>
          <a:solidFill>
            <a:srgbClr val="166534"/>
          </a:solidFill>
          <a:ln>
            <a:noFill/>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3" name="Google Shape;373;p24"/>
          <p:cNvSpPr/>
          <p:nvPr/>
        </p:nvSpPr>
        <p:spPr>
          <a:xfrm>
            <a:off x="731520" y="1371600"/>
            <a:ext cx="10728655" cy="50292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1"/>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24"/>
          <p:cNvSpPr txBox="1"/>
          <p:nvPr/>
        </p:nvSpPr>
        <p:spPr>
          <a:xfrm>
            <a:off x="1005840" y="1554480"/>
            <a:ext cx="10179900" cy="4371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333344"/>
                </a:solidFill>
                <a:latin typeface="Courier New"/>
                <a:ea typeface="Courier New"/>
                <a:cs typeface="Courier New"/>
                <a:sym typeface="Courier New"/>
              </a:rPr>
              <a:t># test_file_utils.py - tests we wrote BEFORE the implementation</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test_zero_bytes():              assert format_file_size(0) == "0 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test_small_number_of_bytes():   assert format_file_size(500) == "500 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test_exactly_one_kilobyte():    assert format_file_size(1024) == "1.0 KB"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test_megabyte_range():          assert format_file_size(1024 ** 2) == "1.0 MB"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test_gigabyte_range():          assert format_file_size(1024 ** 3) == "1.0 GB"</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file_utils.py - the implementation that falls out of the tests</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def format_file_size(n: int) -&gt; str:</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if n &lt; 1024:</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return f"{n} 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for unit in ["KB", "MB", "GB", "TB"]:</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n /= 1024</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if n &lt; 1024:</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return f"{n:.1f} {unit}"</a:t>
            </a:r>
            <a:endParaRPr/>
          </a:p>
          <a:p>
            <a:pPr indent="0" lvl="0" marL="0" marR="0" rtl="0" algn="l">
              <a:spcBef>
                <a:spcPts val="200"/>
              </a:spcBef>
              <a:spcAft>
                <a:spcPts val="0"/>
              </a:spcAft>
              <a:buNone/>
            </a:pPr>
            <a:r>
              <a:rPr b="1" lang="en-US" sz="1300">
                <a:solidFill>
                  <a:srgbClr val="333344"/>
                </a:solidFill>
                <a:latin typeface="Courier New"/>
                <a:ea typeface="Courier New"/>
                <a:cs typeface="Courier New"/>
                <a:sym typeface="Courier New"/>
              </a:rPr>
              <a:t>    return f"{n:.1f} PB"</a:t>
            </a:r>
            <a:endParaRPr/>
          </a:p>
          <a:p>
            <a:pPr indent="0" lvl="0" marL="0" marR="0" rtl="0" algn="l">
              <a:spcBef>
                <a:spcPts val="200"/>
              </a:spcBef>
              <a:spcAft>
                <a:spcPts val="0"/>
              </a:spcAft>
              <a:buNone/>
            </a:pPr>
            <a:r>
              <a:t/>
            </a:r>
            <a:endParaRPr b="1" sz="1300">
              <a:solidFill>
                <a:srgbClr val="333344"/>
              </a:solidFill>
              <a:latin typeface="Courier New"/>
              <a:ea typeface="Courier New"/>
              <a:cs typeface="Courier New"/>
              <a:sym typeface="Courier New"/>
            </a:endParaRPr>
          </a:p>
          <a:p>
            <a:pPr indent="0" lvl="0" marL="0" marR="0" rtl="0" algn="l">
              <a:spcBef>
                <a:spcPts val="200"/>
              </a:spcBef>
              <a:spcAft>
                <a:spcPts val="0"/>
              </a:spcAft>
              <a:buNone/>
            </a:pPr>
            <a:r>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p25"/>
          <p:cNvSpPr txBox="1"/>
          <p:nvPr/>
        </p:nvSpPr>
        <p:spPr>
          <a:xfrm>
            <a:off x="731520" y="365760"/>
            <a:ext cx="10728655" cy="914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Where this goes next</a:t>
            </a:r>
            <a:endParaRPr/>
          </a:p>
        </p:txBody>
      </p:sp>
      <p:sp>
        <p:nvSpPr>
          <p:cNvPr id="381" name="Google Shape;381;p25"/>
          <p:cNvSpPr txBox="1"/>
          <p:nvPr/>
        </p:nvSpPr>
        <p:spPr>
          <a:xfrm>
            <a:off x="914400" y="1463040"/>
            <a:ext cx="10362900" cy="4371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So far:</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Tests are executable memory.</a:t>
            </a:r>
            <a:r>
              <a:rPr b="0" i="0" lang="en-US" sz="2000" u="none" cap="none" strike="noStrike">
                <a:solidFill>
                  <a:srgbClr val="666677"/>
                </a:solidFill>
                <a:latin typeface="Calibri"/>
                <a:ea typeface="Calibri"/>
                <a:cs typeface="Calibri"/>
                <a:sym typeface="Calibri"/>
              </a:rPr>
              <a:t> Your brain can't hold a whole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program; let the machine remember which cases still work.</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Tests are a design tool.</a:t>
            </a:r>
            <a:r>
              <a:rPr b="0" i="0" lang="en-US" sz="2000" u="none" cap="none" strike="noStrike">
                <a:solidFill>
                  <a:srgbClr val="666677"/>
                </a:solidFill>
                <a:latin typeface="Calibri"/>
                <a:ea typeface="Calibri"/>
                <a:cs typeface="Calibri"/>
                <a:sym typeface="Calibri"/>
              </a:rPr>
              <a:t> Writing the test first forces you to</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be the first user of your own code, before the API is cement.</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lang="en-US" sz="2400">
                <a:solidFill>
                  <a:srgbClr val="333344"/>
                </a:solidFill>
                <a:latin typeface="Calibri"/>
                <a:ea typeface="Calibri"/>
                <a:cs typeface="Calibri"/>
                <a:sym typeface="Calibri"/>
              </a:rPr>
              <a:t>Next: </a:t>
            </a:r>
            <a:r>
              <a:rPr b="1" lang="en-US" sz="2400">
                <a:solidFill>
                  <a:srgbClr val="333344"/>
                </a:solidFill>
                <a:latin typeface="Calibri"/>
                <a:ea typeface="Calibri"/>
                <a:cs typeface="Calibri"/>
                <a:sym typeface="Calibri"/>
              </a:rPr>
              <a:t>practical testing.</a:t>
            </a:r>
            <a:r>
              <a:rPr b="0" lang="en-US" sz="2400">
                <a:solidFill>
                  <a:srgbClr val="333344"/>
                </a:solidFill>
                <a:latin typeface="Calibri"/>
                <a:ea typeface="Calibri"/>
                <a:cs typeface="Calibri"/>
                <a:sym typeface="Calibri"/>
              </a:rPr>
              <a:t> How to test a function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that talks to a database, how to test FastAPI endpoints without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starting a real server, fixtures, setup and teardown, keeping</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tests fast and independent.</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DE9FE"/>
        </a:solidFill>
      </p:bgPr>
    </p:bg>
    <p:spTree>
      <p:nvGrpSpPr>
        <p:cNvPr id="386" name="Shape 386"/>
        <p:cNvGrpSpPr/>
        <p:nvPr/>
      </p:nvGrpSpPr>
      <p:grpSpPr>
        <a:xfrm>
          <a:off x="0" y="0"/>
          <a:ext cx="0" cy="0"/>
          <a:chOff x="0" y="0"/>
          <a:chExt cx="0" cy="0"/>
        </a:xfrm>
      </p:grpSpPr>
      <p:sp>
        <p:nvSpPr>
          <p:cNvPr id="387" name="Google Shape;387;g3e031ea9680_0_159"/>
          <p:cNvSpPr txBox="1"/>
          <p:nvPr/>
        </p:nvSpPr>
        <p:spPr>
          <a:xfrm>
            <a:off x="914400" y="2286000"/>
            <a:ext cx="10362900" cy="7695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400" u="none" cap="none" strike="noStrike">
                <a:solidFill>
                  <a:srgbClr val="5B21B6"/>
                </a:solidFill>
                <a:latin typeface="Calibri"/>
                <a:ea typeface="Calibri"/>
                <a:cs typeface="Calibri"/>
                <a:sym typeface="Calibri"/>
              </a:rPr>
              <a:t>Your New Problem</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2" name="Shape 392"/>
        <p:cNvGrpSpPr/>
        <p:nvPr/>
      </p:nvGrpSpPr>
      <p:grpSpPr>
        <a:xfrm>
          <a:off x="0" y="0"/>
          <a:ext cx="0" cy="0"/>
          <a:chOff x="0" y="0"/>
          <a:chExt cx="0" cy="0"/>
        </a:xfrm>
      </p:grpSpPr>
      <p:sp>
        <p:nvSpPr>
          <p:cNvPr id="393" name="Google Shape;393;g3e031ea9680_0_164"/>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3600">
                <a:solidFill>
                  <a:srgbClr val="1A1A2E"/>
                </a:solidFill>
                <a:latin typeface="Calibri"/>
                <a:ea typeface="Calibri"/>
                <a:cs typeface="Calibri"/>
                <a:sym typeface="Calibri"/>
              </a:rPr>
              <a:t>What we saw</a:t>
            </a:r>
            <a:r>
              <a:rPr b="1" i="0" lang="en-US" sz="3600" u="none" cap="none" strike="noStrike">
                <a:solidFill>
                  <a:srgbClr val="1A1A2E"/>
                </a:solidFill>
                <a:latin typeface="Calibri"/>
                <a:ea typeface="Calibri"/>
                <a:cs typeface="Calibri"/>
                <a:sym typeface="Calibri"/>
              </a:rPr>
              <a:t> was the easy case</a:t>
            </a:r>
            <a:endParaRPr/>
          </a:p>
        </p:txBody>
      </p:sp>
      <p:sp>
        <p:nvSpPr>
          <p:cNvPr id="394" name="Google Shape;394;g3e031ea9680_0_164"/>
          <p:cNvSpPr txBox="1"/>
          <p:nvPr/>
        </p:nvSpPr>
        <p:spPr>
          <a:xfrm>
            <a:off x="914400" y="1463040"/>
            <a:ext cx="10362900" cy="4879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rgbClr val="333344"/>
                </a:solidFill>
                <a:latin typeface="Calibri"/>
                <a:ea typeface="Calibri"/>
                <a:cs typeface="Calibri"/>
                <a:sym typeface="Calibri"/>
              </a:rPr>
              <a:t>So we’ve</a:t>
            </a:r>
            <a:r>
              <a:rPr b="0" i="0" lang="en-US" sz="2400" u="none" cap="none" strike="noStrike">
                <a:solidFill>
                  <a:srgbClr val="333344"/>
                </a:solidFill>
                <a:latin typeface="Calibri"/>
                <a:ea typeface="Calibri"/>
                <a:cs typeface="Calibri"/>
                <a:sym typeface="Calibri"/>
              </a:rPr>
              <a:t> learned to test functions like these:</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shipping_cost(weight_lb, subtotal) -&gt; float</a:t>
            </a:r>
            <a:endParaRPr b="1">
              <a:latin typeface="Courier Prime"/>
              <a:ea typeface="Courier Prime"/>
              <a:cs typeface="Courier Prime"/>
              <a:sym typeface="Courier Prime"/>
            </a:endParaRPr>
          </a:p>
          <a:p>
            <a:pPr indent="0" lvl="1" marL="457200" marR="0" rtl="0" algn="l">
              <a:spcBef>
                <a:spcPts val="600"/>
              </a:spcBef>
              <a:spcAft>
                <a:spcPts val="0"/>
              </a:spcAft>
              <a:buNone/>
            </a:pPr>
            <a:r>
              <a:rPr b="1" i="0" lang="en-US" sz="2000" u="none" cap="none" strike="noStrike">
                <a:solidFill>
                  <a:srgbClr val="666677"/>
                </a:solidFill>
                <a:latin typeface="Courier Prime"/>
                <a:ea typeface="Courier Prime"/>
                <a:cs typeface="Courier Prime"/>
                <a:sym typeface="Courier Prime"/>
              </a:rPr>
              <a:t> format_file_size(n) -&gt; str</a:t>
            </a:r>
            <a:endParaRPr b="1">
              <a:latin typeface="Courier Prime"/>
              <a:ea typeface="Courier Prime"/>
              <a:cs typeface="Courier Prime"/>
              <a:sym typeface="Courier Prime"/>
            </a:endParaRPr>
          </a:p>
          <a:p>
            <a:pPr indent="0" lvl="1" marL="457200" marR="0" rtl="0" algn="l">
              <a:spcBef>
                <a:spcPts val="600"/>
              </a:spcBef>
              <a:spcAft>
                <a:spcPts val="0"/>
              </a:spcAft>
              <a:buNone/>
            </a:pPr>
            <a:r>
              <a:rPr b="1" lang="en-US" sz="2000">
                <a:solidFill>
                  <a:srgbClr val="666677"/>
                </a:solidFill>
                <a:latin typeface="Courier Prime"/>
                <a:ea typeface="Courier Prime"/>
                <a:cs typeface="Courier Prime"/>
                <a:sym typeface="Courier Prime"/>
              </a:rPr>
              <a:t> </a:t>
            </a:r>
            <a:r>
              <a:rPr b="1" i="0" lang="en-US" sz="2000" u="none" cap="none" strike="noStrike">
                <a:solidFill>
                  <a:srgbClr val="666677"/>
                </a:solidFill>
                <a:latin typeface="Courier Prime"/>
                <a:ea typeface="Courier Prime"/>
                <a:cs typeface="Courier Prime"/>
                <a:sym typeface="Courier Prime"/>
              </a:rPr>
              <a:t>parse_price(s) -&gt; float</a:t>
            </a:r>
            <a:endParaRPr b="1">
              <a:latin typeface="Courier Prime"/>
              <a:ea typeface="Courier Prime"/>
              <a:cs typeface="Courier Prime"/>
              <a:sym typeface="Courier Prime"/>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These were </a:t>
            </a:r>
            <a:r>
              <a:rPr lang="en-US" sz="2400">
                <a:solidFill>
                  <a:srgbClr val="333344"/>
                </a:solidFill>
                <a:latin typeface="Calibri"/>
                <a:ea typeface="Calibri"/>
                <a:cs typeface="Calibri"/>
                <a:sym typeface="Calibri"/>
              </a:rPr>
              <a:t>easy</a:t>
            </a:r>
            <a:r>
              <a:rPr b="0" i="0" lang="en-US" sz="2400" u="none" cap="none" strike="noStrike">
                <a:solidFill>
                  <a:srgbClr val="333344"/>
                </a:solidFill>
                <a:latin typeface="Calibri"/>
                <a:ea typeface="Calibri"/>
                <a:cs typeface="Calibri"/>
                <a:sym typeface="Calibri"/>
              </a:rPr>
              <a:t> to test:</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No </a:t>
            </a:r>
            <a:r>
              <a:rPr lang="en-US" sz="2000">
                <a:solidFill>
                  <a:srgbClr val="666677"/>
                </a:solidFill>
                <a:latin typeface="Calibri"/>
                <a:ea typeface="Calibri"/>
                <a:cs typeface="Calibri"/>
                <a:sym typeface="Calibri"/>
              </a:rPr>
              <a:t>extraneous systems.</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Same input, same output, every time.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One call, one return value, one assertion.</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lang="en-US" sz="2400">
                <a:solidFill>
                  <a:srgbClr val="333344"/>
                </a:solidFill>
                <a:latin typeface="Calibri"/>
                <a:ea typeface="Calibri"/>
                <a:cs typeface="Calibri"/>
                <a:sym typeface="Calibri"/>
              </a:rPr>
              <a:t>API endpoints aren’t like that.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9" name="Shape 399"/>
        <p:cNvGrpSpPr/>
        <p:nvPr/>
      </p:nvGrpSpPr>
      <p:grpSpPr>
        <a:xfrm>
          <a:off x="0" y="0"/>
          <a:ext cx="0" cy="0"/>
          <a:chOff x="0" y="0"/>
          <a:chExt cx="0" cy="0"/>
        </a:xfrm>
      </p:grpSpPr>
      <p:sp>
        <p:nvSpPr>
          <p:cNvPr id="400" name="Google Shape;400;g3e031ea9680_0_170"/>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The chat endpoint has dependencies everywhere</a:t>
            </a:r>
            <a:endParaRPr/>
          </a:p>
        </p:txBody>
      </p:sp>
      <p:sp>
        <p:nvSpPr>
          <p:cNvPr id="401" name="Google Shape;401;g3e031ea9680_0_170"/>
          <p:cNvSpPr txBox="1"/>
          <p:nvPr/>
        </p:nvSpPr>
        <p:spPr>
          <a:xfrm>
            <a:off x="914400" y="1463040"/>
            <a:ext cx="10362900" cy="4402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rgbClr val="333344"/>
                </a:solidFill>
                <a:latin typeface="Calibri"/>
                <a:ea typeface="Calibri"/>
                <a:cs typeface="Calibri"/>
                <a:sym typeface="Calibri"/>
              </a:rPr>
              <a:t>Look at one line: `POST /api/messages` in your FastAPI app.</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Under the hood, it depends 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SQLite database</a:t>
            </a:r>
            <a:r>
              <a:rPr b="0" i="0" lang="en-US" sz="2000" u="none" cap="none" strike="noStrike">
                <a:solidFill>
                  <a:srgbClr val="666677"/>
                </a:solidFill>
                <a:latin typeface="Calibri"/>
                <a:ea typeface="Calibri"/>
                <a:cs typeface="Calibri"/>
                <a:sym typeface="Calibri"/>
              </a:rPr>
              <a:t> (your chat.db file, with real data)</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wall clock</a:t>
            </a:r>
            <a:r>
              <a:rPr b="0" i="0" lang="en-US" sz="2000" u="none" cap="none" strike="noStrike">
                <a:solidFill>
                  <a:srgbClr val="666677"/>
                </a:solidFill>
                <a:latin typeface="Calibri"/>
                <a:ea typeface="Calibri"/>
                <a:cs typeface="Calibri"/>
                <a:sym typeface="Calibri"/>
              </a:rPr>
              <a:t> (for the timestamp via datetime.utcnow)</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alibri"/>
                <a:ea typeface="Calibri"/>
                <a:cs typeface="Calibri"/>
                <a:sym typeface="Calibri"/>
              </a:rPr>
              <a:t>FastAPI</a:t>
            </a:r>
            <a:r>
              <a:rPr b="0" i="0" lang="en-US" sz="2000" u="none" cap="none" strike="noStrike">
                <a:solidFill>
                  <a:srgbClr val="666677"/>
                </a:solidFill>
                <a:latin typeface="Calibri"/>
                <a:ea typeface="Calibri"/>
                <a:cs typeface="Calibri"/>
                <a:sym typeface="Calibri"/>
              </a:rPr>
              <a:t> itself (request parsing, Pydantic validation)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 </a:t>
            </a:r>
            <a:r>
              <a:rPr b="1" i="0" lang="en-US" sz="2000" u="none" cap="none" strike="noStrike">
                <a:solidFill>
                  <a:srgbClr val="666677"/>
                </a:solidFill>
                <a:latin typeface="Calibri"/>
                <a:ea typeface="Calibri"/>
                <a:cs typeface="Calibri"/>
                <a:sym typeface="Calibri"/>
              </a:rPr>
              <a:t>TCP port</a:t>
            </a:r>
            <a:r>
              <a:rPr b="0" i="0" lang="en-US" sz="2000" u="none" cap="none" strike="noStrike">
                <a:solidFill>
                  <a:srgbClr val="666677"/>
                </a:solidFill>
                <a:latin typeface="Calibri"/>
                <a:ea typeface="Calibri"/>
                <a:cs typeface="Calibri"/>
                <a:sym typeface="Calibri"/>
              </a:rPr>
              <a:t> that uvicorn has to be listening on</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The </a:t>
            </a:r>
            <a:r>
              <a:rPr b="1" i="0" lang="en-US" sz="2000" u="none" cap="none" strike="noStrike">
                <a:solidFill>
                  <a:srgbClr val="666677"/>
                </a:solidFill>
                <a:latin typeface="Calibri"/>
                <a:ea typeface="Calibri"/>
                <a:cs typeface="Calibri"/>
                <a:sym typeface="Calibri"/>
              </a:rPr>
              <a:t>filesystem</a:t>
            </a:r>
            <a:r>
              <a:rPr b="0" i="0" lang="en-US" sz="2000" u="none" cap="none" strike="noStrike">
                <a:solidFill>
                  <a:srgbClr val="666677"/>
                </a:solidFill>
                <a:latin typeface="Calibri"/>
                <a:ea typeface="Calibri"/>
                <a:cs typeface="Calibri"/>
                <a:sym typeface="Calibri"/>
              </a:rPr>
              <a:t> (to open chat.db)</a:t>
            </a:r>
            <a:endParaRPr/>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0" i="0" lang="en-US" sz="2400" u="none" cap="none" strike="noStrike">
                <a:solidFill>
                  <a:srgbClr val="333344"/>
                </a:solidFill>
                <a:latin typeface="Calibri"/>
                <a:ea typeface="Calibri"/>
                <a:cs typeface="Calibri"/>
                <a:sym typeface="Calibri"/>
              </a:rPr>
              <a:t>To test this endpoint, you'd think you</a:t>
            </a:r>
            <a:r>
              <a:rPr lang="en-US" sz="2400">
                <a:solidFill>
                  <a:srgbClr val="333344"/>
                </a:solidFill>
                <a:latin typeface="Calibri"/>
                <a:ea typeface="Calibri"/>
                <a:cs typeface="Calibri"/>
                <a:sym typeface="Calibri"/>
              </a:rPr>
              <a:t>’d need a server, db, port, and clock.</a:t>
            </a:r>
            <a:endParaRPr/>
          </a:p>
          <a:p>
            <a:pPr indent="0" lvl="0" marL="0" marR="0" rtl="0" algn="l">
              <a:spcBef>
                <a:spcPts val="600"/>
              </a:spcBef>
              <a:spcAft>
                <a:spcPts val="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6" name="Shape 406"/>
        <p:cNvGrpSpPr/>
        <p:nvPr/>
      </p:nvGrpSpPr>
      <p:grpSpPr>
        <a:xfrm>
          <a:off x="0" y="0"/>
          <a:ext cx="0" cy="0"/>
          <a:chOff x="0" y="0"/>
          <a:chExt cx="0" cy="0"/>
        </a:xfrm>
      </p:grpSpPr>
      <p:sp>
        <p:nvSpPr>
          <p:cNvPr id="407" name="Google Shape;407;g3e031ea9680_0_176"/>
          <p:cNvSpPr txBox="1"/>
          <p:nvPr/>
        </p:nvSpPr>
        <p:spPr>
          <a:xfrm>
            <a:off x="731520" y="365760"/>
            <a:ext cx="10728600" cy="585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200" u="none" cap="none" strike="noStrike">
                <a:solidFill>
                  <a:srgbClr val="1A1A2E"/>
                </a:solidFill>
                <a:latin typeface="Calibri"/>
                <a:ea typeface="Calibri"/>
                <a:cs typeface="Calibri"/>
                <a:sym typeface="Calibri"/>
              </a:rPr>
              <a:t>A test that tries to use all the real things</a:t>
            </a:r>
            <a:endParaRPr/>
          </a:p>
        </p:txBody>
      </p:sp>
      <p:sp>
        <p:nvSpPr>
          <p:cNvPr id="408" name="Google Shape;408;g3e031ea9680_0_176"/>
          <p:cNvSpPr txBox="1"/>
          <p:nvPr/>
        </p:nvSpPr>
        <p:spPr>
          <a:xfrm>
            <a:off x="9601200" y="1188720"/>
            <a:ext cx="1828800" cy="307800"/>
          </a:xfrm>
          <a:prstGeom prst="rect">
            <a:avLst/>
          </a:prstGeom>
          <a:noFill/>
          <a:ln>
            <a:noFill/>
          </a:ln>
        </p:spPr>
        <p:txBody>
          <a:bodyPr anchorCtr="0" anchor="t" bIns="45700" lIns="91425" spcFirstLastPara="1" rIns="91425" wrap="square" tIns="45700">
            <a:spAutoFit/>
          </a:bodyPr>
          <a:lstStyle/>
          <a:p>
            <a:pPr indent="0" lvl="0" marL="0" marR="0" rtl="0" algn="r">
              <a:spcBef>
                <a:spcPts val="0"/>
              </a:spcBef>
              <a:spcAft>
                <a:spcPts val="0"/>
              </a:spcAft>
              <a:buNone/>
            </a:pPr>
            <a:r>
              <a:rPr b="0" i="0" lang="en-US" sz="1400" u="none" cap="none" strike="noStrike">
                <a:solidFill>
                  <a:srgbClr val="5B21B6"/>
                </a:solidFill>
                <a:latin typeface="Courier New"/>
                <a:ea typeface="Courier New"/>
                <a:cs typeface="Courier New"/>
                <a:sym typeface="Courier New"/>
              </a:rPr>
              <a:t>Python</a:t>
            </a:r>
            <a:endParaRPr/>
          </a:p>
        </p:txBody>
      </p:sp>
      <p:sp>
        <p:nvSpPr>
          <p:cNvPr id="409" name="Google Shape;409;g3e031ea9680_0_176"/>
          <p:cNvSpPr/>
          <p:nvPr/>
        </p:nvSpPr>
        <p:spPr>
          <a:xfrm>
            <a:off x="731520" y="1463040"/>
            <a:ext cx="10728600" cy="4937700"/>
          </a:xfrm>
          <a:prstGeom prst="roundRect">
            <a:avLst>
              <a:gd fmla="val 16667" name="adj"/>
            </a:avLst>
          </a:prstGeom>
          <a:solidFill>
            <a:srgbClr val="F0F0F4"/>
          </a:solidFill>
          <a:ln cap="flat" cmpd="sng" w="12700">
            <a:solidFill>
              <a:srgbClr val="EEEEF0"/>
            </a:solidFill>
            <a:prstDash val="solid"/>
            <a:round/>
            <a:headEnd len="sm" w="sm" type="none"/>
            <a:tailEnd len="sm" w="sm" type="none"/>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410" name="Google Shape;410;g3e031ea9680_0_176"/>
          <p:cNvSpPr txBox="1"/>
          <p:nvPr/>
        </p:nvSpPr>
        <p:spPr>
          <a:xfrm>
            <a:off x="1005840" y="1645920"/>
            <a:ext cx="10179900" cy="44277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rgbClr val="333344"/>
                </a:solidFill>
                <a:latin typeface="Courier New"/>
                <a:ea typeface="Courier New"/>
                <a:cs typeface="Courier New"/>
                <a:sym typeface="Courier New"/>
              </a:rPr>
              <a:t># test_chat_bad.py - don't write tests like this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import subprocess, time, requests</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def test_post_message():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 Start a real server in a subprocess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proc = subprocess.Popen(["uvicorn", "app:app"])</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time.sleep(2)  # wait for it to come up (hopefully)</a:t>
            </a:r>
            <a:endParaRPr/>
          </a:p>
          <a:p>
            <a:pPr indent="0" lvl="0" marL="0" marR="0" rtl="0" algn="l">
              <a:spcBef>
                <a:spcPts val="200"/>
              </a:spcBef>
              <a:spcAft>
                <a:spcPts val="0"/>
              </a:spcAft>
              <a:buNone/>
            </a:pPr>
            <a:r>
              <a:t/>
            </a:r>
            <a:endParaRPr b="1" i="0" sz="1500" u="none" cap="none" strike="noStrike">
              <a:solidFill>
                <a:srgbClr val="333344"/>
              </a:solidFill>
              <a:latin typeface="Courier New"/>
              <a:ea typeface="Courier New"/>
              <a:cs typeface="Courier New"/>
              <a:sym typeface="Courier New"/>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try:</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r = requests.post(</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"http://localhost:8000/api/messages",</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json={"author": "alice", "text": "hi"},</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r.status_code == 201</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assert r.json()["author"] == "alice"</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finally:</a:t>
            </a:r>
            <a:endParaRPr/>
          </a:p>
          <a:p>
            <a:pPr indent="0" lvl="0" marL="0" marR="0" rtl="0" algn="l">
              <a:spcBef>
                <a:spcPts val="200"/>
              </a:spcBef>
              <a:spcAft>
                <a:spcPts val="0"/>
              </a:spcAft>
              <a:buNone/>
            </a:pPr>
            <a:r>
              <a:rPr b="1" i="0" lang="en-US" sz="1500" u="none" cap="none" strike="noStrike">
                <a:solidFill>
                  <a:srgbClr val="333344"/>
                </a:solidFill>
                <a:latin typeface="Courier New"/>
                <a:ea typeface="Courier New"/>
                <a:cs typeface="Courier New"/>
                <a:sym typeface="Courier New"/>
              </a:rPr>
              <a:t>        proc.terminate()</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5" name="Shape 415"/>
        <p:cNvGrpSpPr/>
        <p:nvPr/>
      </p:nvGrpSpPr>
      <p:grpSpPr>
        <a:xfrm>
          <a:off x="0" y="0"/>
          <a:ext cx="0" cy="0"/>
          <a:chOff x="0" y="0"/>
          <a:chExt cx="0" cy="0"/>
        </a:xfrm>
      </p:grpSpPr>
      <p:sp>
        <p:nvSpPr>
          <p:cNvPr id="416" name="Google Shape;416;g3e031ea9680_0_279"/>
          <p:cNvSpPr txBox="1"/>
          <p:nvPr/>
        </p:nvSpPr>
        <p:spPr>
          <a:xfrm>
            <a:off x="731520" y="365760"/>
            <a:ext cx="10728600" cy="646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3600" u="none" cap="none" strike="noStrike">
                <a:solidFill>
                  <a:srgbClr val="1A1A2E"/>
                </a:solidFill>
                <a:latin typeface="Calibri"/>
                <a:ea typeface="Calibri"/>
                <a:cs typeface="Calibri"/>
                <a:sym typeface="Calibri"/>
              </a:rPr>
              <a:t>What makes a test good</a:t>
            </a:r>
            <a:endParaRPr/>
          </a:p>
        </p:txBody>
      </p:sp>
      <p:sp>
        <p:nvSpPr>
          <p:cNvPr id="417" name="Google Shape;417;g3e031ea9680_0_279"/>
          <p:cNvSpPr txBox="1"/>
          <p:nvPr/>
        </p:nvSpPr>
        <p:spPr>
          <a:xfrm>
            <a:off x="731525" y="1165750"/>
            <a:ext cx="10824000" cy="5187300"/>
          </a:xfrm>
          <a:prstGeom prst="rect">
            <a:avLst/>
          </a:prstGeom>
          <a:noFill/>
          <a:ln>
            <a:noFill/>
          </a:ln>
        </p:spPr>
        <p:txBody>
          <a:bodyPr anchorCtr="0" anchor="t" bIns="45700" lIns="91425" spcFirstLastPara="1" rIns="91425" wrap="square" tIns="45700">
            <a:spAutoFit/>
          </a:bodyPr>
          <a:lstStyle/>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One behavior per test.</a:t>
            </a:r>
            <a:r>
              <a:rPr b="0" i="0" lang="en-US" sz="2400" u="none" cap="none" strike="noStrike">
                <a:solidFill>
                  <a:srgbClr val="333344"/>
                </a:solidFill>
                <a:latin typeface="Calibri"/>
                <a:ea typeface="Calibri"/>
                <a:cs typeface="Calibri"/>
                <a:sym typeface="Calibri"/>
              </a:rPr>
              <a:t> A test that checks three things is three tests crammed into one</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t/>
            </a:r>
            <a:endParaRPr sz="2400">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A name that reads like a sentence.</a:t>
            </a:r>
            <a:endParaRPr/>
          </a:p>
          <a:p>
            <a:pPr indent="0" lvl="1" marL="457200" marR="0" rtl="0" algn="l">
              <a:spcBef>
                <a:spcPts val="600"/>
              </a:spcBef>
              <a:spcAft>
                <a:spcPts val="0"/>
              </a:spcAft>
              <a:buNone/>
            </a:pPr>
            <a:r>
              <a:rPr b="0" i="0" lang="en-US" sz="2000" u="none" cap="none" strike="noStrike">
                <a:solidFill>
                  <a:srgbClr val="666677"/>
                </a:solidFill>
                <a:latin typeface="Calibri"/>
                <a:ea typeface="Calibri"/>
                <a:cs typeface="Calibri"/>
                <a:sym typeface="Calibri"/>
              </a:rPr>
              <a:t>  </a:t>
            </a:r>
            <a:r>
              <a:rPr b="1" i="0" lang="en-US" sz="2000" u="none" cap="none" strike="noStrike">
                <a:solidFill>
                  <a:srgbClr val="666677"/>
                </a:solidFill>
                <a:latin typeface="Courier Prime"/>
                <a:ea typeface="Courier Prime"/>
                <a:cs typeface="Courier Prime"/>
                <a:sym typeface="Courier Prime"/>
              </a:rPr>
              <a:t>test_free_shipping_over_50</a:t>
            </a:r>
            <a:r>
              <a:rPr b="0" i="0" lang="en-US" sz="2000" u="none" cap="none" strike="noStrike">
                <a:solidFill>
                  <a:srgbClr val="666677"/>
                </a:solidFill>
                <a:latin typeface="Calibri"/>
                <a:ea typeface="Calibri"/>
                <a:cs typeface="Calibri"/>
                <a:sym typeface="Calibri"/>
              </a:rPr>
              <a:t> beats </a:t>
            </a:r>
            <a:r>
              <a:rPr b="1" i="0" lang="en-US" sz="2000" u="none" cap="none" strike="noStrike">
                <a:solidFill>
                  <a:srgbClr val="666677"/>
                </a:solidFill>
                <a:latin typeface="Courier Prime"/>
                <a:ea typeface="Courier Prime"/>
                <a:cs typeface="Courier Prime"/>
                <a:sym typeface="Courier Prime"/>
              </a:rPr>
              <a:t>test_shipping_3</a:t>
            </a:r>
            <a:endParaRPr sz="2000">
              <a:solidFill>
                <a:srgbClr val="666677"/>
              </a:solidFill>
              <a:latin typeface="Calibri"/>
              <a:ea typeface="Calibri"/>
              <a:cs typeface="Calibri"/>
              <a:sym typeface="Calibri"/>
            </a:endParaRPr>
          </a:p>
          <a:p>
            <a:pPr indent="0" lvl="1" marL="457200" marR="0" rtl="0" algn="l">
              <a:spcBef>
                <a:spcPts val="600"/>
              </a:spcBef>
              <a:spcAft>
                <a:spcPts val="0"/>
              </a:spcAft>
              <a:buNone/>
            </a:pPr>
            <a:r>
              <a:t/>
            </a:r>
            <a:endParaRPr sz="2000">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noStrike">
                <a:solidFill>
                  <a:srgbClr val="333344"/>
                </a:solidFill>
                <a:latin typeface="Calibri"/>
                <a:ea typeface="Calibri"/>
                <a:cs typeface="Calibri"/>
                <a:sym typeface="Calibri"/>
              </a:rPr>
              <a:t>Obvious on failure.</a:t>
            </a:r>
            <a:r>
              <a:rPr b="0" i="0" lang="en-US" sz="2400" u="none" cap="none" strike="noStrike">
                <a:solidFill>
                  <a:srgbClr val="333344"/>
                </a:solidFill>
                <a:latin typeface="Calibri"/>
                <a:ea typeface="Calibri"/>
                <a:cs typeface="Calibri"/>
                <a:sym typeface="Calibri"/>
              </a:rPr>
              <a:t> You should know what broke without a debugger.</a:t>
            </a:r>
            <a:endParaRPr/>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sngStrike">
                <a:solidFill>
                  <a:srgbClr val="333344"/>
                </a:solidFill>
                <a:latin typeface="Calibri"/>
                <a:ea typeface="Calibri"/>
                <a:cs typeface="Calibri"/>
                <a:sym typeface="Calibri"/>
              </a:rPr>
              <a:t>Deterministic.</a:t>
            </a:r>
            <a:r>
              <a:rPr b="0" i="0" lang="en-US" sz="2400" u="none" cap="none" strike="sngStrike">
                <a:solidFill>
                  <a:srgbClr val="333344"/>
                </a:solidFill>
                <a:latin typeface="Calibri"/>
                <a:ea typeface="Calibri"/>
                <a:cs typeface="Calibri"/>
                <a:sym typeface="Calibri"/>
              </a:rPr>
              <a:t> Same inputs, same result. No randomness, clock</a:t>
            </a:r>
            <a:r>
              <a:rPr lang="en-US" sz="2400" strike="sngStrike">
                <a:solidFill>
                  <a:srgbClr val="333344"/>
                </a:solidFill>
                <a:latin typeface="Calibri"/>
                <a:ea typeface="Calibri"/>
                <a:cs typeface="Calibri"/>
                <a:sym typeface="Calibri"/>
              </a:rPr>
              <a:t>s, or network (yet)</a:t>
            </a:r>
            <a:endParaRPr strike="sngStrike"/>
          </a:p>
          <a:p>
            <a:pPr indent="0" lvl="0" marL="0" marR="0" rtl="0" algn="l">
              <a:spcBef>
                <a:spcPts val="600"/>
              </a:spcBef>
              <a:spcAft>
                <a:spcPts val="0"/>
              </a:spcAft>
              <a:buNone/>
            </a:pPr>
            <a:r>
              <a:t/>
            </a:r>
            <a:endParaRPr b="0" i="0" sz="2000" u="none" cap="none" strike="noStrike">
              <a:solidFill>
                <a:srgbClr val="666677"/>
              </a:solidFill>
              <a:latin typeface="Calibri"/>
              <a:ea typeface="Calibri"/>
              <a:cs typeface="Calibri"/>
              <a:sym typeface="Calibri"/>
            </a:endParaRPr>
          </a:p>
          <a:p>
            <a:pPr indent="0" lvl="0" marL="0" marR="0" rtl="0" algn="l">
              <a:spcBef>
                <a:spcPts val="600"/>
              </a:spcBef>
              <a:spcAft>
                <a:spcPts val="0"/>
              </a:spcAft>
              <a:buNone/>
            </a:pPr>
            <a:r>
              <a:rPr b="1" i="0" lang="en-US" sz="2400" u="none" cap="none" strike="sngStrike">
                <a:solidFill>
                  <a:srgbClr val="333344"/>
                </a:solidFill>
                <a:latin typeface="Calibri"/>
                <a:ea typeface="Calibri"/>
                <a:cs typeface="Calibri"/>
                <a:sym typeface="Calibri"/>
              </a:rPr>
              <a:t>Fast.</a:t>
            </a:r>
            <a:r>
              <a:rPr b="0" i="0" lang="en-US" sz="2400" u="none" cap="none" strike="sngStrike">
                <a:solidFill>
                  <a:srgbClr val="333344"/>
                </a:solidFill>
                <a:latin typeface="Calibri"/>
                <a:ea typeface="Calibri"/>
                <a:cs typeface="Calibri"/>
                <a:sym typeface="Calibri"/>
              </a:rPr>
              <a:t> Slow tests don't get run.</a:t>
            </a:r>
            <a:endParaRPr strike="sngStrike"/>
          </a:p>
          <a:p>
            <a:pPr indent="0" lvl="0" marL="0" marR="0" rtl="0" algn="l">
              <a:spcBef>
                <a:spcPts val="600"/>
              </a:spcBef>
              <a:spcAft>
                <a:spcPts val="0"/>
              </a:spcAft>
              <a:buNone/>
            </a:pPr>
            <a:r>
              <a:t/>
            </a:r>
            <a:endParaRPr b="0" i="0" sz="2400" u="none" cap="none" strike="noStrike">
              <a:solidFill>
                <a:srgbClr val="333344"/>
              </a:solidFill>
              <a:latin typeface="Calibri"/>
              <a:ea typeface="Calibri"/>
              <a:cs typeface="Calibri"/>
              <a:sym typeface="Calibri"/>
            </a:endParaRPr>
          </a:p>
          <a:p>
            <a:pPr indent="0" lvl="0" marL="0" marR="0" rtl="0" algn="l">
              <a:spcBef>
                <a:spcPts val="600"/>
              </a:spcBef>
              <a:spcAft>
                <a:spcPts val="0"/>
              </a:spcAft>
              <a:buNone/>
            </a:pPr>
            <a:r>
              <a:rPr b="1" i="0" lang="en-US" sz="2400" u="none" cap="none" strike="sngStrike">
                <a:solidFill>
                  <a:srgbClr val="333344"/>
                </a:solidFill>
                <a:latin typeface="Calibri"/>
                <a:ea typeface="Calibri"/>
                <a:cs typeface="Calibri"/>
                <a:sym typeface="Calibri"/>
              </a:rPr>
              <a:t>Independent.</a:t>
            </a:r>
            <a:r>
              <a:rPr b="0" i="0" lang="en-US" sz="2400" u="none" cap="none" strike="sngStrike">
                <a:solidFill>
                  <a:srgbClr val="333344"/>
                </a:solidFill>
                <a:latin typeface="Calibri"/>
                <a:ea typeface="Calibri"/>
                <a:cs typeface="Calibri"/>
                <a:sym typeface="Calibri"/>
              </a:rPr>
              <a:t> Passes or fails the same alone or in any order.</a:t>
            </a:r>
            <a:endParaRPr strike="sngStrike"/>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