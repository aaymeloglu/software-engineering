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y="6858000" cx="12191675"/>
  <p:notesSz cx="6858000" cy="9144000"/>
  <p:embeddedFontLst>
    <p:embeddedFont>
      <p:font typeface="Courier Prime"/>
      <p:regular r:id="rId51"/>
      <p:bold r:id="rId52"/>
      <p:italic r:id="rId53"/>
      <p:boldItalic r:id="rId5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5" roundtripDataSignature="AMtx7mizArWxL6sKIQlFVQB9TwGdrdqr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font" Target="fonts/CourierPrime-regular.fntdata"/><Relationship Id="rId52" Type="http://schemas.openxmlformats.org/officeDocument/2006/relationships/font" Target="fonts/CourierPrime-bold.fntdata"/><Relationship Id="rId53" Type="http://schemas.openxmlformats.org/officeDocument/2006/relationships/font" Target="fonts/CourierPrime-italic.fntdata"/><Relationship Id="rId54" Type="http://schemas.openxmlformats.org/officeDocument/2006/relationships/font" Target="fonts/CourierPrime-boldItalic.fntdata"/><Relationship Id="rId5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031ea9680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g3e031ea9680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Collect guesses before revealing.</a:t>
            </a:r>
          </a:p>
        </p:txBody>
      </p:sp>
      <p:sp>
        <p:nvSpPr>
          <p:cNvPr id="92" name="Google Shape;92;g3e031ea9680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031ea9680_0_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8" name="Google Shape;98;g3e031ea9680_0_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e031ea9680_0_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Ask what they did last week to check their code.</a:t>
            </a:r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e031ea9680_0_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g3e031ea9680_0_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g3e031ea9680_0_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031ea9680_0_9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e031ea9680_0_9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e031ea9680_0_9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26" name="Google Shape;126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Target is one inadequate kind of testing, checking by hand is fine.</a:t>
            </a:r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aloud, don't explain. Running example for the whole pytest section.</a:t>
            </a:r>
          </a:p>
        </p:txBody>
      </p:sp>
      <p:sp>
        <p:nvSpPr>
          <p:cNvPr id="140" name="Google Shape;14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857cbebff_0_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7" name="Google Shape;147;g3d857cbebff_0_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Expect: example inputs, prints, read line by line, peer review, weird inputs. List on board.</a:t>
            </a:r>
          </a:p>
        </p:txBody>
      </p:sp>
      <p:sp>
        <p:nvSpPr>
          <p:cNvPr id="148" name="Google Shape;148;g3d857cbebff_0_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56" name="Google Shape;156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031ea9680_0_1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g3e031ea9680_0_1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Map each point to the board: example inputs fails 1-2, line-by-line fails 3-4.</a:t>
            </a:r>
          </a:p>
        </p:txBody>
      </p:sp>
      <p:sp>
        <p:nvSpPr>
          <p:cNvPr id="162" name="Google Shape;162;g3e031ea9680_0_1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031ea9680_0_1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g3e031ea9680_0_1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Map each point to the board: example inputs fails 1-2, line-by-line fails 3-4.</a:t>
            </a:r>
          </a:p>
        </p:txBody>
      </p:sp>
      <p:sp>
        <p:nvSpPr>
          <p:cNvPr id="169" name="Google Shape;169;g3e031ea9680_0_1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031ea9680_0_1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g3e031ea9680_0_1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Map each point to the board: example inputs fails 1-2, line-by-line fails 3-4.</a:t>
            </a:r>
          </a:p>
        </p:txBody>
      </p:sp>
      <p:sp>
        <p:nvSpPr>
          <p:cNvPr id="176" name="Google Shape;176;g3e031ea9680_0_1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031ea9680_0_1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g3e031ea9680_0_1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Map each point to the board: example inputs fails 1-2, line-by-line fails 3-4.</a:t>
            </a:r>
          </a:p>
        </p:txBody>
      </p:sp>
      <p:sp>
        <p:nvSpPr>
          <p:cNvPr id="183" name="Google Shape;183;g3e031ea9680_0_1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9" name="Google Shape;18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Map each point to the board: example inputs fails 1-2, line-by-line fails 3-4.</a:t>
            </a:r>
          </a:p>
        </p:txBody>
      </p:sp>
      <p:sp>
        <p:nvSpPr>
          <p:cNvPr id="190" name="Google Shape;19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e031ea9680_0_14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6" name="Google Shape;196;g3e031ea9680_0_14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Contrast with tests as bureaucratic safety theater.</a:t>
            </a:r>
          </a:p>
        </p:txBody>
      </p:sp>
      <p:sp>
        <p:nvSpPr>
          <p:cNvPr id="197" name="Google Shape;197;g3e031ea9680_0_14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e031ea9680_0_1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3" name="Google Shape;203;g3e031ea9680_0_1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Contrast with tests as bureaucratic safety theater.</a:t>
            </a:r>
          </a:p>
        </p:txBody>
      </p:sp>
      <p:sp>
        <p:nvSpPr>
          <p:cNvPr id="204" name="Google Shape;204;g3e031ea9680_0_14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4" name="Google Shape;214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Contrast with tests as bureaucratic safety theater.</a:t>
            </a:r>
          </a:p>
        </p:txBody>
      </p:sp>
      <p:sp>
        <p:nvSpPr>
          <p:cNvPr id="215" name="Google Shape;215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22" name="Google Shape;222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7" name="Google Shape;227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Friction argument: pytest hello world is two lines, plain `assert`.</a:t>
            </a:r>
          </a:p>
        </p:txBody>
      </p:sp>
      <p:sp>
        <p:nvSpPr>
          <p:cNvPr id="228" name="Google Shape;228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4" name="Google Shape;23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fast, live demo next.</a:t>
            </a:r>
          </a:p>
        </p:txBody>
      </p:sp>
      <p:sp>
        <p:nvSpPr>
          <p:cNvPr id="235" name="Google Shape;235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Live, 5-7 min: 3-4 tests, `pytest -v`, break free-shipping branch, show introspection output.</a:t>
            </a:r>
          </a:p>
        </p:txBody>
      </p:sp>
      <p:sp>
        <p:nvSpPr>
          <p:cNvPr id="242" name="Google Shape;24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857cbebff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9" name="Google Shape;249;g3d857cbebff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d857cbebff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7" name="Google Shape;25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Name each phase. One habit to take from this lecture.</a:t>
            </a:r>
          </a:p>
        </p:txBody>
      </p:sp>
      <p:sp>
        <p:nvSpPr>
          <p:cNvPr id="258" name="Google Shape;25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30 sec, cold-call. Answer B: failure names scenario, A stops at first failing assert.</a:t>
            </a:r>
          </a:p>
        </p:txBody>
      </p:sp>
      <p:sp>
        <p:nvSpPr>
          <p:cNvPr id="267" name="Google Shape;267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quickly. Most time on deterministic and independent, both return in 4.2.</a:t>
            </a:r>
          </a:p>
        </p:txBody>
      </p:sp>
      <p:sp>
        <p:nvSpPr>
          <p:cNvPr id="276" name="Google Shape;276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e031ea9680_0_25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g3e031ea9680_0_25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Only new pytest mechanic. Without `raises` the exception fails the test. `match=` checks message.</a:t>
            </a:r>
          </a:p>
        </p:txBody>
      </p:sp>
      <p:sp>
        <p:nvSpPr>
          <p:cNvPr id="283" name="Google Shape;283;g3e031ea9680_0_25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Only new pytest mechanic. Without `raises` the exception fails the test. `match=` checks message.</a:t>
            </a:r>
          </a:p>
        </p:txBody>
      </p:sp>
      <p:sp>
        <p:nvSpPr>
          <p:cNvPr id="292" name="Google Shape;29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Show of hands per option. Answer C, D: A tests Python, B tests sqlite.</a:t>
            </a:r>
          </a:p>
        </p:txBody>
      </p:sp>
      <p:sp>
        <p:nvSpPr>
          <p:cNvPr id="301" name="Google Shape;301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9" name="Google Shape;309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Mention Superpowers TDD if they've seen it.</a:t>
            </a:r>
          </a:p>
        </p:txBody>
      </p:sp>
      <p:sp>
        <p:nvSpPr>
          <p:cNvPr id="310" name="Google Shape;310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e031ea9680_0_2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g3e031ea9680_0_2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Writing a test is already design work, TDD moves it earlier.</a:t>
            </a:r>
          </a:p>
        </p:txBody>
      </p:sp>
      <p:sp>
        <p:nvSpPr>
          <p:cNvPr id="316" name="Google Shape;316;g3e031ea9680_0_27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2" name="Google Shape;322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Writing a test is already design work, TDD moves it earlier.</a:t>
            </a:r>
          </a:p>
        </p:txBody>
      </p:sp>
      <p:sp>
        <p:nvSpPr>
          <p:cNvPr id="323" name="Google Shape;323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e031ea9680_0_26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9" name="Google Shape;329;g3e031ea9680_0_26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Writing a test is already design work, TDD moves it earlier.</a:t>
            </a:r>
          </a:p>
        </p:txBody>
      </p:sp>
      <p:sp>
        <p:nvSpPr>
          <p:cNvPr id="330" name="Google Shape;330;g3e031ea9680_0_26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Decisions get made when cheapest to change.</a:t>
            </a:r>
          </a:p>
        </p:txBody>
      </p:sp>
      <p:sp>
        <p:nvSpPr>
          <p:cNvPr id="337" name="Google Shape;337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3" name="Google Shape;343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oversell. Hard to test-first: UI, exploratory prototypes. Best for pure functions.</a:t>
            </a:r>
          </a:p>
        </p:txBody>
      </p:sp>
      <p:sp>
        <p:nvSpPr>
          <p:cNvPr id="344" name="Google Shape;344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d857cbebff_0_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0" name="Google Shape;350;g3d857cbebff_0_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No wrong answers: '1 KB' vs '1.0 KB', '0 B' vs '0 bytes' are decisions.</a:t>
            </a:r>
          </a:p>
        </p:txBody>
      </p:sp>
      <p:sp>
        <p:nvSpPr>
          <p:cNvPr id="351" name="Google Shape;351;g3d857cbebff_0_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9" name="Google Shape;359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No wrong answers: '1 KB' vs '1.0 KB', '0 B' vs '0 bytes' are decisions.</a:t>
            </a:r>
          </a:p>
        </p:txBody>
      </p:sp>
      <p:sp>
        <p:nvSpPr>
          <p:cNvPr id="360" name="Google Shape;360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8" name="Google Shape;368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at lines a test pinned: no decimals for bytes, one decimal above 1024.</a:t>
            </a:r>
          </a:p>
        </p:txBody>
      </p:sp>
      <p:sp>
        <p:nvSpPr>
          <p:cNvPr id="369" name="Google Shape;369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7" name="Google Shape;377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A2 has testing requirements from bronze tier on.</a:t>
            </a:r>
          </a:p>
        </p:txBody>
      </p:sp>
      <p:sp>
        <p:nvSpPr>
          <p:cNvPr id="378" name="Google Shape;378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e031ea9680_0_15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4" name="Google Shape;384;g3e031ea9680_0_15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85" name="Google Shape;385;g3e031ea9680_0_15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e031ea9680_0_16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g3e031ea9680_0_16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explain why yet, next slide.</a:t>
            </a:r>
          </a:p>
        </p:txBody>
      </p:sp>
      <p:sp>
        <p:nvSpPr>
          <p:cNvPr id="391" name="Google Shape;391;g3e031ea9680_0_16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e031ea9680_0_17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7" name="Google Shape;397;g3e031ea9680_0_17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item becomes a mini-section. Phrase: control the world around your code.</a:t>
            </a:r>
          </a:p>
        </p:txBody>
      </p:sp>
      <p:sp>
        <p:nvSpPr>
          <p:cNvPr id="398" name="Google Shape;398;g3e031ea9680_0_17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e031ea9680_0_17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g3e031ea9680_0_17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aloud line by line before discussion slide. It works, every dependency is real.</a:t>
            </a:r>
          </a:p>
        </p:txBody>
      </p:sp>
      <p:sp>
        <p:nvSpPr>
          <p:cNvPr id="405" name="Google Shape;405;g3e031ea9680_0_17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e031ea9680_0_27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3" name="Google Shape;413;g3e031ea9680_0_27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quickly. Most time on deterministic and independent, both return in 4.2.</a:t>
            </a:r>
          </a:p>
        </p:txBody>
      </p:sp>
      <p:sp>
        <p:nvSpPr>
          <p:cNvPr id="414" name="Google Shape;414;g3e031ea9680_0_27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4.1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Testing Principles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031ea9680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exercise</a:t>
            </a:r>
            <a:endParaRPr/>
          </a:p>
        </p:txBody>
      </p:sp>
      <p:sp>
        <p:nvSpPr>
          <p:cNvPr id="95" name="Google Shape;95;g3e031ea9680_0_0"/>
          <p:cNvSpPr txBox="1"/>
          <p:nvPr/>
        </p:nvSpPr>
        <p:spPr>
          <a:xfrm>
            <a:off x="914400" y="1463040"/>
            <a:ext cx="10362900" cy="44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does this function do?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	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foo(x: int, y: int, z: int) -&gt; bool: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2, 4, 6 -&gt; True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3, 6, 9 -&gt; True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031ea9680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exercise</a:t>
            </a:r>
            <a:endParaRPr/>
          </a:p>
        </p:txBody>
      </p:sp>
      <p:sp>
        <p:nvSpPr>
          <p:cNvPr id="102" name="Google Shape;102;g3e031ea9680_0_6"/>
          <p:cNvSpPr txBox="1"/>
          <p:nvPr/>
        </p:nvSpPr>
        <p:spPr>
          <a:xfrm>
            <a:off x="914400" y="1463040"/>
            <a:ext cx="10362900" cy="44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does this function do?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	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foo(x: int, y: int, z: int) -&gt; bool: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		return True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2, 4, 6 -&gt; True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3, 6, 9 -&gt; True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How Do You Know Your Code Works?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031ea9680_0_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Last week, you shipped code</a:t>
            </a:r>
            <a:endParaRPr/>
          </a:p>
        </p:txBody>
      </p:sp>
      <p:sp>
        <p:nvSpPr>
          <p:cNvPr id="115" name="Google Shape;115;g3e031ea9680_0_87"/>
          <p:cNvSpPr txBox="1"/>
          <p:nvPr/>
        </p:nvSpPr>
        <p:spPr>
          <a:xfrm>
            <a:off x="914400" y="1463050"/>
            <a:ext cx="107286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week you’re writing api endpoints to talk to a database.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/api/messages, POST /api/messages, DELETE /api/messages/{id}.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031ea9680_0_9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Last week, you shipped code</a:t>
            </a:r>
            <a:endParaRPr/>
          </a:p>
        </p:txBody>
      </p:sp>
      <p:sp>
        <p:nvSpPr>
          <p:cNvPr id="122" name="Google Shape;122;g3e031ea9680_0_97"/>
          <p:cNvSpPr txBox="1"/>
          <p:nvPr/>
        </p:nvSpPr>
        <p:spPr>
          <a:xfrm>
            <a:off x="914400" y="1463050"/>
            <a:ext cx="107286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week you’re writing api endpoints to talk to a database.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/api/messages, POST /api/messages, DELETE /api/messages/{id}.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know they actually worked?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Last week, you shipped code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914400" y="1463050"/>
            <a:ext cx="10728600" cy="44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week you’re writing api endpoints to talk to a database.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GET /api/messages, POST /api/messages, DELETE /api/messages/{id}.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know they actually worked?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most of you, the answer was something like: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uvicorn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Hit the endpoint with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curl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Eyeball the JSON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"Yep, looks right."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That's called manual verification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914400" y="1463040"/>
            <a:ext cx="10362900" cy="54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Manual verification.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Running the code yourself and eyeballing the output to decide if it's right.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Easiest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form of testing.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Works fine for: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Five lines of throwaway code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one-shot script you'll never touch again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very first time you write anything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Falls apart when: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more than a few functions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plan to change the code later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want to sleep at night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function you might see anywhere</a:t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 txBox="1"/>
          <p:nvPr/>
        </p:nvSpPr>
        <p:spPr>
          <a:xfrm>
            <a:off x="1005840" y="1645920"/>
            <a:ext cx="10179900" cy="43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shipping_cost(weight_lb: float, subtotal: float) -&gt; float: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the shipping cost for an order.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Flat rate of $5.99 for orders under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Add $2.50/lb for every pound over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Free shipping on orders with a subtotal of $50 or more.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subtotal &gt;= 50.0: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0.0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base = 5.99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weight_lb &gt; 2.0: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base += 2.50 * (weight_lb - 2.0)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round(base, 2)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857cbebff_0_14"/>
          <p:cNvSpPr txBox="1"/>
          <p:nvPr/>
        </p:nvSpPr>
        <p:spPr>
          <a:xfrm>
            <a:off x="731520" y="365760"/>
            <a:ext cx="10728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CONVINCE ME THIS IS CORRECT</a:t>
            </a:r>
            <a:endParaRPr sz="2200"/>
          </a:p>
        </p:txBody>
      </p:sp>
      <p:sp>
        <p:nvSpPr>
          <p:cNvPr id="151" name="Google Shape;151;g3d857cbebff_0_1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g3d857cbebff_0_14"/>
          <p:cNvSpPr txBox="1"/>
          <p:nvPr/>
        </p:nvSpPr>
        <p:spPr>
          <a:xfrm>
            <a:off x="1005840" y="1645920"/>
            <a:ext cx="10179900" cy="43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shipping_cost(weight_lb: float, subtotal: float) -&gt; float: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the shipping cost for an order.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Flat rate of $5.99 for orders under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Add $2.50/lb for every pound over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Free shipping on orders with a subtotal of $50 or more.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subtotal &gt;= 50.0: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0.0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base = 5.99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weight_lb &gt; 2.0: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base += 2.50 * (weight_lb - 2.0)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round(base, 2)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Manual Verification Falls Apart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031ea9680_0_11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"It worked on my machine, one time, last Tuesday"</a:t>
            </a:r>
            <a:endParaRPr/>
          </a:p>
        </p:txBody>
      </p:sp>
      <p:sp>
        <p:nvSpPr>
          <p:cNvPr id="165" name="Google Shape;165;g3e031ea9680_0_111"/>
          <p:cNvSpPr txBox="1"/>
          <p:nvPr/>
        </p:nvSpPr>
        <p:spPr>
          <a:xfrm>
            <a:off x="782925" y="1136000"/>
            <a:ext cx="111294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Doesn't repeat.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change means redoing all the eyeballing.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actually does this.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031ea9680_0_1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"It worked on my machine, one time, last Tuesday"</a:t>
            </a:r>
            <a:endParaRPr/>
          </a:p>
        </p:txBody>
      </p:sp>
      <p:sp>
        <p:nvSpPr>
          <p:cNvPr id="172" name="Google Shape;172;g3e031ea9680_0_117"/>
          <p:cNvSpPr txBox="1"/>
          <p:nvPr/>
        </p:nvSpPr>
        <p:spPr>
          <a:xfrm>
            <a:off x="782925" y="1136000"/>
            <a:ext cx="11129400" cy="19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Doesn't repeat.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change means redoing all the eyeballing.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actually does this.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Doesn't scale.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Ten functions times three scenarios = thirty checks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e031ea9680_0_12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"It worked on my machine, one time, last Tuesday"</a:t>
            </a:r>
            <a:endParaRPr/>
          </a:p>
        </p:txBody>
      </p:sp>
      <p:sp>
        <p:nvSpPr>
          <p:cNvPr id="179" name="Google Shape;179;g3e031ea9680_0_123"/>
          <p:cNvSpPr txBox="1"/>
          <p:nvPr/>
        </p:nvSpPr>
        <p:spPr>
          <a:xfrm>
            <a:off x="782925" y="1136000"/>
            <a:ext cx="111294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Doesn't repeat.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change means redoing all the eyeballing.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actually does this.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Doesn't scale.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Ten functions times three scenarios = thirty checks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Doesn't remember.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Change A, silently break C. Call it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regression.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#1 source of bugs in existing software.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031ea9680_0_12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"It worked on my machine, one time, last Tuesday"</a:t>
            </a:r>
            <a:endParaRPr/>
          </a:p>
        </p:txBody>
      </p:sp>
      <p:sp>
        <p:nvSpPr>
          <p:cNvPr id="186" name="Google Shape;186;g3e031ea9680_0_129"/>
          <p:cNvSpPr txBox="1"/>
          <p:nvPr/>
        </p:nvSpPr>
        <p:spPr>
          <a:xfrm>
            <a:off x="782925" y="1136000"/>
            <a:ext cx="111294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Doesn't repeat.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change means redoing all the eyeballing.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actually does this.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Doesn't scale.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Ten functions times three scenarios = thirty checks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Doesn't remember.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Change A, silently break C. Call it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regression.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#1 source of bugs in existing software.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4. Doesn't prove anything.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"Looked right" is not "is right."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"It worked on my machine, one time, last Tuesday"</a:t>
            </a: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782925" y="1136000"/>
            <a:ext cx="11129400" cy="49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Doesn't repeat.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Every change means redoing all the eyeballing.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actually does this.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Doesn't scale.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Ten functions times three scenarios = thirty checks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Doesn't remember.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Change A, silently break C. Call it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regression.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#1 source of bugs in existing software.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4. Doesn't prove anything.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"Looked right" is not "is right."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5. Doesn't survive people.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The one person who knew how to check this function leaves.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031ea9680_0_14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can't hold a whole program in your head</a:t>
            </a:r>
            <a:endParaRPr/>
          </a:p>
        </p:txBody>
      </p:sp>
      <p:sp>
        <p:nvSpPr>
          <p:cNvPr id="200" name="Google Shape;200;g3e031ea9680_0_143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e031ea9680_0_14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can't hold a whole program in your head</a:t>
            </a:r>
            <a:endParaRPr/>
          </a:p>
        </p:txBody>
      </p:sp>
      <p:sp>
        <p:nvSpPr>
          <p:cNvPr id="207" name="Google Shape;207;g3e031ea9680_0_149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8" name="Google Shape;208;g3e031ea9680_0_1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9425" y="1269115"/>
            <a:ext cx="1891690" cy="4782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g3e031ea9680_0_1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0818" y="1090750"/>
            <a:ext cx="1787882" cy="5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g3e031ea9680_0_1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79075" y="1090750"/>
            <a:ext cx="1396250" cy="5577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g3e031ea9680_0_14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72150" y="1808949"/>
            <a:ext cx="1891700" cy="35020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can't hold a whole program in your head</a:t>
            </a:r>
            <a:endParaRPr/>
          </a:p>
        </p:txBody>
      </p:sp>
      <p:sp>
        <p:nvSpPr>
          <p:cNvPr id="218" name="Google Shape;218;p9"/>
          <p:cNvSpPr txBox="1"/>
          <p:nvPr/>
        </p:nvSpPr>
        <p:spPr>
          <a:xfrm>
            <a:off x="914400" y="1463040"/>
            <a:ext cx="10362900" cy="49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 grows past the size of a human brain. You physically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can't track which parts still work after a change.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you need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something else that remembers for you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knows every case you've cared about,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re-checks them all instantly on demand,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speaks up the moment any of them breaks.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something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function that describes expected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behavior and fails loudly when the behavior changes.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Tests are executable memory.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pytest Makes It Cheap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 could write tests by hand. You won't.</a:t>
            </a:r>
            <a:endParaRPr/>
          </a:p>
        </p:txBody>
      </p:sp>
      <p:sp>
        <p:nvSpPr>
          <p:cNvPr id="231" name="Google Shape;231;p11"/>
          <p:cNvSpPr txBox="1"/>
          <p:nvPr/>
        </p:nvSpPr>
        <p:spPr>
          <a:xfrm>
            <a:off x="914400" y="1463040"/>
            <a:ext cx="10362900" cy="53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Technically, you could write a test like this right now:</a:t>
            </a:r>
            <a:endParaRPr/>
          </a:p>
          <a:p>
            <a:pPr indent="45720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result = shipping_cost(1.0, 10.0)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if result != 5.99: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print("BROKEN: got", result)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works. Exactly once. Then you get bored and stop.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testing framework gives you conventions, a runner that finds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executes all tests automatically, good error messages,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standard report you can read at a glance.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Python, the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most popular framework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pip install pytest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`. No further setup.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conventions and you're done</a:t>
            </a: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pytest has almost no API to learn. Just three rules: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 files are named `test_*.py` (or `*_test.py`).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 functions are named `test_*`.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write plain Python `assert`. No `assertEqual`, no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`assertTrue`, no subclassing anything.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Running the whole suite is one command: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pytest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Or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pytest -v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to see one line per test.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it.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Now let’s write some.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3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245" name="Google Shape;245;p13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turn: shout me test cases for shipping_cost.</a:t>
            </a:r>
            <a:endParaRPr/>
          </a:p>
        </p:txBody>
      </p:sp>
      <p:sp>
        <p:nvSpPr>
          <p:cNvPr id="246" name="Google Shape;246;p13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 open test_shipping.py. You call out scenarios. I write the test, we run pytest. Then I break the function on purpose and we watch pytest catch it.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d857cbebff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function you might see anywhere</a:t>
            </a:r>
            <a:endParaRPr/>
          </a:p>
        </p:txBody>
      </p:sp>
      <p:sp>
        <p:nvSpPr>
          <p:cNvPr id="253" name="Google Shape;253;g3d857cbebff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g3d857cbebff_0_0"/>
          <p:cNvSpPr txBox="1"/>
          <p:nvPr/>
        </p:nvSpPr>
        <p:spPr>
          <a:xfrm>
            <a:off x="1005840" y="1645920"/>
            <a:ext cx="10179900" cy="43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shipping_cost(weight_lb: float, subtotal: float) -&gt; float: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"""Return the shipping cost for an order.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Flat rate of $5.99 for orders under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Add $2.50/lb for every pound over 2 lb.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Free shipping on orders with a subtotal of $50 or more.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subtotal &gt;= 50.0: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0.0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base = 5.99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weight_lb &gt; 2.0: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base += 2.50 * (weight_lb - 2.0)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round(base, 2)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 test has three phases: Arrange, Act, Assert</a:t>
            </a:r>
            <a:endParaRPr/>
          </a:p>
        </p:txBody>
      </p:sp>
      <p:sp>
        <p:nvSpPr>
          <p:cNvPr id="261" name="Google Shape;261;p1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62" name="Google Shape;262;p1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4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test_shipping_surcharge_over_2_lb():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Arrange - set up the inputs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weight = 5.0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subtotal = 10.00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Act - call the function under test, once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cost = shipping_cost(weight, subtotal)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Assert - check the result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cost == 13.49   # 5.99 + 2.50 * (5.0 - 2.0)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Separate the three phases with blank lines. Every test in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codebase ends up with the same shape, so reading an unfamiliar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 takes ten seconds instead of a minute.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AAA is a habit, not a framework feature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Which of these is better?</a:t>
            </a:r>
            <a:endParaRPr/>
          </a:p>
        </p:txBody>
      </p:sp>
      <p:sp>
        <p:nvSpPr>
          <p:cNvPr id="270" name="Google Shape;270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71" name="Google Shape;271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5"/>
          <p:cNvSpPr txBox="1"/>
          <p:nvPr/>
        </p:nvSpPr>
        <p:spPr>
          <a:xfrm>
            <a:off x="1005840" y="1645920"/>
            <a:ext cx="10179900" cy="43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------ Version A ------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test_shipping():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shipping_cost(1.0, 10.0) == 5.99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shipping_cost(5.0, 10.0) == 13.49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shipping_cost(1.0, 75.0) == 0.0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------ Version B ------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test_flat_rate_under_2_lb():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shipping_cost(1.0, 10.0) == 5.99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test_surcharge_over_2_lb():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shipping_cost(5.0, 10.0) == 13.49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test_free_shipping_over_50():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shipping_cost(1.0, 75.0) == 0.0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makes a test good</a:t>
            </a:r>
            <a:endParaRPr/>
          </a:p>
        </p:txBody>
      </p:sp>
      <p:sp>
        <p:nvSpPr>
          <p:cNvPr id="279" name="Google Shape;279;p16"/>
          <p:cNvSpPr txBox="1"/>
          <p:nvPr/>
        </p:nvSpPr>
        <p:spPr>
          <a:xfrm>
            <a:off x="731525" y="1165750"/>
            <a:ext cx="10824000" cy="51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behavior per test.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test that checks three things is three tests crammed into one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name that reads like a sentence.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test_free_shipping_over_50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beats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test_shipping_3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Obvious on failure.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should know what broke without a debugger.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Deterministic.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inputs, same result. No randomness, clock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s, or network (yet)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Slow tests don't get run.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Independent.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Passes or fails the same alone or in any order.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e031ea9680_0_25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Testing that code raises on bad input</a:t>
            </a:r>
            <a:endParaRPr/>
          </a:p>
        </p:txBody>
      </p:sp>
      <p:sp>
        <p:nvSpPr>
          <p:cNvPr id="286" name="Google Shape;286;g3e031ea9680_0_25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87" name="Google Shape;287;g3e031ea9680_0_25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g3e031ea9680_0_259"/>
          <p:cNvSpPr txBox="1"/>
          <p:nvPr/>
        </p:nvSpPr>
        <p:spPr>
          <a:xfrm>
            <a:off x="1005840" y="1645920"/>
            <a:ext cx="101799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price_utils.py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parse_price(s: str) -&gt; float: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"""Parse a price string like '$19.99' into a float."""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s.startswith("$"):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ValueError(f"price must start with $, got: {s!r}")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float(s[1:])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Testing that code raises on bad input</a:t>
            </a:r>
            <a:endParaRPr/>
          </a:p>
        </p:txBody>
      </p:sp>
      <p:sp>
        <p:nvSpPr>
          <p:cNvPr id="295" name="Google Shape;295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96" name="Google Shape;296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7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price_utils.py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parse_price(s: str) -&gt; float: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"""Parse a price string like '$19.99' into a float."""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s.startswith("$"):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raise ValueError(f"price must start with $, got: {s!r}")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float(s[1:])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test_price_utils.py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test_parses_a_normal_price():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parse_price("$19.99") == 19.99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test_rejects_a_price_without_dollar_sign():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pytest.raises(ValueError):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parse_price("19.99")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test_error_message_mentions_the_bad_input():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with pytest.raises(ValueError, match="19.99"):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parse_price("19.99")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Which of these tests is worth writing? (pick any)</a:t>
            </a:r>
            <a:endParaRPr/>
          </a:p>
        </p:txBody>
      </p:sp>
      <p:sp>
        <p:nvSpPr>
          <p:cNvPr id="304" name="Google Shape;304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5" name="Google Shape;305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8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Option 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test_python_addition_works():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2 + 2 == 4</a:t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Option B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test_sqlite_can_store_a_row():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conn = sqlite3.connect(":memory:")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conn.execute("CREATE TABLE t (x INT)")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conn.execute("INSERT INTO t VALUES (1)")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conn.execute("SELECT x FROM t").fetchone() == (1,)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Option C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test_create_message_endpoint_stores_the_message():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response = client.post("/api/messages", json={"text": "hi"})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response.status_code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db.query("SELECT text FROM messages").fetchone() == ("hi",)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Option 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test_shipping_cost_gives_free_shipping_over_50():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assert shipping_cost(1.0, 75.0) == 0.0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Tests Are a Design Tool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e031ea9680_0_27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Try writing the test first</a:t>
            </a:r>
            <a:endParaRPr/>
          </a:p>
        </p:txBody>
      </p:sp>
      <p:sp>
        <p:nvSpPr>
          <p:cNvPr id="319" name="Google Shape;319;g3e031ea9680_0_273"/>
          <p:cNvSpPr txBox="1"/>
          <p:nvPr/>
        </p:nvSpPr>
        <p:spPr>
          <a:xfrm>
            <a:off x="914400" y="1463040"/>
            <a:ext cx="103629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Until now, the implicit order has been: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Write the function  -&gt;  2. Write some tests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Try writing the test first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Until now, the implicit order has been: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Write the function  -&gt;  2. Write some tests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Flip it: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Write the test  -&gt;  2. Write the function that passes 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e031ea9680_0_26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Try writing the test first</a:t>
            </a:r>
            <a:endParaRPr/>
          </a:p>
        </p:txBody>
      </p:sp>
      <p:sp>
        <p:nvSpPr>
          <p:cNvPr id="333" name="Google Shape;333;g3e031ea9680_0_267"/>
          <p:cNvSpPr txBox="1"/>
          <p:nvPr/>
        </p:nvSpPr>
        <p:spPr>
          <a:xfrm>
            <a:off x="914400" y="1463040"/>
            <a:ext cx="103629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sounds backwards. You can't test a function that doesn't exist.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you also can't write the test without deciding what the function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called, what it takes, what it returns, and what 'correct' means.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Those are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design decisions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Writing the test first forces you to make them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before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write any implementation code.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practice has a name: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Test-Driven Development (TDD).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writing the test first works</a:t>
            </a:r>
            <a:endParaRPr/>
          </a:p>
        </p:txBody>
      </p:sp>
      <p:sp>
        <p:nvSpPr>
          <p:cNvPr id="340" name="Google Shape;340;p21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you write a test for a function that doesn't exist yet,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become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first user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of that function.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have to answer, before writing any code: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is it called?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does it take and return?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happens on weird input? (empty? zero? negative?)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do I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to call it from the outside?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These are the questions your teammate or PR reviewer will ask later.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Answering them first means the code they find is already designed.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safety net is the second benefit of TDD. The design pressure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the first.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Red, Green, Refactor</a:t>
            </a:r>
            <a:endParaRPr/>
          </a:p>
        </p:txBody>
      </p:sp>
      <p:sp>
        <p:nvSpPr>
          <p:cNvPr id="347" name="Google Shape;347;p22"/>
          <p:cNvSpPr txBox="1"/>
          <p:nvPr/>
        </p:nvSpPr>
        <p:spPr>
          <a:xfrm>
            <a:off x="914400" y="1463040"/>
            <a:ext cx="103629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TDD loop has three steps. Each one takes a minute or two.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RED.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Write a small test for behavior that doesn't exist yet.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         Run it. Watch it fail with a clear error.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GREEN.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Write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simplest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code that makes the test pass.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         Run pytest. Watch it go green.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REFACTOR.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Clean up. Rename, extract, simplify. Re-run tests.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Then pick the next behavior and go around again.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d857cbebff_0_21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tests for a function that doesn't exist yet</a:t>
            </a:r>
            <a:endParaRPr/>
          </a:p>
        </p:txBody>
      </p:sp>
      <p:sp>
        <p:nvSpPr>
          <p:cNvPr id="354" name="Google Shape;354;g3d857cbebff_0_21"/>
          <p:cNvSpPr/>
          <p:nvPr/>
        </p:nvSpPr>
        <p:spPr>
          <a:xfrm>
            <a:off x="640080" y="228600"/>
            <a:ext cx="1097400" cy="36570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g3d857cbebff_0_21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g3d857cbebff_0_21"/>
          <p:cNvSpPr txBox="1"/>
          <p:nvPr/>
        </p:nvSpPr>
        <p:spPr>
          <a:xfrm>
            <a:off x="1005840" y="1554480"/>
            <a:ext cx="10179900" cy="41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we're going to write format_file_size(n: int) -&gt; str,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which turns a byte count into a human-readable string: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format_file_size(500)          -&gt; "500 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format_file_size(1024)         -&gt; "1.0 KB"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format_file_size(1_500_000)    -&gt; "1.4 MB"   (roughly)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We have NOT written it yet.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Write the tests first. Then we'll make them pass.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pytest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file_utils import format_file_size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test_zero_bytes():</a:t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test_small_number_of_bytes():</a:t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test_exactly_one_kilobyte():</a:t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test_megabyte_range():</a:t>
            </a:r>
            <a:endParaRPr b="1" sz="13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test_gigabyte_range():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3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tests for a function that doesn't exist yet</a:t>
            </a:r>
            <a:endParaRPr/>
          </a:p>
        </p:txBody>
      </p:sp>
      <p:sp>
        <p:nvSpPr>
          <p:cNvPr id="363" name="Google Shape;363;p23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3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3"/>
          <p:cNvSpPr txBox="1"/>
          <p:nvPr/>
        </p:nvSpPr>
        <p:spPr>
          <a:xfrm>
            <a:off x="1005840" y="1554480"/>
            <a:ext cx="101799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we're going to write format_file_size(n: int) -&gt; str,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which turns a byte count into a human-readable string: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format_file_size(500)          -&gt; "500 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format_file_size(1024)         -&gt; "1.0 KB"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format_file_size(1_500_000)    -&gt; "1.4 MB"   (roughly)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We have NOT written it yet.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Write the tests first. Then we'll make them pass.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4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tests first, then implement</a:t>
            </a:r>
            <a:endParaRPr/>
          </a:p>
        </p:txBody>
      </p:sp>
      <p:sp>
        <p:nvSpPr>
          <p:cNvPr id="372" name="Google Shape;372;p24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4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4"/>
          <p:cNvSpPr txBox="1"/>
          <p:nvPr/>
        </p:nvSpPr>
        <p:spPr>
          <a:xfrm>
            <a:off x="1005840" y="1554480"/>
            <a:ext cx="10179900" cy="43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test_file_utils.py - tests we wrote BEFORE the implementation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test_zero_bytes():              assert format_file_size(0) == "0 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test_small_number_of_bytes():   assert format_file_size(500) == "500 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test_exactly_one_kilobyte():    assert format_file_size(1024) == "1.0 KB"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test_megabyte_range():          assert format_file_size(1024 ** 2) == "1.0 MB"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test_gigabyte_range():          assert format_file_size(1024 ** 3) == "1.0 GB"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file_utils.py - the implementation that falls out of the tests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format_file_size(n: int) -&gt; str: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 &lt; 1024: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f"{n} 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for unit in ["KB", "MB", "GB", "TB"]: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n /= 1024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n &lt; 1024: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return f"{n:.1f} {unit}"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f"{n:.1f} PB"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381" name="Google Shape;381;p25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far: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 are executable memory.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Your brain can't hold a whole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program; let the machine remember which cases still work.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Tests are a design tool.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Writing the test first forces you to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 the first user of your own code, before the API is cement.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practical testing.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How to test a function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talks to a database, how to test FastAPI endpoints without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starting a real server, fixtures, setup and teardown, keeping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tests fast and independent.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031ea9680_0_159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Your New Problem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e031ea9680_0_16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we saw</a:t>
            </a: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was the easy case</a:t>
            </a:r>
            <a:endParaRPr/>
          </a:p>
        </p:txBody>
      </p:sp>
      <p:sp>
        <p:nvSpPr>
          <p:cNvPr id="394" name="Google Shape;394;g3e031ea9680_0_164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we’ve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learned to test functions like these: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shipping_cost(weight_lb, subtotal)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format_file_size(n) -&gt; str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parse_price(s) -&gt; float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These were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easy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test: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extraneous systems.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input, same output, every time.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One call, one return value, one assertion.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 endpoints aren’t like that.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e031ea9680_0_17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chat endpoint has dependencies everywhere</a:t>
            </a:r>
            <a:endParaRPr/>
          </a:p>
        </p:txBody>
      </p:sp>
      <p:sp>
        <p:nvSpPr>
          <p:cNvPr id="401" name="Google Shape;401;g3e031ea9680_0_170"/>
          <p:cNvSpPr txBox="1"/>
          <p:nvPr/>
        </p:nvSpPr>
        <p:spPr>
          <a:xfrm>
            <a:off x="914400" y="1463040"/>
            <a:ext cx="10362900" cy="44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Look at one line: `POST /api/messages` in your FastAPI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Under the hood, it depends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SQLite database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(your chat.db file, with real data)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wall clock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(for the timestamp via datetime.utcnow)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itself (request parsing, Pydantic validation)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TCP port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uvicorn has to be listening 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filesystem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(to open chat.db)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test this endpoint, you'd think you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’d need a server, db, port, and clock.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e031ea9680_0_17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test that tries to use all the real things</a:t>
            </a:r>
            <a:endParaRPr/>
          </a:p>
        </p:txBody>
      </p:sp>
      <p:sp>
        <p:nvSpPr>
          <p:cNvPr id="408" name="Google Shape;408;g3e031ea9680_0_17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409" name="Google Shape;409;g3e031ea9680_0_17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g3e031ea9680_0_176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test_chat_bad.py - don't write tests like this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subprocess, time, requests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test_post_message():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# Start a real server in a subprocess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proc = subprocess.Popen(["uvicorn", "app:app"])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time.sleep(2)  # wait for it to come up (hopefully)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 = requests.post(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"http://localhost:8000/api/messages",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json={"author": "alice", "text": "hi"},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r.status_code == 201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assert r.json()["author"] == "alice"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finally: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proc.terminate()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e031ea9680_0_27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makes a test good</a:t>
            </a:r>
            <a:endParaRPr/>
          </a:p>
        </p:txBody>
      </p:sp>
      <p:sp>
        <p:nvSpPr>
          <p:cNvPr id="417" name="Google Shape;417;g3e031ea9680_0_279"/>
          <p:cNvSpPr txBox="1"/>
          <p:nvPr/>
        </p:nvSpPr>
        <p:spPr>
          <a:xfrm>
            <a:off x="731525" y="1165750"/>
            <a:ext cx="10824000" cy="51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behavior per test.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 test that checks three things is three tests crammed into one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name that reads like a sentence.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test_free_shipping_over_50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beats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test_shipping_3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Obvious on failure.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You should know what broke without a debugger.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Deterministic.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Same inputs, same result. No randomness, clock</a:t>
            </a:r>
            <a:r>
              <a:rPr lang="en-US" sz="2400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s, or network (yet)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Slow tests don't get run.</a:t>
            </a:r>
            <a:endParaRPr strike="sngStrike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Independent.</a:t>
            </a:r>
            <a:r>
              <a:rPr b="0" i="0" lang="en-US" sz="2400" u="none" cap="none" strike="sng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Passes or fails the same alone or in any order.</a:t>
            </a:r>
            <a:endParaRPr strike="sngStrik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