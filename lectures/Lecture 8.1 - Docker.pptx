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9" r:id="rId9"/>
    <p:sldId id="264" r:id="rId10"/>
    <p:sldId id="265" r:id="rId11"/>
    <p:sldId id="266" r:id="rId12"/>
    <p:sldId id="267" r:id="rId13"/>
    <p:sldId id="30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</p:sldIdLst>
  <p:sldSz cx="12192000" cy="6858000"/>
  <p:notesSz cx="6858000" cy="9144000"/>
  <p:embeddedFontLst>
    <p:embeddedFont>
      <p:font typeface="Courier Prime" pitchFamily="49" charset="77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2" roundtripDataSignature="AMtx7mjYnr4qrxnGuUVJbWsQtWGorz58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2397"/>
  </p:normalViewPr>
  <p:slideViewPr>
    <p:cSldViewPr snapToGrid="0">
      <p:cViewPr varScale="1">
        <p:scale>
          <a:sx n="103" d="100"/>
          <a:sy n="103" d="100"/>
        </p:scale>
        <p:origin x="144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font" Target="fonts/font1.fntdata"/><Relationship Id="rId57" Type="http://schemas.openxmlformats.org/officeDocument/2006/relationships/font" Target="fonts/font2.fntdata"/><Relationship Id="rId58" Type="http://schemas.openxmlformats.org/officeDocument/2006/relationships/font" Target="fonts/font3.fntdata"/><Relationship Id="rId59" Type="http://schemas.openxmlformats.org/officeDocument/2006/relationships/font" Target="fonts/font4.fntdata"/><Relationship Id="rId62" Type="http://customschemas.google.com/relationships/presentationmetadata" Target="metadata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32708a311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g3e32708a311_0_9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g3e32708a311_0_9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32708a311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g3e32708a311_0_10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01" name="Google Shape;101;g3e32708a311_0_10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32708a311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g3e32708a311_0_1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10" name="Google Shape;110;g3e32708a311_0_1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32708a311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e32708a311_0_1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19" name="Google Shape;119;g3e32708a311_0_1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708a311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e32708a311_0_1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28" name="Google Shape;128;g3e32708a311_0_1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first: your deploys already work, so why are we here?</a:t>
            </a:r>
          </a:p>
        </p:txBody>
      </p:sp>
      <p:sp>
        <p:nvSpPr>
          <p:cNvPr id="137" name="Google Shape;137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F15CEFE4-28BE-3267-FC7A-30600E3E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>
            <a:extLst>
              <a:ext uri="{FF2B5EF4-FFF2-40B4-BE49-F238E27FC236}">
                <a16:creationId xmlns:a16="http://schemas.microsoft.com/office/drawing/2014/main" id="{957CDF8D-BB62-9C96-74E9-C7E98D7DAF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3:notes">
            <a:extLst>
              <a:ext uri="{FF2B5EF4-FFF2-40B4-BE49-F238E27FC236}">
                <a16:creationId xmlns:a16="http://schemas.microsoft.com/office/drawing/2014/main" id="{FDACEE82-5B7B-3084-B6AC-1DBD0A4772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rush. Goal for today: they can describe 'the cloud' out loud.</a:t>
            </a:r>
          </a:p>
        </p:txBody>
      </p:sp>
      <p:sp>
        <p:nvSpPr>
          <p:cNvPr id="150" name="Google Shape;150;p3:notes">
            <a:extLst>
              <a:ext uri="{FF2B5EF4-FFF2-40B4-BE49-F238E27FC236}">
                <a16:creationId xmlns:a16="http://schemas.microsoft.com/office/drawing/2014/main" id="{9B256C49-804C-76FC-972C-768A6D0374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106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rush. Goal for today: they can describe 'the cloud' out loud.</a:t>
            </a:r>
          </a:p>
        </p:txBody>
      </p:sp>
      <p:sp>
        <p:nvSpPr>
          <p:cNvPr id="150" name="Google Shape;15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They've been shipping containers for weeks without the word.</a:t>
            </a:r>
          </a:p>
        </p:txBody>
      </p:sp>
      <p:sp>
        <p:nvSpPr>
          <p:cNvPr id="157" name="Google Shape;157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Board it: Python, OS, C libs, env vars, arch. Then: image freezes all of it.</a:t>
            </a:r>
          </a:p>
        </p:txBody>
      </p:sp>
      <p:sp>
        <p:nvSpPr>
          <p:cNvPr id="164" name="Google Shape;16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name Docker yet; make the pain concrete first.</a:t>
            </a:r>
          </a:p>
        </p:txBody>
      </p:sp>
      <p:sp>
        <p:nvSpPr>
          <p:cNvPr id="171" name="Google Shape;171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>
          <a:extLst>
            <a:ext uri="{FF2B5EF4-FFF2-40B4-BE49-F238E27FC236}">
              <a16:creationId xmlns:a16="http://schemas.microsoft.com/office/drawing/2014/main" id="{202EAA78-C820-4682-45D5-A1348C2D8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>
            <a:extLst>
              <a:ext uri="{FF2B5EF4-FFF2-40B4-BE49-F238E27FC236}">
                <a16:creationId xmlns:a16="http://schemas.microsoft.com/office/drawing/2014/main" id="{F4E3C818-5F78-8A7E-CBB4-E0EF0977D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7:notes">
            <a:extLst>
              <a:ext uri="{FF2B5EF4-FFF2-40B4-BE49-F238E27FC236}">
                <a16:creationId xmlns:a16="http://schemas.microsoft.com/office/drawing/2014/main" id="{B2923B6C-D6B1-0F71-E794-253414E9F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why each option fails before the reveal.</a:t>
            </a:r>
          </a:p>
        </p:txBody>
      </p:sp>
      <p:sp>
        <p:nvSpPr>
          <p:cNvPr id="178" name="Google Shape;178;p7:notes">
            <a:extLst>
              <a:ext uri="{FF2B5EF4-FFF2-40B4-BE49-F238E27FC236}">
                <a16:creationId xmlns:a16="http://schemas.microsoft.com/office/drawing/2014/main" id="{397D1149-BE07-7DB1-DC2F-FC67D0457D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0190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why each option fails before the reveal.</a:t>
            </a:r>
          </a:p>
        </p:txBody>
      </p:sp>
      <p:sp>
        <p:nvSpPr>
          <p:cNvPr id="178" name="Google Shape;17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85" name="Google Shape;18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91" name="Google Shape;191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32708a31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g3e32708a311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198" name="Google Shape;198;g3e32708a311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e32708a311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g3e32708a311_0_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207" name="Google Shape;207;g3e32708a311_0_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216" name="Google Shape;2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346b600eb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g3e346b600eb_0_8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verbs as the CLI coming up: build the image, run the container.</a:t>
            </a:r>
          </a:p>
        </p:txBody>
      </p:sp>
      <p:sp>
        <p:nvSpPr>
          <p:cNvPr id="225" name="Google Shape;225;g3e346b600eb_0_8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verbs as the CLI coming up: build the image, run the container.</a:t>
            </a:r>
          </a:p>
        </p:txBody>
      </p:sp>
      <p:sp>
        <p:nvSpPr>
          <p:cNvPr id="232" name="Google Shape;232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Registry is to images what GitHub is to repos.</a:t>
            </a:r>
          </a:p>
        </p:txBody>
      </p:sp>
      <p:sp>
        <p:nvSpPr>
          <p:cNvPr id="239" name="Google Shape;239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46" name="Google Shape;246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1" name="Google Shape;251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52" name="Google Shape;252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32708a311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g3e32708a311_0_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59" name="Google Shape;259;g3e32708a311_0_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32708a31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g3e32708a311_0_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68" name="Google Shape;268;g3e32708a311_0_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e32708a31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e32708a311_0_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77" name="Google Shape;277;g3e32708a311_0_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e32708a31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5" name="Google Shape;285;g3e32708a311_0_4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86" name="Google Shape;286;g3e32708a311_0_4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95" name="Google Shape;295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spoil the predict question next.</a:t>
            </a:r>
          </a:p>
        </p:txBody>
      </p:sp>
      <p:sp>
        <p:nvSpPr>
          <p:cNvPr id="304" name="Google Shape;30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32708a311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g3e32708a311_0_5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Hands per option. Answer (c): [5] changed, everything below it rebuilds, pip doesn't rerun.</a:t>
            </a:r>
          </a:p>
        </p:txBody>
      </p:sp>
      <p:sp>
        <p:nvSpPr>
          <p:cNvPr id="311" name="Google Shape;311;g3e32708a311_0_5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Hands per option. Answer (c): [5] changed, everything below it rebuilds, pip doesn't rerun.</a:t>
            </a:r>
          </a:p>
        </p:txBody>
      </p:sp>
      <p:sp>
        <p:nvSpPr>
          <p:cNvPr id="320" name="Google Shape;320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e32708a311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e32708a311_0_6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Only difference is where `COPY requirements.txt` sits. Requirements change maybe weekly.</a:t>
            </a:r>
          </a:p>
        </p:txBody>
      </p:sp>
      <p:sp>
        <p:nvSpPr>
          <p:cNvPr id="329" name="Google Shape;329;g3e32708a311_0_6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7" name="Google Shape;33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Only difference is where `COPY requirements.txt` sits. Requirements change maybe weekly.</a:t>
            </a:r>
          </a:p>
        </p:txBody>
      </p:sp>
      <p:sp>
        <p:nvSpPr>
          <p:cNvPr id="338" name="Google Shape;33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47" name="Google Shape;347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Steps [1]-[4] at 0.0s on rebuild: the cache from the predict slide.</a:t>
            </a:r>
          </a:p>
        </p:txBody>
      </p:sp>
      <p:sp>
        <p:nvSpPr>
          <p:cNvPr id="353" name="Google Shape;353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e32708a311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1" name="Google Shape;361;g3e32708a311_0_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-e is the same as Railway dashboard vars. Don't pre-explain the missing -p.</a:t>
            </a:r>
          </a:p>
        </p:txBody>
      </p:sp>
      <p:sp>
        <p:nvSpPr>
          <p:cNvPr id="362" name="Google Shape;362;g3e32708a311_0_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-e is the same as Railway dashboard vars. Don't pre-explain the missing -p.</a:t>
            </a:r>
          </a:p>
        </p:txBody>
      </p:sp>
      <p:sp>
        <p:nvSpPr>
          <p:cNvPr id="371" name="Google Shape;371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(b); log shows 0.0.0.0 so not (a). Mention (a) gives the same symptom.</a:t>
            </a:r>
          </a:p>
        </p:txBody>
      </p:sp>
      <p:sp>
        <p:nvSpPr>
          <p:cNvPr id="380" name="Google Shape;380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32708a311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e32708a311_0_8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89" name="Google Shape;389;g3e32708a311_0_8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96" name="Google Shape;396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346b600e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e346b600eb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Build and push on laptop or CI runner; pull and run on prod, -p 80:8000.</a:t>
            </a:r>
          </a:p>
        </p:txBody>
      </p:sp>
      <p:sp>
        <p:nvSpPr>
          <p:cNvPr id="403" name="Google Shape;403;g3e346b600eb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e346b600eb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g3e346b600eb_1_8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(c): `COPY . .` includes .env; `docker history` reads it back out.</a:t>
            </a:r>
          </a:p>
        </p:txBody>
      </p:sp>
      <p:sp>
        <p:nvSpPr>
          <p:cNvPr id="410" name="Google Shape;410;g3e346b600eb_1_8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e346b600e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g3e346b600eb_1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(c): `COPY . .` includes .env; `docker history` reads it back out.</a:t>
            </a:r>
          </a:p>
        </p:txBody>
      </p:sp>
      <p:sp>
        <p:nvSpPr>
          <p:cNvPr id="419" name="Google Shape;419;g3e346b600eb_1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e346b600eb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g3e346b600eb_1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Take both halves. .git and __pycache__ in .dockerignore mostly for size.</a:t>
            </a:r>
          </a:p>
        </p:txBody>
      </p:sp>
      <p:sp>
        <p:nvSpPr>
          <p:cNvPr id="428" name="Google Shape;428;g3e346b600eb_1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e346b600eb_1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g3e346b600eb_1_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Take both halves. .git and __pycache__ in .dockerignore mostly for size.</a:t>
            </a:r>
          </a:p>
        </p:txBody>
      </p:sp>
      <p:sp>
        <p:nvSpPr>
          <p:cNvPr id="435" name="Google Shape;435;g3e346b600eb_1_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42" name="Google Shape;442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Kubernetes: namedrop only, don't teach it.</a:t>
            </a:r>
          </a:p>
        </p:txBody>
      </p:sp>
      <p:sp>
        <p:nvSpPr>
          <p:cNvPr id="448" name="Google Shape;448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55" name="Google Shape;455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send them out reaching for Docker reflexively; nixpacks is fine for most.</a:t>
            </a:r>
          </a:p>
        </p:txBody>
      </p:sp>
      <p:sp>
        <p:nvSpPr>
          <p:cNvPr id="462" name="Google Shape;462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Blanks: python, WORKDIR, requirements.txt, --no-cache-dir, ., 0.0.0.0.</a:t>
            </a:r>
          </a:p>
        </p:txBody>
      </p:sp>
      <p:sp>
        <p:nvSpPr>
          <p:cNvPr id="469" name="Google Shape;469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--no-cache-dir keeps pip's download cache out of the image. 127.0.0.1 would repeat the spot-the-bug symptom.</a:t>
            </a:r>
          </a:p>
        </p:txBody>
      </p:sp>
      <p:sp>
        <p:nvSpPr>
          <p:cNvPr id="478" name="Google Shape;478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6" name="Google Shape;486;p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8.2: the 4.x tests run on every push, inside a container.</a:t>
            </a:r>
          </a:p>
        </p:txBody>
      </p:sp>
      <p:sp>
        <p:nvSpPr>
          <p:cNvPr id="487" name="Google Shape;487;p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8.1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32708a311_0_9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95" name="Google Shape;95;g3e32708a311_0_9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96" name="Google Shape;96;g3e32708a311_0_9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e32708a311_0_92"/>
          <p:cNvSpPr txBox="1"/>
          <p:nvPr/>
        </p:nvSpPr>
        <p:spPr>
          <a:xfrm>
            <a:off x="1005840" y="1645920"/>
            <a:ext cx="10179900" cy="38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32708a311_0_10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104" name="Google Shape;104;g3e32708a311_0_10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05" name="Google Shape;105;g3e32708a311_0_10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e32708a311_0_100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fastapi.staticfiles import StaticFiles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Everything else: serve the React build.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html=True makes / return index.html (React Router works).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app.mount("/", StaticFiles(directory="frontend/dist", html=True))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32708a311_0_18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13" name="Google Shape;113;g3e32708a311_0_18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14" name="Google Shape;114;g3e32708a311_0_18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e32708a311_0_183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32708a311_0_19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22" name="Google Shape;122;g3e32708a311_0_19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23" name="Google Shape;123;g3e32708a311_0_19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e32708a311_0_191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32708a311_0_19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31" name="Google Shape;131;g3e32708a311_0_19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32" name="Google Shape;132;g3e32708a311_0_19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e32708a311_0_199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read env vars the same way in dev and prod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os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dotenv import load_dotenv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load_dotenv()   # loads .env if present, no-op in 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 = os.environ["DATABASE_URL"]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   = os.environ["SECRET_KEY"]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It Works on My Machine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4B937AE8-D33E-6BE5-BFC6-63C5B265C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">
            <a:extLst>
              <a:ext uri="{FF2B5EF4-FFF2-40B4-BE49-F238E27FC236}">
                <a16:creationId xmlns:a16="http://schemas.microsoft.com/office/drawing/2014/main" id="{CF59857A-E082-F6BC-873C-1BCB8351943D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Railway already deploys you. So why this class?</a:t>
            </a:r>
            <a:endParaRPr/>
          </a:p>
        </p:txBody>
      </p:sp>
      <p:sp>
        <p:nvSpPr>
          <p:cNvPr id="153" name="Google Shape;153;p3">
            <a:extLst>
              <a:ext uri="{FF2B5EF4-FFF2-40B4-BE49-F238E27FC236}">
                <a16:creationId xmlns:a16="http://schemas.microsoft.com/office/drawing/2014/main" id="{F59ECE07-C5F6-6A54-C412-DDAA68A0C2D5}"/>
              </a:ext>
            </a:extLst>
          </p:cNvPr>
          <p:cNvSpPr txBox="1"/>
          <p:nvPr/>
        </p:nvSpPr>
        <p:spPr>
          <a:xfrm>
            <a:off x="914400" y="1463050"/>
            <a:ext cx="10479600" cy="2954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class you shipped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app to Railway.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live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url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your final project, that's probably all the</a:t>
            </a:r>
            <a:r>
              <a:rPr lang="en-US" dirty="0"/>
              <a:t>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 machinery you need.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spend a whole class on Docker?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600"/>
              </a:spcBef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Theme of this course is peeking under the hood, and Docker is under all the hoods.</a:t>
            </a:r>
            <a:endParaRPr lang="en-US" sz="2400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0763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Railway already deploys you. So why this class?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914400" y="1463050"/>
            <a:ext cx="10479600" cy="5001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class you shipped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app to Railway.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live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url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your final project, that's probably all the</a:t>
            </a:r>
            <a:r>
              <a:rPr lang="en-US" dirty="0"/>
              <a:t>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 machinery you need.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spend a whole class on Docker?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600"/>
              </a:spcBef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Theme of this course is peeking under the hood, and Docker is under all the hoods.</a:t>
            </a:r>
            <a:endParaRPr lang="en-US" sz="2400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ontainers are the unit modern infrastructure ships in.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CI runner that checks your tests next week: a container.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cloud platform, Railway included, underneath: containers.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Backend job postings you'll read: "experience with Docker."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Looking under a hood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914400" y="1463040"/>
            <a:ext cx="10362900" cy="35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Railway built your app, its default builder (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):</a:t>
            </a:r>
            <a:endParaRPr/>
          </a:p>
          <a:p>
            <a:pPr marL="914400" marR="0" lvl="0" indent="-355600" algn="l" rtl="0">
              <a:spcBef>
                <a:spcPts val="60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packaged your code and its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dependencies into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container image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then ran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the deal a PaaS offers: it builds the container for you,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 of sight, with smart defaults. Great - right up until you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want to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choose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what goes inside it yourself.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Today: open the hood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so we can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write the recipe.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67" name="Google Shape;167;p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Same code. One machine runs it, one crashes on startup. What could be different between them?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"But it works on my machine!"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914400" y="1463040"/>
            <a:ext cx="10362900" cy="4631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push code. The build succeeds. The server crashes on startup.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 show a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weird error about a missing C library.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run the same code on your laptop. It works fine.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two machines have different Python versions, different system librar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different operating systems, different env vars.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code and your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dependencies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two separate things.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laptop has the dependencies set up the way you like. 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resh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machine doesn’t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every deploy, if you want no downtime, uses a fresh machine.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726E9BB3-2225-AB77-F9A9-D2C7A74C5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>
            <a:extLst>
              <a:ext uri="{FF2B5EF4-FFF2-40B4-BE49-F238E27FC236}">
                <a16:creationId xmlns:a16="http://schemas.microsoft.com/office/drawing/2014/main" id="{5AF78458-4BB9-E91E-8A2D-A0582CCC2EE3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design question</a:t>
            </a:r>
            <a:endParaRPr/>
          </a:p>
        </p:txBody>
      </p:sp>
      <p:sp>
        <p:nvSpPr>
          <p:cNvPr id="181" name="Google Shape;181;p7">
            <a:extLst>
              <a:ext uri="{FF2B5EF4-FFF2-40B4-BE49-F238E27FC236}">
                <a16:creationId xmlns:a16="http://schemas.microsoft.com/office/drawing/2014/main" id="{D992F897-B6D5-EF89-A1FF-738B1DE06641}"/>
              </a:ext>
            </a:extLst>
          </p:cNvPr>
          <p:cNvSpPr txBox="1"/>
          <p:nvPr/>
        </p:nvSpPr>
        <p:spPr>
          <a:xfrm>
            <a:off x="914388" y="1157015"/>
            <a:ext cx="10362900" cy="2831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would it take to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guarantee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code runs the same way?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every machine, every time?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Options people have tried: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Document every dependency in a README and hope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 a full virtual machine with the OS baked in (slow, heavy)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Make the server look exactly like your laptop (impossible)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9920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design question</a:t>
            </a:r>
            <a:endParaRPr/>
          </a:p>
        </p:txBody>
      </p:sp>
      <p:sp>
        <p:nvSpPr>
          <p:cNvPr id="181" name="Google Shape;181;p7"/>
          <p:cNvSpPr txBox="1"/>
          <p:nvPr/>
        </p:nvSpPr>
        <p:spPr>
          <a:xfrm>
            <a:off x="914388" y="1157015"/>
            <a:ext cx="10362900" cy="5324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would it take to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guarantee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code runs the same way?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every machine, every time?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Options people have tried: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Document every dependency in a README and hope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 a full virtual machine with the OS baked in (slow, heavy)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Make the server look exactly like your laptop (impossible)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we’ll do: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bundle your code and its </a:t>
            </a:r>
            <a:r>
              <a:rPr lang="en-US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dependencies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together into one portable artifact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1"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Drop it on any machine that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can run it and the runtime is identical.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artifact is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 image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Containers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a process with a fake view</a:t>
            </a:r>
            <a:endParaRPr/>
          </a:p>
        </p:txBody>
      </p:sp>
      <p:sp>
        <p:nvSpPr>
          <p:cNvPr id="194" name="Google Shape;194;p9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process with its own: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sees its own files, not the host's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its own IP address, its own listening ports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Process tree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can't see other processes on the host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User space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its own users, environment, hostname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the process inside, it looks like it's alone on a fresh Linux ma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chine.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the host OS, it's just another process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 some kernel flags set.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Crucially: containers do NOT run their own kernel. They share the host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’s.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why they start in milliseconds instead of minutes a full virtual machine would take.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32708a311_0_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01" name="Google Shape;201;g3e32708a311_0_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02" name="Google Shape;202;g3e32708a311_0_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e32708a311_0_6"/>
          <p:cNvSpPr txBox="1"/>
          <p:nvPr/>
        </p:nvSpPr>
        <p:spPr>
          <a:xfrm>
            <a:off x="1005840" y="1645920"/>
            <a:ext cx="101799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708a311_0_1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10" name="Google Shape;210;g3e32708a311_0_1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11" name="Google Shape;211;g3e32708a311_0_1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g3e32708a311_0_14"/>
          <p:cNvSpPr txBox="1"/>
          <p:nvPr/>
        </p:nvSpPr>
        <p:spPr>
          <a:xfrm>
            <a:off x="1005840" y="1645920"/>
            <a:ext cx="10179900" cy="23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look at the processes on YOUR laptop - uvicorn is right there: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ps aux | grep uvicorn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you  51234  ...  uvicorn app:app --host 0.0.0.0 --port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19" name="Google Shape;219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look at the processes on YOUR laptop - uvicorn is right there: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ps aux | grep uvicorn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you  51234  ...  uvicorn app:app --host 0.0.0.0 --port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It is not a virtual machine. It is a process your laptop is running,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with the kernel lying to it about what it can see.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Drop into a container interactively. It looks like a fresh machine: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-it python:3.12-slim bash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root@3f9a1c:/# ls 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bin  etc  home  lib  usr  ...        # its own filesystem, its own root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root@3f9a1c:/# exit                  # ...exit, and it is simply gone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e346b600eb_0_8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Image vs container: recipe vs dish</a:t>
            </a:r>
            <a:endParaRPr/>
          </a:p>
        </p:txBody>
      </p:sp>
      <p:sp>
        <p:nvSpPr>
          <p:cNvPr id="228" name="Google Shape;228;g3e346b600eb_0_89"/>
          <p:cNvSpPr txBox="1"/>
          <p:nvPr/>
        </p:nvSpPr>
        <p:spPr>
          <a:xfrm>
            <a:off x="914400" y="1463040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blueprint.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instance of that blueprint.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  = recipe, stored on disk, can be shared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Container = dish, currently being cooked (or eaten)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 image once - Docker reads your instructions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the filesystem snapshot. You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as many containers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the image as you want. Each container gets its own fresh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 of the image's filesystem as its root.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Image vs container: recipe vs dish</a:t>
            </a:r>
            <a:endParaRPr/>
          </a:p>
        </p:txBody>
      </p:sp>
      <p:sp>
        <p:nvSpPr>
          <p:cNvPr id="235" name="Google Shape;235;p11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blueprint.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instance of that blueprint.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  = recipe, stored on disk, can be shared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Container = dish, currently being cooked (or eaten)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 image once - Docker reads your instructions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the filesystem snapshot. You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as many containers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the image as you want. Each container gets its own fresh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 of the image's filesystem as its root.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Analogy: class vs instance. The image is the class definition.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container is `new MyClass()`. You never "run an image"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run a container that was made from an image.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images come from</a:t>
            </a:r>
            <a:endParaRPr/>
          </a:p>
        </p:txBody>
      </p:sp>
      <p:sp>
        <p:nvSpPr>
          <p:cNvPr id="242" name="Google Shape;242;p12"/>
          <p:cNvSpPr txBox="1"/>
          <p:nvPr/>
        </p:nvSpPr>
        <p:spPr>
          <a:xfrm>
            <a:off x="914400" y="1463040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 get an image two ways: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Pull a pre-built 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registry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(like Docker Hub).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Things like `python`, `postgres`, `nginx`, `redis`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official images maintained by their teams.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your own 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text 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describes, step by step, how to construct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practice you always do both: your Dockerfile starts with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FROM python:3.12-slim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(pull a pre-built Python image)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hen layers your code and your dependencies on top.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Dockerfile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Dockerfile is a build recipe</a:t>
            </a:r>
            <a:endParaRPr/>
          </a:p>
        </p:txBody>
      </p:sp>
      <p:sp>
        <p:nvSpPr>
          <p:cNvPr id="255" name="Google Shape;255;p14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plain text file (no extension)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describes how to build an image, step by step.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 reads it top to bottom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 runs each instruction in order.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five key instructions: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FROM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start from an existing base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WORKDIR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set the working directory inside the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copy files from your project into the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execute a command at build time (e.g., pip install)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CMD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the default command when a container is started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More instructions exist, but this is the bulk of it.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32708a311_0_2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62" name="Google Shape;262;g3e32708a311_0_2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63" name="Google Shape;263;g3e32708a311_0_2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g3e32708a311_0_22"/>
          <p:cNvSpPr txBox="1"/>
          <p:nvPr/>
        </p:nvSpPr>
        <p:spPr>
          <a:xfrm>
            <a:off x="1005840" y="1645920"/>
            <a:ext cx="10179900" cy="13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e32708a311_0_3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71" name="Google Shape;271;g3e32708a311_0_3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72" name="Google Shape;272;g3e32708a311_0_3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e32708a311_0_30"/>
          <p:cNvSpPr txBox="1"/>
          <p:nvPr/>
        </p:nvSpPr>
        <p:spPr>
          <a:xfrm>
            <a:off x="1005840" y="1645920"/>
            <a:ext cx="10179900" cy="23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e32708a311_0_3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80" name="Google Shape;280;g3e32708a311_0_3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81" name="Google Shape;281;g3e32708a311_0_3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g3e32708a311_0_38"/>
          <p:cNvSpPr txBox="1"/>
          <p:nvPr/>
        </p:nvSpPr>
        <p:spPr>
          <a:xfrm>
            <a:off x="1005840" y="1645920"/>
            <a:ext cx="10179900" cy="31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32708a311_0_4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endParaRPr dirty="0"/>
          </a:p>
        </p:txBody>
      </p:sp>
      <p:sp>
        <p:nvSpPr>
          <p:cNvPr id="289" name="Google Shape;289;g3e32708a311_0_4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90" name="Google Shape;290;g3e32708a311_0_4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e32708a311_0_46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 to run when the container starts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"0.0.0.0", "--port", "8000"]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5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endParaRPr dirty="0"/>
          </a:p>
        </p:txBody>
      </p:sp>
      <p:sp>
        <p:nvSpPr>
          <p:cNvPr id="298" name="Google Shape;298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99" name="Google Shape;299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requirements.txt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-r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requirements.txt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 to run when the container starts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uvicorn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 "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app:app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 "--host", "0.0.0.0", "--port", "8000"]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 it:  docker build -t my-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fastapi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it:    docker run -p 8000:8000 my-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fastapi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Layer caching: why Dockerfile order matters</a:t>
            </a:r>
            <a:endParaRPr/>
          </a:p>
        </p:txBody>
      </p:sp>
      <p:sp>
        <p:nvSpPr>
          <p:cNvPr id="307" name="Google Shape;307;p16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instruction creates 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layer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filesystem diff Docker caches separately.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re-build, Docker checks each layer: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above this step changed? -&gt; reuse the cached layer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Something changed? -&gt; rebuild this step AND everything after it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why dependencies go BEFORE copying your code: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change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50 times a day. You almost never change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requirements.txt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`. Putting pip install above COPY means "change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rebuild in 2s. Change requirements, rebuild in 30s."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order = rebuild speed. Slow things first, fast last.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e32708a311_0_5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 edit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Which layers rebuild?</a:t>
            </a:r>
            <a:endParaRPr dirty="0"/>
          </a:p>
        </p:txBody>
      </p:sp>
      <p:sp>
        <p:nvSpPr>
          <p:cNvPr id="314" name="Google Shape;314;g3e32708a311_0_5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15" name="Google Shape;315;g3e32708a311_0_5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e32708a311_0_54"/>
          <p:cNvSpPr txBox="1"/>
          <p:nvPr/>
        </p:nvSpPr>
        <p:spPr>
          <a:xfrm>
            <a:off x="1005840" y="1645920"/>
            <a:ext cx="10179900" cy="26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image was built from this Dockerfile. Layers, top to bottom: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[1]  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[2]  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[3]  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[4]  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[5]  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[6]  CMD ["uvicorn", "app:app", 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7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 edit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Which layers rebuild?</a:t>
            </a:r>
            <a:endParaRPr dirty="0"/>
          </a:p>
        </p:txBody>
      </p:sp>
      <p:sp>
        <p:nvSpPr>
          <p:cNvPr id="323" name="Google Shape;323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image was built from this Dockerfile. Layers, top to bottom: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[1]  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[2]  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[3]  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[4]  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[5]  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[6]  CMD ["uvicorn", "app:app", 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 change one line in app.py and run `docker build` again.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Which layers get rebuilt?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All six - a rebuild is a rebuild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Just [5] - only the layer that copied app.py in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[5] and [6] - that layer and everything after it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[3] through [6] - everything that touches code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e32708a311_0_6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Ordering matters: bad vs good</a:t>
            </a:r>
            <a:endParaRPr/>
          </a:p>
        </p:txBody>
      </p:sp>
      <p:sp>
        <p:nvSpPr>
          <p:cNvPr id="332" name="Google Shape;332;g3e32708a311_0_6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33" name="Google Shape;333;g3e32708a311_0_6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g3e32708a311_0_62"/>
          <p:cNvSpPr txBox="1"/>
          <p:nvPr/>
        </p:nvSpPr>
        <p:spPr>
          <a:xfrm>
            <a:off x="1005840" y="1645920"/>
            <a:ext cx="10179900" cy="23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 - code copied before deps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# invalidates cache on every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 `app.py` edit triggers a full pip install. Slow.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Ordering matters: bad vs good</a:t>
            </a:r>
            <a:endParaRPr/>
          </a:p>
        </p:txBody>
      </p:sp>
      <p:sp>
        <p:nvSpPr>
          <p:cNvPr id="341" name="Google Shape;341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42" name="Google Shape;342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 - code copied before deps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# invalidates cache on every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 `app.py` edit triggers a full pip install. Slow.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 - deps copied and installed first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            # cache invalidates only when deps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 # only this layer rebuilds on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Code edits rebuild in 2 seconds. Deps change rebuilds in 30.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Building and Running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an image</a:t>
            </a:r>
            <a:endParaRPr/>
          </a:p>
        </p:txBody>
      </p:sp>
      <p:sp>
        <p:nvSpPr>
          <p:cNvPr id="356" name="Google Shape;356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57" name="Google Shape;357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0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From the directory with the Dockerfile: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build -t chat-app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[+] Building 2.3s (10/10) FINISHED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[1/6] FROM docker.io/library/python:3.12-slim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[2/6] WORKDIR /app           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[3/6] COPY requirements.txt .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[4/6] RUN pip install -r requirements.txt              1.9s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[5/6] COPY . .                                         0.1s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[6/6] [...]                  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exporting to image                                     0.2s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=&gt; naming to docker.io/library/chat-app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-t chat-app  - tag the resulting image with this name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            - the build context (directory Docker copies FROM)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e32708a311_0_7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Running a container from the image</a:t>
            </a:r>
            <a:endParaRPr/>
          </a:p>
        </p:txBody>
      </p:sp>
      <p:sp>
        <p:nvSpPr>
          <p:cNvPr id="365" name="Google Shape;365;g3e32708a311_0_7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66" name="Google Shape;366;g3e32708a311_0_7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e32708a311_0_70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-p 8000:8000 means: map host port 8000 -&gt; container 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http://localhost:8000 on your laptop reaches the container.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Running a container from the image</a:t>
            </a:r>
            <a:endParaRPr/>
          </a:p>
        </p:txBody>
      </p:sp>
      <p:sp>
        <p:nvSpPr>
          <p:cNvPr id="374" name="Google Shape;374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75" name="Google Shape;375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-p 8000:8000 means: map host port 8000 -&gt; container 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http://localhost:8000 on your laptop reaches the container.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 stop it, Ctrl-C in the terminal, or: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ps                    # list running containers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stop &lt;container-id&gt;   # stop a specific one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 pass an environment variable at run time: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8000:8000 -e DATABASE_URL=postgres://... chat-app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it runs, but the page won't load</a:t>
            </a:r>
            <a:endParaRPr/>
          </a:p>
        </p:txBody>
      </p:sp>
      <p:sp>
        <p:nvSpPr>
          <p:cNvPr id="383" name="Google Shape;383;p2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84" name="Google Shape;384;p2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2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container is clearly up. In another terminal: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CONTAINER ID   IMAGE      STATUS         PORTS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    chat-app   Up 4 seconds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But http://localhost:8000 in your browser shows nothing.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Connection refused. The app IS running. Why can't you reach it?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uvicorn bound to the wrong address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the run command is missing `-p 8000:8000`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Docker isn't running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you just have to wait longer for startup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e32708a311_0_8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the port mapping actually does</a:t>
            </a:r>
            <a:endParaRPr/>
          </a:p>
        </p:txBody>
      </p:sp>
      <p:sp>
        <p:nvSpPr>
          <p:cNvPr id="392" name="Google Shape;392;g3e32708a311_0_86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Inside the container, your FastAPI app binds to port 8000 --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that 8000 is the CONTAINER's port, not your laptop's.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default, the container is isolated: nobody outside it can connect.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to explicitly open a port.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the port mapping actually does</a:t>
            </a:r>
            <a:endParaRPr/>
          </a:p>
        </p:txBody>
      </p:sp>
      <p:sp>
        <p:nvSpPr>
          <p:cNvPr id="399" name="Google Shape;399;p23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Inside the container, your FastAPI app binds to port 8000 --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that 8000 is the CONTAINER's port, not your laptop's.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default, the container is isolated: nobody outside it can connect.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to explicitly open a port.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-p 8000:8000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means "forward my laptop's port 8000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container's port 8000." Format: `host:container`.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run multiple containers without conflicts, remap the host side.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-p 9000:8000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exposes the container at `localhost:9000`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your laptop while the app inside still binds to 8000.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346b600eb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image has to live somewhere</a:t>
            </a:r>
            <a:endParaRPr/>
          </a:p>
        </p:txBody>
      </p:sp>
      <p:sp>
        <p:nvSpPr>
          <p:cNvPr id="406" name="Google Shape;406;g3e346b600eb_0_0"/>
          <p:cNvSpPr txBox="1"/>
          <p:nvPr/>
        </p:nvSpPr>
        <p:spPr>
          <a:xfrm>
            <a:off x="914400" y="1463050"/>
            <a:ext cx="108504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creates the image, but it only puts it one place: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local image store on the machine that ran the build.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Getting it to the cloud requires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registry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server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stores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hands out images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Docker Hub, GitHub Container Registry (GHCR),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 the cloud providers each run one.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push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uploads your image to a registry.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pull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downloads it onto any machine that needs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implicitly do this within a dockerfile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FROM python:3.12-slim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pull.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e346b600eb_1_8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this image is about to be shared</a:t>
            </a:r>
            <a:endParaRPr/>
          </a:p>
        </p:txBody>
      </p:sp>
      <p:sp>
        <p:nvSpPr>
          <p:cNvPr id="413" name="Google Shape;413;g3e346b600eb_1_8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414" name="Google Shape;414;g3e346b600eb_1_8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g3e346b600eb_1_89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project directory,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after our previous class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chat-app/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app.py   requirements.txt  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.env          &lt;-- DATABASE_URL, SUPABASE_JWT_SECRET,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Dockerfile copies the project in the usual way: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e346b600eb_1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this image is about to be shared</a:t>
            </a:r>
            <a:endParaRPr/>
          </a:p>
        </p:txBody>
      </p:sp>
      <p:sp>
        <p:nvSpPr>
          <p:cNvPr id="422" name="Google Shape;422;g3e346b600eb_1_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423" name="Google Shape;423;g3e346b600eb_1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g3e346b600eb_1_0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project directory,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after our previous class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chat-app/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app.py   requirements.txt  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.env          &lt;-- DATABASE_URL, SUPABASE_JWT_SECRET,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Dockerfile copies the project in the usual way: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build the image and `docker push` it to a registry so 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teammate can pull it. What did you just publish?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nothing extra - Docker ignores .env files automatically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your code and dependencies, exactly what you wanted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all of (b), plus your real secrets, baked into a layer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    anyone who pulls the image can read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e346b600eb_1_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config out of the image</a:t>
            </a:r>
            <a:endParaRPr/>
          </a:p>
        </p:txBody>
      </p:sp>
      <p:sp>
        <p:nvSpPr>
          <p:cNvPr id="431" name="Google Shape;431;g3e346b600eb_1_8"/>
          <p:cNvSpPr txBox="1"/>
          <p:nvPr/>
        </p:nvSpPr>
        <p:spPr>
          <a:xfrm>
            <a:off x="914400" y="1463040"/>
            <a:ext cx="10362900" cy="15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time -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.dockerignore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file.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idea as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.gitignore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 `.env`, `.git`, `__pycache__`, and `COPY . .` skips them.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secret ever ends up inside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e346b600eb_1_9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config out of the image</a:t>
            </a:r>
            <a:endParaRPr/>
          </a:p>
        </p:txBody>
      </p:sp>
      <p:sp>
        <p:nvSpPr>
          <p:cNvPr id="438" name="Google Shape;438;g3e346b600eb_1_97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time -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.dockerignore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file.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idea as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.gitignore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 `.env`, `.git`, `__pycache__`, and `COPY . .` skips them.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secret ever ends up inside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 time - inject secrets when the container starts.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ships with none.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run -e KEY=value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--env-file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Vercel/Railway the dashboard vars are injected for you.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code still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just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os.environ[...]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like before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image stays the same everywhere; the config you pass in is what changes.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Containers in the Wild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you'll meet containers again</a:t>
            </a:r>
            <a:endParaRPr/>
          </a:p>
        </p:txBody>
      </p:sp>
      <p:sp>
        <p:nvSpPr>
          <p:cNvPr id="451" name="Google Shape;451;p25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You'll see today's idea everywhere once you know its shape: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runners.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Next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GitHub Actions runs your tests on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fresh Ubuntu box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container, spun up and torn down per run.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cloud.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Railway, Render, Fly, AWS, Google Cloud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thing they schedule and run for you is a container.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Orchestration.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one container isn't enough, a system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called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Kubernetes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thousands of them.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Understand the container and you understand what all of these run.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 on Railway</a:t>
            </a:r>
            <a:endParaRPr/>
          </a:p>
        </p:txBody>
      </p:sp>
      <p:sp>
        <p:nvSpPr>
          <p:cNvPr id="458" name="Google Shape;458;p26"/>
          <p:cNvSpPr txBox="1"/>
          <p:nvPr/>
        </p:nvSpPr>
        <p:spPr>
          <a:xfrm>
            <a:off x="914400" y="1463040"/>
            <a:ext cx="10362895" cy="5262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Remember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? Here's the upgrade path.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Railway finds a `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at the root of your repo, it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uses that instead of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Everything else stays the same: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`git push` triggers the build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dashboard shows logs and env vars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public HTTPS URL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Drop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into your repo, push, and Railway switches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builders silently. Your deploy pipeline doesn't change -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just have full control over the environment now.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do you actually need a Dockerfile?</a:t>
            </a:r>
            <a:endParaRPr/>
          </a:p>
        </p:txBody>
      </p:sp>
      <p:sp>
        <p:nvSpPr>
          <p:cNvPr id="465" name="Google Shape;465;p27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project needs its own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Reach for one when: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need a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system library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auto-builder doesn't install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(e.g.,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libpq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-dev`, `tesseract`,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ffmpeg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`)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need an exact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Python or Node version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pinned across builds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build is unusual enough that auto-detection guesses wrong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want the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same image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 your laptop, in CI, and in prod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Whether or not your final project needs one, you now know what's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inside the container every one of your deploys has been running.</a:t>
            </a: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a Dockerfile for a FastAPI app</a:t>
            </a:r>
            <a:endParaRPr/>
          </a:p>
        </p:txBody>
      </p:sp>
      <p:sp>
        <p:nvSpPr>
          <p:cNvPr id="472" name="Google Shape;472;p28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containerize a FastAPI app.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Structure: Dockerfile, requirements.txt, app.py, frontend/dist/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Order for good layer-cache behavior.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FROM ________:3.12-slim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Python deps FIRST (slow-changing)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COPY ________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________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rest of the code (fast-changing)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COPY ________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Start the server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"________", "--port", "8000"]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9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a Dockerfile for a FastAPI app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1005840" y="1554480"/>
            <a:ext cx="10179900" cy="46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Python deps first (slow-changing)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rest of the code (fast-changing)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Start the server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"0.0.0.0", "--port", "8000"]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Build:  docker build -t my-app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Run:    docker run -p 8000:8000 my-app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Deploy: commit the Dockerfile and `git push` - Railway does the rest.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90" name="Google Shape;490;p30"/>
          <p:cNvSpPr txBox="1"/>
          <p:nvPr/>
        </p:nvSpPr>
        <p:spPr>
          <a:xfrm>
            <a:off x="914388" y="12801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Today's three ideas: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an isolated process with its own filesystem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network. No VM, no separate kernel.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blueprint; a container is a running instance.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builds the image. Order matters: slow-changing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things above fast-changing things.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the wider point: containers are the unit the whole industry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ships software on, from CI runners to the clouds themselves.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CI/CD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tests on every push, run in a container.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9072</Words>
  <Application>Microsoft Macintosh PowerPoint</Application>
  <PresentationFormat>Widescreen</PresentationFormat>
  <Paragraphs>697</Paragraphs>
  <Slides>53</Slides>
  <Notes>53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Courier New</vt:lpstr>
      <vt:lpstr>Courier Prime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6</cp:revision>
  <dcterms:created xsi:type="dcterms:W3CDTF">2013-01-27T09:14:16Z</dcterms:created>
  <dcterms:modified xsi:type="dcterms:W3CDTF">2026-05-19T23:42:28Z</dcterms:modified>
</cp:coreProperties>
</file>