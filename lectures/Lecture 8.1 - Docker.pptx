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309" r:id="rId9"/>
    <p:sldId id="264" r:id="rId10"/>
    <p:sldId id="265" r:id="rId11"/>
    <p:sldId id="266" r:id="rId12"/>
    <p:sldId id="267" r:id="rId13"/>
    <p:sldId id="308"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Lst>
  <p:sldSz cx="12192000" cy="6858000"/>
  <p:notesSz cx="6858000" cy="9144000"/>
  <p:embeddedFontLst>
    <p:embeddedFont>
      <p:font typeface="Courier Prime" pitchFamily="49" charset="77"/>
      <p:regular r:id="rId56"/>
      <p:bold r:id="rId57"/>
      <p:italic r:id="rId58"/>
      <p:boldItalic r:id="rId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2" roundtripDataSignature="AMtx7mjYnr4qrxnGuUVJbWsQtWGorz58U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2397"/>
  </p:normalViewPr>
  <p:slideViewPr>
    <p:cSldViewPr snapToGrid="0">
      <p:cViewPr varScale="1">
        <p:scale>
          <a:sx n="103" d="100"/>
          <a:sy n="103" d="100"/>
        </p:scale>
        <p:origin x="144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font" Target="fonts/font1.fntdata"/><Relationship Id="rId57" Type="http://schemas.openxmlformats.org/officeDocument/2006/relationships/font" Target="fonts/font2.fntdata"/><Relationship Id="rId58" Type="http://schemas.openxmlformats.org/officeDocument/2006/relationships/font" Target="fonts/font3.fntdata"/><Relationship Id="rId59" Type="http://schemas.openxmlformats.org/officeDocument/2006/relationships/font" Target="fonts/font4.fntdata"/><Relationship Id="rId62" Type="http://customschemas.google.com/relationships/presentationmetadata" Target="metadata"/><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a:r>
            <a:endParaRPr dirty="0"/>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e32708a311_0_9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g3e32708a311_0_9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Routes first, static mount second, or the mount swallows your API paths. And html=True is the bit that makes it hand back index.html for any path that isn't a real file on disk, which is what client-side routing needs to work at all.</a:t>
            </a:r>
            <a:r>
              <a:rPr lang="en-US" dirty="0" err="1"/>
              <a:t/>
            </a:r>
            <a:r>
              <a:rPr lang="en-US" dirty="0"/>
              <a:t/>
            </a:r>
            <a:endParaRPr dirty="0"/>
          </a:p>
        </p:txBody>
      </p:sp>
      <p:sp>
        <p:nvSpPr>
          <p:cNvPr id="92" name="Google Shape;92;g3e32708a311_0_9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e32708a311_0_10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 name="Google Shape;100;g3e32708a311_0_10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Routes first, static mount second, or the mount swallows your API paths. And html=True is the bit that makes it hand back index.html for any path that isn't a real file on disk, which is what client-side routing needs to work at all.</a:t>
            </a:r>
            <a:r>
              <a:rPr lang="en-US" dirty="0" err="1"/>
              <a:t/>
            </a:r>
            <a:r>
              <a:rPr lang="en-US" dirty="0"/>
              <a:t/>
            </a:r>
            <a:endParaRPr dirty="0"/>
          </a:p>
        </p:txBody>
      </p:sp>
      <p:sp>
        <p:nvSpPr>
          <p:cNvPr id="101" name="Google Shape;101;g3e32708a311_0_10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e32708a311_0_18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9" name="Google Shape;109;g3e32708a311_0_18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every piece. .env stays local, and python-dotenv loads it at startup if it's sitting there and quietly does nothing if it isn't...which is really the nice property here, because the same code then works in dev and in prod without a branch anywhere. On Railway the vars get injected directly so there's no .env on the server at all, and .gitignore is what keeps the file from ever hitting the repo.</a:t>
            </a:r>
            <a:r>
              <a:rPr lang="en-US" dirty="0" err="1"/>
              <a:t/>
            </a:r>
            <a:r>
              <a:rPr lang="en-US" dirty="0"/>
              <a:t/>
            </a:r>
            <a:r>
              <a:rPr lang="en-US" dirty="0" err="1"/>
              <a:t/>
            </a:r>
            <a:r>
              <a:rPr lang="en-US" dirty="0"/>
              <a:t/>
            </a:r>
            <a:endParaRPr dirty="0"/>
          </a:p>
        </p:txBody>
      </p:sp>
      <p:sp>
        <p:nvSpPr>
          <p:cNvPr id="110" name="Google Shape;110;g3e32708a311_0_18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e32708a311_0_19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g3e32708a311_0_19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every piece. .env stays local, and python-dotenv loads it at startup if it's sitting there and quietly does nothing if it isn't...which is really the nice property here, because the same code then works in dev and in prod without a branch anywhere. On Railway the vars get injected directly so there's no .env on the server at all, and .gitignore is what keeps the file from ever hitting the repo.</a:t>
            </a:r>
            <a:r>
              <a:rPr lang="en-US" dirty="0" err="1"/>
              <a:t/>
            </a:r>
            <a:r>
              <a:rPr lang="en-US" dirty="0"/>
              <a:t/>
            </a:r>
            <a:r>
              <a:rPr lang="en-US" dirty="0" err="1"/>
              <a:t/>
            </a:r>
            <a:r>
              <a:rPr lang="en-US" dirty="0"/>
              <a:t/>
            </a:r>
            <a:endParaRPr dirty="0"/>
          </a:p>
        </p:txBody>
      </p:sp>
      <p:sp>
        <p:nvSpPr>
          <p:cNvPr id="119" name="Google Shape;119;g3e32708a311_0_19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3e32708a311_0_19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7" name="Google Shape;127;g3e32708a311_0_19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every piece. .env stays local, and python-dotenv loads it at startup if it's sitting there and quietly does nothing if it isn't...which is really the nice property here, because the same code then works in dev and in prod without a branch anywhere. On Railway the vars get injected directly so there's no .env on the server at all, and .gitignore is what keeps the file from ever hitting the repo.</a:t>
            </a:r>
            <a:r>
              <a:rPr lang="en-US" dirty="0" err="1"/>
              <a:t/>
            </a:r>
            <a:r>
              <a:rPr lang="en-US" dirty="0"/>
              <a:t/>
            </a:r>
            <a:r>
              <a:rPr lang="en-US" dirty="0" err="1"/>
              <a:t/>
            </a:r>
            <a:r>
              <a:rPr lang="en-US" dirty="0"/>
              <a:t/>
            </a:r>
            <a:endParaRPr dirty="0"/>
          </a:p>
        </p:txBody>
      </p:sp>
      <p:sp>
        <p:nvSpPr>
          <p:cNvPr id="128" name="Google Shape;128;g3e32708a311_0_19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6" name="Google Shape;136;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Open by naming the elephant - their deploys already work, so why are we here. Get that said out loud before any Docker vocabulary shows up, otherwise they spend the first twenty minutes quietly wondering.</a:t>
            </a:r>
            <a:endParaRPr dirty="0"/>
          </a:p>
        </p:txBody>
      </p:sp>
      <p:sp>
        <p:nvSpPr>
          <p:cNvPr id="137" name="Google Shape;137;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a:extLst>
            <a:ext uri="{FF2B5EF4-FFF2-40B4-BE49-F238E27FC236}">
              <a16:creationId xmlns:a16="http://schemas.microsoft.com/office/drawing/2014/main" id="{F15CEFE4-28BE-3267-FC7A-30600E3E16B6}"/>
            </a:ext>
          </a:extLst>
        </p:cNvPr>
        <p:cNvGrpSpPr/>
        <p:nvPr/>
      </p:nvGrpSpPr>
      <p:grpSpPr>
        <a:xfrm>
          <a:off x="0" y="0"/>
          <a:ext cx="0" cy="0"/>
          <a:chOff x="0" y="0"/>
          <a:chExt cx="0" cy="0"/>
        </a:xfrm>
      </p:grpSpPr>
      <p:sp>
        <p:nvSpPr>
          <p:cNvPr id="148" name="Google Shape;148;p3:notes">
            <a:extLst>
              <a:ext uri="{FF2B5EF4-FFF2-40B4-BE49-F238E27FC236}">
                <a16:creationId xmlns:a16="http://schemas.microsoft.com/office/drawing/2014/main" id="{957CDF8D-BB62-9C96-74E9-C7E98D7DAF85}"/>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9" name="Google Shape;149;p3:notes">
            <a:extLst>
              <a:ext uri="{FF2B5EF4-FFF2-40B4-BE49-F238E27FC236}">
                <a16:creationId xmlns:a16="http://schemas.microsoft.com/office/drawing/2014/main" id="{FDACEE82-5B7B-3084-B6AC-1DBD0A4772DF}"/>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Don't rush this one. Concede the whole thing up front, that Railway works and they probably won't strictly need a Dockerfile for the final project, because if I pretend otherwise they'll know. The argument for spending 75 minutes on it is that containers are the substrate under basically everything they'll touch after this class, and an engineer who's never opened one up is treating half their tooling as a black box...which works fine right up until the day it doesn't. CI is literally next class and it runs on this, so the callback is worth making. Close on what they walk out with: by the end of today 'the cloud' is a thing they can describe out loud.</a:t>
            </a:r>
            <a:r>
              <a:rPr lang="en-US" dirty="0" err="1"/>
              <a:t/>
            </a:r>
            <a:r>
              <a:rPr lang="en-US" dirty="0"/>
              <a:t/>
            </a:r>
            <a:endParaRPr dirty="0"/>
          </a:p>
        </p:txBody>
      </p:sp>
      <p:sp>
        <p:nvSpPr>
          <p:cNvPr id="150" name="Google Shape;150;p3:notes">
            <a:extLst>
              <a:ext uri="{FF2B5EF4-FFF2-40B4-BE49-F238E27FC236}">
                <a16:creationId xmlns:a16="http://schemas.microsoft.com/office/drawing/2014/main" id="{9B256C49-804C-76FC-972C-768A6D037428}"/>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071069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9" name="Google Shape;149;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Don't rush this one. Concede the whole thing up front, that Railway works and they probably won't strictly need a Dockerfile for the final project, because if I pretend otherwise they'll know. The argument for spending 75 minutes on it is that containers are the substrate under basically everything they'll touch after this class, and an engineer who's never opened one up is treating half their tooling as a black box...which works fine right up until the day it doesn't. CI is literally next class and it runs on this, so the callback is worth making. Close on what they walk out with: by the end of today 'the cloud' is a thing they can describe out loud.</a:t>
            </a:r>
            <a:r>
              <a:rPr lang="en-US" dirty="0" err="1"/>
              <a:t/>
            </a:r>
            <a:r>
              <a:rPr lang="en-US" dirty="0"/>
              <a:t/>
            </a:r>
            <a:endParaRPr dirty="0"/>
          </a:p>
        </p:txBody>
      </p:sp>
      <p:sp>
        <p:nvSpPr>
          <p:cNvPr id="150" name="Google Shape;150;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6" name="Google Shape;156;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Small surprise here, and it should land as one: they've been using containers for weeks and just didn't have the word for it. nixpacks poked at their repo, guessed a Python version, installed a bunch of stuff, and what came out the other end was a container image. Which is a nice way in, because now Docker stops being some new world they have to go learn and turns into the same thing they've been doing all along with the lid off. The PaaS trade is smart defaults in exchange for not getting to choose, and today is really about the cases where you want to choose.</a:t>
            </a:r>
            <a:r>
              <a:rPr lang="en-US" dirty="0" err="1"/>
              <a:t/>
            </a:r>
            <a:r>
              <a:rPr lang="en-US" dirty="0"/>
              <a:t/>
            </a:r>
            <a:endParaRPr dirty="0"/>
          </a:p>
        </p:txBody>
      </p:sp>
      <p:sp>
        <p:nvSpPr>
          <p:cNvPr id="157" name="Google Shape;157;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3" name="Google Shape;163;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Python version, the OS itself, installed system libraries, C libraries the wheels link against, environment variables, file paths, locale, CPU architecture (arm vs x86), what's on PATH, a different version of the same pip package. Write every answer up on the board. Then once it's full: a container freezes ALL of this into the image, so the whole list stops mattering at once. Which sets up the design question nicely, because they'll have just written the problem out in their own words and the answer lands as theirs instead of mine.</a:t>
            </a:r>
            <a:endParaRPr dirty="0"/>
          </a:p>
        </p:txBody>
      </p:sp>
      <p:sp>
        <p:nvSpPr>
          <p:cNvPr id="164" name="Google Shape;164;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0" name="Google Shape;170;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classic 'works on my machine' dance, and it really is a rite of passage - anyone who's deployed something non-trivial has felt a version of it. Make the pain concrete before naming any solution. The move to get them to make here is splitting 'your code' from 'your dependencies,' because students think of their app as one thing and none of the Docker story lands until those are two separate things in their head.</a:t>
            </a:r>
            <a:endParaRPr dirty="0"/>
          </a:p>
        </p:txBody>
      </p:sp>
      <p:sp>
        <p:nvSpPr>
          <p:cNvPr id="171" name="Google Shape;171;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a:extLst>
            <a:ext uri="{FF2B5EF4-FFF2-40B4-BE49-F238E27FC236}">
              <a16:creationId xmlns:a16="http://schemas.microsoft.com/office/drawing/2014/main" id="{202EAA78-C820-4682-45D5-A1348C2D86D8}"/>
            </a:ext>
          </a:extLst>
        </p:cNvPr>
        <p:cNvGrpSpPr/>
        <p:nvPr/>
      </p:nvGrpSpPr>
      <p:grpSpPr>
        <a:xfrm>
          <a:off x="0" y="0"/>
          <a:ext cx="0" cy="0"/>
          <a:chOff x="0" y="0"/>
          <a:chExt cx="0" cy="0"/>
        </a:xfrm>
      </p:grpSpPr>
      <p:sp>
        <p:nvSpPr>
          <p:cNvPr id="176" name="Google Shape;176;p7:notes">
            <a:extLst>
              <a:ext uri="{FF2B5EF4-FFF2-40B4-BE49-F238E27FC236}">
                <a16:creationId xmlns:a16="http://schemas.microsoft.com/office/drawing/2014/main" id="{F4E3C818-5F78-8A7E-CBB4-E0EF0977DC79}"/>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7" name="Google Shape;177;p7:notes">
            <a:extLst>
              <a:ext uri="{FF2B5EF4-FFF2-40B4-BE49-F238E27FC236}">
                <a16:creationId xmlns:a16="http://schemas.microsoft.com/office/drawing/2014/main" id="{B2923B6C-D6B1-0F71-E794-253414E9FB46}"/>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Step back and let them feel the design space before naming a winner. Everything on that list is something people actually tried, and each one has a real failure mode - READMEs rot, VMs are slow and heavy, and getting two machines bit-identical by hand is basically impossible. Docker won because it lands at kinda the right level, way lighter than a VM and a whole lot more reliable than hoping.</a:t>
            </a:r>
            <a:r>
              <a:rPr lang="en-US" dirty="0" err="1"/>
              <a:t/>
            </a:r>
            <a:r>
              <a:rPr lang="en-US" dirty="0"/>
              <a:t/>
            </a:r>
            <a:endParaRPr dirty="0"/>
          </a:p>
        </p:txBody>
      </p:sp>
      <p:sp>
        <p:nvSpPr>
          <p:cNvPr id="178" name="Google Shape;178;p7:notes">
            <a:extLst>
              <a:ext uri="{FF2B5EF4-FFF2-40B4-BE49-F238E27FC236}">
                <a16:creationId xmlns:a16="http://schemas.microsoft.com/office/drawing/2014/main" id="{397D1149-BE07-7DB1-DC2F-FC67D0457D49}"/>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01908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7" name="Google Shape;177;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Step back and let them feel the design space before naming a winner. Everything on that list is something people actually tried, and each one has a real failure mode - READMEs rot, VMs are slow and heavy, and getting two machines bit-identical by hand is basically impossible. Docker won because it lands at kinda the right level, way lighter than a VM and a whole lot more reliable than hoping.</a:t>
            </a:r>
            <a:r>
              <a:rPr lang="en-US" dirty="0" err="1"/>
              <a:t/>
            </a:r>
            <a:r>
              <a:rPr lang="en-US" dirty="0"/>
              <a:t/>
            </a:r>
            <a:endParaRPr dirty="0"/>
          </a:p>
        </p:txBody>
      </p:sp>
      <p:sp>
        <p:nvSpPr>
          <p:cNvPr id="178" name="Google Shape;178;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4" name="Google Shape;184;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Image vs container is the distinction that matters, and a lot of the confusion later in the lecture traces back to students quietly conflating the two. The 'prove it' slide next makes the claim physical instead of me just asserting it.</a:t>
            </a:r>
            <a:endParaRPr dirty="0"/>
          </a:p>
        </p:txBody>
      </p:sp>
      <p:sp>
        <p:nvSpPr>
          <p:cNvPr id="185" name="Google Shape;185;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If they remember one thing from today, it's that a container is a PROCESS. The host kernel is lying to it convincingly enough that the process thinks it's alone on a fresh machine, and since there's no second kernel getting booted anywhere, startup is milliseconds instead of the minute-plus you'd sit through on a VM...which is most of why containers took over. Next slide proves it instead of asking them to take my word for it.</a:t>
            </a:r>
            <a:endParaRPr dirty="0"/>
          </a:p>
        </p:txBody>
      </p:sp>
      <p:sp>
        <p:nvSpPr>
          <p:cNvPr id="191" name="Google Shape;191;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e32708a311_0_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7" name="Google Shape;197;g3e32708a311_0_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Make the claim physical here. Two demos, both worth running live if the projector cooperates - start the container detached, then ps on the host, and there's the container's uvicorn sitting right in your own process list, because that is all it ever was. Then docker run -it ... bash drops you into what looks like a brand-new Linux box, its own filesystem, its own root user, and you exit and there's nothing left behind. This is usually where 'the cloud is just processes' clicks for people.</a:t>
            </a:r>
            <a:r>
              <a:rPr lang="en-US" dirty="0" err="1"/>
              <a:t/>
            </a:r>
            <a:r>
              <a:rPr lang="en-US" dirty="0"/>
              <a:t/>
            </a:r>
            <a:r>
              <a:rPr lang="en-US" dirty="0" err="1"/>
              <a:t/>
            </a:r>
            <a:r>
              <a:rPr lang="en-US" dirty="0"/>
              <a:t/>
            </a:r>
            <a:endParaRPr dirty="0"/>
          </a:p>
        </p:txBody>
      </p:sp>
      <p:sp>
        <p:nvSpPr>
          <p:cNvPr id="198" name="Google Shape;198;g3e32708a311_0_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e32708a311_0_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6" name="Google Shape;206;g3e32708a311_0_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Make the claim physical here. Two demos, both worth running live if the projector cooperates - start the container detached, then ps on the host, and there's the container's uvicorn sitting right in your own process list, because that is all it ever was. Then docker run -it ... bash drops you into what looks like a brand-new Linux box, its own filesystem, its own root user, and you exit and there's nothing left behind. This is usually where 'the cloud is just processes' clicks for people.</a:t>
            </a:r>
            <a:r>
              <a:rPr lang="en-US" dirty="0" err="1"/>
              <a:t/>
            </a:r>
            <a:r>
              <a:rPr lang="en-US" dirty="0"/>
              <a:t/>
            </a:r>
            <a:r>
              <a:rPr lang="en-US" dirty="0" err="1"/>
              <a:t/>
            </a:r>
            <a:r>
              <a:rPr lang="en-US" dirty="0"/>
              <a:t/>
            </a:r>
            <a:endParaRPr dirty="0"/>
          </a:p>
        </p:txBody>
      </p:sp>
      <p:sp>
        <p:nvSpPr>
          <p:cNvPr id="207" name="Google Shape;207;g3e32708a311_0_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5" name="Google Shape;215;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Make the claim physical here. Two demos, both worth running live if the projector cooperates - start the container detached, then ps on the host, and there's the container's uvicorn sitting right in your own process list, because that is all it ever was. Then docker run -it ... bash drops you into what looks like a brand-new Linux box, its own filesystem, its own root user, and you exit and there's nothing left behind. This is usually where 'the cloud is just processes' clicks for people.</a:t>
            </a:r>
            <a:r>
              <a:rPr lang="en-US" dirty="0" err="1"/>
              <a:t/>
            </a:r>
            <a:r>
              <a:rPr lang="en-US" dirty="0"/>
              <a:t/>
            </a:r>
            <a:r>
              <a:rPr lang="en-US" dirty="0" err="1"/>
              <a:t/>
            </a:r>
            <a:r>
              <a:rPr lang="en-US" dirty="0"/>
              <a:t/>
            </a:r>
            <a:endParaRPr dirty="0"/>
          </a:p>
        </p:txBody>
      </p:sp>
      <p:sp>
        <p:nvSpPr>
          <p:cNvPr id="216" name="Google Shape;216;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e346b600eb_0_8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g3e346b600eb_0_8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class-vs-instance analogy lands for anyone who's done OOP, which is all of them. Drive home the verbs - you build an image, and then you run containers FROM it...that wording matters because the CLI commands coming up use exactly those words, and anyone who's mushed the two together is gonna get lost fast.</a:t>
            </a:r>
            <a:endParaRPr dirty="0"/>
          </a:p>
        </p:txBody>
      </p:sp>
      <p:sp>
        <p:nvSpPr>
          <p:cNvPr id="225" name="Google Shape;225;g3e346b600eb_0_8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class-vs-instance analogy lands for anyone who's done OOP, which is all of them. Drive home the verbs - you build an image, and then you run containers FROM it...that wording matters because the CLI commands coming up use exactly those words, and anyone who's mushed the two together is gonna get lost fast.</a:t>
            </a:r>
            <a:endParaRPr dirty="0"/>
          </a:p>
        </p:txBody>
      </p:sp>
      <p:sp>
        <p:nvSpPr>
          <p:cNvPr id="232" name="Google Shape;232;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8" name="Google Shape;238;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two-step flow - grab a base image someone else maintains, then layer your stuff on top - is how every real </a:t>
            </a:r>
            <a:r>
              <a:rPr lang="en-US" dirty="0" err="1"/>
              <a:t>Dockerfile</a:t>
            </a:r>
            <a:r>
              <a:rPr lang="en-US" dirty="0"/>
              <a:t> works. You basically never start from scratch - you start from something like python:3.12-slim that the Python team keeps patched, and then add whatever your app specifically needs on top. And a registry is just a place images live, same as GitHub is a place repos live.</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Next: what a </a:t>
            </a:r>
            <a:r>
              <a:rPr lang="en-US" dirty="0" err="1"/>
              <a:t>Dockerfile</a:t>
            </a:r>
            <a:r>
              <a:rPr lang="en-US" dirty="0"/>
              <a:t> actually looks like.</a:t>
            </a:r>
            <a:endParaRPr dirty="0"/>
          </a:p>
          <a:p>
            <a:pPr marL="0" lvl="0" indent="0" algn="l" rtl="0">
              <a:spcBef>
                <a:spcPts val="0"/>
              </a:spcBef>
              <a:spcAft>
                <a:spcPts val="0"/>
              </a:spcAft>
              <a:buNone/>
            </a:pPr>
            <a:endParaRPr dirty="0"/>
          </a:p>
        </p:txBody>
      </p:sp>
      <p:sp>
        <p:nvSpPr>
          <p:cNvPr id="239" name="Google Shape;239;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5" name="Google Shape;245;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actual file students would write if they reached for Docker. Ground it with a real </a:t>
            </a:r>
            <a:r>
              <a:rPr lang="en-US" dirty="0" err="1"/>
              <a:t>FastAPI</a:t>
            </a:r>
            <a:r>
              <a:rPr lang="en-US" dirty="0"/>
              <a:t> example because that's what they already have in hand.</a:t>
            </a:r>
            <a:endParaRPr dirty="0"/>
          </a:p>
        </p:txBody>
      </p:sp>
      <p:sp>
        <p:nvSpPr>
          <p:cNvPr id="246" name="Google Shape;246;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1" name="Google Shape;251;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Five instructions really do cover almost every Dockerfile you'll write for a long while. FROM is the base, WORKDIR is where the rest of the commands run from, COPY brings your code in, RUN is stuff that happens at build time, and CMD is what actually runs when the container starts...learn those five and you can read the overwhelming majority of Dockerfiles in the wild. The rest is edge cases.</a:t>
            </a:r>
            <a:r>
              <a:rPr lang="en-US" dirty="0" err="1"/>
              <a:t/>
            </a:r>
            <a:r>
              <a:rPr lang="en-US" dirty="0"/>
              <a:t/>
            </a:r>
            <a:r>
              <a:rPr lang="en-US" dirty="0" err="1"/>
              <a:t/>
            </a:r>
            <a:r>
              <a:rPr lang="en-US" dirty="0"/>
              <a:t/>
            </a:r>
            <a:endParaRPr dirty="0"/>
          </a:p>
        </p:txBody>
      </p:sp>
      <p:sp>
        <p:nvSpPr>
          <p:cNvPr id="252" name="Google Shape;252;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3e32708a311_0_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8" name="Google Shape;258;g3e32708a311_0_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it line by line. FROM pulls a minimal Python 3.12 base, WORKDIR makes /app inside the image so everything after it runs from there, then COPY requirements and RUN pip install is the installs-deps dance...and THEN we COPY the rest of the code. That ordering is doing real work, and it's the whole caching story on the next few slides. CMD is just the default command when someone runs the container.</a:t>
            </a:r>
            <a:endParaRPr dirty="0"/>
          </a:p>
        </p:txBody>
      </p:sp>
      <p:sp>
        <p:nvSpPr>
          <p:cNvPr id="259" name="Google Shape;259;g3e32708a311_0_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3e32708a311_0_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7" name="Google Shape;267;g3e32708a311_0_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it line by line. FROM pulls a minimal Python 3.12 base, WORKDIR makes /app inside the image so everything after it runs from there, then COPY requirements and RUN pip install is the installs-deps dance...and THEN we COPY the rest of the code. That ordering is doing real work, and it's the whole caching story on the next few slides. CMD is just the default command when someone runs the container.</a:t>
            </a:r>
            <a:endParaRPr dirty="0"/>
          </a:p>
        </p:txBody>
      </p:sp>
      <p:sp>
        <p:nvSpPr>
          <p:cNvPr id="268" name="Google Shape;268;g3e32708a311_0_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e32708a311_0_3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6" name="Google Shape;276;g3e32708a311_0_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it line by line. FROM pulls a minimal Python 3.12 base, WORKDIR makes /app inside the image so everything after it runs from there, then COPY requirements and RUN pip install is the installs-deps dance...and THEN we COPY the rest of the code. That ordering is doing real work, and it's the whole caching story on the next few slides. CMD is just the default command when someone runs the container.</a:t>
            </a:r>
            <a:endParaRPr dirty="0"/>
          </a:p>
        </p:txBody>
      </p:sp>
      <p:sp>
        <p:nvSpPr>
          <p:cNvPr id="277" name="Google Shape;277;g3e32708a311_0_3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e32708a311_0_4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5" name="Google Shape;285;g3e32708a311_0_4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it line by line. FROM pulls a minimal Python 3.12 base, WORKDIR makes /app inside the image so everything after it runs from there, then COPY requirements and RUN pip install is the installs-deps dance...and THEN we COPY the rest of the code. That ordering is doing real work, and it's the whole caching story on the next few slides. CMD is just the default command when someone runs the container.</a:t>
            </a:r>
            <a:endParaRPr dirty="0"/>
          </a:p>
        </p:txBody>
      </p:sp>
      <p:sp>
        <p:nvSpPr>
          <p:cNvPr id="286" name="Google Shape;286;g3e32708a311_0_4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4" name="Google Shape;294;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it line by line. FROM pulls a minimal Python 3.12 base, WORKDIR makes /app inside the image so everything after it runs from there, then COPY requirements and RUN pip install is the installs-deps dance...and THEN we COPY the rest of the code. That ordering is doing real work, and it's the whole caching story on the next few slides. CMD is just the default command when someone runs the container.</a:t>
            </a:r>
            <a:endParaRPr dirty="0"/>
          </a:p>
        </p:txBody>
      </p:sp>
      <p:sp>
        <p:nvSpPr>
          <p:cNvPr id="295" name="Google Shape;295;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3" name="Google Shape;303;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Layer caching is THE reason Dockerfile order matters. A Dockerfile that copies code before installing deps reinstalls every dependency on every code change, which is fine the first time and super annoying by the twentieth build that day...and once you've felt the difference between a 2-second rebuild and a 30-second one, slow-stuff-first sticks without me having to sell it. Predict beat next slide, so don't pre-spoil it.</a:t>
            </a:r>
            <a:r>
              <a:rPr lang="en-US" dirty="0" err="1"/>
              <a:t/>
            </a:r>
            <a:r>
              <a:rPr lang="en-US" dirty="0"/>
              <a:t/>
            </a:r>
            <a:r>
              <a:rPr lang="en-US" dirty="0" err="1"/>
              <a:t/>
            </a:r>
            <a:r>
              <a:rPr lang="en-US" dirty="0"/>
              <a:t/>
            </a:r>
            <a:endParaRPr dirty="0"/>
          </a:p>
        </p:txBody>
      </p:sp>
      <p:sp>
        <p:nvSpPr>
          <p:cNvPr id="304" name="Google Shape;304;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3e32708a311_0_5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0" name="Google Shape;310;g3e32708a311_0_5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 on someone, don't reveal. Show of hands per option. It's (c). Docker caches layers in order, so the FIRST layer whose inputs changed - here that's [5], the COPY . . that picks up app.py - gets rebuilt, and everything below it goes with it, because each layer sits on top of the one before. [1] through [4] never got touched, so pip install does NOT run again. (a) is 'make clean' thinking. (d) is the trap for anyone half-remembering the rule, right idea aimed at the wrong layers. Then the bad-vs-good ordering slide is what this behavior forces on you.</a:t>
            </a:r>
            <a:r>
              <a:rPr lang="en-US" dirty="0" err="1"/>
              <a:t/>
            </a:r>
            <a:r>
              <a:rPr lang="en-US" dirty="0"/>
              <a:t/>
            </a:r>
            <a:endParaRPr dirty="0"/>
          </a:p>
        </p:txBody>
      </p:sp>
      <p:sp>
        <p:nvSpPr>
          <p:cNvPr id="311" name="Google Shape;311;g3e32708a311_0_5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9" name="Google Shape;319;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 on someone, don't reveal. Show of hands per option. It's (c). Docker caches layers in order, so the FIRST layer whose inputs changed - here that's [5], the COPY . . that picks up app.py - gets rebuilt, and everything below it goes with it, because each layer sits on top of the one before. [1] through [4] never got touched, so pip install does NOT run again. (a) is 'make clean' thinking. (d) is the trap for anyone half-remembering the rule, right idea aimed at the wrong layers. Then the bad-vs-good ordering slide is what this behavior forces on you.</a:t>
            </a:r>
            <a:r>
              <a:rPr lang="en-US" dirty="0" err="1"/>
              <a:t/>
            </a:r>
            <a:r>
              <a:rPr lang="en-US" dirty="0"/>
              <a:t/>
            </a:r>
            <a:endParaRPr dirty="0"/>
          </a:p>
        </p:txBody>
      </p:sp>
      <p:sp>
        <p:nvSpPr>
          <p:cNvPr id="320" name="Google Shape;320;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3e32708a311_0_6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8" name="Google Shape;328;g3e32708a311_0_6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Because a changed layer rebuilds everything below it, you deliberately put the thing that rarely changes (</a:t>
            </a:r>
            <a:r>
              <a:rPr lang="en-US" dirty="0" err="1"/>
              <a:t>requirements.txt</a:t>
            </a:r>
            <a:r>
              <a:rPr lang="en-US" dirty="0"/>
              <a:t>) ABOVE the thing that always changes (your code). Side by side, the only real difference is WHERE the COPY of </a:t>
            </a:r>
            <a:r>
              <a:rPr lang="en-US" dirty="0" err="1"/>
              <a:t>requirements.txt</a:t>
            </a:r>
            <a:r>
              <a:rPr lang="en-US" dirty="0"/>
              <a:t> sits. In the bad version any code change busts the pip install cache too, because COPY . . ran before the install. In the good version the install layer stays cached until requirements.txt itself changes, which is maybe once a week, and that's where the 15x on a busy day comes from.</a:t>
            </a:r>
            <a:r>
              <a:rPr lang="en-US" dirty="0" err="1"/>
              <a:t/>
            </a:r>
            <a:r>
              <a:rPr lang="en-US" dirty="0"/>
              <a:t/>
            </a:r>
            <a:endParaRPr dirty="0"/>
          </a:p>
        </p:txBody>
      </p:sp>
      <p:sp>
        <p:nvSpPr>
          <p:cNvPr id="329" name="Google Shape;329;g3e32708a311_0_6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7" name="Google Shape;337;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Because a changed layer rebuilds everything below it, you deliberately put the thing that rarely changes (</a:t>
            </a:r>
            <a:r>
              <a:rPr lang="en-US" dirty="0" err="1"/>
              <a:t>requirements.txt</a:t>
            </a:r>
            <a:r>
              <a:rPr lang="en-US" dirty="0"/>
              <a:t>) ABOVE the thing that always changes (your code). Side by side, the only real difference is WHERE the COPY of </a:t>
            </a:r>
            <a:r>
              <a:rPr lang="en-US" dirty="0" err="1"/>
              <a:t>requirements.txt</a:t>
            </a:r>
            <a:r>
              <a:rPr lang="en-US" dirty="0"/>
              <a:t> sits. In the bad version any code change busts the pip install cache too, because COPY . . ran before the install. In the good version the install layer stays cached until requirements.txt itself changes, which is maybe once a week, and that's where the 15x on a busy day comes from.</a:t>
            </a:r>
            <a:r>
              <a:rPr lang="en-US" dirty="0" err="1"/>
              <a:t/>
            </a:r>
            <a:r>
              <a:rPr lang="en-US" dirty="0"/>
              <a:t/>
            </a:r>
            <a:endParaRPr dirty="0"/>
          </a:p>
        </p:txBody>
      </p:sp>
      <p:sp>
        <p:nvSpPr>
          <p:cNvPr id="338" name="Google Shape;338;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6" name="Google Shape;346;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Mechanics of actually using the thing. Spot-the-bug beat lives here, and it's the gotcha that costs people the most time by a mile.</a:t>
            </a:r>
            <a:r>
              <a:rPr lang="en-US" dirty="0" err="1"/>
              <a:t/>
            </a:r>
            <a:r>
              <a:rPr lang="en-US" dirty="0"/>
              <a:t/>
            </a:r>
            <a:endParaRPr dirty="0"/>
          </a:p>
        </p:txBody>
      </p:sp>
      <p:sp>
        <p:nvSpPr>
          <p:cNvPr id="347" name="Google Shape;347;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2" name="Google Shape;352;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the output. Each numbered step lines up with one of the Dockerfile instructions from earlier, which is a nice sanity check, and notice [1] through [4] showing 0.0s on a rebuild - that's the layer caching from the predict slide doing its job. The -t flag names the image so you can refer to it later, and the dot at the end is the build context, meaning the directory Docker is allowed to COPY from.</a:t>
            </a:r>
            <a:r>
              <a:rPr lang="en-US" dirty="0" err="1"/>
              <a:t/>
            </a:r>
            <a:r>
              <a:rPr lang="en-US" dirty="0"/>
              <a:t/>
            </a:r>
            <a:endParaRPr dirty="0"/>
          </a:p>
        </p:txBody>
      </p:sp>
      <p:sp>
        <p:nvSpPr>
          <p:cNvPr id="353" name="Google Shape;353;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e32708a311_0_7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1" name="Google Shape;361;g3e32708a311_0_7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docker run makes a fresh container from the image and starts it. -p maps host:container ports, and -e injects env vars the same way they'd set them in the Railway dashboard, so the mental model carries straight over. Spot-the-bug next on what happens when you forget the -p, so don't pre-explain it here.</a:t>
            </a:r>
            <a:r>
              <a:rPr lang="en-US" dirty="0" err="1"/>
              <a:t/>
            </a:r>
            <a:r>
              <a:rPr lang="en-US" dirty="0"/>
              <a:t/>
            </a:r>
            <a:endParaRPr dirty="0"/>
          </a:p>
        </p:txBody>
      </p:sp>
      <p:sp>
        <p:nvSpPr>
          <p:cNvPr id="362" name="Google Shape;362;g3e32708a311_0_7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0" name="Google Shape;370;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docker run makes a fresh container from the image and starts it. -p maps host:container ports, and -e injects env vars the same way they'd set them in the Railway dashboard, so the mental model carries straight over. Spot-the-bug next on what happens when you forget the -p, so don't pre-explain it here.</a:t>
            </a:r>
            <a:r>
              <a:rPr lang="en-US" dirty="0" err="1"/>
              <a:t/>
            </a:r>
            <a:r>
              <a:rPr lang="en-US" dirty="0"/>
              <a:t/>
            </a:r>
            <a:endParaRPr dirty="0"/>
          </a:p>
        </p:txBody>
      </p:sp>
      <p:sp>
        <p:nvSpPr>
          <p:cNvPr id="371" name="Google Shape;371;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9" name="Google Shape;379;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 on someone. It's (b) - the docker run has no -p. Container ports are isolated by default, so the app really is listening on 8000, but that's the CONTAINER's 8000, walled off from the laptop, and nothing is forwarding localhost:8000 to it. Air option (a) out loud anyway, because it's the OTHER way to produce this exact symptom: bind uvicorn to 127.0.0.1 instead of 0.0.0.0 and it's unreachable from outside the container too. Here the log clearly says 0.0.0.0, so this one is the missing -p. From the browser those two look exactly the same, which is what makes it take an hour to find. Full explanation next slide.</a:t>
            </a:r>
            <a:r>
              <a:rPr lang="en-US" dirty="0" err="1"/>
              <a:t/>
            </a:r>
            <a:r>
              <a:rPr lang="en-US" dirty="0"/>
              <a:t/>
            </a:r>
            <a:endParaRPr dirty="0"/>
          </a:p>
        </p:txBody>
      </p:sp>
      <p:sp>
        <p:nvSpPr>
          <p:cNvPr id="380" name="Google Shape;380;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3e32708a311_0_8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8" name="Google Shape;388;g3e32708a311_0_8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Port mapping confuses people because there are two 8000s in the air and they look identical on the page. The container has its own network namespace with its own ports, and -p builds a bridge from a host port to a container port...they don't have to be the same number, and once you're running two containers at once they can't be. This is what the spot-the-bug was setting up.</a:t>
            </a:r>
            <a:endParaRPr dirty="0"/>
          </a:p>
        </p:txBody>
      </p:sp>
      <p:sp>
        <p:nvSpPr>
          <p:cNvPr id="389" name="Google Shape;389;g3e32708a311_0_8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5" name="Google Shape;395;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Port mapping confuses people because there are two 8000s in the air and they look identical on the page. The container has its own network namespace with its own ports, and -p builds a bridge from a host port to a container port...they don't have to be the same number, and once you're running two containers at once they can't be. This is what the spot-the-bug was setting up.</a:t>
            </a:r>
            <a:endParaRPr dirty="0"/>
          </a:p>
        </p:txBody>
      </p:sp>
      <p:sp>
        <p:nvSpPr>
          <p:cNvPr id="396" name="Google Shape;396;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3e346b600eb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2" name="Google Shape;402;g3e346b600eb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1100" b="1" dirty="0">
                <a:solidFill>
                  <a:srgbClr val="333344"/>
                </a:solidFill>
                <a:latin typeface="Courier New"/>
                <a:ea typeface="Courier New"/>
                <a:cs typeface="Courier New"/>
                <a:sym typeface="Courier New"/>
              </a:rPr>
              <a:t># ---- On the build machine (your laptop, or a CI runner) ----</a:t>
            </a:r>
            <a:endParaRPr sz="1000" dirty="0">
              <a:solidFill>
                <a:schemeClr val="dk1"/>
              </a:solidFill>
            </a:endParaRPr>
          </a:p>
          <a:p>
            <a:pPr marL="0" lvl="0" indent="0" algn="l" rtl="0">
              <a:spcBef>
                <a:spcPts val="200"/>
              </a:spcBef>
              <a:spcAft>
                <a:spcPts val="0"/>
              </a:spcAft>
              <a:buClr>
                <a:schemeClr val="dk1"/>
              </a:buClr>
              <a:buFont typeface="Arial"/>
              <a:buNone/>
            </a:pPr>
            <a:endParaRPr sz="1100" b="1" dirty="0">
              <a:solidFill>
                <a:srgbClr val="333344"/>
              </a:solidFill>
              <a:latin typeface="Courier New"/>
              <a:ea typeface="Courier New"/>
              <a:cs typeface="Courier New"/>
              <a:sym typeface="Courier New"/>
            </a:endParaRPr>
          </a:p>
          <a:p>
            <a:pPr marL="0" lvl="0" indent="0" algn="l" rtl="0">
              <a:spcBef>
                <a:spcPts val="200"/>
              </a:spcBef>
              <a:spcAft>
                <a:spcPts val="0"/>
              </a:spcAft>
              <a:buClr>
                <a:schemeClr val="dk1"/>
              </a:buClr>
              <a:buFont typeface="Arial"/>
              <a:buNone/>
            </a:pPr>
            <a:r>
              <a:rPr lang="en-US" sz="1100" b="1" dirty="0">
                <a:solidFill>
                  <a:srgbClr val="333344"/>
                </a:solidFill>
                <a:latin typeface="Courier New"/>
                <a:ea typeface="Courier New"/>
                <a:cs typeface="Courier New"/>
                <a:sym typeface="Courier New"/>
              </a:rPr>
              <a:t>$ docker build -t </a:t>
            </a:r>
            <a:r>
              <a:rPr lang="en-US" sz="1100" b="1" dirty="0" err="1">
                <a:solidFill>
                  <a:srgbClr val="333344"/>
                </a:solidFill>
                <a:latin typeface="Courier New"/>
                <a:ea typeface="Courier New"/>
                <a:cs typeface="Courier New"/>
                <a:sym typeface="Courier New"/>
              </a:rPr>
              <a:t>ghcr.io</a:t>
            </a:r>
            <a:r>
              <a:rPr lang="en-US" sz="1100" b="1" dirty="0">
                <a:solidFill>
                  <a:srgbClr val="333344"/>
                </a:solidFill>
                <a:latin typeface="Courier New"/>
                <a:ea typeface="Courier New"/>
                <a:cs typeface="Courier New"/>
                <a:sym typeface="Courier New"/>
              </a:rPr>
              <a:t>/you/</a:t>
            </a:r>
            <a:r>
              <a:rPr lang="en-US" sz="1100" b="1" dirty="0" err="1">
                <a:solidFill>
                  <a:srgbClr val="333344"/>
                </a:solidFill>
                <a:latin typeface="Courier New"/>
                <a:ea typeface="Courier New"/>
                <a:cs typeface="Courier New"/>
                <a:sym typeface="Courier New"/>
              </a:rPr>
              <a:t>chat-app:latest</a:t>
            </a:r>
            <a:r>
              <a:rPr lang="en-US" sz="1100" b="1" dirty="0">
                <a:solidFill>
                  <a:srgbClr val="333344"/>
                </a:solidFill>
                <a:latin typeface="Courier New"/>
                <a:ea typeface="Courier New"/>
                <a:cs typeface="Courier New"/>
                <a:sym typeface="Courier New"/>
              </a:rPr>
              <a:t> .</a:t>
            </a:r>
            <a:endParaRPr sz="1000" dirty="0">
              <a:solidFill>
                <a:schemeClr val="dk1"/>
              </a:solidFill>
            </a:endParaRPr>
          </a:p>
          <a:p>
            <a:pPr marL="0" lvl="0" indent="0" algn="l" rtl="0">
              <a:spcBef>
                <a:spcPts val="200"/>
              </a:spcBef>
              <a:spcAft>
                <a:spcPts val="0"/>
              </a:spcAft>
              <a:buClr>
                <a:schemeClr val="dk1"/>
              </a:buClr>
              <a:buFont typeface="Arial"/>
              <a:buNone/>
            </a:pPr>
            <a:r>
              <a:rPr lang="en-US" sz="1100" b="1" dirty="0">
                <a:solidFill>
                  <a:srgbClr val="333344"/>
                </a:solidFill>
                <a:latin typeface="Courier New"/>
                <a:ea typeface="Courier New"/>
                <a:cs typeface="Courier New"/>
                <a:sym typeface="Courier New"/>
              </a:rPr>
              <a:t>$ docker push </a:t>
            </a:r>
            <a:r>
              <a:rPr lang="en-US" sz="1100" b="1" dirty="0" err="1">
                <a:solidFill>
                  <a:srgbClr val="333344"/>
                </a:solidFill>
                <a:latin typeface="Courier New"/>
                <a:ea typeface="Courier New"/>
                <a:cs typeface="Courier New"/>
                <a:sym typeface="Courier New"/>
              </a:rPr>
              <a:t>ghcr.io</a:t>
            </a:r>
            <a:r>
              <a:rPr lang="en-US" sz="1100" b="1" dirty="0">
                <a:solidFill>
                  <a:srgbClr val="333344"/>
                </a:solidFill>
                <a:latin typeface="Courier New"/>
                <a:ea typeface="Courier New"/>
                <a:cs typeface="Courier New"/>
                <a:sym typeface="Courier New"/>
              </a:rPr>
              <a:t>/you/</a:t>
            </a:r>
            <a:r>
              <a:rPr lang="en-US" sz="1100" b="1" dirty="0" err="1">
                <a:solidFill>
                  <a:srgbClr val="333344"/>
                </a:solidFill>
                <a:latin typeface="Courier New"/>
                <a:ea typeface="Courier New"/>
                <a:cs typeface="Courier New"/>
                <a:sym typeface="Courier New"/>
              </a:rPr>
              <a:t>chat-app:latest</a:t>
            </a:r>
            <a:endParaRPr sz="1000" dirty="0">
              <a:solidFill>
                <a:schemeClr val="dk1"/>
              </a:solidFill>
            </a:endParaRPr>
          </a:p>
          <a:p>
            <a:pPr marL="0" lvl="0" indent="0" algn="l" rtl="0">
              <a:spcBef>
                <a:spcPts val="200"/>
              </a:spcBef>
              <a:spcAft>
                <a:spcPts val="0"/>
              </a:spcAft>
              <a:buClr>
                <a:schemeClr val="dk1"/>
              </a:buClr>
              <a:buFont typeface="Arial"/>
              <a:buNone/>
            </a:pPr>
            <a:r>
              <a:rPr lang="en-US" sz="1100" b="1" dirty="0">
                <a:solidFill>
                  <a:srgbClr val="333344"/>
                </a:solidFill>
                <a:latin typeface="Courier New"/>
                <a:ea typeface="Courier New"/>
                <a:cs typeface="Courier New"/>
                <a:sym typeface="Courier New"/>
              </a:rPr>
              <a:t>   ...uploaded to the registry.</a:t>
            </a:r>
            <a:endParaRPr sz="1000" dirty="0">
              <a:solidFill>
                <a:schemeClr val="dk1"/>
              </a:solidFill>
            </a:endParaRPr>
          </a:p>
          <a:p>
            <a:pPr marL="0" lvl="0" indent="0" algn="l" rtl="0">
              <a:spcBef>
                <a:spcPts val="200"/>
              </a:spcBef>
              <a:spcAft>
                <a:spcPts val="0"/>
              </a:spcAft>
              <a:buClr>
                <a:schemeClr val="dk1"/>
              </a:buClr>
              <a:buFont typeface="Arial"/>
              <a:buNone/>
            </a:pPr>
            <a:endParaRPr sz="1100" b="1" dirty="0">
              <a:solidFill>
                <a:srgbClr val="333344"/>
              </a:solidFill>
              <a:latin typeface="Courier New"/>
              <a:ea typeface="Courier New"/>
              <a:cs typeface="Courier New"/>
              <a:sym typeface="Courier New"/>
            </a:endParaRPr>
          </a:p>
          <a:p>
            <a:pPr marL="0" lvl="0" indent="0" algn="l" rtl="0">
              <a:spcBef>
                <a:spcPts val="200"/>
              </a:spcBef>
              <a:spcAft>
                <a:spcPts val="0"/>
              </a:spcAft>
              <a:buClr>
                <a:schemeClr val="dk1"/>
              </a:buClr>
              <a:buFont typeface="Arial"/>
              <a:buNone/>
            </a:pPr>
            <a:endParaRPr sz="1100" b="1" dirty="0">
              <a:solidFill>
                <a:srgbClr val="333344"/>
              </a:solidFill>
              <a:latin typeface="Courier New"/>
              <a:ea typeface="Courier New"/>
              <a:cs typeface="Courier New"/>
              <a:sym typeface="Courier New"/>
            </a:endParaRPr>
          </a:p>
          <a:p>
            <a:pPr marL="0" lvl="0" indent="0" algn="l" rtl="0">
              <a:spcBef>
                <a:spcPts val="200"/>
              </a:spcBef>
              <a:spcAft>
                <a:spcPts val="0"/>
              </a:spcAft>
              <a:buClr>
                <a:schemeClr val="dk1"/>
              </a:buClr>
              <a:buFont typeface="Arial"/>
              <a:buNone/>
            </a:pPr>
            <a:r>
              <a:rPr lang="en-US" sz="1100" b="1" dirty="0">
                <a:solidFill>
                  <a:srgbClr val="333344"/>
                </a:solidFill>
                <a:latin typeface="Courier New"/>
                <a:ea typeface="Courier New"/>
                <a:cs typeface="Courier New"/>
                <a:sym typeface="Courier New"/>
              </a:rPr>
              <a:t># ---- On the production server ----</a:t>
            </a:r>
            <a:endParaRPr sz="1000" dirty="0">
              <a:solidFill>
                <a:schemeClr val="dk1"/>
              </a:solidFill>
            </a:endParaRPr>
          </a:p>
          <a:p>
            <a:pPr marL="0" lvl="0" indent="0" algn="l" rtl="0">
              <a:spcBef>
                <a:spcPts val="200"/>
              </a:spcBef>
              <a:spcAft>
                <a:spcPts val="0"/>
              </a:spcAft>
              <a:buClr>
                <a:schemeClr val="dk1"/>
              </a:buClr>
              <a:buFont typeface="Arial"/>
              <a:buNone/>
            </a:pPr>
            <a:endParaRPr sz="1100" b="1" dirty="0">
              <a:solidFill>
                <a:srgbClr val="333344"/>
              </a:solidFill>
              <a:latin typeface="Courier New"/>
              <a:ea typeface="Courier New"/>
              <a:cs typeface="Courier New"/>
              <a:sym typeface="Courier New"/>
            </a:endParaRPr>
          </a:p>
          <a:p>
            <a:pPr marL="0" lvl="0" indent="0" algn="l" rtl="0">
              <a:spcBef>
                <a:spcPts val="200"/>
              </a:spcBef>
              <a:spcAft>
                <a:spcPts val="0"/>
              </a:spcAft>
              <a:buClr>
                <a:schemeClr val="dk1"/>
              </a:buClr>
              <a:buFont typeface="Arial"/>
              <a:buNone/>
            </a:pPr>
            <a:r>
              <a:rPr lang="en-US" sz="1100" b="1" dirty="0">
                <a:solidFill>
                  <a:srgbClr val="333344"/>
                </a:solidFill>
                <a:latin typeface="Courier New"/>
                <a:ea typeface="Courier New"/>
                <a:cs typeface="Courier New"/>
                <a:sym typeface="Courier New"/>
              </a:rPr>
              <a:t>$ docker pull </a:t>
            </a:r>
            <a:r>
              <a:rPr lang="en-US" sz="1100" b="1" dirty="0" err="1">
                <a:solidFill>
                  <a:srgbClr val="333344"/>
                </a:solidFill>
                <a:latin typeface="Courier New"/>
                <a:ea typeface="Courier New"/>
                <a:cs typeface="Courier New"/>
                <a:sym typeface="Courier New"/>
              </a:rPr>
              <a:t>ghcr.io</a:t>
            </a:r>
            <a:r>
              <a:rPr lang="en-US" sz="1100" b="1" dirty="0">
                <a:solidFill>
                  <a:srgbClr val="333344"/>
                </a:solidFill>
                <a:latin typeface="Courier New"/>
                <a:ea typeface="Courier New"/>
                <a:cs typeface="Courier New"/>
                <a:sym typeface="Courier New"/>
              </a:rPr>
              <a:t>/you/</a:t>
            </a:r>
            <a:r>
              <a:rPr lang="en-US" sz="1100" b="1" dirty="0" err="1">
                <a:solidFill>
                  <a:srgbClr val="333344"/>
                </a:solidFill>
                <a:latin typeface="Courier New"/>
                <a:ea typeface="Courier New"/>
                <a:cs typeface="Courier New"/>
                <a:sym typeface="Courier New"/>
              </a:rPr>
              <a:t>chat-app:latest</a:t>
            </a:r>
            <a:endParaRPr sz="1000" dirty="0">
              <a:solidFill>
                <a:schemeClr val="dk1"/>
              </a:solidFill>
            </a:endParaRPr>
          </a:p>
          <a:p>
            <a:pPr marL="0" lvl="0" indent="0" algn="l" rtl="0">
              <a:spcBef>
                <a:spcPts val="200"/>
              </a:spcBef>
              <a:spcAft>
                <a:spcPts val="0"/>
              </a:spcAft>
              <a:buClr>
                <a:schemeClr val="dk1"/>
              </a:buClr>
              <a:buFont typeface="Arial"/>
              <a:buNone/>
            </a:pPr>
            <a:r>
              <a:rPr lang="en-US" sz="1100" b="1" dirty="0">
                <a:solidFill>
                  <a:srgbClr val="333344"/>
                </a:solidFill>
                <a:latin typeface="Courier New"/>
                <a:ea typeface="Courier New"/>
                <a:cs typeface="Courier New"/>
                <a:sym typeface="Courier New"/>
              </a:rPr>
              <a:t>   ...downloaded from the registry.</a:t>
            </a:r>
            <a:endParaRPr sz="1000" dirty="0">
              <a:solidFill>
                <a:schemeClr val="dk1"/>
              </a:solidFill>
            </a:endParaRPr>
          </a:p>
          <a:p>
            <a:pPr marL="0" lvl="0" indent="0" algn="l" rtl="0">
              <a:spcBef>
                <a:spcPts val="200"/>
              </a:spcBef>
              <a:spcAft>
                <a:spcPts val="0"/>
              </a:spcAft>
              <a:buClr>
                <a:schemeClr val="dk1"/>
              </a:buClr>
              <a:buFont typeface="Arial"/>
              <a:buNone/>
            </a:pPr>
            <a:endParaRPr sz="1100" b="1" dirty="0">
              <a:solidFill>
                <a:srgbClr val="333344"/>
              </a:solidFill>
              <a:latin typeface="Courier New"/>
              <a:ea typeface="Courier New"/>
              <a:cs typeface="Courier New"/>
              <a:sym typeface="Courier New"/>
            </a:endParaRPr>
          </a:p>
          <a:p>
            <a:pPr marL="0" lvl="0" indent="0" algn="l" rtl="0">
              <a:spcBef>
                <a:spcPts val="200"/>
              </a:spcBef>
              <a:spcAft>
                <a:spcPts val="0"/>
              </a:spcAft>
              <a:buClr>
                <a:schemeClr val="dk1"/>
              </a:buClr>
              <a:buFont typeface="Arial"/>
              <a:buNone/>
            </a:pPr>
            <a:r>
              <a:rPr lang="en-US" sz="1100" b="1" dirty="0">
                <a:solidFill>
                  <a:srgbClr val="333344"/>
                </a:solidFill>
                <a:latin typeface="Courier New"/>
                <a:ea typeface="Courier New"/>
                <a:cs typeface="Courier New"/>
                <a:sym typeface="Courier New"/>
              </a:rPr>
              <a:t>$ docker run -p 80:8000 -e DATABASE_URL=... </a:t>
            </a:r>
            <a:r>
              <a:rPr lang="en-US" sz="1100" b="1" dirty="0" err="1">
                <a:solidFill>
                  <a:srgbClr val="333344"/>
                </a:solidFill>
                <a:latin typeface="Courier New"/>
                <a:ea typeface="Courier New"/>
                <a:cs typeface="Courier New"/>
                <a:sym typeface="Courier New"/>
              </a:rPr>
              <a:t>ghcr.io</a:t>
            </a:r>
            <a:r>
              <a:rPr lang="en-US" sz="1100" b="1" dirty="0">
                <a:solidFill>
                  <a:srgbClr val="333344"/>
                </a:solidFill>
                <a:latin typeface="Courier New"/>
                <a:ea typeface="Courier New"/>
                <a:cs typeface="Courier New"/>
                <a:sym typeface="Courier New"/>
              </a:rPr>
              <a:t>/you/</a:t>
            </a:r>
            <a:r>
              <a:rPr lang="en-US" sz="1100" b="1" dirty="0" err="1">
                <a:solidFill>
                  <a:srgbClr val="333344"/>
                </a:solidFill>
                <a:latin typeface="Courier New"/>
                <a:ea typeface="Courier New"/>
                <a:cs typeface="Courier New"/>
                <a:sym typeface="Courier New"/>
              </a:rPr>
              <a:t>chat-app:latest</a:t>
            </a:r>
            <a:endParaRPr sz="1000" dirty="0">
              <a:solidFill>
                <a:schemeClr val="dk1"/>
              </a:solidFill>
            </a:endParaRPr>
          </a:p>
          <a:p>
            <a:pPr marL="0" lvl="0" indent="0" algn="l" rtl="0">
              <a:spcBef>
                <a:spcPts val="200"/>
              </a:spcBef>
              <a:spcAft>
                <a:spcPts val="0"/>
              </a:spcAft>
              <a:buClr>
                <a:schemeClr val="dk1"/>
              </a:buClr>
              <a:buFont typeface="Arial"/>
              <a:buNone/>
            </a:pPr>
            <a:r>
              <a:rPr lang="en-US" sz="1100" b="1" dirty="0">
                <a:solidFill>
                  <a:srgbClr val="333344"/>
                </a:solidFill>
                <a:latin typeface="Courier New"/>
                <a:ea typeface="Courier New"/>
                <a:cs typeface="Courier New"/>
                <a:sym typeface="Courier New"/>
              </a:rPr>
              <a:t>   INFO:  </a:t>
            </a:r>
            <a:r>
              <a:rPr lang="en-US" sz="1100" b="1" dirty="0" err="1">
                <a:solidFill>
                  <a:srgbClr val="333344"/>
                </a:solidFill>
                <a:latin typeface="Courier New"/>
                <a:ea typeface="Courier New"/>
                <a:cs typeface="Courier New"/>
                <a:sym typeface="Courier New"/>
              </a:rPr>
              <a:t>Uvicorn</a:t>
            </a:r>
            <a:r>
              <a:rPr lang="en-US" sz="1100" b="1" dirty="0">
                <a:solidFill>
                  <a:srgbClr val="333344"/>
                </a:solidFill>
                <a:latin typeface="Courier New"/>
                <a:ea typeface="Courier New"/>
                <a:cs typeface="Courier New"/>
                <a:sym typeface="Courier New"/>
              </a:rPr>
              <a:t> running.</a:t>
            </a:r>
            <a:endParaRPr sz="1000" dirty="0"/>
          </a:p>
        </p:txBody>
      </p:sp>
      <p:sp>
        <p:nvSpPr>
          <p:cNvPr id="403" name="Google Shape;403;g3e346b600eb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3e346b600eb_1_8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9" name="Google Shape;409;g3e346b600eb_1_8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 on someone, don't reveal. It's (c). Walk the room to it: COPY . . copies the entire build context, and if a student followed 7.2 they've got a .env sitting right there in the project root with a real database URL and a JWT secret in it. That file goes straight into an image layer, and image layers aren't private - anyone who docker pulls the image, or just pokes at it with docker history, can read it back out. (a) is the tempting wrong answer because people assume Docker is clever about this and it just isn't, COPY copies exactly what you told it to. And the bug is quiet, the image still runs fine, the secret is just along for the ride. The fix is next and it ties straight back to the env var work from 7.2.</a:t>
            </a:r>
            <a:endParaRPr dirty="0"/>
          </a:p>
        </p:txBody>
      </p:sp>
      <p:sp>
        <p:nvSpPr>
          <p:cNvPr id="410" name="Google Shape;410;g3e346b600eb_1_8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3e346b600eb_1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8" name="Google Shape;418;g3e346b600eb_1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2400" dirty="0">
                <a:solidFill>
                  <a:srgbClr val="333344"/>
                </a:solidFill>
                <a:latin typeface="Calibri"/>
                <a:ea typeface="Calibri"/>
                <a:cs typeface="Calibri"/>
                <a:sym typeface="Calibri"/>
              </a:rPr>
              <a:t>The answer is </a:t>
            </a:r>
            <a:r>
              <a:rPr lang="en-US" sz="2400" b="1" dirty="0">
                <a:solidFill>
                  <a:srgbClr val="333344"/>
                </a:solidFill>
                <a:latin typeface="Calibri"/>
                <a:ea typeface="Calibri"/>
                <a:cs typeface="Calibri"/>
                <a:sym typeface="Calibri"/>
              </a:rPr>
              <a:t>(c)</a:t>
            </a:r>
            <a:r>
              <a:rPr lang="en-US" sz="2400" dirty="0">
                <a:solidFill>
                  <a:srgbClr val="333344"/>
                </a:solidFill>
                <a:latin typeface="Calibri"/>
                <a:ea typeface="Calibri"/>
                <a:cs typeface="Calibri"/>
                <a:sym typeface="Calibri"/>
              </a:rPr>
              <a:t>. `COPY . .` copies everything in the folder,</a:t>
            </a:r>
            <a:endParaRPr dirty="0"/>
          </a:p>
        </p:txBody>
      </p:sp>
      <p:sp>
        <p:nvSpPr>
          <p:cNvPr id="419" name="Google Shape;419;g3e346b600eb_1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3e346b600eb_1_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7" name="Google Shape;427;g3e346b600eb_1_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Two halves to the fix and they should take both. Build time: a .dockerignore, which works exactly like .gitignore - a list of paths COPY . . will skip - so .env never gets into the image in the first place, and it's worth saying out loud that .git and __pycache__ belong in there too, mostly for size. Run time: the image carries zero secrets, and the actual values get handed to the container when it starts, either with -e on docker run, or --env-file, or on Railway straight from the dashboard variables they already set up back in 7.2. The reassuring part is that their app code doesn't change at all, it still reads os.environ exactly the same way, all that moved is where the values come from. Then close on the line from earlier: one image, identical everywhere, config is the thing that varies.</a:t>
            </a:r>
            <a:r>
              <a:rPr lang="en-US" dirty="0" err="1"/>
              <a:t/>
            </a:r>
            <a:r>
              <a:rPr lang="en-US" dirty="0"/>
              <a:t/>
            </a:r>
            <a:r>
              <a:rPr lang="en-US" dirty="0" err="1"/>
              <a:t/>
            </a:r>
            <a:r>
              <a:rPr lang="en-US" dirty="0"/>
              <a:t/>
            </a:r>
            <a:r>
              <a:rPr lang="en-US" dirty="0" err="1"/>
              <a:t/>
            </a:r>
            <a:r>
              <a:rPr lang="en-US" dirty="0"/>
              <a:t/>
            </a:r>
            <a:r>
              <a:rPr lang="en-US" dirty="0" err="1"/>
              <a:t/>
            </a:r>
            <a:r>
              <a:rPr lang="en-US" dirty="0"/>
              <a:t/>
            </a:r>
            <a:endParaRPr dirty="0"/>
          </a:p>
        </p:txBody>
      </p:sp>
      <p:sp>
        <p:nvSpPr>
          <p:cNvPr id="428" name="Google Shape;428;g3e346b600eb_1_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g3e346b600eb_1_9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4" name="Google Shape;434;g3e346b600eb_1_9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Two halves to the fix and they should take both. Build time: a .dockerignore, which works exactly like .gitignore - a list of paths COPY . . will skip - so .env never gets into the image in the first place, and it's worth saying out loud that .git and __pycache__ belong in there too, mostly for size. Run time: the image carries zero secrets, and the actual values get handed to the container when it starts, either with -e on docker run, or --env-file, or on Railway straight from the dashboard variables they already set up back in 7.2. The reassuring part is that their app code doesn't change at all, it still reads os.environ exactly the same way, all that moved is where the values come from. Then close on the line from earlier: one image, identical everywhere, config is the thing that varies.</a:t>
            </a:r>
            <a:r>
              <a:rPr lang="en-US" dirty="0" err="1"/>
              <a:t/>
            </a:r>
            <a:r>
              <a:rPr lang="en-US" dirty="0"/>
              <a:t/>
            </a:r>
            <a:r>
              <a:rPr lang="en-US" dirty="0" err="1"/>
              <a:t/>
            </a:r>
            <a:r>
              <a:rPr lang="en-US" dirty="0"/>
              <a:t/>
            </a:r>
            <a:r>
              <a:rPr lang="en-US" dirty="0" err="1"/>
              <a:t/>
            </a:r>
            <a:r>
              <a:rPr lang="en-US" dirty="0"/>
              <a:t/>
            </a:r>
            <a:r>
              <a:rPr lang="en-US" dirty="0" err="1"/>
              <a:t/>
            </a:r>
            <a:r>
              <a:rPr lang="en-US" dirty="0"/>
              <a:t/>
            </a:r>
            <a:endParaRPr dirty="0"/>
          </a:p>
        </p:txBody>
      </p:sp>
      <p:sp>
        <p:nvSpPr>
          <p:cNvPr id="435" name="Google Shape;435;g3e346b600eb_1_9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1" name="Google Shape;441;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What they just built is the actual unit the rest of the stack runs on, and that's worth saying plainly.</a:t>
            </a:r>
            <a:endParaRPr dirty="0"/>
          </a:p>
        </p:txBody>
      </p:sp>
      <p:sp>
        <p:nvSpPr>
          <p:cNvPr id="442" name="Google Shape;442;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7" name="Google Shape;447;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Slow down and let this land. The container they built today is the literal unit the rest of the stack is made out of. CI callback is deliberate - 8.2 is next class and the Ubuntu runner they'll be using is itself a container, so today quietly sets that up. Kubernetes gets a namedrop and nothing more, don't teach it, just plant the idea that the thing it orchestrates is the thing they now understand. Close plainly: all of these systems are built out of the one unit they just built themselves.</a:t>
            </a:r>
            <a:endParaRPr dirty="0"/>
          </a:p>
        </p:txBody>
      </p:sp>
      <p:sp>
        <p:nvSpPr>
          <p:cNvPr id="448" name="Google Shape;448;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p2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4" name="Google Shape;454;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drop-in thing is what to hammer home - they don't switch tools or redo anything, they add one file to the Railway project they already have and suddenly they control the environment. Everything from 7.2 still holds, there's just a Dockerfile sitting on top of it now.</a:t>
            </a:r>
            <a:r>
              <a:rPr lang="en-US" dirty="0" err="1"/>
              <a:t/>
            </a:r>
            <a:r>
              <a:rPr lang="en-US" dirty="0"/>
              <a:t/>
            </a:r>
            <a:r>
              <a:rPr lang="en-US" dirty="0" err="1"/>
              <a:t/>
            </a:r>
            <a:r>
              <a:rPr lang="en-US" dirty="0"/>
              <a:t/>
            </a:r>
            <a:endParaRPr dirty="0"/>
          </a:p>
        </p:txBody>
      </p:sp>
      <p:sp>
        <p:nvSpPr>
          <p:cNvPr id="455" name="Google Shape;455;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p2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1" name="Google Shape;461;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Honest judgment-call slide, and don't let them walk out reaching for Docker reflexively - the auto-builder is good and most small projects don't need this much control. What today was actually worth is understanding what every deploy is shipping, which is a different thing from having an escape hatch you might use someday. The four bullets are real triggers worth knowing by name, and the same-image-everywhere one matters more the bigger the project gets, because it's what makes a green CI check worth anything.</a:t>
            </a:r>
            <a:endParaRPr dirty="0"/>
          </a:p>
        </p:txBody>
      </p:sp>
      <p:sp>
        <p:nvSpPr>
          <p:cNvPr id="462" name="Google Shape;462;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8" name="Google Shape;468;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FROM python:3.12-slim</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WORKDIR /app</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 Install Python deps first (slow-changing)</a:t>
            </a:r>
            <a:endParaRPr dirty="0"/>
          </a:p>
          <a:p>
            <a:pPr marL="0" lvl="0" indent="0" algn="l" rtl="0">
              <a:spcBef>
                <a:spcPts val="0"/>
              </a:spcBef>
              <a:spcAft>
                <a:spcPts val="0"/>
              </a:spcAft>
              <a:buNone/>
            </a:pPr>
            <a:r>
              <a:rPr lang="en-US" dirty="0"/>
              <a:t>COPY </a:t>
            </a:r>
            <a:r>
              <a:rPr lang="en-US" dirty="0" err="1"/>
              <a:t>requirements.txt</a:t>
            </a:r>
            <a:r>
              <a:rPr lang="en-US" dirty="0"/>
              <a:t> .</a:t>
            </a:r>
            <a:endParaRPr dirty="0"/>
          </a:p>
          <a:p>
            <a:pPr marL="0" lvl="0" indent="0" algn="l" rtl="0">
              <a:spcBef>
                <a:spcPts val="0"/>
              </a:spcBef>
              <a:spcAft>
                <a:spcPts val="0"/>
              </a:spcAft>
              <a:buNone/>
            </a:pPr>
            <a:r>
              <a:rPr lang="en-US" dirty="0"/>
              <a:t>RUN pip install --no-cache-</a:t>
            </a:r>
            <a:r>
              <a:rPr lang="en-US" dirty="0" err="1"/>
              <a:t>dir</a:t>
            </a:r>
            <a:r>
              <a:rPr lang="en-US" dirty="0"/>
              <a:t> -r </a:t>
            </a:r>
            <a:r>
              <a:rPr lang="en-US" dirty="0" err="1"/>
              <a:t>requirements.txt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 Now copy the rest of the code (fast-changing)</a:t>
            </a:r>
            <a:endParaRPr dirty="0"/>
          </a:p>
          <a:p>
            <a:pPr marL="0" lvl="0" indent="0" algn="l" rtl="0">
              <a:spcBef>
                <a:spcPts val="0"/>
              </a:spcBef>
              <a:spcAft>
                <a:spcPts val="0"/>
              </a:spcAft>
              <a:buNone/>
            </a:pPr>
            <a:r>
              <a:rPr lang="en-US" dirty="0"/>
              <a:t>COPY . .</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 Start the server</a:t>
            </a:r>
            <a:endParaRPr dirty="0"/>
          </a:p>
          <a:p>
            <a:pPr marL="0" lvl="0" indent="0" algn="l" rtl="0">
              <a:spcBef>
                <a:spcPts val="0"/>
              </a:spcBef>
              <a:spcAft>
                <a:spcPts val="0"/>
              </a:spcAft>
              <a:buNone/>
            </a:pPr>
            <a:r>
              <a:rPr lang="en-US" dirty="0"/>
              <a:t>CMD ["</a:t>
            </a:r>
            <a:r>
              <a:rPr lang="en-US" dirty="0" err="1"/>
              <a:t>uvicorn</a:t>
            </a:r>
            <a:r>
              <a:rPr lang="en-US" dirty="0"/>
              <a:t>", "</a:t>
            </a:r>
            <a:r>
              <a:rPr lang="en-US" dirty="0" err="1"/>
              <a:t>app:app</a:t>
            </a:r>
            <a:r>
              <a:rPr lang="en-US" dirty="0"/>
              <a:t>", "--host", "0.0.0.0", "--port", "8000"]</a:t>
            </a:r>
            <a:endParaRPr dirty="0"/>
          </a:p>
          <a:p>
            <a:pPr marL="0" lvl="0" indent="0" algn="l" rtl="0">
              <a:spcBef>
                <a:spcPts val="0"/>
              </a:spcBef>
              <a:spcAft>
                <a:spcPts val="0"/>
              </a:spcAft>
              <a:buNone/>
            </a:pPr>
            <a:endParaRPr dirty="0"/>
          </a:p>
        </p:txBody>
      </p:sp>
      <p:sp>
        <p:nvSpPr>
          <p:cNvPr id="469" name="Google Shape;469;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p2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7" name="Google Shape;477;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Walk each answer. --no-cache-dir is a small win - pip caches downloads in ~/.cache/pip by default and those cached files get baked into the image for no reason at all, so the flag just skips it. The 0.0.0.0 bind instead of 127.0.0.1 is CRITICAL though, and it's the same bug as the spot-the-bug slide: 127.0.0.1 binds to loopback, which from inside the container means nothing outside can reach it. 0.0.0.0 binds to all interfaces, which is what you want.</a:t>
            </a:r>
            <a:endParaRPr/>
          </a:p>
        </p:txBody>
      </p:sp>
      <p:sp>
        <p:nvSpPr>
          <p:cNvPr id="478" name="Google Shape;478;p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p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6" name="Google Shape;486;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Recap the three mechanical ideas, then the wider one: the container they built today is what CI runners and cloud platforms are made of. Point at 8.2, which closes a loop two ways - the tests they wrote back in 4.x finally run automatically on every push, and the machine those tests run on is a container, the exact thing this lecture was about. Worth saying out loud, because it makes 8.1 and 8.2 land as one arc instead of two lectures.</a:t>
            </a:r>
            <a:endParaRPr dirty="0"/>
          </a:p>
        </p:txBody>
      </p:sp>
      <p:sp>
        <p:nvSpPr>
          <p:cNvPr id="487" name="Google Shape;487;p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4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40"/>
          <p:cNvSpPr>
            <a:spLocks noGrp="1"/>
          </p:cNvSpPr>
          <p:nvPr>
            <p:ph type="pic" idx="2"/>
          </p:nvPr>
        </p:nvSpPr>
        <p:spPr>
          <a:xfrm>
            <a:off x="1792288" y="612775"/>
            <a:ext cx="5486400" cy="4114800"/>
          </a:xfrm>
          <a:prstGeom prst="rect">
            <a:avLst/>
          </a:prstGeom>
          <a:noFill/>
          <a:ln>
            <a:noFill/>
          </a:ln>
        </p:spPr>
      </p:sp>
      <p:sp>
        <p:nvSpPr>
          <p:cNvPr id="64" name="Google Shape;64;p4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4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4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4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4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4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3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8.1</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Docker</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g3e32708a311_0_9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What that looks like in code</a:t>
            </a:r>
            <a:endParaRPr/>
          </a:p>
        </p:txBody>
      </p:sp>
      <p:sp>
        <p:nvSpPr>
          <p:cNvPr id="95" name="Google Shape;95;g3e32708a311_0_92"/>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96" name="Google Shape;96;g3e32708a311_0_9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7" name="Google Shape;97;g3e32708a311_0_92"/>
          <p:cNvSpPr txBox="1"/>
          <p:nvPr/>
        </p:nvSpPr>
        <p:spPr>
          <a:xfrm>
            <a:off x="1005840" y="1645920"/>
            <a:ext cx="10179900" cy="388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app.py  - FastAPI serves both the API and the built frontend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fastapi import FastAPI</a:t>
            </a:r>
            <a:endParaRPr/>
          </a:p>
          <a:p>
            <a:pPr marL="0" marR="0" lvl="0" indent="0" algn="l" rtl="0">
              <a:spcBef>
                <a:spcPts val="200"/>
              </a:spcBef>
              <a:spcAft>
                <a:spcPts val="0"/>
              </a:spcAft>
              <a:buNone/>
            </a:pP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 = FastAPI()</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API routes come FIRST, so they match before the static handler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@app.get("/api/messages")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list_messages():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@app.post("/api/messages")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create_message(body: MessageCreate):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2"/>
        <p:cNvGrpSpPr/>
        <p:nvPr/>
      </p:nvGrpSpPr>
      <p:grpSpPr>
        <a:xfrm>
          <a:off x="0" y="0"/>
          <a:ext cx="0" cy="0"/>
          <a:chOff x="0" y="0"/>
          <a:chExt cx="0" cy="0"/>
        </a:xfrm>
      </p:grpSpPr>
      <p:sp>
        <p:nvSpPr>
          <p:cNvPr id="103" name="Google Shape;103;g3e32708a311_0_10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What that looks like in code</a:t>
            </a:r>
            <a:endParaRPr/>
          </a:p>
        </p:txBody>
      </p:sp>
      <p:sp>
        <p:nvSpPr>
          <p:cNvPr id="104" name="Google Shape;104;g3e32708a311_0_10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105" name="Google Shape;105;g3e32708a311_0_10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6" name="Google Shape;106;g3e32708a311_0_100"/>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app.py  - FastAPI serves both the API and the built frontend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fastapi import FastAPI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fastapi.staticfiles import StaticFiles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 = FastAPI()</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API routes come FIRST, so they match before the static handler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@app.get("/api/messages")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list_messages():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@app.post("/api/messages")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create_message(body: MessageCreate):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Everything else: serve the React build.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html=True makes / return index.html (React Router works).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app.mount("/", StaticFiles(directory="frontend/dist", html=True))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1"/>
        <p:cNvGrpSpPr/>
        <p:nvPr/>
      </p:nvGrpSpPr>
      <p:grpSpPr>
        <a:xfrm>
          <a:off x="0" y="0"/>
          <a:ext cx="0" cy="0"/>
          <a:chOff x="0" y="0"/>
          <a:chExt cx="0" cy="0"/>
        </a:xfrm>
      </p:grpSpPr>
      <p:sp>
        <p:nvSpPr>
          <p:cNvPr id="112" name="Google Shape;112;g3e32708a311_0_18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.env locally, dashboard in production</a:t>
            </a:r>
            <a:endParaRPr/>
          </a:p>
        </p:txBody>
      </p:sp>
      <p:sp>
        <p:nvSpPr>
          <p:cNvPr id="113" name="Google Shape;113;g3e32708a311_0_18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 / python</a:t>
            </a:r>
            <a:endParaRPr/>
          </a:p>
        </p:txBody>
      </p:sp>
      <p:sp>
        <p:nvSpPr>
          <p:cNvPr id="114" name="Google Shape;114;g3e32708a311_0_18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5" name="Google Shape;115;g3e32708a311_0_183"/>
          <p:cNvSpPr txBox="1"/>
          <p:nvPr/>
        </p:nvSpPr>
        <p:spPr>
          <a:xfrm>
            <a:off x="1005840" y="1645920"/>
            <a:ext cx="10179900" cy="389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.env  (LOCAL ONLY, gitignored, never committed)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DATABASE_URL=postgresql://postgres:pw@db.supabase.co:5432/postgres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SECRET_KEY=dev-do-not-use-in-production</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
        <p:cNvGrpSpPr/>
        <p:nvPr/>
      </p:nvGrpSpPr>
      <p:grpSpPr>
        <a:xfrm>
          <a:off x="0" y="0"/>
          <a:ext cx="0" cy="0"/>
          <a:chOff x="0" y="0"/>
          <a:chExt cx="0" cy="0"/>
        </a:xfrm>
      </p:grpSpPr>
      <p:sp>
        <p:nvSpPr>
          <p:cNvPr id="121" name="Google Shape;121;g3e32708a311_0_19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.env locally, dashboard in production</a:t>
            </a:r>
            <a:endParaRPr/>
          </a:p>
        </p:txBody>
      </p:sp>
      <p:sp>
        <p:nvSpPr>
          <p:cNvPr id="122" name="Google Shape;122;g3e32708a311_0_191"/>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 / python</a:t>
            </a:r>
            <a:endParaRPr/>
          </a:p>
        </p:txBody>
      </p:sp>
      <p:sp>
        <p:nvSpPr>
          <p:cNvPr id="123" name="Google Shape;123;g3e32708a311_0_19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4" name="Google Shape;124;g3e32708a311_0_191"/>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.env  (LOCAL ONLY, gitignored, never committed)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DATABASE_URL=postgresql://postgres:pw@db.supabase.co:5432/postgres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SECRET_KEY=dev-do-not-use-in-production</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.gitignore  - make sure this is there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.env</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9"/>
        <p:cNvGrpSpPr/>
        <p:nvPr/>
      </p:nvGrpSpPr>
      <p:grpSpPr>
        <a:xfrm>
          <a:off x="0" y="0"/>
          <a:ext cx="0" cy="0"/>
          <a:chOff x="0" y="0"/>
          <a:chExt cx="0" cy="0"/>
        </a:xfrm>
      </p:grpSpPr>
      <p:sp>
        <p:nvSpPr>
          <p:cNvPr id="130" name="Google Shape;130;g3e32708a311_0_19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.env locally, dashboard in production</a:t>
            </a:r>
            <a:endParaRPr/>
          </a:p>
        </p:txBody>
      </p:sp>
      <p:sp>
        <p:nvSpPr>
          <p:cNvPr id="131" name="Google Shape;131;g3e32708a311_0_199"/>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 / python</a:t>
            </a:r>
            <a:endParaRPr/>
          </a:p>
        </p:txBody>
      </p:sp>
      <p:sp>
        <p:nvSpPr>
          <p:cNvPr id="132" name="Google Shape;132;g3e32708a311_0_19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3" name="Google Shape;133;g3e32708a311_0_199"/>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.env  (LOCAL ONLY, gitignored, never committed)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DATABASE_URL=postgresql://postgres:pw@db.supabase.co:5432/postgres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SECRET_KEY=dev-do-not-use-in-production</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app.py  - read env vars the same way in dev and prod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import os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dotenv import load_dotenv</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load_dotenv()   # loads .env if present, no-op in production</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DATABASE_URL = os.environ["DATABASE_URL"]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SECRET_KEY   = os.environ["SECRET_KEY"]</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.gitignore  - make sure this is there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.env</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38"/>
        <p:cNvGrpSpPr/>
        <p:nvPr/>
      </p:nvGrpSpPr>
      <p:grpSpPr>
        <a:xfrm>
          <a:off x="0" y="0"/>
          <a:ext cx="0" cy="0"/>
          <a:chOff x="0" y="0"/>
          <a:chExt cx="0" cy="0"/>
        </a:xfrm>
      </p:grpSpPr>
      <p:sp>
        <p:nvSpPr>
          <p:cNvPr id="139" name="Google Shape;139;p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It Works on My Machine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1">
          <a:extLst>
            <a:ext uri="{FF2B5EF4-FFF2-40B4-BE49-F238E27FC236}">
              <a16:creationId xmlns:a16="http://schemas.microsoft.com/office/drawing/2014/main" id="{4B937AE8-D33E-6BE5-BFC6-63C5B265C806}"/>
            </a:ext>
          </a:extLst>
        </p:cNvPr>
        <p:cNvGrpSpPr/>
        <p:nvPr/>
      </p:nvGrpSpPr>
      <p:grpSpPr>
        <a:xfrm>
          <a:off x="0" y="0"/>
          <a:ext cx="0" cy="0"/>
          <a:chOff x="0" y="0"/>
          <a:chExt cx="0" cy="0"/>
        </a:xfrm>
      </p:grpSpPr>
      <p:sp>
        <p:nvSpPr>
          <p:cNvPr id="152" name="Google Shape;152;p3">
            <a:extLst>
              <a:ext uri="{FF2B5EF4-FFF2-40B4-BE49-F238E27FC236}">
                <a16:creationId xmlns:a16="http://schemas.microsoft.com/office/drawing/2014/main" id="{CF59857A-E082-F6BC-873C-1BCB8351943D}"/>
              </a:ext>
            </a:extLst>
          </p:cNvPr>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Railway already deploys you. So why this class?</a:t>
            </a:r>
            <a:endParaRPr/>
          </a:p>
        </p:txBody>
      </p:sp>
      <p:sp>
        <p:nvSpPr>
          <p:cNvPr id="153" name="Google Shape;153;p3">
            <a:extLst>
              <a:ext uri="{FF2B5EF4-FFF2-40B4-BE49-F238E27FC236}">
                <a16:creationId xmlns:a16="http://schemas.microsoft.com/office/drawing/2014/main" id="{F59ECE07-C5F6-6A54-C412-DDAA68A0C2D5}"/>
              </a:ext>
            </a:extLst>
          </p:cNvPr>
          <p:cNvSpPr txBox="1"/>
          <p:nvPr/>
        </p:nvSpPr>
        <p:spPr>
          <a:xfrm>
            <a:off x="914400" y="1463050"/>
            <a:ext cx="10479600" cy="295461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Last class you shipped a </a:t>
            </a:r>
            <a:r>
              <a:rPr lang="en-US" sz="2400" b="0" i="0" u="none" strike="noStrike" cap="none" dirty="0" err="1">
                <a:solidFill>
                  <a:srgbClr val="333344"/>
                </a:solidFill>
                <a:latin typeface="Calibri"/>
                <a:ea typeface="Calibri"/>
                <a:cs typeface="Calibri"/>
                <a:sym typeface="Calibri"/>
              </a:rPr>
              <a:t>FastAPI</a:t>
            </a:r>
            <a:r>
              <a:rPr lang="en-US" sz="2400" b="0" i="0" u="none" strike="noStrike" cap="none" dirty="0">
                <a:solidFill>
                  <a:srgbClr val="333344"/>
                </a:solidFill>
                <a:latin typeface="Calibri"/>
                <a:ea typeface="Calibri"/>
                <a:cs typeface="Calibri"/>
                <a:sym typeface="Calibri"/>
              </a:rPr>
              <a:t> app to Railway. </a:t>
            </a:r>
            <a:r>
              <a:rPr lang="en-US" sz="2400" b="1" i="0" u="none" strike="noStrike" cap="none" dirty="0">
                <a:solidFill>
                  <a:srgbClr val="333344"/>
                </a:solidFill>
                <a:latin typeface="Courier Prime"/>
                <a:ea typeface="Courier Prime"/>
                <a:cs typeface="Courier Prime"/>
                <a:sym typeface="Courier Prime"/>
              </a:rPr>
              <a:t>git push</a:t>
            </a:r>
            <a:r>
              <a:rPr lang="en-US" sz="2400" b="0" i="0" u="none" strike="noStrike" cap="none" dirty="0">
                <a:solidFill>
                  <a:srgbClr val="333344"/>
                </a:solidFill>
                <a:latin typeface="Calibri"/>
                <a:ea typeface="Calibri"/>
                <a:cs typeface="Calibri"/>
                <a:sym typeface="Calibri"/>
              </a:rPr>
              <a:t>, live </a:t>
            </a:r>
            <a:r>
              <a:rPr lang="en-US" sz="2400" b="0" i="0" u="none" strike="noStrike" cap="none" dirty="0" err="1">
                <a:solidFill>
                  <a:srgbClr val="333344"/>
                </a:solidFill>
                <a:latin typeface="Calibri"/>
                <a:ea typeface="Calibri"/>
                <a:cs typeface="Calibri"/>
                <a:sym typeface="Calibri"/>
              </a:rPr>
              <a:t>url</a:t>
            </a:r>
            <a:r>
              <a:rPr lang="en-US" sz="2400" b="0" i="0" u="none" strike="noStrike" cap="none" dirty="0">
                <a:solidFill>
                  <a:srgbClr val="333344"/>
                </a:solidFill>
                <a:latin typeface="Calibri"/>
                <a:ea typeface="Calibri"/>
                <a:cs typeface="Calibri"/>
                <a:sym typeface="Calibri"/>
              </a:rPr>
              <a: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For your final project, that's probably all the</a:t>
            </a:r>
            <a:r>
              <a:rPr lang="en-US" dirty="0"/>
              <a:t> </a:t>
            </a:r>
            <a:r>
              <a:rPr lang="en-US" sz="2000" b="0" i="0" u="none" strike="noStrike" cap="none" dirty="0">
                <a:solidFill>
                  <a:srgbClr val="666677"/>
                </a:solidFill>
                <a:latin typeface="Calibri"/>
                <a:ea typeface="Calibri"/>
                <a:cs typeface="Calibri"/>
                <a:sym typeface="Calibri"/>
              </a:rPr>
              <a:t>deploy machinery you need.</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So why spend a whole class on Docker?</a:t>
            </a:r>
            <a:endParaRPr dirty="0"/>
          </a:p>
          <a:p>
            <a:pPr marL="0" marR="0" lvl="0" indent="0" algn="l" rtl="0">
              <a:spcBef>
                <a:spcPts val="600"/>
              </a:spcBef>
              <a:spcAft>
                <a:spcPts val="0"/>
              </a:spcAft>
              <a:buNone/>
            </a:pPr>
            <a:endParaRPr lang="en-US" sz="2400" b="0" i="0" u="none" strike="noStrike" cap="none" dirty="0">
              <a:solidFill>
                <a:srgbClr val="333344"/>
              </a:solidFill>
              <a:latin typeface="Calibri"/>
              <a:ea typeface="Calibri"/>
              <a:cs typeface="Calibri"/>
              <a:sym typeface="Calibri"/>
            </a:endParaRPr>
          </a:p>
          <a:p>
            <a:pPr>
              <a:spcBef>
                <a:spcPts val="600"/>
              </a:spcBef>
            </a:pPr>
            <a:r>
              <a:rPr lang="en-US" sz="2400" dirty="0">
                <a:solidFill>
                  <a:srgbClr val="333344"/>
                </a:solidFill>
                <a:latin typeface="Calibri"/>
                <a:ea typeface="Calibri"/>
                <a:cs typeface="Calibri"/>
                <a:sym typeface="Calibri"/>
              </a:rPr>
              <a:t>Theme of this course is peeking under the hood, and Docker is under all the hoods.</a:t>
            </a:r>
            <a:endParaRPr lang="en-US" sz="2400"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p:txBody>
      </p:sp>
    </p:spTree>
    <p:extLst>
      <p:ext uri="{BB962C8B-B14F-4D97-AF65-F5344CB8AC3E}">
        <p14:creationId xmlns:p14="http://schemas.microsoft.com/office/powerpoint/2010/main" val="4607633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1"/>
        <p:cNvGrpSpPr/>
        <p:nvPr/>
      </p:nvGrpSpPr>
      <p:grpSpPr>
        <a:xfrm>
          <a:off x="0" y="0"/>
          <a:ext cx="0" cy="0"/>
          <a:chOff x="0" y="0"/>
          <a:chExt cx="0" cy="0"/>
        </a:xfrm>
      </p:grpSpPr>
      <p:sp>
        <p:nvSpPr>
          <p:cNvPr id="152" name="Google Shape;152;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Railway already deploys you. So why this class?</a:t>
            </a:r>
            <a:endParaRPr/>
          </a:p>
        </p:txBody>
      </p:sp>
      <p:sp>
        <p:nvSpPr>
          <p:cNvPr id="153" name="Google Shape;153;p3"/>
          <p:cNvSpPr txBox="1"/>
          <p:nvPr/>
        </p:nvSpPr>
        <p:spPr>
          <a:xfrm>
            <a:off x="914400" y="1463050"/>
            <a:ext cx="10479600" cy="5001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Last class you shipped a </a:t>
            </a:r>
            <a:r>
              <a:rPr lang="en-US" sz="2400" b="0" i="0" u="none" strike="noStrike" cap="none" dirty="0" err="1">
                <a:solidFill>
                  <a:srgbClr val="333344"/>
                </a:solidFill>
                <a:latin typeface="Calibri"/>
                <a:ea typeface="Calibri"/>
                <a:cs typeface="Calibri"/>
                <a:sym typeface="Calibri"/>
              </a:rPr>
              <a:t>FastAPI</a:t>
            </a:r>
            <a:r>
              <a:rPr lang="en-US" sz="2400" b="0" i="0" u="none" strike="noStrike" cap="none" dirty="0">
                <a:solidFill>
                  <a:srgbClr val="333344"/>
                </a:solidFill>
                <a:latin typeface="Calibri"/>
                <a:ea typeface="Calibri"/>
                <a:cs typeface="Calibri"/>
                <a:sym typeface="Calibri"/>
              </a:rPr>
              <a:t> app to Railway. </a:t>
            </a:r>
            <a:r>
              <a:rPr lang="en-US" sz="2400" b="1" i="0" u="none" strike="noStrike" cap="none" dirty="0">
                <a:solidFill>
                  <a:srgbClr val="333344"/>
                </a:solidFill>
                <a:latin typeface="Courier Prime"/>
                <a:ea typeface="Courier Prime"/>
                <a:cs typeface="Courier Prime"/>
                <a:sym typeface="Courier Prime"/>
              </a:rPr>
              <a:t>git push</a:t>
            </a:r>
            <a:r>
              <a:rPr lang="en-US" sz="2400" b="0" i="0" u="none" strike="noStrike" cap="none" dirty="0">
                <a:solidFill>
                  <a:srgbClr val="333344"/>
                </a:solidFill>
                <a:latin typeface="Calibri"/>
                <a:ea typeface="Calibri"/>
                <a:cs typeface="Calibri"/>
                <a:sym typeface="Calibri"/>
              </a:rPr>
              <a:t>, live </a:t>
            </a:r>
            <a:r>
              <a:rPr lang="en-US" sz="2400" b="0" i="0" u="none" strike="noStrike" cap="none" dirty="0" err="1">
                <a:solidFill>
                  <a:srgbClr val="333344"/>
                </a:solidFill>
                <a:latin typeface="Calibri"/>
                <a:ea typeface="Calibri"/>
                <a:cs typeface="Calibri"/>
                <a:sym typeface="Calibri"/>
              </a:rPr>
              <a:t>url</a:t>
            </a:r>
            <a:r>
              <a:rPr lang="en-US" sz="2400" b="0" i="0" u="none" strike="noStrike" cap="none" dirty="0">
                <a:solidFill>
                  <a:srgbClr val="333344"/>
                </a:solidFill>
                <a:latin typeface="Calibri"/>
                <a:ea typeface="Calibri"/>
                <a:cs typeface="Calibri"/>
                <a:sym typeface="Calibri"/>
              </a:rPr>
              <a: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For your final project, that's probably all the</a:t>
            </a:r>
            <a:r>
              <a:rPr lang="en-US" dirty="0"/>
              <a:t> </a:t>
            </a:r>
            <a:r>
              <a:rPr lang="en-US" sz="2000" b="0" i="0" u="none" strike="noStrike" cap="none" dirty="0">
                <a:solidFill>
                  <a:srgbClr val="666677"/>
                </a:solidFill>
                <a:latin typeface="Calibri"/>
                <a:ea typeface="Calibri"/>
                <a:cs typeface="Calibri"/>
                <a:sym typeface="Calibri"/>
              </a:rPr>
              <a:t>deploy machinery you need.</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So why spend a whole class on Docker?</a:t>
            </a:r>
            <a:endParaRPr dirty="0"/>
          </a:p>
          <a:p>
            <a:pPr marL="0" marR="0" lvl="0" indent="0" algn="l" rtl="0">
              <a:spcBef>
                <a:spcPts val="600"/>
              </a:spcBef>
              <a:spcAft>
                <a:spcPts val="0"/>
              </a:spcAft>
              <a:buNone/>
            </a:pPr>
            <a:endParaRPr lang="en-US" sz="2400" b="0" i="0" u="none" strike="noStrike" cap="none" dirty="0">
              <a:solidFill>
                <a:srgbClr val="333344"/>
              </a:solidFill>
              <a:latin typeface="Calibri"/>
              <a:ea typeface="Calibri"/>
              <a:cs typeface="Calibri"/>
              <a:sym typeface="Calibri"/>
            </a:endParaRPr>
          </a:p>
          <a:p>
            <a:pPr>
              <a:spcBef>
                <a:spcPts val="600"/>
              </a:spcBef>
            </a:pPr>
            <a:r>
              <a:rPr lang="en-US" sz="2400" dirty="0">
                <a:solidFill>
                  <a:srgbClr val="333344"/>
                </a:solidFill>
                <a:latin typeface="Calibri"/>
                <a:ea typeface="Calibri"/>
                <a:cs typeface="Calibri"/>
                <a:sym typeface="Calibri"/>
              </a:rPr>
              <a:t>Theme of this course is peeking under the hood, and Docker is under all the hoods.</a:t>
            </a:r>
            <a:endParaRPr lang="en-US" sz="2400"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dirty="0">
                <a:solidFill>
                  <a:srgbClr val="333344"/>
                </a:solidFill>
                <a:latin typeface="Calibri"/>
                <a:ea typeface="Calibri"/>
                <a:cs typeface="Calibri"/>
                <a:sym typeface="Calibri"/>
              </a:rPr>
              <a:t>C</a:t>
            </a:r>
            <a:r>
              <a:rPr lang="en-US" sz="2400" b="1" i="0" u="none" strike="noStrike" cap="none" dirty="0">
                <a:solidFill>
                  <a:srgbClr val="333344"/>
                </a:solidFill>
                <a:latin typeface="Calibri"/>
                <a:ea typeface="Calibri"/>
                <a:cs typeface="Calibri"/>
                <a:sym typeface="Calibri"/>
              </a:rPr>
              <a:t>ontainers are the unit modern infrastructure ships in.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CI runner that checks your tests next week: a container.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Every cloud platform, Railway included, underneath: containers.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Backend job postings you'll read: "experience with Docker."</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8"/>
        <p:cNvGrpSpPr/>
        <p:nvPr/>
      </p:nvGrpSpPr>
      <p:grpSpPr>
        <a:xfrm>
          <a:off x="0" y="0"/>
          <a:ext cx="0" cy="0"/>
          <a:chOff x="0" y="0"/>
          <a:chExt cx="0" cy="0"/>
        </a:xfrm>
      </p:grpSpPr>
      <p:sp>
        <p:nvSpPr>
          <p:cNvPr id="159" name="Google Shape;159;p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Looking under a hood</a:t>
            </a:r>
            <a:endParaRPr/>
          </a:p>
        </p:txBody>
      </p:sp>
      <p:sp>
        <p:nvSpPr>
          <p:cNvPr id="160" name="Google Shape;160;p4"/>
          <p:cNvSpPr txBox="1"/>
          <p:nvPr/>
        </p:nvSpPr>
        <p:spPr>
          <a:xfrm>
            <a:off x="914400" y="1463040"/>
            <a:ext cx="10362900" cy="358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When Railway built your app, its default builder (</a:t>
            </a:r>
            <a:r>
              <a:rPr lang="en-US" sz="2400" b="1" i="0" u="none" strike="noStrike" cap="none">
                <a:solidFill>
                  <a:srgbClr val="333344"/>
                </a:solidFill>
                <a:latin typeface="Calibri"/>
                <a:ea typeface="Calibri"/>
                <a:cs typeface="Calibri"/>
                <a:sym typeface="Calibri"/>
              </a:rPr>
              <a:t>nixpacks</a:t>
            </a:r>
            <a:r>
              <a:rPr lang="en-US" sz="2400" b="0" i="0" u="none" strike="noStrike" cap="none">
                <a:solidFill>
                  <a:srgbClr val="333344"/>
                </a:solidFill>
                <a:latin typeface="Calibri"/>
                <a:ea typeface="Calibri"/>
                <a:cs typeface="Calibri"/>
                <a:sym typeface="Calibri"/>
              </a:rPr>
              <a:t>):</a:t>
            </a:r>
            <a:endParaRPr/>
          </a:p>
          <a:p>
            <a:pPr marL="914400" marR="0" lvl="0" indent="-355600" algn="l" rtl="0">
              <a:spcBef>
                <a:spcPts val="600"/>
              </a:spcBef>
              <a:spcAft>
                <a:spcPts val="0"/>
              </a:spcAft>
              <a:buClr>
                <a:srgbClr val="666677"/>
              </a:buClr>
              <a:buSzPts val="2000"/>
              <a:buFont typeface="Calibri"/>
              <a:buChar char="●"/>
            </a:pPr>
            <a:r>
              <a:rPr lang="en-US" sz="2000" b="0" i="0" u="none" strike="noStrike" cap="none">
                <a:solidFill>
                  <a:srgbClr val="666677"/>
                </a:solidFill>
                <a:latin typeface="Calibri"/>
                <a:ea typeface="Calibri"/>
                <a:cs typeface="Calibri"/>
                <a:sym typeface="Calibri"/>
              </a:rPr>
              <a:t>packaged your code and its</a:t>
            </a:r>
            <a:r>
              <a:rPr lang="en-US"/>
              <a:t> </a:t>
            </a:r>
            <a:r>
              <a:rPr lang="en-US" sz="2000" b="0" i="0" u="none" strike="noStrike" cap="none">
                <a:solidFill>
                  <a:srgbClr val="666677"/>
                </a:solidFill>
                <a:latin typeface="Calibri"/>
                <a:ea typeface="Calibri"/>
                <a:cs typeface="Calibri"/>
                <a:sym typeface="Calibri"/>
              </a:rPr>
              <a:t>dependencies into a </a:t>
            </a:r>
            <a:r>
              <a:rPr lang="en-US" sz="2000" b="1" i="0" u="none" strike="noStrike" cap="none">
                <a:solidFill>
                  <a:srgbClr val="666677"/>
                </a:solidFill>
                <a:latin typeface="Calibri"/>
                <a:ea typeface="Calibri"/>
                <a:cs typeface="Calibri"/>
                <a:sym typeface="Calibri"/>
              </a:rPr>
              <a:t>container image</a:t>
            </a:r>
            <a:endParaRPr sz="2000">
              <a:solidFill>
                <a:srgbClr val="666677"/>
              </a:solidFill>
              <a:latin typeface="Calibri"/>
              <a:ea typeface="Calibri"/>
              <a:cs typeface="Calibri"/>
              <a:sym typeface="Calibri"/>
            </a:endParaRPr>
          </a:p>
          <a:p>
            <a:pPr marL="914400" marR="0" lvl="0" indent="-355600" algn="l" rtl="0">
              <a:spcBef>
                <a:spcPts val="0"/>
              </a:spcBef>
              <a:spcAft>
                <a:spcPts val="0"/>
              </a:spcAft>
              <a:buClr>
                <a:srgbClr val="666677"/>
              </a:buClr>
              <a:buSzPts val="2000"/>
              <a:buFont typeface="Calibri"/>
              <a:buChar char="●"/>
            </a:pPr>
            <a:r>
              <a:rPr lang="en-US" sz="2000" b="0" i="0" u="none" strike="noStrike" cap="none">
                <a:solidFill>
                  <a:srgbClr val="666677"/>
                </a:solidFill>
                <a:latin typeface="Calibri"/>
                <a:ea typeface="Calibri"/>
                <a:cs typeface="Calibri"/>
                <a:sym typeface="Calibri"/>
              </a:rPr>
              <a:t>then ran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the deal a PaaS offers: it builds the container for you,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out of sight, with smart defaults. Great - right up until you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want to </a:t>
            </a:r>
            <a:r>
              <a:rPr lang="en-US" sz="2000" b="1" i="0" u="none" strike="noStrike" cap="none">
                <a:solidFill>
                  <a:srgbClr val="666677"/>
                </a:solidFill>
                <a:latin typeface="Calibri"/>
                <a:ea typeface="Calibri"/>
                <a:cs typeface="Calibri"/>
                <a:sym typeface="Calibri"/>
              </a:rPr>
              <a:t>choose</a:t>
            </a:r>
            <a:r>
              <a:rPr lang="en-US" sz="2000" b="0" i="0" u="none" strike="noStrike" cap="none">
                <a:solidFill>
                  <a:srgbClr val="666677"/>
                </a:solidFill>
                <a:latin typeface="Calibri"/>
                <a:ea typeface="Calibri"/>
                <a:cs typeface="Calibri"/>
                <a:sym typeface="Calibri"/>
              </a:rPr>
              <a:t> what goes inside it yourself.</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Today: open the hood</a:t>
            </a:r>
            <a:r>
              <a:rPr lang="en-US" sz="2400">
                <a:solidFill>
                  <a:srgbClr val="333344"/>
                </a:solidFill>
                <a:latin typeface="Calibri"/>
                <a:ea typeface="Calibri"/>
                <a:cs typeface="Calibri"/>
                <a:sym typeface="Calibri"/>
              </a:rPr>
              <a:t> so we can</a:t>
            </a:r>
            <a:r>
              <a:rPr lang="en-US" sz="2400" b="0" i="0" u="none" strike="noStrike" cap="none">
                <a:solidFill>
                  <a:srgbClr val="333344"/>
                </a:solidFill>
                <a:latin typeface="Calibri"/>
                <a:ea typeface="Calibri"/>
                <a:cs typeface="Calibri"/>
                <a:sym typeface="Calibri"/>
              </a:rPr>
              <a:t> write the recipe.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65"/>
        <p:cNvGrpSpPr/>
        <p:nvPr/>
      </p:nvGrpSpPr>
      <p:grpSpPr>
        <a:xfrm>
          <a:off x="0" y="0"/>
          <a:ext cx="0" cy="0"/>
          <a:chOff x="0" y="0"/>
          <a:chExt cx="0" cy="0"/>
        </a:xfrm>
      </p:grpSpPr>
      <p:sp>
        <p:nvSpPr>
          <p:cNvPr id="166" name="Google Shape;166;p6"/>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i="0" u="none" strike="noStrike" cap="none">
                <a:solidFill>
                  <a:srgbClr val="5B21B6"/>
                </a:solidFill>
                <a:latin typeface="Calibri"/>
                <a:ea typeface="Calibri"/>
                <a:cs typeface="Calibri"/>
                <a:sym typeface="Calibri"/>
              </a:rPr>
              <a:t>?</a:t>
            </a:r>
            <a:endParaRPr/>
          </a:p>
        </p:txBody>
      </p:sp>
      <p:sp>
        <p:nvSpPr>
          <p:cNvPr id="167" name="Google Shape;167;p6"/>
          <p:cNvSpPr txBox="1"/>
          <p:nvPr/>
        </p:nvSpPr>
        <p:spPr>
          <a:xfrm>
            <a:off x="1371600" y="2011680"/>
            <a:ext cx="94484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i="0" u="none" strike="noStrike" cap="none">
                <a:solidFill>
                  <a:srgbClr val="1A1A2E"/>
                </a:solidFill>
                <a:latin typeface="Calibri"/>
                <a:ea typeface="Calibri"/>
                <a:cs typeface="Calibri"/>
                <a:sym typeface="Calibri"/>
              </a:rPr>
              <a:t>Same code. One machine runs it, one crashes on startup. What could be different between them?</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2"/>
        <p:cNvGrpSpPr/>
        <p:nvPr/>
      </p:nvGrpSpPr>
      <p:grpSpPr>
        <a:xfrm>
          <a:off x="0" y="0"/>
          <a:ext cx="0" cy="0"/>
          <a:chOff x="0" y="0"/>
          <a:chExt cx="0" cy="0"/>
        </a:xfrm>
      </p:grpSpPr>
      <p:sp>
        <p:nvSpPr>
          <p:cNvPr id="173" name="Google Shape;173;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"But it works on my machine!"</a:t>
            </a:r>
            <a:endParaRPr/>
          </a:p>
        </p:txBody>
      </p:sp>
      <p:sp>
        <p:nvSpPr>
          <p:cNvPr id="174" name="Google Shape;174;p5"/>
          <p:cNvSpPr txBox="1"/>
          <p:nvPr/>
        </p:nvSpPr>
        <p:spPr>
          <a:xfrm>
            <a:off x="914400" y="1463040"/>
            <a:ext cx="10362900" cy="4631997"/>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You push code. The build succeeds. The server crashes on startup.</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Logs show a </a:t>
            </a:r>
            <a:r>
              <a:rPr lang="en-US" sz="2000" b="0" i="0" u="none" strike="noStrike" cap="none" dirty="0">
                <a:solidFill>
                  <a:srgbClr val="666677"/>
                </a:solidFill>
                <a:latin typeface="Calibri"/>
                <a:ea typeface="Calibri"/>
                <a:cs typeface="Calibri"/>
                <a:sym typeface="Calibri"/>
              </a:rPr>
              <a:t>weird error about a missing C library.</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You run the same code on your laptop. It works fine.</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The two machines have different Python versions, different system librar</a:t>
            </a:r>
            <a:r>
              <a:rPr lang="en-US" sz="2400" dirty="0">
                <a:solidFill>
                  <a:srgbClr val="333344"/>
                </a:solidFill>
                <a:latin typeface="Calibri"/>
                <a:ea typeface="Calibri"/>
                <a:cs typeface="Calibri"/>
                <a:sym typeface="Calibri"/>
              </a:rPr>
              <a:t>ies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different operating systems, different env vars.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Your code and your </a:t>
            </a:r>
            <a:r>
              <a:rPr lang="en-US" sz="2400" b="1" i="0" u="none" strike="noStrike" cap="none" dirty="0">
                <a:solidFill>
                  <a:srgbClr val="333344"/>
                </a:solidFill>
                <a:latin typeface="Calibri"/>
                <a:ea typeface="Calibri"/>
                <a:cs typeface="Calibri"/>
                <a:sym typeface="Calibri"/>
              </a:rPr>
              <a:t>dependencies</a:t>
            </a:r>
            <a:r>
              <a:rPr lang="en-US" sz="2400" b="0" i="0" u="none" strike="noStrike" cap="none" dirty="0">
                <a:solidFill>
                  <a:srgbClr val="333344"/>
                </a:solidFill>
                <a:latin typeface="Calibri"/>
                <a:ea typeface="Calibri"/>
                <a:cs typeface="Calibri"/>
                <a:sym typeface="Calibri"/>
              </a:rPr>
              <a:t> are two separate things.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Your </a:t>
            </a:r>
            <a:r>
              <a:rPr lang="en-US" sz="2000" b="0" i="0" u="none" strike="noStrike" cap="none" dirty="0">
                <a:solidFill>
                  <a:srgbClr val="666677"/>
                </a:solidFill>
                <a:latin typeface="Calibri"/>
                <a:ea typeface="Calibri"/>
                <a:cs typeface="Calibri"/>
                <a:sym typeface="Calibri"/>
              </a:rPr>
              <a:t>laptop has the dependencies set up the way you like. </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F</a:t>
            </a:r>
            <a:r>
              <a:rPr lang="en-US" sz="2000" dirty="0">
                <a:solidFill>
                  <a:srgbClr val="666677"/>
                </a:solidFill>
                <a:latin typeface="Calibri"/>
                <a:ea typeface="Calibri"/>
                <a:cs typeface="Calibri"/>
                <a:sym typeface="Calibri"/>
              </a:rPr>
              <a:t>resh </a:t>
            </a:r>
            <a:r>
              <a:rPr lang="en-US" sz="2000" b="0" i="0" u="none" strike="noStrike" cap="none" dirty="0">
                <a:solidFill>
                  <a:srgbClr val="666677"/>
                </a:solidFill>
                <a:latin typeface="Calibri"/>
                <a:ea typeface="Calibri"/>
                <a:cs typeface="Calibri"/>
                <a:sym typeface="Calibri"/>
              </a:rPr>
              <a:t>machine doesn’t</a:t>
            </a:r>
            <a:r>
              <a:rPr lang="en-US" sz="2000" dirty="0">
                <a:solidFill>
                  <a:srgbClr val="666677"/>
                </a:solidFill>
                <a:latin typeface="Calibri"/>
                <a:ea typeface="Calibri"/>
                <a:cs typeface="Calibri"/>
                <a:sym typeface="Calibri"/>
              </a:rPr>
              <a:t>, and every deploy, if you want no downtime, uses a fresh machine.</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9">
          <a:extLst>
            <a:ext uri="{FF2B5EF4-FFF2-40B4-BE49-F238E27FC236}">
              <a16:creationId xmlns:a16="http://schemas.microsoft.com/office/drawing/2014/main" id="{726E9BB3-2225-AB77-F9A9-D2C7A74C5233}"/>
            </a:ext>
          </a:extLst>
        </p:cNvPr>
        <p:cNvGrpSpPr/>
        <p:nvPr/>
      </p:nvGrpSpPr>
      <p:grpSpPr>
        <a:xfrm>
          <a:off x="0" y="0"/>
          <a:ext cx="0" cy="0"/>
          <a:chOff x="0" y="0"/>
          <a:chExt cx="0" cy="0"/>
        </a:xfrm>
      </p:grpSpPr>
      <p:sp>
        <p:nvSpPr>
          <p:cNvPr id="180" name="Google Shape;180;p7">
            <a:extLst>
              <a:ext uri="{FF2B5EF4-FFF2-40B4-BE49-F238E27FC236}">
                <a16:creationId xmlns:a16="http://schemas.microsoft.com/office/drawing/2014/main" id="{5AF78458-4BB9-E91E-8A2D-A0582CCC2EE3}"/>
              </a:ext>
            </a:extLst>
          </p:cNvPr>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design question</a:t>
            </a:r>
            <a:endParaRPr/>
          </a:p>
        </p:txBody>
      </p:sp>
      <p:sp>
        <p:nvSpPr>
          <p:cNvPr id="181" name="Google Shape;181;p7">
            <a:extLst>
              <a:ext uri="{FF2B5EF4-FFF2-40B4-BE49-F238E27FC236}">
                <a16:creationId xmlns:a16="http://schemas.microsoft.com/office/drawing/2014/main" id="{D992F897-B6D5-EF89-A1FF-738B1DE06641}"/>
              </a:ext>
            </a:extLst>
          </p:cNvPr>
          <p:cNvSpPr txBox="1"/>
          <p:nvPr/>
        </p:nvSpPr>
        <p:spPr>
          <a:xfrm>
            <a:off x="914388" y="1157015"/>
            <a:ext cx="10362900" cy="283150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What would it take to </a:t>
            </a:r>
            <a:r>
              <a:rPr lang="en-US" sz="2400" b="1" i="0" u="none" strike="noStrike" cap="none" dirty="0">
                <a:solidFill>
                  <a:srgbClr val="333344"/>
                </a:solidFill>
                <a:latin typeface="Calibri"/>
                <a:ea typeface="Calibri"/>
                <a:cs typeface="Calibri"/>
                <a:sym typeface="Calibri"/>
              </a:rPr>
              <a:t>guarantee</a:t>
            </a:r>
            <a:r>
              <a:rPr lang="en-US" sz="2400" b="0" i="0" u="none" strike="noStrike" cap="none" dirty="0">
                <a:solidFill>
                  <a:srgbClr val="333344"/>
                </a:solidFill>
                <a:latin typeface="Calibri"/>
                <a:ea typeface="Calibri"/>
                <a:cs typeface="Calibri"/>
                <a:sym typeface="Calibri"/>
              </a:rPr>
              <a:t> your code runs the same way?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On every machine, every time?</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Options people have tried: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Document every dependency in a README and hope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Ship a full virtual machine with the OS baked in (slow, heavy)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Make the server look exactly like your laptop (impossible)</a:t>
            </a:r>
            <a:endParaRPr dirty="0"/>
          </a:p>
        </p:txBody>
      </p:sp>
    </p:spTree>
    <p:extLst>
      <p:ext uri="{BB962C8B-B14F-4D97-AF65-F5344CB8AC3E}">
        <p14:creationId xmlns:p14="http://schemas.microsoft.com/office/powerpoint/2010/main" val="7799203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9"/>
        <p:cNvGrpSpPr/>
        <p:nvPr/>
      </p:nvGrpSpPr>
      <p:grpSpPr>
        <a:xfrm>
          <a:off x="0" y="0"/>
          <a:ext cx="0" cy="0"/>
          <a:chOff x="0" y="0"/>
          <a:chExt cx="0" cy="0"/>
        </a:xfrm>
      </p:grpSpPr>
      <p:sp>
        <p:nvSpPr>
          <p:cNvPr id="180" name="Google Shape;180;p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design question</a:t>
            </a:r>
            <a:endParaRPr/>
          </a:p>
        </p:txBody>
      </p:sp>
      <p:sp>
        <p:nvSpPr>
          <p:cNvPr id="181" name="Google Shape;181;p7"/>
          <p:cNvSpPr txBox="1"/>
          <p:nvPr/>
        </p:nvSpPr>
        <p:spPr>
          <a:xfrm>
            <a:off x="914388" y="1157015"/>
            <a:ext cx="10362900" cy="532449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What would it take to </a:t>
            </a:r>
            <a:r>
              <a:rPr lang="en-US" sz="2400" b="1" i="0" u="none" strike="noStrike" cap="none" dirty="0">
                <a:solidFill>
                  <a:srgbClr val="333344"/>
                </a:solidFill>
                <a:latin typeface="Calibri"/>
                <a:ea typeface="Calibri"/>
                <a:cs typeface="Calibri"/>
                <a:sym typeface="Calibri"/>
              </a:rPr>
              <a:t>guarantee</a:t>
            </a:r>
            <a:r>
              <a:rPr lang="en-US" sz="2400" b="0" i="0" u="none" strike="noStrike" cap="none" dirty="0">
                <a:solidFill>
                  <a:srgbClr val="333344"/>
                </a:solidFill>
                <a:latin typeface="Calibri"/>
                <a:ea typeface="Calibri"/>
                <a:cs typeface="Calibri"/>
                <a:sym typeface="Calibri"/>
              </a:rPr>
              <a:t> your code runs the same way?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On every machine, every time?</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Options people have tried: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Document every dependency in a README and hope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Ship a full virtual machine with the OS baked in (slow, heavy)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Make the server look exactly like your laptop (impossible)</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What we’ll do:</a:t>
            </a:r>
            <a:endParaRPr dirty="0"/>
          </a:p>
          <a:p>
            <a:pPr marL="457200" lvl="1">
              <a:spcBef>
                <a:spcPts val="600"/>
              </a:spcBef>
            </a:pPr>
            <a:r>
              <a:rPr lang="en-US" sz="2000" b="0" i="0" u="none" strike="noStrike" cap="none" dirty="0">
                <a:solidFill>
                  <a:srgbClr val="666677"/>
                </a:solidFill>
                <a:latin typeface="Calibri"/>
                <a:ea typeface="Calibri"/>
                <a:cs typeface="Calibri"/>
                <a:sym typeface="Calibri"/>
              </a:rPr>
              <a:t> </a:t>
            </a:r>
            <a:r>
              <a:rPr lang="en-US" sz="2000" b="1" dirty="0">
                <a:solidFill>
                  <a:srgbClr val="333344"/>
                </a:solidFill>
                <a:latin typeface="Calibri"/>
                <a:ea typeface="Calibri"/>
                <a:cs typeface="Calibri"/>
                <a:sym typeface="Calibri"/>
              </a:rPr>
              <a:t>bundle your code and its </a:t>
            </a:r>
            <a:r>
              <a:rPr lang="en-US" sz="2000" b="1" dirty="0">
                <a:solidFill>
                  <a:schemeClr val="tx1"/>
                </a:solidFill>
                <a:latin typeface="Calibri"/>
                <a:ea typeface="Calibri"/>
                <a:cs typeface="Calibri"/>
                <a:sym typeface="Calibri"/>
              </a:rPr>
              <a:t>dependencies </a:t>
            </a:r>
            <a:r>
              <a:rPr lang="en-US" sz="2000" b="1" i="0" u="none" strike="noStrike" cap="none" dirty="0">
                <a:solidFill>
                  <a:schemeClr val="tx1"/>
                </a:solidFill>
                <a:latin typeface="Calibri"/>
                <a:ea typeface="Calibri"/>
                <a:cs typeface="Calibri"/>
                <a:sym typeface="Calibri"/>
              </a:rPr>
              <a:t>together into one portable artifact</a:t>
            </a:r>
            <a:r>
              <a:rPr lang="en-US" sz="2000" b="1" i="0" u="none" strike="noStrike" cap="none" dirty="0">
                <a:solidFill>
                  <a:srgbClr val="666677"/>
                </a:solidFill>
                <a:latin typeface="Calibri"/>
                <a:ea typeface="Calibri"/>
                <a:cs typeface="Calibri"/>
                <a:sym typeface="Calibri"/>
              </a:rPr>
              <a:t>.</a:t>
            </a:r>
            <a:endParaRPr b="1" dirty="0"/>
          </a:p>
          <a:p>
            <a:pPr marL="457200" lvl="1">
              <a:spcBef>
                <a:spcPts val="600"/>
              </a:spcBef>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Drop it on any machine that </a:t>
            </a:r>
            <a:r>
              <a:rPr lang="en-US" sz="2000" b="0" i="0" u="none" strike="noStrike" cap="none" dirty="0">
                <a:solidFill>
                  <a:srgbClr val="666677"/>
                </a:solidFill>
                <a:latin typeface="Calibri"/>
                <a:ea typeface="Calibri"/>
                <a:cs typeface="Calibri"/>
                <a:sym typeface="Calibri"/>
              </a:rPr>
              <a:t>can run it and the runtime is identical.</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That artifact is the </a:t>
            </a:r>
            <a:r>
              <a:rPr lang="en-US" sz="2400" b="1" i="0" u="none" strike="noStrike" cap="none" dirty="0">
                <a:solidFill>
                  <a:srgbClr val="333344"/>
                </a:solidFill>
                <a:latin typeface="Calibri"/>
                <a:ea typeface="Calibri"/>
                <a:cs typeface="Calibri"/>
                <a:sym typeface="Calibri"/>
              </a:rPr>
              <a:t>container image</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86"/>
        <p:cNvGrpSpPr/>
        <p:nvPr/>
      </p:nvGrpSpPr>
      <p:grpSpPr>
        <a:xfrm>
          <a:off x="0" y="0"/>
          <a:ext cx="0" cy="0"/>
          <a:chOff x="0" y="0"/>
          <a:chExt cx="0" cy="0"/>
        </a:xfrm>
      </p:grpSpPr>
      <p:sp>
        <p:nvSpPr>
          <p:cNvPr id="187" name="Google Shape;187;p8"/>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Containers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2"/>
        <p:cNvGrpSpPr/>
        <p:nvPr/>
      </p:nvGrpSpPr>
      <p:grpSpPr>
        <a:xfrm>
          <a:off x="0" y="0"/>
          <a:ext cx="0" cy="0"/>
          <a:chOff x="0" y="0"/>
          <a:chExt cx="0" cy="0"/>
        </a:xfrm>
      </p:grpSpPr>
      <p:sp>
        <p:nvSpPr>
          <p:cNvPr id="193" name="Google Shape;193;p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 container is a process with a fake view</a:t>
            </a:r>
            <a:endParaRPr/>
          </a:p>
        </p:txBody>
      </p:sp>
      <p:sp>
        <p:nvSpPr>
          <p:cNvPr id="194" name="Google Shape;194;p9"/>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a:t>
            </a:r>
            <a:r>
              <a:rPr lang="en-US" sz="2400" b="1" i="0" u="none" strike="noStrike" cap="none">
                <a:solidFill>
                  <a:srgbClr val="333344"/>
                </a:solidFill>
                <a:latin typeface="Calibri"/>
                <a:ea typeface="Calibri"/>
                <a:cs typeface="Calibri"/>
                <a:sym typeface="Calibri"/>
              </a:rPr>
              <a:t>container</a:t>
            </a:r>
            <a:r>
              <a:rPr lang="en-US" sz="2400" b="0" i="0" u="none" strike="noStrike" cap="none">
                <a:solidFill>
                  <a:srgbClr val="333344"/>
                </a:solidFill>
                <a:latin typeface="Calibri"/>
                <a:ea typeface="Calibri"/>
                <a:cs typeface="Calibri"/>
                <a:sym typeface="Calibri"/>
              </a:rPr>
              <a:t> is a running process with its own: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Filesystem</a:t>
            </a:r>
            <a:r>
              <a:rPr lang="en-US" sz="2000" b="0" i="0" u="none" strike="noStrike" cap="none">
                <a:solidFill>
                  <a:srgbClr val="666677"/>
                </a:solidFill>
                <a:latin typeface="Calibri"/>
                <a:ea typeface="Calibri"/>
                <a:cs typeface="Calibri"/>
                <a:sym typeface="Calibri"/>
              </a:rPr>
              <a:t> - sees its own files, not the host's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Network</a:t>
            </a:r>
            <a:r>
              <a:rPr lang="en-US" sz="2000" b="0" i="0" u="none" strike="noStrike" cap="none">
                <a:solidFill>
                  <a:srgbClr val="666677"/>
                </a:solidFill>
                <a:latin typeface="Calibri"/>
                <a:ea typeface="Calibri"/>
                <a:cs typeface="Calibri"/>
                <a:sym typeface="Calibri"/>
              </a:rPr>
              <a:t> - its own IP address, its own listening ports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Process tree</a:t>
            </a:r>
            <a:r>
              <a:rPr lang="en-US" sz="2000" b="0" i="0" u="none" strike="noStrike" cap="none">
                <a:solidFill>
                  <a:srgbClr val="666677"/>
                </a:solidFill>
                <a:latin typeface="Calibri"/>
                <a:ea typeface="Calibri"/>
                <a:cs typeface="Calibri"/>
                <a:sym typeface="Calibri"/>
              </a:rPr>
              <a:t> - can't see other processes on the host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User space</a:t>
            </a:r>
            <a:r>
              <a:rPr lang="en-US" sz="2000" b="0" i="0" u="none" strike="noStrike" cap="none">
                <a:solidFill>
                  <a:srgbClr val="666677"/>
                </a:solidFill>
                <a:latin typeface="Calibri"/>
                <a:ea typeface="Calibri"/>
                <a:cs typeface="Calibri"/>
                <a:sym typeface="Calibri"/>
              </a:rPr>
              <a:t> - its own users, environment, hostname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 the process inside, it looks like it's alone on a fresh Linux ma</a:t>
            </a:r>
            <a:r>
              <a:rPr lang="en-US" sz="2400">
                <a:solidFill>
                  <a:srgbClr val="333344"/>
                </a:solidFill>
                <a:latin typeface="Calibri"/>
                <a:ea typeface="Calibri"/>
                <a:cs typeface="Calibri"/>
                <a:sym typeface="Calibri"/>
              </a:rPr>
              <a:t>chine.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To the host OS, it's just another process</a:t>
            </a:r>
            <a:r>
              <a:rPr lang="en-US"/>
              <a:t> </a:t>
            </a:r>
            <a:r>
              <a:rPr lang="en-US" sz="2000" b="0" i="0" u="none" strike="noStrike" cap="none">
                <a:solidFill>
                  <a:srgbClr val="666677"/>
                </a:solidFill>
                <a:latin typeface="Calibri"/>
                <a:ea typeface="Calibri"/>
                <a:cs typeface="Calibri"/>
                <a:sym typeface="Calibri"/>
              </a:rPr>
              <a:t>with some kernel flags set.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Crucially: containers do NOT run their own kernel. They share the host</a:t>
            </a:r>
            <a:r>
              <a:rPr lang="en-US" sz="2400">
                <a:solidFill>
                  <a:srgbClr val="333344"/>
                </a:solidFill>
                <a:latin typeface="Calibri"/>
                <a:ea typeface="Calibri"/>
                <a:cs typeface="Calibri"/>
                <a:sym typeface="Calibri"/>
              </a:rPr>
              <a: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That's why they start in milliseconds instead of minutes a full virtual machine would take.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9"/>
        <p:cNvGrpSpPr/>
        <p:nvPr/>
      </p:nvGrpSpPr>
      <p:grpSpPr>
        <a:xfrm>
          <a:off x="0" y="0"/>
          <a:ext cx="0" cy="0"/>
          <a:chOff x="0" y="0"/>
          <a:chExt cx="0" cy="0"/>
        </a:xfrm>
      </p:grpSpPr>
      <p:sp>
        <p:nvSpPr>
          <p:cNvPr id="200" name="Google Shape;200;g3e32708a311_0_6"/>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dirty="0">
                <a:solidFill>
                  <a:srgbClr val="1A1A2E"/>
                </a:solidFill>
                <a:latin typeface="Calibri"/>
                <a:ea typeface="Calibri"/>
                <a:cs typeface="Calibri"/>
                <a:sym typeface="Calibri"/>
              </a:rPr>
              <a:t>A container is just a process</a:t>
            </a:r>
            <a:endParaRPr dirty="0"/>
          </a:p>
        </p:txBody>
      </p:sp>
      <p:sp>
        <p:nvSpPr>
          <p:cNvPr id="201" name="Google Shape;201;g3e32708a311_0_6"/>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202" name="Google Shape;202;g3e32708a311_0_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3" name="Google Shape;203;g3e32708a311_0_6"/>
          <p:cNvSpPr txBox="1"/>
          <p:nvPr/>
        </p:nvSpPr>
        <p:spPr>
          <a:xfrm>
            <a:off x="1005840" y="1645920"/>
            <a:ext cx="10179900" cy="1169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Run the container in the background:</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docker run -d -p 8000:8000 chat-app</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3f9a1c2b...</a:t>
            </a:r>
            <a:endParaRPr/>
          </a:p>
          <a:p>
            <a:pPr marL="0" marR="0" lvl="0" indent="0" algn="l" rtl="0">
              <a:spcBef>
                <a:spcPts val="20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8"/>
        <p:cNvGrpSpPr/>
        <p:nvPr/>
      </p:nvGrpSpPr>
      <p:grpSpPr>
        <a:xfrm>
          <a:off x="0" y="0"/>
          <a:ext cx="0" cy="0"/>
          <a:chOff x="0" y="0"/>
          <a:chExt cx="0" cy="0"/>
        </a:xfrm>
      </p:grpSpPr>
      <p:sp>
        <p:nvSpPr>
          <p:cNvPr id="209" name="Google Shape;209;g3e32708a311_0_14"/>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dirty="0">
                <a:solidFill>
                  <a:srgbClr val="1A1A2E"/>
                </a:solidFill>
                <a:latin typeface="Calibri"/>
                <a:ea typeface="Calibri"/>
                <a:cs typeface="Calibri"/>
                <a:sym typeface="Calibri"/>
              </a:rPr>
              <a:t>A container is just a process</a:t>
            </a:r>
            <a:endParaRPr dirty="0"/>
          </a:p>
        </p:txBody>
      </p:sp>
      <p:sp>
        <p:nvSpPr>
          <p:cNvPr id="210" name="Google Shape;210;g3e32708a311_0_14"/>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211" name="Google Shape;211;g3e32708a311_0_1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2" name="Google Shape;212;g3e32708a311_0_14"/>
          <p:cNvSpPr txBox="1"/>
          <p:nvPr/>
        </p:nvSpPr>
        <p:spPr>
          <a:xfrm>
            <a:off x="1005840" y="1645920"/>
            <a:ext cx="10179900" cy="2319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Run the container in the background:</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docker run -d -p 8000:8000 chat-app</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3f9a1c2b...</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Now look at the processes on YOUR laptop - uvicorn is right there: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ps aux | grep uvicorn</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you  51234  ...  uvicorn app:app --host 0.0.0.0 --port 8000</a:t>
            </a:r>
            <a:endParaRPr/>
          </a:p>
          <a:p>
            <a:pPr marL="0" marR="0" lvl="0" indent="0" algn="l" rtl="0">
              <a:spcBef>
                <a:spcPts val="200"/>
              </a:spcBef>
              <a:spcAft>
                <a:spcPts val="0"/>
              </a:spcAft>
              <a:buNone/>
            </a:pP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7"/>
        <p:cNvGrpSpPr/>
        <p:nvPr/>
      </p:nvGrpSpPr>
      <p:grpSpPr>
        <a:xfrm>
          <a:off x="0" y="0"/>
          <a:ext cx="0" cy="0"/>
          <a:chOff x="0" y="0"/>
          <a:chExt cx="0" cy="0"/>
        </a:xfrm>
      </p:grpSpPr>
      <p:sp>
        <p:nvSpPr>
          <p:cNvPr id="218" name="Google Shape;218;p10"/>
          <p:cNvSpPr txBox="1"/>
          <p:nvPr/>
        </p:nvSpPr>
        <p:spPr>
          <a:xfrm>
            <a:off x="731520" y="365760"/>
            <a:ext cx="10728655"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dirty="0">
                <a:solidFill>
                  <a:srgbClr val="1A1A2E"/>
                </a:solidFill>
                <a:latin typeface="Calibri"/>
                <a:ea typeface="Calibri"/>
                <a:cs typeface="Calibri"/>
                <a:sym typeface="Calibri"/>
              </a:rPr>
              <a:t>A container is just a process</a:t>
            </a:r>
            <a:endParaRPr dirty="0"/>
          </a:p>
        </p:txBody>
      </p:sp>
      <p:sp>
        <p:nvSpPr>
          <p:cNvPr id="219" name="Google Shape;219;p10"/>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220" name="Google Shape;220;p10"/>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1" name="Google Shape;221;p10"/>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Run the container in the background:</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docker run -d -p 8000:8000 chat-app</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3f9a1c2b...</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Now look at the processes on YOUR laptop - uvicorn is right there: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ps aux | grep uvicorn</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you  51234  ...  uvicorn app:app --host 0.0.0.0 --port 8000</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It is not a virtual machine. It is a process your laptop is running,</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with the kernel lying to it about what it can see.</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Drop into a container interactively. It looks like a fresh machine: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docker run -it python:3.12-slim bash</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root@3f9a1c:/# ls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bin  etc  home  lib  usr  ...        # its own filesystem, its own root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root@3f9a1c:/# exit                  # ...exit, and it is simply gone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6"/>
        <p:cNvGrpSpPr/>
        <p:nvPr/>
      </p:nvGrpSpPr>
      <p:grpSpPr>
        <a:xfrm>
          <a:off x="0" y="0"/>
          <a:ext cx="0" cy="0"/>
          <a:chOff x="0" y="0"/>
          <a:chExt cx="0" cy="0"/>
        </a:xfrm>
      </p:grpSpPr>
      <p:sp>
        <p:nvSpPr>
          <p:cNvPr id="227" name="Google Shape;227;g3e346b600eb_0_89"/>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Image vs container: recipe vs dish</a:t>
            </a:r>
            <a:endParaRPr/>
          </a:p>
        </p:txBody>
      </p:sp>
      <p:sp>
        <p:nvSpPr>
          <p:cNvPr id="228" name="Google Shape;228;g3e346b600eb_0_89"/>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An </a:t>
            </a:r>
            <a:r>
              <a:rPr lang="en-US" sz="2400" b="1" i="0" u="none" strike="noStrike" cap="none">
                <a:solidFill>
                  <a:srgbClr val="333344"/>
                </a:solidFill>
                <a:latin typeface="Calibri"/>
                <a:ea typeface="Calibri"/>
                <a:cs typeface="Calibri"/>
                <a:sym typeface="Calibri"/>
              </a:rPr>
              <a:t>image</a:t>
            </a:r>
            <a:r>
              <a:rPr lang="en-US" sz="2400" b="0" i="0" u="none" strike="noStrike" cap="none">
                <a:solidFill>
                  <a:srgbClr val="333344"/>
                </a:solidFill>
                <a:latin typeface="Calibri"/>
                <a:ea typeface="Calibri"/>
                <a:cs typeface="Calibri"/>
                <a:sym typeface="Calibri"/>
              </a:rPr>
              <a:t> is a blueprint. A </a:t>
            </a:r>
            <a:r>
              <a:rPr lang="en-US" sz="2400" b="1" i="0" u="none" strike="noStrike" cap="none">
                <a:solidFill>
                  <a:srgbClr val="333344"/>
                </a:solidFill>
                <a:latin typeface="Calibri"/>
                <a:ea typeface="Calibri"/>
                <a:cs typeface="Calibri"/>
                <a:sym typeface="Calibri"/>
              </a:rPr>
              <a:t>container</a:t>
            </a:r>
            <a:r>
              <a:rPr lang="en-US" sz="2400" b="0" i="0" u="none" strike="noStrike" cap="none">
                <a:solidFill>
                  <a:srgbClr val="333344"/>
                </a:solidFill>
                <a:latin typeface="Calibri"/>
                <a:ea typeface="Calibri"/>
                <a:cs typeface="Calibri"/>
                <a:sym typeface="Calibri"/>
              </a:rPr>
              <a:t> is a running instance of that blueprint.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Image   = recipe, stored on disk, can be shared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Container = dish, currently being cooked (or eaten)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 </a:t>
            </a:r>
            <a:r>
              <a:rPr lang="en-US" sz="2400" b="1" i="0" u="none" strike="noStrike" cap="none">
                <a:solidFill>
                  <a:srgbClr val="333344"/>
                </a:solidFill>
                <a:latin typeface="Calibri"/>
                <a:ea typeface="Calibri"/>
                <a:cs typeface="Calibri"/>
                <a:sym typeface="Calibri"/>
              </a:rPr>
              <a:t>build</a:t>
            </a:r>
            <a:r>
              <a:rPr lang="en-US" sz="2400" b="0" i="0" u="none" strike="noStrike" cap="none">
                <a:solidFill>
                  <a:srgbClr val="333344"/>
                </a:solidFill>
                <a:latin typeface="Calibri"/>
                <a:ea typeface="Calibri"/>
                <a:cs typeface="Calibri"/>
                <a:sym typeface="Calibri"/>
              </a:rPr>
              <a:t> an image once - Docker reads your instructions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creates the filesystem snapshot. You </a:t>
            </a:r>
            <a:r>
              <a:rPr lang="en-US" sz="2000" b="1" i="0" u="none" strike="noStrike" cap="none">
                <a:solidFill>
                  <a:srgbClr val="666677"/>
                </a:solidFill>
                <a:latin typeface="Calibri"/>
                <a:ea typeface="Calibri"/>
                <a:cs typeface="Calibri"/>
                <a:sym typeface="Calibri"/>
              </a:rPr>
              <a:t>run</a:t>
            </a:r>
            <a:r>
              <a:rPr lang="en-US" sz="2000" b="0" i="0" u="none" strike="noStrike" cap="none">
                <a:solidFill>
                  <a:srgbClr val="666677"/>
                </a:solidFill>
                <a:latin typeface="Calibri"/>
                <a:ea typeface="Calibri"/>
                <a:cs typeface="Calibri"/>
                <a:sym typeface="Calibri"/>
              </a:rPr>
              <a:t> as many containers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from the image as you want. Each container gets its own fresh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copy of the image's filesystem as its root.</a:t>
            </a:r>
            <a:endParaRPr/>
          </a:p>
          <a:p>
            <a:pPr marL="457200" marR="0" lvl="1" indent="0" algn="l" rtl="0">
              <a:spcBef>
                <a:spcPts val="60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Image vs container: recipe vs dish</a:t>
            </a:r>
            <a:endParaRPr/>
          </a:p>
        </p:txBody>
      </p:sp>
      <p:sp>
        <p:nvSpPr>
          <p:cNvPr id="235" name="Google Shape;235;p11"/>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An </a:t>
            </a:r>
            <a:r>
              <a:rPr lang="en-US" sz="2400" b="1" i="0" u="none" strike="noStrike" cap="none">
                <a:solidFill>
                  <a:srgbClr val="333344"/>
                </a:solidFill>
                <a:latin typeface="Calibri"/>
                <a:ea typeface="Calibri"/>
                <a:cs typeface="Calibri"/>
                <a:sym typeface="Calibri"/>
              </a:rPr>
              <a:t>image</a:t>
            </a:r>
            <a:r>
              <a:rPr lang="en-US" sz="2400" b="0" i="0" u="none" strike="noStrike" cap="none">
                <a:solidFill>
                  <a:srgbClr val="333344"/>
                </a:solidFill>
                <a:latin typeface="Calibri"/>
                <a:ea typeface="Calibri"/>
                <a:cs typeface="Calibri"/>
                <a:sym typeface="Calibri"/>
              </a:rPr>
              <a:t> is a blueprint. A </a:t>
            </a:r>
            <a:r>
              <a:rPr lang="en-US" sz="2400" b="1" i="0" u="none" strike="noStrike" cap="none">
                <a:solidFill>
                  <a:srgbClr val="333344"/>
                </a:solidFill>
                <a:latin typeface="Calibri"/>
                <a:ea typeface="Calibri"/>
                <a:cs typeface="Calibri"/>
                <a:sym typeface="Calibri"/>
              </a:rPr>
              <a:t>container</a:t>
            </a:r>
            <a:r>
              <a:rPr lang="en-US" sz="2400" b="0" i="0" u="none" strike="noStrike" cap="none">
                <a:solidFill>
                  <a:srgbClr val="333344"/>
                </a:solidFill>
                <a:latin typeface="Calibri"/>
                <a:ea typeface="Calibri"/>
                <a:cs typeface="Calibri"/>
                <a:sym typeface="Calibri"/>
              </a:rPr>
              <a:t> is a running instance of that blueprint.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Image   = recipe, stored on disk, can be shared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Container = dish, currently being cooked (or eaten)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 </a:t>
            </a:r>
            <a:r>
              <a:rPr lang="en-US" sz="2400" b="1" i="0" u="none" strike="noStrike" cap="none">
                <a:solidFill>
                  <a:srgbClr val="333344"/>
                </a:solidFill>
                <a:latin typeface="Calibri"/>
                <a:ea typeface="Calibri"/>
                <a:cs typeface="Calibri"/>
                <a:sym typeface="Calibri"/>
              </a:rPr>
              <a:t>build</a:t>
            </a:r>
            <a:r>
              <a:rPr lang="en-US" sz="2400" b="0" i="0" u="none" strike="noStrike" cap="none">
                <a:solidFill>
                  <a:srgbClr val="333344"/>
                </a:solidFill>
                <a:latin typeface="Calibri"/>
                <a:ea typeface="Calibri"/>
                <a:cs typeface="Calibri"/>
                <a:sym typeface="Calibri"/>
              </a:rPr>
              <a:t> an image once - Docker reads your instructions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creates the filesystem snapshot. You </a:t>
            </a:r>
            <a:r>
              <a:rPr lang="en-US" sz="2000" b="1" i="0" u="none" strike="noStrike" cap="none">
                <a:solidFill>
                  <a:srgbClr val="666677"/>
                </a:solidFill>
                <a:latin typeface="Calibri"/>
                <a:ea typeface="Calibri"/>
                <a:cs typeface="Calibri"/>
                <a:sym typeface="Calibri"/>
              </a:rPr>
              <a:t>run</a:t>
            </a:r>
            <a:r>
              <a:rPr lang="en-US" sz="2000" b="0" i="0" u="none" strike="noStrike" cap="none">
                <a:solidFill>
                  <a:srgbClr val="666677"/>
                </a:solidFill>
                <a:latin typeface="Calibri"/>
                <a:ea typeface="Calibri"/>
                <a:cs typeface="Calibri"/>
                <a:sym typeface="Calibri"/>
              </a:rPr>
              <a:t> as many containers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from the image as you want. Each container gets its own fresh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copy of the image's filesystem as its root.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Analogy: class vs instance. The image is the class definition.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container is `new MyClass()`. You never "run an image"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run a container that was made from an image.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0"/>
        <p:cNvGrpSpPr/>
        <p:nvPr/>
      </p:nvGrpSpPr>
      <p:grpSpPr>
        <a:xfrm>
          <a:off x="0" y="0"/>
          <a:ext cx="0" cy="0"/>
          <a:chOff x="0" y="0"/>
          <a:chExt cx="0" cy="0"/>
        </a:xfrm>
      </p:grpSpPr>
      <p:sp>
        <p:nvSpPr>
          <p:cNvPr id="241" name="Google Shape;241;p1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images come from</a:t>
            </a:r>
            <a:endParaRPr/>
          </a:p>
        </p:txBody>
      </p:sp>
      <p:sp>
        <p:nvSpPr>
          <p:cNvPr id="242" name="Google Shape;242;p12"/>
          <p:cNvSpPr txBox="1"/>
          <p:nvPr/>
        </p:nvSpPr>
        <p:spPr>
          <a:xfrm>
            <a:off x="914400" y="1463040"/>
            <a:ext cx="10362900" cy="504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can get an image two ways: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Pull a pre-built image</a:t>
            </a:r>
            <a:r>
              <a:rPr lang="en-US" sz="2000" b="0" i="0" u="none" strike="noStrike" cap="none">
                <a:solidFill>
                  <a:srgbClr val="666677"/>
                </a:solidFill>
                <a:latin typeface="Calibri"/>
                <a:ea typeface="Calibri"/>
                <a:cs typeface="Calibri"/>
                <a:sym typeface="Calibri"/>
              </a:rPr>
              <a:t> from a </a:t>
            </a:r>
            <a:r>
              <a:rPr lang="en-US" sz="2000" b="1" i="0" u="none" strike="noStrike" cap="none">
                <a:solidFill>
                  <a:srgbClr val="666677"/>
                </a:solidFill>
                <a:latin typeface="Calibri"/>
                <a:ea typeface="Calibri"/>
                <a:cs typeface="Calibri"/>
                <a:sym typeface="Calibri"/>
              </a:rPr>
              <a:t>registry</a:t>
            </a:r>
            <a:r>
              <a:rPr lang="en-US" sz="2000" b="0" i="0" u="none" strike="noStrike" cap="none">
                <a:solidFill>
                  <a:srgbClr val="666677"/>
                </a:solidFill>
                <a:latin typeface="Calibri"/>
                <a:ea typeface="Calibri"/>
                <a:cs typeface="Calibri"/>
                <a:sym typeface="Calibri"/>
              </a:rPr>
              <a:t> (like Docker Hub).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Things like `python`, `postgres`, `nginx`, `redis` have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official images maintained by their teams.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Build your own image</a:t>
            </a:r>
            <a:r>
              <a:rPr lang="en-US" sz="2000" b="0" i="0" u="none" strike="noStrike" cap="none">
                <a:solidFill>
                  <a:srgbClr val="666677"/>
                </a:solidFill>
                <a:latin typeface="Calibri"/>
                <a:ea typeface="Calibri"/>
                <a:cs typeface="Calibri"/>
                <a:sym typeface="Calibri"/>
              </a:rPr>
              <a:t> from a </a:t>
            </a:r>
            <a:r>
              <a:rPr lang="en-US" sz="2000" b="1" i="0" u="none" strike="noStrike" cap="none">
                <a:solidFill>
                  <a:srgbClr val="666677"/>
                </a:solidFill>
                <a:latin typeface="Calibri"/>
                <a:ea typeface="Calibri"/>
                <a:cs typeface="Calibri"/>
                <a:sym typeface="Calibri"/>
              </a:rPr>
              <a:t>Dockerfile</a:t>
            </a:r>
            <a:r>
              <a:rPr lang="en-US" sz="2000" b="0" i="0" u="none" strike="noStrike" cap="none">
                <a:solidFill>
                  <a:srgbClr val="666677"/>
                </a:solidFill>
                <a:latin typeface="Calibri"/>
                <a:ea typeface="Calibri"/>
                <a:cs typeface="Calibri"/>
                <a:sym typeface="Calibri"/>
              </a:rPr>
              <a:t> - a text 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describes, step by step, how to construct the image.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In practice you always do both: your Dockerfile starts with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FROM python:3.12-slim</a:t>
            </a:r>
            <a:r>
              <a:rPr lang="en-US" sz="2000" b="0" i="0" u="none" strike="noStrike" cap="none">
                <a:solidFill>
                  <a:srgbClr val="666677"/>
                </a:solidFill>
                <a:latin typeface="Calibri"/>
                <a:ea typeface="Calibri"/>
                <a:cs typeface="Calibri"/>
                <a:sym typeface="Calibri"/>
              </a:rPr>
              <a:t> (pull a pre-built Python image)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hen layers your code and your dependencies on top.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47"/>
        <p:cNvGrpSpPr/>
        <p:nvPr/>
      </p:nvGrpSpPr>
      <p:grpSpPr>
        <a:xfrm>
          <a:off x="0" y="0"/>
          <a:ext cx="0" cy="0"/>
          <a:chOff x="0" y="0"/>
          <a:chExt cx="0" cy="0"/>
        </a:xfrm>
      </p:grpSpPr>
      <p:sp>
        <p:nvSpPr>
          <p:cNvPr id="248" name="Google Shape;248;p13"/>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Dockerfile</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3"/>
        <p:cNvGrpSpPr/>
        <p:nvPr/>
      </p:nvGrpSpPr>
      <p:grpSpPr>
        <a:xfrm>
          <a:off x="0" y="0"/>
          <a:ext cx="0" cy="0"/>
          <a:chOff x="0" y="0"/>
          <a:chExt cx="0" cy="0"/>
        </a:xfrm>
      </p:grpSpPr>
      <p:sp>
        <p:nvSpPr>
          <p:cNvPr id="254" name="Google Shape;254;p1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 Dockerfile is a build recipe</a:t>
            </a:r>
            <a:endParaRPr/>
          </a:p>
        </p:txBody>
      </p:sp>
      <p:sp>
        <p:nvSpPr>
          <p:cNvPr id="255" name="Google Shape;255;p14"/>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A </a:t>
            </a:r>
            <a:r>
              <a:rPr lang="en-US" sz="2400" b="1" i="0" u="none" strike="noStrike" cap="none" dirty="0" err="1">
                <a:solidFill>
                  <a:srgbClr val="333344"/>
                </a:solidFill>
                <a:latin typeface="Calibri"/>
                <a:ea typeface="Calibri"/>
                <a:cs typeface="Calibri"/>
                <a:sym typeface="Calibri"/>
              </a:rPr>
              <a:t>Dockerfile</a:t>
            </a:r>
            <a:r>
              <a:rPr lang="en-US" sz="2400" b="0" i="0" u="none" strike="noStrike" cap="none" dirty="0">
                <a:solidFill>
                  <a:srgbClr val="333344"/>
                </a:solidFill>
                <a:latin typeface="Calibri"/>
                <a:ea typeface="Calibri"/>
                <a:cs typeface="Calibri"/>
                <a:sym typeface="Calibri"/>
              </a:rPr>
              <a:t> is a plain text file (no extension)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It describes how to build an image, step by step.</a:t>
            </a:r>
            <a:endParaRPr dirty="0"/>
          </a:p>
          <a:p>
            <a:pPr marL="457200" lvl="1">
              <a:spcBef>
                <a:spcPts val="600"/>
              </a:spcBef>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Docker reads it top to bottom </a:t>
            </a:r>
            <a:r>
              <a:rPr lang="en-US" sz="2000" b="0" i="0" u="none" strike="noStrike" cap="none" dirty="0">
                <a:solidFill>
                  <a:srgbClr val="666677"/>
                </a:solidFill>
                <a:latin typeface="Calibri"/>
                <a:ea typeface="Calibri"/>
                <a:cs typeface="Calibri"/>
                <a:sym typeface="Calibri"/>
              </a:rPr>
              <a:t>and runs each instruction in order.</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The five key instructions: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FROM</a:t>
            </a:r>
            <a:r>
              <a:rPr lang="en-US" sz="2000" b="0" i="0" u="none" strike="noStrike" cap="none" dirty="0">
                <a:solidFill>
                  <a:srgbClr val="666677"/>
                </a:solidFill>
                <a:latin typeface="Calibri"/>
                <a:ea typeface="Calibri"/>
                <a:cs typeface="Calibri"/>
                <a:sym typeface="Calibri"/>
              </a:rPr>
              <a:t>   - start from an existing base image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WORKDIR</a:t>
            </a:r>
            <a:r>
              <a:rPr lang="en-US" sz="2000" b="0" i="0" u="none" strike="noStrike" cap="none" dirty="0">
                <a:solidFill>
                  <a:srgbClr val="666677"/>
                </a:solidFill>
                <a:latin typeface="Calibri"/>
                <a:ea typeface="Calibri"/>
                <a:cs typeface="Calibri"/>
                <a:sym typeface="Calibri"/>
              </a:rPr>
              <a:t> - set the working directory inside the image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COPY</a:t>
            </a:r>
            <a:r>
              <a:rPr lang="en-US" sz="2000" b="0" i="0" u="none" strike="noStrike" cap="none" dirty="0">
                <a:solidFill>
                  <a:srgbClr val="666677"/>
                </a:solidFill>
                <a:latin typeface="Calibri"/>
                <a:ea typeface="Calibri"/>
                <a:cs typeface="Calibri"/>
                <a:sym typeface="Calibri"/>
              </a:rPr>
              <a:t>   - copy files from your project into the image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RUN</a:t>
            </a:r>
            <a:r>
              <a:rPr lang="en-US" sz="2000" b="0" i="0" u="none" strike="noStrike" cap="none" dirty="0">
                <a:solidFill>
                  <a:srgbClr val="666677"/>
                </a:solidFill>
                <a:latin typeface="Calibri"/>
                <a:ea typeface="Calibri"/>
                <a:cs typeface="Calibri"/>
                <a:sym typeface="Calibri"/>
              </a:rPr>
              <a:t>    - execute a command at build time (e.g., pip install)</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CMD</a:t>
            </a:r>
            <a:r>
              <a:rPr lang="en-US" sz="2000" b="0" i="0" u="none" strike="noStrike" cap="none" dirty="0">
                <a:solidFill>
                  <a:srgbClr val="666677"/>
                </a:solidFill>
                <a:latin typeface="Calibri"/>
                <a:ea typeface="Calibri"/>
                <a:cs typeface="Calibri"/>
                <a:sym typeface="Calibri"/>
              </a:rPr>
              <a:t>    - the default command when a container is started</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More instructions exist, but this is the bulk of it.</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0"/>
        <p:cNvGrpSpPr/>
        <p:nvPr/>
      </p:nvGrpSpPr>
      <p:grpSpPr>
        <a:xfrm>
          <a:off x="0" y="0"/>
          <a:ext cx="0" cy="0"/>
          <a:chOff x="0" y="0"/>
          <a:chExt cx="0" cy="0"/>
        </a:xfrm>
      </p:grpSpPr>
      <p:sp>
        <p:nvSpPr>
          <p:cNvPr id="261" name="Google Shape;261;g3e32708a311_0_2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real FastAPI Dockerfile</a:t>
            </a:r>
            <a:endParaRPr/>
          </a:p>
        </p:txBody>
      </p:sp>
      <p:sp>
        <p:nvSpPr>
          <p:cNvPr id="262" name="Google Shape;262;g3e32708a311_0_22"/>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263" name="Google Shape;263;g3e32708a311_0_2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4" name="Google Shape;264;g3e32708a311_0_22"/>
          <p:cNvSpPr txBox="1"/>
          <p:nvPr/>
        </p:nvSpPr>
        <p:spPr>
          <a:xfrm>
            <a:off x="1005840" y="1645920"/>
            <a:ext cx="10179900" cy="133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Dockerfile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python:3.12-slim</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WORKDIR /app</a:t>
            </a:r>
            <a:endParaRPr/>
          </a:p>
          <a:p>
            <a:pPr marL="0" marR="0" lvl="0" indent="0" algn="l" rtl="0">
              <a:spcBef>
                <a:spcPts val="200"/>
              </a:spcBef>
              <a:spcAft>
                <a:spcPts val="0"/>
              </a:spcAft>
              <a:buNone/>
            </a:pP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9"/>
        <p:cNvGrpSpPr/>
        <p:nvPr/>
      </p:nvGrpSpPr>
      <p:grpSpPr>
        <a:xfrm>
          <a:off x="0" y="0"/>
          <a:ext cx="0" cy="0"/>
          <a:chOff x="0" y="0"/>
          <a:chExt cx="0" cy="0"/>
        </a:xfrm>
      </p:grpSpPr>
      <p:sp>
        <p:nvSpPr>
          <p:cNvPr id="270" name="Google Shape;270;g3e32708a311_0_3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real FastAPI Dockerfile</a:t>
            </a:r>
            <a:endParaRPr/>
          </a:p>
        </p:txBody>
      </p:sp>
      <p:sp>
        <p:nvSpPr>
          <p:cNvPr id="271" name="Google Shape;271;g3e32708a311_0_3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272" name="Google Shape;272;g3e32708a311_0_3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3" name="Google Shape;273;g3e32708a311_0_30"/>
          <p:cNvSpPr txBox="1"/>
          <p:nvPr/>
        </p:nvSpPr>
        <p:spPr>
          <a:xfrm>
            <a:off x="1005840" y="1645920"/>
            <a:ext cx="10179900" cy="2360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Dockerfile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python:3.12-slim</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WORKDIR /app</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Install dependencies FIRST, before copying code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requirements.txt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RUN pip install --no-cache-dir -r requirements.txt</a:t>
            </a:r>
            <a:endParaRPr/>
          </a:p>
          <a:p>
            <a:pPr marL="0" marR="0" lvl="0" indent="0" algn="l" rtl="0">
              <a:spcBef>
                <a:spcPts val="20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8"/>
        <p:cNvGrpSpPr/>
        <p:nvPr/>
      </p:nvGrpSpPr>
      <p:grpSpPr>
        <a:xfrm>
          <a:off x="0" y="0"/>
          <a:ext cx="0" cy="0"/>
          <a:chOff x="0" y="0"/>
          <a:chExt cx="0" cy="0"/>
        </a:xfrm>
      </p:grpSpPr>
      <p:sp>
        <p:nvSpPr>
          <p:cNvPr id="279" name="Google Shape;279;g3e32708a311_0_3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real FastAPI Dockerfile</a:t>
            </a:r>
            <a:endParaRPr/>
          </a:p>
        </p:txBody>
      </p:sp>
      <p:sp>
        <p:nvSpPr>
          <p:cNvPr id="280" name="Google Shape;280;g3e32708a311_0_38"/>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281" name="Google Shape;281;g3e32708a311_0_38"/>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2" name="Google Shape;282;g3e32708a311_0_38"/>
          <p:cNvSpPr txBox="1"/>
          <p:nvPr/>
        </p:nvSpPr>
        <p:spPr>
          <a:xfrm>
            <a:off x="1005840" y="1645920"/>
            <a:ext cx="10179900" cy="3129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Dockerfile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python:3.12-slim</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WORKDIR /app</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Install dependencies FIRST, before copying code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requirements.txt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RUN pip install --no-cache-dir -r requirements.txt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Now copy the app code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 .</a:t>
            </a:r>
            <a:endParaRPr/>
          </a:p>
          <a:p>
            <a:pPr marL="0" marR="0" lvl="0" indent="0" algn="l" rtl="0">
              <a:spcBef>
                <a:spcPts val="20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7"/>
        <p:cNvGrpSpPr/>
        <p:nvPr/>
      </p:nvGrpSpPr>
      <p:grpSpPr>
        <a:xfrm>
          <a:off x="0" y="0"/>
          <a:ext cx="0" cy="0"/>
          <a:chOff x="0" y="0"/>
          <a:chExt cx="0" cy="0"/>
        </a:xfrm>
      </p:grpSpPr>
      <p:sp>
        <p:nvSpPr>
          <p:cNvPr id="288" name="Google Shape;288;g3e32708a311_0_46"/>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dirty="0">
                <a:solidFill>
                  <a:srgbClr val="1A1A2E"/>
                </a:solidFill>
                <a:latin typeface="Calibri"/>
                <a:ea typeface="Calibri"/>
                <a:cs typeface="Calibri"/>
                <a:sym typeface="Calibri"/>
              </a:rPr>
              <a:t>A </a:t>
            </a:r>
            <a:r>
              <a:rPr lang="en-US" sz="3200" b="1" i="0" u="none" strike="noStrike" cap="none" dirty="0" err="1">
                <a:solidFill>
                  <a:srgbClr val="1A1A2E"/>
                </a:solidFill>
                <a:latin typeface="Calibri"/>
                <a:ea typeface="Calibri"/>
                <a:cs typeface="Calibri"/>
                <a:sym typeface="Calibri"/>
              </a:rPr>
              <a:t>FastAPI</a:t>
            </a:r>
            <a:r>
              <a:rPr lang="en-US" sz="3200" b="1" i="0" u="none" strike="noStrike" cap="none" dirty="0">
                <a:solidFill>
                  <a:srgbClr val="1A1A2E"/>
                </a:solidFill>
                <a:latin typeface="Calibri"/>
                <a:ea typeface="Calibri"/>
                <a:cs typeface="Calibri"/>
                <a:sym typeface="Calibri"/>
              </a:rPr>
              <a:t> </a:t>
            </a:r>
            <a:r>
              <a:rPr lang="en-US" sz="3200" b="1" i="0" u="none" strike="noStrike" cap="none" dirty="0" err="1">
                <a:solidFill>
                  <a:srgbClr val="1A1A2E"/>
                </a:solidFill>
                <a:latin typeface="Calibri"/>
                <a:ea typeface="Calibri"/>
                <a:cs typeface="Calibri"/>
                <a:sym typeface="Calibri"/>
              </a:rPr>
              <a:t>Dockerfile</a:t>
            </a:r>
            <a:endParaRPr dirty="0"/>
          </a:p>
        </p:txBody>
      </p:sp>
      <p:sp>
        <p:nvSpPr>
          <p:cNvPr id="289" name="Google Shape;289;g3e32708a311_0_46"/>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290" name="Google Shape;290;g3e32708a311_0_4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1" name="Google Shape;291;g3e32708a311_0_46"/>
          <p:cNvSpPr txBox="1"/>
          <p:nvPr/>
        </p:nvSpPr>
        <p:spPr>
          <a:xfrm>
            <a:off x="1005840" y="1645920"/>
            <a:ext cx="10179900" cy="389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Dockerfile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python:3.12-slim</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WORKDIR /app</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Install dependencies FIRST, before copying code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requirements.txt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RUN pip install --no-cache-dir -r requirements.txt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Now copy the app code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What to run when the container starts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CMD ["uvicorn", "app:app", "--host", "0.0.0.0", "--port", "8000"]</a:t>
            </a:r>
            <a:endParaRPr/>
          </a:p>
          <a:p>
            <a:pPr marL="0" marR="0" lvl="0" indent="0" algn="l" rtl="0">
              <a:spcBef>
                <a:spcPts val="20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6"/>
        <p:cNvGrpSpPr/>
        <p:nvPr/>
      </p:nvGrpSpPr>
      <p:grpSpPr>
        <a:xfrm>
          <a:off x="0" y="0"/>
          <a:ext cx="0" cy="0"/>
          <a:chOff x="0" y="0"/>
          <a:chExt cx="0" cy="0"/>
        </a:xfrm>
      </p:grpSpPr>
      <p:sp>
        <p:nvSpPr>
          <p:cNvPr id="297" name="Google Shape;297;p15"/>
          <p:cNvSpPr txBox="1"/>
          <p:nvPr/>
        </p:nvSpPr>
        <p:spPr>
          <a:xfrm>
            <a:off x="731520" y="365760"/>
            <a:ext cx="10728655"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dirty="0">
                <a:solidFill>
                  <a:srgbClr val="1A1A2E"/>
                </a:solidFill>
                <a:latin typeface="Calibri"/>
                <a:ea typeface="Calibri"/>
                <a:cs typeface="Calibri"/>
                <a:sym typeface="Calibri"/>
              </a:rPr>
              <a:t>A </a:t>
            </a:r>
            <a:r>
              <a:rPr lang="en-US" sz="3200" b="1" i="0" u="none" strike="noStrike" cap="none" dirty="0" err="1">
                <a:solidFill>
                  <a:srgbClr val="1A1A2E"/>
                </a:solidFill>
                <a:latin typeface="Calibri"/>
                <a:ea typeface="Calibri"/>
                <a:cs typeface="Calibri"/>
                <a:sym typeface="Calibri"/>
              </a:rPr>
              <a:t>FastAPI</a:t>
            </a:r>
            <a:r>
              <a:rPr lang="en-US" sz="3200" b="1" i="0" u="none" strike="noStrike" cap="none" dirty="0">
                <a:solidFill>
                  <a:srgbClr val="1A1A2E"/>
                </a:solidFill>
                <a:latin typeface="Calibri"/>
                <a:ea typeface="Calibri"/>
                <a:cs typeface="Calibri"/>
                <a:sym typeface="Calibri"/>
              </a:rPr>
              <a:t> </a:t>
            </a:r>
            <a:r>
              <a:rPr lang="en-US" sz="3200" b="1" i="0" u="none" strike="noStrike" cap="none" dirty="0" err="1">
                <a:solidFill>
                  <a:srgbClr val="1A1A2E"/>
                </a:solidFill>
                <a:latin typeface="Calibri"/>
                <a:ea typeface="Calibri"/>
                <a:cs typeface="Calibri"/>
                <a:sym typeface="Calibri"/>
              </a:rPr>
              <a:t>Dockerfile</a:t>
            </a:r>
            <a:endParaRPr dirty="0"/>
          </a:p>
        </p:txBody>
      </p:sp>
      <p:sp>
        <p:nvSpPr>
          <p:cNvPr id="298" name="Google Shape;298;p15"/>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299" name="Google Shape;299;p1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0" name="Google Shape;300;p15"/>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dirty="0">
                <a:solidFill>
                  <a:srgbClr val="333344"/>
                </a:solidFill>
                <a:latin typeface="Courier New"/>
                <a:ea typeface="Courier New"/>
                <a:cs typeface="Courier New"/>
                <a:sym typeface="Courier New"/>
              </a:rPr>
              <a:t># </a:t>
            </a:r>
            <a:r>
              <a:rPr lang="en-US" sz="1500" b="1" i="0" u="none" strike="noStrike" cap="none" dirty="0" err="1">
                <a:solidFill>
                  <a:srgbClr val="333344"/>
                </a:solidFill>
                <a:latin typeface="Courier New"/>
                <a:ea typeface="Courier New"/>
                <a:cs typeface="Courier New"/>
                <a:sym typeface="Courier New"/>
              </a:rPr>
              <a:t>Dockerfile</a:t>
            </a:r>
            <a:endParaRPr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FROM python:3.12-slim</a:t>
            </a:r>
            <a:endParaRPr dirty="0"/>
          </a:p>
          <a:p>
            <a:pPr marL="0" marR="0" lvl="0" indent="0" algn="l" rtl="0">
              <a:spcBef>
                <a:spcPts val="200"/>
              </a:spcBef>
              <a:spcAft>
                <a:spcPts val="0"/>
              </a:spcAft>
              <a:buNone/>
            </a:pPr>
            <a:endParaRPr sz="1500" b="1" i="0" u="none" strike="noStrike" cap="none" dirty="0">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WORKDIR /app</a:t>
            </a:r>
            <a:endParaRPr dirty="0"/>
          </a:p>
          <a:p>
            <a:pPr marL="0" marR="0" lvl="0" indent="0" algn="l" rtl="0">
              <a:spcBef>
                <a:spcPts val="200"/>
              </a:spcBef>
              <a:spcAft>
                <a:spcPts val="0"/>
              </a:spcAft>
              <a:buNone/>
            </a:pPr>
            <a:endParaRPr sz="1500" b="1" i="0" u="none" strike="noStrike" cap="none" dirty="0">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Install dependencies FIRST, before copying code</a:t>
            </a:r>
            <a:endParaRPr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COPY </a:t>
            </a:r>
            <a:r>
              <a:rPr lang="en-US" sz="1500" b="1" i="0" u="none" strike="noStrike" cap="none" dirty="0" err="1">
                <a:solidFill>
                  <a:srgbClr val="333344"/>
                </a:solidFill>
                <a:latin typeface="Courier New"/>
                <a:ea typeface="Courier New"/>
                <a:cs typeface="Courier New"/>
                <a:sym typeface="Courier New"/>
              </a:rPr>
              <a:t>requirements.txt</a:t>
            </a:r>
            <a:r>
              <a:rPr lang="en-US" sz="1500" b="1" i="0" u="none" strike="noStrike" cap="none" dirty="0">
                <a:solidFill>
                  <a:srgbClr val="333344"/>
                </a:solidFill>
                <a:latin typeface="Courier New"/>
                <a:ea typeface="Courier New"/>
                <a:cs typeface="Courier New"/>
                <a:sym typeface="Courier New"/>
              </a:rPr>
              <a:t> .</a:t>
            </a:r>
            <a:endParaRPr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RUN pip install --no-cache-</a:t>
            </a:r>
            <a:r>
              <a:rPr lang="en-US" sz="1500" b="1" i="0" u="none" strike="noStrike" cap="none" dirty="0" err="1">
                <a:solidFill>
                  <a:srgbClr val="333344"/>
                </a:solidFill>
                <a:latin typeface="Courier New"/>
                <a:ea typeface="Courier New"/>
                <a:cs typeface="Courier New"/>
                <a:sym typeface="Courier New"/>
              </a:rPr>
              <a:t>dir</a:t>
            </a:r>
            <a:r>
              <a:rPr lang="en-US" sz="1500" b="1" i="0" u="none" strike="noStrike" cap="none" dirty="0">
                <a:solidFill>
                  <a:srgbClr val="333344"/>
                </a:solidFill>
                <a:latin typeface="Courier New"/>
                <a:ea typeface="Courier New"/>
                <a:cs typeface="Courier New"/>
                <a:sym typeface="Courier New"/>
              </a:rPr>
              <a:t> -r </a:t>
            </a:r>
            <a:r>
              <a:rPr lang="en-US" sz="1500" b="1" i="0" u="none" strike="noStrike" cap="none" dirty="0" err="1">
                <a:solidFill>
                  <a:srgbClr val="333344"/>
                </a:solidFill>
                <a:latin typeface="Courier New"/>
                <a:ea typeface="Courier New"/>
                <a:cs typeface="Courier New"/>
                <a:sym typeface="Courier New"/>
              </a:rPr>
              <a:t>requirements.txt</a:t>
            </a:r>
            <a:endParaRPr dirty="0"/>
          </a:p>
          <a:p>
            <a:pPr marL="0" marR="0" lvl="0" indent="0" algn="l" rtl="0">
              <a:spcBef>
                <a:spcPts val="200"/>
              </a:spcBef>
              <a:spcAft>
                <a:spcPts val="0"/>
              </a:spcAft>
              <a:buNone/>
            </a:pPr>
            <a:endParaRPr sz="1500" b="1" i="0" u="none" strike="noStrike" cap="none" dirty="0">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Now copy the app code</a:t>
            </a:r>
            <a:endParaRPr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COPY . .</a:t>
            </a:r>
            <a:endParaRPr dirty="0"/>
          </a:p>
          <a:p>
            <a:pPr marL="0" marR="0" lvl="0" indent="0" algn="l" rtl="0">
              <a:spcBef>
                <a:spcPts val="200"/>
              </a:spcBef>
              <a:spcAft>
                <a:spcPts val="0"/>
              </a:spcAft>
              <a:buNone/>
            </a:pPr>
            <a:endParaRPr sz="1500" b="1" i="0" u="none" strike="noStrike" cap="none" dirty="0">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What to run when the container starts</a:t>
            </a:r>
            <a:endParaRPr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CMD ["</a:t>
            </a:r>
            <a:r>
              <a:rPr lang="en-US" sz="1500" b="1" i="0" u="none" strike="noStrike" cap="none" dirty="0" err="1">
                <a:solidFill>
                  <a:srgbClr val="333344"/>
                </a:solidFill>
                <a:latin typeface="Courier New"/>
                <a:ea typeface="Courier New"/>
                <a:cs typeface="Courier New"/>
                <a:sym typeface="Courier New"/>
              </a:rPr>
              <a:t>uvicorn</a:t>
            </a:r>
            <a:r>
              <a:rPr lang="en-US" sz="1500" b="1" i="0" u="none" strike="noStrike" cap="none" dirty="0">
                <a:solidFill>
                  <a:srgbClr val="333344"/>
                </a:solidFill>
                <a:latin typeface="Courier New"/>
                <a:ea typeface="Courier New"/>
                <a:cs typeface="Courier New"/>
                <a:sym typeface="Courier New"/>
              </a:rPr>
              <a:t>", "</a:t>
            </a:r>
            <a:r>
              <a:rPr lang="en-US" sz="1500" b="1" i="0" u="none" strike="noStrike" cap="none" dirty="0" err="1">
                <a:solidFill>
                  <a:srgbClr val="333344"/>
                </a:solidFill>
                <a:latin typeface="Courier New"/>
                <a:ea typeface="Courier New"/>
                <a:cs typeface="Courier New"/>
                <a:sym typeface="Courier New"/>
              </a:rPr>
              <a:t>app:app</a:t>
            </a:r>
            <a:r>
              <a:rPr lang="en-US" sz="1500" b="1" i="0" u="none" strike="noStrike" cap="none" dirty="0">
                <a:solidFill>
                  <a:srgbClr val="333344"/>
                </a:solidFill>
                <a:latin typeface="Courier New"/>
                <a:ea typeface="Courier New"/>
                <a:cs typeface="Courier New"/>
                <a:sym typeface="Courier New"/>
              </a:rPr>
              <a:t>", "--host", "0.0.0.0", "--port", "8000"]</a:t>
            </a:r>
            <a:endParaRPr dirty="0"/>
          </a:p>
          <a:p>
            <a:pPr marL="0" marR="0" lvl="0" indent="0" algn="l" rtl="0">
              <a:spcBef>
                <a:spcPts val="200"/>
              </a:spcBef>
              <a:spcAft>
                <a:spcPts val="0"/>
              </a:spcAft>
              <a:buNone/>
            </a:pPr>
            <a:endParaRPr sz="1500" b="1" i="0" u="none" strike="noStrike" cap="none" dirty="0">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Build it:  docker build -t my-</a:t>
            </a:r>
            <a:r>
              <a:rPr lang="en-US" sz="1500" b="1" i="0" u="none" strike="noStrike" cap="none" dirty="0" err="1">
                <a:solidFill>
                  <a:srgbClr val="333344"/>
                </a:solidFill>
                <a:latin typeface="Courier New"/>
                <a:ea typeface="Courier New"/>
                <a:cs typeface="Courier New"/>
                <a:sym typeface="Courier New"/>
              </a:rPr>
              <a:t>fastapi</a:t>
            </a:r>
            <a:r>
              <a:rPr lang="en-US" sz="1500" b="1" i="0" u="none" strike="noStrike" cap="none" dirty="0">
                <a:solidFill>
                  <a:srgbClr val="333344"/>
                </a:solidFill>
                <a:latin typeface="Courier New"/>
                <a:ea typeface="Courier New"/>
                <a:cs typeface="Courier New"/>
                <a:sym typeface="Courier New"/>
              </a:rPr>
              <a:t> .</a:t>
            </a:r>
            <a:endParaRPr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Run it:    docker run -p 8000:8000 my-</a:t>
            </a:r>
            <a:r>
              <a:rPr lang="en-US" sz="1500" b="1" i="0" u="none" strike="noStrike" cap="none" dirty="0" err="1">
                <a:solidFill>
                  <a:srgbClr val="333344"/>
                </a:solidFill>
                <a:latin typeface="Courier New"/>
                <a:ea typeface="Courier New"/>
                <a:cs typeface="Courier New"/>
                <a:sym typeface="Courier New"/>
              </a:rPr>
              <a:t>fastapi</a:t>
            </a:r>
            <a:endParaRPr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5"/>
        <p:cNvGrpSpPr/>
        <p:nvPr/>
      </p:nvGrpSpPr>
      <p:grpSpPr>
        <a:xfrm>
          <a:off x="0" y="0"/>
          <a:ext cx="0" cy="0"/>
          <a:chOff x="0" y="0"/>
          <a:chExt cx="0" cy="0"/>
        </a:xfrm>
      </p:grpSpPr>
      <p:sp>
        <p:nvSpPr>
          <p:cNvPr id="306" name="Google Shape;306;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Layer caching: why Dockerfile order matters</a:t>
            </a:r>
            <a:endParaRPr/>
          </a:p>
        </p:txBody>
      </p:sp>
      <p:sp>
        <p:nvSpPr>
          <p:cNvPr id="307" name="Google Shape;307;p16"/>
          <p:cNvSpPr txBox="1"/>
          <p:nvPr/>
        </p:nvSpPr>
        <p:spPr>
          <a:xfrm>
            <a:off x="914400" y="1463040"/>
            <a:ext cx="10362900" cy="487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Every instruction creates a </a:t>
            </a:r>
            <a:r>
              <a:rPr lang="en-US" sz="2400" b="1" i="0" u="none" strike="noStrike" cap="none" dirty="0">
                <a:solidFill>
                  <a:srgbClr val="333344"/>
                </a:solidFill>
                <a:latin typeface="Calibri"/>
                <a:ea typeface="Calibri"/>
                <a:cs typeface="Calibri"/>
                <a:sym typeface="Calibri"/>
              </a:rPr>
              <a:t>layer</a:t>
            </a:r>
            <a:r>
              <a:rPr lang="en-US" sz="2400" b="0" i="0" u="none" strike="noStrike" cap="none" dirty="0">
                <a:solidFill>
                  <a:srgbClr val="333344"/>
                </a:solidFill>
                <a:latin typeface="Calibri"/>
                <a:ea typeface="Calibri"/>
                <a:cs typeface="Calibri"/>
                <a:sym typeface="Calibri"/>
              </a:rPr>
              <a:t> - a filesystem diff Docker caches separately.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endParaRPr dirty="0"/>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On re-build, Docker checks each layer: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Nothing above this step changed? -&gt; reuse the cached layer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Something changed? -&gt; rebuild this step AND everything after it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This is why dependencies go BEFORE copying your code:</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 change `</a:t>
            </a:r>
            <a:r>
              <a:rPr lang="en-US" sz="2000" b="0" i="0" u="none" strike="noStrike" cap="none" dirty="0" err="1">
                <a:solidFill>
                  <a:srgbClr val="666677"/>
                </a:solidFill>
                <a:latin typeface="Calibri"/>
                <a:ea typeface="Calibri"/>
                <a:cs typeface="Calibri"/>
                <a:sym typeface="Calibri"/>
              </a:rPr>
              <a:t>app.py</a:t>
            </a:r>
            <a:r>
              <a:rPr lang="en-US" sz="2000" b="0" i="0" u="none" strike="noStrike" cap="none" dirty="0">
                <a:solidFill>
                  <a:srgbClr val="666677"/>
                </a:solidFill>
                <a:latin typeface="Calibri"/>
                <a:ea typeface="Calibri"/>
                <a:cs typeface="Calibri"/>
                <a:sym typeface="Calibri"/>
              </a:rPr>
              <a:t>` 50 times a day. You almost never change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0" i="0" u="none" strike="noStrike" cap="none" dirty="0" err="1">
                <a:solidFill>
                  <a:srgbClr val="666677"/>
                </a:solidFill>
                <a:latin typeface="Calibri"/>
                <a:ea typeface="Calibri"/>
                <a:cs typeface="Calibri"/>
                <a:sym typeface="Calibri"/>
              </a:rPr>
              <a:t>requirements.txt</a:t>
            </a:r>
            <a:r>
              <a:rPr lang="en-US" sz="2000" b="0" i="0" u="none" strike="noStrike" cap="none" dirty="0">
                <a:solidFill>
                  <a:srgbClr val="666677"/>
                </a:solidFill>
                <a:latin typeface="Calibri"/>
                <a:ea typeface="Calibri"/>
                <a:cs typeface="Calibri"/>
                <a:sym typeface="Calibri"/>
              </a:rPr>
              <a:t>`. Putting pip install above COPY means "change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0" i="0" u="none" strike="noStrike" cap="none" dirty="0" err="1">
                <a:solidFill>
                  <a:srgbClr val="666677"/>
                </a:solidFill>
                <a:latin typeface="Calibri"/>
                <a:ea typeface="Calibri"/>
                <a:cs typeface="Calibri"/>
                <a:sym typeface="Calibri"/>
              </a:rPr>
              <a:t>app.py</a:t>
            </a:r>
            <a:r>
              <a:rPr lang="en-US" sz="2000" b="0" i="0" u="none" strike="noStrike" cap="none" dirty="0">
                <a:solidFill>
                  <a:srgbClr val="666677"/>
                </a:solidFill>
                <a:latin typeface="Calibri"/>
                <a:ea typeface="Calibri"/>
                <a:cs typeface="Calibri"/>
                <a:sym typeface="Calibri"/>
              </a:rPr>
              <a:t>, rebuild in 2s. Change requirements, rebuild in 30s."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err="1">
                <a:solidFill>
                  <a:srgbClr val="333344"/>
                </a:solidFill>
                <a:latin typeface="Calibri"/>
                <a:ea typeface="Calibri"/>
                <a:cs typeface="Calibri"/>
                <a:sym typeface="Calibri"/>
              </a:rPr>
              <a:t>Dockerfile</a:t>
            </a:r>
            <a:r>
              <a:rPr lang="en-US" sz="2400" b="0" i="0" u="none" strike="noStrike" cap="none" dirty="0">
                <a:solidFill>
                  <a:srgbClr val="333344"/>
                </a:solidFill>
                <a:latin typeface="Calibri"/>
                <a:ea typeface="Calibri"/>
                <a:cs typeface="Calibri"/>
                <a:sym typeface="Calibri"/>
              </a:rPr>
              <a:t> order = rebuild speed. Slow things first, fast last.</a:t>
            </a: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2"/>
        <p:cNvGrpSpPr/>
        <p:nvPr/>
      </p:nvGrpSpPr>
      <p:grpSpPr>
        <a:xfrm>
          <a:off x="0" y="0"/>
          <a:ext cx="0" cy="0"/>
          <a:chOff x="0" y="0"/>
          <a:chExt cx="0" cy="0"/>
        </a:xfrm>
      </p:grpSpPr>
      <p:sp>
        <p:nvSpPr>
          <p:cNvPr id="313" name="Google Shape;313;g3e32708a311_0_54"/>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dirty="0">
                <a:solidFill>
                  <a:srgbClr val="1A1A2E"/>
                </a:solidFill>
                <a:latin typeface="Calibri"/>
                <a:ea typeface="Calibri"/>
                <a:cs typeface="Calibri"/>
                <a:sym typeface="Calibri"/>
              </a:rPr>
              <a:t>I edit </a:t>
            </a:r>
            <a:r>
              <a:rPr lang="en-US" sz="3200" b="1" i="0" u="none" strike="noStrike" cap="none" dirty="0" err="1">
                <a:solidFill>
                  <a:srgbClr val="1A1A2E"/>
                </a:solidFill>
                <a:latin typeface="Calibri"/>
                <a:ea typeface="Calibri"/>
                <a:cs typeface="Calibri"/>
                <a:sym typeface="Calibri"/>
              </a:rPr>
              <a:t>app.py</a:t>
            </a:r>
            <a:r>
              <a:rPr lang="en-US" sz="3200" b="1" i="0" u="none" strike="noStrike" cap="none" dirty="0">
                <a:solidFill>
                  <a:srgbClr val="1A1A2E"/>
                </a:solidFill>
                <a:latin typeface="Calibri"/>
                <a:ea typeface="Calibri"/>
                <a:cs typeface="Calibri"/>
                <a:sym typeface="Calibri"/>
              </a:rPr>
              <a:t>. Which layers rebuild?</a:t>
            </a:r>
            <a:endParaRPr dirty="0"/>
          </a:p>
        </p:txBody>
      </p:sp>
      <p:sp>
        <p:nvSpPr>
          <p:cNvPr id="314" name="Google Shape;314;g3e32708a311_0_54"/>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315" name="Google Shape;315;g3e32708a311_0_5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6" name="Google Shape;316;g3e32708a311_0_54"/>
          <p:cNvSpPr txBox="1"/>
          <p:nvPr/>
        </p:nvSpPr>
        <p:spPr>
          <a:xfrm>
            <a:off x="1005840" y="1645920"/>
            <a:ext cx="10179900" cy="2606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The image was built from this Dockerfile. Layers, top to bottom:</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[1]  FROM python:3.12-slim</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[2]  WORKDIR /app</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[3]  COPY requirements.txt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[4]  RUN pip install -r requirements.txt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[5]  COPY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[6]  CMD ["uvicorn", "app:app", ...]</a:t>
            </a:r>
            <a:endParaRPr/>
          </a:p>
          <a:p>
            <a:pPr marL="0" marR="0" lvl="0" indent="0" algn="l" rtl="0">
              <a:spcBef>
                <a:spcPts val="20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1"/>
        <p:cNvGrpSpPr/>
        <p:nvPr/>
      </p:nvGrpSpPr>
      <p:grpSpPr>
        <a:xfrm>
          <a:off x="0" y="0"/>
          <a:ext cx="0" cy="0"/>
          <a:chOff x="0" y="0"/>
          <a:chExt cx="0" cy="0"/>
        </a:xfrm>
      </p:grpSpPr>
      <p:sp>
        <p:nvSpPr>
          <p:cNvPr id="322" name="Google Shape;322;p17"/>
          <p:cNvSpPr txBox="1"/>
          <p:nvPr/>
        </p:nvSpPr>
        <p:spPr>
          <a:xfrm>
            <a:off x="731520" y="365760"/>
            <a:ext cx="10728655"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dirty="0">
                <a:solidFill>
                  <a:srgbClr val="1A1A2E"/>
                </a:solidFill>
                <a:latin typeface="Calibri"/>
                <a:ea typeface="Calibri"/>
                <a:cs typeface="Calibri"/>
                <a:sym typeface="Calibri"/>
              </a:rPr>
              <a:t>I edit </a:t>
            </a:r>
            <a:r>
              <a:rPr lang="en-US" sz="3200" b="1" i="0" u="none" strike="noStrike" cap="none" dirty="0" err="1">
                <a:solidFill>
                  <a:srgbClr val="1A1A2E"/>
                </a:solidFill>
                <a:latin typeface="Calibri"/>
                <a:ea typeface="Calibri"/>
                <a:cs typeface="Calibri"/>
                <a:sym typeface="Calibri"/>
              </a:rPr>
              <a:t>app.py</a:t>
            </a:r>
            <a:r>
              <a:rPr lang="en-US" sz="3200" b="1" i="0" u="none" strike="noStrike" cap="none" dirty="0">
                <a:solidFill>
                  <a:srgbClr val="1A1A2E"/>
                </a:solidFill>
                <a:latin typeface="Calibri"/>
                <a:ea typeface="Calibri"/>
                <a:cs typeface="Calibri"/>
                <a:sym typeface="Calibri"/>
              </a:rPr>
              <a:t>. Which layers rebuild?</a:t>
            </a:r>
            <a:endParaRPr dirty="0"/>
          </a:p>
        </p:txBody>
      </p:sp>
      <p:sp>
        <p:nvSpPr>
          <p:cNvPr id="323" name="Google Shape;323;p1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324" name="Google Shape;324;p1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5" name="Google Shape;325;p17"/>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The image was built from this Dockerfile. Layers, top to bottom:</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[1]  FROM python:3.12-slim</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[2]  WORKDIR /app</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[3]  COPY requirements.txt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[4]  RUN pip install -r requirements.txt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[5]  COPY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[6]  CMD ["uvicorn", "app:app", ...]</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 change one line in app.py and run `docker build` again.</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Which layers get rebuilt?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  All six - a rebuild is a rebuild</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(b)  Just [5] - only the layer that copied app.py in</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(c)  [5] and [6] - that layer and everything after it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(d)  [3] through [6] - everything that touches code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0"/>
        <p:cNvGrpSpPr/>
        <p:nvPr/>
      </p:nvGrpSpPr>
      <p:grpSpPr>
        <a:xfrm>
          <a:off x="0" y="0"/>
          <a:ext cx="0" cy="0"/>
          <a:chOff x="0" y="0"/>
          <a:chExt cx="0" cy="0"/>
        </a:xfrm>
      </p:grpSpPr>
      <p:sp>
        <p:nvSpPr>
          <p:cNvPr id="331" name="Google Shape;331;g3e32708a311_0_6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Ordering matters: bad vs good</a:t>
            </a:r>
            <a:endParaRPr/>
          </a:p>
        </p:txBody>
      </p:sp>
      <p:sp>
        <p:nvSpPr>
          <p:cNvPr id="332" name="Google Shape;332;g3e32708a311_0_62"/>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333" name="Google Shape;333;g3e32708a311_0_6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4" name="Google Shape;334;g3e32708a311_0_62"/>
          <p:cNvSpPr txBox="1"/>
          <p:nvPr/>
        </p:nvSpPr>
        <p:spPr>
          <a:xfrm>
            <a:off x="1005840" y="1645920"/>
            <a:ext cx="10179900" cy="2360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BAD - code copied before deps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python:3.12-slim</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WORKDIR /app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 .                          # invalidates cache on every code change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CMD ["uvicorn", "app:app"]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Every `app.py` edit triggers a full pip install. Slow.</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9"/>
        <p:cNvGrpSpPr/>
        <p:nvPr/>
      </p:nvGrpSpPr>
      <p:grpSpPr>
        <a:xfrm>
          <a:off x="0" y="0"/>
          <a:ext cx="0" cy="0"/>
          <a:chOff x="0" y="0"/>
          <a:chExt cx="0" cy="0"/>
        </a:xfrm>
      </p:grpSpPr>
      <p:sp>
        <p:nvSpPr>
          <p:cNvPr id="340" name="Google Shape;340;p1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Ordering matters: bad vs good</a:t>
            </a:r>
            <a:endParaRPr/>
          </a:p>
        </p:txBody>
      </p:sp>
      <p:sp>
        <p:nvSpPr>
          <p:cNvPr id="341" name="Google Shape;341;p18"/>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342" name="Google Shape;342;p18"/>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3" name="Google Shape;343;p18"/>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BAD - code copied before deps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python:3.12-slim</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WORKDIR /app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 .                          # invalidates cache on every code change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CMD ["uvicorn", "app:app"]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Every `app.py` edit triggers a full pip install. Slow.</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GOOD - deps copied and installed first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python:3.12-slim</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WORKDIR /app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requirements.txt .            # cache invalidates only when deps change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 .                           # only this layer rebuilds on code change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CMD ["uvicorn", "app:app"]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Code edits rebuild in 2 seconds. Deps change rebuilds in 30.</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48"/>
        <p:cNvGrpSpPr/>
        <p:nvPr/>
      </p:nvGrpSpPr>
      <p:grpSpPr>
        <a:xfrm>
          <a:off x="0" y="0"/>
          <a:ext cx="0" cy="0"/>
          <a:chOff x="0" y="0"/>
          <a:chExt cx="0" cy="0"/>
        </a:xfrm>
      </p:grpSpPr>
      <p:sp>
        <p:nvSpPr>
          <p:cNvPr id="349" name="Google Shape;349;p19"/>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Building and Running</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4"/>
        <p:cNvGrpSpPr/>
        <p:nvPr/>
      </p:nvGrpSpPr>
      <p:grpSpPr>
        <a:xfrm>
          <a:off x="0" y="0"/>
          <a:ext cx="0" cy="0"/>
          <a:chOff x="0" y="0"/>
          <a:chExt cx="0" cy="0"/>
        </a:xfrm>
      </p:grpSpPr>
      <p:sp>
        <p:nvSpPr>
          <p:cNvPr id="355" name="Google Shape;355;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Building an image</a:t>
            </a:r>
            <a:endParaRPr/>
          </a:p>
        </p:txBody>
      </p:sp>
      <p:sp>
        <p:nvSpPr>
          <p:cNvPr id="356" name="Google Shape;356;p20"/>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57" name="Google Shape;357;p20"/>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8" name="Google Shape;358;p20"/>
          <p:cNvSpPr txBox="1"/>
          <p:nvPr/>
        </p:nvSpPr>
        <p:spPr>
          <a:xfrm>
            <a:off x="1005840" y="1645920"/>
            <a:ext cx="10179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From the directory with the Dockerfile: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docker build -t chat-app .</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Building 2.3s (10/10) FINISHED</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[1/6] FROM docker.io/library/python:3.12-slim          0.0s</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[2/6] WORKDIR /app                                     0.0s</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[3/6] COPY requirements.txt .                          0.0s</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[4/6] RUN pip install -r requirements.txt              1.9s</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[5/6] COPY . .                                         0.1s</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[6/6] [...]                                            0.0s</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exporting to image                                     0.2s</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=&gt; naming to docker.io/library/chat-app                0.0s</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 chat-app  - tag the resulting image with this name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            - the build context (directory Docker copies FROM)</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3"/>
        <p:cNvGrpSpPr/>
        <p:nvPr/>
      </p:nvGrpSpPr>
      <p:grpSpPr>
        <a:xfrm>
          <a:off x="0" y="0"/>
          <a:ext cx="0" cy="0"/>
          <a:chOff x="0" y="0"/>
          <a:chExt cx="0" cy="0"/>
        </a:xfrm>
      </p:grpSpPr>
      <p:sp>
        <p:nvSpPr>
          <p:cNvPr id="364" name="Google Shape;364;g3e32708a311_0_7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Running a container from the image</a:t>
            </a:r>
            <a:endParaRPr/>
          </a:p>
        </p:txBody>
      </p:sp>
      <p:sp>
        <p:nvSpPr>
          <p:cNvPr id="365" name="Google Shape;365;g3e32708a311_0_7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66" name="Google Shape;366;g3e32708a311_0_7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67" name="Google Shape;367;g3e32708a311_0_70"/>
          <p:cNvSpPr txBox="1"/>
          <p:nvPr/>
        </p:nvSpPr>
        <p:spPr>
          <a:xfrm>
            <a:off x="1005840" y="1645920"/>
            <a:ext cx="10179900" cy="261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docker run -p 8000:8000 chat-app</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INFO:     Uvicorn running on http://0.0.0.0:8000</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INFO:     Application startup complete.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 8000:8000 means: map host port 8000 -&gt; container port 8000</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Now http://localhost:8000 on your laptop reaches the container.</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2"/>
        <p:cNvGrpSpPr/>
        <p:nvPr/>
      </p:nvGrpSpPr>
      <p:grpSpPr>
        <a:xfrm>
          <a:off x="0" y="0"/>
          <a:ext cx="0" cy="0"/>
          <a:chOff x="0" y="0"/>
          <a:chExt cx="0" cy="0"/>
        </a:xfrm>
      </p:grpSpPr>
      <p:sp>
        <p:nvSpPr>
          <p:cNvPr id="373" name="Google Shape;373;p2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Running a container from the image</a:t>
            </a:r>
            <a:endParaRPr/>
          </a:p>
        </p:txBody>
      </p:sp>
      <p:sp>
        <p:nvSpPr>
          <p:cNvPr id="374" name="Google Shape;374;p21"/>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75" name="Google Shape;375;p21"/>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76" name="Google Shape;376;p21"/>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docker run -p 8000:8000 chat-app</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INFO:     Uvicorn running on http://0.0.0.0:8000</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INFO:     Application startup complete.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 8000:8000 means: map host port 8000 -&gt; container port 8000</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Now http://localhost:8000 on your laptop reaches the container.</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To stop it, Ctrl-C in the terminal, or: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docker ps                    # list running containers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docker stop &lt;container-id&gt;   # stop a specific one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To pass an environment variable at run time: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docker run -p 8000:8000 -e DATABASE_URL=postgres://... chat-app</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1"/>
        <p:cNvGrpSpPr/>
        <p:nvPr/>
      </p:nvGrpSpPr>
      <p:grpSpPr>
        <a:xfrm>
          <a:off x="0" y="0"/>
          <a:ext cx="0" cy="0"/>
          <a:chOff x="0" y="0"/>
          <a:chExt cx="0" cy="0"/>
        </a:xfrm>
      </p:grpSpPr>
      <p:sp>
        <p:nvSpPr>
          <p:cNvPr id="382" name="Google Shape;382;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it runs, but the page won't load</a:t>
            </a:r>
            <a:endParaRPr/>
          </a:p>
        </p:txBody>
      </p:sp>
      <p:sp>
        <p:nvSpPr>
          <p:cNvPr id="383" name="Google Shape;383;p2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84" name="Google Shape;384;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85" name="Google Shape;385;p22"/>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docker run chat-app</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INFO:     Uvicorn running on http://0.0.0.0:8000</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INFO:     Application startup complete.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container is clearly up. In another terminal: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docker ps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CONTAINER ID   IMAGE      STATUS         PORTS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3f9a1c2b...    chat-app   Up 4 seconds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But http://localhost:8000 in your browser shows nothing.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Connection refused. The app IS running. Why can't you reach it?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  uvicorn bound to the wrong address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(b)  the run command is missing `-p 8000:8000`</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  Docker isn't running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  you just have to wait longer for startup</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0"/>
        <p:cNvGrpSpPr/>
        <p:nvPr/>
      </p:nvGrpSpPr>
      <p:grpSpPr>
        <a:xfrm>
          <a:off x="0" y="0"/>
          <a:ext cx="0" cy="0"/>
          <a:chOff x="0" y="0"/>
          <a:chExt cx="0" cy="0"/>
        </a:xfrm>
      </p:grpSpPr>
      <p:sp>
        <p:nvSpPr>
          <p:cNvPr id="391" name="Google Shape;391;g3e32708a311_0_8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the port mapping actually does</a:t>
            </a:r>
            <a:endParaRPr/>
          </a:p>
        </p:txBody>
      </p:sp>
      <p:sp>
        <p:nvSpPr>
          <p:cNvPr id="392" name="Google Shape;392;g3e32708a311_0_86"/>
          <p:cNvSpPr txBox="1"/>
          <p:nvPr/>
        </p:nvSpPr>
        <p:spPr>
          <a:xfrm>
            <a:off x="914400" y="1463040"/>
            <a:ext cx="10362900" cy="235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Inside the container, your FastAPI app binds to port 8000 --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but that 8000 is the CONTAINER's port, not your laptop's.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By default, the container is isolated: nobody outside it can connect.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have to explicitly open a port.</a:t>
            </a:r>
            <a:endParaRPr/>
          </a:p>
          <a:p>
            <a:pPr marL="457200" marR="0" lvl="1" indent="0" algn="l" rtl="0">
              <a:spcBef>
                <a:spcPts val="600"/>
              </a:spcBef>
              <a:spcAft>
                <a:spcPts val="0"/>
              </a:spcAft>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7"/>
        <p:cNvGrpSpPr/>
        <p:nvPr/>
      </p:nvGrpSpPr>
      <p:grpSpPr>
        <a:xfrm>
          <a:off x="0" y="0"/>
          <a:ext cx="0" cy="0"/>
          <a:chOff x="0" y="0"/>
          <a:chExt cx="0" cy="0"/>
        </a:xfrm>
      </p:grpSpPr>
      <p:sp>
        <p:nvSpPr>
          <p:cNvPr id="398" name="Google Shape;398;p2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the port mapping actually does</a:t>
            </a:r>
            <a:endParaRPr/>
          </a:p>
        </p:txBody>
      </p:sp>
      <p:sp>
        <p:nvSpPr>
          <p:cNvPr id="399" name="Google Shape;399;p23"/>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Inside the container, your FastAPI app binds to port 8000 --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but that 8000 is the CONTAINER's port, not your laptop's.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By default, the container is isolated: nobody outside it can connect.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have to explicitly open a port.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-p 8000:8000</a:t>
            </a:r>
            <a:r>
              <a:rPr lang="en-US" sz="2000" b="0" i="0" u="none" strike="noStrike" cap="none">
                <a:solidFill>
                  <a:srgbClr val="666677"/>
                </a:solidFill>
                <a:latin typeface="Calibri"/>
                <a:ea typeface="Calibri"/>
                <a:cs typeface="Calibri"/>
                <a:sym typeface="Calibri"/>
              </a:rPr>
              <a:t> means "forward my laptop's port 8000 to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container's port 8000." Format: `host:container`.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 run multiple containers without conflicts, remap the host side.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-p 9000:8000</a:t>
            </a:r>
            <a:r>
              <a:rPr lang="en-US" sz="2000" b="0" i="0" u="none" strike="noStrike" cap="none">
                <a:solidFill>
                  <a:srgbClr val="666677"/>
                </a:solidFill>
                <a:latin typeface="Calibri"/>
                <a:ea typeface="Calibri"/>
                <a:cs typeface="Calibri"/>
                <a:sym typeface="Calibri"/>
              </a:rPr>
              <a:t> exposes the container at `localhost:9000`</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 your laptop while the app inside still binds to 8000.</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4"/>
        <p:cNvGrpSpPr/>
        <p:nvPr/>
      </p:nvGrpSpPr>
      <p:grpSpPr>
        <a:xfrm>
          <a:off x="0" y="0"/>
          <a:ext cx="0" cy="0"/>
          <a:chOff x="0" y="0"/>
          <a:chExt cx="0" cy="0"/>
        </a:xfrm>
      </p:grpSpPr>
      <p:sp>
        <p:nvSpPr>
          <p:cNvPr id="405" name="Google Shape;405;g3e346b600eb_0_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An image has to live somewhere</a:t>
            </a:r>
            <a:endParaRPr/>
          </a:p>
        </p:txBody>
      </p:sp>
      <p:sp>
        <p:nvSpPr>
          <p:cNvPr id="406" name="Google Shape;406;g3e346b600eb_0_0"/>
          <p:cNvSpPr txBox="1"/>
          <p:nvPr/>
        </p:nvSpPr>
        <p:spPr>
          <a:xfrm>
            <a:off x="914400" y="1463050"/>
            <a:ext cx="10850400" cy="4048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ourier Prime"/>
                <a:ea typeface="Courier Prime"/>
                <a:cs typeface="Courier Prime"/>
                <a:sym typeface="Courier Prime"/>
              </a:rPr>
              <a:t>docker build</a:t>
            </a:r>
            <a:r>
              <a:rPr lang="en-US" sz="2400" b="0" i="0" u="none" strike="noStrike" cap="none">
                <a:solidFill>
                  <a:srgbClr val="333344"/>
                </a:solidFill>
                <a:latin typeface="Calibri"/>
                <a:ea typeface="Calibri"/>
                <a:cs typeface="Calibri"/>
                <a:sym typeface="Calibri"/>
              </a:rPr>
              <a:t> creates the image, but it only puts it one place: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local image store on the machine that ran the build.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Getting it to the cloud requires</a:t>
            </a:r>
            <a:r>
              <a:rPr lang="en-US" sz="2400" b="0" i="0" u="none" strike="noStrike" cap="none">
                <a:solidFill>
                  <a:srgbClr val="333344"/>
                </a:solidFill>
                <a:latin typeface="Calibri"/>
                <a:ea typeface="Calibri"/>
                <a:cs typeface="Calibri"/>
                <a:sym typeface="Calibri"/>
              </a:rPr>
              <a:t> a </a:t>
            </a:r>
            <a:r>
              <a:rPr lang="en-US" sz="2400" b="1" i="0" u="none" strike="noStrike" cap="none">
                <a:solidFill>
                  <a:srgbClr val="333344"/>
                </a:solidFill>
                <a:latin typeface="Calibri"/>
                <a:ea typeface="Calibri"/>
                <a:cs typeface="Calibri"/>
                <a:sym typeface="Calibri"/>
              </a:rPr>
              <a:t>registry</a:t>
            </a:r>
            <a:r>
              <a:rPr lang="en-US" sz="2400" b="0" i="0" u="none" strike="noStrike" cap="none">
                <a:solidFill>
                  <a:srgbClr val="333344"/>
                </a:solidFill>
                <a:latin typeface="Calibri"/>
                <a:ea typeface="Calibri"/>
                <a:cs typeface="Calibri"/>
                <a:sym typeface="Calibri"/>
              </a:rPr>
              <a:t> - a server </a:t>
            </a:r>
            <a:r>
              <a:rPr lang="en-US" sz="2400">
                <a:solidFill>
                  <a:srgbClr val="333344"/>
                </a:solidFill>
                <a:latin typeface="Calibri"/>
                <a:ea typeface="Calibri"/>
                <a:cs typeface="Calibri"/>
                <a:sym typeface="Calibri"/>
              </a:rPr>
              <a:t>that stores</a:t>
            </a:r>
            <a:r>
              <a:rPr lang="en-US" sz="2400" b="0" i="0" u="none" strike="noStrike" cap="none">
                <a:solidFill>
                  <a:srgbClr val="333344"/>
                </a:solidFill>
                <a:latin typeface="Calibri"/>
                <a:ea typeface="Calibri"/>
                <a:cs typeface="Calibri"/>
                <a:sym typeface="Calibri"/>
              </a:rPr>
              <a:t> and hands out images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Docker Hub, GitHub Container Registry (GHCR),</a:t>
            </a:r>
            <a:r>
              <a:rPr lang="en-US"/>
              <a:t> </a:t>
            </a:r>
            <a:r>
              <a:rPr lang="en-US" sz="2000" b="0" i="0" u="none" strike="noStrike" cap="none">
                <a:solidFill>
                  <a:srgbClr val="666677"/>
                </a:solidFill>
                <a:latin typeface="Calibri"/>
                <a:ea typeface="Calibri"/>
                <a:cs typeface="Calibri"/>
                <a:sym typeface="Calibri"/>
              </a:rPr>
              <a:t>and the cloud providers each run one.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docker push</a:t>
            </a:r>
            <a:r>
              <a:rPr lang="en-US" sz="2000" b="0" i="0" u="none" strike="noStrike" cap="none">
                <a:solidFill>
                  <a:srgbClr val="666677"/>
                </a:solidFill>
                <a:latin typeface="Calibri"/>
                <a:ea typeface="Calibri"/>
                <a:cs typeface="Calibri"/>
                <a:sym typeface="Calibri"/>
              </a:rPr>
              <a:t> uploads your image to a registry.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docker pull</a:t>
            </a:r>
            <a:r>
              <a:rPr lang="en-US" sz="2000" b="0" i="0" u="none" strike="noStrike" cap="none">
                <a:solidFill>
                  <a:srgbClr val="666677"/>
                </a:solidFill>
                <a:latin typeface="Calibri"/>
                <a:ea typeface="Calibri"/>
                <a:cs typeface="Calibri"/>
                <a:sym typeface="Calibri"/>
              </a:rPr>
              <a:t> downloads it onto any machine that needs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a:t>
            </a:r>
            <a:r>
              <a:rPr lang="en-US" sz="2400">
                <a:solidFill>
                  <a:srgbClr val="333344"/>
                </a:solidFill>
                <a:latin typeface="Calibri"/>
                <a:ea typeface="Calibri"/>
                <a:cs typeface="Calibri"/>
                <a:sym typeface="Calibri"/>
              </a:rPr>
              <a:t> implicitly do this within a dockerfile</a:t>
            </a:r>
            <a:r>
              <a:rPr lang="en-US" sz="2400" b="0" i="0" u="none" strike="noStrike" cap="none">
                <a:solidFill>
                  <a:srgbClr val="333344"/>
                </a:solidFill>
                <a:latin typeface="Calibri"/>
                <a:ea typeface="Calibri"/>
                <a:cs typeface="Calibri"/>
                <a:sym typeface="Calibri"/>
              </a:rPr>
              <a:t>: </a:t>
            </a:r>
            <a:r>
              <a:rPr lang="en-US" sz="2400" b="1" i="0" u="none" strike="noStrike" cap="none">
                <a:solidFill>
                  <a:srgbClr val="333344"/>
                </a:solidFill>
                <a:latin typeface="Courier Prime"/>
                <a:ea typeface="Courier Prime"/>
                <a:cs typeface="Courier Prime"/>
                <a:sym typeface="Courier Prime"/>
              </a:rPr>
              <a:t>FROM python:3.12-slim</a:t>
            </a:r>
            <a:r>
              <a:rPr lang="en-US" sz="2400" b="0" i="0" u="none" strike="noStrike" cap="none">
                <a:solidFill>
                  <a:srgbClr val="333344"/>
                </a:solidFill>
                <a:latin typeface="Calibri"/>
                <a:ea typeface="Calibri"/>
                <a:cs typeface="Calibri"/>
                <a:sym typeface="Calibri"/>
              </a:rPr>
              <a:t> is a pull.</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1"/>
        <p:cNvGrpSpPr/>
        <p:nvPr/>
      </p:nvGrpSpPr>
      <p:grpSpPr>
        <a:xfrm>
          <a:off x="0" y="0"/>
          <a:ext cx="0" cy="0"/>
          <a:chOff x="0" y="0"/>
          <a:chExt cx="0" cy="0"/>
        </a:xfrm>
      </p:grpSpPr>
      <p:sp>
        <p:nvSpPr>
          <p:cNvPr id="412" name="Google Shape;412;g3e346b600eb_1_8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this image is about to be shared</a:t>
            </a:r>
            <a:endParaRPr/>
          </a:p>
        </p:txBody>
      </p:sp>
      <p:sp>
        <p:nvSpPr>
          <p:cNvPr id="413" name="Google Shape;413;g3e346b600eb_1_89"/>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414" name="Google Shape;414;g3e346b600eb_1_8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5" name="Google Shape;415;g3e346b600eb_1_89"/>
          <p:cNvSpPr txBox="1"/>
          <p:nvPr/>
        </p:nvSpPr>
        <p:spPr>
          <a:xfrm>
            <a:off x="1005840" y="1645920"/>
            <a:ext cx="10179900" cy="261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Your project directory, </a:t>
            </a:r>
            <a:r>
              <a:rPr lang="en-US" sz="1500" b="1">
                <a:solidFill>
                  <a:srgbClr val="333344"/>
                </a:solidFill>
                <a:latin typeface="Courier New"/>
                <a:ea typeface="Courier New"/>
                <a:cs typeface="Courier New"/>
                <a:sym typeface="Courier New"/>
              </a:rPr>
              <a:t>after our previous class</a:t>
            </a: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chat-app/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app.py   requirements.txt   Dockerfile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.env          &lt;-- DATABASE_URL, SUPABASE_JWT_SECRET,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Your Dockerfile copies the project in the usual way: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requirements.txt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 .</a:t>
            </a:r>
            <a:endParaRPr/>
          </a:p>
          <a:p>
            <a:pPr marL="0" marR="0" lvl="0" indent="0" algn="l" rtl="0">
              <a:spcBef>
                <a:spcPts val="200"/>
              </a:spcBef>
              <a:spcAft>
                <a:spcPts val="0"/>
              </a:spcAft>
              <a:buNone/>
            </a:pP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0"/>
        <p:cNvGrpSpPr/>
        <p:nvPr/>
      </p:nvGrpSpPr>
      <p:grpSpPr>
        <a:xfrm>
          <a:off x="0" y="0"/>
          <a:ext cx="0" cy="0"/>
          <a:chOff x="0" y="0"/>
          <a:chExt cx="0" cy="0"/>
        </a:xfrm>
      </p:grpSpPr>
      <p:sp>
        <p:nvSpPr>
          <p:cNvPr id="421" name="Google Shape;421;g3e346b600eb_1_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this image is about to be shared</a:t>
            </a:r>
            <a:endParaRPr/>
          </a:p>
        </p:txBody>
      </p:sp>
      <p:sp>
        <p:nvSpPr>
          <p:cNvPr id="422" name="Google Shape;422;g3e346b600eb_1_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Dockerfile</a:t>
            </a:r>
            <a:endParaRPr/>
          </a:p>
        </p:txBody>
      </p:sp>
      <p:sp>
        <p:nvSpPr>
          <p:cNvPr id="423" name="Google Shape;423;g3e346b600eb_1_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24" name="Google Shape;424;g3e346b600eb_1_0"/>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Your project directory, </a:t>
            </a:r>
            <a:r>
              <a:rPr lang="en-US" sz="1500" b="1">
                <a:solidFill>
                  <a:srgbClr val="333344"/>
                </a:solidFill>
                <a:latin typeface="Courier New"/>
                <a:ea typeface="Courier New"/>
                <a:cs typeface="Courier New"/>
                <a:sym typeface="Courier New"/>
              </a:rPr>
              <a:t>after our previous class</a:t>
            </a: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chat-app/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app.py   requirements.txt   Dockerfile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.env          &lt;-- DATABASE_URL, SUPABASE_JWT_SECRET,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Your Dockerfile copies the project in the usual way: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requirements.txt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COPY .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 build the image and `docker push` it to a registry so a</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teammate can pull it. What did you just publish?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  nothing extra - Docker ignores .env files automatically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(b)  your code and dependencies, exactly what you wanted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  all of (b), plus your real secrets, baked into a layer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anyone who pulls the image can read</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9"/>
        <p:cNvGrpSpPr/>
        <p:nvPr/>
      </p:nvGrpSpPr>
      <p:grpSpPr>
        <a:xfrm>
          <a:off x="0" y="0"/>
          <a:ext cx="0" cy="0"/>
          <a:chOff x="0" y="0"/>
          <a:chExt cx="0" cy="0"/>
        </a:xfrm>
      </p:grpSpPr>
      <p:sp>
        <p:nvSpPr>
          <p:cNvPr id="430" name="Google Shape;430;g3e346b600eb_1_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Keep config out of the image</a:t>
            </a:r>
            <a:endParaRPr/>
          </a:p>
        </p:txBody>
      </p:sp>
      <p:sp>
        <p:nvSpPr>
          <p:cNvPr id="431" name="Google Shape;431;g3e346b600eb_1_8"/>
          <p:cNvSpPr txBox="1"/>
          <p:nvPr/>
        </p:nvSpPr>
        <p:spPr>
          <a:xfrm>
            <a:off x="914400" y="1463040"/>
            <a:ext cx="103629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Build time - a </a:t>
            </a:r>
            <a:r>
              <a:rPr lang="en-US" sz="2400" b="1" i="0" u="none" strike="noStrike" cap="none">
                <a:solidFill>
                  <a:srgbClr val="333344"/>
                </a:solidFill>
                <a:latin typeface="Courier Prime"/>
                <a:ea typeface="Courier Prime"/>
                <a:cs typeface="Courier Prime"/>
                <a:sym typeface="Courier Prime"/>
              </a:rPr>
              <a:t>.dockerignore</a:t>
            </a:r>
            <a:r>
              <a:rPr lang="en-US" sz="2400" b="1" i="0" u="none" strike="noStrike" cap="none">
                <a:solidFill>
                  <a:srgbClr val="333344"/>
                </a:solidFill>
                <a:latin typeface="Calibri"/>
                <a:ea typeface="Calibri"/>
                <a:cs typeface="Calibri"/>
                <a:sym typeface="Calibri"/>
              </a:rPr>
              <a:t> file.</a:t>
            </a:r>
            <a:r>
              <a:rPr lang="en-US" sz="2400" b="0" i="0" u="none" strike="noStrike" cap="none">
                <a:solidFill>
                  <a:srgbClr val="333344"/>
                </a:solidFill>
                <a:latin typeface="Calibri"/>
                <a:ea typeface="Calibri"/>
                <a:cs typeface="Calibri"/>
                <a:sym typeface="Calibri"/>
              </a:rPr>
              <a:t> Same idea as </a:t>
            </a:r>
            <a:r>
              <a:rPr lang="en-US" sz="2400" b="1" i="0" u="none" strike="noStrike" cap="none">
                <a:solidFill>
                  <a:srgbClr val="333344"/>
                </a:solidFill>
                <a:latin typeface="Courier Prime"/>
                <a:ea typeface="Courier Prime"/>
                <a:cs typeface="Courier Prime"/>
                <a:sym typeface="Courier Prime"/>
              </a:rPr>
              <a:t>.gitignore</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list `.env`, `.git`, `__pycache__`, and `COPY . .` skips them.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Nothing secret ever ends up inside the image.</a:t>
            </a:r>
            <a:endParaRPr/>
          </a:p>
          <a:p>
            <a:pPr marL="0" marR="0" lvl="0" indent="0" algn="l" rtl="0">
              <a:spcBef>
                <a:spcPts val="600"/>
              </a:spcBef>
              <a:spcAft>
                <a:spcPts val="0"/>
              </a:spcAft>
              <a:buNone/>
            </a:pP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6"/>
        <p:cNvGrpSpPr/>
        <p:nvPr/>
      </p:nvGrpSpPr>
      <p:grpSpPr>
        <a:xfrm>
          <a:off x="0" y="0"/>
          <a:ext cx="0" cy="0"/>
          <a:chOff x="0" y="0"/>
          <a:chExt cx="0" cy="0"/>
        </a:xfrm>
      </p:grpSpPr>
      <p:sp>
        <p:nvSpPr>
          <p:cNvPr id="437" name="Google Shape;437;g3e346b600eb_1_9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Keep config out of the image</a:t>
            </a:r>
            <a:endParaRPr/>
          </a:p>
        </p:txBody>
      </p:sp>
      <p:sp>
        <p:nvSpPr>
          <p:cNvPr id="438" name="Google Shape;438;g3e346b600eb_1_97"/>
          <p:cNvSpPr txBox="1"/>
          <p:nvPr/>
        </p:nvSpPr>
        <p:spPr>
          <a:xfrm>
            <a:off x="914400" y="1463040"/>
            <a:ext cx="10362900" cy="40482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Build time - a </a:t>
            </a:r>
            <a:r>
              <a:rPr lang="en-US" sz="2400" b="1" i="0" u="none" strike="noStrike" cap="none">
                <a:solidFill>
                  <a:srgbClr val="333344"/>
                </a:solidFill>
                <a:latin typeface="Courier Prime"/>
                <a:ea typeface="Courier Prime"/>
                <a:cs typeface="Courier Prime"/>
                <a:sym typeface="Courier Prime"/>
              </a:rPr>
              <a:t>.dockerignore</a:t>
            </a:r>
            <a:r>
              <a:rPr lang="en-US" sz="2400" b="1" i="0" u="none" strike="noStrike" cap="none">
                <a:solidFill>
                  <a:srgbClr val="333344"/>
                </a:solidFill>
                <a:latin typeface="Calibri"/>
                <a:ea typeface="Calibri"/>
                <a:cs typeface="Calibri"/>
                <a:sym typeface="Calibri"/>
              </a:rPr>
              <a:t> file.</a:t>
            </a:r>
            <a:r>
              <a:rPr lang="en-US" sz="2400" b="0" i="0" u="none" strike="noStrike" cap="none">
                <a:solidFill>
                  <a:srgbClr val="333344"/>
                </a:solidFill>
                <a:latin typeface="Calibri"/>
                <a:ea typeface="Calibri"/>
                <a:cs typeface="Calibri"/>
                <a:sym typeface="Calibri"/>
              </a:rPr>
              <a:t> Same idea as </a:t>
            </a:r>
            <a:r>
              <a:rPr lang="en-US" sz="2400" b="1" i="0" u="none" strike="noStrike" cap="none">
                <a:solidFill>
                  <a:srgbClr val="333344"/>
                </a:solidFill>
                <a:latin typeface="Courier Prime"/>
                <a:ea typeface="Courier Prime"/>
                <a:cs typeface="Courier Prime"/>
                <a:sym typeface="Courier Prime"/>
              </a:rPr>
              <a:t>.gitignore</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list `.env`, `.git`, `__pycache__`, and `COPY . .` skips them.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Nothing secret ever ends up inside the image.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Run time - inject secrets when the container starts.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Image ships with none. </a:t>
            </a:r>
            <a:r>
              <a:rPr lang="en-US" sz="2000" b="1" i="0" u="none" strike="noStrike" cap="none">
                <a:solidFill>
                  <a:srgbClr val="666677"/>
                </a:solidFill>
                <a:latin typeface="Courier Prime"/>
                <a:ea typeface="Courier Prime"/>
                <a:cs typeface="Courier Prime"/>
                <a:sym typeface="Courier Prime"/>
              </a:rPr>
              <a:t>docker run -e KEY=value</a:t>
            </a:r>
            <a:r>
              <a:rPr lang="en-US" sz="2000" b="0" i="0" u="none" strike="noStrike" cap="none">
                <a:solidFill>
                  <a:srgbClr val="666677"/>
                </a:solidFill>
                <a:latin typeface="Calibri"/>
                <a:ea typeface="Calibri"/>
                <a:cs typeface="Calibri"/>
                <a:sym typeface="Calibri"/>
              </a:rPr>
              <a:t> or </a:t>
            </a:r>
            <a:r>
              <a:rPr lang="en-US" sz="2000" b="1" i="0" u="none" strike="noStrike" cap="none">
                <a:solidFill>
                  <a:srgbClr val="666677"/>
                </a:solidFill>
                <a:latin typeface="Courier Prime"/>
                <a:ea typeface="Courier Prime"/>
                <a:cs typeface="Courier Prime"/>
                <a:sym typeface="Courier Prime"/>
              </a:rPr>
              <a:t>--env-file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 Vercel/Railway the dashboard vars are injected for you.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Your code still </a:t>
            </a:r>
            <a:r>
              <a:rPr lang="en-US" sz="2000" b="0" i="0" u="none" strike="noStrike" cap="none">
                <a:solidFill>
                  <a:srgbClr val="666677"/>
                </a:solidFill>
                <a:latin typeface="Calibri"/>
                <a:ea typeface="Calibri"/>
                <a:cs typeface="Calibri"/>
                <a:sym typeface="Calibri"/>
              </a:rPr>
              <a:t>just reads </a:t>
            </a:r>
            <a:r>
              <a:rPr lang="en-US" sz="2000" b="1" i="0" u="none" strike="noStrike" cap="none">
                <a:solidFill>
                  <a:srgbClr val="666677"/>
                </a:solidFill>
                <a:latin typeface="Courier Prime"/>
                <a:ea typeface="Courier Prime"/>
                <a:cs typeface="Courier Prime"/>
                <a:sym typeface="Courier Prime"/>
              </a:rPr>
              <a:t>os.environ[...]</a:t>
            </a:r>
            <a:r>
              <a:rPr lang="en-US" sz="2000">
                <a:solidFill>
                  <a:srgbClr val="666677"/>
                </a:solidFill>
                <a:latin typeface="Calibri"/>
                <a:ea typeface="Calibri"/>
                <a:cs typeface="Calibri"/>
                <a:sym typeface="Calibri"/>
              </a:rPr>
              <a:t> like before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image stays the same everywhere; the config you pass in is what changes.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443"/>
        <p:cNvGrpSpPr/>
        <p:nvPr/>
      </p:nvGrpSpPr>
      <p:grpSpPr>
        <a:xfrm>
          <a:off x="0" y="0"/>
          <a:ext cx="0" cy="0"/>
          <a:chOff x="0" y="0"/>
          <a:chExt cx="0" cy="0"/>
        </a:xfrm>
      </p:grpSpPr>
      <p:sp>
        <p:nvSpPr>
          <p:cNvPr id="444" name="Google Shape;444;p24"/>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Containers in the Wild</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9"/>
        <p:cNvGrpSpPr/>
        <p:nvPr/>
      </p:nvGrpSpPr>
      <p:grpSpPr>
        <a:xfrm>
          <a:off x="0" y="0"/>
          <a:ext cx="0" cy="0"/>
          <a:chOff x="0" y="0"/>
          <a:chExt cx="0" cy="0"/>
        </a:xfrm>
      </p:grpSpPr>
      <p:sp>
        <p:nvSpPr>
          <p:cNvPr id="450" name="Google Shape;450;p2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you'll meet containers again</a:t>
            </a:r>
            <a:endParaRPr/>
          </a:p>
        </p:txBody>
      </p:sp>
      <p:sp>
        <p:nvSpPr>
          <p:cNvPr id="451" name="Google Shape;451;p25"/>
          <p:cNvSpPr txBox="1"/>
          <p:nvPr/>
        </p:nvSpPr>
        <p:spPr>
          <a:xfrm>
            <a:off x="914400" y="1463040"/>
            <a:ext cx="10362900" cy="4371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You'll see today's idea everywhere once you know its shape: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CI runners.</a:t>
            </a:r>
            <a:r>
              <a:rPr lang="en-US" sz="2000" b="0" i="0" u="none" strike="noStrike" cap="none">
                <a:solidFill>
                  <a:srgbClr val="666677"/>
                </a:solidFill>
                <a:latin typeface="Calibri"/>
                <a:ea typeface="Calibri"/>
                <a:cs typeface="Calibri"/>
                <a:sym typeface="Calibri"/>
              </a:rPr>
              <a:t> Next </a:t>
            </a:r>
            <a:r>
              <a:rPr lang="en-US" sz="2000">
                <a:solidFill>
                  <a:srgbClr val="666677"/>
                </a:solidFill>
                <a:latin typeface="Calibri"/>
                <a:ea typeface="Calibri"/>
                <a:cs typeface="Calibri"/>
                <a:sym typeface="Calibri"/>
              </a:rPr>
              <a:t>up</a:t>
            </a:r>
            <a:r>
              <a:rPr lang="en-US" sz="2000" b="0" i="0" u="none" strike="noStrike" cap="none">
                <a:solidFill>
                  <a:srgbClr val="666677"/>
                </a:solidFill>
                <a:latin typeface="Calibri"/>
                <a:ea typeface="Calibri"/>
                <a:cs typeface="Calibri"/>
                <a:sym typeface="Calibri"/>
              </a:rPr>
              <a:t>, GitHub Actions runs your tests on </a:t>
            </a:r>
            <a:r>
              <a:rPr lang="en-US" sz="2000">
                <a:solidFill>
                  <a:srgbClr val="666677"/>
                </a:solidFill>
                <a:latin typeface="Calibri"/>
                <a:ea typeface="Calibri"/>
                <a:cs typeface="Calibri"/>
                <a:sym typeface="Calibri"/>
              </a:rPr>
              <a:t>a fresh Ubuntu box</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A</a:t>
            </a:r>
            <a:r>
              <a:rPr lang="en-US" sz="2000" b="0" i="0" u="none" strike="noStrike" cap="none">
                <a:solidFill>
                  <a:srgbClr val="666677"/>
                </a:solidFill>
                <a:latin typeface="Calibri"/>
                <a:ea typeface="Calibri"/>
                <a:cs typeface="Calibri"/>
                <a:sym typeface="Calibri"/>
              </a:rPr>
              <a:t> container, spun up and torn down per run.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Every cloud.</a:t>
            </a:r>
            <a:r>
              <a:rPr lang="en-US" sz="2000" b="0" i="0" u="none" strike="noStrike" cap="none">
                <a:solidFill>
                  <a:srgbClr val="666677"/>
                </a:solidFill>
                <a:latin typeface="Calibri"/>
                <a:ea typeface="Calibri"/>
                <a:cs typeface="Calibri"/>
                <a:sym typeface="Calibri"/>
              </a:rPr>
              <a:t> Railway, Render, Fly, AWS, Google Cloud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thing they schedule and run for you is a container.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Orchestration.</a:t>
            </a:r>
            <a:r>
              <a:rPr lang="en-US" sz="2000" b="0" i="0" u="none" strike="noStrike" cap="none">
                <a:solidFill>
                  <a:srgbClr val="666677"/>
                </a:solidFill>
                <a:latin typeface="Calibri"/>
                <a:ea typeface="Calibri"/>
                <a:cs typeface="Calibri"/>
                <a:sym typeface="Calibri"/>
              </a:rPr>
              <a:t> When one container isn't enough, a system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called </a:t>
            </a:r>
            <a:r>
              <a:rPr lang="en-US" sz="2000" b="1" i="0" u="none" strike="noStrike" cap="none">
                <a:solidFill>
                  <a:srgbClr val="666677"/>
                </a:solidFill>
                <a:latin typeface="Calibri"/>
                <a:ea typeface="Calibri"/>
                <a:cs typeface="Calibri"/>
                <a:sym typeface="Calibri"/>
              </a:rPr>
              <a:t>Kubernetes</a:t>
            </a:r>
            <a:r>
              <a:rPr lang="en-US" sz="2000" b="0" i="0" u="none" strike="noStrike" cap="none">
                <a:solidFill>
                  <a:srgbClr val="666677"/>
                </a:solidFill>
                <a:latin typeface="Calibri"/>
                <a:ea typeface="Calibri"/>
                <a:cs typeface="Calibri"/>
                <a:sym typeface="Calibri"/>
              </a:rPr>
              <a:t> runs thousands of them.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Understand the container and you understand what all of these run.</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6"/>
        <p:cNvGrpSpPr/>
        <p:nvPr/>
      </p:nvGrpSpPr>
      <p:grpSpPr>
        <a:xfrm>
          <a:off x="0" y="0"/>
          <a:ext cx="0" cy="0"/>
          <a:chOff x="0" y="0"/>
          <a:chExt cx="0" cy="0"/>
        </a:xfrm>
      </p:grpSpPr>
      <p:sp>
        <p:nvSpPr>
          <p:cNvPr id="457" name="Google Shape;457;p2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Docker on Railway</a:t>
            </a:r>
            <a:endParaRPr/>
          </a:p>
        </p:txBody>
      </p:sp>
      <p:sp>
        <p:nvSpPr>
          <p:cNvPr id="458" name="Google Shape;458;p26"/>
          <p:cNvSpPr txBox="1"/>
          <p:nvPr/>
        </p:nvSpPr>
        <p:spPr>
          <a:xfrm>
            <a:off x="914400" y="1463040"/>
            <a:ext cx="10362895" cy="526293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Remember </a:t>
            </a:r>
            <a:r>
              <a:rPr lang="en-US" sz="2400" b="0" i="0" u="none" strike="noStrike" cap="none" dirty="0" err="1">
                <a:solidFill>
                  <a:srgbClr val="333344"/>
                </a:solidFill>
                <a:latin typeface="Calibri"/>
                <a:ea typeface="Calibri"/>
                <a:cs typeface="Calibri"/>
                <a:sym typeface="Calibri"/>
              </a:rPr>
              <a:t>nixpacks</a:t>
            </a:r>
            <a:r>
              <a:rPr lang="en-US" sz="2400" b="0" i="0" u="none" strike="noStrike" cap="none" dirty="0">
                <a:solidFill>
                  <a:srgbClr val="333344"/>
                </a:solidFill>
                <a:latin typeface="Calibri"/>
                <a:ea typeface="Calibri"/>
                <a:cs typeface="Calibri"/>
                <a:sym typeface="Calibri"/>
              </a:rPr>
              <a:t>? Here's the upgrade path.</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If Railway finds a `</a:t>
            </a:r>
            <a:r>
              <a:rPr lang="en-US" sz="2400" b="0" i="0" u="none" strike="noStrike" cap="none" dirty="0" err="1">
                <a:solidFill>
                  <a:srgbClr val="333344"/>
                </a:solidFill>
                <a:latin typeface="Calibri"/>
                <a:ea typeface="Calibri"/>
                <a:cs typeface="Calibri"/>
                <a:sym typeface="Calibri"/>
              </a:rPr>
              <a:t>Dockerfile</a:t>
            </a:r>
            <a:r>
              <a:rPr lang="en-US" sz="2400" b="0" i="0" u="none" strike="noStrike" cap="none" dirty="0">
                <a:solidFill>
                  <a:srgbClr val="333344"/>
                </a:solidFill>
                <a:latin typeface="Calibri"/>
                <a:ea typeface="Calibri"/>
                <a:cs typeface="Calibri"/>
                <a:sym typeface="Calibri"/>
              </a:rPr>
              <a:t>` at the root of your repo, it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uses that instead of </a:t>
            </a:r>
            <a:r>
              <a:rPr lang="en-US" sz="2000" b="0" i="0" u="none" strike="noStrike" cap="none" dirty="0" err="1">
                <a:solidFill>
                  <a:srgbClr val="666677"/>
                </a:solidFill>
                <a:latin typeface="Calibri"/>
                <a:ea typeface="Calibri"/>
                <a:cs typeface="Calibri"/>
                <a:sym typeface="Calibri"/>
              </a:rPr>
              <a:t>nixpacks</a:t>
            </a:r>
            <a:r>
              <a:rPr lang="en-US" sz="2000" b="0" i="0" u="none" strike="noStrike" cap="none" dirty="0">
                <a:solidFill>
                  <a:srgbClr val="666677"/>
                </a:solidFill>
                <a:latin typeface="Calibri"/>
                <a:ea typeface="Calibri"/>
                <a:cs typeface="Calibri"/>
                <a:sym typeface="Calibri"/>
              </a:rPr>
              <a:t>. Everything else stays the same:</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Same `git push` triggers the build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Same dashboard shows logs and env vars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Same public HTTPS URL</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Drop a </a:t>
            </a:r>
            <a:r>
              <a:rPr lang="en-US" sz="2400" b="0" i="0" u="none" strike="noStrike" cap="none" dirty="0" err="1">
                <a:solidFill>
                  <a:srgbClr val="333344"/>
                </a:solidFill>
                <a:latin typeface="Calibri"/>
                <a:ea typeface="Calibri"/>
                <a:cs typeface="Calibri"/>
                <a:sym typeface="Calibri"/>
              </a:rPr>
              <a:t>Dockerfile</a:t>
            </a:r>
            <a:r>
              <a:rPr lang="en-US" sz="2400" b="0" i="0" u="none" strike="noStrike" cap="none" dirty="0">
                <a:solidFill>
                  <a:srgbClr val="333344"/>
                </a:solidFill>
                <a:latin typeface="Calibri"/>
                <a:ea typeface="Calibri"/>
                <a:cs typeface="Calibri"/>
                <a:sym typeface="Calibri"/>
              </a:rPr>
              <a:t> into your repo, push, and Railway switches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builders silently. Your deploy pipeline doesn't change - you</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just have full control over the environment now.</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3"/>
        <p:cNvGrpSpPr/>
        <p:nvPr/>
      </p:nvGrpSpPr>
      <p:grpSpPr>
        <a:xfrm>
          <a:off x="0" y="0"/>
          <a:ext cx="0" cy="0"/>
          <a:chOff x="0" y="0"/>
          <a:chExt cx="0" cy="0"/>
        </a:xfrm>
      </p:grpSpPr>
      <p:sp>
        <p:nvSpPr>
          <p:cNvPr id="464" name="Google Shape;464;p2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do you actually need a Dockerfile?</a:t>
            </a:r>
            <a:endParaRPr/>
          </a:p>
        </p:txBody>
      </p:sp>
      <p:sp>
        <p:nvSpPr>
          <p:cNvPr id="465" name="Google Shape;465;p27"/>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Not every project needs its own </a:t>
            </a:r>
            <a:r>
              <a:rPr lang="en-US" sz="2400" b="0" i="0" u="none" strike="noStrike" cap="none" dirty="0" err="1">
                <a:solidFill>
                  <a:srgbClr val="333344"/>
                </a:solidFill>
                <a:latin typeface="Calibri"/>
                <a:ea typeface="Calibri"/>
                <a:cs typeface="Calibri"/>
                <a:sym typeface="Calibri"/>
              </a:rPr>
              <a:t>Dockerfile</a:t>
            </a:r>
            <a:r>
              <a:rPr lang="en-US" sz="2400" b="0" i="0" u="none" strike="noStrike" cap="none" dirty="0">
                <a:solidFill>
                  <a:srgbClr val="333344"/>
                </a:solidFill>
                <a:latin typeface="Calibri"/>
                <a:ea typeface="Calibri"/>
                <a:cs typeface="Calibri"/>
                <a:sym typeface="Calibri"/>
              </a:rPr>
              <a:t>. Reach for one when:</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 need a </a:t>
            </a:r>
            <a:r>
              <a:rPr lang="en-US" sz="2000" b="1" i="0" u="none" strike="noStrike" cap="none" dirty="0">
                <a:solidFill>
                  <a:srgbClr val="666677"/>
                </a:solidFill>
                <a:latin typeface="Calibri"/>
                <a:ea typeface="Calibri"/>
                <a:cs typeface="Calibri"/>
                <a:sym typeface="Calibri"/>
              </a:rPr>
              <a:t>system library</a:t>
            </a:r>
            <a:r>
              <a:rPr lang="en-US" sz="2000" b="0" i="0" u="none" strike="noStrike" cap="none" dirty="0">
                <a:solidFill>
                  <a:srgbClr val="666677"/>
                </a:solidFill>
                <a:latin typeface="Calibri"/>
                <a:ea typeface="Calibri"/>
                <a:cs typeface="Calibri"/>
                <a:sym typeface="Calibri"/>
              </a:rPr>
              <a:t> the auto-builder doesn't install</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(e.g., `</a:t>
            </a:r>
            <a:r>
              <a:rPr lang="en-US" sz="2000" b="0" i="0" u="none" strike="noStrike" cap="none" dirty="0" err="1">
                <a:solidFill>
                  <a:srgbClr val="666677"/>
                </a:solidFill>
                <a:latin typeface="Calibri"/>
                <a:ea typeface="Calibri"/>
                <a:cs typeface="Calibri"/>
                <a:sym typeface="Calibri"/>
              </a:rPr>
              <a:t>libpq</a:t>
            </a:r>
            <a:r>
              <a:rPr lang="en-US" sz="2000" b="0" i="0" u="none" strike="noStrike" cap="none" dirty="0">
                <a:solidFill>
                  <a:srgbClr val="666677"/>
                </a:solidFill>
                <a:latin typeface="Calibri"/>
                <a:ea typeface="Calibri"/>
                <a:cs typeface="Calibri"/>
                <a:sym typeface="Calibri"/>
              </a:rPr>
              <a:t>-dev`, `tesseract`, `</a:t>
            </a:r>
            <a:r>
              <a:rPr lang="en-US" sz="2000" b="0" i="0" u="none" strike="noStrike" cap="none" dirty="0" err="1">
                <a:solidFill>
                  <a:srgbClr val="666677"/>
                </a:solidFill>
                <a:latin typeface="Calibri"/>
                <a:ea typeface="Calibri"/>
                <a:cs typeface="Calibri"/>
                <a:sym typeface="Calibri"/>
              </a:rPr>
              <a:t>ffmpeg</a:t>
            </a:r>
            <a:r>
              <a:rPr lang="en-US" sz="2000" b="0" i="0" u="none" strike="noStrike" cap="none" dirty="0">
                <a:solidFill>
                  <a:srgbClr val="666677"/>
                </a:solidFill>
                <a:latin typeface="Calibri"/>
                <a:ea typeface="Calibri"/>
                <a:cs typeface="Calibri"/>
                <a:sym typeface="Calibri"/>
              </a:rPr>
              <a: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 need an exact </a:t>
            </a:r>
            <a:r>
              <a:rPr lang="en-US" sz="2000" b="1" i="0" u="none" strike="noStrike" cap="none" dirty="0">
                <a:solidFill>
                  <a:srgbClr val="666677"/>
                </a:solidFill>
                <a:latin typeface="Calibri"/>
                <a:ea typeface="Calibri"/>
                <a:cs typeface="Calibri"/>
                <a:sym typeface="Calibri"/>
              </a:rPr>
              <a:t>Python or Node version</a:t>
            </a:r>
            <a:r>
              <a:rPr lang="en-US" sz="2000" b="0" i="0" u="none" strike="noStrike" cap="none" dirty="0">
                <a:solidFill>
                  <a:srgbClr val="666677"/>
                </a:solidFill>
                <a:latin typeface="Calibri"/>
                <a:ea typeface="Calibri"/>
                <a:cs typeface="Calibri"/>
                <a:sym typeface="Calibri"/>
              </a:rPr>
              <a:t> pinned across builds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Your build is unusual enough that auto-detection guesses wrong</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 want the </a:t>
            </a:r>
            <a:r>
              <a:rPr lang="en-US" sz="2000" b="1" i="0" u="none" strike="noStrike" cap="none" dirty="0">
                <a:solidFill>
                  <a:srgbClr val="666677"/>
                </a:solidFill>
                <a:latin typeface="Calibri"/>
                <a:ea typeface="Calibri"/>
                <a:cs typeface="Calibri"/>
                <a:sym typeface="Calibri"/>
              </a:rPr>
              <a:t>same image</a:t>
            </a:r>
            <a:r>
              <a:rPr lang="en-US" sz="2000" b="0" i="0" u="none" strike="noStrike" cap="none" dirty="0">
                <a:solidFill>
                  <a:srgbClr val="666677"/>
                </a:solidFill>
                <a:latin typeface="Calibri"/>
                <a:ea typeface="Calibri"/>
                <a:cs typeface="Calibri"/>
                <a:sym typeface="Calibri"/>
              </a:rPr>
              <a:t> on your laptop, in CI, and in prod</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Whether or not your final project needs one, you now know what's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inside the container every one of your deploys has been running.</a:t>
            </a:r>
            <a:endParaRPr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70"/>
        <p:cNvGrpSpPr/>
        <p:nvPr/>
      </p:nvGrpSpPr>
      <p:grpSpPr>
        <a:xfrm>
          <a:off x="0" y="0"/>
          <a:ext cx="0" cy="0"/>
          <a:chOff x="0" y="0"/>
          <a:chExt cx="0" cy="0"/>
        </a:xfrm>
      </p:grpSpPr>
      <p:sp>
        <p:nvSpPr>
          <p:cNvPr id="471" name="Google Shape;471;p28"/>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Write a Dockerfile for a FastAPI app</a:t>
            </a:r>
            <a:endParaRPr/>
          </a:p>
        </p:txBody>
      </p:sp>
      <p:sp>
        <p:nvSpPr>
          <p:cNvPr id="472" name="Google Shape;472;p28"/>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73" name="Google Shape;473;p28"/>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74" name="Google Shape;474;p28"/>
          <p:cNvSpPr txBox="1"/>
          <p:nvPr/>
        </p:nvSpPr>
        <p:spPr>
          <a:xfrm>
            <a:off x="1005840" y="1554480"/>
            <a:ext cx="10180015" cy="46634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333344"/>
                </a:solidFill>
                <a:latin typeface="Courier New"/>
                <a:ea typeface="Courier New"/>
                <a:cs typeface="Courier New"/>
                <a:sym typeface="Courier New"/>
              </a:rPr>
              <a:t># Goal: containerize a FastAPI app.</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Structure: Dockerfile, requirements.txt, app.py, frontend/dist/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Order for good layer-cache behavior.</a:t>
            </a:r>
            <a:endParaRPr/>
          </a:p>
          <a:p>
            <a:pPr marL="0" marR="0" lvl="0" indent="0" algn="l" rtl="0">
              <a:spcBef>
                <a:spcPts val="200"/>
              </a:spcBef>
              <a:spcAft>
                <a:spcPts val="0"/>
              </a:spcAft>
              <a:buNone/>
            </a:pPr>
            <a:endParaRPr sz="16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B0B0C0"/>
                </a:solidFill>
                <a:latin typeface="Courier New"/>
                <a:ea typeface="Courier New"/>
                <a:cs typeface="Courier New"/>
                <a:sym typeface="Courier New"/>
              </a:rPr>
              <a:t>FROM ________:3.12-slim</a:t>
            </a:r>
            <a:endParaRPr/>
          </a:p>
          <a:p>
            <a:pPr marL="0" marR="0" lvl="0" indent="0" algn="l" rtl="0">
              <a:spcBef>
                <a:spcPts val="200"/>
              </a:spcBef>
              <a:spcAft>
                <a:spcPts val="0"/>
              </a:spcAft>
              <a:buNone/>
            </a:pPr>
            <a:endParaRPr sz="16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B0B0C0"/>
                </a:solidFill>
                <a:latin typeface="Courier New"/>
                <a:ea typeface="Courier New"/>
                <a:cs typeface="Courier New"/>
                <a:sym typeface="Courier New"/>
              </a:rPr>
              <a:t>________ /app</a:t>
            </a:r>
            <a:endParaRPr/>
          </a:p>
          <a:p>
            <a:pPr marL="0" marR="0" lvl="0" indent="0" algn="l" rtl="0">
              <a:spcBef>
                <a:spcPts val="200"/>
              </a:spcBef>
              <a:spcAft>
                <a:spcPts val="0"/>
              </a:spcAft>
              <a:buNone/>
            </a:pPr>
            <a:endParaRPr sz="16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Install Python deps FIRST (slow-changing)</a:t>
            </a:r>
            <a:endParaRPr/>
          </a:p>
          <a:p>
            <a:pPr marL="0" marR="0" lvl="0" indent="0" algn="l" rtl="0">
              <a:spcBef>
                <a:spcPts val="200"/>
              </a:spcBef>
              <a:spcAft>
                <a:spcPts val="0"/>
              </a:spcAft>
              <a:buNone/>
            </a:pPr>
            <a:r>
              <a:rPr lang="en-US" sz="1600" b="1">
                <a:solidFill>
                  <a:srgbClr val="B0B0C0"/>
                </a:solidFill>
                <a:latin typeface="Courier New"/>
                <a:ea typeface="Courier New"/>
                <a:cs typeface="Courier New"/>
                <a:sym typeface="Courier New"/>
              </a:rPr>
              <a:t>COPY ________ .</a:t>
            </a:r>
            <a:endParaRPr/>
          </a:p>
          <a:p>
            <a:pPr marL="0" marR="0" lvl="0" indent="0" algn="l" rtl="0">
              <a:spcBef>
                <a:spcPts val="200"/>
              </a:spcBef>
              <a:spcAft>
                <a:spcPts val="0"/>
              </a:spcAft>
              <a:buNone/>
            </a:pPr>
            <a:r>
              <a:rPr lang="en-US" sz="1600" b="1">
                <a:solidFill>
                  <a:srgbClr val="B0B0C0"/>
                </a:solidFill>
                <a:latin typeface="Courier New"/>
                <a:ea typeface="Courier New"/>
                <a:cs typeface="Courier New"/>
                <a:sym typeface="Courier New"/>
              </a:rPr>
              <a:t>RUN pip install ________ -r requirements.txt</a:t>
            </a:r>
            <a:endParaRPr/>
          </a:p>
          <a:p>
            <a:pPr marL="0" marR="0" lvl="0" indent="0" algn="l" rtl="0">
              <a:spcBef>
                <a:spcPts val="200"/>
              </a:spcBef>
              <a:spcAft>
                <a:spcPts val="0"/>
              </a:spcAft>
              <a:buNone/>
            </a:pPr>
            <a:endParaRPr sz="16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Now copy the rest of the code (fast-changing)</a:t>
            </a:r>
            <a:endParaRPr/>
          </a:p>
          <a:p>
            <a:pPr marL="0" marR="0" lvl="0" indent="0" algn="l" rtl="0">
              <a:spcBef>
                <a:spcPts val="200"/>
              </a:spcBef>
              <a:spcAft>
                <a:spcPts val="0"/>
              </a:spcAft>
              <a:buNone/>
            </a:pPr>
            <a:r>
              <a:rPr lang="en-US" sz="1600" b="1">
                <a:solidFill>
                  <a:srgbClr val="B0B0C0"/>
                </a:solidFill>
                <a:latin typeface="Courier New"/>
                <a:ea typeface="Courier New"/>
                <a:cs typeface="Courier New"/>
                <a:sym typeface="Courier New"/>
              </a:rPr>
              <a:t>COPY ________ .</a:t>
            </a:r>
            <a:endParaRPr/>
          </a:p>
          <a:p>
            <a:pPr marL="0" marR="0" lvl="0" indent="0" algn="l" rtl="0">
              <a:spcBef>
                <a:spcPts val="200"/>
              </a:spcBef>
              <a:spcAft>
                <a:spcPts val="0"/>
              </a:spcAft>
              <a:buNone/>
            </a:pPr>
            <a:endParaRPr sz="16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Start the server</a:t>
            </a:r>
            <a:endParaRPr/>
          </a:p>
          <a:p>
            <a:pPr marL="0" marR="0" lvl="0" indent="0" algn="l" rtl="0">
              <a:spcBef>
                <a:spcPts val="200"/>
              </a:spcBef>
              <a:spcAft>
                <a:spcPts val="0"/>
              </a:spcAft>
              <a:buNone/>
            </a:pPr>
            <a:r>
              <a:rPr lang="en-US" sz="1600" b="1">
                <a:solidFill>
                  <a:srgbClr val="B0B0C0"/>
                </a:solidFill>
                <a:latin typeface="Courier New"/>
                <a:ea typeface="Courier New"/>
                <a:cs typeface="Courier New"/>
                <a:sym typeface="Courier New"/>
              </a:rPr>
              <a:t>CMD ["uvicorn", "app:app", "--host", "________", "--port", "8000"]</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Shape 479"/>
        <p:cNvGrpSpPr/>
        <p:nvPr/>
      </p:nvGrpSpPr>
      <p:grpSpPr>
        <a:xfrm>
          <a:off x="0" y="0"/>
          <a:ext cx="0" cy="0"/>
          <a:chOff x="0" y="0"/>
          <a:chExt cx="0" cy="0"/>
        </a:xfrm>
      </p:grpSpPr>
      <p:sp>
        <p:nvSpPr>
          <p:cNvPr id="480" name="Google Shape;480;p29"/>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Write a Dockerfile for a FastAPI app</a:t>
            </a:r>
            <a:endParaRPr/>
          </a:p>
        </p:txBody>
      </p:sp>
      <p:sp>
        <p:nvSpPr>
          <p:cNvPr id="481" name="Google Shape;481;p29"/>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82" name="Google Shape;482;p29"/>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83" name="Google Shape;483;p29"/>
          <p:cNvSpPr txBox="1"/>
          <p:nvPr/>
        </p:nvSpPr>
        <p:spPr>
          <a:xfrm>
            <a:off x="1005840" y="1554480"/>
            <a:ext cx="10179900" cy="4663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FROM python:3.12-slim</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WORKDIR /app</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Install Python deps first (slow-changing)</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COPY requirements.txt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RUN pip install --no-cache-dir -r requirements.txt</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Now copy the rest of the code (fast-changing)</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COPY . .</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Start the server</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CMD ["uvicorn", "app:app", "--host", "0.0.0.0", "--port", "8000"]</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Build:  docker build -t my-app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Run:    docker run -p 8000:8000 my-app</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Deploy: commit the Dockerfile and `git push` - Railway does the rest.</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8"/>
        <p:cNvGrpSpPr/>
        <p:nvPr/>
      </p:nvGrpSpPr>
      <p:grpSpPr>
        <a:xfrm>
          <a:off x="0" y="0"/>
          <a:ext cx="0" cy="0"/>
          <a:chOff x="0" y="0"/>
          <a:chExt cx="0" cy="0"/>
        </a:xfrm>
      </p:grpSpPr>
      <p:sp>
        <p:nvSpPr>
          <p:cNvPr id="489" name="Google Shape;489;p3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Where this goes next</a:t>
            </a:r>
            <a:endParaRPr/>
          </a:p>
        </p:txBody>
      </p:sp>
      <p:sp>
        <p:nvSpPr>
          <p:cNvPr id="490" name="Google Shape;490;p30"/>
          <p:cNvSpPr txBox="1"/>
          <p:nvPr/>
        </p:nvSpPr>
        <p:spPr>
          <a:xfrm>
            <a:off x="914388" y="12801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Today's three ideas: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a:t>
            </a:r>
            <a:r>
              <a:rPr lang="en-US" sz="2000" b="1" i="0" u="none" strike="noStrike" cap="none">
                <a:solidFill>
                  <a:srgbClr val="666677"/>
                </a:solidFill>
                <a:latin typeface="Calibri"/>
                <a:ea typeface="Calibri"/>
                <a:cs typeface="Calibri"/>
                <a:sym typeface="Calibri"/>
              </a:rPr>
              <a:t>container</a:t>
            </a:r>
            <a:r>
              <a:rPr lang="en-US" sz="2000" b="0" i="0" u="none" strike="noStrike" cap="none">
                <a:solidFill>
                  <a:srgbClr val="666677"/>
                </a:solidFill>
                <a:latin typeface="Calibri"/>
                <a:ea typeface="Calibri"/>
                <a:cs typeface="Calibri"/>
                <a:sym typeface="Calibri"/>
              </a:rPr>
              <a:t> is an isolated process with its own filesystem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network. No VM, no separate kernel.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 </a:t>
            </a:r>
            <a:r>
              <a:rPr lang="en-US" sz="2000" b="1" i="0" u="none" strike="noStrike" cap="none">
                <a:solidFill>
                  <a:srgbClr val="666677"/>
                </a:solidFill>
                <a:latin typeface="Calibri"/>
                <a:ea typeface="Calibri"/>
                <a:cs typeface="Calibri"/>
                <a:sym typeface="Calibri"/>
              </a:rPr>
              <a:t>image</a:t>
            </a:r>
            <a:r>
              <a:rPr lang="en-US" sz="2000" b="0" i="0" u="none" strike="noStrike" cap="none">
                <a:solidFill>
                  <a:srgbClr val="666677"/>
                </a:solidFill>
                <a:latin typeface="Calibri"/>
                <a:ea typeface="Calibri"/>
                <a:cs typeface="Calibri"/>
                <a:sym typeface="Calibri"/>
              </a:rPr>
              <a:t> is the blueprint; a container is a running instance.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a:t>
            </a:r>
            <a:r>
              <a:rPr lang="en-US" sz="2000" b="1" i="0" u="none" strike="noStrike" cap="none">
                <a:solidFill>
                  <a:srgbClr val="666677"/>
                </a:solidFill>
                <a:latin typeface="Calibri"/>
                <a:ea typeface="Calibri"/>
                <a:cs typeface="Calibri"/>
                <a:sym typeface="Calibri"/>
              </a:rPr>
              <a:t>Dockerfile</a:t>
            </a:r>
            <a:r>
              <a:rPr lang="en-US" sz="2000" b="0" i="0" u="none" strike="noStrike" cap="none">
                <a:solidFill>
                  <a:srgbClr val="666677"/>
                </a:solidFill>
                <a:latin typeface="Calibri"/>
                <a:ea typeface="Calibri"/>
                <a:cs typeface="Calibri"/>
                <a:sym typeface="Calibri"/>
              </a:rPr>
              <a:t> builds the image. Order matters: slow-changing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things above fast-changing things.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And the wider point: containers are the unit the whole industry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ships software on, from CI runners to the clouds themselves.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Next: </a:t>
            </a:r>
            <a:r>
              <a:rPr lang="en-US" sz="2400" b="1">
                <a:solidFill>
                  <a:srgbClr val="333344"/>
                </a:solidFill>
                <a:latin typeface="Calibri"/>
                <a:ea typeface="Calibri"/>
                <a:cs typeface="Calibri"/>
                <a:sym typeface="Calibri"/>
              </a:rPr>
              <a:t>CI/CD</a:t>
            </a:r>
            <a:r>
              <a:rPr lang="en-US" sz="2400" b="0">
                <a:solidFill>
                  <a:srgbClr val="333344"/>
                </a:solidFill>
                <a:latin typeface="Calibri"/>
                <a:ea typeface="Calibri"/>
                <a:cs typeface="Calibri"/>
                <a:sym typeface="Calibri"/>
              </a:rPr>
              <a:t> - tests on every push, run in a container.</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298</TotalTime>
  <Words>9072</Words>
  <Application>Microsoft Macintosh PowerPoint</Application>
  <PresentationFormat>Widescreen</PresentationFormat>
  <Paragraphs>697</Paragraphs>
  <Slides>53</Slides>
  <Notes>53</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53</vt:i4>
      </vt:variant>
    </vt:vector>
  </HeadingPairs>
  <TitlesOfParts>
    <vt:vector size="58" baseType="lpstr">
      <vt:lpstr>Courier New</vt:lpstr>
      <vt:lpstr>Courier Prime</vt:lpstr>
      <vt:lpstr>Calibri</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6</cp:revision>
  <dcterms:created xsi:type="dcterms:W3CDTF">2013-01-27T09:14:16Z</dcterms:created>
  <dcterms:modified xsi:type="dcterms:W3CDTF">2026-05-19T23:42:28Z</dcterms:modified>
</cp:coreProperties>
</file>