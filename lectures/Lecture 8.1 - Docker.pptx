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55"/>
  </p:notesMasterIdLst>
  <p:sldIdLst>
    <p:sldId id="256" r:id="rId2"/>
    <p:sldId id="257" r:id="rId3"/>
    <p:sldId id="258" r:id="rId4"/>
    <p:sldId id="259" r:id="rId5"/>
    <p:sldId id="260" r:id="rId6"/>
    <p:sldId id="261" r:id="rId7"/>
    <p:sldId id="262" r:id="rId8"/>
    <p:sldId id="309" r:id="rId9"/>
    <p:sldId id="264" r:id="rId10"/>
    <p:sldId id="265" r:id="rId11"/>
    <p:sldId id="266" r:id="rId12"/>
    <p:sldId id="267" r:id="rId13"/>
    <p:sldId id="308"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Lst>
  <p:sldSz cx="12192000" cy="6858000"/>
  <p:notesSz cx="6858000" cy="9144000"/>
  <p:embeddedFontLst>
    <p:embeddedFont>
      <p:font typeface="Courier Prime" pitchFamily="49" charset="77"/>
      <p:regular r:id="rId56"/>
      <p:bold r:id="rId57"/>
      <p:italic r:id="rId58"/>
      <p:boldItalic r:id="rId5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2" roundtripDataSignature="AMtx7mjYnr4qrxnGuUVJbWsQtWGorz58U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2397"/>
  </p:normalViewPr>
  <p:slideViewPr>
    <p:cSldViewPr snapToGrid="0">
      <p:cViewPr varScale="1">
        <p:scale>
          <a:sx n="103" d="100"/>
          <a:sy n="103" d="100"/>
        </p:scale>
        <p:origin x="1440" y="18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font" Target="fonts/font1.fntdata"/><Relationship Id="rId57" Type="http://schemas.openxmlformats.org/officeDocument/2006/relationships/font" Target="fonts/font2.fntdata"/><Relationship Id="rId58" Type="http://schemas.openxmlformats.org/officeDocument/2006/relationships/font" Target="fonts/font3.fntdata"/><Relationship Id="rId59" Type="http://schemas.openxmlformats.org/officeDocument/2006/relationships/font" Target="fonts/font4.fntdata"/><Relationship Id="rId62" Type="http://customschemas.google.com/relationships/presentationmetadata" Target="metadata"/><Relationship Id="rId63" Type="http://schemas.openxmlformats.org/officeDocument/2006/relationships/presProps" Target="presProps.xml"/><Relationship Id="rId64" Type="http://schemas.openxmlformats.org/officeDocument/2006/relationships/viewProps" Target="viewProps.xml"/><Relationship Id="rId65" Type="http://schemas.openxmlformats.org/officeDocument/2006/relationships/theme" Target="theme/theme1.xml"/><Relationship Id="rId6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2" name="Google Shape;82;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
            </a:r>
            <a:endParaRPr dirty="0"/>
          </a:p>
        </p:txBody>
      </p:sp>
      <p:sp>
        <p:nvSpPr>
          <p:cNvPr id="83" name="Google Shape;83;p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3e32708a311_0_9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1" name="Google Shape;91;g3e32708a311_0_9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Define your API routes first so they match before the static mount, then mount the built frontend at /. The html=True flag makes it return </a:t>
            </a:r>
            <a:r>
              <a:rPr lang="en-US" dirty="0" err="1"/>
              <a:t>index.html</a:t>
            </a:r>
            <a:r>
              <a:rPr lang="en-US" dirty="0"/>
              <a:t> for paths that don't match an actual file on disk, which is what you need for client-side routing to work.</a:t>
            </a:r>
            <a:endParaRPr dirty="0"/>
          </a:p>
        </p:txBody>
      </p:sp>
      <p:sp>
        <p:nvSpPr>
          <p:cNvPr id="92" name="Google Shape;92;g3e32708a311_0_9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e32708a311_0_10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0" name="Google Shape;100;g3e32708a311_0_10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Define your API routes first so they match before the static mount, then mount the built frontend at /. The html=True flag makes it return </a:t>
            </a:r>
            <a:r>
              <a:rPr lang="en-US" dirty="0" err="1"/>
              <a:t>index.html</a:t>
            </a:r>
            <a:r>
              <a:rPr lang="en-US" dirty="0"/>
              <a:t> for paths that don't match an actual file on disk, which is what you need for client-side routing to work.</a:t>
            </a:r>
            <a:endParaRPr dirty="0"/>
          </a:p>
        </p:txBody>
      </p:sp>
      <p:sp>
        <p:nvSpPr>
          <p:cNvPr id="101" name="Google Shape;101;g3e32708a311_0_10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e32708a311_0_18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9" name="Google Shape;109;g3e32708a311_0_18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Walk through every piece. .env is local-only. python-</a:t>
            </a:r>
            <a:r>
              <a:rPr lang="en-US" dirty="0" err="1"/>
              <a:t>dotenv</a:t>
            </a:r>
            <a:r>
              <a:rPr lang="en-US" dirty="0"/>
              <a:t> loads it at startup if the file is present, otherwise does nothing...which is really the nice property that makes the same code work in dev and in prod. In production, Railway injects the vars directly, so .env isn't needed on the server. .</a:t>
            </a:r>
            <a:r>
              <a:rPr lang="en-US" dirty="0" err="1"/>
              <a:t>gitignore</a:t>
            </a:r>
            <a:r>
              <a:rPr lang="en-US" dirty="0"/>
              <a:t> keeps the secret file out of the repo.</a:t>
            </a:r>
            <a:endParaRPr dirty="0"/>
          </a:p>
        </p:txBody>
      </p:sp>
      <p:sp>
        <p:nvSpPr>
          <p:cNvPr id="110" name="Google Shape;110;g3e32708a311_0_183: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3e32708a311_0_19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8" name="Google Shape;118;g3e32708a311_0_19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Walk through every piece. .env is local-only. python-</a:t>
            </a:r>
            <a:r>
              <a:rPr lang="en-US" dirty="0" err="1"/>
              <a:t>dotenv</a:t>
            </a:r>
            <a:r>
              <a:rPr lang="en-US" dirty="0"/>
              <a:t> loads it at startup if the file is present, otherwise does nothing...which is really the nice property that makes the same code work in dev and in prod. In production, Railway injects the vars directly, so .env isn't needed on the server. .</a:t>
            </a:r>
            <a:r>
              <a:rPr lang="en-US" dirty="0" err="1"/>
              <a:t>gitignore</a:t>
            </a:r>
            <a:r>
              <a:rPr lang="en-US" dirty="0"/>
              <a:t> keeps the secret file out of the repo.</a:t>
            </a:r>
            <a:endParaRPr dirty="0"/>
          </a:p>
        </p:txBody>
      </p:sp>
      <p:sp>
        <p:nvSpPr>
          <p:cNvPr id="119" name="Google Shape;119;g3e32708a311_0_19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e32708a311_0_19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7" name="Google Shape;127;g3e32708a311_0_19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Walk through every piece. .env is local-only. python-</a:t>
            </a:r>
            <a:r>
              <a:rPr lang="en-US" dirty="0" err="1"/>
              <a:t>dotenv</a:t>
            </a:r>
            <a:r>
              <a:rPr lang="en-US" dirty="0"/>
              <a:t> loads it at startup if the file is present, otherwise does nothing...which is really the nice property that makes the same code work in dev and in prod. In production, Railway injects the vars directly, so .env isn't needed on the server. .</a:t>
            </a:r>
            <a:r>
              <a:rPr lang="en-US" dirty="0" err="1"/>
              <a:t>gitignore</a:t>
            </a:r>
            <a:r>
              <a:rPr lang="en-US" dirty="0"/>
              <a:t> keeps the secret file out of the repo.</a:t>
            </a:r>
            <a:endParaRPr dirty="0"/>
          </a:p>
        </p:txBody>
      </p:sp>
      <p:sp>
        <p:nvSpPr>
          <p:cNvPr id="128" name="Google Shape;128;g3e32708a311_0_199: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6" name="Google Shape;136;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Open by naming the elephant: their deploys already work. Then earn the lecture back with the industry-fluency thesis before any Docker vocabulary shows up.</a:t>
            </a:r>
            <a:endParaRPr dirty="0"/>
          </a:p>
        </p:txBody>
      </p:sp>
      <p:sp>
        <p:nvSpPr>
          <p:cNvPr id="137" name="Google Shape;137;p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a:extLst>
            <a:ext uri="{FF2B5EF4-FFF2-40B4-BE49-F238E27FC236}">
              <a16:creationId xmlns:a16="http://schemas.microsoft.com/office/drawing/2014/main" id="{F15CEFE4-28BE-3267-FC7A-30600E3E16B6}"/>
            </a:ext>
          </a:extLst>
        </p:cNvPr>
        <p:cNvGrpSpPr/>
        <p:nvPr/>
      </p:nvGrpSpPr>
      <p:grpSpPr>
        <a:xfrm>
          <a:off x="0" y="0"/>
          <a:ext cx="0" cy="0"/>
          <a:chOff x="0" y="0"/>
          <a:chExt cx="0" cy="0"/>
        </a:xfrm>
      </p:grpSpPr>
      <p:sp>
        <p:nvSpPr>
          <p:cNvPr id="148" name="Google Shape;148;p3:notes">
            <a:extLst>
              <a:ext uri="{FF2B5EF4-FFF2-40B4-BE49-F238E27FC236}">
                <a16:creationId xmlns:a16="http://schemas.microsoft.com/office/drawing/2014/main" id="{957CDF8D-BB62-9C96-74E9-C7E98D7DAF85}"/>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9" name="Google Shape;149;p3:notes">
            <a:extLst>
              <a:ext uri="{FF2B5EF4-FFF2-40B4-BE49-F238E27FC236}">
                <a16:creationId xmlns:a16="http://schemas.microsoft.com/office/drawing/2014/main" id="{FDACEE82-5B7B-3084-B6AC-1DBD0A4772DF}"/>
              </a:ext>
            </a:extLst>
          </p:cNvPr>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This is the slide that has to do the motivational heavy lifting, so don't rush it. Say the quiet part first: yes, Railway already works, no, you probably won't strictly need a </a:t>
            </a:r>
            <a:r>
              <a:rPr lang="en-US" dirty="0" err="1"/>
              <a:t>Dockerfile</a:t>
            </a:r>
            <a:r>
              <a:rPr lang="en-US" dirty="0"/>
              <a:t> for the project. Then pivot hard. The reason to spend 75 minutes here isn't necessity, it's fluency - containers really are the substrate the whole stack is built on, and an engineer who doesn't understand them is working with half their tooling as a black box. The CI callback is deliberate: it's literally next class. End on the promise - by the end of today, 'the cloud' is a concrete thing you can describe.</a:t>
            </a:r>
            <a:endParaRPr dirty="0"/>
          </a:p>
        </p:txBody>
      </p:sp>
      <p:sp>
        <p:nvSpPr>
          <p:cNvPr id="150" name="Google Shape;150;p3:notes">
            <a:extLst>
              <a:ext uri="{FF2B5EF4-FFF2-40B4-BE49-F238E27FC236}">
                <a16:creationId xmlns:a16="http://schemas.microsoft.com/office/drawing/2014/main" id="{9B256C49-804C-76FC-972C-768A6D037428}"/>
              </a:ext>
            </a:extLst>
          </p:cNvPr>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071069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9" name="Google Shape;149;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This is the slide that has to do the motivational heavy lifting, so don't rush it. Say the quiet part first: yes, Railway already works, no, you probably won't strictly need a </a:t>
            </a:r>
            <a:r>
              <a:rPr lang="en-US" dirty="0" err="1"/>
              <a:t>Dockerfile</a:t>
            </a:r>
            <a:r>
              <a:rPr lang="en-US" dirty="0"/>
              <a:t> for the project. Then pivot hard. The reason to spend 75 minutes here isn't necessity, it's fluency - containers really are the substrate the whole stack is built on, and an engineer who doesn't understand them is working with half their tooling as a black box. The CI callback is deliberate: it's literally next class. End on the promise - by the end of today, 'the cloud' is a concrete thing you can describe.</a:t>
            </a:r>
            <a:endParaRPr dirty="0"/>
          </a:p>
        </p:txBody>
      </p:sp>
      <p:sp>
        <p:nvSpPr>
          <p:cNvPr id="150" name="Google Shape;150;p3: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6" name="Google Shape;156;p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reveal is meant to land as a small surprise - they have been using containers for weeks without the word. </a:t>
            </a:r>
            <a:r>
              <a:rPr lang="en-US" dirty="0" err="1"/>
              <a:t>nixpacks</a:t>
            </a:r>
            <a:r>
              <a:rPr lang="en-US" dirty="0"/>
              <a:t> looked at their files, guessed a Python version, installed things, and the output of all that guessing was a container image. That's a nice way in, because it means Docker isn't a new world, it's the same world with the lid off. The PaaS deal is smart defaults in exchange for not choosing - today is about when you want to choose.</a:t>
            </a:r>
            <a:endParaRPr dirty="0"/>
          </a:p>
        </p:txBody>
      </p:sp>
      <p:sp>
        <p:nvSpPr>
          <p:cNvPr id="157" name="Google Shape;157;p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3" name="Google Shape;163;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Python version, the OS itself, installed system libraries, C libraries the wheels link against, environment variables, file paths, locale, CPU architecture (arm vs x86), what's on PATH, a different version of the same pip package. Write every answer up. The payoff line, once the board is full: a container freezes ALL of these into the image, so the entire list stops mattering. That sets up the design question slide - students will have just generated the problem in their own words, so the solution lands as theirs.</a:t>
            </a:r>
            <a:endParaRPr dirty="0"/>
          </a:p>
        </p:txBody>
      </p:sp>
      <p:sp>
        <p:nvSpPr>
          <p:cNvPr id="164" name="Google Shape;164;p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0" name="Google Shape;170;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classic 'works on my machine' dance, and it really is a rite of passage - anyone who's deployed something non-trivial has felt a version of it. Make the pain concrete before naming the solution. The key conceptual move is splitting 'your code' from 'your dependencies' - students tend to think of their app as one thing, and the whole Docker story only makes sense once those are two things in their head.</a:t>
            </a:r>
            <a:endParaRPr dirty="0"/>
          </a:p>
        </p:txBody>
      </p:sp>
      <p:sp>
        <p:nvSpPr>
          <p:cNvPr id="171" name="Google Shape;171;p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a:extLst>
            <a:ext uri="{FF2B5EF4-FFF2-40B4-BE49-F238E27FC236}">
              <a16:creationId xmlns:a16="http://schemas.microsoft.com/office/drawing/2014/main" id="{202EAA78-C820-4682-45D5-A1348C2D86D8}"/>
            </a:ext>
          </a:extLst>
        </p:cNvPr>
        <p:cNvGrpSpPr/>
        <p:nvPr/>
      </p:nvGrpSpPr>
      <p:grpSpPr>
        <a:xfrm>
          <a:off x="0" y="0"/>
          <a:ext cx="0" cy="0"/>
          <a:chOff x="0" y="0"/>
          <a:chExt cx="0" cy="0"/>
        </a:xfrm>
      </p:grpSpPr>
      <p:sp>
        <p:nvSpPr>
          <p:cNvPr id="176" name="Google Shape;176;p7:notes">
            <a:extLst>
              <a:ext uri="{FF2B5EF4-FFF2-40B4-BE49-F238E27FC236}">
                <a16:creationId xmlns:a16="http://schemas.microsoft.com/office/drawing/2014/main" id="{F4E3C818-5F78-8A7E-CBB4-E0EF0977DC79}"/>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7" name="Google Shape;177;p7:notes">
            <a:extLst>
              <a:ext uri="{FF2B5EF4-FFF2-40B4-BE49-F238E27FC236}">
                <a16:creationId xmlns:a16="http://schemas.microsoft.com/office/drawing/2014/main" id="{B2923B6C-D6B1-0F71-E794-253414E9FB46}"/>
              </a:ext>
            </a:extLst>
          </p:cNvPr>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Step back and let students feel the design space before naming the winner. Every alternative on the list is something people actually tried, and each has a real failure mode - READMEs rot, VMs are slow and heavy, and making two machines bit-identical by hand is basically impossible. Docker won because it solves the problem at </a:t>
            </a:r>
            <a:r>
              <a:rPr lang="en-US" dirty="0" err="1"/>
              <a:t>kinda</a:t>
            </a:r>
            <a:r>
              <a:rPr lang="en-US" dirty="0"/>
              <a:t> the right level: lighter than a VM, far more reliable than hope.</a:t>
            </a:r>
            <a:endParaRPr dirty="0"/>
          </a:p>
        </p:txBody>
      </p:sp>
      <p:sp>
        <p:nvSpPr>
          <p:cNvPr id="178" name="Google Shape;178;p7:notes">
            <a:extLst>
              <a:ext uri="{FF2B5EF4-FFF2-40B4-BE49-F238E27FC236}">
                <a16:creationId xmlns:a16="http://schemas.microsoft.com/office/drawing/2014/main" id="{397D1149-BE07-7DB1-DC2F-FC67D0457D49}"/>
              </a:ext>
            </a:extLst>
          </p:cNvPr>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501908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7" name="Google Shape;177;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Step back and let students feel the design space before naming the winner. Every alternative on the list is something people actually tried, and each has a real failure mode - READMEs rot, VMs are slow and heavy, and making two machines bit-identical by hand is basically impossible. Docker won because it solves the problem at </a:t>
            </a:r>
            <a:r>
              <a:rPr lang="en-US" dirty="0" err="1"/>
              <a:t>kinda</a:t>
            </a:r>
            <a:r>
              <a:rPr lang="en-US" dirty="0"/>
              <a:t> the right level: lighter than a VM, far more reliable than hope.</a:t>
            </a:r>
            <a:endParaRPr dirty="0"/>
          </a:p>
        </p:txBody>
      </p:sp>
      <p:sp>
        <p:nvSpPr>
          <p:cNvPr id="178" name="Google Shape;178;p7: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4" name="Google Shape;184;p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mental model. Image vs container is the key distinction, and a lot of later confusion traces back to conflating them. The new 'prove it' slide makes the central claim physical instead of asserted.</a:t>
            </a:r>
            <a:endParaRPr dirty="0"/>
          </a:p>
        </p:txBody>
      </p:sp>
      <p:sp>
        <p:nvSpPr>
          <p:cNvPr id="185" name="Google Shape;185;p8: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0" name="Google Shape;190;p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single thing students should walk out with is that a container is a PROCESS, not a VM. It's the host kernel playing tricks on the process so the process thinks it's alone on a fresh machine...and because there is no separate kernel being booted, startup is in milliseconds instead of the minute-plus you'd see with a VM. That speed difference is why containers took over and VMs didn't. The next slide proves the 'it's just a process' claim instead of asking them to take it on faith.</a:t>
            </a:r>
            <a:endParaRPr dirty="0"/>
          </a:p>
        </p:txBody>
      </p:sp>
      <p:sp>
        <p:nvSpPr>
          <p:cNvPr id="191" name="Google Shape;191;p9: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e32708a311_0_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7" name="Google Shape;197;g3e32708a311_0_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point of this slide is to make the central claim physical. Two demos, and if you can run them live, do. First: start the container detached, then </a:t>
            </a:r>
            <a:r>
              <a:rPr lang="en-US" dirty="0" err="1"/>
              <a:t>ps</a:t>
            </a:r>
            <a:r>
              <a:rPr lang="en-US" dirty="0"/>
              <a:t> on the host - the container's </a:t>
            </a:r>
            <a:r>
              <a:rPr lang="en-US" dirty="0" err="1"/>
              <a:t>uvicorn</a:t>
            </a:r>
            <a:r>
              <a:rPr lang="en-US" dirty="0"/>
              <a:t> process is sitting right there in your own process list, because that is literally what it is. Not a VM, a process. Second: docker run -it ... bash drops you into a shell that looks like a brand-new Linux box, its own filesystem, its own root user, and then you exit and it leaves no trace. This is the slide where 'the cloud is just processes' clicks.</a:t>
            </a:r>
            <a:endParaRPr dirty="0"/>
          </a:p>
        </p:txBody>
      </p:sp>
      <p:sp>
        <p:nvSpPr>
          <p:cNvPr id="198" name="Google Shape;198;g3e32708a311_0_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3e32708a311_0_1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6" name="Google Shape;206;g3e32708a311_0_1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point of this slide is to make the central claim physical. Two demos, and if you can run them live, do. First: start the container detached, then </a:t>
            </a:r>
            <a:r>
              <a:rPr lang="en-US" dirty="0" err="1"/>
              <a:t>ps</a:t>
            </a:r>
            <a:r>
              <a:rPr lang="en-US" dirty="0"/>
              <a:t> on the host - the container's </a:t>
            </a:r>
            <a:r>
              <a:rPr lang="en-US" dirty="0" err="1"/>
              <a:t>uvicorn</a:t>
            </a:r>
            <a:r>
              <a:rPr lang="en-US" dirty="0"/>
              <a:t> process is sitting right there in your own process list, because that is literally what it is. Not a VM, a process. Second: docker run -it ... bash drops you into a shell that looks like a brand-new Linux box, its own filesystem, its own root user, and then you exit and it leaves no trace. This is the slide where 'the cloud is just processes' clicks.</a:t>
            </a:r>
            <a:endParaRPr dirty="0"/>
          </a:p>
        </p:txBody>
      </p:sp>
      <p:sp>
        <p:nvSpPr>
          <p:cNvPr id="207" name="Google Shape;207;g3e32708a311_0_1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5" name="Google Shape;215;p1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point of this slide is to make the central claim physical. Two demos, and if you can run them live, do. First: start the container detached, then </a:t>
            </a:r>
            <a:r>
              <a:rPr lang="en-US" dirty="0" err="1"/>
              <a:t>ps</a:t>
            </a:r>
            <a:r>
              <a:rPr lang="en-US" dirty="0"/>
              <a:t> on the host - the container's </a:t>
            </a:r>
            <a:r>
              <a:rPr lang="en-US" dirty="0" err="1"/>
              <a:t>uvicorn</a:t>
            </a:r>
            <a:r>
              <a:rPr lang="en-US" dirty="0"/>
              <a:t> process is sitting right there in your own process list, because that is literally what it is. Not a VM, a process. Second: docker run -it ... bash drops you into a shell that looks like a brand-new Linux box, its own filesystem, its own root user, and then you exit and it leaves no trace. This is the slide where 'the cloud is just processes' clicks.</a:t>
            </a:r>
            <a:endParaRPr dirty="0"/>
          </a:p>
        </p:txBody>
      </p:sp>
      <p:sp>
        <p:nvSpPr>
          <p:cNvPr id="216" name="Google Shape;216;p1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3e346b600eb_0_8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4" name="Google Shape;224;g3e346b600eb_0_8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class-vs-instance analogy really does land for anyone who's done OOP, which is all of them. Drive home that you don't run an image, you build one and then you run containers FROM it...the wording matters because the CLI commands on the next slides use exactly those verbs and anyone who's conflated the two will get lost fast.</a:t>
            </a:r>
            <a:endParaRPr dirty="0"/>
          </a:p>
        </p:txBody>
      </p:sp>
      <p:sp>
        <p:nvSpPr>
          <p:cNvPr id="225" name="Google Shape;225;g3e346b600eb_0_89: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1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1" name="Google Shape;231;p1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class-vs-instance analogy really does land for anyone who's done OOP, which is all of them. Drive home that you don't run an image, you build one and then you run containers FROM it...the wording matters because the CLI commands on the next slides use exactly those verbs and anyone who's conflated the two will get lost fast.</a:t>
            </a:r>
            <a:endParaRPr dirty="0"/>
          </a:p>
        </p:txBody>
      </p:sp>
      <p:sp>
        <p:nvSpPr>
          <p:cNvPr id="232" name="Google Shape;232;p1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1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8" name="Google Shape;238;p1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two-step flow - grab a base image someone else maintains, then layer your stuff on top - is how every real </a:t>
            </a:r>
            <a:r>
              <a:rPr lang="en-US" dirty="0" err="1"/>
              <a:t>Dockerfile</a:t>
            </a:r>
            <a:r>
              <a:rPr lang="en-US" dirty="0"/>
              <a:t> works. You basically never start from scratch, you start from something like python:3.12-slim that the Python team keeps patched and secure, and you just add what your specific app needs. A registry is just a place images live, the way GitHub is a place repos live.</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Next: what a </a:t>
            </a:r>
            <a:r>
              <a:rPr lang="en-US" dirty="0" err="1"/>
              <a:t>Dockerfile</a:t>
            </a:r>
            <a:r>
              <a:rPr lang="en-US" dirty="0"/>
              <a:t> actually looks like.</a:t>
            </a:r>
            <a:endParaRPr dirty="0"/>
          </a:p>
          <a:p>
            <a:pPr marL="0" lvl="0" indent="0" algn="l" rtl="0">
              <a:spcBef>
                <a:spcPts val="0"/>
              </a:spcBef>
              <a:spcAft>
                <a:spcPts val="0"/>
              </a:spcAft>
              <a:buNone/>
            </a:pPr>
            <a:endParaRPr dirty="0"/>
          </a:p>
        </p:txBody>
      </p:sp>
      <p:sp>
        <p:nvSpPr>
          <p:cNvPr id="239" name="Google Shape;239;p1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1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5" name="Google Shape;245;p1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actual file students would write if they reached for Docker. Ground it with a real </a:t>
            </a:r>
            <a:r>
              <a:rPr lang="en-US" dirty="0" err="1"/>
              <a:t>FastAPI</a:t>
            </a:r>
            <a:r>
              <a:rPr lang="en-US" dirty="0"/>
              <a:t> example because that's what they already have in hand.</a:t>
            </a:r>
            <a:endParaRPr dirty="0"/>
          </a:p>
        </p:txBody>
      </p:sp>
      <p:sp>
        <p:nvSpPr>
          <p:cNvPr id="246" name="Google Shape;246;p13: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1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1" name="Google Shape;251;p1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Five instructions really do cover almost every </a:t>
            </a:r>
            <a:r>
              <a:rPr lang="en-US" dirty="0" err="1"/>
              <a:t>Dockerfile</a:t>
            </a:r>
            <a:r>
              <a:rPr lang="en-US" dirty="0"/>
              <a:t> you'll write for a long time. FROM is the base, WORKDIR sets the directory, COPY brings your code in, RUN installs stuff at build time, CMD says what to run when the container starts...learn these five and you can read and write the overwhelming majority of </a:t>
            </a:r>
            <a:r>
              <a:rPr lang="en-US" dirty="0" err="1"/>
              <a:t>Dockerfiles</a:t>
            </a:r>
            <a:r>
              <a:rPr lang="en-US" dirty="0"/>
              <a:t> in the wild. The other instructions are mostly for edge cases.</a:t>
            </a:r>
            <a:endParaRPr dirty="0"/>
          </a:p>
        </p:txBody>
      </p:sp>
      <p:sp>
        <p:nvSpPr>
          <p:cNvPr id="252" name="Google Shape;252;p1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3e32708a311_0_2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8" name="Google Shape;258;g3e32708a311_0_2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Walk through line by line. FROM pulls a minimal Python 3.12 base. WORKDIR creates /app inside the image so the rest of the commands run from there. COPY requirements then RUN pip install is the installs-deps dance...and THEN we COPY the rest of the code. That order isn't cosmetic, it's really the caching story on the next few slides. CMD is the default command when someone runs the container.</a:t>
            </a:r>
            <a:endParaRPr dirty="0"/>
          </a:p>
        </p:txBody>
      </p:sp>
      <p:sp>
        <p:nvSpPr>
          <p:cNvPr id="259" name="Google Shape;259;g3e32708a311_0_2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3e32708a311_0_3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7" name="Google Shape;267;g3e32708a311_0_3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Walk through line by line. FROM pulls a minimal Python 3.12 base. WORKDIR creates /app inside the image so the rest of the commands run from there. COPY requirements then RUN pip install is the installs-deps dance...and THEN we COPY the rest of the code. That order isn't cosmetic, it's really the caching story on the next few slides. CMD is the default command when someone runs the container.</a:t>
            </a:r>
            <a:endParaRPr dirty="0"/>
          </a:p>
        </p:txBody>
      </p:sp>
      <p:sp>
        <p:nvSpPr>
          <p:cNvPr id="268" name="Google Shape;268;g3e32708a311_0_3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3e32708a311_0_3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6" name="Google Shape;276;g3e32708a311_0_3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Walk through line by line. FROM pulls a minimal Python 3.12 base. WORKDIR creates /app inside the image so the rest of the commands run from there. COPY requirements then RUN pip install is the installs-deps dance...and THEN we COPY the rest of the code. That order isn't cosmetic, it's really the caching story on the next few slides. CMD is the default command when someone runs the container.</a:t>
            </a:r>
            <a:endParaRPr dirty="0"/>
          </a:p>
        </p:txBody>
      </p:sp>
      <p:sp>
        <p:nvSpPr>
          <p:cNvPr id="277" name="Google Shape;277;g3e32708a311_0_38: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3e32708a311_0_4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5" name="Google Shape;285;g3e32708a311_0_4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Walk through line by line. FROM pulls a minimal Python 3.12 base. WORKDIR creates /app inside the image so the rest of the commands run from there. COPY requirements then RUN pip install is the installs-deps dance...and THEN we COPY the rest of the code. That order isn't cosmetic, it's really the caching story on the next few slides. CMD is the default command when someone runs the container.</a:t>
            </a:r>
            <a:endParaRPr dirty="0"/>
          </a:p>
        </p:txBody>
      </p:sp>
      <p:sp>
        <p:nvSpPr>
          <p:cNvPr id="286" name="Google Shape;286;g3e32708a311_0_4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1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4" name="Google Shape;294;p1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Walk through line by line. FROM pulls a minimal Python 3.12 base. WORKDIR creates /app inside the image so the rest of the commands run from there. COPY requirements then RUN pip install is the installs-deps dance...and THEN we COPY the rest of the code. That order isn't cosmetic, it's really the caching story on the next few slides. CMD is the default command when someone runs the container.</a:t>
            </a:r>
            <a:endParaRPr dirty="0"/>
          </a:p>
        </p:txBody>
      </p:sp>
      <p:sp>
        <p:nvSpPr>
          <p:cNvPr id="295" name="Google Shape;295;p1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1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3" name="Google Shape;303;p1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Layer caching is THE reason </a:t>
            </a:r>
            <a:r>
              <a:rPr lang="en-US" dirty="0" err="1"/>
              <a:t>Dockerfile</a:t>
            </a:r>
            <a:r>
              <a:rPr lang="en-US" dirty="0"/>
              <a:t> order matters. A </a:t>
            </a:r>
            <a:r>
              <a:rPr lang="en-US" dirty="0" err="1"/>
              <a:t>Dockerfile</a:t>
            </a:r>
            <a:r>
              <a:rPr lang="en-US" dirty="0"/>
              <a:t> that copies code before installing deps reinstalls every dependency on every code change...which is fine once, super annoying by the twentieth build that day. Once you feel the difference between a 2-second rebuild and a 30-second one, the slow-first-fast-last rule sticks instantly. The next slide is a predict beat on exactly this - don't pre-spoil it.</a:t>
            </a:r>
            <a:endParaRPr dirty="0"/>
          </a:p>
        </p:txBody>
      </p:sp>
      <p:sp>
        <p:nvSpPr>
          <p:cNvPr id="304" name="Google Shape;304;p1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g3e32708a311_0_5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0" name="Google Shape;310;g3e32708a311_0_5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Call-on-someone, don't reveal. Show of hands per option. The answer is (c). Docker caches layers in order, and the FIRST layer whose inputs changed - here [5], the COPY . . that picks up </a:t>
            </a:r>
            <a:r>
              <a:rPr lang="en-US" dirty="0" err="1"/>
              <a:t>app.py</a:t>
            </a:r>
            <a:r>
              <a:rPr lang="en-US" dirty="0"/>
              <a:t> - gets rebuilt, along with everything below it, because each layer is built on top of the one before. [1] through [4] are untouched, so pip install does NOT run again. (a) is 'make clean' thinking. (d) is the trap for anyone half-remembering the rule - it's the right idea pointed at the wrong layers. The next slide is the bad-vs-good ordering this caching behavior forces on you.</a:t>
            </a:r>
            <a:endParaRPr dirty="0"/>
          </a:p>
        </p:txBody>
      </p:sp>
      <p:sp>
        <p:nvSpPr>
          <p:cNvPr id="311" name="Google Shape;311;g3e32708a311_0_5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1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9" name="Google Shape;319;p1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Call-on-someone, don't reveal. Show of hands per option. The answer is (c). Docker caches layers in order, and the FIRST layer whose inputs changed - here [5], the COPY . . that picks up </a:t>
            </a:r>
            <a:r>
              <a:rPr lang="en-US" dirty="0" err="1"/>
              <a:t>app.py</a:t>
            </a:r>
            <a:r>
              <a:rPr lang="en-US" dirty="0"/>
              <a:t> - gets rebuilt, along with everything below it, because each layer is built on top of the one before. [1] through [4] are untouched, so pip install does NOT run again. (a) is 'make clean' thinking. (d) is the trap for anyone half-remembering the rule - it's the right idea pointed at the wrong layers. The next slide is the bad-vs-good ordering this caching behavior forces on you.</a:t>
            </a:r>
            <a:endParaRPr dirty="0"/>
          </a:p>
        </p:txBody>
      </p:sp>
      <p:sp>
        <p:nvSpPr>
          <p:cNvPr id="320" name="Google Shape;320;p17: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3e32708a311_0_6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8" name="Google Shape;328;g3e32708a311_0_6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Because a changed layer rebuilds everything below it, you deliberately put the thing that rarely changes (</a:t>
            </a:r>
            <a:r>
              <a:rPr lang="en-US" dirty="0" err="1"/>
              <a:t>requirements.txt</a:t>
            </a:r>
            <a:r>
              <a:rPr lang="en-US" dirty="0"/>
              <a:t>) ABOVE the thing that always changes (your code). Side by side, the only real difference is WHERE the COPY of </a:t>
            </a:r>
            <a:r>
              <a:rPr lang="en-US" dirty="0" err="1"/>
              <a:t>requirements.txt</a:t>
            </a:r>
            <a:r>
              <a:rPr lang="en-US" dirty="0"/>
              <a:t> sits. In the bad version any code change busts the pip install cache too, because COPY . . ran before the install. In the good version the install layer stays cached until </a:t>
            </a:r>
            <a:r>
              <a:rPr lang="en-US" dirty="0" err="1"/>
              <a:t>requirements.txt</a:t>
            </a:r>
            <a:r>
              <a:rPr lang="en-US" dirty="0"/>
              <a:t> itself changes...which is maybe once a week. That's the 15x rebuild speedup on a busy day.</a:t>
            </a:r>
            <a:endParaRPr dirty="0"/>
          </a:p>
        </p:txBody>
      </p:sp>
      <p:sp>
        <p:nvSpPr>
          <p:cNvPr id="329" name="Google Shape;329;g3e32708a311_0_6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1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7" name="Google Shape;337;p1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Because a changed layer rebuilds everything below it, you deliberately put the thing that rarely changes (</a:t>
            </a:r>
            <a:r>
              <a:rPr lang="en-US" dirty="0" err="1"/>
              <a:t>requirements.txt</a:t>
            </a:r>
            <a:r>
              <a:rPr lang="en-US" dirty="0"/>
              <a:t>) ABOVE the thing that always changes (your code). Side by side, the only real difference is WHERE the COPY of </a:t>
            </a:r>
            <a:r>
              <a:rPr lang="en-US" dirty="0" err="1"/>
              <a:t>requirements.txt</a:t>
            </a:r>
            <a:r>
              <a:rPr lang="en-US" dirty="0"/>
              <a:t> sits. In the bad version any code change busts the pip install cache too, because COPY . . ran before the install. In the good version the install layer stays cached until </a:t>
            </a:r>
            <a:r>
              <a:rPr lang="en-US" dirty="0" err="1"/>
              <a:t>requirements.txt</a:t>
            </a:r>
            <a:r>
              <a:rPr lang="en-US" dirty="0"/>
              <a:t> itself changes...which is maybe once a week. That's the 15x rebuild speedup on a busy day.</a:t>
            </a:r>
            <a:endParaRPr dirty="0"/>
          </a:p>
        </p:txBody>
      </p:sp>
      <p:sp>
        <p:nvSpPr>
          <p:cNvPr id="338" name="Google Shape;338;p18: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1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46" name="Google Shape;346;p1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mechanics of actually using a </a:t>
            </a:r>
            <a:r>
              <a:rPr lang="en-US" dirty="0" err="1"/>
              <a:t>Dockerfile</a:t>
            </a:r>
            <a:r>
              <a:rPr lang="en-US" dirty="0"/>
              <a:t>. The spot-the-bug beat lives here - it's the one Docker gotcha that costs people the most time.</a:t>
            </a:r>
            <a:endParaRPr dirty="0"/>
          </a:p>
        </p:txBody>
      </p:sp>
      <p:sp>
        <p:nvSpPr>
          <p:cNvPr id="347" name="Google Shape;347;p19: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2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2" name="Google Shape;352;p2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Walk through the output. Each numbered step matches one of the </a:t>
            </a:r>
            <a:r>
              <a:rPr lang="en-US" dirty="0" err="1"/>
              <a:t>Dockerfile</a:t>
            </a:r>
            <a:r>
              <a:rPr lang="en-US" dirty="0"/>
              <a:t> instructions from earlier, which is a nice sanity check - and notice [1] through [4] showing 0.0s on a re-build is layer caching from the predict slide doing its job. The -t flag names the image so you can refer to it later, and the dot is the build context, the directory Docker is allowed to COPY from.</a:t>
            </a:r>
            <a:endParaRPr dirty="0"/>
          </a:p>
        </p:txBody>
      </p:sp>
      <p:sp>
        <p:nvSpPr>
          <p:cNvPr id="353" name="Google Shape;353;p2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3e32708a311_0_7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1" name="Google Shape;361;g3e32708a311_0_7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docker run creates a fresh container from the image and starts it. The -p flag maps </a:t>
            </a:r>
            <a:r>
              <a:rPr lang="en-US" dirty="0" err="1"/>
              <a:t>host:container</a:t>
            </a:r>
            <a:r>
              <a:rPr lang="en-US" dirty="0"/>
              <a:t> ports. The -e flag injects env vars the same way you'd set them in the Railway dashboard, so the mental model carries over. The next slide is a spot-the-bug on what happens when you forget -p - don't pre-explain it here.</a:t>
            </a:r>
            <a:endParaRPr dirty="0"/>
          </a:p>
        </p:txBody>
      </p:sp>
      <p:sp>
        <p:nvSpPr>
          <p:cNvPr id="362" name="Google Shape;362;g3e32708a311_0_7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2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0" name="Google Shape;370;p2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docker run creates a fresh container from the image and starts it. The -p flag maps </a:t>
            </a:r>
            <a:r>
              <a:rPr lang="en-US" dirty="0" err="1"/>
              <a:t>host:container</a:t>
            </a:r>
            <a:r>
              <a:rPr lang="en-US" dirty="0"/>
              <a:t> ports. The -e flag injects env vars the same way you'd set them in the Railway dashboard, so the mental model carries over. The next slide is a spot-the-bug on what happens when you forget -p - don't pre-explain it here.</a:t>
            </a:r>
            <a:endParaRPr dirty="0"/>
          </a:p>
        </p:txBody>
      </p:sp>
      <p:sp>
        <p:nvSpPr>
          <p:cNvPr id="371" name="Google Shape;371;p2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2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9" name="Google Shape;379;p2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Call-on-someone. The answer is (b): the docker run command has no -p. A container's ports are isolated by default - the app really is listening on 8000, but that's the CONTAINER's 8000, walled off from the laptop. Nothing forwards localhost:8000 to it. Air option (a) out loud, because it is the OTHER way to produce this exact symptom: binding </a:t>
            </a:r>
            <a:r>
              <a:rPr lang="en-US" dirty="0" err="1"/>
              <a:t>uvicorn</a:t>
            </a:r>
            <a:r>
              <a:rPr lang="en-US" dirty="0"/>
              <a:t> to 127.0.0.1 instead of 0.0.0.0 makes the app unreachable from outside the container too. Here the log clearly says 0.0.0.0, so this time it's the missing -p, not the bind address. Both failure modes look identical from the browser, which is the lesson. Next slide is the full explanation.</a:t>
            </a:r>
            <a:endParaRPr dirty="0"/>
          </a:p>
        </p:txBody>
      </p:sp>
      <p:sp>
        <p:nvSpPr>
          <p:cNvPr id="380" name="Google Shape;380;p2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3e32708a311_0_8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88" name="Google Shape;388;g3e32708a311_0_8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Port mapping confuses people because there are two 8000s in the air and they look identical. The container has its own network namespace with its own ports, and -p builds a bridge from a host port to a container port...they can be different numbers, and once you're running two containers at once they usually have to be. This is the explanation the spot-the-bug slide was setting up.</a:t>
            </a:r>
            <a:endParaRPr dirty="0"/>
          </a:p>
        </p:txBody>
      </p:sp>
      <p:sp>
        <p:nvSpPr>
          <p:cNvPr id="389" name="Google Shape;389;g3e32708a311_0_8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2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95" name="Google Shape;395;p2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Port mapping confuses people because there are two 8000s in the air and they look identical. The container has its own network namespace with its own ports, and -p builds a bridge from a host port to a container port...they can be different numbers, and once you're running two containers at once they usually have to be. This is the explanation the spot-the-bug slide was setting up.</a:t>
            </a:r>
            <a:endParaRPr dirty="0"/>
          </a:p>
        </p:txBody>
      </p:sp>
      <p:sp>
        <p:nvSpPr>
          <p:cNvPr id="396" name="Google Shape;396;p23: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3e346b600eb_0_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02" name="Google Shape;402;g3e346b600eb_0_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US" sz="1100" b="1" dirty="0">
                <a:solidFill>
                  <a:srgbClr val="333344"/>
                </a:solidFill>
                <a:latin typeface="Courier New"/>
                <a:ea typeface="Courier New"/>
                <a:cs typeface="Courier New"/>
                <a:sym typeface="Courier New"/>
              </a:rPr>
              <a:t># ---- On the build machine (your laptop, or a CI runner) ----</a:t>
            </a:r>
            <a:endParaRPr sz="1000" dirty="0">
              <a:solidFill>
                <a:schemeClr val="dk1"/>
              </a:solidFill>
            </a:endParaRPr>
          </a:p>
          <a:p>
            <a:pPr marL="0" lvl="0" indent="0" algn="l" rtl="0">
              <a:spcBef>
                <a:spcPts val="200"/>
              </a:spcBef>
              <a:spcAft>
                <a:spcPts val="0"/>
              </a:spcAft>
              <a:buClr>
                <a:schemeClr val="dk1"/>
              </a:buClr>
              <a:buFont typeface="Arial"/>
              <a:buNone/>
            </a:pPr>
            <a:endParaRPr sz="1100" b="1" dirty="0">
              <a:solidFill>
                <a:srgbClr val="333344"/>
              </a:solidFill>
              <a:latin typeface="Courier New"/>
              <a:ea typeface="Courier New"/>
              <a:cs typeface="Courier New"/>
              <a:sym typeface="Courier New"/>
            </a:endParaRPr>
          </a:p>
          <a:p>
            <a:pPr marL="0" lvl="0" indent="0" algn="l" rtl="0">
              <a:spcBef>
                <a:spcPts val="200"/>
              </a:spcBef>
              <a:spcAft>
                <a:spcPts val="0"/>
              </a:spcAft>
              <a:buClr>
                <a:schemeClr val="dk1"/>
              </a:buClr>
              <a:buFont typeface="Arial"/>
              <a:buNone/>
            </a:pPr>
            <a:r>
              <a:rPr lang="en-US" sz="1100" b="1" dirty="0">
                <a:solidFill>
                  <a:srgbClr val="333344"/>
                </a:solidFill>
                <a:latin typeface="Courier New"/>
                <a:ea typeface="Courier New"/>
                <a:cs typeface="Courier New"/>
                <a:sym typeface="Courier New"/>
              </a:rPr>
              <a:t>$ docker build -t </a:t>
            </a:r>
            <a:r>
              <a:rPr lang="en-US" sz="1100" b="1" dirty="0" err="1">
                <a:solidFill>
                  <a:srgbClr val="333344"/>
                </a:solidFill>
                <a:latin typeface="Courier New"/>
                <a:ea typeface="Courier New"/>
                <a:cs typeface="Courier New"/>
                <a:sym typeface="Courier New"/>
              </a:rPr>
              <a:t>ghcr.io</a:t>
            </a:r>
            <a:r>
              <a:rPr lang="en-US" sz="1100" b="1" dirty="0">
                <a:solidFill>
                  <a:srgbClr val="333344"/>
                </a:solidFill>
                <a:latin typeface="Courier New"/>
                <a:ea typeface="Courier New"/>
                <a:cs typeface="Courier New"/>
                <a:sym typeface="Courier New"/>
              </a:rPr>
              <a:t>/you/</a:t>
            </a:r>
            <a:r>
              <a:rPr lang="en-US" sz="1100" b="1" dirty="0" err="1">
                <a:solidFill>
                  <a:srgbClr val="333344"/>
                </a:solidFill>
                <a:latin typeface="Courier New"/>
                <a:ea typeface="Courier New"/>
                <a:cs typeface="Courier New"/>
                <a:sym typeface="Courier New"/>
              </a:rPr>
              <a:t>chat-app:latest</a:t>
            </a:r>
            <a:r>
              <a:rPr lang="en-US" sz="1100" b="1" dirty="0">
                <a:solidFill>
                  <a:srgbClr val="333344"/>
                </a:solidFill>
                <a:latin typeface="Courier New"/>
                <a:ea typeface="Courier New"/>
                <a:cs typeface="Courier New"/>
                <a:sym typeface="Courier New"/>
              </a:rPr>
              <a:t> .</a:t>
            </a:r>
            <a:endParaRPr sz="1000" dirty="0">
              <a:solidFill>
                <a:schemeClr val="dk1"/>
              </a:solidFill>
            </a:endParaRPr>
          </a:p>
          <a:p>
            <a:pPr marL="0" lvl="0" indent="0" algn="l" rtl="0">
              <a:spcBef>
                <a:spcPts val="200"/>
              </a:spcBef>
              <a:spcAft>
                <a:spcPts val="0"/>
              </a:spcAft>
              <a:buClr>
                <a:schemeClr val="dk1"/>
              </a:buClr>
              <a:buFont typeface="Arial"/>
              <a:buNone/>
            </a:pPr>
            <a:r>
              <a:rPr lang="en-US" sz="1100" b="1" dirty="0">
                <a:solidFill>
                  <a:srgbClr val="333344"/>
                </a:solidFill>
                <a:latin typeface="Courier New"/>
                <a:ea typeface="Courier New"/>
                <a:cs typeface="Courier New"/>
                <a:sym typeface="Courier New"/>
              </a:rPr>
              <a:t>$ docker push </a:t>
            </a:r>
            <a:r>
              <a:rPr lang="en-US" sz="1100" b="1" dirty="0" err="1">
                <a:solidFill>
                  <a:srgbClr val="333344"/>
                </a:solidFill>
                <a:latin typeface="Courier New"/>
                <a:ea typeface="Courier New"/>
                <a:cs typeface="Courier New"/>
                <a:sym typeface="Courier New"/>
              </a:rPr>
              <a:t>ghcr.io</a:t>
            </a:r>
            <a:r>
              <a:rPr lang="en-US" sz="1100" b="1" dirty="0">
                <a:solidFill>
                  <a:srgbClr val="333344"/>
                </a:solidFill>
                <a:latin typeface="Courier New"/>
                <a:ea typeface="Courier New"/>
                <a:cs typeface="Courier New"/>
                <a:sym typeface="Courier New"/>
              </a:rPr>
              <a:t>/you/</a:t>
            </a:r>
            <a:r>
              <a:rPr lang="en-US" sz="1100" b="1" dirty="0" err="1">
                <a:solidFill>
                  <a:srgbClr val="333344"/>
                </a:solidFill>
                <a:latin typeface="Courier New"/>
                <a:ea typeface="Courier New"/>
                <a:cs typeface="Courier New"/>
                <a:sym typeface="Courier New"/>
              </a:rPr>
              <a:t>chat-app:latest</a:t>
            </a:r>
            <a:endParaRPr sz="1000" dirty="0">
              <a:solidFill>
                <a:schemeClr val="dk1"/>
              </a:solidFill>
            </a:endParaRPr>
          </a:p>
          <a:p>
            <a:pPr marL="0" lvl="0" indent="0" algn="l" rtl="0">
              <a:spcBef>
                <a:spcPts val="200"/>
              </a:spcBef>
              <a:spcAft>
                <a:spcPts val="0"/>
              </a:spcAft>
              <a:buClr>
                <a:schemeClr val="dk1"/>
              </a:buClr>
              <a:buFont typeface="Arial"/>
              <a:buNone/>
            </a:pPr>
            <a:r>
              <a:rPr lang="en-US" sz="1100" b="1" dirty="0">
                <a:solidFill>
                  <a:srgbClr val="333344"/>
                </a:solidFill>
                <a:latin typeface="Courier New"/>
                <a:ea typeface="Courier New"/>
                <a:cs typeface="Courier New"/>
                <a:sym typeface="Courier New"/>
              </a:rPr>
              <a:t>   ...uploaded to the registry.</a:t>
            </a:r>
            <a:endParaRPr sz="1000" dirty="0">
              <a:solidFill>
                <a:schemeClr val="dk1"/>
              </a:solidFill>
            </a:endParaRPr>
          </a:p>
          <a:p>
            <a:pPr marL="0" lvl="0" indent="0" algn="l" rtl="0">
              <a:spcBef>
                <a:spcPts val="200"/>
              </a:spcBef>
              <a:spcAft>
                <a:spcPts val="0"/>
              </a:spcAft>
              <a:buClr>
                <a:schemeClr val="dk1"/>
              </a:buClr>
              <a:buFont typeface="Arial"/>
              <a:buNone/>
            </a:pPr>
            <a:endParaRPr sz="1100" b="1" dirty="0">
              <a:solidFill>
                <a:srgbClr val="333344"/>
              </a:solidFill>
              <a:latin typeface="Courier New"/>
              <a:ea typeface="Courier New"/>
              <a:cs typeface="Courier New"/>
              <a:sym typeface="Courier New"/>
            </a:endParaRPr>
          </a:p>
          <a:p>
            <a:pPr marL="0" lvl="0" indent="0" algn="l" rtl="0">
              <a:spcBef>
                <a:spcPts val="200"/>
              </a:spcBef>
              <a:spcAft>
                <a:spcPts val="0"/>
              </a:spcAft>
              <a:buClr>
                <a:schemeClr val="dk1"/>
              </a:buClr>
              <a:buFont typeface="Arial"/>
              <a:buNone/>
            </a:pPr>
            <a:endParaRPr sz="1100" b="1" dirty="0">
              <a:solidFill>
                <a:srgbClr val="333344"/>
              </a:solidFill>
              <a:latin typeface="Courier New"/>
              <a:ea typeface="Courier New"/>
              <a:cs typeface="Courier New"/>
              <a:sym typeface="Courier New"/>
            </a:endParaRPr>
          </a:p>
          <a:p>
            <a:pPr marL="0" lvl="0" indent="0" algn="l" rtl="0">
              <a:spcBef>
                <a:spcPts val="200"/>
              </a:spcBef>
              <a:spcAft>
                <a:spcPts val="0"/>
              </a:spcAft>
              <a:buClr>
                <a:schemeClr val="dk1"/>
              </a:buClr>
              <a:buFont typeface="Arial"/>
              <a:buNone/>
            </a:pPr>
            <a:r>
              <a:rPr lang="en-US" sz="1100" b="1" dirty="0">
                <a:solidFill>
                  <a:srgbClr val="333344"/>
                </a:solidFill>
                <a:latin typeface="Courier New"/>
                <a:ea typeface="Courier New"/>
                <a:cs typeface="Courier New"/>
                <a:sym typeface="Courier New"/>
              </a:rPr>
              <a:t># ---- On the production server ----</a:t>
            </a:r>
            <a:endParaRPr sz="1000" dirty="0">
              <a:solidFill>
                <a:schemeClr val="dk1"/>
              </a:solidFill>
            </a:endParaRPr>
          </a:p>
          <a:p>
            <a:pPr marL="0" lvl="0" indent="0" algn="l" rtl="0">
              <a:spcBef>
                <a:spcPts val="200"/>
              </a:spcBef>
              <a:spcAft>
                <a:spcPts val="0"/>
              </a:spcAft>
              <a:buClr>
                <a:schemeClr val="dk1"/>
              </a:buClr>
              <a:buFont typeface="Arial"/>
              <a:buNone/>
            </a:pPr>
            <a:endParaRPr sz="1100" b="1" dirty="0">
              <a:solidFill>
                <a:srgbClr val="333344"/>
              </a:solidFill>
              <a:latin typeface="Courier New"/>
              <a:ea typeface="Courier New"/>
              <a:cs typeface="Courier New"/>
              <a:sym typeface="Courier New"/>
            </a:endParaRPr>
          </a:p>
          <a:p>
            <a:pPr marL="0" lvl="0" indent="0" algn="l" rtl="0">
              <a:spcBef>
                <a:spcPts val="200"/>
              </a:spcBef>
              <a:spcAft>
                <a:spcPts val="0"/>
              </a:spcAft>
              <a:buClr>
                <a:schemeClr val="dk1"/>
              </a:buClr>
              <a:buFont typeface="Arial"/>
              <a:buNone/>
            </a:pPr>
            <a:r>
              <a:rPr lang="en-US" sz="1100" b="1" dirty="0">
                <a:solidFill>
                  <a:srgbClr val="333344"/>
                </a:solidFill>
                <a:latin typeface="Courier New"/>
                <a:ea typeface="Courier New"/>
                <a:cs typeface="Courier New"/>
                <a:sym typeface="Courier New"/>
              </a:rPr>
              <a:t>$ docker pull </a:t>
            </a:r>
            <a:r>
              <a:rPr lang="en-US" sz="1100" b="1" dirty="0" err="1">
                <a:solidFill>
                  <a:srgbClr val="333344"/>
                </a:solidFill>
                <a:latin typeface="Courier New"/>
                <a:ea typeface="Courier New"/>
                <a:cs typeface="Courier New"/>
                <a:sym typeface="Courier New"/>
              </a:rPr>
              <a:t>ghcr.io</a:t>
            </a:r>
            <a:r>
              <a:rPr lang="en-US" sz="1100" b="1" dirty="0">
                <a:solidFill>
                  <a:srgbClr val="333344"/>
                </a:solidFill>
                <a:latin typeface="Courier New"/>
                <a:ea typeface="Courier New"/>
                <a:cs typeface="Courier New"/>
                <a:sym typeface="Courier New"/>
              </a:rPr>
              <a:t>/you/</a:t>
            </a:r>
            <a:r>
              <a:rPr lang="en-US" sz="1100" b="1" dirty="0" err="1">
                <a:solidFill>
                  <a:srgbClr val="333344"/>
                </a:solidFill>
                <a:latin typeface="Courier New"/>
                <a:ea typeface="Courier New"/>
                <a:cs typeface="Courier New"/>
                <a:sym typeface="Courier New"/>
              </a:rPr>
              <a:t>chat-app:latest</a:t>
            </a:r>
            <a:endParaRPr sz="1000" dirty="0">
              <a:solidFill>
                <a:schemeClr val="dk1"/>
              </a:solidFill>
            </a:endParaRPr>
          </a:p>
          <a:p>
            <a:pPr marL="0" lvl="0" indent="0" algn="l" rtl="0">
              <a:spcBef>
                <a:spcPts val="200"/>
              </a:spcBef>
              <a:spcAft>
                <a:spcPts val="0"/>
              </a:spcAft>
              <a:buClr>
                <a:schemeClr val="dk1"/>
              </a:buClr>
              <a:buFont typeface="Arial"/>
              <a:buNone/>
            </a:pPr>
            <a:r>
              <a:rPr lang="en-US" sz="1100" b="1" dirty="0">
                <a:solidFill>
                  <a:srgbClr val="333344"/>
                </a:solidFill>
                <a:latin typeface="Courier New"/>
                <a:ea typeface="Courier New"/>
                <a:cs typeface="Courier New"/>
                <a:sym typeface="Courier New"/>
              </a:rPr>
              <a:t>   ...downloaded from the registry.</a:t>
            </a:r>
            <a:endParaRPr sz="1000" dirty="0">
              <a:solidFill>
                <a:schemeClr val="dk1"/>
              </a:solidFill>
            </a:endParaRPr>
          </a:p>
          <a:p>
            <a:pPr marL="0" lvl="0" indent="0" algn="l" rtl="0">
              <a:spcBef>
                <a:spcPts val="200"/>
              </a:spcBef>
              <a:spcAft>
                <a:spcPts val="0"/>
              </a:spcAft>
              <a:buClr>
                <a:schemeClr val="dk1"/>
              </a:buClr>
              <a:buFont typeface="Arial"/>
              <a:buNone/>
            </a:pPr>
            <a:endParaRPr sz="1100" b="1" dirty="0">
              <a:solidFill>
                <a:srgbClr val="333344"/>
              </a:solidFill>
              <a:latin typeface="Courier New"/>
              <a:ea typeface="Courier New"/>
              <a:cs typeface="Courier New"/>
              <a:sym typeface="Courier New"/>
            </a:endParaRPr>
          </a:p>
          <a:p>
            <a:pPr marL="0" lvl="0" indent="0" algn="l" rtl="0">
              <a:spcBef>
                <a:spcPts val="200"/>
              </a:spcBef>
              <a:spcAft>
                <a:spcPts val="0"/>
              </a:spcAft>
              <a:buClr>
                <a:schemeClr val="dk1"/>
              </a:buClr>
              <a:buFont typeface="Arial"/>
              <a:buNone/>
            </a:pPr>
            <a:r>
              <a:rPr lang="en-US" sz="1100" b="1" dirty="0">
                <a:solidFill>
                  <a:srgbClr val="333344"/>
                </a:solidFill>
                <a:latin typeface="Courier New"/>
                <a:ea typeface="Courier New"/>
                <a:cs typeface="Courier New"/>
                <a:sym typeface="Courier New"/>
              </a:rPr>
              <a:t>$ docker run -p 80:8000 -e DATABASE_URL=... </a:t>
            </a:r>
            <a:r>
              <a:rPr lang="en-US" sz="1100" b="1" dirty="0" err="1">
                <a:solidFill>
                  <a:srgbClr val="333344"/>
                </a:solidFill>
                <a:latin typeface="Courier New"/>
                <a:ea typeface="Courier New"/>
                <a:cs typeface="Courier New"/>
                <a:sym typeface="Courier New"/>
              </a:rPr>
              <a:t>ghcr.io</a:t>
            </a:r>
            <a:r>
              <a:rPr lang="en-US" sz="1100" b="1" dirty="0">
                <a:solidFill>
                  <a:srgbClr val="333344"/>
                </a:solidFill>
                <a:latin typeface="Courier New"/>
                <a:ea typeface="Courier New"/>
                <a:cs typeface="Courier New"/>
                <a:sym typeface="Courier New"/>
              </a:rPr>
              <a:t>/you/</a:t>
            </a:r>
            <a:r>
              <a:rPr lang="en-US" sz="1100" b="1" dirty="0" err="1">
                <a:solidFill>
                  <a:srgbClr val="333344"/>
                </a:solidFill>
                <a:latin typeface="Courier New"/>
                <a:ea typeface="Courier New"/>
                <a:cs typeface="Courier New"/>
                <a:sym typeface="Courier New"/>
              </a:rPr>
              <a:t>chat-app:latest</a:t>
            </a:r>
            <a:endParaRPr sz="1000" dirty="0">
              <a:solidFill>
                <a:schemeClr val="dk1"/>
              </a:solidFill>
            </a:endParaRPr>
          </a:p>
          <a:p>
            <a:pPr marL="0" lvl="0" indent="0" algn="l" rtl="0">
              <a:spcBef>
                <a:spcPts val="200"/>
              </a:spcBef>
              <a:spcAft>
                <a:spcPts val="0"/>
              </a:spcAft>
              <a:buClr>
                <a:schemeClr val="dk1"/>
              </a:buClr>
              <a:buFont typeface="Arial"/>
              <a:buNone/>
            </a:pPr>
            <a:r>
              <a:rPr lang="en-US" sz="1100" b="1" dirty="0">
                <a:solidFill>
                  <a:srgbClr val="333344"/>
                </a:solidFill>
                <a:latin typeface="Courier New"/>
                <a:ea typeface="Courier New"/>
                <a:cs typeface="Courier New"/>
                <a:sym typeface="Courier New"/>
              </a:rPr>
              <a:t>   INFO:  </a:t>
            </a:r>
            <a:r>
              <a:rPr lang="en-US" sz="1100" b="1" dirty="0" err="1">
                <a:solidFill>
                  <a:srgbClr val="333344"/>
                </a:solidFill>
                <a:latin typeface="Courier New"/>
                <a:ea typeface="Courier New"/>
                <a:cs typeface="Courier New"/>
                <a:sym typeface="Courier New"/>
              </a:rPr>
              <a:t>Uvicorn</a:t>
            </a:r>
            <a:r>
              <a:rPr lang="en-US" sz="1100" b="1" dirty="0">
                <a:solidFill>
                  <a:srgbClr val="333344"/>
                </a:solidFill>
                <a:latin typeface="Courier New"/>
                <a:ea typeface="Courier New"/>
                <a:cs typeface="Courier New"/>
                <a:sym typeface="Courier New"/>
              </a:rPr>
              <a:t> running.</a:t>
            </a:r>
            <a:endParaRPr sz="1000" dirty="0"/>
          </a:p>
        </p:txBody>
      </p:sp>
      <p:sp>
        <p:nvSpPr>
          <p:cNvPr id="403" name="Google Shape;403;g3e346b600eb_0_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g3e346b600eb_1_8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09" name="Google Shape;409;g3e346b600eb_1_8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Call-on-someone, don't reveal. The answer is (c). Walk the room to it: COPY . . copies the entire build context, and if a student followed 7.2 they have a .env file sitting right there in the project root with a real database URL and a JWT secret in it. That file goes straight into an image layer, and image layers are not private - anyone who docker pulls the image, or pokes at it with docker history, can read it back out. (a) is the tempting wrong answer because people assume Docker is clever about this, and it just isn't: COPY copies exactly what you tell it to. The bug is quiet, too - the image still runs fine, the secret is just along for the ride. Next slide is the fix, and it ties straight back to the env var work from 7.2.</a:t>
            </a:r>
            <a:endParaRPr dirty="0"/>
          </a:p>
        </p:txBody>
      </p:sp>
      <p:sp>
        <p:nvSpPr>
          <p:cNvPr id="410" name="Google Shape;410;g3e346b600eb_1_89: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g3e346b600eb_1_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18" name="Google Shape;418;g3e346b600eb_1_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US" sz="2400" dirty="0">
                <a:solidFill>
                  <a:srgbClr val="333344"/>
                </a:solidFill>
                <a:latin typeface="Calibri"/>
                <a:ea typeface="Calibri"/>
                <a:cs typeface="Calibri"/>
                <a:sym typeface="Calibri"/>
              </a:rPr>
              <a:t>The answer is </a:t>
            </a:r>
            <a:r>
              <a:rPr lang="en-US" sz="2400" b="1" dirty="0">
                <a:solidFill>
                  <a:srgbClr val="333344"/>
                </a:solidFill>
                <a:latin typeface="Calibri"/>
                <a:ea typeface="Calibri"/>
                <a:cs typeface="Calibri"/>
                <a:sym typeface="Calibri"/>
              </a:rPr>
              <a:t>(c)</a:t>
            </a:r>
            <a:r>
              <a:rPr lang="en-US" sz="2400" dirty="0">
                <a:solidFill>
                  <a:srgbClr val="333344"/>
                </a:solidFill>
                <a:latin typeface="Calibri"/>
                <a:ea typeface="Calibri"/>
                <a:cs typeface="Calibri"/>
                <a:sym typeface="Calibri"/>
              </a:rPr>
              <a:t>. `COPY . .` copies everything in the folder,</a:t>
            </a:r>
            <a:endParaRPr dirty="0"/>
          </a:p>
        </p:txBody>
      </p:sp>
      <p:sp>
        <p:nvSpPr>
          <p:cNvPr id="419" name="Google Shape;419;g3e346b600eb_1_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g3e346b600eb_1_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27" name="Google Shape;427;g3e346b600eb_1_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fix has two halves and students should take both. Build time: a .</a:t>
            </a:r>
            <a:r>
              <a:rPr lang="en-US" dirty="0" err="1"/>
              <a:t>dockerignore</a:t>
            </a:r>
            <a:r>
              <a:rPr lang="en-US" dirty="0"/>
              <a:t> file, which works exactly like .</a:t>
            </a:r>
            <a:r>
              <a:rPr lang="en-US" dirty="0" err="1"/>
              <a:t>gitignore</a:t>
            </a:r>
            <a:r>
              <a:rPr lang="en-US" dirty="0"/>
              <a:t> - a list of paths that COPY . . will skip - so .env never enters the image in the first place. Worth saying out loud that .git and __</a:t>
            </a:r>
            <a:r>
              <a:rPr lang="en-US" dirty="0" err="1"/>
              <a:t>pycache</a:t>
            </a:r>
            <a:r>
              <a:rPr lang="en-US" dirty="0"/>
              <a:t>__ belong in there too, mostly for image size. Run time: the image itself should carry zero secrets, and the actual values get handed to the container when it starts, either with -e on docker run, or with --env-file, or on Railway straight from the dashboard variables they already set up in 7.2. The throughline that should reassure students: their app code does not change at all, it still reads </a:t>
            </a:r>
            <a:r>
              <a:rPr lang="en-US" dirty="0" err="1"/>
              <a:t>os.environ</a:t>
            </a:r>
            <a:r>
              <a:rPr lang="en-US" dirty="0"/>
              <a:t> the same way - the only thing that moved is where the values come from. And the closing line is the idea from earlier in the lecture: one image, identical everywhere, with config as the thing that varies per environment.</a:t>
            </a:r>
            <a:endParaRPr dirty="0"/>
          </a:p>
        </p:txBody>
      </p:sp>
      <p:sp>
        <p:nvSpPr>
          <p:cNvPr id="428" name="Google Shape;428;g3e346b600eb_1_8: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g3e346b600eb_1_9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34" name="Google Shape;434;g3e346b600eb_1_9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fix has two halves and students should take both. Build time: a .</a:t>
            </a:r>
            <a:r>
              <a:rPr lang="en-US" dirty="0" err="1"/>
              <a:t>dockerignore</a:t>
            </a:r>
            <a:r>
              <a:rPr lang="en-US" dirty="0"/>
              <a:t> file, which works exactly like .</a:t>
            </a:r>
            <a:r>
              <a:rPr lang="en-US" dirty="0" err="1"/>
              <a:t>gitignore</a:t>
            </a:r>
            <a:r>
              <a:rPr lang="en-US" dirty="0"/>
              <a:t> - a list of paths that COPY . . will skip - so .env never enters the image in the first place. Worth saying out loud that .git and __</a:t>
            </a:r>
            <a:r>
              <a:rPr lang="en-US" dirty="0" err="1"/>
              <a:t>pycache</a:t>
            </a:r>
            <a:r>
              <a:rPr lang="en-US" dirty="0"/>
              <a:t>__ belong in there too, mostly for image size. Run time: the image itself should carry zero secrets, and the actual values get handed to the container when it starts, either with -e on docker run, or with --env-file, or on Railway straight from the dashboard variables they already set up in 7.2. The throughline that should reassure students: their app code does not change at all, it still reads </a:t>
            </a:r>
            <a:r>
              <a:rPr lang="en-US" dirty="0" err="1"/>
              <a:t>os.environ</a:t>
            </a:r>
            <a:r>
              <a:rPr lang="en-US" dirty="0"/>
              <a:t> the same way - the only thing that moved is where the values come from. And the closing line is the idea from earlier in the lecture: one image, identical everywhere, with config as the thing that varies per environment.</a:t>
            </a:r>
            <a:endParaRPr dirty="0"/>
          </a:p>
        </p:txBody>
      </p:sp>
      <p:sp>
        <p:nvSpPr>
          <p:cNvPr id="435" name="Google Shape;435;g3e346b600eb_1_97: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p2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41" name="Google Shape;441;p2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container they just built is not a course-only artifact - it's the unit the rest of the stack runs on.</a:t>
            </a:r>
            <a:endParaRPr dirty="0"/>
          </a:p>
        </p:txBody>
      </p:sp>
      <p:sp>
        <p:nvSpPr>
          <p:cNvPr id="442" name="Google Shape;442;p2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p2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47" name="Google Shape;447;p2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Slow down here and let it land. The container students built today is the literal unit the rest of the stack is made of. The CI callback is deliberate: 8.2 is next class, and the Ubuntu runner they'll use is itself a container, so today quietly sets that up. Kubernetes gets a namedrop and nothing more - don't teach it, just plant that the thing it orchestrates is the thing they now understand. The closing line restates the point plainly: these systems are all built from the one unit students just built themselves.</a:t>
            </a:r>
            <a:endParaRPr dirty="0"/>
          </a:p>
        </p:txBody>
      </p:sp>
      <p:sp>
        <p:nvSpPr>
          <p:cNvPr id="448" name="Google Shape;448;p2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p2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54" name="Google Shape;454;p2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drop-in nature of Railway's </a:t>
            </a:r>
            <a:r>
              <a:rPr lang="en-US" dirty="0" err="1"/>
              <a:t>Dockerfile</a:t>
            </a:r>
            <a:r>
              <a:rPr lang="en-US" dirty="0"/>
              <a:t> support is the key thing to hammer home - students don't switch tools, they add one file to the existing Railway project and suddenly they control the environment. It's a clean upgrade story, and it means the workflow from 7.2 still holds, just with a </a:t>
            </a:r>
            <a:r>
              <a:rPr lang="en-US" dirty="0" err="1"/>
              <a:t>Dockerfile</a:t>
            </a:r>
            <a:r>
              <a:rPr lang="en-US" dirty="0"/>
              <a:t> on top.</a:t>
            </a:r>
            <a:endParaRPr dirty="0"/>
          </a:p>
        </p:txBody>
      </p:sp>
      <p:sp>
        <p:nvSpPr>
          <p:cNvPr id="455" name="Google Shape;455;p2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p2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61" name="Google Shape;461;p2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Honest judgment-call slide - don't reach for Docker reflexively, the auto-builder is good and most small projects don't need this level of control. But note the reframed closing line: the value of today is not 'an escape hatch you might use someday,' it's understanding what every deploy actually ships. The four bullets are real triggers worth knowing by name. The same-image-everywhere bullet matters most as projects grow - it's what makes a green CI check actually trustworthy.</a:t>
            </a:r>
            <a:endParaRPr dirty="0"/>
          </a:p>
        </p:txBody>
      </p:sp>
      <p:sp>
        <p:nvSpPr>
          <p:cNvPr id="462" name="Google Shape;462;p27: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p2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68" name="Google Shape;468;p2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FROM python:3.12-slim</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WORKDIR /app</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 Install Python deps first (slow-changing)</a:t>
            </a:r>
            <a:endParaRPr dirty="0"/>
          </a:p>
          <a:p>
            <a:pPr marL="0" lvl="0" indent="0" algn="l" rtl="0">
              <a:spcBef>
                <a:spcPts val="0"/>
              </a:spcBef>
              <a:spcAft>
                <a:spcPts val="0"/>
              </a:spcAft>
              <a:buNone/>
            </a:pPr>
            <a:r>
              <a:rPr lang="en-US" dirty="0"/>
              <a:t>COPY </a:t>
            </a:r>
            <a:r>
              <a:rPr lang="en-US" dirty="0" err="1"/>
              <a:t>requirements.txt</a:t>
            </a:r>
            <a:r>
              <a:rPr lang="en-US" dirty="0"/>
              <a:t> .</a:t>
            </a:r>
            <a:endParaRPr dirty="0"/>
          </a:p>
          <a:p>
            <a:pPr marL="0" lvl="0" indent="0" algn="l" rtl="0">
              <a:spcBef>
                <a:spcPts val="0"/>
              </a:spcBef>
              <a:spcAft>
                <a:spcPts val="0"/>
              </a:spcAft>
              <a:buNone/>
            </a:pPr>
            <a:r>
              <a:rPr lang="en-US" dirty="0"/>
              <a:t>RUN pip install --no-cache-</a:t>
            </a:r>
            <a:r>
              <a:rPr lang="en-US" dirty="0" err="1"/>
              <a:t>dir</a:t>
            </a:r>
            <a:r>
              <a:rPr lang="en-US" dirty="0"/>
              <a:t> -r </a:t>
            </a:r>
            <a:r>
              <a:rPr lang="en-US" dirty="0" err="1"/>
              <a:t>requirements.txt</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 Now copy the rest of the code (fast-changing)</a:t>
            </a:r>
            <a:endParaRPr dirty="0"/>
          </a:p>
          <a:p>
            <a:pPr marL="0" lvl="0" indent="0" algn="l" rtl="0">
              <a:spcBef>
                <a:spcPts val="0"/>
              </a:spcBef>
              <a:spcAft>
                <a:spcPts val="0"/>
              </a:spcAft>
              <a:buNone/>
            </a:pPr>
            <a:r>
              <a:rPr lang="en-US" dirty="0"/>
              <a:t>COPY .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 Start the server</a:t>
            </a:r>
            <a:endParaRPr dirty="0"/>
          </a:p>
          <a:p>
            <a:pPr marL="0" lvl="0" indent="0" algn="l" rtl="0">
              <a:spcBef>
                <a:spcPts val="0"/>
              </a:spcBef>
              <a:spcAft>
                <a:spcPts val="0"/>
              </a:spcAft>
              <a:buNone/>
            </a:pPr>
            <a:r>
              <a:rPr lang="en-US" dirty="0"/>
              <a:t>CMD ["</a:t>
            </a:r>
            <a:r>
              <a:rPr lang="en-US" dirty="0" err="1"/>
              <a:t>uvicorn</a:t>
            </a:r>
            <a:r>
              <a:rPr lang="en-US" dirty="0"/>
              <a:t>", "</a:t>
            </a:r>
            <a:r>
              <a:rPr lang="en-US" dirty="0" err="1"/>
              <a:t>app:app</a:t>
            </a:r>
            <a:r>
              <a:rPr lang="en-US" dirty="0"/>
              <a:t>", "--host", "0.0.0.0", "--port", "8000"]</a:t>
            </a:r>
            <a:endParaRPr dirty="0"/>
          </a:p>
          <a:p>
            <a:pPr marL="0" lvl="0" indent="0" algn="l" rtl="0">
              <a:spcBef>
                <a:spcPts val="0"/>
              </a:spcBef>
              <a:spcAft>
                <a:spcPts val="0"/>
              </a:spcAft>
              <a:buNone/>
            </a:pPr>
            <a:endParaRPr dirty="0"/>
          </a:p>
        </p:txBody>
      </p:sp>
      <p:sp>
        <p:nvSpPr>
          <p:cNvPr id="469" name="Google Shape;469;p28: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p2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77" name="Google Shape;477;p2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Walk through each answer. The --no-cache-dir flag is a small win - pip caches downloads in ~/.cache/pip by default and those cached files end up baked into your image, bloating it for no reason, so --no-cache-dir just skips that. The 0.0.0.0 bind address instead of 127.0.0.1 is CRITICAL though, and it's the same bug as the spot-the-bug slide: 127.0.0.1 binds to loopback, which from inside the container is unreachable from outside. 0.0.0.0 binds to all interfaces, which is what you want.</a:t>
            </a:r>
            <a:endParaRPr/>
          </a:p>
        </p:txBody>
      </p:sp>
      <p:sp>
        <p:nvSpPr>
          <p:cNvPr id="478" name="Google Shape;478;p29: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p3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86" name="Google Shape;486;p3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Recap the three mechanical ideas, then restate the wider point - the container students built today is what CI runners and cloud platforms are made of. Point forward to 8.2, which closes a loop two ways: the tests students wrote in 4.x finally run automatically on every push, and the machine they run on is a container, the exact thing this lecture was about. That callback is worth saying out loud - it makes 8.1 and 8.2 feel like one arc.</a:t>
            </a:r>
            <a:endParaRPr dirty="0"/>
          </a:p>
        </p:txBody>
      </p:sp>
      <p:sp>
        <p:nvSpPr>
          <p:cNvPr id="487" name="Google Shape;487;p3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3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3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3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3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3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3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3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3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3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3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3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3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3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3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3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3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3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3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3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3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3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3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3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3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3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3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3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3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4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40"/>
          <p:cNvSpPr>
            <a:spLocks noGrp="1"/>
          </p:cNvSpPr>
          <p:nvPr>
            <p:ph type="pic" idx="2"/>
          </p:nvPr>
        </p:nvSpPr>
        <p:spPr>
          <a:xfrm>
            <a:off x="1792288" y="612775"/>
            <a:ext cx="5486400" cy="4114800"/>
          </a:xfrm>
          <a:prstGeom prst="rect">
            <a:avLst/>
          </a:prstGeom>
          <a:noFill/>
          <a:ln>
            <a:noFill/>
          </a:ln>
        </p:spPr>
      </p:sp>
      <p:sp>
        <p:nvSpPr>
          <p:cNvPr id="64" name="Google Shape;64;p4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4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4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4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4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4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4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4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4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4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4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4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4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4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3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3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3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3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4"/>
        <p:cNvGrpSpPr/>
        <p:nvPr/>
      </p:nvGrpSpPr>
      <p:grpSpPr>
        <a:xfrm>
          <a:off x="0" y="0"/>
          <a:ext cx="0" cy="0"/>
          <a:chOff x="0" y="0"/>
          <a:chExt cx="0" cy="0"/>
        </a:xfrm>
      </p:grpSpPr>
      <p:sp>
        <p:nvSpPr>
          <p:cNvPr id="85" name="Google Shape;85;p1"/>
          <p:cNvSpPr/>
          <p:nvPr/>
        </p:nvSpPr>
        <p:spPr>
          <a:xfrm>
            <a:off x="0" y="0"/>
            <a:ext cx="12191695" cy="137160"/>
          </a:xfrm>
          <a:prstGeom prst="rect">
            <a:avLst/>
          </a:prstGeom>
          <a:solidFill>
            <a:srgbClr val="5B21B6"/>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6" name="Google Shape;86;p1"/>
          <p:cNvSpPr txBox="1"/>
          <p:nvPr/>
        </p:nvSpPr>
        <p:spPr>
          <a:xfrm>
            <a:off x="914400" y="1645920"/>
            <a:ext cx="10362895" cy="7315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5B21B6"/>
                </a:solidFill>
                <a:latin typeface="Calibri"/>
                <a:ea typeface="Calibri"/>
                <a:cs typeface="Calibri"/>
                <a:sym typeface="Calibri"/>
              </a:rPr>
              <a:t>Lecture 8.1</a:t>
            </a:r>
            <a:endParaRPr/>
          </a:p>
        </p:txBody>
      </p:sp>
      <p:sp>
        <p:nvSpPr>
          <p:cNvPr id="87" name="Google Shape;87;p1"/>
          <p:cNvSpPr txBox="1"/>
          <p:nvPr/>
        </p:nvSpPr>
        <p:spPr>
          <a:xfrm>
            <a:off x="914400" y="2468880"/>
            <a:ext cx="10362895" cy="1828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800" b="1" i="0" u="none" strike="noStrike" cap="none">
                <a:solidFill>
                  <a:srgbClr val="1A1A2E"/>
                </a:solidFill>
                <a:latin typeface="Calibri"/>
                <a:ea typeface="Calibri"/>
                <a:cs typeface="Calibri"/>
                <a:sym typeface="Calibri"/>
              </a:rPr>
              <a:t>Docker</a:t>
            </a:r>
            <a:endParaRPr/>
          </a:p>
        </p:txBody>
      </p:sp>
      <p:sp>
        <p:nvSpPr>
          <p:cNvPr id="88" name="Google Shape;88;p1"/>
          <p:cNvSpPr txBox="1"/>
          <p:nvPr/>
        </p:nvSpPr>
        <p:spPr>
          <a:xfrm>
            <a:off x="914400" y="4754880"/>
            <a:ext cx="1036289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0" i="0" u="none" strike="noStrike" cap="none">
                <a:solidFill>
                  <a:srgbClr val="666677"/>
                </a:solidFill>
                <a:latin typeface="Calibri"/>
                <a:ea typeface="Calibri"/>
                <a:cs typeface="Calibri"/>
                <a:sym typeface="Calibri"/>
              </a:rPr>
              <a:t>Andy Aymeloglu - UATX Software Engineering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3"/>
        <p:cNvGrpSpPr/>
        <p:nvPr/>
      </p:nvGrpSpPr>
      <p:grpSpPr>
        <a:xfrm>
          <a:off x="0" y="0"/>
          <a:ext cx="0" cy="0"/>
          <a:chOff x="0" y="0"/>
          <a:chExt cx="0" cy="0"/>
        </a:xfrm>
      </p:grpSpPr>
      <p:sp>
        <p:nvSpPr>
          <p:cNvPr id="94" name="Google Shape;94;g3e32708a311_0_92"/>
          <p:cNvSpPr txBox="1"/>
          <p:nvPr/>
        </p:nvSpPr>
        <p:spPr>
          <a:xfrm>
            <a:off x="731520" y="365760"/>
            <a:ext cx="10728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A1A2E"/>
                </a:solidFill>
                <a:latin typeface="Calibri"/>
                <a:ea typeface="Calibri"/>
                <a:cs typeface="Calibri"/>
                <a:sym typeface="Calibri"/>
              </a:rPr>
              <a:t>What that looks like in code</a:t>
            </a:r>
            <a:endParaRPr/>
          </a:p>
        </p:txBody>
      </p:sp>
      <p:sp>
        <p:nvSpPr>
          <p:cNvPr id="95" name="Google Shape;95;g3e32708a311_0_92"/>
          <p:cNvSpPr txBox="1"/>
          <p:nvPr/>
        </p:nvSpPr>
        <p:spPr>
          <a:xfrm>
            <a:off x="9601200" y="1188720"/>
            <a:ext cx="1828800" cy="3078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Python</a:t>
            </a:r>
            <a:endParaRPr/>
          </a:p>
        </p:txBody>
      </p:sp>
      <p:sp>
        <p:nvSpPr>
          <p:cNvPr id="96" name="Google Shape;96;g3e32708a311_0_92"/>
          <p:cNvSpPr/>
          <p:nvPr/>
        </p:nvSpPr>
        <p:spPr>
          <a:xfrm>
            <a:off x="731520" y="1463040"/>
            <a:ext cx="10728600" cy="49377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7" name="Google Shape;97;g3e32708a311_0_92"/>
          <p:cNvSpPr txBox="1"/>
          <p:nvPr/>
        </p:nvSpPr>
        <p:spPr>
          <a:xfrm>
            <a:off x="1005840" y="1645920"/>
            <a:ext cx="10179900" cy="388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i="0" u="none" strike="noStrike" cap="none">
                <a:solidFill>
                  <a:srgbClr val="333344"/>
                </a:solidFill>
                <a:latin typeface="Courier New"/>
                <a:ea typeface="Courier New"/>
                <a:cs typeface="Courier New"/>
                <a:sym typeface="Courier New"/>
              </a:rPr>
              <a:t># app.py  - FastAPI serves both the API and the built frontend</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from fastapi import FastAPI</a:t>
            </a:r>
            <a:endParaRPr/>
          </a:p>
          <a:p>
            <a:pPr marL="0" marR="0" lvl="0" indent="0" algn="l" rtl="0">
              <a:spcBef>
                <a:spcPts val="200"/>
              </a:spcBef>
              <a:spcAft>
                <a:spcPts val="0"/>
              </a:spcAft>
              <a:buNone/>
            </a:pP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app = FastAPI()</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API routes come FIRST, so they match before the static handler</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@app.get("/api/messages")</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def list_messages():</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return [...]</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@app.post("/api/messages")</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def create_message(body: MessageCreate):</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a:t>
            </a:r>
            <a:endParaRPr/>
          </a:p>
          <a:p>
            <a:pPr marL="0" marR="0" lvl="0" indent="0" algn="l" rtl="0">
              <a:spcBef>
                <a:spcPts val="200"/>
              </a:spcBef>
              <a:spcAft>
                <a:spcPts val="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2"/>
        <p:cNvGrpSpPr/>
        <p:nvPr/>
      </p:nvGrpSpPr>
      <p:grpSpPr>
        <a:xfrm>
          <a:off x="0" y="0"/>
          <a:ext cx="0" cy="0"/>
          <a:chOff x="0" y="0"/>
          <a:chExt cx="0" cy="0"/>
        </a:xfrm>
      </p:grpSpPr>
      <p:sp>
        <p:nvSpPr>
          <p:cNvPr id="103" name="Google Shape;103;g3e32708a311_0_100"/>
          <p:cNvSpPr txBox="1"/>
          <p:nvPr/>
        </p:nvSpPr>
        <p:spPr>
          <a:xfrm>
            <a:off x="731520" y="365760"/>
            <a:ext cx="10728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A1A2E"/>
                </a:solidFill>
                <a:latin typeface="Calibri"/>
                <a:ea typeface="Calibri"/>
                <a:cs typeface="Calibri"/>
                <a:sym typeface="Calibri"/>
              </a:rPr>
              <a:t>What that looks like in code</a:t>
            </a:r>
            <a:endParaRPr/>
          </a:p>
        </p:txBody>
      </p:sp>
      <p:sp>
        <p:nvSpPr>
          <p:cNvPr id="104" name="Google Shape;104;g3e32708a311_0_100"/>
          <p:cNvSpPr txBox="1"/>
          <p:nvPr/>
        </p:nvSpPr>
        <p:spPr>
          <a:xfrm>
            <a:off x="9601200" y="1188720"/>
            <a:ext cx="1828800" cy="3078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Python</a:t>
            </a:r>
            <a:endParaRPr/>
          </a:p>
        </p:txBody>
      </p:sp>
      <p:sp>
        <p:nvSpPr>
          <p:cNvPr id="105" name="Google Shape;105;g3e32708a311_0_100"/>
          <p:cNvSpPr/>
          <p:nvPr/>
        </p:nvSpPr>
        <p:spPr>
          <a:xfrm>
            <a:off x="731520" y="1463040"/>
            <a:ext cx="10728600" cy="49377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6" name="Google Shape;106;g3e32708a311_0_100"/>
          <p:cNvSpPr txBox="1"/>
          <p:nvPr/>
        </p:nvSpPr>
        <p:spPr>
          <a:xfrm>
            <a:off x="1005840" y="1645920"/>
            <a:ext cx="10179900" cy="4684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i="0" u="none" strike="noStrike" cap="none">
                <a:solidFill>
                  <a:srgbClr val="333344"/>
                </a:solidFill>
                <a:latin typeface="Courier New"/>
                <a:ea typeface="Courier New"/>
                <a:cs typeface="Courier New"/>
                <a:sym typeface="Courier New"/>
              </a:rPr>
              <a:t># app.py  - FastAPI serves both the API and the built frontend</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from fastapi import FastAPI</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from fastapi.staticfiles import StaticFiles</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app = FastAPI()</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API routes come FIRST, so they match before the static handler</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@app.get("/api/messages")</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def list_messages():</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return [...]</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@app.post("/api/messages")</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def create_message(body: MessageCreate):</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Everything else: serve the React build.</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html=True makes / return index.html (React Router works).</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app.mount("/", StaticFiles(directory="frontend/dist", html=True))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1"/>
        <p:cNvGrpSpPr/>
        <p:nvPr/>
      </p:nvGrpSpPr>
      <p:grpSpPr>
        <a:xfrm>
          <a:off x="0" y="0"/>
          <a:ext cx="0" cy="0"/>
          <a:chOff x="0" y="0"/>
          <a:chExt cx="0" cy="0"/>
        </a:xfrm>
      </p:grpSpPr>
      <p:sp>
        <p:nvSpPr>
          <p:cNvPr id="112" name="Google Shape;112;g3e32708a311_0_183"/>
          <p:cNvSpPr txBox="1"/>
          <p:nvPr/>
        </p:nvSpPr>
        <p:spPr>
          <a:xfrm>
            <a:off x="731520" y="365760"/>
            <a:ext cx="10728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A1A2E"/>
                </a:solidFill>
                <a:latin typeface="Calibri"/>
                <a:ea typeface="Calibri"/>
                <a:cs typeface="Calibri"/>
                <a:sym typeface="Calibri"/>
              </a:rPr>
              <a:t>.env locally, dashboard in production</a:t>
            </a:r>
            <a:endParaRPr/>
          </a:p>
        </p:txBody>
      </p:sp>
      <p:sp>
        <p:nvSpPr>
          <p:cNvPr id="113" name="Google Shape;113;g3e32708a311_0_183"/>
          <p:cNvSpPr txBox="1"/>
          <p:nvPr/>
        </p:nvSpPr>
        <p:spPr>
          <a:xfrm>
            <a:off x="9601200" y="1188720"/>
            <a:ext cx="1828800" cy="3078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bash / python</a:t>
            </a:r>
            <a:endParaRPr/>
          </a:p>
        </p:txBody>
      </p:sp>
      <p:sp>
        <p:nvSpPr>
          <p:cNvPr id="114" name="Google Shape;114;g3e32708a311_0_183"/>
          <p:cNvSpPr/>
          <p:nvPr/>
        </p:nvSpPr>
        <p:spPr>
          <a:xfrm>
            <a:off x="731520" y="1463040"/>
            <a:ext cx="10728600" cy="49377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5" name="Google Shape;115;g3e32708a311_0_183"/>
          <p:cNvSpPr txBox="1"/>
          <p:nvPr/>
        </p:nvSpPr>
        <p:spPr>
          <a:xfrm>
            <a:off x="1005840" y="1645920"/>
            <a:ext cx="10179900" cy="3899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i="0" u="none" strike="noStrike" cap="none">
                <a:solidFill>
                  <a:srgbClr val="333344"/>
                </a:solidFill>
                <a:latin typeface="Courier New"/>
                <a:ea typeface="Courier New"/>
                <a:cs typeface="Courier New"/>
                <a:sym typeface="Courier New"/>
              </a:rPr>
              <a:t># .env  (LOCAL ONLY, gitignored, never committed)</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DATABASE_URL=postgresql://postgres:pw@db.supabase.co:5432/postgres</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SECRET_KEY=dev-do-not-use-in-production</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sz="15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sz="15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sz="15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sz="15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sz="15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sz="15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sz="15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sz="15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0"/>
        <p:cNvGrpSpPr/>
        <p:nvPr/>
      </p:nvGrpSpPr>
      <p:grpSpPr>
        <a:xfrm>
          <a:off x="0" y="0"/>
          <a:ext cx="0" cy="0"/>
          <a:chOff x="0" y="0"/>
          <a:chExt cx="0" cy="0"/>
        </a:xfrm>
      </p:grpSpPr>
      <p:sp>
        <p:nvSpPr>
          <p:cNvPr id="121" name="Google Shape;121;g3e32708a311_0_191"/>
          <p:cNvSpPr txBox="1"/>
          <p:nvPr/>
        </p:nvSpPr>
        <p:spPr>
          <a:xfrm>
            <a:off x="731520" y="365760"/>
            <a:ext cx="10728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A1A2E"/>
                </a:solidFill>
                <a:latin typeface="Calibri"/>
                <a:ea typeface="Calibri"/>
                <a:cs typeface="Calibri"/>
                <a:sym typeface="Calibri"/>
              </a:rPr>
              <a:t>.env locally, dashboard in production</a:t>
            </a:r>
            <a:endParaRPr/>
          </a:p>
        </p:txBody>
      </p:sp>
      <p:sp>
        <p:nvSpPr>
          <p:cNvPr id="122" name="Google Shape;122;g3e32708a311_0_191"/>
          <p:cNvSpPr txBox="1"/>
          <p:nvPr/>
        </p:nvSpPr>
        <p:spPr>
          <a:xfrm>
            <a:off x="9601200" y="1188720"/>
            <a:ext cx="1828800" cy="3078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bash / python</a:t>
            </a:r>
            <a:endParaRPr/>
          </a:p>
        </p:txBody>
      </p:sp>
      <p:sp>
        <p:nvSpPr>
          <p:cNvPr id="123" name="Google Shape;123;g3e32708a311_0_191"/>
          <p:cNvSpPr/>
          <p:nvPr/>
        </p:nvSpPr>
        <p:spPr>
          <a:xfrm>
            <a:off x="731520" y="1463040"/>
            <a:ext cx="10728600" cy="49377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4" name="Google Shape;124;g3e32708a311_0_191"/>
          <p:cNvSpPr txBox="1"/>
          <p:nvPr/>
        </p:nvSpPr>
        <p:spPr>
          <a:xfrm>
            <a:off x="1005840" y="1645920"/>
            <a:ext cx="10179900" cy="4427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i="0" u="none" strike="noStrike" cap="none">
                <a:solidFill>
                  <a:srgbClr val="333344"/>
                </a:solidFill>
                <a:latin typeface="Courier New"/>
                <a:ea typeface="Courier New"/>
                <a:cs typeface="Courier New"/>
                <a:sym typeface="Courier New"/>
              </a:rPr>
              <a:t># .env  (LOCAL ONLY, gitignored, never committed)</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DATABASE_URL=postgresql://postgres:pw@db.supabase.co:5432/postgres</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SECRET_KEY=dev-do-not-use-in-production</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sz="15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sz="15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sz="15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sz="15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sz="15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sz="15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sz="15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sz="15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.gitignore  - make sure this is there</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.env</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9"/>
        <p:cNvGrpSpPr/>
        <p:nvPr/>
      </p:nvGrpSpPr>
      <p:grpSpPr>
        <a:xfrm>
          <a:off x="0" y="0"/>
          <a:ext cx="0" cy="0"/>
          <a:chOff x="0" y="0"/>
          <a:chExt cx="0" cy="0"/>
        </a:xfrm>
      </p:grpSpPr>
      <p:sp>
        <p:nvSpPr>
          <p:cNvPr id="130" name="Google Shape;130;g3e32708a311_0_199"/>
          <p:cNvSpPr txBox="1"/>
          <p:nvPr/>
        </p:nvSpPr>
        <p:spPr>
          <a:xfrm>
            <a:off x="731520" y="365760"/>
            <a:ext cx="10728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A1A2E"/>
                </a:solidFill>
                <a:latin typeface="Calibri"/>
                <a:ea typeface="Calibri"/>
                <a:cs typeface="Calibri"/>
                <a:sym typeface="Calibri"/>
              </a:rPr>
              <a:t>.env locally, dashboard in production</a:t>
            </a:r>
            <a:endParaRPr/>
          </a:p>
        </p:txBody>
      </p:sp>
      <p:sp>
        <p:nvSpPr>
          <p:cNvPr id="131" name="Google Shape;131;g3e32708a311_0_199"/>
          <p:cNvSpPr txBox="1"/>
          <p:nvPr/>
        </p:nvSpPr>
        <p:spPr>
          <a:xfrm>
            <a:off x="9601200" y="1188720"/>
            <a:ext cx="1828800" cy="3078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bash / python</a:t>
            </a:r>
            <a:endParaRPr/>
          </a:p>
        </p:txBody>
      </p:sp>
      <p:sp>
        <p:nvSpPr>
          <p:cNvPr id="132" name="Google Shape;132;g3e32708a311_0_199"/>
          <p:cNvSpPr/>
          <p:nvPr/>
        </p:nvSpPr>
        <p:spPr>
          <a:xfrm>
            <a:off x="731520" y="1463040"/>
            <a:ext cx="10728600" cy="49377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3" name="Google Shape;133;g3e32708a311_0_199"/>
          <p:cNvSpPr txBox="1"/>
          <p:nvPr/>
        </p:nvSpPr>
        <p:spPr>
          <a:xfrm>
            <a:off x="1005840" y="1645920"/>
            <a:ext cx="10179900" cy="4427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i="0" u="none" strike="noStrike" cap="none">
                <a:solidFill>
                  <a:srgbClr val="333344"/>
                </a:solidFill>
                <a:latin typeface="Courier New"/>
                <a:ea typeface="Courier New"/>
                <a:cs typeface="Courier New"/>
                <a:sym typeface="Courier New"/>
              </a:rPr>
              <a:t># .env  (LOCAL ONLY, gitignored, never committed)</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DATABASE_URL=postgresql://postgres:pw@db.supabase.co:5432/postgres</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SECRET_KEY=dev-do-not-use-in-production</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app.py  - read env vars the same way in dev and prod</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import os</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from dotenv import load_dotenv</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load_dotenv()   # loads .env if present, no-op in production</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DATABASE_URL = os.environ["DATABASE_URL"]</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SECRET_KEY   = os.environ["SECRET_KEY"]</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.gitignore  - make sure this is there</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.env</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DE9FE"/>
        </a:solidFill>
        <a:effectLst/>
      </p:bgPr>
    </p:bg>
    <p:spTree>
      <p:nvGrpSpPr>
        <p:cNvPr id="1" name="Shape 138"/>
        <p:cNvGrpSpPr/>
        <p:nvPr/>
      </p:nvGrpSpPr>
      <p:grpSpPr>
        <a:xfrm>
          <a:off x="0" y="0"/>
          <a:ext cx="0" cy="0"/>
          <a:chOff x="0" y="0"/>
          <a:chExt cx="0" cy="0"/>
        </a:xfrm>
      </p:grpSpPr>
      <p:sp>
        <p:nvSpPr>
          <p:cNvPr id="139" name="Google Shape;139;p2"/>
          <p:cNvSpPr txBox="1"/>
          <p:nvPr/>
        </p:nvSpPr>
        <p:spPr>
          <a:xfrm>
            <a:off x="914400" y="2286000"/>
            <a:ext cx="10362895" cy="2286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b="1" i="0" u="none" strike="noStrike" cap="none">
                <a:solidFill>
                  <a:srgbClr val="5B21B6"/>
                </a:solidFill>
                <a:latin typeface="Calibri"/>
                <a:ea typeface="Calibri"/>
                <a:cs typeface="Calibri"/>
                <a:sym typeface="Calibri"/>
              </a:rPr>
              <a:t>It Works on My Machine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1">
          <a:extLst>
            <a:ext uri="{FF2B5EF4-FFF2-40B4-BE49-F238E27FC236}">
              <a16:creationId xmlns:a16="http://schemas.microsoft.com/office/drawing/2014/main" id="{4B937AE8-D33E-6BE5-BFC6-63C5B265C806}"/>
            </a:ext>
          </a:extLst>
        </p:cNvPr>
        <p:cNvGrpSpPr/>
        <p:nvPr/>
      </p:nvGrpSpPr>
      <p:grpSpPr>
        <a:xfrm>
          <a:off x="0" y="0"/>
          <a:ext cx="0" cy="0"/>
          <a:chOff x="0" y="0"/>
          <a:chExt cx="0" cy="0"/>
        </a:xfrm>
      </p:grpSpPr>
      <p:sp>
        <p:nvSpPr>
          <p:cNvPr id="152" name="Google Shape;152;p3">
            <a:extLst>
              <a:ext uri="{FF2B5EF4-FFF2-40B4-BE49-F238E27FC236}">
                <a16:creationId xmlns:a16="http://schemas.microsoft.com/office/drawing/2014/main" id="{CF59857A-E082-F6BC-873C-1BCB8351943D}"/>
              </a:ext>
            </a:extLst>
          </p:cNvPr>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Railway already deploys you. So why this class?</a:t>
            </a:r>
            <a:endParaRPr/>
          </a:p>
        </p:txBody>
      </p:sp>
      <p:sp>
        <p:nvSpPr>
          <p:cNvPr id="153" name="Google Shape;153;p3">
            <a:extLst>
              <a:ext uri="{FF2B5EF4-FFF2-40B4-BE49-F238E27FC236}">
                <a16:creationId xmlns:a16="http://schemas.microsoft.com/office/drawing/2014/main" id="{F59ECE07-C5F6-6A54-C412-DDAA68A0C2D5}"/>
              </a:ext>
            </a:extLst>
          </p:cNvPr>
          <p:cNvSpPr txBox="1"/>
          <p:nvPr/>
        </p:nvSpPr>
        <p:spPr>
          <a:xfrm>
            <a:off x="914400" y="1463050"/>
            <a:ext cx="10479600" cy="295461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dirty="0">
                <a:solidFill>
                  <a:srgbClr val="333344"/>
                </a:solidFill>
                <a:latin typeface="Calibri"/>
                <a:ea typeface="Calibri"/>
                <a:cs typeface="Calibri"/>
                <a:sym typeface="Calibri"/>
              </a:rPr>
              <a:t>Last class you shipped a </a:t>
            </a:r>
            <a:r>
              <a:rPr lang="en-US" sz="2400" b="0" i="0" u="none" strike="noStrike" cap="none" dirty="0" err="1">
                <a:solidFill>
                  <a:srgbClr val="333344"/>
                </a:solidFill>
                <a:latin typeface="Calibri"/>
                <a:ea typeface="Calibri"/>
                <a:cs typeface="Calibri"/>
                <a:sym typeface="Calibri"/>
              </a:rPr>
              <a:t>FastAPI</a:t>
            </a:r>
            <a:r>
              <a:rPr lang="en-US" sz="2400" b="0" i="0" u="none" strike="noStrike" cap="none" dirty="0">
                <a:solidFill>
                  <a:srgbClr val="333344"/>
                </a:solidFill>
                <a:latin typeface="Calibri"/>
                <a:ea typeface="Calibri"/>
                <a:cs typeface="Calibri"/>
                <a:sym typeface="Calibri"/>
              </a:rPr>
              <a:t> app to Railway. </a:t>
            </a:r>
            <a:r>
              <a:rPr lang="en-US" sz="2400" b="1" i="0" u="none" strike="noStrike" cap="none" dirty="0">
                <a:solidFill>
                  <a:srgbClr val="333344"/>
                </a:solidFill>
                <a:latin typeface="Courier Prime"/>
                <a:ea typeface="Courier Prime"/>
                <a:cs typeface="Courier Prime"/>
                <a:sym typeface="Courier Prime"/>
              </a:rPr>
              <a:t>git push</a:t>
            </a:r>
            <a:r>
              <a:rPr lang="en-US" sz="2400" b="0" i="0" u="none" strike="noStrike" cap="none" dirty="0">
                <a:solidFill>
                  <a:srgbClr val="333344"/>
                </a:solidFill>
                <a:latin typeface="Calibri"/>
                <a:ea typeface="Calibri"/>
                <a:cs typeface="Calibri"/>
                <a:sym typeface="Calibri"/>
              </a:rPr>
              <a:t>, live </a:t>
            </a:r>
            <a:r>
              <a:rPr lang="en-US" sz="2400" b="0" i="0" u="none" strike="noStrike" cap="none" dirty="0" err="1">
                <a:solidFill>
                  <a:srgbClr val="333344"/>
                </a:solidFill>
                <a:latin typeface="Calibri"/>
                <a:ea typeface="Calibri"/>
                <a:cs typeface="Calibri"/>
                <a:sym typeface="Calibri"/>
              </a:rPr>
              <a:t>url</a:t>
            </a:r>
            <a:r>
              <a:rPr lang="en-US" sz="2400" b="0" i="0" u="none" strike="noStrike" cap="none" dirty="0">
                <a:solidFill>
                  <a:srgbClr val="333344"/>
                </a:solidFill>
                <a:latin typeface="Calibri"/>
                <a:ea typeface="Calibri"/>
                <a:cs typeface="Calibri"/>
                <a:sym typeface="Calibri"/>
              </a:rPr>
              <a:t>.</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For your final project, that's probably all the</a:t>
            </a:r>
            <a:r>
              <a:rPr lang="en-US" dirty="0"/>
              <a:t> </a:t>
            </a:r>
            <a:r>
              <a:rPr lang="en-US" sz="2000" b="0" i="0" u="none" strike="noStrike" cap="none" dirty="0">
                <a:solidFill>
                  <a:srgbClr val="666677"/>
                </a:solidFill>
                <a:latin typeface="Calibri"/>
                <a:ea typeface="Calibri"/>
                <a:cs typeface="Calibri"/>
                <a:sym typeface="Calibri"/>
              </a:rPr>
              <a:t>deploy machinery you need.</a:t>
            </a:r>
            <a:endParaRPr dirty="0"/>
          </a:p>
          <a:p>
            <a:pPr marL="0" marR="0" lvl="0" indent="0" algn="l" rtl="0">
              <a:spcBef>
                <a:spcPts val="600"/>
              </a:spcBef>
              <a:spcAft>
                <a:spcPts val="0"/>
              </a:spcAft>
              <a:buNone/>
            </a:pPr>
            <a:endParaRPr sz="2000" b="0" i="0" u="none" strike="noStrike" cap="none" dirty="0">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dirty="0">
                <a:solidFill>
                  <a:srgbClr val="333344"/>
                </a:solidFill>
                <a:latin typeface="Calibri"/>
                <a:ea typeface="Calibri"/>
                <a:cs typeface="Calibri"/>
                <a:sym typeface="Calibri"/>
              </a:rPr>
              <a:t>So why spend a whole class on Docker?</a:t>
            </a:r>
            <a:endParaRPr dirty="0"/>
          </a:p>
          <a:p>
            <a:pPr marL="0" marR="0" lvl="0" indent="0" algn="l" rtl="0">
              <a:spcBef>
                <a:spcPts val="600"/>
              </a:spcBef>
              <a:spcAft>
                <a:spcPts val="0"/>
              </a:spcAft>
              <a:buNone/>
            </a:pPr>
            <a:endParaRPr lang="en-US" sz="2400" b="0" i="0" u="none" strike="noStrike" cap="none" dirty="0">
              <a:solidFill>
                <a:srgbClr val="333344"/>
              </a:solidFill>
              <a:latin typeface="Calibri"/>
              <a:ea typeface="Calibri"/>
              <a:cs typeface="Calibri"/>
              <a:sym typeface="Calibri"/>
            </a:endParaRPr>
          </a:p>
          <a:p>
            <a:pPr>
              <a:spcBef>
                <a:spcPts val="600"/>
              </a:spcBef>
            </a:pPr>
            <a:r>
              <a:rPr lang="en-US" sz="2400" dirty="0">
                <a:solidFill>
                  <a:srgbClr val="333344"/>
                </a:solidFill>
                <a:latin typeface="Calibri"/>
                <a:ea typeface="Calibri"/>
                <a:cs typeface="Calibri"/>
                <a:sym typeface="Calibri"/>
              </a:rPr>
              <a:t>Theme of this course is peeking under the hood, and Docker is under all the hoods.</a:t>
            </a:r>
            <a:endParaRPr lang="en-US" sz="2400" dirty="0"/>
          </a:p>
          <a:p>
            <a:pPr marL="0" marR="0" lvl="0" indent="0" algn="l" rtl="0">
              <a:spcBef>
                <a:spcPts val="600"/>
              </a:spcBef>
              <a:spcAft>
                <a:spcPts val="0"/>
              </a:spcAft>
              <a:buNone/>
            </a:pPr>
            <a:endParaRPr sz="2000" b="0" i="0" u="none" strike="noStrike" cap="none" dirty="0">
              <a:solidFill>
                <a:srgbClr val="666677"/>
              </a:solidFill>
              <a:latin typeface="Calibri"/>
              <a:ea typeface="Calibri"/>
              <a:cs typeface="Calibri"/>
              <a:sym typeface="Calibri"/>
            </a:endParaRPr>
          </a:p>
        </p:txBody>
      </p:sp>
    </p:spTree>
    <p:extLst>
      <p:ext uri="{BB962C8B-B14F-4D97-AF65-F5344CB8AC3E}">
        <p14:creationId xmlns:p14="http://schemas.microsoft.com/office/powerpoint/2010/main" val="4607633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1"/>
        <p:cNvGrpSpPr/>
        <p:nvPr/>
      </p:nvGrpSpPr>
      <p:grpSpPr>
        <a:xfrm>
          <a:off x="0" y="0"/>
          <a:ext cx="0" cy="0"/>
          <a:chOff x="0" y="0"/>
          <a:chExt cx="0" cy="0"/>
        </a:xfrm>
      </p:grpSpPr>
      <p:sp>
        <p:nvSpPr>
          <p:cNvPr id="152" name="Google Shape;152;p3"/>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Railway already deploys you. So why this class?</a:t>
            </a:r>
            <a:endParaRPr/>
          </a:p>
        </p:txBody>
      </p:sp>
      <p:sp>
        <p:nvSpPr>
          <p:cNvPr id="153" name="Google Shape;153;p3"/>
          <p:cNvSpPr txBox="1"/>
          <p:nvPr/>
        </p:nvSpPr>
        <p:spPr>
          <a:xfrm>
            <a:off x="914400" y="1463050"/>
            <a:ext cx="10479600" cy="5001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dirty="0">
                <a:solidFill>
                  <a:srgbClr val="333344"/>
                </a:solidFill>
                <a:latin typeface="Calibri"/>
                <a:ea typeface="Calibri"/>
                <a:cs typeface="Calibri"/>
                <a:sym typeface="Calibri"/>
              </a:rPr>
              <a:t>Last class you shipped a </a:t>
            </a:r>
            <a:r>
              <a:rPr lang="en-US" sz="2400" b="0" i="0" u="none" strike="noStrike" cap="none" dirty="0" err="1">
                <a:solidFill>
                  <a:srgbClr val="333344"/>
                </a:solidFill>
                <a:latin typeface="Calibri"/>
                <a:ea typeface="Calibri"/>
                <a:cs typeface="Calibri"/>
                <a:sym typeface="Calibri"/>
              </a:rPr>
              <a:t>FastAPI</a:t>
            </a:r>
            <a:r>
              <a:rPr lang="en-US" sz="2400" b="0" i="0" u="none" strike="noStrike" cap="none" dirty="0">
                <a:solidFill>
                  <a:srgbClr val="333344"/>
                </a:solidFill>
                <a:latin typeface="Calibri"/>
                <a:ea typeface="Calibri"/>
                <a:cs typeface="Calibri"/>
                <a:sym typeface="Calibri"/>
              </a:rPr>
              <a:t> app to Railway. </a:t>
            </a:r>
            <a:r>
              <a:rPr lang="en-US" sz="2400" b="1" i="0" u="none" strike="noStrike" cap="none" dirty="0">
                <a:solidFill>
                  <a:srgbClr val="333344"/>
                </a:solidFill>
                <a:latin typeface="Courier Prime"/>
                <a:ea typeface="Courier Prime"/>
                <a:cs typeface="Courier Prime"/>
                <a:sym typeface="Courier Prime"/>
              </a:rPr>
              <a:t>git push</a:t>
            </a:r>
            <a:r>
              <a:rPr lang="en-US" sz="2400" b="0" i="0" u="none" strike="noStrike" cap="none" dirty="0">
                <a:solidFill>
                  <a:srgbClr val="333344"/>
                </a:solidFill>
                <a:latin typeface="Calibri"/>
                <a:ea typeface="Calibri"/>
                <a:cs typeface="Calibri"/>
                <a:sym typeface="Calibri"/>
              </a:rPr>
              <a:t>, live </a:t>
            </a:r>
            <a:r>
              <a:rPr lang="en-US" sz="2400" b="0" i="0" u="none" strike="noStrike" cap="none" dirty="0" err="1">
                <a:solidFill>
                  <a:srgbClr val="333344"/>
                </a:solidFill>
                <a:latin typeface="Calibri"/>
                <a:ea typeface="Calibri"/>
                <a:cs typeface="Calibri"/>
                <a:sym typeface="Calibri"/>
              </a:rPr>
              <a:t>url</a:t>
            </a:r>
            <a:r>
              <a:rPr lang="en-US" sz="2400" b="0" i="0" u="none" strike="noStrike" cap="none" dirty="0">
                <a:solidFill>
                  <a:srgbClr val="333344"/>
                </a:solidFill>
                <a:latin typeface="Calibri"/>
                <a:ea typeface="Calibri"/>
                <a:cs typeface="Calibri"/>
                <a:sym typeface="Calibri"/>
              </a:rPr>
              <a:t>.</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For your final project, that's probably all the</a:t>
            </a:r>
            <a:r>
              <a:rPr lang="en-US" dirty="0"/>
              <a:t> </a:t>
            </a:r>
            <a:r>
              <a:rPr lang="en-US" sz="2000" b="0" i="0" u="none" strike="noStrike" cap="none" dirty="0">
                <a:solidFill>
                  <a:srgbClr val="666677"/>
                </a:solidFill>
                <a:latin typeface="Calibri"/>
                <a:ea typeface="Calibri"/>
                <a:cs typeface="Calibri"/>
                <a:sym typeface="Calibri"/>
              </a:rPr>
              <a:t>deploy machinery you need.</a:t>
            </a:r>
            <a:endParaRPr dirty="0"/>
          </a:p>
          <a:p>
            <a:pPr marL="0" marR="0" lvl="0" indent="0" algn="l" rtl="0">
              <a:spcBef>
                <a:spcPts val="600"/>
              </a:spcBef>
              <a:spcAft>
                <a:spcPts val="0"/>
              </a:spcAft>
              <a:buNone/>
            </a:pPr>
            <a:endParaRPr sz="2000" b="0" i="0" u="none" strike="noStrike" cap="none" dirty="0">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dirty="0">
                <a:solidFill>
                  <a:srgbClr val="333344"/>
                </a:solidFill>
                <a:latin typeface="Calibri"/>
                <a:ea typeface="Calibri"/>
                <a:cs typeface="Calibri"/>
                <a:sym typeface="Calibri"/>
              </a:rPr>
              <a:t>So why spend a whole class on Docker?</a:t>
            </a:r>
            <a:endParaRPr dirty="0"/>
          </a:p>
          <a:p>
            <a:pPr marL="0" marR="0" lvl="0" indent="0" algn="l" rtl="0">
              <a:spcBef>
                <a:spcPts val="600"/>
              </a:spcBef>
              <a:spcAft>
                <a:spcPts val="0"/>
              </a:spcAft>
              <a:buNone/>
            </a:pPr>
            <a:endParaRPr lang="en-US" sz="2400" b="0" i="0" u="none" strike="noStrike" cap="none" dirty="0">
              <a:solidFill>
                <a:srgbClr val="333344"/>
              </a:solidFill>
              <a:latin typeface="Calibri"/>
              <a:ea typeface="Calibri"/>
              <a:cs typeface="Calibri"/>
              <a:sym typeface="Calibri"/>
            </a:endParaRPr>
          </a:p>
          <a:p>
            <a:pPr>
              <a:spcBef>
                <a:spcPts val="600"/>
              </a:spcBef>
            </a:pPr>
            <a:r>
              <a:rPr lang="en-US" sz="2400" dirty="0">
                <a:solidFill>
                  <a:srgbClr val="333344"/>
                </a:solidFill>
                <a:latin typeface="Calibri"/>
                <a:ea typeface="Calibri"/>
                <a:cs typeface="Calibri"/>
                <a:sym typeface="Calibri"/>
              </a:rPr>
              <a:t>Theme of this course is peeking under the hood, and Docker is under all the hoods.</a:t>
            </a:r>
            <a:endParaRPr lang="en-US" sz="2400" dirty="0"/>
          </a:p>
          <a:p>
            <a:pPr marL="0" marR="0" lvl="0" indent="0" algn="l" rtl="0">
              <a:spcBef>
                <a:spcPts val="600"/>
              </a:spcBef>
              <a:spcAft>
                <a:spcPts val="0"/>
              </a:spcAft>
              <a:buNone/>
            </a:pPr>
            <a:endParaRPr sz="2400" b="0" i="0" u="none" strike="noStrike" cap="none" dirty="0">
              <a:solidFill>
                <a:srgbClr val="333344"/>
              </a:solidFill>
              <a:latin typeface="Calibri"/>
              <a:ea typeface="Calibri"/>
              <a:cs typeface="Calibri"/>
              <a:sym typeface="Calibri"/>
            </a:endParaRPr>
          </a:p>
          <a:p>
            <a:pPr marL="0" marR="0" lvl="0" indent="0" algn="l" rtl="0">
              <a:spcBef>
                <a:spcPts val="600"/>
              </a:spcBef>
              <a:spcAft>
                <a:spcPts val="0"/>
              </a:spcAft>
              <a:buNone/>
            </a:pPr>
            <a:r>
              <a:rPr lang="en-US" sz="2400" b="1" dirty="0">
                <a:solidFill>
                  <a:srgbClr val="333344"/>
                </a:solidFill>
                <a:latin typeface="Calibri"/>
                <a:ea typeface="Calibri"/>
                <a:cs typeface="Calibri"/>
                <a:sym typeface="Calibri"/>
              </a:rPr>
              <a:t>C</a:t>
            </a:r>
            <a:r>
              <a:rPr lang="en-US" sz="2400" b="1" i="0" u="none" strike="noStrike" cap="none" dirty="0">
                <a:solidFill>
                  <a:srgbClr val="333344"/>
                </a:solidFill>
                <a:latin typeface="Calibri"/>
                <a:ea typeface="Calibri"/>
                <a:cs typeface="Calibri"/>
                <a:sym typeface="Calibri"/>
              </a:rPr>
              <a:t>ontainers are the unit modern infrastructure ships in.</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The CI runner that checks your tests next week: a container.</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Every cloud platform, Railway included, underneath: containers.</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Backend job postings you'll read: "experience with Docker."</a:t>
            </a:r>
            <a:endParaRPr dirty="0"/>
          </a:p>
          <a:p>
            <a:pPr marL="0" marR="0" lvl="0" indent="0" algn="l" rtl="0">
              <a:spcBef>
                <a:spcPts val="600"/>
              </a:spcBef>
              <a:spcAft>
                <a:spcPts val="0"/>
              </a:spcAft>
              <a:buNone/>
            </a:pPr>
            <a:endParaRPr sz="2000" b="0" i="0" u="none" strike="noStrike" cap="none" dirty="0">
              <a:solidFill>
                <a:srgbClr val="666677"/>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8"/>
        <p:cNvGrpSpPr/>
        <p:nvPr/>
      </p:nvGrpSpPr>
      <p:grpSpPr>
        <a:xfrm>
          <a:off x="0" y="0"/>
          <a:ext cx="0" cy="0"/>
          <a:chOff x="0" y="0"/>
          <a:chExt cx="0" cy="0"/>
        </a:xfrm>
      </p:grpSpPr>
      <p:sp>
        <p:nvSpPr>
          <p:cNvPr id="159" name="Google Shape;159;p4"/>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rgbClr val="1A1A2E"/>
                </a:solidFill>
                <a:latin typeface="Calibri"/>
                <a:ea typeface="Calibri"/>
                <a:cs typeface="Calibri"/>
                <a:sym typeface="Calibri"/>
              </a:rPr>
              <a:t>Looking under a hood</a:t>
            </a:r>
            <a:endParaRPr/>
          </a:p>
        </p:txBody>
      </p:sp>
      <p:sp>
        <p:nvSpPr>
          <p:cNvPr id="160" name="Google Shape;160;p4"/>
          <p:cNvSpPr txBox="1"/>
          <p:nvPr/>
        </p:nvSpPr>
        <p:spPr>
          <a:xfrm>
            <a:off x="914400" y="1463040"/>
            <a:ext cx="10362900" cy="358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When Railway built your app, its default builder (</a:t>
            </a:r>
            <a:r>
              <a:rPr lang="en-US" sz="2400" b="1" i="0" u="none" strike="noStrike" cap="none">
                <a:solidFill>
                  <a:srgbClr val="333344"/>
                </a:solidFill>
                <a:latin typeface="Calibri"/>
                <a:ea typeface="Calibri"/>
                <a:cs typeface="Calibri"/>
                <a:sym typeface="Calibri"/>
              </a:rPr>
              <a:t>nixpacks</a:t>
            </a:r>
            <a:r>
              <a:rPr lang="en-US" sz="2400" b="0" i="0" u="none" strike="noStrike" cap="none">
                <a:solidFill>
                  <a:srgbClr val="333344"/>
                </a:solidFill>
                <a:latin typeface="Calibri"/>
                <a:ea typeface="Calibri"/>
                <a:cs typeface="Calibri"/>
                <a:sym typeface="Calibri"/>
              </a:rPr>
              <a:t>):</a:t>
            </a:r>
            <a:endParaRPr/>
          </a:p>
          <a:p>
            <a:pPr marL="914400" marR="0" lvl="0" indent="-355600" algn="l" rtl="0">
              <a:spcBef>
                <a:spcPts val="600"/>
              </a:spcBef>
              <a:spcAft>
                <a:spcPts val="0"/>
              </a:spcAft>
              <a:buClr>
                <a:srgbClr val="666677"/>
              </a:buClr>
              <a:buSzPts val="2000"/>
              <a:buFont typeface="Calibri"/>
              <a:buChar char="●"/>
            </a:pPr>
            <a:r>
              <a:rPr lang="en-US" sz="2000" b="0" i="0" u="none" strike="noStrike" cap="none">
                <a:solidFill>
                  <a:srgbClr val="666677"/>
                </a:solidFill>
                <a:latin typeface="Calibri"/>
                <a:ea typeface="Calibri"/>
                <a:cs typeface="Calibri"/>
                <a:sym typeface="Calibri"/>
              </a:rPr>
              <a:t>packaged your code and its</a:t>
            </a:r>
            <a:r>
              <a:rPr lang="en-US"/>
              <a:t> </a:t>
            </a:r>
            <a:r>
              <a:rPr lang="en-US" sz="2000" b="0" i="0" u="none" strike="noStrike" cap="none">
                <a:solidFill>
                  <a:srgbClr val="666677"/>
                </a:solidFill>
                <a:latin typeface="Calibri"/>
                <a:ea typeface="Calibri"/>
                <a:cs typeface="Calibri"/>
                <a:sym typeface="Calibri"/>
              </a:rPr>
              <a:t>dependencies into a </a:t>
            </a:r>
            <a:r>
              <a:rPr lang="en-US" sz="2000" b="1" i="0" u="none" strike="noStrike" cap="none">
                <a:solidFill>
                  <a:srgbClr val="666677"/>
                </a:solidFill>
                <a:latin typeface="Calibri"/>
                <a:ea typeface="Calibri"/>
                <a:cs typeface="Calibri"/>
                <a:sym typeface="Calibri"/>
              </a:rPr>
              <a:t>container image</a:t>
            </a:r>
            <a:endParaRPr sz="2000">
              <a:solidFill>
                <a:srgbClr val="666677"/>
              </a:solidFill>
              <a:latin typeface="Calibri"/>
              <a:ea typeface="Calibri"/>
              <a:cs typeface="Calibri"/>
              <a:sym typeface="Calibri"/>
            </a:endParaRPr>
          </a:p>
          <a:p>
            <a:pPr marL="914400" marR="0" lvl="0" indent="-355600" algn="l" rtl="0">
              <a:spcBef>
                <a:spcPts val="0"/>
              </a:spcBef>
              <a:spcAft>
                <a:spcPts val="0"/>
              </a:spcAft>
              <a:buClr>
                <a:srgbClr val="666677"/>
              </a:buClr>
              <a:buSzPts val="2000"/>
              <a:buFont typeface="Calibri"/>
              <a:buChar char="●"/>
            </a:pPr>
            <a:r>
              <a:rPr lang="en-US" sz="2000" b="0" i="0" u="none" strike="noStrike" cap="none">
                <a:solidFill>
                  <a:srgbClr val="666677"/>
                </a:solidFill>
                <a:latin typeface="Calibri"/>
                <a:ea typeface="Calibri"/>
                <a:cs typeface="Calibri"/>
                <a:sym typeface="Calibri"/>
              </a:rPr>
              <a:t>then ran it.</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That's the deal a PaaS offers: it builds the container for you,</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out of sight, with smart defaults. Great - right up until you</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want to </a:t>
            </a:r>
            <a:r>
              <a:rPr lang="en-US" sz="2000" b="1" i="0" u="none" strike="noStrike" cap="none">
                <a:solidFill>
                  <a:srgbClr val="666677"/>
                </a:solidFill>
                <a:latin typeface="Calibri"/>
                <a:ea typeface="Calibri"/>
                <a:cs typeface="Calibri"/>
                <a:sym typeface="Calibri"/>
              </a:rPr>
              <a:t>choose</a:t>
            </a:r>
            <a:r>
              <a:rPr lang="en-US" sz="2000" b="0" i="0" u="none" strike="noStrike" cap="none">
                <a:solidFill>
                  <a:srgbClr val="666677"/>
                </a:solidFill>
                <a:latin typeface="Calibri"/>
                <a:ea typeface="Calibri"/>
                <a:cs typeface="Calibri"/>
                <a:sym typeface="Calibri"/>
              </a:rPr>
              <a:t> what goes inside it yourself.</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Today: open the hood</a:t>
            </a:r>
            <a:r>
              <a:rPr lang="en-US" sz="2400">
                <a:solidFill>
                  <a:srgbClr val="333344"/>
                </a:solidFill>
                <a:latin typeface="Calibri"/>
                <a:ea typeface="Calibri"/>
                <a:cs typeface="Calibri"/>
                <a:sym typeface="Calibri"/>
              </a:rPr>
              <a:t> so we can</a:t>
            </a:r>
            <a:r>
              <a:rPr lang="en-US" sz="2400" b="0" i="0" u="none" strike="noStrike" cap="none">
                <a:solidFill>
                  <a:srgbClr val="333344"/>
                </a:solidFill>
                <a:latin typeface="Calibri"/>
                <a:ea typeface="Calibri"/>
                <a:cs typeface="Calibri"/>
                <a:sym typeface="Calibri"/>
              </a:rPr>
              <a:t> write the recipe.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DE9FE"/>
        </a:solidFill>
        <a:effectLst/>
      </p:bgPr>
    </p:bg>
    <p:spTree>
      <p:nvGrpSpPr>
        <p:cNvPr id="1" name="Shape 165"/>
        <p:cNvGrpSpPr/>
        <p:nvPr/>
      </p:nvGrpSpPr>
      <p:grpSpPr>
        <a:xfrm>
          <a:off x="0" y="0"/>
          <a:ext cx="0" cy="0"/>
          <a:chOff x="0" y="0"/>
          <a:chExt cx="0" cy="0"/>
        </a:xfrm>
      </p:grpSpPr>
      <p:sp>
        <p:nvSpPr>
          <p:cNvPr id="166" name="Google Shape;166;p6"/>
          <p:cNvSpPr txBox="1"/>
          <p:nvPr/>
        </p:nvSpPr>
        <p:spPr>
          <a:xfrm>
            <a:off x="5303520" y="457200"/>
            <a:ext cx="1584655" cy="13716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7200" b="1" i="0" u="none" strike="noStrike" cap="none">
                <a:solidFill>
                  <a:srgbClr val="5B21B6"/>
                </a:solidFill>
                <a:latin typeface="Calibri"/>
                <a:ea typeface="Calibri"/>
                <a:cs typeface="Calibri"/>
                <a:sym typeface="Calibri"/>
              </a:rPr>
              <a:t>?</a:t>
            </a:r>
            <a:endParaRPr/>
          </a:p>
        </p:txBody>
      </p:sp>
      <p:sp>
        <p:nvSpPr>
          <p:cNvPr id="167" name="Google Shape;167;p6"/>
          <p:cNvSpPr txBox="1"/>
          <p:nvPr/>
        </p:nvSpPr>
        <p:spPr>
          <a:xfrm>
            <a:off x="1371600" y="2011680"/>
            <a:ext cx="9448495" cy="2286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400" b="1" i="0" u="none" strike="noStrike" cap="none">
                <a:solidFill>
                  <a:srgbClr val="1A1A2E"/>
                </a:solidFill>
                <a:latin typeface="Calibri"/>
                <a:ea typeface="Calibri"/>
                <a:cs typeface="Calibri"/>
                <a:sym typeface="Calibri"/>
              </a:rPr>
              <a:t>Same code. One machine runs it, one crashes on startup. What could be different between them?</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2"/>
        <p:cNvGrpSpPr/>
        <p:nvPr/>
      </p:nvGrpSpPr>
      <p:grpSpPr>
        <a:xfrm>
          <a:off x="0" y="0"/>
          <a:ext cx="0" cy="0"/>
          <a:chOff x="0" y="0"/>
          <a:chExt cx="0" cy="0"/>
        </a:xfrm>
      </p:grpSpPr>
      <p:sp>
        <p:nvSpPr>
          <p:cNvPr id="173" name="Google Shape;173;p5"/>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"But it works on my machine!"</a:t>
            </a:r>
            <a:endParaRPr/>
          </a:p>
        </p:txBody>
      </p:sp>
      <p:sp>
        <p:nvSpPr>
          <p:cNvPr id="174" name="Google Shape;174;p5"/>
          <p:cNvSpPr txBox="1"/>
          <p:nvPr/>
        </p:nvSpPr>
        <p:spPr>
          <a:xfrm>
            <a:off x="914400" y="1463040"/>
            <a:ext cx="10362900" cy="4631997"/>
          </a:xfrm>
          <a:prstGeom prst="rect">
            <a:avLst/>
          </a:prstGeom>
          <a:noFill/>
          <a:ln>
            <a:noFill/>
          </a:ln>
        </p:spPr>
        <p:txBody>
          <a:bodyPr spcFirstLastPara="1" wrap="square" lIns="91425" tIns="45700" rIns="91425" bIns="45700" anchor="t" anchorCtr="0">
            <a:spAutoFit/>
          </a:bodyPr>
          <a:lstStyle/>
          <a:p>
            <a:pPr marL="0" marR="0" lvl="0" indent="0" algn="l" rtl="0">
              <a:spcBef>
                <a:spcPts val="600"/>
              </a:spcBef>
              <a:spcAft>
                <a:spcPts val="0"/>
              </a:spcAft>
              <a:buNone/>
            </a:pPr>
            <a:r>
              <a:rPr lang="en-US" sz="2400" b="0" i="0" u="none" strike="noStrike" cap="none" dirty="0">
                <a:solidFill>
                  <a:srgbClr val="333344"/>
                </a:solidFill>
                <a:latin typeface="Calibri"/>
                <a:ea typeface="Calibri"/>
                <a:cs typeface="Calibri"/>
                <a:sym typeface="Calibri"/>
              </a:rPr>
              <a:t>You push code. The build succeeds. The server crashes on startup.</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a:t>
            </a:r>
            <a:r>
              <a:rPr lang="en-US" sz="2000" dirty="0">
                <a:solidFill>
                  <a:srgbClr val="666677"/>
                </a:solidFill>
                <a:latin typeface="Calibri"/>
                <a:ea typeface="Calibri"/>
                <a:cs typeface="Calibri"/>
                <a:sym typeface="Calibri"/>
              </a:rPr>
              <a:t>Logs show a </a:t>
            </a:r>
            <a:r>
              <a:rPr lang="en-US" sz="2000" b="0" i="0" u="none" strike="noStrike" cap="none" dirty="0">
                <a:solidFill>
                  <a:srgbClr val="666677"/>
                </a:solidFill>
                <a:latin typeface="Calibri"/>
                <a:ea typeface="Calibri"/>
                <a:cs typeface="Calibri"/>
                <a:sym typeface="Calibri"/>
              </a:rPr>
              <a:t>weird error about a missing C library.</a:t>
            </a:r>
            <a:endParaRPr dirty="0"/>
          </a:p>
          <a:p>
            <a:pPr marL="0" marR="0" lvl="0" indent="0" algn="l" rtl="0">
              <a:spcBef>
                <a:spcPts val="600"/>
              </a:spcBef>
              <a:spcAft>
                <a:spcPts val="0"/>
              </a:spcAft>
              <a:buNone/>
            </a:pPr>
            <a:endParaRPr sz="2000" b="0" i="0" u="none" strike="noStrike" cap="none" dirty="0">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dirty="0">
                <a:solidFill>
                  <a:srgbClr val="333344"/>
                </a:solidFill>
                <a:latin typeface="Calibri"/>
                <a:ea typeface="Calibri"/>
                <a:cs typeface="Calibri"/>
                <a:sym typeface="Calibri"/>
              </a:rPr>
              <a:t>You run the same code on your laptop. It works fine.</a:t>
            </a:r>
            <a:endParaRPr dirty="0"/>
          </a:p>
          <a:p>
            <a:pPr marL="0" marR="0" lvl="0" indent="0" algn="l" rtl="0">
              <a:spcBef>
                <a:spcPts val="600"/>
              </a:spcBef>
              <a:spcAft>
                <a:spcPts val="0"/>
              </a:spcAft>
              <a:buNone/>
            </a:pPr>
            <a:endParaRPr sz="2400" b="0" i="0" u="none" strike="noStrike" cap="none" dirty="0">
              <a:solidFill>
                <a:srgbClr val="333344"/>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dirty="0">
                <a:solidFill>
                  <a:srgbClr val="333344"/>
                </a:solidFill>
                <a:latin typeface="Calibri"/>
                <a:ea typeface="Calibri"/>
                <a:cs typeface="Calibri"/>
                <a:sym typeface="Calibri"/>
              </a:rPr>
              <a:t>The two machines have different Python versions, different system librar</a:t>
            </a:r>
            <a:r>
              <a:rPr lang="en-US" sz="2400" dirty="0">
                <a:solidFill>
                  <a:srgbClr val="333344"/>
                </a:solidFill>
                <a:latin typeface="Calibri"/>
                <a:ea typeface="Calibri"/>
                <a:cs typeface="Calibri"/>
                <a:sym typeface="Calibri"/>
              </a:rPr>
              <a:t>ies</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different operating systems, different env vars.</a:t>
            </a:r>
            <a:endParaRPr dirty="0"/>
          </a:p>
          <a:p>
            <a:pPr marL="0" marR="0" lvl="0" indent="0" algn="l" rtl="0">
              <a:spcBef>
                <a:spcPts val="600"/>
              </a:spcBef>
              <a:spcAft>
                <a:spcPts val="0"/>
              </a:spcAft>
              <a:buNone/>
            </a:pPr>
            <a:endParaRPr sz="2000" b="0" i="0" u="none" strike="noStrike" cap="none" dirty="0">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dirty="0">
                <a:solidFill>
                  <a:srgbClr val="333344"/>
                </a:solidFill>
                <a:latin typeface="Calibri"/>
                <a:ea typeface="Calibri"/>
                <a:cs typeface="Calibri"/>
                <a:sym typeface="Calibri"/>
              </a:rPr>
              <a:t>Your code and your </a:t>
            </a:r>
            <a:r>
              <a:rPr lang="en-US" sz="2400" b="1" i="0" u="none" strike="noStrike" cap="none" dirty="0">
                <a:solidFill>
                  <a:srgbClr val="333344"/>
                </a:solidFill>
                <a:latin typeface="Calibri"/>
                <a:ea typeface="Calibri"/>
                <a:cs typeface="Calibri"/>
                <a:sym typeface="Calibri"/>
              </a:rPr>
              <a:t>dependencies</a:t>
            </a:r>
            <a:r>
              <a:rPr lang="en-US" sz="2400" b="0" i="0" u="none" strike="noStrike" cap="none" dirty="0">
                <a:solidFill>
                  <a:srgbClr val="333344"/>
                </a:solidFill>
                <a:latin typeface="Calibri"/>
                <a:ea typeface="Calibri"/>
                <a:cs typeface="Calibri"/>
                <a:sym typeface="Calibri"/>
              </a:rPr>
              <a:t> are two separate things.</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a:t>
            </a:r>
            <a:r>
              <a:rPr lang="en-US" sz="2000" dirty="0">
                <a:solidFill>
                  <a:srgbClr val="666677"/>
                </a:solidFill>
                <a:latin typeface="Calibri"/>
                <a:ea typeface="Calibri"/>
                <a:cs typeface="Calibri"/>
                <a:sym typeface="Calibri"/>
              </a:rPr>
              <a:t>Your </a:t>
            </a:r>
            <a:r>
              <a:rPr lang="en-US" sz="2000" b="0" i="0" u="none" strike="noStrike" cap="none" dirty="0">
                <a:solidFill>
                  <a:srgbClr val="666677"/>
                </a:solidFill>
                <a:latin typeface="Calibri"/>
                <a:ea typeface="Calibri"/>
                <a:cs typeface="Calibri"/>
                <a:sym typeface="Calibri"/>
              </a:rPr>
              <a:t>laptop has the dependencies set up the way you like. </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F</a:t>
            </a:r>
            <a:r>
              <a:rPr lang="en-US" sz="2000" dirty="0">
                <a:solidFill>
                  <a:srgbClr val="666677"/>
                </a:solidFill>
                <a:latin typeface="Calibri"/>
                <a:ea typeface="Calibri"/>
                <a:cs typeface="Calibri"/>
                <a:sym typeface="Calibri"/>
              </a:rPr>
              <a:t>resh </a:t>
            </a:r>
            <a:r>
              <a:rPr lang="en-US" sz="2000" b="0" i="0" u="none" strike="noStrike" cap="none" dirty="0">
                <a:solidFill>
                  <a:srgbClr val="666677"/>
                </a:solidFill>
                <a:latin typeface="Calibri"/>
                <a:ea typeface="Calibri"/>
                <a:cs typeface="Calibri"/>
                <a:sym typeface="Calibri"/>
              </a:rPr>
              <a:t>machine doesn’t</a:t>
            </a:r>
            <a:r>
              <a:rPr lang="en-US" sz="2000" dirty="0">
                <a:solidFill>
                  <a:srgbClr val="666677"/>
                </a:solidFill>
                <a:latin typeface="Calibri"/>
                <a:ea typeface="Calibri"/>
                <a:cs typeface="Calibri"/>
                <a:sym typeface="Calibri"/>
              </a:rPr>
              <a:t>, and every deploy, if you want no downtime, uses a fresh machine.</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9">
          <a:extLst>
            <a:ext uri="{FF2B5EF4-FFF2-40B4-BE49-F238E27FC236}">
              <a16:creationId xmlns:a16="http://schemas.microsoft.com/office/drawing/2014/main" id="{726E9BB3-2225-AB77-F9A9-D2C7A74C5233}"/>
            </a:ext>
          </a:extLst>
        </p:cNvPr>
        <p:cNvGrpSpPr/>
        <p:nvPr/>
      </p:nvGrpSpPr>
      <p:grpSpPr>
        <a:xfrm>
          <a:off x="0" y="0"/>
          <a:ext cx="0" cy="0"/>
          <a:chOff x="0" y="0"/>
          <a:chExt cx="0" cy="0"/>
        </a:xfrm>
      </p:grpSpPr>
      <p:sp>
        <p:nvSpPr>
          <p:cNvPr id="180" name="Google Shape;180;p7">
            <a:extLst>
              <a:ext uri="{FF2B5EF4-FFF2-40B4-BE49-F238E27FC236}">
                <a16:creationId xmlns:a16="http://schemas.microsoft.com/office/drawing/2014/main" id="{5AF78458-4BB9-E91E-8A2D-A0582CCC2EE3}"/>
              </a:ext>
            </a:extLst>
          </p:cNvPr>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The design question</a:t>
            </a:r>
            <a:endParaRPr/>
          </a:p>
        </p:txBody>
      </p:sp>
      <p:sp>
        <p:nvSpPr>
          <p:cNvPr id="181" name="Google Shape;181;p7">
            <a:extLst>
              <a:ext uri="{FF2B5EF4-FFF2-40B4-BE49-F238E27FC236}">
                <a16:creationId xmlns:a16="http://schemas.microsoft.com/office/drawing/2014/main" id="{D992F897-B6D5-EF89-A1FF-738B1DE06641}"/>
              </a:ext>
            </a:extLst>
          </p:cNvPr>
          <p:cNvSpPr txBox="1"/>
          <p:nvPr/>
        </p:nvSpPr>
        <p:spPr>
          <a:xfrm>
            <a:off x="914388" y="1157015"/>
            <a:ext cx="10362900" cy="283150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dirty="0">
                <a:solidFill>
                  <a:srgbClr val="333344"/>
                </a:solidFill>
                <a:latin typeface="Calibri"/>
                <a:ea typeface="Calibri"/>
                <a:cs typeface="Calibri"/>
                <a:sym typeface="Calibri"/>
              </a:rPr>
              <a:t>What would it take to </a:t>
            </a:r>
            <a:r>
              <a:rPr lang="en-US" sz="2400" b="1" i="0" u="none" strike="noStrike" cap="none" dirty="0">
                <a:solidFill>
                  <a:srgbClr val="333344"/>
                </a:solidFill>
                <a:latin typeface="Calibri"/>
                <a:ea typeface="Calibri"/>
                <a:cs typeface="Calibri"/>
                <a:sym typeface="Calibri"/>
              </a:rPr>
              <a:t>guarantee</a:t>
            </a:r>
            <a:r>
              <a:rPr lang="en-US" sz="2400" b="0" i="0" u="none" strike="noStrike" cap="none" dirty="0">
                <a:solidFill>
                  <a:srgbClr val="333344"/>
                </a:solidFill>
                <a:latin typeface="Calibri"/>
                <a:ea typeface="Calibri"/>
                <a:cs typeface="Calibri"/>
                <a:sym typeface="Calibri"/>
              </a:rPr>
              <a:t> your code runs the same way?</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On every machine, every time?</a:t>
            </a:r>
            <a:endParaRPr dirty="0"/>
          </a:p>
          <a:p>
            <a:pPr marL="0" marR="0" lvl="0" indent="0" algn="l" rtl="0">
              <a:spcBef>
                <a:spcPts val="600"/>
              </a:spcBef>
              <a:spcAft>
                <a:spcPts val="0"/>
              </a:spcAft>
              <a:buNone/>
            </a:pPr>
            <a:endParaRPr sz="2000" b="0" i="0" u="none" strike="noStrike" cap="none" dirty="0">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dirty="0">
                <a:solidFill>
                  <a:srgbClr val="333344"/>
                </a:solidFill>
                <a:latin typeface="Calibri"/>
                <a:ea typeface="Calibri"/>
                <a:cs typeface="Calibri"/>
                <a:sym typeface="Calibri"/>
              </a:rPr>
              <a:t>Options people have tried:</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Document every dependency in a README and hope</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Ship a full virtual machine with the OS baked in (slow, heavy)</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Make the server look exactly like your laptop (impossible)</a:t>
            </a:r>
            <a:endParaRPr dirty="0"/>
          </a:p>
        </p:txBody>
      </p:sp>
    </p:spTree>
    <p:extLst>
      <p:ext uri="{BB962C8B-B14F-4D97-AF65-F5344CB8AC3E}">
        <p14:creationId xmlns:p14="http://schemas.microsoft.com/office/powerpoint/2010/main" val="7799203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9"/>
        <p:cNvGrpSpPr/>
        <p:nvPr/>
      </p:nvGrpSpPr>
      <p:grpSpPr>
        <a:xfrm>
          <a:off x="0" y="0"/>
          <a:ext cx="0" cy="0"/>
          <a:chOff x="0" y="0"/>
          <a:chExt cx="0" cy="0"/>
        </a:xfrm>
      </p:grpSpPr>
      <p:sp>
        <p:nvSpPr>
          <p:cNvPr id="180" name="Google Shape;180;p7"/>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The design question</a:t>
            </a:r>
            <a:endParaRPr/>
          </a:p>
        </p:txBody>
      </p:sp>
      <p:sp>
        <p:nvSpPr>
          <p:cNvPr id="181" name="Google Shape;181;p7"/>
          <p:cNvSpPr txBox="1"/>
          <p:nvPr/>
        </p:nvSpPr>
        <p:spPr>
          <a:xfrm>
            <a:off x="914388" y="1157015"/>
            <a:ext cx="10362900" cy="532449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dirty="0">
                <a:solidFill>
                  <a:srgbClr val="333344"/>
                </a:solidFill>
                <a:latin typeface="Calibri"/>
                <a:ea typeface="Calibri"/>
                <a:cs typeface="Calibri"/>
                <a:sym typeface="Calibri"/>
              </a:rPr>
              <a:t>What would it take to </a:t>
            </a:r>
            <a:r>
              <a:rPr lang="en-US" sz="2400" b="1" i="0" u="none" strike="noStrike" cap="none" dirty="0">
                <a:solidFill>
                  <a:srgbClr val="333344"/>
                </a:solidFill>
                <a:latin typeface="Calibri"/>
                <a:ea typeface="Calibri"/>
                <a:cs typeface="Calibri"/>
                <a:sym typeface="Calibri"/>
              </a:rPr>
              <a:t>guarantee</a:t>
            </a:r>
            <a:r>
              <a:rPr lang="en-US" sz="2400" b="0" i="0" u="none" strike="noStrike" cap="none" dirty="0">
                <a:solidFill>
                  <a:srgbClr val="333344"/>
                </a:solidFill>
                <a:latin typeface="Calibri"/>
                <a:ea typeface="Calibri"/>
                <a:cs typeface="Calibri"/>
                <a:sym typeface="Calibri"/>
              </a:rPr>
              <a:t> your code runs the same way?</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On every machine, every time?</a:t>
            </a:r>
            <a:endParaRPr dirty="0"/>
          </a:p>
          <a:p>
            <a:pPr marL="0" marR="0" lvl="0" indent="0" algn="l" rtl="0">
              <a:spcBef>
                <a:spcPts val="600"/>
              </a:spcBef>
              <a:spcAft>
                <a:spcPts val="0"/>
              </a:spcAft>
              <a:buNone/>
            </a:pPr>
            <a:endParaRPr sz="2000" b="0" i="0" u="none" strike="noStrike" cap="none" dirty="0">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dirty="0">
                <a:solidFill>
                  <a:srgbClr val="333344"/>
                </a:solidFill>
                <a:latin typeface="Calibri"/>
                <a:ea typeface="Calibri"/>
                <a:cs typeface="Calibri"/>
                <a:sym typeface="Calibri"/>
              </a:rPr>
              <a:t>Options people have tried:</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Document every dependency in a README and hope</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Ship a full virtual machine with the OS baked in (slow, heavy)</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Make the server look exactly like your laptop (impossible)</a:t>
            </a:r>
            <a:endParaRPr dirty="0"/>
          </a:p>
          <a:p>
            <a:pPr marL="0" marR="0" lvl="0" indent="0" algn="l" rtl="0">
              <a:spcBef>
                <a:spcPts val="600"/>
              </a:spcBef>
              <a:spcAft>
                <a:spcPts val="0"/>
              </a:spcAft>
              <a:buNone/>
            </a:pPr>
            <a:endParaRPr sz="2000" b="0" i="0" u="none" strike="noStrike" cap="none" dirty="0">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dirty="0">
                <a:solidFill>
                  <a:srgbClr val="333344"/>
                </a:solidFill>
                <a:latin typeface="Calibri"/>
                <a:ea typeface="Calibri"/>
                <a:cs typeface="Calibri"/>
                <a:sym typeface="Calibri"/>
              </a:rPr>
              <a:t>What we’ll do:</a:t>
            </a:r>
            <a:endParaRPr dirty="0"/>
          </a:p>
          <a:p>
            <a:pPr marL="457200" lvl="1">
              <a:spcBef>
                <a:spcPts val="600"/>
              </a:spcBef>
            </a:pPr>
            <a:r>
              <a:rPr lang="en-US" sz="2000" b="0" i="0" u="none" strike="noStrike" cap="none" dirty="0">
                <a:solidFill>
                  <a:srgbClr val="666677"/>
                </a:solidFill>
                <a:latin typeface="Calibri"/>
                <a:ea typeface="Calibri"/>
                <a:cs typeface="Calibri"/>
                <a:sym typeface="Calibri"/>
              </a:rPr>
              <a:t> </a:t>
            </a:r>
            <a:r>
              <a:rPr lang="en-US" sz="2000" b="1" dirty="0">
                <a:solidFill>
                  <a:srgbClr val="333344"/>
                </a:solidFill>
                <a:latin typeface="Calibri"/>
                <a:ea typeface="Calibri"/>
                <a:cs typeface="Calibri"/>
                <a:sym typeface="Calibri"/>
              </a:rPr>
              <a:t>bundle your code and its </a:t>
            </a:r>
            <a:r>
              <a:rPr lang="en-US" sz="2000" b="1" dirty="0">
                <a:solidFill>
                  <a:schemeClr val="tx1"/>
                </a:solidFill>
                <a:latin typeface="Calibri"/>
                <a:ea typeface="Calibri"/>
                <a:cs typeface="Calibri"/>
                <a:sym typeface="Calibri"/>
              </a:rPr>
              <a:t>dependencies </a:t>
            </a:r>
            <a:r>
              <a:rPr lang="en-US" sz="2000" b="1" i="0" u="none" strike="noStrike" cap="none" dirty="0">
                <a:solidFill>
                  <a:schemeClr val="tx1"/>
                </a:solidFill>
                <a:latin typeface="Calibri"/>
                <a:ea typeface="Calibri"/>
                <a:cs typeface="Calibri"/>
                <a:sym typeface="Calibri"/>
              </a:rPr>
              <a:t>together into one portable artifact</a:t>
            </a:r>
            <a:r>
              <a:rPr lang="en-US" sz="2000" b="1" i="0" u="none" strike="noStrike" cap="none" dirty="0">
                <a:solidFill>
                  <a:srgbClr val="666677"/>
                </a:solidFill>
                <a:latin typeface="Calibri"/>
                <a:ea typeface="Calibri"/>
                <a:cs typeface="Calibri"/>
                <a:sym typeface="Calibri"/>
              </a:rPr>
              <a:t>.</a:t>
            </a:r>
            <a:endParaRPr b="1" dirty="0"/>
          </a:p>
          <a:p>
            <a:pPr marL="457200" lvl="1">
              <a:spcBef>
                <a:spcPts val="600"/>
              </a:spcBef>
            </a:pPr>
            <a:r>
              <a:rPr lang="en-US" sz="2000" b="0" i="0" u="none" strike="noStrike" cap="none" dirty="0">
                <a:solidFill>
                  <a:srgbClr val="666677"/>
                </a:solidFill>
                <a:latin typeface="Calibri"/>
                <a:ea typeface="Calibri"/>
                <a:cs typeface="Calibri"/>
                <a:sym typeface="Calibri"/>
              </a:rPr>
              <a:t>  </a:t>
            </a:r>
            <a:r>
              <a:rPr lang="en-US" sz="2000" dirty="0">
                <a:solidFill>
                  <a:srgbClr val="666677"/>
                </a:solidFill>
                <a:latin typeface="Calibri"/>
                <a:ea typeface="Calibri"/>
                <a:cs typeface="Calibri"/>
                <a:sym typeface="Calibri"/>
              </a:rPr>
              <a:t>Drop it on any machine that </a:t>
            </a:r>
            <a:r>
              <a:rPr lang="en-US" sz="2000" b="0" i="0" u="none" strike="noStrike" cap="none" dirty="0">
                <a:solidFill>
                  <a:srgbClr val="666677"/>
                </a:solidFill>
                <a:latin typeface="Calibri"/>
                <a:ea typeface="Calibri"/>
                <a:cs typeface="Calibri"/>
                <a:sym typeface="Calibri"/>
              </a:rPr>
              <a:t>can run it and the runtime is identical.</a:t>
            </a:r>
            <a:endParaRPr dirty="0"/>
          </a:p>
          <a:p>
            <a:pPr marL="0" marR="0" lvl="0" indent="0" algn="l" rtl="0">
              <a:spcBef>
                <a:spcPts val="600"/>
              </a:spcBef>
              <a:spcAft>
                <a:spcPts val="0"/>
              </a:spcAft>
              <a:buNone/>
            </a:pPr>
            <a:endParaRPr sz="2000" b="0" i="0" u="none" strike="noStrike" cap="none" dirty="0">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dirty="0">
                <a:solidFill>
                  <a:srgbClr val="333344"/>
                </a:solidFill>
                <a:latin typeface="Calibri"/>
                <a:ea typeface="Calibri"/>
                <a:cs typeface="Calibri"/>
                <a:sym typeface="Calibri"/>
              </a:rPr>
              <a:t>That artifact is the </a:t>
            </a:r>
            <a:r>
              <a:rPr lang="en-US" sz="2400" b="1" i="0" u="none" strike="noStrike" cap="none" dirty="0">
                <a:solidFill>
                  <a:srgbClr val="333344"/>
                </a:solidFill>
                <a:latin typeface="Calibri"/>
                <a:ea typeface="Calibri"/>
                <a:cs typeface="Calibri"/>
                <a:sym typeface="Calibri"/>
              </a:rPr>
              <a:t>container image</a:t>
            </a: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DE9FE"/>
        </a:solidFill>
        <a:effectLst/>
      </p:bgPr>
    </p:bg>
    <p:spTree>
      <p:nvGrpSpPr>
        <p:cNvPr id="1" name="Shape 186"/>
        <p:cNvGrpSpPr/>
        <p:nvPr/>
      </p:nvGrpSpPr>
      <p:grpSpPr>
        <a:xfrm>
          <a:off x="0" y="0"/>
          <a:ext cx="0" cy="0"/>
          <a:chOff x="0" y="0"/>
          <a:chExt cx="0" cy="0"/>
        </a:xfrm>
      </p:grpSpPr>
      <p:sp>
        <p:nvSpPr>
          <p:cNvPr id="187" name="Google Shape;187;p8"/>
          <p:cNvSpPr txBox="1"/>
          <p:nvPr/>
        </p:nvSpPr>
        <p:spPr>
          <a:xfrm>
            <a:off x="914400" y="2286000"/>
            <a:ext cx="10362895" cy="2286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b="1" i="0" u="none" strike="noStrike" cap="none">
                <a:solidFill>
                  <a:srgbClr val="5B21B6"/>
                </a:solidFill>
                <a:latin typeface="Calibri"/>
                <a:ea typeface="Calibri"/>
                <a:cs typeface="Calibri"/>
                <a:sym typeface="Calibri"/>
              </a:rPr>
              <a:t>Containers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2"/>
        <p:cNvGrpSpPr/>
        <p:nvPr/>
      </p:nvGrpSpPr>
      <p:grpSpPr>
        <a:xfrm>
          <a:off x="0" y="0"/>
          <a:ext cx="0" cy="0"/>
          <a:chOff x="0" y="0"/>
          <a:chExt cx="0" cy="0"/>
        </a:xfrm>
      </p:grpSpPr>
      <p:sp>
        <p:nvSpPr>
          <p:cNvPr id="193" name="Google Shape;193;p9"/>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A container is a process with a fake view</a:t>
            </a:r>
            <a:endParaRPr/>
          </a:p>
        </p:txBody>
      </p:sp>
      <p:sp>
        <p:nvSpPr>
          <p:cNvPr id="194" name="Google Shape;194;p9"/>
          <p:cNvSpPr txBox="1"/>
          <p:nvPr/>
        </p:nvSpPr>
        <p:spPr>
          <a:xfrm>
            <a:off x="914400" y="1463040"/>
            <a:ext cx="10362900" cy="4433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A </a:t>
            </a:r>
            <a:r>
              <a:rPr lang="en-US" sz="2400" b="1" i="0" u="none" strike="noStrike" cap="none">
                <a:solidFill>
                  <a:srgbClr val="333344"/>
                </a:solidFill>
                <a:latin typeface="Calibri"/>
                <a:ea typeface="Calibri"/>
                <a:cs typeface="Calibri"/>
                <a:sym typeface="Calibri"/>
              </a:rPr>
              <a:t>container</a:t>
            </a:r>
            <a:r>
              <a:rPr lang="en-US" sz="2400" b="0" i="0" u="none" strike="noStrike" cap="none">
                <a:solidFill>
                  <a:srgbClr val="333344"/>
                </a:solidFill>
                <a:latin typeface="Calibri"/>
                <a:ea typeface="Calibri"/>
                <a:cs typeface="Calibri"/>
                <a:sym typeface="Calibri"/>
              </a:rPr>
              <a:t> is a running process with its own:</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Filesystem</a:t>
            </a:r>
            <a:r>
              <a:rPr lang="en-US" sz="2000" b="0" i="0" u="none" strike="noStrike" cap="none">
                <a:solidFill>
                  <a:srgbClr val="666677"/>
                </a:solidFill>
                <a:latin typeface="Calibri"/>
                <a:ea typeface="Calibri"/>
                <a:cs typeface="Calibri"/>
                <a:sym typeface="Calibri"/>
              </a:rPr>
              <a:t> - sees its own files, not the host's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Network</a:t>
            </a:r>
            <a:r>
              <a:rPr lang="en-US" sz="2000" b="0" i="0" u="none" strike="noStrike" cap="none">
                <a:solidFill>
                  <a:srgbClr val="666677"/>
                </a:solidFill>
                <a:latin typeface="Calibri"/>
                <a:ea typeface="Calibri"/>
                <a:cs typeface="Calibri"/>
                <a:sym typeface="Calibri"/>
              </a:rPr>
              <a:t> - its own IP address, its own listening ports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Process tree</a:t>
            </a:r>
            <a:r>
              <a:rPr lang="en-US" sz="2000" b="0" i="0" u="none" strike="noStrike" cap="none">
                <a:solidFill>
                  <a:srgbClr val="666677"/>
                </a:solidFill>
                <a:latin typeface="Calibri"/>
                <a:ea typeface="Calibri"/>
                <a:cs typeface="Calibri"/>
                <a:sym typeface="Calibri"/>
              </a:rPr>
              <a:t> - can't see other processes on the host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User space</a:t>
            </a:r>
            <a:r>
              <a:rPr lang="en-US" sz="2000" b="0" i="0" u="none" strike="noStrike" cap="none">
                <a:solidFill>
                  <a:srgbClr val="666677"/>
                </a:solidFill>
                <a:latin typeface="Calibri"/>
                <a:ea typeface="Calibri"/>
                <a:cs typeface="Calibri"/>
                <a:sym typeface="Calibri"/>
              </a:rPr>
              <a:t> - its own users, environment, hostname</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To the process inside, it looks like it's alone on a fresh Linux ma</a:t>
            </a:r>
            <a:r>
              <a:rPr lang="en-US" sz="2400">
                <a:solidFill>
                  <a:srgbClr val="333344"/>
                </a:solidFill>
                <a:latin typeface="Calibri"/>
                <a:ea typeface="Calibri"/>
                <a:cs typeface="Calibri"/>
                <a:sym typeface="Calibri"/>
              </a:rPr>
              <a:t>chine.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To the host OS, it's just another process</a:t>
            </a:r>
            <a:r>
              <a:rPr lang="en-US"/>
              <a:t> </a:t>
            </a:r>
            <a:r>
              <a:rPr lang="en-US" sz="2000" b="0" i="0" u="none" strike="noStrike" cap="none">
                <a:solidFill>
                  <a:srgbClr val="666677"/>
                </a:solidFill>
                <a:latin typeface="Calibri"/>
                <a:ea typeface="Calibri"/>
                <a:cs typeface="Calibri"/>
                <a:sym typeface="Calibri"/>
              </a:rPr>
              <a:t>with some kernel flags set.</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Crucially: containers do NOT run their own kernel. They share the host</a:t>
            </a:r>
            <a:r>
              <a:rPr lang="en-US" sz="2400">
                <a:solidFill>
                  <a:srgbClr val="333344"/>
                </a:solidFill>
                <a:latin typeface="Calibri"/>
                <a:ea typeface="Calibri"/>
                <a:cs typeface="Calibri"/>
                <a:sym typeface="Calibri"/>
              </a:rPr>
              <a:t>’s.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That's why they start in milliseconds instead of minutes a full virtual machine would take.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9"/>
        <p:cNvGrpSpPr/>
        <p:nvPr/>
      </p:nvGrpSpPr>
      <p:grpSpPr>
        <a:xfrm>
          <a:off x="0" y="0"/>
          <a:ext cx="0" cy="0"/>
          <a:chOff x="0" y="0"/>
          <a:chExt cx="0" cy="0"/>
        </a:xfrm>
      </p:grpSpPr>
      <p:sp>
        <p:nvSpPr>
          <p:cNvPr id="200" name="Google Shape;200;g3e32708a311_0_6"/>
          <p:cNvSpPr txBox="1"/>
          <p:nvPr/>
        </p:nvSpPr>
        <p:spPr>
          <a:xfrm>
            <a:off x="731520" y="365760"/>
            <a:ext cx="10728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dirty="0">
                <a:solidFill>
                  <a:srgbClr val="1A1A2E"/>
                </a:solidFill>
                <a:latin typeface="Calibri"/>
                <a:ea typeface="Calibri"/>
                <a:cs typeface="Calibri"/>
                <a:sym typeface="Calibri"/>
              </a:rPr>
              <a:t>A container is just a process</a:t>
            </a:r>
            <a:endParaRPr dirty="0"/>
          </a:p>
        </p:txBody>
      </p:sp>
      <p:sp>
        <p:nvSpPr>
          <p:cNvPr id="201" name="Google Shape;201;g3e32708a311_0_6"/>
          <p:cNvSpPr txBox="1"/>
          <p:nvPr/>
        </p:nvSpPr>
        <p:spPr>
          <a:xfrm>
            <a:off x="9601200" y="1188720"/>
            <a:ext cx="1828800" cy="3078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bash</a:t>
            </a:r>
            <a:endParaRPr/>
          </a:p>
        </p:txBody>
      </p:sp>
      <p:sp>
        <p:nvSpPr>
          <p:cNvPr id="202" name="Google Shape;202;g3e32708a311_0_6"/>
          <p:cNvSpPr/>
          <p:nvPr/>
        </p:nvSpPr>
        <p:spPr>
          <a:xfrm>
            <a:off x="731520" y="1463040"/>
            <a:ext cx="10728600" cy="49377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3" name="Google Shape;203;g3e32708a311_0_6"/>
          <p:cNvSpPr txBox="1"/>
          <p:nvPr/>
        </p:nvSpPr>
        <p:spPr>
          <a:xfrm>
            <a:off x="1005840" y="1645920"/>
            <a:ext cx="10179900" cy="1169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700" b="1" i="0" u="none" strike="noStrike" cap="none">
                <a:solidFill>
                  <a:srgbClr val="333344"/>
                </a:solidFill>
                <a:latin typeface="Courier New"/>
                <a:ea typeface="Courier New"/>
                <a:cs typeface="Courier New"/>
                <a:sym typeface="Courier New"/>
              </a:rPr>
              <a:t># Run the container in the background:</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docker run -d -p 8000:8000 chat-app</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3f9a1c2b...</a:t>
            </a:r>
            <a:endParaRPr/>
          </a:p>
          <a:p>
            <a:pPr marL="0" marR="0" lvl="0" indent="0" algn="l" rtl="0">
              <a:spcBef>
                <a:spcPts val="200"/>
              </a:spcBef>
              <a:spcAft>
                <a:spcPts val="0"/>
              </a:spcAft>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8"/>
        <p:cNvGrpSpPr/>
        <p:nvPr/>
      </p:nvGrpSpPr>
      <p:grpSpPr>
        <a:xfrm>
          <a:off x="0" y="0"/>
          <a:ext cx="0" cy="0"/>
          <a:chOff x="0" y="0"/>
          <a:chExt cx="0" cy="0"/>
        </a:xfrm>
      </p:grpSpPr>
      <p:sp>
        <p:nvSpPr>
          <p:cNvPr id="209" name="Google Shape;209;g3e32708a311_0_14"/>
          <p:cNvSpPr txBox="1"/>
          <p:nvPr/>
        </p:nvSpPr>
        <p:spPr>
          <a:xfrm>
            <a:off x="731520" y="365760"/>
            <a:ext cx="10728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dirty="0">
                <a:solidFill>
                  <a:srgbClr val="1A1A2E"/>
                </a:solidFill>
                <a:latin typeface="Calibri"/>
                <a:ea typeface="Calibri"/>
                <a:cs typeface="Calibri"/>
                <a:sym typeface="Calibri"/>
              </a:rPr>
              <a:t>A container is just a process</a:t>
            </a:r>
            <a:endParaRPr dirty="0"/>
          </a:p>
        </p:txBody>
      </p:sp>
      <p:sp>
        <p:nvSpPr>
          <p:cNvPr id="210" name="Google Shape;210;g3e32708a311_0_14"/>
          <p:cNvSpPr txBox="1"/>
          <p:nvPr/>
        </p:nvSpPr>
        <p:spPr>
          <a:xfrm>
            <a:off x="9601200" y="1188720"/>
            <a:ext cx="1828800" cy="3078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bash</a:t>
            </a:r>
            <a:endParaRPr/>
          </a:p>
        </p:txBody>
      </p:sp>
      <p:sp>
        <p:nvSpPr>
          <p:cNvPr id="211" name="Google Shape;211;g3e32708a311_0_14"/>
          <p:cNvSpPr/>
          <p:nvPr/>
        </p:nvSpPr>
        <p:spPr>
          <a:xfrm>
            <a:off x="731520" y="1463040"/>
            <a:ext cx="10728600" cy="49377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2" name="Google Shape;212;g3e32708a311_0_14"/>
          <p:cNvSpPr txBox="1"/>
          <p:nvPr/>
        </p:nvSpPr>
        <p:spPr>
          <a:xfrm>
            <a:off x="1005840" y="1645920"/>
            <a:ext cx="10179900" cy="2319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700" b="1" i="0" u="none" strike="noStrike" cap="none">
                <a:solidFill>
                  <a:srgbClr val="333344"/>
                </a:solidFill>
                <a:latin typeface="Courier New"/>
                <a:ea typeface="Courier New"/>
                <a:cs typeface="Courier New"/>
                <a:sym typeface="Courier New"/>
              </a:rPr>
              <a:t># Run the container in the background:</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docker run -d -p 8000:8000 chat-app</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3f9a1c2b...</a:t>
            </a:r>
            <a:endParaRPr/>
          </a:p>
          <a:p>
            <a:pPr marL="0" marR="0" lvl="0" indent="0" algn="l" rtl="0">
              <a:spcBef>
                <a:spcPts val="200"/>
              </a:spcBef>
              <a:spcAft>
                <a:spcPts val="0"/>
              </a:spcAft>
              <a:buNone/>
            </a:pPr>
            <a:endParaRPr sz="17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Now look at the processes on YOUR laptop - uvicorn is right there:</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ps aux | grep uvicorn</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you  51234  ...  uvicorn app:app --host 0.0.0.0 --port 8000</a:t>
            </a:r>
            <a:endParaRPr/>
          </a:p>
          <a:p>
            <a:pPr marL="0" marR="0" lvl="0" indent="0" algn="l" rtl="0">
              <a:spcBef>
                <a:spcPts val="200"/>
              </a:spcBef>
              <a:spcAft>
                <a:spcPts val="0"/>
              </a:spcAft>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7"/>
        <p:cNvGrpSpPr/>
        <p:nvPr/>
      </p:nvGrpSpPr>
      <p:grpSpPr>
        <a:xfrm>
          <a:off x="0" y="0"/>
          <a:ext cx="0" cy="0"/>
          <a:chOff x="0" y="0"/>
          <a:chExt cx="0" cy="0"/>
        </a:xfrm>
      </p:grpSpPr>
      <p:sp>
        <p:nvSpPr>
          <p:cNvPr id="218" name="Google Shape;218;p10"/>
          <p:cNvSpPr txBox="1"/>
          <p:nvPr/>
        </p:nvSpPr>
        <p:spPr>
          <a:xfrm>
            <a:off x="731520" y="365760"/>
            <a:ext cx="10728655"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dirty="0">
                <a:solidFill>
                  <a:srgbClr val="1A1A2E"/>
                </a:solidFill>
                <a:latin typeface="Calibri"/>
                <a:ea typeface="Calibri"/>
                <a:cs typeface="Calibri"/>
                <a:sym typeface="Calibri"/>
              </a:rPr>
              <a:t>A container is just a process</a:t>
            </a:r>
            <a:endParaRPr dirty="0"/>
          </a:p>
        </p:txBody>
      </p:sp>
      <p:sp>
        <p:nvSpPr>
          <p:cNvPr id="219" name="Google Shape;219;p10"/>
          <p:cNvSpPr txBox="1"/>
          <p:nvPr/>
        </p:nvSpPr>
        <p:spPr>
          <a:xfrm>
            <a:off x="9601200" y="1188720"/>
            <a:ext cx="1828800" cy="36576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bash</a:t>
            </a:r>
            <a:endParaRPr/>
          </a:p>
        </p:txBody>
      </p:sp>
      <p:sp>
        <p:nvSpPr>
          <p:cNvPr id="220" name="Google Shape;220;p10"/>
          <p:cNvSpPr/>
          <p:nvPr/>
        </p:nvSpPr>
        <p:spPr>
          <a:xfrm>
            <a:off x="731520" y="1463040"/>
            <a:ext cx="10728655" cy="493776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1" name="Google Shape;221;p10"/>
          <p:cNvSpPr txBox="1"/>
          <p:nvPr/>
        </p:nvSpPr>
        <p:spPr>
          <a:xfrm>
            <a:off x="1005840" y="1645920"/>
            <a:ext cx="10180015" cy="4572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700" b="1" i="0" u="none" strike="noStrike" cap="none">
                <a:solidFill>
                  <a:srgbClr val="333344"/>
                </a:solidFill>
                <a:latin typeface="Courier New"/>
                <a:ea typeface="Courier New"/>
                <a:cs typeface="Courier New"/>
                <a:sym typeface="Courier New"/>
              </a:rPr>
              <a:t># Run the container in the background:</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docker run -d -p 8000:8000 chat-app</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3f9a1c2b...</a:t>
            </a:r>
            <a:endParaRPr/>
          </a:p>
          <a:p>
            <a:pPr marL="0" marR="0" lvl="0" indent="0" algn="l" rtl="0">
              <a:spcBef>
                <a:spcPts val="200"/>
              </a:spcBef>
              <a:spcAft>
                <a:spcPts val="0"/>
              </a:spcAft>
              <a:buNone/>
            </a:pPr>
            <a:endParaRPr sz="17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Now look at the processes on YOUR laptop - uvicorn is right there:</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ps aux | grep uvicorn</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you  51234  ...  uvicorn app:app --host 0.0.0.0 --port 8000</a:t>
            </a:r>
            <a:endParaRPr/>
          </a:p>
          <a:p>
            <a:pPr marL="0" marR="0" lvl="0" indent="0" algn="l" rtl="0">
              <a:spcBef>
                <a:spcPts val="200"/>
              </a:spcBef>
              <a:spcAft>
                <a:spcPts val="0"/>
              </a:spcAft>
              <a:buNone/>
            </a:pPr>
            <a:endParaRPr sz="17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It is not a virtual machine. It is a process your laptop is running,</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with the kernel lying to it about what it can see.</a:t>
            </a:r>
            <a:endParaRPr/>
          </a:p>
          <a:p>
            <a:pPr marL="0" marR="0" lvl="0" indent="0" algn="l" rtl="0">
              <a:spcBef>
                <a:spcPts val="200"/>
              </a:spcBef>
              <a:spcAft>
                <a:spcPts val="0"/>
              </a:spcAft>
              <a:buNone/>
            </a:pPr>
            <a:endParaRPr sz="17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Drop into a container interactively. It looks like a fresh machine:</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docker run -it python:3.12-slim bash</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root@3f9a1c:/# ls /</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bin  etc  home  lib  usr  ...        # its own filesystem, its own root</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root@3f9a1c:/# exit                  # ...exit, and it is simply gone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6"/>
        <p:cNvGrpSpPr/>
        <p:nvPr/>
      </p:nvGrpSpPr>
      <p:grpSpPr>
        <a:xfrm>
          <a:off x="0" y="0"/>
          <a:ext cx="0" cy="0"/>
          <a:chOff x="0" y="0"/>
          <a:chExt cx="0" cy="0"/>
        </a:xfrm>
      </p:grpSpPr>
      <p:sp>
        <p:nvSpPr>
          <p:cNvPr id="227" name="Google Shape;227;g3e346b600eb_0_89"/>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Image vs container: recipe vs dish</a:t>
            </a:r>
            <a:endParaRPr/>
          </a:p>
        </p:txBody>
      </p:sp>
      <p:sp>
        <p:nvSpPr>
          <p:cNvPr id="228" name="Google Shape;228;g3e346b600eb_0_89"/>
          <p:cNvSpPr txBox="1"/>
          <p:nvPr/>
        </p:nvSpPr>
        <p:spPr>
          <a:xfrm>
            <a:off x="914400" y="1463040"/>
            <a:ext cx="10362900" cy="3509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An </a:t>
            </a:r>
            <a:r>
              <a:rPr lang="en-US" sz="2400" b="1" i="0" u="none" strike="noStrike" cap="none">
                <a:solidFill>
                  <a:srgbClr val="333344"/>
                </a:solidFill>
                <a:latin typeface="Calibri"/>
                <a:ea typeface="Calibri"/>
                <a:cs typeface="Calibri"/>
                <a:sym typeface="Calibri"/>
              </a:rPr>
              <a:t>image</a:t>
            </a:r>
            <a:r>
              <a:rPr lang="en-US" sz="2400" b="0" i="0" u="none" strike="noStrike" cap="none">
                <a:solidFill>
                  <a:srgbClr val="333344"/>
                </a:solidFill>
                <a:latin typeface="Calibri"/>
                <a:ea typeface="Calibri"/>
                <a:cs typeface="Calibri"/>
                <a:sym typeface="Calibri"/>
              </a:rPr>
              <a:t> is a blueprint. A </a:t>
            </a:r>
            <a:r>
              <a:rPr lang="en-US" sz="2400" b="1" i="0" u="none" strike="noStrike" cap="none">
                <a:solidFill>
                  <a:srgbClr val="333344"/>
                </a:solidFill>
                <a:latin typeface="Calibri"/>
                <a:ea typeface="Calibri"/>
                <a:cs typeface="Calibri"/>
                <a:sym typeface="Calibri"/>
              </a:rPr>
              <a:t>container</a:t>
            </a:r>
            <a:r>
              <a:rPr lang="en-US" sz="2400" b="0" i="0" u="none" strike="noStrike" cap="none">
                <a:solidFill>
                  <a:srgbClr val="333344"/>
                </a:solidFill>
                <a:latin typeface="Calibri"/>
                <a:ea typeface="Calibri"/>
                <a:cs typeface="Calibri"/>
                <a:sym typeface="Calibri"/>
              </a:rPr>
              <a:t> is a running instance of that blueprint.</a:t>
            </a: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Image   = recipe, stored on disk, can be shared</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Container = dish, currently being cooked (or eaten)</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You </a:t>
            </a:r>
            <a:r>
              <a:rPr lang="en-US" sz="2400" b="1" i="0" u="none" strike="noStrike" cap="none">
                <a:solidFill>
                  <a:srgbClr val="333344"/>
                </a:solidFill>
                <a:latin typeface="Calibri"/>
                <a:ea typeface="Calibri"/>
                <a:cs typeface="Calibri"/>
                <a:sym typeface="Calibri"/>
              </a:rPr>
              <a:t>build</a:t>
            </a:r>
            <a:r>
              <a:rPr lang="en-US" sz="2400" b="0" i="0" u="none" strike="noStrike" cap="none">
                <a:solidFill>
                  <a:srgbClr val="333344"/>
                </a:solidFill>
                <a:latin typeface="Calibri"/>
                <a:ea typeface="Calibri"/>
                <a:cs typeface="Calibri"/>
                <a:sym typeface="Calibri"/>
              </a:rPr>
              <a:t> an image once - Docker reads your instructions and</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creates the filesystem snapshot. You </a:t>
            </a:r>
            <a:r>
              <a:rPr lang="en-US" sz="2000" b="1" i="0" u="none" strike="noStrike" cap="none">
                <a:solidFill>
                  <a:srgbClr val="666677"/>
                </a:solidFill>
                <a:latin typeface="Calibri"/>
                <a:ea typeface="Calibri"/>
                <a:cs typeface="Calibri"/>
                <a:sym typeface="Calibri"/>
              </a:rPr>
              <a:t>run</a:t>
            </a:r>
            <a:r>
              <a:rPr lang="en-US" sz="2000" b="0" i="0" u="none" strike="noStrike" cap="none">
                <a:solidFill>
                  <a:srgbClr val="666677"/>
                </a:solidFill>
                <a:latin typeface="Calibri"/>
                <a:ea typeface="Calibri"/>
                <a:cs typeface="Calibri"/>
                <a:sym typeface="Calibri"/>
              </a:rPr>
              <a:t> as many containers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from the image as you want. Each container gets its own fresh</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copy of the image's filesystem as its root.</a:t>
            </a:r>
            <a:endParaRPr/>
          </a:p>
          <a:p>
            <a:pPr marL="457200" marR="0" lvl="1" indent="0" algn="l" rtl="0">
              <a:spcBef>
                <a:spcPts val="600"/>
              </a:spcBef>
              <a:spcAft>
                <a:spcPts val="0"/>
              </a:spcAft>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33"/>
        <p:cNvGrpSpPr/>
        <p:nvPr/>
      </p:nvGrpSpPr>
      <p:grpSpPr>
        <a:xfrm>
          <a:off x="0" y="0"/>
          <a:ext cx="0" cy="0"/>
          <a:chOff x="0" y="0"/>
          <a:chExt cx="0" cy="0"/>
        </a:xfrm>
      </p:grpSpPr>
      <p:sp>
        <p:nvSpPr>
          <p:cNvPr id="234" name="Google Shape;234;p11"/>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Image vs container: recipe vs dish</a:t>
            </a:r>
            <a:endParaRPr/>
          </a:p>
        </p:txBody>
      </p:sp>
      <p:sp>
        <p:nvSpPr>
          <p:cNvPr id="235" name="Google Shape;235;p11"/>
          <p:cNvSpPr txBox="1"/>
          <p:nvPr/>
        </p:nvSpPr>
        <p:spPr>
          <a:xfrm>
            <a:off x="914400" y="1463040"/>
            <a:ext cx="10362900" cy="4817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An </a:t>
            </a:r>
            <a:r>
              <a:rPr lang="en-US" sz="2400" b="1" i="0" u="none" strike="noStrike" cap="none">
                <a:solidFill>
                  <a:srgbClr val="333344"/>
                </a:solidFill>
                <a:latin typeface="Calibri"/>
                <a:ea typeface="Calibri"/>
                <a:cs typeface="Calibri"/>
                <a:sym typeface="Calibri"/>
              </a:rPr>
              <a:t>image</a:t>
            </a:r>
            <a:r>
              <a:rPr lang="en-US" sz="2400" b="0" i="0" u="none" strike="noStrike" cap="none">
                <a:solidFill>
                  <a:srgbClr val="333344"/>
                </a:solidFill>
                <a:latin typeface="Calibri"/>
                <a:ea typeface="Calibri"/>
                <a:cs typeface="Calibri"/>
                <a:sym typeface="Calibri"/>
              </a:rPr>
              <a:t> is a blueprint. A </a:t>
            </a:r>
            <a:r>
              <a:rPr lang="en-US" sz="2400" b="1" i="0" u="none" strike="noStrike" cap="none">
                <a:solidFill>
                  <a:srgbClr val="333344"/>
                </a:solidFill>
                <a:latin typeface="Calibri"/>
                <a:ea typeface="Calibri"/>
                <a:cs typeface="Calibri"/>
                <a:sym typeface="Calibri"/>
              </a:rPr>
              <a:t>container</a:t>
            </a:r>
            <a:r>
              <a:rPr lang="en-US" sz="2400" b="0" i="0" u="none" strike="noStrike" cap="none">
                <a:solidFill>
                  <a:srgbClr val="333344"/>
                </a:solidFill>
                <a:latin typeface="Calibri"/>
                <a:ea typeface="Calibri"/>
                <a:cs typeface="Calibri"/>
                <a:sym typeface="Calibri"/>
              </a:rPr>
              <a:t> is a running instance of that blueprint.</a:t>
            </a: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Image   = recipe, stored on disk, can be shared</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Container = dish, currently being cooked (or eaten)</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You </a:t>
            </a:r>
            <a:r>
              <a:rPr lang="en-US" sz="2400" b="1" i="0" u="none" strike="noStrike" cap="none">
                <a:solidFill>
                  <a:srgbClr val="333344"/>
                </a:solidFill>
                <a:latin typeface="Calibri"/>
                <a:ea typeface="Calibri"/>
                <a:cs typeface="Calibri"/>
                <a:sym typeface="Calibri"/>
              </a:rPr>
              <a:t>build</a:t>
            </a:r>
            <a:r>
              <a:rPr lang="en-US" sz="2400" b="0" i="0" u="none" strike="noStrike" cap="none">
                <a:solidFill>
                  <a:srgbClr val="333344"/>
                </a:solidFill>
                <a:latin typeface="Calibri"/>
                <a:ea typeface="Calibri"/>
                <a:cs typeface="Calibri"/>
                <a:sym typeface="Calibri"/>
              </a:rPr>
              <a:t> an image once - Docker reads your instructions and</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creates the filesystem snapshot. You </a:t>
            </a:r>
            <a:r>
              <a:rPr lang="en-US" sz="2000" b="1" i="0" u="none" strike="noStrike" cap="none">
                <a:solidFill>
                  <a:srgbClr val="666677"/>
                </a:solidFill>
                <a:latin typeface="Calibri"/>
                <a:ea typeface="Calibri"/>
                <a:cs typeface="Calibri"/>
                <a:sym typeface="Calibri"/>
              </a:rPr>
              <a:t>run</a:t>
            </a:r>
            <a:r>
              <a:rPr lang="en-US" sz="2000" b="0" i="0" u="none" strike="noStrike" cap="none">
                <a:solidFill>
                  <a:srgbClr val="666677"/>
                </a:solidFill>
                <a:latin typeface="Calibri"/>
                <a:ea typeface="Calibri"/>
                <a:cs typeface="Calibri"/>
                <a:sym typeface="Calibri"/>
              </a:rPr>
              <a:t> as many containers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from the image as you want. Each container gets its own fresh</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copy of the image's filesystem as its root.</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Analogy: class vs instance. The image is the class definition.</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The container is `new MyClass()`. You never "run an image" --</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you run a container that was made from an image.</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40"/>
        <p:cNvGrpSpPr/>
        <p:nvPr/>
      </p:nvGrpSpPr>
      <p:grpSpPr>
        <a:xfrm>
          <a:off x="0" y="0"/>
          <a:ext cx="0" cy="0"/>
          <a:chOff x="0" y="0"/>
          <a:chExt cx="0" cy="0"/>
        </a:xfrm>
      </p:grpSpPr>
      <p:sp>
        <p:nvSpPr>
          <p:cNvPr id="241" name="Google Shape;241;p12"/>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Where images come from</a:t>
            </a:r>
            <a:endParaRPr/>
          </a:p>
        </p:txBody>
      </p:sp>
      <p:sp>
        <p:nvSpPr>
          <p:cNvPr id="242" name="Google Shape;242;p12"/>
          <p:cNvSpPr txBox="1"/>
          <p:nvPr/>
        </p:nvSpPr>
        <p:spPr>
          <a:xfrm>
            <a:off x="914400" y="1463040"/>
            <a:ext cx="10362900" cy="5048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You can get an image two ways:</a:t>
            </a:r>
            <a:endParaRPr sz="2400" b="0" i="0" u="none" strike="noStrike" cap="none">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Pull a pre-built image</a:t>
            </a:r>
            <a:r>
              <a:rPr lang="en-US" sz="2000" b="0" i="0" u="none" strike="noStrike" cap="none">
                <a:solidFill>
                  <a:srgbClr val="666677"/>
                </a:solidFill>
                <a:latin typeface="Calibri"/>
                <a:ea typeface="Calibri"/>
                <a:cs typeface="Calibri"/>
                <a:sym typeface="Calibri"/>
              </a:rPr>
              <a:t> from a </a:t>
            </a:r>
            <a:r>
              <a:rPr lang="en-US" sz="2000" b="1" i="0" u="none" strike="noStrike" cap="none">
                <a:solidFill>
                  <a:srgbClr val="666677"/>
                </a:solidFill>
                <a:latin typeface="Calibri"/>
                <a:ea typeface="Calibri"/>
                <a:cs typeface="Calibri"/>
                <a:sym typeface="Calibri"/>
              </a:rPr>
              <a:t>registry</a:t>
            </a:r>
            <a:r>
              <a:rPr lang="en-US" sz="2000" b="0" i="0" u="none" strike="noStrike" cap="none">
                <a:solidFill>
                  <a:srgbClr val="666677"/>
                </a:solidFill>
                <a:latin typeface="Calibri"/>
                <a:ea typeface="Calibri"/>
                <a:cs typeface="Calibri"/>
                <a:sym typeface="Calibri"/>
              </a:rPr>
              <a:t> (like Docker Hub).</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Things like `python`, `postgres`, `nginx`, `redis` have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official images maintained by their teams.</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Build your own image</a:t>
            </a:r>
            <a:r>
              <a:rPr lang="en-US" sz="2000" b="0" i="0" u="none" strike="noStrike" cap="none">
                <a:solidFill>
                  <a:srgbClr val="666677"/>
                </a:solidFill>
                <a:latin typeface="Calibri"/>
                <a:ea typeface="Calibri"/>
                <a:cs typeface="Calibri"/>
                <a:sym typeface="Calibri"/>
              </a:rPr>
              <a:t> from a </a:t>
            </a:r>
            <a:r>
              <a:rPr lang="en-US" sz="2000" b="1" i="0" u="none" strike="noStrike" cap="none">
                <a:solidFill>
                  <a:srgbClr val="666677"/>
                </a:solidFill>
                <a:latin typeface="Calibri"/>
                <a:ea typeface="Calibri"/>
                <a:cs typeface="Calibri"/>
                <a:sym typeface="Calibri"/>
              </a:rPr>
              <a:t>Dockerfile</a:t>
            </a:r>
            <a:r>
              <a:rPr lang="en-US" sz="2000" b="0" i="0" u="none" strike="noStrike" cap="none">
                <a:solidFill>
                  <a:srgbClr val="666677"/>
                </a:solidFill>
                <a:latin typeface="Calibri"/>
                <a:ea typeface="Calibri"/>
                <a:cs typeface="Calibri"/>
                <a:sym typeface="Calibri"/>
              </a:rPr>
              <a:t> - a text file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that describes, step by step, how to construct the image.</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In practice you always do both: your Dockerfile starts with</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ourier Prime"/>
                <a:ea typeface="Courier Prime"/>
                <a:cs typeface="Courier Prime"/>
                <a:sym typeface="Courier Prime"/>
              </a:rPr>
              <a:t>FROM python:3.12-slim</a:t>
            </a:r>
            <a:r>
              <a:rPr lang="en-US" sz="2000" b="0" i="0" u="none" strike="noStrike" cap="none">
                <a:solidFill>
                  <a:srgbClr val="666677"/>
                </a:solidFill>
                <a:latin typeface="Calibri"/>
                <a:ea typeface="Calibri"/>
                <a:cs typeface="Calibri"/>
                <a:sym typeface="Calibri"/>
              </a:rPr>
              <a:t> (pull a pre-built Python image)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a:solidFill>
                  <a:srgbClr val="666677"/>
                </a:solidFill>
                <a:latin typeface="Calibri"/>
                <a:ea typeface="Calibri"/>
                <a:cs typeface="Calibri"/>
                <a:sym typeface="Calibri"/>
              </a:rPr>
              <a:t>T</a:t>
            </a:r>
            <a:r>
              <a:rPr lang="en-US" sz="2000" b="0" i="0" u="none" strike="noStrike" cap="none">
                <a:solidFill>
                  <a:srgbClr val="666677"/>
                </a:solidFill>
                <a:latin typeface="Calibri"/>
                <a:ea typeface="Calibri"/>
                <a:cs typeface="Calibri"/>
                <a:sym typeface="Calibri"/>
              </a:rPr>
              <a:t>hen layers your code and your dependencies on top.</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DE9FE"/>
        </a:solidFill>
        <a:effectLst/>
      </p:bgPr>
    </p:bg>
    <p:spTree>
      <p:nvGrpSpPr>
        <p:cNvPr id="1" name="Shape 247"/>
        <p:cNvGrpSpPr/>
        <p:nvPr/>
      </p:nvGrpSpPr>
      <p:grpSpPr>
        <a:xfrm>
          <a:off x="0" y="0"/>
          <a:ext cx="0" cy="0"/>
          <a:chOff x="0" y="0"/>
          <a:chExt cx="0" cy="0"/>
        </a:xfrm>
      </p:grpSpPr>
      <p:sp>
        <p:nvSpPr>
          <p:cNvPr id="248" name="Google Shape;248;p13"/>
          <p:cNvSpPr txBox="1"/>
          <p:nvPr/>
        </p:nvSpPr>
        <p:spPr>
          <a:xfrm>
            <a:off x="914400" y="2286000"/>
            <a:ext cx="10362895" cy="2286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b="1" i="0" u="none" strike="noStrike" cap="none">
                <a:solidFill>
                  <a:srgbClr val="5B21B6"/>
                </a:solidFill>
                <a:latin typeface="Calibri"/>
                <a:ea typeface="Calibri"/>
                <a:cs typeface="Calibri"/>
                <a:sym typeface="Calibri"/>
              </a:rPr>
              <a:t>The Dockerfile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3"/>
        <p:cNvGrpSpPr/>
        <p:nvPr/>
      </p:nvGrpSpPr>
      <p:grpSpPr>
        <a:xfrm>
          <a:off x="0" y="0"/>
          <a:ext cx="0" cy="0"/>
          <a:chOff x="0" y="0"/>
          <a:chExt cx="0" cy="0"/>
        </a:xfrm>
      </p:grpSpPr>
      <p:sp>
        <p:nvSpPr>
          <p:cNvPr id="254" name="Google Shape;254;p14"/>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A Dockerfile is a build recipe</a:t>
            </a:r>
            <a:endParaRPr/>
          </a:p>
        </p:txBody>
      </p:sp>
      <p:sp>
        <p:nvSpPr>
          <p:cNvPr id="255" name="Google Shape;255;p14"/>
          <p:cNvSpPr txBox="1"/>
          <p:nvPr/>
        </p:nvSpPr>
        <p:spPr>
          <a:xfrm>
            <a:off x="914400" y="1463040"/>
            <a:ext cx="10362895" cy="49377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dirty="0">
                <a:solidFill>
                  <a:srgbClr val="333344"/>
                </a:solidFill>
                <a:latin typeface="Calibri"/>
                <a:ea typeface="Calibri"/>
                <a:cs typeface="Calibri"/>
                <a:sym typeface="Calibri"/>
              </a:rPr>
              <a:t>A </a:t>
            </a:r>
            <a:r>
              <a:rPr lang="en-US" sz="2400" b="1" i="0" u="none" strike="noStrike" cap="none" dirty="0" err="1">
                <a:solidFill>
                  <a:srgbClr val="333344"/>
                </a:solidFill>
                <a:latin typeface="Calibri"/>
                <a:ea typeface="Calibri"/>
                <a:cs typeface="Calibri"/>
                <a:sym typeface="Calibri"/>
              </a:rPr>
              <a:t>Dockerfile</a:t>
            </a:r>
            <a:r>
              <a:rPr lang="en-US" sz="2400" b="0" i="0" u="none" strike="noStrike" cap="none" dirty="0">
                <a:solidFill>
                  <a:srgbClr val="333344"/>
                </a:solidFill>
                <a:latin typeface="Calibri"/>
                <a:ea typeface="Calibri"/>
                <a:cs typeface="Calibri"/>
                <a:sym typeface="Calibri"/>
              </a:rPr>
              <a:t> is a plain text file (no extension)</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It describes how to build an image, step by step.</a:t>
            </a:r>
            <a:endParaRPr dirty="0"/>
          </a:p>
          <a:p>
            <a:pPr marL="457200" lvl="1">
              <a:spcBef>
                <a:spcPts val="600"/>
              </a:spcBef>
            </a:pPr>
            <a:r>
              <a:rPr lang="en-US" sz="2000" b="0" i="0" u="none" strike="noStrike" cap="none" dirty="0">
                <a:solidFill>
                  <a:srgbClr val="666677"/>
                </a:solidFill>
                <a:latin typeface="Calibri"/>
                <a:ea typeface="Calibri"/>
                <a:cs typeface="Calibri"/>
                <a:sym typeface="Calibri"/>
              </a:rPr>
              <a:t>  </a:t>
            </a:r>
            <a:r>
              <a:rPr lang="en-US" sz="2000" dirty="0">
                <a:solidFill>
                  <a:srgbClr val="666677"/>
                </a:solidFill>
                <a:latin typeface="Calibri"/>
                <a:ea typeface="Calibri"/>
                <a:cs typeface="Calibri"/>
                <a:sym typeface="Calibri"/>
              </a:rPr>
              <a:t>Docker reads it top to bottom </a:t>
            </a:r>
            <a:r>
              <a:rPr lang="en-US" sz="2000" b="0" i="0" u="none" strike="noStrike" cap="none" dirty="0">
                <a:solidFill>
                  <a:srgbClr val="666677"/>
                </a:solidFill>
                <a:latin typeface="Calibri"/>
                <a:ea typeface="Calibri"/>
                <a:cs typeface="Calibri"/>
                <a:sym typeface="Calibri"/>
              </a:rPr>
              <a:t>and runs each instruction in order.</a:t>
            </a:r>
            <a:endParaRPr dirty="0"/>
          </a:p>
          <a:p>
            <a:pPr marL="0" marR="0" lvl="0" indent="0" algn="l" rtl="0">
              <a:spcBef>
                <a:spcPts val="600"/>
              </a:spcBef>
              <a:spcAft>
                <a:spcPts val="0"/>
              </a:spcAft>
              <a:buNone/>
            </a:pPr>
            <a:endParaRPr sz="2000" b="0" i="0" u="none" strike="noStrike" cap="none" dirty="0">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dirty="0">
                <a:solidFill>
                  <a:srgbClr val="333344"/>
                </a:solidFill>
                <a:latin typeface="Calibri"/>
                <a:ea typeface="Calibri"/>
                <a:cs typeface="Calibri"/>
                <a:sym typeface="Calibri"/>
              </a:rPr>
              <a:t>The five key instructions:</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a:t>
            </a:r>
            <a:r>
              <a:rPr lang="en-US" sz="2000" b="1" i="0" u="none" strike="noStrike" cap="none" dirty="0">
                <a:solidFill>
                  <a:srgbClr val="666677"/>
                </a:solidFill>
                <a:latin typeface="Calibri"/>
                <a:ea typeface="Calibri"/>
                <a:cs typeface="Calibri"/>
                <a:sym typeface="Calibri"/>
              </a:rPr>
              <a:t>FROM</a:t>
            </a:r>
            <a:r>
              <a:rPr lang="en-US" sz="2000" b="0" i="0" u="none" strike="noStrike" cap="none" dirty="0">
                <a:solidFill>
                  <a:srgbClr val="666677"/>
                </a:solidFill>
                <a:latin typeface="Calibri"/>
                <a:ea typeface="Calibri"/>
                <a:cs typeface="Calibri"/>
                <a:sym typeface="Calibri"/>
              </a:rPr>
              <a:t>   - start from an existing base image</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a:t>
            </a:r>
            <a:r>
              <a:rPr lang="en-US" sz="2000" b="1" i="0" u="none" strike="noStrike" cap="none" dirty="0">
                <a:solidFill>
                  <a:srgbClr val="666677"/>
                </a:solidFill>
                <a:latin typeface="Calibri"/>
                <a:ea typeface="Calibri"/>
                <a:cs typeface="Calibri"/>
                <a:sym typeface="Calibri"/>
              </a:rPr>
              <a:t>WORKDIR</a:t>
            </a:r>
            <a:r>
              <a:rPr lang="en-US" sz="2000" b="0" i="0" u="none" strike="noStrike" cap="none" dirty="0">
                <a:solidFill>
                  <a:srgbClr val="666677"/>
                </a:solidFill>
                <a:latin typeface="Calibri"/>
                <a:ea typeface="Calibri"/>
                <a:cs typeface="Calibri"/>
                <a:sym typeface="Calibri"/>
              </a:rPr>
              <a:t> - set the working directory inside the image</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a:t>
            </a:r>
            <a:r>
              <a:rPr lang="en-US" sz="2000" b="1" i="0" u="none" strike="noStrike" cap="none" dirty="0">
                <a:solidFill>
                  <a:srgbClr val="666677"/>
                </a:solidFill>
                <a:latin typeface="Calibri"/>
                <a:ea typeface="Calibri"/>
                <a:cs typeface="Calibri"/>
                <a:sym typeface="Calibri"/>
              </a:rPr>
              <a:t>COPY</a:t>
            </a:r>
            <a:r>
              <a:rPr lang="en-US" sz="2000" b="0" i="0" u="none" strike="noStrike" cap="none" dirty="0">
                <a:solidFill>
                  <a:srgbClr val="666677"/>
                </a:solidFill>
                <a:latin typeface="Calibri"/>
                <a:ea typeface="Calibri"/>
                <a:cs typeface="Calibri"/>
                <a:sym typeface="Calibri"/>
              </a:rPr>
              <a:t>   - copy files from your project into the image</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a:t>
            </a:r>
            <a:r>
              <a:rPr lang="en-US" sz="2000" b="1" i="0" u="none" strike="noStrike" cap="none" dirty="0">
                <a:solidFill>
                  <a:srgbClr val="666677"/>
                </a:solidFill>
                <a:latin typeface="Calibri"/>
                <a:ea typeface="Calibri"/>
                <a:cs typeface="Calibri"/>
                <a:sym typeface="Calibri"/>
              </a:rPr>
              <a:t>RUN</a:t>
            </a:r>
            <a:r>
              <a:rPr lang="en-US" sz="2000" b="0" i="0" u="none" strike="noStrike" cap="none" dirty="0">
                <a:solidFill>
                  <a:srgbClr val="666677"/>
                </a:solidFill>
                <a:latin typeface="Calibri"/>
                <a:ea typeface="Calibri"/>
                <a:cs typeface="Calibri"/>
                <a:sym typeface="Calibri"/>
              </a:rPr>
              <a:t>    - execute a command at build time (e.g., pip install)</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a:t>
            </a:r>
            <a:r>
              <a:rPr lang="en-US" sz="2000" b="1" i="0" u="none" strike="noStrike" cap="none" dirty="0">
                <a:solidFill>
                  <a:srgbClr val="666677"/>
                </a:solidFill>
                <a:latin typeface="Calibri"/>
                <a:ea typeface="Calibri"/>
                <a:cs typeface="Calibri"/>
                <a:sym typeface="Calibri"/>
              </a:rPr>
              <a:t>CMD</a:t>
            </a:r>
            <a:r>
              <a:rPr lang="en-US" sz="2000" b="0" i="0" u="none" strike="noStrike" cap="none" dirty="0">
                <a:solidFill>
                  <a:srgbClr val="666677"/>
                </a:solidFill>
                <a:latin typeface="Calibri"/>
                <a:ea typeface="Calibri"/>
                <a:cs typeface="Calibri"/>
                <a:sym typeface="Calibri"/>
              </a:rPr>
              <a:t>    - the default command when a container is started</a:t>
            </a:r>
            <a:endParaRPr dirty="0"/>
          </a:p>
          <a:p>
            <a:pPr marL="0" marR="0" lvl="0" indent="0" algn="l" rtl="0">
              <a:spcBef>
                <a:spcPts val="600"/>
              </a:spcBef>
              <a:spcAft>
                <a:spcPts val="0"/>
              </a:spcAft>
              <a:buNone/>
            </a:pPr>
            <a:endParaRPr sz="2000" b="0" i="0" u="none" strike="noStrike" cap="none" dirty="0">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dirty="0">
                <a:solidFill>
                  <a:srgbClr val="333344"/>
                </a:solidFill>
                <a:latin typeface="Calibri"/>
                <a:ea typeface="Calibri"/>
                <a:cs typeface="Calibri"/>
                <a:sym typeface="Calibri"/>
              </a:rPr>
              <a:t>More instructions exist, but this is the bulk of it.</a:t>
            </a:r>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60"/>
        <p:cNvGrpSpPr/>
        <p:nvPr/>
      </p:nvGrpSpPr>
      <p:grpSpPr>
        <a:xfrm>
          <a:off x="0" y="0"/>
          <a:ext cx="0" cy="0"/>
          <a:chOff x="0" y="0"/>
          <a:chExt cx="0" cy="0"/>
        </a:xfrm>
      </p:grpSpPr>
      <p:sp>
        <p:nvSpPr>
          <p:cNvPr id="261" name="Google Shape;261;g3e32708a311_0_22"/>
          <p:cNvSpPr txBox="1"/>
          <p:nvPr/>
        </p:nvSpPr>
        <p:spPr>
          <a:xfrm>
            <a:off x="731520" y="365760"/>
            <a:ext cx="10728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A1A2E"/>
                </a:solidFill>
                <a:latin typeface="Calibri"/>
                <a:ea typeface="Calibri"/>
                <a:cs typeface="Calibri"/>
                <a:sym typeface="Calibri"/>
              </a:rPr>
              <a:t>A real FastAPI Dockerfile</a:t>
            </a:r>
            <a:endParaRPr/>
          </a:p>
        </p:txBody>
      </p:sp>
      <p:sp>
        <p:nvSpPr>
          <p:cNvPr id="262" name="Google Shape;262;g3e32708a311_0_22"/>
          <p:cNvSpPr txBox="1"/>
          <p:nvPr/>
        </p:nvSpPr>
        <p:spPr>
          <a:xfrm>
            <a:off x="9601200" y="1188720"/>
            <a:ext cx="1828800" cy="3078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Dockerfile</a:t>
            </a:r>
            <a:endParaRPr/>
          </a:p>
        </p:txBody>
      </p:sp>
      <p:sp>
        <p:nvSpPr>
          <p:cNvPr id="263" name="Google Shape;263;g3e32708a311_0_22"/>
          <p:cNvSpPr/>
          <p:nvPr/>
        </p:nvSpPr>
        <p:spPr>
          <a:xfrm>
            <a:off x="731520" y="1463040"/>
            <a:ext cx="10728600" cy="49377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4" name="Google Shape;264;g3e32708a311_0_22"/>
          <p:cNvSpPr txBox="1"/>
          <p:nvPr/>
        </p:nvSpPr>
        <p:spPr>
          <a:xfrm>
            <a:off x="1005840" y="1645920"/>
            <a:ext cx="10179900" cy="133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i="0" u="none" strike="noStrike" cap="none">
                <a:solidFill>
                  <a:srgbClr val="333344"/>
                </a:solidFill>
                <a:latin typeface="Courier New"/>
                <a:ea typeface="Courier New"/>
                <a:cs typeface="Courier New"/>
                <a:sym typeface="Courier New"/>
              </a:rPr>
              <a:t># Dockerfile</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FROM python:3.12-slim</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WORKDIR /app</a:t>
            </a:r>
            <a:endParaRPr/>
          </a:p>
          <a:p>
            <a:pPr marL="0" marR="0" lvl="0" indent="0" algn="l" rtl="0">
              <a:spcBef>
                <a:spcPts val="200"/>
              </a:spcBef>
              <a:spcAft>
                <a:spcPts val="0"/>
              </a:spcAft>
              <a:buNone/>
            </a:pP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69"/>
        <p:cNvGrpSpPr/>
        <p:nvPr/>
      </p:nvGrpSpPr>
      <p:grpSpPr>
        <a:xfrm>
          <a:off x="0" y="0"/>
          <a:ext cx="0" cy="0"/>
          <a:chOff x="0" y="0"/>
          <a:chExt cx="0" cy="0"/>
        </a:xfrm>
      </p:grpSpPr>
      <p:sp>
        <p:nvSpPr>
          <p:cNvPr id="270" name="Google Shape;270;g3e32708a311_0_30"/>
          <p:cNvSpPr txBox="1"/>
          <p:nvPr/>
        </p:nvSpPr>
        <p:spPr>
          <a:xfrm>
            <a:off x="731520" y="365760"/>
            <a:ext cx="10728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A1A2E"/>
                </a:solidFill>
                <a:latin typeface="Calibri"/>
                <a:ea typeface="Calibri"/>
                <a:cs typeface="Calibri"/>
                <a:sym typeface="Calibri"/>
              </a:rPr>
              <a:t>A real FastAPI Dockerfile</a:t>
            </a:r>
            <a:endParaRPr/>
          </a:p>
        </p:txBody>
      </p:sp>
      <p:sp>
        <p:nvSpPr>
          <p:cNvPr id="271" name="Google Shape;271;g3e32708a311_0_30"/>
          <p:cNvSpPr txBox="1"/>
          <p:nvPr/>
        </p:nvSpPr>
        <p:spPr>
          <a:xfrm>
            <a:off x="9601200" y="1188720"/>
            <a:ext cx="1828800" cy="3078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Dockerfile</a:t>
            </a:r>
            <a:endParaRPr/>
          </a:p>
        </p:txBody>
      </p:sp>
      <p:sp>
        <p:nvSpPr>
          <p:cNvPr id="272" name="Google Shape;272;g3e32708a311_0_30"/>
          <p:cNvSpPr/>
          <p:nvPr/>
        </p:nvSpPr>
        <p:spPr>
          <a:xfrm>
            <a:off x="731520" y="1463040"/>
            <a:ext cx="10728600" cy="49377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3" name="Google Shape;273;g3e32708a311_0_30"/>
          <p:cNvSpPr txBox="1"/>
          <p:nvPr/>
        </p:nvSpPr>
        <p:spPr>
          <a:xfrm>
            <a:off x="1005840" y="1645920"/>
            <a:ext cx="10179900" cy="2360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i="0" u="none" strike="noStrike" cap="none">
                <a:solidFill>
                  <a:srgbClr val="333344"/>
                </a:solidFill>
                <a:latin typeface="Courier New"/>
                <a:ea typeface="Courier New"/>
                <a:cs typeface="Courier New"/>
                <a:sym typeface="Courier New"/>
              </a:rPr>
              <a:t># Dockerfile</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FROM python:3.12-slim</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WORKDIR /app</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Install dependencies FIRST, before copying code</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COPY requirements.txt .</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RUN pip install --no-cache-dir -r requirements.txt</a:t>
            </a:r>
            <a:endParaRPr/>
          </a:p>
          <a:p>
            <a:pPr marL="0" marR="0" lvl="0" indent="0" algn="l" rtl="0">
              <a:spcBef>
                <a:spcPts val="200"/>
              </a:spcBef>
              <a:spcAft>
                <a:spcPts val="0"/>
              </a:spcAft>
              <a:buNone/>
            </a:pP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78"/>
        <p:cNvGrpSpPr/>
        <p:nvPr/>
      </p:nvGrpSpPr>
      <p:grpSpPr>
        <a:xfrm>
          <a:off x="0" y="0"/>
          <a:ext cx="0" cy="0"/>
          <a:chOff x="0" y="0"/>
          <a:chExt cx="0" cy="0"/>
        </a:xfrm>
      </p:grpSpPr>
      <p:sp>
        <p:nvSpPr>
          <p:cNvPr id="279" name="Google Shape;279;g3e32708a311_0_38"/>
          <p:cNvSpPr txBox="1"/>
          <p:nvPr/>
        </p:nvSpPr>
        <p:spPr>
          <a:xfrm>
            <a:off x="731520" y="365760"/>
            <a:ext cx="10728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A1A2E"/>
                </a:solidFill>
                <a:latin typeface="Calibri"/>
                <a:ea typeface="Calibri"/>
                <a:cs typeface="Calibri"/>
                <a:sym typeface="Calibri"/>
              </a:rPr>
              <a:t>A real FastAPI Dockerfile</a:t>
            </a:r>
            <a:endParaRPr/>
          </a:p>
        </p:txBody>
      </p:sp>
      <p:sp>
        <p:nvSpPr>
          <p:cNvPr id="280" name="Google Shape;280;g3e32708a311_0_38"/>
          <p:cNvSpPr txBox="1"/>
          <p:nvPr/>
        </p:nvSpPr>
        <p:spPr>
          <a:xfrm>
            <a:off x="9601200" y="1188720"/>
            <a:ext cx="1828800" cy="3078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Dockerfile</a:t>
            </a:r>
            <a:endParaRPr/>
          </a:p>
        </p:txBody>
      </p:sp>
      <p:sp>
        <p:nvSpPr>
          <p:cNvPr id="281" name="Google Shape;281;g3e32708a311_0_38"/>
          <p:cNvSpPr/>
          <p:nvPr/>
        </p:nvSpPr>
        <p:spPr>
          <a:xfrm>
            <a:off x="731520" y="1463040"/>
            <a:ext cx="10728600" cy="49377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2" name="Google Shape;282;g3e32708a311_0_38"/>
          <p:cNvSpPr txBox="1"/>
          <p:nvPr/>
        </p:nvSpPr>
        <p:spPr>
          <a:xfrm>
            <a:off x="1005840" y="1645920"/>
            <a:ext cx="10179900" cy="3129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i="0" u="none" strike="noStrike" cap="none">
                <a:solidFill>
                  <a:srgbClr val="333344"/>
                </a:solidFill>
                <a:latin typeface="Courier New"/>
                <a:ea typeface="Courier New"/>
                <a:cs typeface="Courier New"/>
                <a:sym typeface="Courier New"/>
              </a:rPr>
              <a:t># Dockerfile</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FROM python:3.12-slim</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WORKDIR /app</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Install dependencies FIRST, before copying code</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COPY requirements.txt .</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RUN pip install --no-cache-dir -r requirements.txt</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Now copy the app code</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COPY . .</a:t>
            </a:r>
            <a:endParaRPr/>
          </a:p>
          <a:p>
            <a:pPr marL="0" marR="0" lvl="0" indent="0" algn="l" rtl="0">
              <a:spcBef>
                <a:spcPts val="200"/>
              </a:spcBef>
              <a:spcAft>
                <a:spcPts val="0"/>
              </a:spcAft>
              <a:buNone/>
            </a:pP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87"/>
        <p:cNvGrpSpPr/>
        <p:nvPr/>
      </p:nvGrpSpPr>
      <p:grpSpPr>
        <a:xfrm>
          <a:off x="0" y="0"/>
          <a:ext cx="0" cy="0"/>
          <a:chOff x="0" y="0"/>
          <a:chExt cx="0" cy="0"/>
        </a:xfrm>
      </p:grpSpPr>
      <p:sp>
        <p:nvSpPr>
          <p:cNvPr id="288" name="Google Shape;288;g3e32708a311_0_46"/>
          <p:cNvSpPr txBox="1"/>
          <p:nvPr/>
        </p:nvSpPr>
        <p:spPr>
          <a:xfrm>
            <a:off x="731520" y="365760"/>
            <a:ext cx="10728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dirty="0">
                <a:solidFill>
                  <a:srgbClr val="1A1A2E"/>
                </a:solidFill>
                <a:latin typeface="Calibri"/>
                <a:ea typeface="Calibri"/>
                <a:cs typeface="Calibri"/>
                <a:sym typeface="Calibri"/>
              </a:rPr>
              <a:t>A </a:t>
            </a:r>
            <a:r>
              <a:rPr lang="en-US" sz="3200" b="1" i="0" u="none" strike="noStrike" cap="none" dirty="0" err="1">
                <a:solidFill>
                  <a:srgbClr val="1A1A2E"/>
                </a:solidFill>
                <a:latin typeface="Calibri"/>
                <a:ea typeface="Calibri"/>
                <a:cs typeface="Calibri"/>
                <a:sym typeface="Calibri"/>
              </a:rPr>
              <a:t>FastAPI</a:t>
            </a:r>
            <a:r>
              <a:rPr lang="en-US" sz="3200" b="1" i="0" u="none" strike="noStrike" cap="none" dirty="0">
                <a:solidFill>
                  <a:srgbClr val="1A1A2E"/>
                </a:solidFill>
                <a:latin typeface="Calibri"/>
                <a:ea typeface="Calibri"/>
                <a:cs typeface="Calibri"/>
                <a:sym typeface="Calibri"/>
              </a:rPr>
              <a:t> </a:t>
            </a:r>
            <a:r>
              <a:rPr lang="en-US" sz="3200" b="1" i="0" u="none" strike="noStrike" cap="none" dirty="0" err="1">
                <a:solidFill>
                  <a:srgbClr val="1A1A2E"/>
                </a:solidFill>
                <a:latin typeface="Calibri"/>
                <a:ea typeface="Calibri"/>
                <a:cs typeface="Calibri"/>
                <a:sym typeface="Calibri"/>
              </a:rPr>
              <a:t>Dockerfile</a:t>
            </a:r>
            <a:endParaRPr dirty="0"/>
          </a:p>
        </p:txBody>
      </p:sp>
      <p:sp>
        <p:nvSpPr>
          <p:cNvPr id="289" name="Google Shape;289;g3e32708a311_0_46"/>
          <p:cNvSpPr txBox="1"/>
          <p:nvPr/>
        </p:nvSpPr>
        <p:spPr>
          <a:xfrm>
            <a:off x="9601200" y="1188720"/>
            <a:ext cx="1828800" cy="3078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Dockerfile</a:t>
            </a:r>
            <a:endParaRPr/>
          </a:p>
        </p:txBody>
      </p:sp>
      <p:sp>
        <p:nvSpPr>
          <p:cNvPr id="290" name="Google Shape;290;g3e32708a311_0_46"/>
          <p:cNvSpPr/>
          <p:nvPr/>
        </p:nvSpPr>
        <p:spPr>
          <a:xfrm>
            <a:off x="731520" y="1463040"/>
            <a:ext cx="10728600" cy="49377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1" name="Google Shape;291;g3e32708a311_0_46"/>
          <p:cNvSpPr txBox="1"/>
          <p:nvPr/>
        </p:nvSpPr>
        <p:spPr>
          <a:xfrm>
            <a:off x="1005840" y="1645920"/>
            <a:ext cx="10179900" cy="3899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i="0" u="none" strike="noStrike" cap="none">
                <a:solidFill>
                  <a:srgbClr val="333344"/>
                </a:solidFill>
                <a:latin typeface="Courier New"/>
                <a:ea typeface="Courier New"/>
                <a:cs typeface="Courier New"/>
                <a:sym typeface="Courier New"/>
              </a:rPr>
              <a:t># Dockerfile</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FROM python:3.12-slim</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WORKDIR /app</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Install dependencies FIRST, before copying code</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COPY requirements.txt .</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RUN pip install --no-cache-dir -r requirements.txt</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Now copy the app code</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COPY . .</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What to run when the container starts</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CMD ["uvicorn", "app:app", "--host", "0.0.0.0", "--port", "8000"]</a:t>
            </a:r>
            <a:endParaRPr/>
          </a:p>
          <a:p>
            <a:pPr marL="0" marR="0" lvl="0" indent="0" algn="l" rtl="0">
              <a:spcBef>
                <a:spcPts val="200"/>
              </a:spcBef>
              <a:spcAft>
                <a:spcPts val="0"/>
              </a:spcAft>
              <a:buNone/>
            </a:pP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96"/>
        <p:cNvGrpSpPr/>
        <p:nvPr/>
      </p:nvGrpSpPr>
      <p:grpSpPr>
        <a:xfrm>
          <a:off x="0" y="0"/>
          <a:ext cx="0" cy="0"/>
          <a:chOff x="0" y="0"/>
          <a:chExt cx="0" cy="0"/>
        </a:xfrm>
      </p:grpSpPr>
      <p:sp>
        <p:nvSpPr>
          <p:cNvPr id="297" name="Google Shape;297;p15"/>
          <p:cNvSpPr txBox="1"/>
          <p:nvPr/>
        </p:nvSpPr>
        <p:spPr>
          <a:xfrm>
            <a:off x="731520" y="365760"/>
            <a:ext cx="10728655"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dirty="0">
                <a:solidFill>
                  <a:srgbClr val="1A1A2E"/>
                </a:solidFill>
                <a:latin typeface="Calibri"/>
                <a:ea typeface="Calibri"/>
                <a:cs typeface="Calibri"/>
                <a:sym typeface="Calibri"/>
              </a:rPr>
              <a:t>A </a:t>
            </a:r>
            <a:r>
              <a:rPr lang="en-US" sz="3200" b="1" i="0" u="none" strike="noStrike" cap="none" dirty="0" err="1">
                <a:solidFill>
                  <a:srgbClr val="1A1A2E"/>
                </a:solidFill>
                <a:latin typeface="Calibri"/>
                <a:ea typeface="Calibri"/>
                <a:cs typeface="Calibri"/>
                <a:sym typeface="Calibri"/>
              </a:rPr>
              <a:t>FastAPI</a:t>
            </a:r>
            <a:r>
              <a:rPr lang="en-US" sz="3200" b="1" i="0" u="none" strike="noStrike" cap="none" dirty="0">
                <a:solidFill>
                  <a:srgbClr val="1A1A2E"/>
                </a:solidFill>
                <a:latin typeface="Calibri"/>
                <a:ea typeface="Calibri"/>
                <a:cs typeface="Calibri"/>
                <a:sym typeface="Calibri"/>
              </a:rPr>
              <a:t> </a:t>
            </a:r>
            <a:r>
              <a:rPr lang="en-US" sz="3200" b="1" i="0" u="none" strike="noStrike" cap="none" dirty="0" err="1">
                <a:solidFill>
                  <a:srgbClr val="1A1A2E"/>
                </a:solidFill>
                <a:latin typeface="Calibri"/>
                <a:ea typeface="Calibri"/>
                <a:cs typeface="Calibri"/>
                <a:sym typeface="Calibri"/>
              </a:rPr>
              <a:t>Dockerfile</a:t>
            </a:r>
            <a:endParaRPr dirty="0"/>
          </a:p>
        </p:txBody>
      </p:sp>
      <p:sp>
        <p:nvSpPr>
          <p:cNvPr id="298" name="Google Shape;298;p15"/>
          <p:cNvSpPr txBox="1"/>
          <p:nvPr/>
        </p:nvSpPr>
        <p:spPr>
          <a:xfrm>
            <a:off x="9601200" y="1188720"/>
            <a:ext cx="1828800" cy="36576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Dockerfile</a:t>
            </a:r>
            <a:endParaRPr/>
          </a:p>
        </p:txBody>
      </p:sp>
      <p:sp>
        <p:nvSpPr>
          <p:cNvPr id="299" name="Google Shape;299;p15"/>
          <p:cNvSpPr/>
          <p:nvPr/>
        </p:nvSpPr>
        <p:spPr>
          <a:xfrm>
            <a:off x="731520" y="1463040"/>
            <a:ext cx="10728655" cy="493776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0" name="Google Shape;300;p15"/>
          <p:cNvSpPr txBox="1"/>
          <p:nvPr/>
        </p:nvSpPr>
        <p:spPr>
          <a:xfrm>
            <a:off x="1005840" y="1645920"/>
            <a:ext cx="10180015" cy="4572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i="0" u="none" strike="noStrike" cap="none" dirty="0">
                <a:solidFill>
                  <a:srgbClr val="333344"/>
                </a:solidFill>
                <a:latin typeface="Courier New"/>
                <a:ea typeface="Courier New"/>
                <a:cs typeface="Courier New"/>
                <a:sym typeface="Courier New"/>
              </a:rPr>
              <a:t># </a:t>
            </a:r>
            <a:r>
              <a:rPr lang="en-US" sz="1500" b="1" i="0" u="none" strike="noStrike" cap="none" dirty="0" err="1">
                <a:solidFill>
                  <a:srgbClr val="333344"/>
                </a:solidFill>
                <a:latin typeface="Courier New"/>
                <a:ea typeface="Courier New"/>
                <a:cs typeface="Courier New"/>
                <a:sym typeface="Courier New"/>
              </a:rPr>
              <a:t>Dockerfile</a:t>
            </a:r>
            <a:endParaRPr dirty="0"/>
          </a:p>
          <a:p>
            <a:pPr marL="0" marR="0" lvl="0" indent="0" algn="l" rtl="0">
              <a:spcBef>
                <a:spcPts val="200"/>
              </a:spcBef>
              <a:spcAft>
                <a:spcPts val="0"/>
              </a:spcAft>
              <a:buNone/>
            </a:pPr>
            <a:r>
              <a:rPr lang="en-US" sz="1500" b="1" i="0" u="none" strike="noStrike" cap="none" dirty="0">
                <a:solidFill>
                  <a:srgbClr val="333344"/>
                </a:solidFill>
                <a:latin typeface="Courier New"/>
                <a:ea typeface="Courier New"/>
                <a:cs typeface="Courier New"/>
                <a:sym typeface="Courier New"/>
              </a:rPr>
              <a:t>FROM python:3.12-slim</a:t>
            </a:r>
            <a:endParaRPr dirty="0"/>
          </a:p>
          <a:p>
            <a:pPr marL="0" marR="0" lvl="0" indent="0" algn="l" rtl="0">
              <a:spcBef>
                <a:spcPts val="200"/>
              </a:spcBef>
              <a:spcAft>
                <a:spcPts val="0"/>
              </a:spcAft>
              <a:buNone/>
            </a:pPr>
            <a:endParaRPr sz="1500" b="1" i="0" u="none" strike="noStrike" cap="none" dirty="0">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dirty="0">
                <a:solidFill>
                  <a:srgbClr val="333344"/>
                </a:solidFill>
                <a:latin typeface="Courier New"/>
                <a:ea typeface="Courier New"/>
                <a:cs typeface="Courier New"/>
                <a:sym typeface="Courier New"/>
              </a:rPr>
              <a:t>WORKDIR /app</a:t>
            </a:r>
            <a:endParaRPr dirty="0"/>
          </a:p>
          <a:p>
            <a:pPr marL="0" marR="0" lvl="0" indent="0" algn="l" rtl="0">
              <a:spcBef>
                <a:spcPts val="200"/>
              </a:spcBef>
              <a:spcAft>
                <a:spcPts val="0"/>
              </a:spcAft>
              <a:buNone/>
            </a:pPr>
            <a:endParaRPr sz="1500" b="1" i="0" u="none" strike="noStrike" cap="none" dirty="0">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dirty="0">
                <a:solidFill>
                  <a:srgbClr val="333344"/>
                </a:solidFill>
                <a:latin typeface="Courier New"/>
                <a:ea typeface="Courier New"/>
                <a:cs typeface="Courier New"/>
                <a:sym typeface="Courier New"/>
              </a:rPr>
              <a:t># Install dependencies FIRST, before copying code</a:t>
            </a:r>
            <a:endParaRPr dirty="0"/>
          </a:p>
          <a:p>
            <a:pPr marL="0" marR="0" lvl="0" indent="0" algn="l" rtl="0">
              <a:spcBef>
                <a:spcPts val="200"/>
              </a:spcBef>
              <a:spcAft>
                <a:spcPts val="0"/>
              </a:spcAft>
              <a:buNone/>
            </a:pPr>
            <a:r>
              <a:rPr lang="en-US" sz="1500" b="1" i="0" u="none" strike="noStrike" cap="none" dirty="0">
                <a:solidFill>
                  <a:srgbClr val="333344"/>
                </a:solidFill>
                <a:latin typeface="Courier New"/>
                <a:ea typeface="Courier New"/>
                <a:cs typeface="Courier New"/>
                <a:sym typeface="Courier New"/>
              </a:rPr>
              <a:t>COPY </a:t>
            </a:r>
            <a:r>
              <a:rPr lang="en-US" sz="1500" b="1" i="0" u="none" strike="noStrike" cap="none" dirty="0" err="1">
                <a:solidFill>
                  <a:srgbClr val="333344"/>
                </a:solidFill>
                <a:latin typeface="Courier New"/>
                <a:ea typeface="Courier New"/>
                <a:cs typeface="Courier New"/>
                <a:sym typeface="Courier New"/>
              </a:rPr>
              <a:t>requirements.txt</a:t>
            </a:r>
            <a:r>
              <a:rPr lang="en-US" sz="1500" b="1" i="0" u="none" strike="noStrike" cap="none" dirty="0">
                <a:solidFill>
                  <a:srgbClr val="333344"/>
                </a:solidFill>
                <a:latin typeface="Courier New"/>
                <a:ea typeface="Courier New"/>
                <a:cs typeface="Courier New"/>
                <a:sym typeface="Courier New"/>
              </a:rPr>
              <a:t> .</a:t>
            </a:r>
            <a:endParaRPr dirty="0"/>
          </a:p>
          <a:p>
            <a:pPr marL="0" marR="0" lvl="0" indent="0" algn="l" rtl="0">
              <a:spcBef>
                <a:spcPts val="200"/>
              </a:spcBef>
              <a:spcAft>
                <a:spcPts val="0"/>
              </a:spcAft>
              <a:buNone/>
            </a:pPr>
            <a:r>
              <a:rPr lang="en-US" sz="1500" b="1" i="0" u="none" strike="noStrike" cap="none" dirty="0">
                <a:solidFill>
                  <a:srgbClr val="333344"/>
                </a:solidFill>
                <a:latin typeface="Courier New"/>
                <a:ea typeface="Courier New"/>
                <a:cs typeface="Courier New"/>
                <a:sym typeface="Courier New"/>
              </a:rPr>
              <a:t>RUN pip install --no-cache-</a:t>
            </a:r>
            <a:r>
              <a:rPr lang="en-US" sz="1500" b="1" i="0" u="none" strike="noStrike" cap="none" dirty="0" err="1">
                <a:solidFill>
                  <a:srgbClr val="333344"/>
                </a:solidFill>
                <a:latin typeface="Courier New"/>
                <a:ea typeface="Courier New"/>
                <a:cs typeface="Courier New"/>
                <a:sym typeface="Courier New"/>
              </a:rPr>
              <a:t>dir</a:t>
            </a:r>
            <a:r>
              <a:rPr lang="en-US" sz="1500" b="1" i="0" u="none" strike="noStrike" cap="none" dirty="0">
                <a:solidFill>
                  <a:srgbClr val="333344"/>
                </a:solidFill>
                <a:latin typeface="Courier New"/>
                <a:ea typeface="Courier New"/>
                <a:cs typeface="Courier New"/>
                <a:sym typeface="Courier New"/>
              </a:rPr>
              <a:t> -r </a:t>
            </a:r>
            <a:r>
              <a:rPr lang="en-US" sz="1500" b="1" i="0" u="none" strike="noStrike" cap="none" dirty="0" err="1">
                <a:solidFill>
                  <a:srgbClr val="333344"/>
                </a:solidFill>
                <a:latin typeface="Courier New"/>
                <a:ea typeface="Courier New"/>
                <a:cs typeface="Courier New"/>
                <a:sym typeface="Courier New"/>
              </a:rPr>
              <a:t>requirements.txt</a:t>
            </a:r>
            <a:endParaRPr dirty="0"/>
          </a:p>
          <a:p>
            <a:pPr marL="0" marR="0" lvl="0" indent="0" algn="l" rtl="0">
              <a:spcBef>
                <a:spcPts val="200"/>
              </a:spcBef>
              <a:spcAft>
                <a:spcPts val="0"/>
              </a:spcAft>
              <a:buNone/>
            </a:pPr>
            <a:endParaRPr sz="1500" b="1" i="0" u="none" strike="noStrike" cap="none" dirty="0">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dirty="0">
                <a:solidFill>
                  <a:srgbClr val="333344"/>
                </a:solidFill>
                <a:latin typeface="Courier New"/>
                <a:ea typeface="Courier New"/>
                <a:cs typeface="Courier New"/>
                <a:sym typeface="Courier New"/>
              </a:rPr>
              <a:t># Now copy the app code</a:t>
            </a:r>
            <a:endParaRPr dirty="0"/>
          </a:p>
          <a:p>
            <a:pPr marL="0" marR="0" lvl="0" indent="0" algn="l" rtl="0">
              <a:spcBef>
                <a:spcPts val="200"/>
              </a:spcBef>
              <a:spcAft>
                <a:spcPts val="0"/>
              </a:spcAft>
              <a:buNone/>
            </a:pPr>
            <a:r>
              <a:rPr lang="en-US" sz="1500" b="1" i="0" u="none" strike="noStrike" cap="none" dirty="0">
                <a:solidFill>
                  <a:srgbClr val="333344"/>
                </a:solidFill>
                <a:latin typeface="Courier New"/>
                <a:ea typeface="Courier New"/>
                <a:cs typeface="Courier New"/>
                <a:sym typeface="Courier New"/>
              </a:rPr>
              <a:t>COPY . .</a:t>
            </a:r>
            <a:endParaRPr dirty="0"/>
          </a:p>
          <a:p>
            <a:pPr marL="0" marR="0" lvl="0" indent="0" algn="l" rtl="0">
              <a:spcBef>
                <a:spcPts val="200"/>
              </a:spcBef>
              <a:spcAft>
                <a:spcPts val="0"/>
              </a:spcAft>
              <a:buNone/>
            </a:pPr>
            <a:endParaRPr sz="1500" b="1" i="0" u="none" strike="noStrike" cap="none" dirty="0">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dirty="0">
                <a:solidFill>
                  <a:srgbClr val="333344"/>
                </a:solidFill>
                <a:latin typeface="Courier New"/>
                <a:ea typeface="Courier New"/>
                <a:cs typeface="Courier New"/>
                <a:sym typeface="Courier New"/>
              </a:rPr>
              <a:t># What to run when the container starts</a:t>
            </a:r>
            <a:endParaRPr dirty="0"/>
          </a:p>
          <a:p>
            <a:pPr marL="0" marR="0" lvl="0" indent="0" algn="l" rtl="0">
              <a:spcBef>
                <a:spcPts val="200"/>
              </a:spcBef>
              <a:spcAft>
                <a:spcPts val="0"/>
              </a:spcAft>
              <a:buNone/>
            </a:pPr>
            <a:r>
              <a:rPr lang="en-US" sz="1500" b="1" i="0" u="none" strike="noStrike" cap="none" dirty="0">
                <a:solidFill>
                  <a:srgbClr val="333344"/>
                </a:solidFill>
                <a:latin typeface="Courier New"/>
                <a:ea typeface="Courier New"/>
                <a:cs typeface="Courier New"/>
                <a:sym typeface="Courier New"/>
              </a:rPr>
              <a:t>CMD ["</a:t>
            </a:r>
            <a:r>
              <a:rPr lang="en-US" sz="1500" b="1" i="0" u="none" strike="noStrike" cap="none" dirty="0" err="1">
                <a:solidFill>
                  <a:srgbClr val="333344"/>
                </a:solidFill>
                <a:latin typeface="Courier New"/>
                <a:ea typeface="Courier New"/>
                <a:cs typeface="Courier New"/>
                <a:sym typeface="Courier New"/>
              </a:rPr>
              <a:t>uvicorn</a:t>
            </a:r>
            <a:r>
              <a:rPr lang="en-US" sz="1500" b="1" i="0" u="none" strike="noStrike" cap="none" dirty="0">
                <a:solidFill>
                  <a:srgbClr val="333344"/>
                </a:solidFill>
                <a:latin typeface="Courier New"/>
                <a:ea typeface="Courier New"/>
                <a:cs typeface="Courier New"/>
                <a:sym typeface="Courier New"/>
              </a:rPr>
              <a:t>", "</a:t>
            </a:r>
            <a:r>
              <a:rPr lang="en-US" sz="1500" b="1" i="0" u="none" strike="noStrike" cap="none" dirty="0" err="1">
                <a:solidFill>
                  <a:srgbClr val="333344"/>
                </a:solidFill>
                <a:latin typeface="Courier New"/>
                <a:ea typeface="Courier New"/>
                <a:cs typeface="Courier New"/>
                <a:sym typeface="Courier New"/>
              </a:rPr>
              <a:t>app:app</a:t>
            </a:r>
            <a:r>
              <a:rPr lang="en-US" sz="1500" b="1" i="0" u="none" strike="noStrike" cap="none" dirty="0">
                <a:solidFill>
                  <a:srgbClr val="333344"/>
                </a:solidFill>
                <a:latin typeface="Courier New"/>
                <a:ea typeface="Courier New"/>
                <a:cs typeface="Courier New"/>
                <a:sym typeface="Courier New"/>
              </a:rPr>
              <a:t>", "--host", "0.0.0.0", "--port", "8000"]</a:t>
            </a:r>
            <a:endParaRPr dirty="0"/>
          </a:p>
          <a:p>
            <a:pPr marL="0" marR="0" lvl="0" indent="0" algn="l" rtl="0">
              <a:spcBef>
                <a:spcPts val="200"/>
              </a:spcBef>
              <a:spcAft>
                <a:spcPts val="0"/>
              </a:spcAft>
              <a:buNone/>
            </a:pPr>
            <a:endParaRPr sz="1500" b="1" i="0" u="none" strike="noStrike" cap="none" dirty="0">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dirty="0">
                <a:solidFill>
                  <a:srgbClr val="333344"/>
                </a:solidFill>
                <a:latin typeface="Courier New"/>
                <a:ea typeface="Courier New"/>
                <a:cs typeface="Courier New"/>
                <a:sym typeface="Courier New"/>
              </a:rPr>
              <a:t># Build it:  docker build -t my-</a:t>
            </a:r>
            <a:r>
              <a:rPr lang="en-US" sz="1500" b="1" i="0" u="none" strike="noStrike" cap="none" dirty="0" err="1">
                <a:solidFill>
                  <a:srgbClr val="333344"/>
                </a:solidFill>
                <a:latin typeface="Courier New"/>
                <a:ea typeface="Courier New"/>
                <a:cs typeface="Courier New"/>
                <a:sym typeface="Courier New"/>
              </a:rPr>
              <a:t>fastapi</a:t>
            </a:r>
            <a:r>
              <a:rPr lang="en-US" sz="1500" b="1" i="0" u="none" strike="noStrike" cap="none" dirty="0">
                <a:solidFill>
                  <a:srgbClr val="333344"/>
                </a:solidFill>
                <a:latin typeface="Courier New"/>
                <a:ea typeface="Courier New"/>
                <a:cs typeface="Courier New"/>
                <a:sym typeface="Courier New"/>
              </a:rPr>
              <a:t> .</a:t>
            </a:r>
            <a:endParaRPr dirty="0"/>
          </a:p>
          <a:p>
            <a:pPr marL="0" marR="0" lvl="0" indent="0" algn="l" rtl="0">
              <a:spcBef>
                <a:spcPts val="200"/>
              </a:spcBef>
              <a:spcAft>
                <a:spcPts val="0"/>
              </a:spcAft>
              <a:buNone/>
            </a:pPr>
            <a:r>
              <a:rPr lang="en-US" sz="1500" b="1" i="0" u="none" strike="noStrike" cap="none" dirty="0">
                <a:solidFill>
                  <a:srgbClr val="333344"/>
                </a:solidFill>
                <a:latin typeface="Courier New"/>
                <a:ea typeface="Courier New"/>
                <a:cs typeface="Courier New"/>
                <a:sym typeface="Courier New"/>
              </a:rPr>
              <a:t># Run it:    docker run -p 8000:8000 my-</a:t>
            </a:r>
            <a:r>
              <a:rPr lang="en-US" sz="1500" b="1" i="0" u="none" strike="noStrike" cap="none" dirty="0" err="1">
                <a:solidFill>
                  <a:srgbClr val="333344"/>
                </a:solidFill>
                <a:latin typeface="Courier New"/>
                <a:ea typeface="Courier New"/>
                <a:cs typeface="Courier New"/>
                <a:sym typeface="Courier New"/>
              </a:rPr>
              <a:t>fastapi</a:t>
            </a:r>
            <a:endParaRPr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05"/>
        <p:cNvGrpSpPr/>
        <p:nvPr/>
      </p:nvGrpSpPr>
      <p:grpSpPr>
        <a:xfrm>
          <a:off x="0" y="0"/>
          <a:ext cx="0" cy="0"/>
          <a:chOff x="0" y="0"/>
          <a:chExt cx="0" cy="0"/>
        </a:xfrm>
      </p:grpSpPr>
      <p:sp>
        <p:nvSpPr>
          <p:cNvPr id="306" name="Google Shape;306;p16"/>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Layer caching: why Dockerfile order matters</a:t>
            </a:r>
            <a:endParaRPr/>
          </a:p>
        </p:txBody>
      </p:sp>
      <p:sp>
        <p:nvSpPr>
          <p:cNvPr id="307" name="Google Shape;307;p16"/>
          <p:cNvSpPr txBox="1"/>
          <p:nvPr/>
        </p:nvSpPr>
        <p:spPr>
          <a:xfrm>
            <a:off x="914400" y="1463040"/>
            <a:ext cx="10362900" cy="4879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dirty="0">
                <a:solidFill>
                  <a:srgbClr val="333344"/>
                </a:solidFill>
                <a:latin typeface="Calibri"/>
                <a:ea typeface="Calibri"/>
                <a:cs typeface="Calibri"/>
                <a:sym typeface="Calibri"/>
              </a:rPr>
              <a:t>Every instruction creates a </a:t>
            </a:r>
            <a:r>
              <a:rPr lang="en-US" sz="2400" b="1" i="0" u="none" strike="noStrike" cap="none" dirty="0">
                <a:solidFill>
                  <a:srgbClr val="333344"/>
                </a:solidFill>
                <a:latin typeface="Calibri"/>
                <a:ea typeface="Calibri"/>
                <a:cs typeface="Calibri"/>
                <a:sym typeface="Calibri"/>
              </a:rPr>
              <a:t>layer</a:t>
            </a:r>
            <a:r>
              <a:rPr lang="en-US" sz="2400" b="0" i="0" u="none" strike="noStrike" cap="none" dirty="0">
                <a:solidFill>
                  <a:srgbClr val="333344"/>
                </a:solidFill>
                <a:latin typeface="Calibri"/>
                <a:ea typeface="Calibri"/>
                <a:cs typeface="Calibri"/>
                <a:sym typeface="Calibri"/>
              </a:rPr>
              <a:t> - a filesystem diff Docker caches separately.</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a:t>
            </a:r>
            <a:endParaRPr dirty="0"/>
          </a:p>
          <a:p>
            <a:pPr marL="0" marR="0" lvl="0" indent="0" algn="l" rtl="0">
              <a:spcBef>
                <a:spcPts val="600"/>
              </a:spcBef>
              <a:spcAft>
                <a:spcPts val="0"/>
              </a:spcAft>
              <a:buNone/>
            </a:pPr>
            <a:r>
              <a:rPr lang="en-US" sz="2400" b="0" i="0" u="none" strike="noStrike" cap="none" dirty="0">
                <a:solidFill>
                  <a:srgbClr val="333344"/>
                </a:solidFill>
                <a:latin typeface="Calibri"/>
                <a:ea typeface="Calibri"/>
                <a:cs typeface="Calibri"/>
                <a:sym typeface="Calibri"/>
              </a:rPr>
              <a:t>On re-build, Docker checks each layer:</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Nothing above this step changed? -&gt; reuse the cached layer</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Something changed? -&gt; rebuild this step AND everything after it</a:t>
            </a:r>
            <a:endParaRPr dirty="0"/>
          </a:p>
          <a:p>
            <a:pPr marL="0" marR="0" lvl="0" indent="0" algn="l" rtl="0">
              <a:spcBef>
                <a:spcPts val="600"/>
              </a:spcBef>
              <a:spcAft>
                <a:spcPts val="0"/>
              </a:spcAft>
              <a:buNone/>
            </a:pPr>
            <a:endParaRPr sz="2000" b="0" i="0" u="none" strike="noStrike" cap="none" dirty="0">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dirty="0">
                <a:solidFill>
                  <a:srgbClr val="333344"/>
                </a:solidFill>
                <a:latin typeface="Calibri"/>
                <a:ea typeface="Calibri"/>
                <a:cs typeface="Calibri"/>
                <a:sym typeface="Calibri"/>
              </a:rPr>
              <a:t>This is why dependencies go BEFORE copying your code:</a:t>
            </a:r>
            <a:endParaRPr sz="2400" b="0" i="0" u="none" strike="noStrike" cap="none" dirty="0">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You change `</a:t>
            </a:r>
            <a:r>
              <a:rPr lang="en-US" sz="2000" b="0" i="0" u="none" strike="noStrike" cap="none" dirty="0" err="1">
                <a:solidFill>
                  <a:srgbClr val="666677"/>
                </a:solidFill>
                <a:latin typeface="Calibri"/>
                <a:ea typeface="Calibri"/>
                <a:cs typeface="Calibri"/>
                <a:sym typeface="Calibri"/>
              </a:rPr>
              <a:t>app.py</a:t>
            </a:r>
            <a:r>
              <a:rPr lang="en-US" sz="2000" b="0" i="0" u="none" strike="noStrike" cap="none" dirty="0">
                <a:solidFill>
                  <a:srgbClr val="666677"/>
                </a:solidFill>
                <a:latin typeface="Calibri"/>
                <a:ea typeface="Calibri"/>
                <a:cs typeface="Calibri"/>
                <a:sym typeface="Calibri"/>
              </a:rPr>
              <a:t>` 50 times a day. You almost never change</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a:t>
            </a:r>
            <a:r>
              <a:rPr lang="en-US" sz="2000" b="0" i="0" u="none" strike="noStrike" cap="none" dirty="0" err="1">
                <a:solidFill>
                  <a:srgbClr val="666677"/>
                </a:solidFill>
                <a:latin typeface="Calibri"/>
                <a:ea typeface="Calibri"/>
                <a:cs typeface="Calibri"/>
                <a:sym typeface="Calibri"/>
              </a:rPr>
              <a:t>requirements.txt</a:t>
            </a:r>
            <a:r>
              <a:rPr lang="en-US" sz="2000" b="0" i="0" u="none" strike="noStrike" cap="none" dirty="0">
                <a:solidFill>
                  <a:srgbClr val="666677"/>
                </a:solidFill>
                <a:latin typeface="Calibri"/>
                <a:ea typeface="Calibri"/>
                <a:cs typeface="Calibri"/>
                <a:sym typeface="Calibri"/>
              </a:rPr>
              <a:t>`. Putting pip install above COPY means "change</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a:t>
            </a:r>
            <a:r>
              <a:rPr lang="en-US" sz="2000" b="0" i="0" u="none" strike="noStrike" cap="none" dirty="0" err="1">
                <a:solidFill>
                  <a:srgbClr val="666677"/>
                </a:solidFill>
                <a:latin typeface="Calibri"/>
                <a:ea typeface="Calibri"/>
                <a:cs typeface="Calibri"/>
                <a:sym typeface="Calibri"/>
              </a:rPr>
              <a:t>app.py</a:t>
            </a:r>
            <a:r>
              <a:rPr lang="en-US" sz="2000" b="0" i="0" u="none" strike="noStrike" cap="none" dirty="0">
                <a:solidFill>
                  <a:srgbClr val="666677"/>
                </a:solidFill>
                <a:latin typeface="Calibri"/>
                <a:ea typeface="Calibri"/>
                <a:cs typeface="Calibri"/>
                <a:sym typeface="Calibri"/>
              </a:rPr>
              <a:t>, rebuild in 2s. Change requirements, rebuild in 30s."</a:t>
            </a:r>
            <a:endParaRPr dirty="0"/>
          </a:p>
          <a:p>
            <a:pPr marL="0" marR="0" lvl="0" indent="0" algn="l" rtl="0">
              <a:spcBef>
                <a:spcPts val="600"/>
              </a:spcBef>
              <a:spcAft>
                <a:spcPts val="0"/>
              </a:spcAft>
              <a:buNone/>
            </a:pPr>
            <a:endParaRPr sz="2000" b="0" i="0" u="none" strike="noStrike" cap="none" dirty="0">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dirty="0" err="1">
                <a:solidFill>
                  <a:srgbClr val="333344"/>
                </a:solidFill>
                <a:latin typeface="Calibri"/>
                <a:ea typeface="Calibri"/>
                <a:cs typeface="Calibri"/>
                <a:sym typeface="Calibri"/>
              </a:rPr>
              <a:t>Dockerfile</a:t>
            </a:r>
            <a:r>
              <a:rPr lang="en-US" sz="2400" b="0" i="0" u="none" strike="noStrike" cap="none" dirty="0">
                <a:solidFill>
                  <a:srgbClr val="333344"/>
                </a:solidFill>
                <a:latin typeface="Calibri"/>
                <a:ea typeface="Calibri"/>
                <a:cs typeface="Calibri"/>
                <a:sym typeface="Calibri"/>
              </a:rPr>
              <a:t> order = rebuild speed. Slow things first, fast last.</a:t>
            </a:r>
            <a:endParaRPr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2"/>
        <p:cNvGrpSpPr/>
        <p:nvPr/>
      </p:nvGrpSpPr>
      <p:grpSpPr>
        <a:xfrm>
          <a:off x="0" y="0"/>
          <a:ext cx="0" cy="0"/>
          <a:chOff x="0" y="0"/>
          <a:chExt cx="0" cy="0"/>
        </a:xfrm>
      </p:grpSpPr>
      <p:sp>
        <p:nvSpPr>
          <p:cNvPr id="313" name="Google Shape;313;g3e32708a311_0_54"/>
          <p:cNvSpPr txBox="1"/>
          <p:nvPr/>
        </p:nvSpPr>
        <p:spPr>
          <a:xfrm>
            <a:off x="731520" y="365760"/>
            <a:ext cx="10728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dirty="0">
                <a:solidFill>
                  <a:srgbClr val="1A1A2E"/>
                </a:solidFill>
                <a:latin typeface="Calibri"/>
                <a:ea typeface="Calibri"/>
                <a:cs typeface="Calibri"/>
                <a:sym typeface="Calibri"/>
              </a:rPr>
              <a:t>I edit </a:t>
            </a:r>
            <a:r>
              <a:rPr lang="en-US" sz="3200" b="1" i="0" u="none" strike="noStrike" cap="none" dirty="0" err="1">
                <a:solidFill>
                  <a:srgbClr val="1A1A2E"/>
                </a:solidFill>
                <a:latin typeface="Calibri"/>
                <a:ea typeface="Calibri"/>
                <a:cs typeface="Calibri"/>
                <a:sym typeface="Calibri"/>
              </a:rPr>
              <a:t>app.py</a:t>
            </a:r>
            <a:r>
              <a:rPr lang="en-US" sz="3200" b="1" i="0" u="none" strike="noStrike" cap="none" dirty="0">
                <a:solidFill>
                  <a:srgbClr val="1A1A2E"/>
                </a:solidFill>
                <a:latin typeface="Calibri"/>
                <a:ea typeface="Calibri"/>
                <a:cs typeface="Calibri"/>
                <a:sym typeface="Calibri"/>
              </a:rPr>
              <a:t>. Which layers rebuild?</a:t>
            </a:r>
            <a:endParaRPr dirty="0"/>
          </a:p>
        </p:txBody>
      </p:sp>
      <p:sp>
        <p:nvSpPr>
          <p:cNvPr id="314" name="Google Shape;314;g3e32708a311_0_54"/>
          <p:cNvSpPr txBox="1"/>
          <p:nvPr/>
        </p:nvSpPr>
        <p:spPr>
          <a:xfrm>
            <a:off x="9601200" y="1188720"/>
            <a:ext cx="1828800" cy="3078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Dockerfile</a:t>
            </a:r>
            <a:endParaRPr/>
          </a:p>
        </p:txBody>
      </p:sp>
      <p:sp>
        <p:nvSpPr>
          <p:cNvPr id="315" name="Google Shape;315;g3e32708a311_0_54"/>
          <p:cNvSpPr/>
          <p:nvPr/>
        </p:nvSpPr>
        <p:spPr>
          <a:xfrm>
            <a:off x="731520" y="1463040"/>
            <a:ext cx="10728600" cy="49377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6" name="Google Shape;316;g3e32708a311_0_54"/>
          <p:cNvSpPr txBox="1"/>
          <p:nvPr/>
        </p:nvSpPr>
        <p:spPr>
          <a:xfrm>
            <a:off x="1005840" y="1645920"/>
            <a:ext cx="10179900" cy="2606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700" b="1" i="0" u="none" strike="noStrike" cap="none">
                <a:solidFill>
                  <a:srgbClr val="333344"/>
                </a:solidFill>
                <a:latin typeface="Courier New"/>
                <a:ea typeface="Courier New"/>
                <a:cs typeface="Courier New"/>
                <a:sym typeface="Courier New"/>
              </a:rPr>
              <a:t># The image was built from this Dockerfile. Layers, top to bottom:</a:t>
            </a:r>
            <a:endParaRPr/>
          </a:p>
          <a:p>
            <a:pPr marL="0" marR="0" lvl="0" indent="0" algn="l" rtl="0">
              <a:spcBef>
                <a:spcPts val="200"/>
              </a:spcBef>
              <a:spcAft>
                <a:spcPts val="0"/>
              </a:spcAft>
              <a:buNone/>
            </a:pPr>
            <a:endParaRPr sz="17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[1]  FROM python:3.12-slim</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[2]  WORKDIR /app</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[3]  COPY requirements.txt .</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[4]  RUN pip install -r requirements.txt</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[5]  COPY . .</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[6]  CMD ["uvicorn", "app:app", ...]</a:t>
            </a:r>
            <a:endParaRPr/>
          </a:p>
          <a:p>
            <a:pPr marL="0" marR="0" lvl="0" indent="0" algn="l" rtl="0">
              <a:spcBef>
                <a:spcPts val="200"/>
              </a:spcBef>
              <a:spcAft>
                <a:spcPts val="0"/>
              </a:spcAft>
              <a:buNone/>
            </a:pP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21"/>
        <p:cNvGrpSpPr/>
        <p:nvPr/>
      </p:nvGrpSpPr>
      <p:grpSpPr>
        <a:xfrm>
          <a:off x="0" y="0"/>
          <a:ext cx="0" cy="0"/>
          <a:chOff x="0" y="0"/>
          <a:chExt cx="0" cy="0"/>
        </a:xfrm>
      </p:grpSpPr>
      <p:sp>
        <p:nvSpPr>
          <p:cNvPr id="322" name="Google Shape;322;p17"/>
          <p:cNvSpPr txBox="1"/>
          <p:nvPr/>
        </p:nvSpPr>
        <p:spPr>
          <a:xfrm>
            <a:off x="731520" y="365760"/>
            <a:ext cx="10728655"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dirty="0">
                <a:solidFill>
                  <a:srgbClr val="1A1A2E"/>
                </a:solidFill>
                <a:latin typeface="Calibri"/>
                <a:ea typeface="Calibri"/>
                <a:cs typeface="Calibri"/>
                <a:sym typeface="Calibri"/>
              </a:rPr>
              <a:t>I edit </a:t>
            </a:r>
            <a:r>
              <a:rPr lang="en-US" sz="3200" b="1" i="0" u="none" strike="noStrike" cap="none" dirty="0" err="1">
                <a:solidFill>
                  <a:srgbClr val="1A1A2E"/>
                </a:solidFill>
                <a:latin typeface="Calibri"/>
                <a:ea typeface="Calibri"/>
                <a:cs typeface="Calibri"/>
                <a:sym typeface="Calibri"/>
              </a:rPr>
              <a:t>app.py</a:t>
            </a:r>
            <a:r>
              <a:rPr lang="en-US" sz="3200" b="1" i="0" u="none" strike="noStrike" cap="none" dirty="0">
                <a:solidFill>
                  <a:srgbClr val="1A1A2E"/>
                </a:solidFill>
                <a:latin typeface="Calibri"/>
                <a:ea typeface="Calibri"/>
                <a:cs typeface="Calibri"/>
                <a:sym typeface="Calibri"/>
              </a:rPr>
              <a:t>. Which layers rebuild?</a:t>
            </a:r>
            <a:endParaRPr dirty="0"/>
          </a:p>
        </p:txBody>
      </p:sp>
      <p:sp>
        <p:nvSpPr>
          <p:cNvPr id="323" name="Google Shape;323;p17"/>
          <p:cNvSpPr txBox="1"/>
          <p:nvPr/>
        </p:nvSpPr>
        <p:spPr>
          <a:xfrm>
            <a:off x="9601200" y="1188720"/>
            <a:ext cx="1828800" cy="36576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Dockerfile</a:t>
            </a:r>
            <a:endParaRPr/>
          </a:p>
        </p:txBody>
      </p:sp>
      <p:sp>
        <p:nvSpPr>
          <p:cNvPr id="324" name="Google Shape;324;p17"/>
          <p:cNvSpPr/>
          <p:nvPr/>
        </p:nvSpPr>
        <p:spPr>
          <a:xfrm>
            <a:off x="731520" y="1463040"/>
            <a:ext cx="10728655" cy="493776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25" name="Google Shape;325;p17"/>
          <p:cNvSpPr txBox="1"/>
          <p:nvPr/>
        </p:nvSpPr>
        <p:spPr>
          <a:xfrm>
            <a:off x="1005840" y="1645920"/>
            <a:ext cx="10180015" cy="4572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700" b="1" i="0" u="none" strike="noStrike" cap="none">
                <a:solidFill>
                  <a:srgbClr val="333344"/>
                </a:solidFill>
                <a:latin typeface="Courier New"/>
                <a:ea typeface="Courier New"/>
                <a:cs typeface="Courier New"/>
                <a:sym typeface="Courier New"/>
              </a:rPr>
              <a:t># The image was built from this Dockerfile. Layers, top to bottom:</a:t>
            </a:r>
            <a:endParaRPr/>
          </a:p>
          <a:p>
            <a:pPr marL="0" marR="0" lvl="0" indent="0" algn="l" rtl="0">
              <a:spcBef>
                <a:spcPts val="200"/>
              </a:spcBef>
              <a:spcAft>
                <a:spcPts val="0"/>
              </a:spcAft>
              <a:buNone/>
            </a:pPr>
            <a:endParaRPr sz="17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[1]  FROM python:3.12-slim</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[2]  WORKDIR /app</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[3]  COPY requirements.txt .</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[4]  RUN pip install -r requirements.txt</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[5]  COPY . .</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[6]  CMD ["uvicorn", "app:app", ...]</a:t>
            </a:r>
            <a:endParaRPr/>
          </a:p>
          <a:p>
            <a:pPr marL="0" marR="0" lvl="0" indent="0" algn="l" rtl="0">
              <a:spcBef>
                <a:spcPts val="200"/>
              </a:spcBef>
              <a:spcAft>
                <a:spcPts val="0"/>
              </a:spcAft>
              <a:buNone/>
            </a:pPr>
            <a:endParaRPr sz="17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I change one line in app.py and run `docker build` again.</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Which layers get rebuilt?</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(a)  All six - a rebuild is a rebuild</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(b)  Just [5] - only the layer that copied app.py in</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(c)  [5] and [6] - that layer and everything after it</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(d)  [3] through [6] - everything that touches code</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30"/>
        <p:cNvGrpSpPr/>
        <p:nvPr/>
      </p:nvGrpSpPr>
      <p:grpSpPr>
        <a:xfrm>
          <a:off x="0" y="0"/>
          <a:ext cx="0" cy="0"/>
          <a:chOff x="0" y="0"/>
          <a:chExt cx="0" cy="0"/>
        </a:xfrm>
      </p:grpSpPr>
      <p:sp>
        <p:nvSpPr>
          <p:cNvPr id="331" name="Google Shape;331;g3e32708a311_0_62"/>
          <p:cNvSpPr txBox="1"/>
          <p:nvPr/>
        </p:nvSpPr>
        <p:spPr>
          <a:xfrm>
            <a:off x="731520" y="365760"/>
            <a:ext cx="10728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A1A2E"/>
                </a:solidFill>
                <a:latin typeface="Calibri"/>
                <a:ea typeface="Calibri"/>
                <a:cs typeface="Calibri"/>
                <a:sym typeface="Calibri"/>
              </a:rPr>
              <a:t>Ordering matters: bad vs good</a:t>
            </a:r>
            <a:endParaRPr/>
          </a:p>
        </p:txBody>
      </p:sp>
      <p:sp>
        <p:nvSpPr>
          <p:cNvPr id="332" name="Google Shape;332;g3e32708a311_0_62"/>
          <p:cNvSpPr txBox="1"/>
          <p:nvPr/>
        </p:nvSpPr>
        <p:spPr>
          <a:xfrm>
            <a:off x="9601200" y="1188720"/>
            <a:ext cx="1828800" cy="3078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Dockerfile</a:t>
            </a:r>
            <a:endParaRPr/>
          </a:p>
        </p:txBody>
      </p:sp>
      <p:sp>
        <p:nvSpPr>
          <p:cNvPr id="333" name="Google Shape;333;g3e32708a311_0_62"/>
          <p:cNvSpPr/>
          <p:nvPr/>
        </p:nvSpPr>
        <p:spPr>
          <a:xfrm>
            <a:off x="731520" y="1463040"/>
            <a:ext cx="10728600" cy="49377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34" name="Google Shape;334;g3e32708a311_0_62"/>
          <p:cNvSpPr txBox="1"/>
          <p:nvPr/>
        </p:nvSpPr>
        <p:spPr>
          <a:xfrm>
            <a:off x="1005840" y="1645920"/>
            <a:ext cx="10179900" cy="2360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i="0" u="none" strike="noStrike" cap="none">
                <a:solidFill>
                  <a:srgbClr val="333344"/>
                </a:solidFill>
                <a:latin typeface="Courier New"/>
                <a:ea typeface="Courier New"/>
                <a:cs typeface="Courier New"/>
                <a:sym typeface="Courier New"/>
              </a:rPr>
              <a:t># BAD - code copied before deps</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FROM python:3.12-slim</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WORKDIR /app</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COPY . .                          # invalidates cache on every code change</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RUN pip install -r requirements.txt</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CMD ["uvicorn", "app:app"]</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Every `app.py` edit triggers a full pip install. Slow.</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39"/>
        <p:cNvGrpSpPr/>
        <p:nvPr/>
      </p:nvGrpSpPr>
      <p:grpSpPr>
        <a:xfrm>
          <a:off x="0" y="0"/>
          <a:ext cx="0" cy="0"/>
          <a:chOff x="0" y="0"/>
          <a:chExt cx="0" cy="0"/>
        </a:xfrm>
      </p:grpSpPr>
      <p:sp>
        <p:nvSpPr>
          <p:cNvPr id="340" name="Google Shape;340;p18"/>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A1A2E"/>
                </a:solidFill>
                <a:latin typeface="Calibri"/>
                <a:ea typeface="Calibri"/>
                <a:cs typeface="Calibri"/>
                <a:sym typeface="Calibri"/>
              </a:rPr>
              <a:t>Ordering matters: bad vs good</a:t>
            </a:r>
            <a:endParaRPr/>
          </a:p>
        </p:txBody>
      </p:sp>
      <p:sp>
        <p:nvSpPr>
          <p:cNvPr id="341" name="Google Shape;341;p18"/>
          <p:cNvSpPr txBox="1"/>
          <p:nvPr/>
        </p:nvSpPr>
        <p:spPr>
          <a:xfrm>
            <a:off x="9601200" y="1188720"/>
            <a:ext cx="1828800" cy="36576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Dockerfile</a:t>
            </a:r>
            <a:endParaRPr/>
          </a:p>
        </p:txBody>
      </p:sp>
      <p:sp>
        <p:nvSpPr>
          <p:cNvPr id="342" name="Google Shape;342;p18"/>
          <p:cNvSpPr/>
          <p:nvPr/>
        </p:nvSpPr>
        <p:spPr>
          <a:xfrm>
            <a:off x="731520" y="1463040"/>
            <a:ext cx="10728655" cy="493776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3" name="Google Shape;343;p18"/>
          <p:cNvSpPr txBox="1"/>
          <p:nvPr/>
        </p:nvSpPr>
        <p:spPr>
          <a:xfrm>
            <a:off x="1005840" y="1645920"/>
            <a:ext cx="10180015" cy="4572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i="0" u="none" strike="noStrike" cap="none">
                <a:solidFill>
                  <a:srgbClr val="333344"/>
                </a:solidFill>
                <a:latin typeface="Courier New"/>
                <a:ea typeface="Courier New"/>
                <a:cs typeface="Courier New"/>
                <a:sym typeface="Courier New"/>
              </a:rPr>
              <a:t># BAD - code copied before deps</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FROM python:3.12-slim</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WORKDIR /app</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COPY . .                          # invalidates cache on every code change</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RUN pip install -r requirements.txt</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CMD ["uvicorn", "app:app"]</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Every `app.py` edit triggers a full pip install. Slow.</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GOOD - deps copied and installed first</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FROM python:3.12-slim</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WORKDIR /app</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COPY requirements.txt .            # cache invalidates only when deps change</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RUN pip install -r requirements.txt</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COPY . .                           # only this layer rebuilds on code change</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CMD ["uvicorn", "app:app"]</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Code edits rebuild in 2 seconds. Deps change rebuilds in 30.</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EDE9FE"/>
        </a:solidFill>
        <a:effectLst/>
      </p:bgPr>
    </p:bg>
    <p:spTree>
      <p:nvGrpSpPr>
        <p:cNvPr id="1" name="Shape 348"/>
        <p:cNvGrpSpPr/>
        <p:nvPr/>
      </p:nvGrpSpPr>
      <p:grpSpPr>
        <a:xfrm>
          <a:off x="0" y="0"/>
          <a:ext cx="0" cy="0"/>
          <a:chOff x="0" y="0"/>
          <a:chExt cx="0" cy="0"/>
        </a:xfrm>
      </p:grpSpPr>
      <p:sp>
        <p:nvSpPr>
          <p:cNvPr id="349" name="Google Shape;349;p19"/>
          <p:cNvSpPr txBox="1"/>
          <p:nvPr/>
        </p:nvSpPr>
        <p:spPr>
          <a:xfrm>
            <a:off x="914400" y="2286000"/>
            <a:ext cx="10362895" cy="2286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b="1" i="0" u="none" strike="noStrike" cap="none">
                <a:solidFill>
                  <a:srgbClr val="5B21B6"/>
                </a:solidFill>
                <a:latin typeface="Calibri"/>
                <a:ea typeface="Calibri"/>
                <a:cs typeface="Calibri"/>
                <a:sym typeface="Calibri"/>
              </a:rPr>
              <a:t>Building and Running</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54"/>
        <p:cNvGrpSpPr/>
        <p:nvPr/>
      </p:nvGrpSpPr>
      <p:grpSpPr>
        <a:xfrm>
          <a:off x="0" y="0"/>
          <a:ext cx="0" cy="0"/>
          <a:chOff x="0" y="0"/>
          <a:chExt cx="0" cy="0"/>
        </a:xfrm>
      </p:grpSpPr>
      <p:sp>
        <p:nvSpPr>
          <p:cNvPr id="355" name="Google Shape;355;p20"/>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A1A2E"/>
                </a:solidFill>
                <a:latin typeface="Calibri"/>
                <a:ea typeface="Calibri"/>
                <a:cs typeface="Calibri"/>
                <a:sym typeface="Calibri"/>
              </a:rPr>
              <a:t>Building an image</a:t>
            </a:r>
            <a:endParaRPr/>
          </a:p>
        </p:txBody>
      </p:sp>
      <p:sp>
        <p:nvSpPr>
          <p:cNvPr id="356" name="Google Shape;356;p20"/>
          <p:cNvSpPr txBox="1"/>
          <p:nvPr/>
        </p:nvSpPr>
        <p:spPr>
          <a:xfrm>
            <a:off x="9601200" y="1188720"/>
            <a:ext cx="1828800" cy="36576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bash</a:t>
            </a:r>
            <a:endParaRPr/>
          </a:p>
        </p:txBody>
      </p:sp>
      <p:sp>
        <p:nvSpPr>
          <p:cNvPr id="357" name="Google Shape;357;p20"/>
          <p:cNvSpPr/>
          <p:nvPr/>
        </p:nvSpPr>
        <p:spPr>
          <a:xfrm>
            <a:off x="731520" y="1463040"/>
            <a:ext cx="10728655" cy="493776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58" name="Google Shape;358;p20"/>
          <p:cNvSpPr txBox="1"/>
          <p:nvPr/>
        </p:nvSpPr>
        <p:spPr>
          <a:xfrm>
            <a:off x="1005840" y="1645920"/>
            <a:ext cx="10179900" cy="4663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700" b="1" i="0" u="none" strike="noStrike" cap="none">
                <a:solidFill>
                  <a:srgbClr val="333344"/>
                </a:solidFill>
                <a:latin typeface="Courier New"/>
                <a:ea typeface="Courier New"/>
                <a:cs typeface="Courier New"/>
                <a:sym typeface="Courier New"/>
              </a:rPr>
              <a:t># From the directory with the Dockerfile:</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docker build -t chat-app .</a:t>
            </a:r>
            <a:endParaRPr/>
          </a:p>
          <a:p>
            <a:pPr marL="0" marR="0" lvl="0" indent="0" algn="l" rtl="0">
              <a:spcBef>
                <a:spcPts val="200"/>
              </a:spcBef>
              <a:spcAft>
                <a:spcPts val="0"/>
              </a:spcAft>
              <a:buNone/>
            </a:pPr>
            <a:endParaRPr sz="17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Building 2.3s (10/10) FINISHED</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=&gt; [1/6] FROM docker.io/library/python:3.12-slim          0.0s</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=&gt; [2/6] WORKDIR /app                                     0.0s</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=&gt; [3/6] COPY requirements.txt .                          0.0s</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=&gt; [4/6] RUN pip install -r requirements.txt              1.9s</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=&gt; [5/6] COPY . .                                         0.1s</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=&gt; [6/6] [...]                                            0.0s</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=&gt; exporting to image                                     0.2s</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=&gt; =&gt; naming to docker.io/library/chat-app                0.0s</a:t>
            </a:r>
            <a:endParaRPr/>
          </a:p>
          <a:p>
            <a:pPr marL="0" marR="0" lvl="0" indent="0" algn="l" rtl="0">
              <a:spcBef>
                <a:spcPts val="200"/>
              </a:spcBef>
              <a:spcAft>
                <a:spcPts val="0"/>
              </a:spcAft>
              <a:buNone/>
            </a:pPr>
            <a:endParaRPr sz="17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sz="17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-t chat-app  - tag the resulting image with this name</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            - the build context (directory Docker copies FROM)</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63"/>
        <p:cNvGrpSpPr/>
        <p:nvPr/>
      </p:nvGrpSpPr>
      <p:grpSpPr>
        <a:xfrm>
          <a:off x="0" y="0"/>
          <a:ext cx="0" cy="0"/>
          <a:chOff x="0" y="0"/>
          <a:chExt cx="0" cy="0"/>
        </a:xfrm>
      </p:grpSpPr>
      <p:sp>
        <p:nvSpPr>
          <p:cNvPr id="364" name="Google Shape;364;g3e32708a311_0_70"/>
          <p:cNvSpPr txBox="1"/>
          <p:nvPr/>
        </p:nvSpPr>
        <p:spPr>
          <a:xfrm>
            <a:off x="731520" y="365760"/>
            <a:ext cx="10728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A1A2E"/>
                </a:solidFill>
                <a:latin typeface="Calibri"/>
                <a:ea typeface="Calibri"/>
                <a:cs typeface="Calibri"/>
                <a:sym typeface="Calibri"/>
              </a:rPr>
              <a:t>Running a container from the image</a:t>
            </a:r>
            <a:endParaRPr/>
          </a:p>
        </p:txBody>
      </p:sp>
      <p:sp>
        <p:nvSpPr>
          <p:cNvPr id="365" name="Google Shape;365;g3e32708a311_0_70"/>
          <p:cNvSpPr txBox="1"/>
          <p:nvPr/>
        </p:nvSpPr>
        <p:spPr>
          <a:xfrm>
            <a:off x="9601200" y="1188720"/>
            <a:ext cx="1828800" cy="3078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bash</a:t>
            </a:r>
            <a:endParaRPr/>
          </a:p>
        </p:txBody>
      </p:sp>
      <p:sp>
        <p:nvSpPr>
          <p:cNvPr id="366" name="Google Shape;366;g3e32708a311_0_70"/>
          <p:cNvSpPr/>
          <p:nvPr/>
        </p:nvSpPr>
        <p:spPr>
          <a:xfrm>
            <a:off x="731520" y="1463040"/>
            <a:ext cx="10728600" cy="49377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67" name="Google Shape;367;g3e32708a311_0_70"/>
          <p:cNvSpPr txBox="1"/>
          <p:nvPr/>
        </p:nvSpPr>
        <p:spPr>
          <a:xfrm>
            <a:off x="1005840" y="1645920"/>
            <a:ext cx="10179900" cy="2616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i="0" u="none" strike="noStrike" cap="none">
                <a:solidFill>
                  <a:srgbClr val="333344"/>
                </a:solidFill>
                <a:latin typeface="Courier New"/>
                <a:ea typeface="Courier New"/>
                <a:cs typeface="Courier New"/>
                <a:sym typeface="Courier New"/>
              </a:rPr>
              <a:t>$ docker run -p 8000:8000 chat-app</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INFO:     Uvicorn running on http://0.0.0.0:8000</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INFO:     Application startup complete.</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-p 8000:8000 means: map host port 8000 -&gt; container port 8000</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Now http://localhost:8000 on your laptop reaches the container.</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72"/>
        <p:cNvGrpSpPr/>
        <p:nvPr/>
      </p:nvGrpSpPr>
      <p:grpSpPr>
        <a:xfrm>
          <a:off x="0" y="0"/>
          <a:ext cx="0" cy="0"/>
          <a:chOff x="0" y="0"/>
          <a:chExt cx="0" cy="0"/>
        </a:xfrm>
      </p:grpSpPr>
      <p:sp>
        <p:nvSpPr>
          <p:cNvPr id="373" name="Google Shape;373;p21"/>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A1A2E"/>
                </a:solidFill>
                <a:latin typeface="Calibri"/>
                <a:ea typeface="Calibri"/>
                <a:cs typeface="Calibri"/>
                <a:sym typeface="Calibri"/>
              </a:rPr>
              <a:t>Running a container from the image</a:t>
            </a:r>
            <a:endParaRPr/>
          </a:p>
        </p:txBody>
      </p:sp>
      <p:sp>
        <p:nvSpPr>
          <p:cNvPr id="374" name="Google Shape;374;p21"/>
          <p:cNvSpPr txBox="1"/>
          <p:nvPr/>
        </p:nvSpPr>
        <p:spPr>
          <a:xfrm>
            <a:off x="9601200" y="1188720"/>
            <a:ext cx="1828800" cy="36576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bash</a:t>
            </a:r>
            <a:endParaRPr/>
          </a:p>
        </p:txBody>
      </p:sp>
      <p:sp>
        <p:nvSpPr>
          <p:cNvPr id="375" name="Google Shape;375;p21"/>
          <p:cNvSpPr/>
          <p:nvPr/>
        </p:nvSpPr>
        <p:spPr>
          <a:xfrm>
            <a:off x="731520" y="1463040"/>
            <a:ext cx="10728655" cy="493776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6" name="Google Shape;376;p21"/>
          <p:cNvSpPr txBox="1"/>
          <p:nvPr/>
        </p:nvSpPr>
        <p:spPr>
          <a:xfrm>
            <a:off x="1005840" y="1645920"/>
            <a:ext cx="10180015" cy="4572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i="0" u="none" strike="noStrike" cap="none">
                <a:solidFill>
                  <a:srgbClr val="333344"/>
                </a:solidFill>
                <a:latin typeface="Courier New"/>
                <a:ea typeface="Courier New"/>
                <a:cs typeface="Courier New"/>
                <a:sym typeface="Courier New"/>
              </a:rPr>
              <a:t>$ docker run -p 8000:8000 chat-app</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INFO:     Uvicorn running on http://0.0.0.0:8000</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INFO:     Application startup complete.</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-p 8000:8000 means: map host port 8000 -&gt; container port 8000</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Now http://localhost:8000 on your laptop reaches the container.</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To stop it, Ctrl-C in the terminal, or:</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docker ps                    # list running containers</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docker stop &lt;container-id&gt;   # stop a specific one</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To pass an environment variable at run time:</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docker run -p 8000:8000 -e DATABASE_URL=postgres://... chat-app</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81"/>
        <p:cNvGrpSpPr/>
        <p:nvPr/>
      </p:nvGrpSpPr>
      <p:grpSpPr>
        <a:xfrm>
          <a:off x="0" y="0"/>
          <a:ext cx="0" cy="0"/>
          <a:chOff x="0" y="0"/>
          <a:chExt cx="0" cy="0"/>
        </a:xfrm>
      </p:grpSpPr>
      <p:sp>
        <p:nvSpPr>
          <p:cNvPr id="382" name="Google Shape;382;p22"/>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A1A2E"/>
                </a:solidFill>
                <a:latin typeface="Calibri"/>
                <a:ea typeface="Calibri"/>
                <a:cs typeface="Calibri"/>
                <a:sym typeface="Calibri"/>
              </a:rPr>
              <a:t>Spot the bug: it runs, but the page won't load</a:t>
            </a:r>
            <a:endParaRPr/>
          </a:p>
        </p:txBody>
      </p:sp>
      <p:sp>
        <p:nvSpPr>
          <p:cNvPr id="383" name="Google Shape;383;p22"/>
          <p:cNvSpPr txBox="1"/>
          <p:nvPr/>
        </p:nvSpPr>
        <p:spPr>
          <a:xfrm>
            <a:off x="9601200" y="1188720"/>
            <a:ext cx="1828800" cy="36576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bash</a:t>
            </a:r>
            <a:endParaRPr/>
          </a:p>
        </p:txBody>
      </p:sp>
      <p:sp>
        <p:nvSpPr>
          <p:cNvPr id="384" name="Google Shape;384;p22"/>
          <p:cNvSpPr/>
          <p:nvPr/>
        </p:nvSpPr>
        <p:spPr>
          <a:xfrm>
            <a:off x="731520" y="1463040"/>
            <a:ext cx="10728655" cy="493776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85" name="Google Shape;385;p22"/>
          <p:cNvSpPr txBox="1"/>
          <p:nvPr/>
        </p:nvSpPr>
        <p:spPr>
          <a:xfrm>
            <a:off x="1005840" y="1645920"/>
            <a:ext cx="10180015" cy="4572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i="0" u="none" strike="noStrike" cap="none">
                <a:solidFill>
                  <a:srgbClr val="333344"/>
                </a:solidFill>
                <a:latin typeface="Courier New"/>
                <a:ea typeface="Courier New"/>
                <a:cs typeface="Courier New"/>
                <a:sym typeface="Courier New"/>
              </a:rPr>
              <a:t>$ docker run chat-app</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INFO:     Uvicorn running on http://0.0.0.0:8000</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INFO:     Application startup complete.</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The container is clearly up. In another terminal:</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docker ps</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CONTAINER ID   IMAGE      STATUS         PORTS</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3f9a1c2b...    chat-app   Up 4 seconds</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But http://localhost:8000 in your browser shows nothing.</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Connection refused. The app IS running. Why can't you reach it?</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(a)  uvicorn bound to the wrong address</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(b)  the run command is missing `-p 8000:8000`</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(c)  Docker isn't running</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(d)  you just have to wait longer for startup</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90"/>
        <p:cNvGrpSpPr/>
        <p:nvPr/>
      </p:nvGrpSpPr>
      <p:grpSpPr>
        <a:xfrm>
          <a:off x="0" y="0"/>
          <a:ext cx="0" cy="0"/>
          <a:chOff x="0" y="0"/>
          <a:chExt cx="0" cy="0"/>
        </a:xfrm>
      </p:grpSpPr>
      <p:sp>
        <p:nvSpPr>
          <p:cNvPr id="391" name="Google Shape;391;g3e32708a311_0_86"/>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What the port mapping actually does</a:t>
            </a:r>
            <a:endParaRPr/>
          </a:p>
        </p:txBody>
      </p:sp>
      <p:sp>
        <p:nvSpPr>
          <p:cNvPr id="392" name="Google Shape;392;g3e32708a311_0_86"/>
          <p:cNvSpPr txBox="1"/>
          <p:nvPr/>
        </p:nvSpPr>
        <p:spPr>
          <a:xfrm>
            <a:off x="914400" y="1463040"/>
            <a:ext cx="10362900" cy="235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Inside the container, your FastAPI app binds to port 8000 --</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but that 8000 is the CONTAINER's port, not your laptop's.</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By default, the container is isolated: nobody outside it can connect.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You have to explicitly open a port.</a:t>
            </a:r>
            <a:endParaRPr/>
          </a:p>
          <a:p>
            <a:pPr marL="457200" marR="0" lvl="1" indent="0" algn="l" rtl="0">
              <a:spcBef>
                <a:spcPts val="600"/>
              </a:spcBef>
              <a:spcAft>
                <a:spcPts val="0"/>
              </a:spcAft>
              <a:buNone/>
            </a:pP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97"/>
        <p:cNvGrpSpPr/>
        <p:nvPr/>
      </p:nvGrpSpPr>
      <p:grpSpPr>
        <a:xfrm>
          <a:off x="0" y="0"/>
          <a:ext cx="0" cy="0"/>
          <a:chOff x="0" y="0"/>
          <a:chExt cx="0" cy="0"/>
        </a:xfrm>
      </p:grpSpPr>
      <p:sp>
        <p:nvSpPr>
          <p:cNvPr id="398" name="Google Shape;398;p23"/>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What the port mapping actually does</a:t>
            </a:r>
            <a:endParaRPr/>
          </a:p>
        </p:txBody>
      </p:sp>
      <p:sp>
        <p:nvSpPr>
          <p:cNvPr id="399" name="Google Shape;399;p23"/>
          <p:cNvSpPr txBox="1"/>
          <p:nvPr/>
        </p:nvSpPr>
        <p:spPr>
          <a:xfrm>
            <a:off x="914400" y="1463040"/>
            <a:ext cx="10362900" cy="4433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Inside the container, your FastAPI app binds to port 8000 --</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but that 8000 is the CONTAINER's port, not your laptop's.</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By default, the container is isolated: nobody outside it can connect.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You have to explicitly open a port.</a:t>
            </a: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ourier Prime"/>
                <a:ea typeface="Courier Prime"/>
                <a:cs typeface="Courier Prime"/>
                <a:sym typeface="Courier Prime"/>
              </a:rPr>
              <a:t>-p 8000:8000</a:t>
            </a:r>
            <a:r>
              <a:rPr lang="en-US" sz="2000" b="0" i="0" u="none" strike="noStrike" cap="none">
                <a:solidFill>
                  <a:srgbClr val="666677"/>
                </a:solidFill>
                <a:latin typeface="Calibri"/>
                <a:ea typeface="Calibri"/>
                <a:cs typeface="Calibri"/>
                <a:sym typeface="Calibri"/>
              </a:rPr>
              <a:t> means "forward my laptop's port 8000 to</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the container's port 8000." Format: `host:container`.</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To run multiple containers without conflicts, remap the host side.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ourier Prime"/>
                <a:ea typeface="Courier Prime"/>
                <a:cs typeface="Courier Prime"/>
                <a:sym typeface="Courier Prime"/>
              </a:rPr>
              <a:t>-p 9000:8000</a:t>
            </a:r>
            <a:r>
              <a:rPr lang="en-US" sz="2000" b="0" i="0" u="none" strike="noStrike" cap="none">
                <a:solidFill>
                  <a:srgbClr val="666677"/>
                </a:solidFill>
                <a:latin typeface="Calibri"/>
                <a:ea typeface="Calibri"/>
                <a:cs typeface="Calibri"/>
                <a:sym typeface="Calibri"/>
              </a:rPr>
              <a:t> exposes the container at `localhost:9000`</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on your laptop while the app inside still binds to 8000.</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04"/>
        <p:cNvGrpSpPr/>
        <p:nvPr/>
      </p:nvGrpSpPr>
      <p:grpSpPr>
        <a:xfrm>
          <a:off x="0" y="0"/>
          <a:ext cx="0" cy="0"/>
          <a:chOff x="0" y="0"/>
          <a:chExt cx="0" cy="0"/>
        </a:xfrm>
      </p:grpSpPr>
      <p:sp>
        <p:nvSpPr>
          <p:cNvPr id="405" name="Google Shape;405;g3e346b600eb_0_0"/>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An image has to live somewhere</a:t>
            </a:r>
            <a:endParaRPr/>
          </a:p>
        </p:txBody>
      </p:sp>
      <p:sp>
        <p:nvSpPr>
          <p:cNvPr id="406" name="Google Shape;406;g3e346b600eb_0_0"/>
          <p:cNvSpPr txBox="1"/>
          <p:nvPr/>
        </p:nvSpPr>
        <p:spPr>
          <a:xfrm>
            <a:off x="914400" y="1463050"/>
            <a:ext cx="10850400" cy="4048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333344"/>
                </a:solidFill>
                <a:latin typeface="Courier Prime"/>
                <a:ea typeface="Courier Prime"/>
                <a:cs typeface="Courier Prime"/>
                <a:sym typeface="Courier Prime"/>
              </a:rPr>
              <a:t>docker build</a:t>
            </a:r>
            <a:r>
              <a:rPr lang="en-US" sz="2400" b="0" i="0" u="none" strike="noStrike" cap="none">
                <a:solidFill>
                  <a:srgbClr val="333344"/>
                </a:solidFill>
                <a:latin typeface="Calibri"/>
                <a:ea typeface="Calibri"/>
                <a:cs typeface="Calibri"/>
                <a:sym typeface="Calibri"/>
              </a:rPr>
              <a:t> creates the image, but it only puts it one place: the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local image store on the machine that ran the build.</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a:solidFill>
                  <a:srgbClr val="333344"/>
                </a:solidFill>
                <a:latin typeface="Calibri"/>
                <a:ea typeface="Calibri"/>
                <a:cs typeface="Calibri"/>
                <a:sym typeface="Calibri"/>
              </a:rPr>
              <a:t>Getting it to the cloud requires</a:t>
            </a:r>
            <a:r>
              <a:rPr lang="en-US" sz="2400" b="0" i="0" u="none" strike="noStrike" cap="none">
                <a:solidFill>
                  <a:srgbClr val="333344"/>
                </a:solidFill>
                <a:latin typeface="Calibri"/>
                <a:ea typeface="Calibri"/>
                <a:cs typeface="Calibri"/>
                <a:sym typeface="Calibri"/>
              </a:rPr>
              <a:t> a </a:t>
            </a:r>
            <a:r>
              <a:rPr lang="en-US" sz="2400" b="1" i="0" u="none" strike="noStrike" cap="none">
                <a:solidFill>
                  <a:srgbClr val="333344"/>
                </a:solidFill>
                <a:latin typeface="Calibri"/>
                <a:ea typeface="Calibri"/>
                <a:cs typeface="Calibri"/>
                <a:sym typeface="Calibri"/>
              </a:rPr>
              <a:t>registry</a:t>
            </a:r>
            <a:r>
              <a:rPr lang="en-US" sz="2400" b="0" i="0" u="none" strike="noStrike" cap="none">
                <a:solidFill>
                  <a:srgbClr val="333344"/>
                </a:solidFill>
                <a:latin typeface="Calibri"/>
                <a:ea typeface="Calibri"/>
                <a:cs typeface="Calibri"/>
                <a:sym typeface="Calibri"/>
              </a:rPr>
              <a:t> - a server </a:t>
            </a:r>
            <a:r>
              <a:rPr lang="en-US" sz="2400">
                <a:solidFill>
                  <a:srgbClr val="333344"/>
                </a:solidFill>
                <a:latin typeface="Calibri"/>
                <a:ea typeface="Calibri"/>
                <a:cs typeface="Calibri"/>
                <a:sym typeface="Calibri"/>
              </a:rPr>
              <a:t>that stores</a:t>
            </a:r>
            <a:r>
              <a:rPr lang="en-US" sz="2400" b="0" i="0" u="none" strike="noStrike" cap="none">
                <a:solidFill>
                  <a:srgbClr val="333344"/>
                </a:solidFill>
                <a:latin typeface="Calibri"/>
                <a:ea typeface="Calibri"/>
                <a:cs typeface="Calibri"/>
                <a:sym typeface="Calibri"/>
              </a:rPr>
              <a:t> and hands out images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Docker Hub, GitHub Container Registry (GHCR),</a:t>
            </a:r>
            <a:r>
              <a:rPr lang="en-US"/>
              <a:t> </a:t>
            </a:r>
            <a:r>
              <a:rPr lang="en-US" sz="2000" b="0" i="0" u="none" strike="noStrike" cap="none">
                <a:solidFill>
                  <a:srgbClr val="666677"/>
                </a:solidFill>
                <a:latin typeface="Calibri"/>
                <a:ea typeface="Calibri"/>
                <a:cs typeface="Calibri"/>
                <a:sym typeface="Calibri"/>
              </a:rPr>
              <a:t>and the cloud providers each run one.</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ourier Prime"/>
                <a:ea typeface="Courier Prime"/>
                <a:cs typeface="Courier Prime"/>
                <a:sym typeface="Courier Prime"/>
              </a:rPr>
              <a:t>docker push</a:t>
            </a:r>
            <a:r>
              <a:rPr lang="en-US" sz="2000" b="0" i="0" u="none" strike="noStrike" cap="none">
                <a:solidFill>
                  <a:srgbClr val="666677"/>
                </a:solidFill>
                <a:latin typeface="Calibri"/>
                <a:ea typeface="Calibri"/>
                <a:cs typeface="Calibri"/>
                <a:sym typeface="Calibri"/>
              </a:rPr>
              <a:t> uploads your image to a registry.</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ourier Prime"/>
                <a:ea typeface="Courier Prime"/>
                <a:cs typeface="Courier Prime"/>
                <a:sym typeface="Courier Prime"/>
              </a:rPr>
              <a:t>docker pull</a:t>
            </a:r>
            <a:r>
              <a:rPr lang="en-US" sz="2000" b="0" i="0" u="none" strike="noStrike" cap="none">
                <a:solidFill>
                  <a:srgbClr val="666677"/>
                </a:solidFill>
                <a:latin typeface="Calibri"/>
                <a:ea typeface="Calibri"/>
                <a:cs typeface="Calibri"/>
                <a:sym typeface="Calibri"/>
              </a:rPr>
              <a:t> downloads it onto any machine that needs it.</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You</a:t>
            </a:r>
            <a:r>
              <a:rPr lang="en-US" sz="2400">
                <a:solidFill>
                  <a:srgbClr val="333344"/>
                </a:solidFill>
                <a:latin typeface="Calibri"/>
                <a:ea typeface="Calibri"/>
                <a:cs typeface="Calibri"/>
                <a:sym typeface="Calibri"/>
              </a:rPr>
              <a:t> implicitly do this within a dockerfile</a:t>
            </a:r>
            <a:r>
              <a:rPr lang="en-US" sz="2400" b="0" i="0" u="none" strike="noStrike" cap="none">
                <a:solidFill>
                  <a:srgbClr val="333344"/>
                </a:solidFill>
                <a:latin typeface="Calibri"/>
                <a:ea typeface="Calibri"/>
                <a:cs typeface="Calibri"/>
                <a:sym typeface="Calibri"/>
              </a:rPr>
              <a:t>: </a:t>
            </a:r>
            <a:r>
              <a:rPr lang="en-US" sz="2400" b="1" i="0" u="none" strike="noStrike" cap="none">
                <a:solidFill>
                  <a:srgbClr val="333344"/>
                </a:solidFill>
                <a:latin typeface="Courier Prime"/>
                <a:ea typeface="Courier Prime"/>
                <a:cs typeface="Courier Prime"/>
                <a:sym typeface="Courier Prime"/>
              </a:rPr>
              <a:t>FROM python:3.12-slim</a:t>
            </a:r>
            <a:r>
              <a:rPr lang="en-US" sz="2400" b="0" i="0" u="none" strike="noStrike" cap="none">
                <a:solidFill>
                  <a:srgbClr val="333344"/>
                </a:solidFill>
                <a:latin typeface="Calibri"/>
                <a:ea typeface="Calibri"/>
                <a:cs typeface="Calibri"/>
                <a:sym typeface="Calibri"/>
              </a:rPr>
              <a:t> is a pull.</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11"/>
        <p:cNvGrpSpPr/>
        <p:nvPr/>
      </p:nvGrpSpPr>
      <p:grpSpPr>
        <a:xfrm>
          <a:off x="0" y="0"/>
          <a:ext cx="0" cy="0"/>
          <a:chOff x="0" y="0"/>
          <a:chExt cx="0" cy="0"/>
        </a:xfrm>
      </p:grpSpPr>
      <p:sp>
        <p:nvSpPr>
          <p:cNvPr id="412" name="Google Shape;412;g3e346b600eb_1_89"/>
          <p:cNvSpPr txBox="1"/>
          <p:nvPr/>
        </p:nvSpPr>
        <p:spPr>
          <a:xfrm>
            <a:off x="731520" y="365760"/>
            <a:ext cx="10728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A1A2E"/>
                </a:solidFill>
                <a:latin typeface="Calibri"/>
                <a:ea typeface="Calibri"/>
                <a:cs typeface="Calibri"/>
                <a:sym typeface="Calibri"/>
              </a:rPr>
              <a:t>Spot the bug: this image is about to be shared</a:t>
            </a:r>
            <a:endParaRPr/>
          </a:p>
        </p:txBody>
      </p:sp>
      <p:sp>
        <p:nvSpPr>
          <p:cNvPr id="413" name="Google Shape;413;g3e346b600eb_1_89"/>
          <p:cNvSpPr txBox="1"/>
          <p:nvPr/>
        </p:nvSpPr>
        <p:spPr>
          <a:xfrm>
            <a:off x="9601200" y="1188720"/>
            <a:ext cx="1828800" cy="3078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Dockerfile</a:t>
            </a:r>
            <a:endParaRPr/>
          </a:p>
        </p:txBody>
      </p:sp>
      <p:sp>
        <p:nvSpPr>
          <p:cNvPr id="414" name="Google Shape;414;g3e346b600eb_1_89"/>
          <p:cNvSpPr/>
          <p:nvPr/>
        </p:nvSpPr>
        <p:spPr>
          <a:xfrm>
            <a:off x="731520" y="1463040"/>
            <a:ext cx="10728600" cy="49377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15" name="Google Shape;415;g3e346b600eb_1_89"/>
          <p:cNvSpPr txBox="1"/>
          <p:nvPr/>
        </p:nvSpPr>
        <p:spPr>
          <a:xfrm>
            <a:off x="1005840" y="1645920"/>
            <a:ext cx="10179900" cy="2616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i="0" u="none" strike="noStrike" cap="none">
                <a:solidFill>
                  <a:srgbClr val="333344"/>
                </a:solidFill>
                <a:latin typeface="Courier New"/>
                <a:ea typeface="Courier New"/>
                <a:cs typeface="Courier New"/>
                <a:sym typeface="Courier New"/>
              </a:rPr>
              <a:t># Your project directory, </a:t>
            </a:r>
            <a:r>
              <a:rPr lang="en-US" sz="1500" b="1">
                <a:solidFill>
                  <a:srgbClr val="333344"/>
                </a:solidFill>
                <a:latin typeface="Courier New"/>
                <a:ea typeface="Courier New"/>
                <a:cs typeface="Courier New"/>
                <a:sym typeface="Courier New"/>
              </a:rPr>
              <a:t>after our previous class</a:t>
            </a:r>
            <a:r>
              <a:rPr lang="en-US" sz="1500" b="1" i="0" u="none" strike="noStrike" cap="none">
                <a:solidFill>
                  <a:srgbClr val="333344"/>
                </a:solidFill>
                <a:latin typeface="Courier New"/>
                <a:ea typeface="Courier New"/>
                <a:cs typeface="Courier New"/>
                <a:sym typeface="Courier New"/>
              </a:rPr>
              <a:t>:</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chat-app/</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app.py   requirements.txt   Dockerfile</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.env          &lt;-- DATABASE_URL, SUPABASE_JWT_SECRET, ...</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Your Dockerfile copies the project in the usual way:</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COPY requirements.txt .</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RUN pip install -r requirements.txt</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COPY . .</a:t>
            </a:r>
            <a:endParaRPr/>
          </a:p>
          <a:p>
            <a:pPr marL="0" marR="0" lvl="0" indent="0" algn="l" rtl="0">
              <a:spcBef>
                <a:spcPts val="200"/>
              </a:spcBef>
              <a:spcAft>
                <a:spcPts val="0"/>
              </a:spcAft>
              <a:buNone/>
            </a:pP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20"/>
        <p:cNvGrpSpPr/>
        <p:nvPr/>
      </p:nvGrpSpPr>
      <p:grpSpPr>
        <a:xfrm>
          <a:off x="0" y="0"/>
          <a:ext cx="0" cy="0"/>
          <a:chOff x="0" y="0"/>
          <a:chExt cx="0" cy="0"/>
        </a:xfrm>
      </p:grpSpPr>
      <p:sp>
        <p:nvSpPr>
          <p:cNvPr id="421" name="Google Shape;421;g3e346b600eb_1_0"/>
          <p:cNvSpPr txBox="1"/>
          <p:nvPr/>
        </p:nvSpPr>
        <p:spPr>
          <a:xfrm>
            <a:off x="731520" y="365760"/>
            <a:ext cx="10728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A1A2E"/>
                </a:solidFill>
                <a:latin typeface="Calibri"/>
                <a:ea typeface="Calibri"/>
                <a:cs typeface="Calibri"/>
                <a:sym typeface="Calibri"/>
              </a:rPr>
              <a:t>Spot the bug: this image is about to be shared</a:t>
            </a:r>
            <a:endParaRPr/>
          </a:p>
        </p:txBody>
      </p:sp>
      <p:sp>
        <p:nvSpPr>
          <p:cNvPr id="422" name="Google Shape;422;g3e346b600eb_1_0"/>
          <p:cNvSpPr txBox="1"/>
          <p:nvPr/>
        </p:nvSpPr>
        <p:spPr>
          <a:xfrm>
            <a:off x="9601200" y="1188720"/>
            <a:ext cx="1828800" cy="3078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Dockerfile</a:t>
            </a:r>
            <a:endParaRPr/>
          </a:p>
        </p:txBody>
      </p:sp>
      <p:sp>
        <p:nvSpPr>
          <p:cNvPr id="423" name="Google Shape;423;g3e346b600eb_1_0"/>
          <p:cNvSpPr/>
          <p:nvPr/>
        </p:nvSpPr>
        <p:spPr>
          <a:xfrm>
            <a:off x="731520" y="1463040"/>
            <a:ext cx="10728600" cy="49377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24" name="Google Shape;424;g3e346b600eb_1_0"/>
          <p:cNvSpPr txBox="1"/>
          <p:nvPr/>
        </p:nvSpPr>
        <p:spPr>
          <a:xfrm>
            <a:off x="1005840" y="1645920"/>
            <a:ext cx="10179900" cy="4427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i="0" u="none" strike="noStrike" cap="none">
                <a:solidFill>
                  <a:srgbClr val="333344"/>
                </a:solidFill>
                <a:latin typeface="Courier New"/>
                <a:ea typeface="Courier New"/>
                <a:cs typeface="Courier New"/>
                <a:sym typeface="Courier New"/>
              </a:rPr>
              <a:t># Your project directory, </a:t>
            </a:r>
            <a:r>
              <a:rPr lang="en-US" sz="1500" b="1">
                <a:solidFill>
                  <a:srgbClr val="333344"/>
                </a:solidFill>
                <a:latin typeface="Courier New"/>
                <a:ea typeface="Courier New"/>
                <a:cs typeface="Courier New"/>
                <a:sym typeface="Courier New"/>
              </a:rPr>
              <a:t>after our previous class</a:t>
            </a:r>
            <a:r>
              <a:rPr lang="en-US" sz="1500" b="1" i="0" u="none" strike="noStrike" cap="none">
                <a:solidFill>
                  <a:srgbClr val="333344"/>
                </a:solidFill>
                <a:latin typeface="Courier New"/>
                <a:ea typeface="Courier New"/>
                <a:cs typeface="Courier New"/>
                <a:sym typeface="Courier New"/>
              </a:rPr>
              <a:t>:</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chat-app/</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app.py   requirements.txt   Dockerfile</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.env          &lt;-- DATABASE_URL, SUPABASE_JWT_SECRET, ...</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Your Dockerfile copies the project in the usual way:</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COPY requirements.txt .</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RUN pip install -r requirements.txt</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COPY . .</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You build the image and `docker push` it to a registry so a</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teammate can pull it. What did you just publish?</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(a)  nothing extra - Docker ignores .env files automatically</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(b)  your code and dependencies, exactly what you wanted</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(c)  all of (b), plus your real secrets, baked into a layer</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anyone who pulls the image can read</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29"/>
        <p:cNvGrpSpPr/>
        <p:nvPr/>
      </p:nvGrpSpPr>
      <p:grpSpPr>
        <a:xfrm>
          <a:off x="0" y="0"/>
          <a:ext cx="0" cy="0"/>
          <a:chOff x="0" y="0"/>
          <a:chExt cx="0" cy="0"/>
        </a:xfrm>
      </p:grpSpPr>
      <p:sp>
        <p:nvSpPr>
          <p:cNvPr id="430" name="Google Shape;430;g3e346b600eb_1_8"/>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Keep config out of the image</a:t>
            </a:r>
            <a:endParaRPr/>
          </a:p>
        </p:txBody>
      </p:sp>
      <p:sp>
        <p:nvSpPr>
          <p:cNvPr id="431" name="Google Shape;431;g3e346b600eb_1_8"/>
          <p:cNvSpPr txBox="1"/>
          <p:nvPr/>
        </p:nvSpPr>
        <p:spPr>
          <a:xfrm>
            <a:off x="914400" y="1463040"/>
            <a:ext cx="10362900" cy="1523700"/>
          </a:xfrm>
          <a:prstGeom prst="rect">
            <a:avLst/>
          </a:prstGeom>
          <a:noFill/>
          <a:ln>
            <a:noFill/>
          </a:ln>
        </p:spPr>
        <p:txBody>
          <a:bodyPr spcFirstLastPara="1" wrap="square" lIns="91425" tIns="45700" rIns="91425" bIns="45700" anchor="t" anchorCtr="0">
            <a:spAutoFit/>
          </a:bodyPr>
          <a:lstStyle/>
          <a:p>
            <a:pPr marL="0" marR="0" lvl="0" indent="0" algn="l" rtl="0">
              <a:spcBef>
                <a:spcPts val="600"/>
              </a:spcBef>
              <a:spcAft>
                <a:spcPts val="0"/>
              </a:spcAft>
              <a:buNone/>
            </a:pPr>
            <a:r>
              <a:rPr lang="en-US" sz="2400" b="1" i="0" u="none" strike="noStrike" cap="none">
                <a:solidFill>
                  <a:srgbClr val="333344"/>
                </a:solidFill>
                <a:latin typeface="Calibri"/>
                <a:ea typeface="Calibri"/>
                <a:cs typeface="Calibri"/>
                <a:sym typeface="Calibri"/>
              </a:rPr>
              <a:t>Build time - a </a:t>
            </a:r>
            <a:r>
              <a:rPr lang="en-US" sz="2400" b="1" i="0" u="none" strike="noStrike" cap="none">
                <a:solidFill>
                  <a:srgbClr val="333344"/>
                </a:solidFill>
                <a:latin typeface="Courier Prime"/>
                <a:ea typeface="Courier Prime"/>
                <a:cs typeface="Courier Prime"/>
                <a:sym typeface="Courier Prime"/>
              </a:rPr>
              <a:t>.dockerignore</a:t>
            </a:r>
            <a:r>
              <a:rPr lang="en-US" sz="2400" b="1" i="0" u="none" strike="noStrike" cap="none">
                <a:solidFill>
                  <a:srgbClr val="333344"/>
                </a:solidFill>
                <a:latin typeface="Calibri"/>
                <a:ea typeface="Calibri"/>
                <a:cs typeface="Calibri"/>
                <a:sym typeface="Calibri"/>
              </a:rPr>
              <a:t> file.</a:t>
            </a:r>
            <a:r>
              <a:rPr lang="en-US" sz="2400" b="0" i="0" u="none" strike="noStrike" cap="none">
                <a:solidFill>
                  <a:srgbClr val="333344"/>
                </a:solidFill>
                <a:latin typeface="Calibri"/>
                <a:ea typeface="Calibri"/>
                <a:cs typeface="Calibri"/>
                <a:sym typeface="Calibri"/>
              </a:rPr>
              <a:t> Same idea as </a:t>
            </a:r>
            <a:r>
              <a:rPr lang="en-US" sz="2400" b="1" i="0" u="none" strike="noStrike" cap="none">
                <a:solidFill>
                  <a:srgbClr val="333344"/>
                </a:solidFill>
                <a:latin typeface="Courier Prime"/>
                <a:ea typeface="Courier Prime"/>
                <a:cs typeface="Courier Prime"/>
                <a:sym typeface="Courier Prime"/>
              </a:rPr>
              <a:t>.gitignore</a:t>
            </a:r>
            <a:r>
              <a:rPr lang="en-US" sz="2400" b="0" i="0" u="none" strike="noStrike" cap="none">
                <a:solidFill>
                  <a:srgbClr val="333344"/>
                </a:solidFill>
                <a:latin typeface="Calibri"/>
                <a:ea typeface="Calibri"/>
                <a:cs typeface="Calibri"/>
                <a:sym typeface="Calibri"/>
              </a:rPr>
              <a: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list `.env`, `.git`, `__pycache__`, and `COPY . .` skips them.</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Nothing secret ever ends up inside the image.</a:t>
            </a:r>
            <a:endParaRPr/>
          </a:p>
          <a:p>
            <a:pPr marL="0" marR="0" lvl="0" indent="0" algn="l" rtl="0">
              <a:spcBef>
                <a:spcPts val="600"/>
              </a:spcBef>
              <a:spcAft>
                <a:spcPts val="0"/>
              </a:spcAft>
              <a:buNone/>
            </a:pP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36"/>
        <p:cNvGrpSpPr/>
        <p:nvPr/>
      </p:nvGrpSpPr>
      <p:grpSpPr>
        <a:xfrm>
          <a:off x="0" y="0"/>
          <a:ext cx="0" cy="0"/>
          <a:chOff x="0" y="0"/>
          <a:chExt cx="0" cy="0"/>
        </a:xfrm>
      </p:grpSpPr>
      <p:sp>
        <p:nvSpPr>
          <p:cNvPr id="437" name="Google Shape;437;g3e346b600eb_1_97"/>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Keep config out of the image</a:t>
            </a:r>
            <a:endParaRPr/>
          </a:p>
        </p:txBody>
      </p:sp>
      <p:sp>
        <p:nvSpPr>
          <p:cNvPr id="438" name="Google Shape;438;g3e346b600eb_1_97"/>
          <p:cNvSpPr txBox="1"/>
          <p:nvPr/>
        </p:nvSpPr>
        <p:spPr>
          <a:xfrm>
            <a:off x="914400" y="1463040"/>
            <a:ext cx="10362900" cy="4048200"/>
          </a:xfrm>
          <a:prstGeom prst="rect">
            <a:avLst/>
          </a:prstGeom>
          <a:noFill/>
          <a:ln>
            <a:noFill/>
          </a:ln>
        </p:spPr>
        <p:txBody>
          <a:bodyPr spcFirstLastPara="1" wrap="square" lIns="91425" tIns="45700" rIns="91425" bIns="45700" anchor="t" anchorCtr="0">
            <a:spAutoFit/>
          </a:bodyPr>
          <a:lstStyle/>
          <a:p>
            <a:pPr marL="0" marR="0" lvl="0" indent="0" algn="l" rtl="0">
              <a:spcBef>
                <a:spcPts val="600"/>
              </a:spcBef>
              <a:spcAft>
                <a:spcPts val="0"/>
              </a:spcAft>
              <a:buNone/>
            </a:pPr>
            <a:r>
              <a:rPr lang="en-US" sz="2400" b="1" i="0" u="none" strike="noStrike" cap="none">
                <a:solidFill>
                  <a:srgbClr val="333344"/>
                </a:solidFill>
                <a:latin typeface="Calibri"/>
                <a:ea typeface="Calibri"/>
                <a:cs typeface="Calibri"/>
                <a:sym typeface="Calibri"/>
              </a:rPr>
              <a:t>Build time - a </a:t>
            </a:r>
            <a:r>
              <a:rPr lang="en-US" sz="2400" b="1" i="0" u="none" strike="noStrike" cap="none">
                <a:solidFill>
                  <a:srgbClr val="333344"/>
                </a:solidFill>
                <a:latin typeface="Courier Prime"/>
                <a:ea typeface="Courier Prime"/>
                <a:cs typeface="Courier Prime"/>
                <a:sym typeface="Courier Prime"/>
              </a:rPr>
              <a:t>.dockerignore</a:t>
            </a:r>
            <a:r>
              <a:rPr lang="en-US" sz="2400" b="1" i="0" u="none" strike="noStrike" cap="none">
                <a:solidFill>
                  <a:srgbClr val="333344"/>
                </a:solidFill>
                <a:latin typeface="Calibri"/>
                <a:ea typeface="Calibri"/>
                <a:cs typeface="Calibri"/>
                <a:sym typeface="Calibri"/>
              </a:rPr>
              <a:t> file.</a:t>
            </a:r>
            <a:r>
              <a:rPr lang="en-US" sz="2400" b="0" i="0" u="none" strike="noStrike" cap="none">
                <a:solidFill>
                  <a:srgbClr val="333344"/>
                </a:solidFill>
                <a:latin typeface="Calibri"/>
                <a:ea typeface="Calibri"/>
                <a:cs typeface="Calibri"/>
                <a:sym typeface="Calibri"/>
              </a:rPr>
              <a:t> Same idea as </a:t>
            </a:r>
            <a:r>
              <a:rPr lang="en-US" sz="2400" b="1" i="0" u="none" strike="noStrike" cap="none">
                <a:solidFill>
                  <a:srgbClr val="333344"/>
                </a:solidFill>
                <a:latin typeface="Courier Prime"/>
                <a:ea typeface="Courier Prime"/>
                <a:cs typeface="Courier Prime"/>
                <a:sym typeface="Courier Prime"/>
              </a:rPr>
              <a:t>.gitignore</a:t>
            </a:r>
            <a:r>
              <a:rPr lang="en-US" sz="2400" b="0" i="0" u="none" strike="noStrike" cap="none">
                <a:solidFill>
                  <a:srgbClr val="333344"/>
                </a:solidFill>
                <a:latin typeface="Calibri"/>
                <a:ea typeface="Calibri"/>
                <a:cs typeface="Calibri"/>
                <a:sym typeface="Calibri"/>
              </a:rPr>
              <a: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list `.env`, `.git`, `__pycache__`, and `COPY . .` skips them.</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Nothing secret ever ends up inside the image.</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1" i="0" u="none" strike="noStrike" cap="none">
                <a:solidFill>
                  <a:srgbClr val="333344"/>
                </a:solidFill>
                <a:latin typeface="Calibri"/>
                <a:ea typeface="Calibri"/>
                <a:cs typeface="Calibri"/>
                <a:sym typeface="Calibri"/>
              </a:rPr>
              <a:t>Run time - inject secrets when the container starts.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Image ships with none. </a:t>
            </a:r>
            <a:r>
              <a:rPr lang="en-US" sz="2000" b="1" i="0" u="none" strike="noStrike" cap="none">
                <a:solidFill>
                  <a:srgbClr val="666677"/>
                </a:solidFill>
                <a:latin typeface="Courier Prime"/>
                <a:ea typeface="Courier Prime"/>
                <a:cs typeface="Courier Prime"/>
                <a:sym typeface="Courier Prime"/>
              </a:rPr>
              <a:t>docker run -e KEY=value</a:t>
            </a:r>
            <a:r>
              <a:rPr lang="en-US" sz="2000" b="0" i="0" u="none" strike="noStrike" cap="none">
                <a:solidFill>
                  <a:srgbClr val="666677"/>
                </a:solidFill>
                <a:latin typeface="Calibri"/>
                <a:ea typeface="Calibri"/>
                <a:cs typeface="Calibri"/>
                <a:sym typeface="Calibri"/>
              </a:rPr>
              <a:t> or </a:t>
            </a:r>
            <a:r>
              <a:rPr lang="en-US" sz="2000" b="1" i="0" u="none" strike="noStrike" cap="none">
                <a:solidFill>
                  <a:srgbClr val="666677"/>
                </a:solidFill>
                <a:latin typeface="Courier Prime"/>
                <a:ea typeface="Courier Prime"/>
                <a:cs typeface="Courier Prime"/>
                <a:sym typeface="Courier Prime"/>
              </a:rPr>
              <a:t>--env-file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On Vercel/Railway the dashboard vars are injected for you.</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a:solidFill>
                  <a:srgbClr val="666677"/>
                </a:solidFill>
                <a:latin typeface="Calibri"/>
                <a:ea typeface="Calibri"/>
                <a:cs typeface="Calibri"/>
                <a:sym typeface="Calibri"/>
              </a:rPr>
              <a:t>Your code still </a:t>
            </a:r>
            <a:r>
              <a:rPr lang="en-US" sz="2000" b="0" i="0" u="none" strike="noStrike" cap="none">
                <a:solidFill>
                  <a:srgbClr val="666677"/>
                </a:solidFill>
                <a:latin typeface="Calibri"/>
                <a:ea typeface="Calibri"/>
                <a:cs typeface="Calibri"/>
                <a:sym typeface="Calibri"/>
              </a:rPr>
              <a:t>just reads </a:t>
            </a:r>
            <a:r>
              <a:rPr lang="en-US" sz="2000" b="1" i="0" u="none" strike="noStrike" cap="none">
                <a:solidFill>
                  <a:srgbClr val="666677"/>
                </a:solidFill>
                <a:latin typeface="Courier Prime"/>
                <a:ea typeface="Courier Prime"/>
                <a:cs typeface="Courier Prime"/>
                <a:sym typeface="Courier Prime"/>
              </a:rPr>
              <a:t>os.environ[...]</a:t>
            </a:r>
            <a:r>
              <a:rPr lang="en-US" sz="2000">
                <a:solidFill>
                  <a:srgbClr val="666677"/>
                </a:solidFill>
                <a:latin typeface="Calibri"/>
                <a:ea typeface="Calibri"/>
                <a:cs typeface="Calibri"/>
                <a:sym typeface="Calibri"/>
              </a:rPr>
              <a:t> like before</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The image stays the same everywhere; the config you pass in is what changes.</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EDE9FE"/>
        </a:solidFill>
        <a:effectLst/>
      </p:bgPr>
    </p:bg>
    <p:spTree>
      <p:nvGrpSpPr>
        <p:cNvPr id="1" name="Shape 443"/>
        <p:cNvGrpSpPr/>
        <p:nvPr/>
      </p:nvGrpSpPr>
      <p:grpSpPr>
        <a:xfrm>
          <a:off x="0" y="0"/>
          <a:ext cx="0" cy="0"/>
          <a:chOff x="0" y="0"/>
          <a:chExt cx="0" cy="0"/>
        </a:xfrm>
      </p:grpSpPr>
      <p:sp>
        <p:nvSpPr>
          <p:cNvPr id="444" name="Google Shape;444;p24"/>
          <p:cNvSpPr txBox="1"/>
          <p:nvPr/>
        </p:nvSpPr>
        <p:spPr>
          <a:xfrm>
            <a:off x="914400" y="2286000"/>
            <a:ext cx="10362895" cy="2286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b="1" i="0" u="none" strike="noStrike" cap="none">
                <a:solidFill>
                  <a:srgbClr val="5B21B6"/>
                </a:solidFill>
                <a:latin typeface="Calibri"/>
                <a:ea typeface="Calibri"/>
                <a:cs typeface="Calibri"/>
                <a:sym typeface="Calibri"/>
              </a:rPr>
              <a:t>Containers in the Wild</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49"/>
        <p:cNvGrpSpPr/>
        <p:nvPr/>
      </p:nvGrpSpPr>
      <p:grpSpPr>
        <a:xfrm>
          <a:off x="0" y="0"/>
          <a:ext cx="0" cy="0"/>
          <a:chOff x="0" y="0"/>
          <a:chExt cx="0" cy="0"/>
        </a:xfrm>
      </p:grpSpPr>
      <p:sp>
        <p:nvSpPr>
          <p:cNvPr id="450" name="Google Shape;450;p25"/>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Where you'll meet containers again</a:t>
            </a:r>
            <a:endParaRPr/>
          </a:p>
        </p:txBody>
      </p:sp>
      <p:sp>
        <p:nvSpPr>
          <p:cNvPr id="451" name="Google Shape;451;p25"/>
          <p:cNvSpPr txBox="1"/>
          <p:nvPr/>
        </p:nvSpPr>
        <p:spPr>
          <a:xfrm>
            <a:off x="914400" y="1463040"/>
            <a:ext cx="10362900" cy="4371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You'll see today's idea everywhere once you know its shape: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CI runners.</a:t>
            </a:r>
            <a:r>
              <a:rPr lang="en-US" sz="2000" b="0" i="0" u="none" strike="noStrike" cap="none">
                <a:solidFill>
                  <a:srgbClr val="666677"/>
                </a:solidFill>
                <a:latin typeface="Calibri"/>
                <a:ea typeface="Calibri"/>
                <a:cs typeface="Calibri"/>
                <a:sym typeface="Calibri"/>
              </a:rPr>
              <a:t> Next </a:t>
            </a:r>
            <a:r>
              <a:rPr lang="en-US" sz="2000">
                <a:solidFill>
                  <a:srgbClr val="666677"/>
                </a:solidFill>
                <a:latin typeface="Calibri"/>
                <a:ea typeface="Calibri"/>
                <a:cs typeface="Calibri"/>
                <a:sym typeface="Calibri"/>
              </a:rPr>
              <a:t>up</a:t>
            </a:r>
            <a:r>
              <a:rPr lang="en-US" sz="2000" b="0" i="0" u="none" strike="noStrike" cap="none">
                <a:solidFill>
                  <a:srgbClr val="666677"/>
                </a:solidFill>
                <a:latin typeface="Calibri"/>
                <a:ea typeface="Calibri"/>
                <a:cs typeface="Calibri"/>
                <a:sym typeface="Calibri"/>
              </a:rPr>
              <a:t>, GitHub Actions runs your tests on </a:t>
            </a:r>
            <a:r>
              <a:rPr lang="en-US" sz="2000">
                <a:solidFill>
                  <a:srgbClr val="666677"/>
                </a:solidFill>
                <a:latin typeface="Calibri"/>
                <a:ea typeface="Calibri"/>
                <a:cs typeface="Calibri"/>
                <a:sym typeface="Calibri"/>
              </a:rPr>
              <a:t>a fresh Ubuntu box</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a:solidFill>
                  <a:srgbClr val="666677"/>
                </a:solidFill>
                <a:latin typeface="Calibri"/>
                <a:ea typeface="Calibri"/>
                <a:cs typeface="Calibri"/>
                <a:sym typeface="Calibri"/>
              </a:rPr>
              <a:t>A</a:t>
            </a:r>
            <a:r>
              <a:rPr lang="en-US" sz="2000" b="0" i="0" u="none" strike="noStrike" cap="none">
                <a:solidFill>
                  <a:srgbClr val="666677"/>
                </a:solidFill>
                <a:latin typeface="Calibri"/>
                <a:ea typeface="Calibri"/>
                <a:cs typeface="Calibri"/>
                <a:sym typeface="Calibri"/>
              </a:rPr>
              <a:t> container, spun up and torn down per run.</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Every cloud.</a:t>
            </a:r>
            <a:r>
              <a:rPr lang="en-US" sz="2000" b="0" i="0" u="none" strike="noStrike" cap="none">
                <a:solidFill>
                  <a:srgbClr val="666677"/>
                </a:solidFill>
                <a:latin typeface="Calibri"/>
                <a:ea typeface="Calibri"/>
                <a:cs typeface="Calibri"/>
                <a:sym typeface="Calibri"/>
              </a:rPr>
              <a:t> Railway, Render, Fly, AWS, Google Cloud</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The thing they schedule and run for you is a container.</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Orchestration.</a:t>
            </a:r>
            <a:r>
              <a:rPr lang="en-US" sz="2000" b="0" i="0" u="none" strike="noStrike" cap="none">
                <a:solidFill>
                  <a:srgbClr val="666677"/>
                </a:solidFill>
                <a:latin typeface="Calibri"/>
                <a:ea typeface="Calibri"/>
                <a:cs typeface="Calibri"/>
                <a:sym typeface="Calibri"/>
              </a:rPr>
              <a:t> When one container isn't enough, a system</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called </a:t>
            </a:r>
            <a:r>
              <a:rPr lang="en-US" sz="2000" b="1" i="0" u="none" strike="noStrike" cap="none">
                <a:solidFill>
                  <a:srgbClr val="666677"/>
                </a:solidFill>
                <a:latin typeface="Calibri"/>
                <a:ea typeface="Calibri"/>
                <a:cs typeface="Calibri"/>
                <a:sym typeface="Calibri"/>
              </a:rPr>
              <a:t>Kubernetes</a:t>
            </a:r>
            <a:r>
              <a:rPr lang="en-US" sz="2000" b="0" i="0" u="none" strike="noStrike" cap="none">
                <a:solidFill>
                  <a:srgbClr val="666677"/>
                </a:solidFill>
                <a:latin typeface="Calibri"/>
                <a:ea typeface="Calibri"/>
                <a:cs typeface="Calibri"/>
                <a:sym typeface="Calibri"/>
              </a:rPr>
              <a:t> runs thousands of them.</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Understand the container and you understand what all of these run.</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56"/>
        <p:cNvGrpSpPr/>
        <p:nvPr/>
      </p:nvGrpSpPr>
      <p:grpSpPr>
        <a:xfrm>
          <a:off x="0" y="0"/>
          <a:ext cx="0" cy="0"/>
          <a:chOff x="0" y="0"/>
          <a:chExt cx="0" cy="0"/>
        </a:xfrm>
      </p:grpSpPr>
      <p:sp>
        <p:nvSpPr>
          <p:cNvPr id="457" name="Google Shape;457;p26"/>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Docker on Railway</a:t>
            </a:r>
            <a:endParaRPr/>
          </a:p>
        </p:txBody>
      </p:sp>
      <p:sp>
        <p:nvSpPr>
          <p:cNvPr id="458" name="Google Shape;458;p26"/>
          <p:cNvSpPr txBox="1"/>
          <p:nvPr/>
        </p:nvSpPr>
        <p:spPr>
          <a:xfrm>
            <a:off x="914400" y="1463040"/>
            <a:ext cx="10362895" cy="526293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dirty="0">
                <a:solidFill>
                  <a:srgbClr val="333344"/>
                </a:solidFill>
                <a:latin typeface="Calibri"/>
                <a:ea typeface="Calibri"/>
                <a:cs typeface="Calibri"/>
                <a:sym typeface="Calibri"/>
              </a:rPr>
              <a:t>Remember </a:t>
            </a:r>
            <a:r>
              <a:rPr lang="en-US" sz="2400" b="0" i="0" u="none" strike="noStrike" cap="none" dirty="0" err="1">
                <a:solidFill>
                  <a:srgbClr val="333344"/>
                </a:solidFill>
                <a:latin typeface="Calibri"/>
                <a:ea typeface="Calibri"/>
                <a:cs typeface="Calibri"/>
                <a:sym typeface="Calibri"/>
              </a:rPr>
              <a:t>nixpacks</a:t>
            </a:r>
            <a:r>
              <a:rPr lang="en-US" sz="2400" b="0" i="0" u="none" strike="noStrike" cap="none" dirty="0">
                <a:solidFill>
                  <a:srgbClr val="333344"/>
                </a:solidFill>
                <a:latin typeface="Calibri"/>
                <a:ea typeface="Calibri"/>
                <a:cs typeface="Calibri"/>
                <a:sym typeface="Calibri"/>
              </a:rPr>
              <a:t>? Here's the upgrade path.</a:t>
            </a:r>
            <a:endParaRPr dirty="0"/>
          </a:p>
          <a:p>
            <a:pPr marL="0" marR="0" lvl="0" indent="0" algn="l" rtl="0">
              <a:spcBef>
                <a:spcPts val="600"/>
              </a:spcBef>
              <a:spcAft>
                <a:spcPts val="0"/>
              </a:spcAft>
              <a:buNone/>
            </a:pPr>
            <a:endParaRPr sz="2400" b="0" i="0" u="none" strike="noStrike" cap="none" dirty="0">
              <a:solidFill>
                <a:srgbClr val="333344"/>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dirty="0">
                <a:solidFill>
                  <a:srgbClr val="333344"/>
                </a:solidFill>
                <a:latin typeface="Calibri"/>
                <a:ea typeface="Calibri"/>
                <a:cs typeface="Calibri"/>
                <a:sym typeface="Calibri"/>
              </a:rPr>
              <a:t>If Railway finds a `</a:t>
            </a:r>
            <a:r>
              <a:rPr lang="en-US" sz="2400" b="0" i="0" u="none" strike="noStrike" cap="none" dirty="0" err="1">
                <a:solidFill>
                  <a:srgbClr val="333344"/>
                </a:solidFill>
                <a:latin typeface="Calibri"/>
                <a:ea typeface="Calibri"/>
                <a:cs typeface="Calibri"/>
                <a:sym typeface="Calibri"/>
              </a:rPr>
              <a:t>Dockerfile</a:t>
            </a:r>
            <a:r>
              <a:rPr lang="en-US" sz="2400" b="0" i="0" u="none" strike="noStrike" cap="none" dirty="0">
                <a:solidFill>
                  <a:srgbClr val="333344"/>
                </a:solidFill>
                <a:latin typeface="Calibri"/>
                <a:ea typeface="Calibri"/>
                <a:cs typeface="Calibri"/>
                <a:sym typeface="Calibri"/>
              </a:rPr>
              <a:t>` at the root of your repo, it</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uses that instead of </a:t>
            </a:r>
            <a:r>
              <a:rPr lang="en-US" sz="2000" b="0" i="0" u="none" strike="noStrike" cap="none" dirty="0" err="1">
                <a:solidFill>
                  <a:srgbClr val="666677"/>
                </a:solidFill>
                <a:latin typeface="Calibri"/>
                <a:ea typeface="Calibri"/>
                <a:cs typeface="Calibri"/>
                <a:sym typeface="Calibri"/>
              </a:rPr>
              <a:t>nixpacks</a:t>
            </a:r>
            <a:r>
              <a:rPr lang="en-US" sz="2000" b="0" i="0" u="none" strike="noStrike" cap="none" dirty="0">
                <a:solidFill>
                  <a:srgbClr val="666677"/>
                </a:solidFill>
                <a:latin typeface="Calibri"/>
                <a:ea typeface="Calibri"/>
                <a:cs typeface="Calibri"/>
                <a:sym typeface="Calibri"/>
              </a:rPr>
              <a:t>. Everything else stays the same:</a:t>
            </a:r>
            <a:endParaRPr dirty="0"/>
          </a:p>
          <a:p>
            <a:pPr marL="0" marR="0" lvl="0" indent="0" algn="l" rtl="0">
              <a:spcBef>
                <a:spcPts val="600"/>
              </a:spcBef>
              <a:spcAft>
                <a:spcPts val="0"/>
              </a:spcAft>
              <a:buNone/>
            </a:pPr>
            <a:endParaRPr sz="2000" b="0" i="0" u="none" strike="noStrike" cap="none" dirty="0">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Same `git push` triggers the build</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Same dashboard shows logs and env vars</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Same public HTTPS URL</a:t>
            </a:r>
            <a:endParaRPr dirty="0"/>
          </a:p>
          <a:p>
            <a:pPr marL="0" marR="0" lvl="0" indent="0" algn="l" rtl="0">
              <a:spcBef>
                <a:spcPts val="600"/>
              </a:spcBef>
              <a:spcAft>
                <a:spcPts val="0"/>
              </a:spcAft>
              <a:buNone/>
            </a:pPr>
            <a:endParaRPr sz="2000" b="0" i="0" u="none" strike="noStrike" cap="none" dirty="0">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dirty="0">
                <a:solidFill>
                  <a:srgbClr val="333344"/>
                </a:solidFill>
                <a:latin typeface="Calibri"/>
                <a:ea typeface="Calibri"/>
                <a:cs typeface="Calibri"/>
                <a:sym typeface="Calibri"/>
              </a:rPr>
              <a:t>Drop a </a:t>
            </a:r>
            <a:r>
              <a:rPr lang="en-US" sz="2400" b="0" i="0" u="none" strike="noStrike" cap="none" dirty="0" err="1">
                <a:solidFill>
                  <a:srgbClr val="333344"/>
                </a:solidFill>
                <a:latin typeface="Calibri"/>
                <a:ea typeface="Calibri"/>
                <a:cs typeface="Calibri"/>
                <a:sym typeface="Calibri"/>
              </a:rPr>
              <a:t>Dockerfile</a:t>
            </a:r>
            <a:r>
              <a:rPr lang="en-US" sz="2400" b="0" i="0" u="none" strike="noStrike" cap="none" dirty="0">
                <a:solidFill>
                  <a:srgbClr val="333344"/>
                </a:solidFill>
                <a:latin typeface="Calibri"/>
                <a:ea typeface="Calibri"/>
                <a:cs typeface="Calibri"/>
                <a:sym typeface="Calibri"/>
              </a:rPr>
              <a:t> into your repo, push, and Railway switches</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builders silently. Your deploy pipeline doesn't change - you</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just have full control over the environment now.</a:t>
            </a:r>
            <a:endParaRPr dirty="0"/>
          </a:p>
          <a:p>
            <a:pPr marL="0" marR="0" lvl="0" indent="0" algn="l" rtl="0">
              <a:spcBef>
                <a:spcPts val="600"/>
              </a:spcBef>
              <a:spcAft>
                <a:spcPts val="0"/>
              </a:spcAft>
              <a:buNone/>
            </a:pPr>
            <a:endParaRPr sz="2000" b="0" i="0" u="none" strike="noStrike" cap="none" dirty="0">
              <a:solidFill>
                <a:srgbClr val="666677"/>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63"/>
        <p:cNvGrpSpPr/>
        <p:nvPr/>
      </p:nvGrpSpPr>
      <p:grpSpPr>
        <a:xfrm>
          <a:off x="0" y="0"/>
          <a:ext cx="0" cy="0"/>
          <a:chOff x="0" y="0"/>
          <a:chExt cx="0" cy="0"/>
        </a:xfrm>
      </p:grpSpPr>
      <p:sp>
        <p:nvSpPr>
          <p:cNvPr id="464" name="Google Shape;464;p27"/>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When do you actually need a Dockerfile?</a:t>
            </a:r>
            <a:endParaRPr/>
          </a:p>
        </p:txBody>
      </p:sp>
      <p:sp>
        <p:nvSpPr>
          <p:cNvPr id="465" name="Google Shape;465;p27"/>
          <p:cNvSpPr txBox="1"/>
          <p:nvPr/>
        </p:nvSpPr>
        <p:spPr>
          <a:xfrm>
            <a:off x="914400" y="1463040"/>
            <a:ext cx="10362895" cy="49377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dirty="0">
                <a:solidFill>
                  <a:srgbClr val="333344"/>
                </a:solidFill>
                <a:latin typeface="Calibri"/>
                <a:ea typeface="Calibri"/>
                <a:cs typeface="Calibri"/>
                <a:sym typeface="Calibri"/>
              </a:rPr>
              <a:t>Not every project needs its own </a:t>
            </a:r>
            <a:r>
              <a:rPr lang="en-US" sz="2400" b="0" i="0" u="none" strike="noStrike" cap="none" dirty="0" err="1">
                <a:solidFill>
                  <a:srgbClr val="333344"/>
                </a:solidFill>
                <a:latin typeface="Calibri"/>
                <a:ea typeface="Calibri"/>
                <a:cs typeface="Calibri"/>
                <a:sym typeface="Calibri"/>
              </a:rPr>
              <a:t>Dockerfile</a:t>
            </a:r>
            <a:r>
              <a:rPr lang="en-US" sz="2400" b="0" i="0" u="none" strike="noStrike" cap="none" dirty="0">
                <a:solidFill>
                  <a:srgbClr val="333344"/>
                </a:solidFill>
                <a:latin typeface="Calibri"/>
                <a:ea typeface="Calibri"/>
                <a:cs typeface="Calibri"/>
                <a:sym typeface="Calibri"/>
              </a:rPr>
              <a:t>. Reach for one when:</a:t>
            </a:r>
            <a:endParaRPr sz="2400" b="0" i="0" u="none" strike="noStrike" cap="none" dirty="0">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You need a </a:t>
            </a:r>
            <a:r>
              <a:rPr lang="en-US" sz="2000" b="1" i="0" u="none" strike="noStrike" cap="none" dirty="0">
                <a:solidFill>
                  <a:srgbClr val="666677"/>
                </a:solidFill>
                <a:latin typeface="Calibri"/>
                <a:ea typeface="Calibri"/>
                <a:cs typeface="Calibri"/>
                <a:sym typeface="Calibri"/>
              </a:rPr>
              <a:t>system library</a:t>
            </a:r>
            <a:r>
              <a:rPr lang="en-US" sz="2000" b="0" i="0" u="none" strike="noStrike" cap="none" dirty="0">
                <a:solidFill>
                  <a:srgbClr val="666677"/>
                </a:solidFill>
                <a:latin typeface="Calibri"/>
                <a:ea typeface="Calibri"/>
                <a:cs typeface="Calibri"/>
                <a:sym typeface="Calibri"/>
              </a:rPr>
              <a:t> the auto-builder doesn't install</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(e.g., `</a:t>
            </a:r>
            <a:r>
              <a:rPr lang="en-US" sz="2000" b="0" i="0" u="none" strike="noStrike" cap="none" dirty="0" err="1">
                <a:solidFill>
                  <a:srgbClr val="666677"/>
                </a:solidFill>
                <a:latin typeface="Calibri"/>
                <a:ea typeface="Calibri"/>
                <a:cs typeface="Calibri"/>
                <a:sym typeface="Calibri"/>
              </a:rPr>
              <a:t>libpq</a:t>
            </a:r>
            <a:r>
              <a:rPr lang="en-US" sz="2000" b="0" i="0" u="none" strike="noStrike" cap="none" dirty="0">
                <a:solidFill>
                  <a:srgbClr val="666677"/>
                </a:solidFill>
                <a:latin typeface="Calibri"/>
                <a:ea typeface="Calibri"/>
                <a:cs typeface="Calibri"/>
                <a:sym typeface="Calibri"/>
              </a:rPr>
              <a:t>-dev`, `tesseract`, `</a:t>
            </a:r>
            <a:r>
              <a:rPr lang="en-US" sz="2000" b="0" i="0" u="none" strike="noStrike" cap="none" dirty="0" err="1">
                <a:solidFill>
                  <a:srgbClr val="666677"/>
                </a:solidFill>
                <a:latin typeface="Calibri"/>
                <a:ea typeface="Calibri"/>
                <a:cs typeface="Calibri"/>
                <a:sym typeface="Calibri"/>
              </a:rPr>
              <a:t>ffmpeg</a:t>
            </a:r>
            <a:r>
              <a:rPr lang="en-US" sz="2000" b="0" i="0" u="none" strike="noStrike" cap="none" dirty="0">
                <a:solidFill>
                  <a:srgbClr val="666677"/>
                </a:solidFill>
                <a:latin typeface="Calibri"/>
                <a:ea typeface="Calibri"/>
                <a:cs typeface="Calibri"/>
                <a:sym typeface="Calibri"/>
              </a:rPr>
              <a:t>`)</a:t>
            </a:r>
            <a:endParaRPr dirty="0"/>
          </a:p>
          <a:p>
            <a:pPr marL="0" marR="0" lvl="0" indent="0" algn="l" rtl="0">
              <a:spcBef>
                <a:spcPts val="600"/>
              </a:spcBef>
              <a:spcAft>
                <a:spcPts val="0"/>
              </a:spcAft>
              <a:buNone/>
            </a:pPr>
            <a:endParaRPr sz="2000" b="0" i="0" u="none" strike="noStrike" cap="none" dirty="0">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You need an exact </a:t>
            </a:r>
            <a:r>
              <a:rPr lang="en-US" sz="2000" b="1" i="0" u="none" strike="noStrike" cap="none" dirty="0">
                <a:solidFill>
                  <a:srgbClr val="666677"/>
                </a:solidFill>
                <a:latin typeface="Calibri"/>
                <a:ea typeface="Calibri"/>
                <a:cs typeface="Calibri"/>
                <a:sym typeface="Calibri"/>
              </a:rPr>
              <a:t>Python or Node version</a:t>
            </a:r>
            <a:r>
              <a:rPr lang="en-US" sz="2000" b="0" i="0" u="none" strike="noStrike" cap="none" dirty="0">
                <a:solidFill>
                  <a:srgbClr val="666677"/>
                </a:solidFill>
                <a:latin typeface="Calibri"/>
                <a:ea typeface="Calibri"/>
                <a:cs typeface="Calibri"/>
                <a:sym typeface="Calibri"/>
              </a:rPr>
              <a:t> pinned across builds</a:t>
            </a:r>
            <a:endParaRPr dirty="0"/>
          </a:p>
          <a:p>
            <a:pPr marL="0" marR="0" lvl="0" indent="0" algn="l" rtl="0">
              <a:spcBef>
                <a:spcPts val="600"/>
              </a:spcBef>
              <a:spcAft>
                <a:spcPts val="0"/>
              </a:spcAft>
              <a:buNone/>
            </a:pPr>
            <a:endParaRPr sz="2000" b="0" i="0" u="none" strike="noStrike" cap="none" dirty="0">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Your build is unusual enough that auto-detection guesses wrong</a:t>
            </a:r>
            <a:endParaRPr dirty="0"/>
          </a:p>
          <a:p>
            <a:pPr marL="0" marR="0" lvl="0" indent="0" algn="l" rtl="0">
              <a:spcBef>
                <a:spcPts val="600"/>
              </a:spcBef>
              <a:spcAft>
                <a:spcPts val="0"/>
              </a:spcAft>
              <a:buNone/>
            </a:pPr>
            <a:endParaRPr sz="2000" b="0" i="0" u="none" strike="noStrike" cap="none" dirty="0">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You want the </a:t>
            </a:r>
            <a:r>
              <a:rPr lang="en-US" sz="2000" b="1" i="0" u="none" strike="noStrike" cap="none" dirty="0">
                <a:solidFill>
                  <a:srgbClr val="666677"/>
                </a:solidFill>
                <a:latin typeface="Calibri"/>
                <a:ea typeface="Calibri"/>
                <a:cs typeface="Calibri"/>
                <a:sym typeface="Calibri"/>
              </a:rPr>
              <a:t>same image</a:t>
            </a:r>
            <a:r>
              <a:rPr lang="en-US" sz="2000" b="0" i="0" u="none" strike="noStrike" cap="none" dirty="0">
                <a:solidFill>
                  <a:srgbClr val="666677"/>
                </a:solidFill>
                <a:latin typeface="Calibri"/>
                <a:ea typeface="Calibri"/>
                <a:cs typeface="Calibri"/>
                <a:sym typeface="Calibri"/>
              </a:rPr>
              <a:t> on your laptop, in CI, and in prod</a:t>
            </a:r>
            <a:endParaRPr dirty="0"/>
          </a:p>
          <a:p>
            <a:pPr marL="0" marR="0" lvl="0" indent="0" algn="l" rtl="0">
              <a:spcBef>
                <a:spcPts val="600"/>
              </a:spcBef>
              <a:spcAft>
                <a:spcPts val="0"/>
              </a:spcAft>
              <a:buNone/>
            </a:pPr>
            <a:endParaRPr sz="2000" b="0" i="0" u="none" strike="noStrike" cap="none" dirty="0">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dirty="0">
                <a:solidFill>
                  <a:srgbClr val="333344"/>
                </a:solidFill>
                <a:latin typeface="Calibri"/>
                <a:ea typeface="Calibri"/>
                <a:cs typeface="Calibri"/>
                <a:sym typeface="Calibri"/>
              </a:rPr>
              <a:t>Whether or not your final project needs one, you now know what's</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inside the container every one of your deploys has been running.</a:t>
            </a:r>
            <a:endParaRPr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70"/>
        <p:cNvGrpSpPr/>
        <p:nvPr/>
      </p:nvGrpSpPr>
      <p:grpSpPr>
        <a:xfrm>
          <a:off x="0" y="0"/>
          <a:ext cx="0" cy="0"/>
          <a:chOff x="0" y="0"/>
          <a:chExt cx="0" cy="0"/>
        </a:xfrm>
      </p:grpSpPr>
      <p:sp>
        <p:nvSpPr>
          <p:cNvPr id="471" name="Google Shape;471;p28"/>
          <p:cNvSpPr txBox="1"/>
          <p:nvPr/>
        </p:nvSpPr>
        <p:spPr>
          <a:xfrm>
            <a:off x="731520" y="27432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i="0" u="none" strike="noStrike" cap="none">
                <a:solidFill>
                  <a:srgbClr val="FFFFFF"/>
                </a:solidFill>
                <a:latin typeface="Calibri"/>
                <a:ea typeface="Calibri"/>
                <a:cs typeface="Calibri"/>
                <a:sym typeface="Calibri"/>
              </a:rPr>
              <a:t>TRY IT  </a:t>
            </a:r>
            <a:endParaRPr/>
          </a:p>
          <a:p>
            <a:pPr marL="0" marR="0" lvl="0" indent="0" algn="l" rtl="0">
              <a:spcBef>
                <a:spcPts val="0"/>
              </a:spcBef>
              <a:spcAft>
                <a:spcPts val="0"/>
              </a:spcAft>
              <a:buNone/>
            </a:pPr>
            <a:r>
              <a:rPr lang="en-US" sz="3000" b="1">
                <a:solidFill>
                  <a:srgbClr val="1A1A2E"/>
                </a:solidFill>
                <a:latin typeface="Calibri"/>
                <a:ea typeface="Calibri"/>
                <a:cs typeface="Calibri"/>
                <a:sym typeface="Calibri"/>
              </a:rPr>
              <a:t>Write a Dockerfile for a FastAPI app</a:t>
            </a:r>
            <a:endParaRPr/>
          </a:p>
        </p:txBody>
      </p:sp>
      <p:sp>
        <p:nvSpPr>
          <p:cNvPr id="472" name="Google Shape;472;p28"/>
          <p:cNvSpPr/>
          <p:nvPr/>
        </p:nvSpPr>
        <p:spPr>
          <a:xfrm>
            <a:off x="640080" y="228600"/>
            <a:ext cx="1097280" cy="365760"/>
          </a:xfrm>
          <a:prstGeom prst="roundRect">
            <a:avLst>
              <a:gd name="adj" fmla="val 16667"/>
            </a:avLst>
          </a:prstGeom>
          <a:solidFill>
            <a:srgbClr val="5B21B6"/>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73" name="Google Shape;473;p28"/>
          <p:cNvSpPr/>
          <p:nvPr/>
        </p:nvSpPr>
        <p:spPr>
          <a:xfrm>
            <a:off x="731520" y="1371600"/>
            <a:ext cx="10728655" cy="50292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74" name="Google Shape;474;p28"/>
          <p:cNvSpPr txBox="1"/>
          <p:nvPr/>
        </p:nvSpPr>
        <p:spPr>
          <a:xfrm>
            <a:off x="1005840" y="1554480"/>
            <a:ext cx="10180015" cy="46634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rgbClr val="333344"/>
                </a:solidFill>
                <a:latin typeface="Courier New"/>
                <a:ea typeface="Courier New"/>
                <a:cs typeface="Courier New"/>
                <a:sym typeface="Courier New"/>
              </a:rPr>
              <a:t># Goal: containerize a FastAPI app.</a:t>
            </a:r>
            <a:endParaRPr/>
          </a:p>
          <a:p>
            <a:pPr marL="0" marR="0" lvl="0" indent="0" algn="l" rtl="0">
              <a:spcBef>
                <a:spcPts val="200"/>
              </a:spcBef>
              <a:spcAft>
                <a:spcPts val="0"/>
              </a:spcAft>
              <a:buNone/>
            </a:pPr>
            <a:r>
              <a:rPr lang="en-US" sz="1600" b="1">
                <a:solidFill>
                  <a:srgbClr val="333344"/>
                </a:solidFill>
                <a:latin typeface="Courier New"/>
                <a:ea typeface="Courier New"/>
                <a:cs typeface="Courier New"/>
                <a:sym typeface="Courier New"/>
              </a:rPr>
              <a:t># Structure: Dockerfile, requirements.txt, app.py, frontend/dist/</a:t>
            </a:r>
            <a:endParaRPr/>
          </a:p>
          <a:p>
            <a:pPr marL="0" marR="0" lvl="0" indent="0" algn="l" rtl="0">
              <a:spcBef>
                <a:spcPts val="200"/>
              </a:spcBef>
              <a:spcAft>
                <a:spcPts val="0"/>
              </a:spcAft>
              <a:buNone/>
            </a:pPr>
            <a:r>
              <a:rPr lang="en-US" sz="1600" b="1">
                <a:solidFill>
                  <a:srgbClr val="333344"/>
                </a:solidFill>
                <a:latin typeface="Courier New"/>
                <a:ea typeface="Courier New"/>
                <a:cs typeface="Courier New"/>
                <a:sym typeface="Courier New"/>
              </a:rPr>
              <a:t># Order for good layer-cache behavior.</a:t>
            </a:r>
            <a:endParaRPr/>
          </a:p>
          <a:p>
            <a:pPr marL="0" marR="0" lvl="0" indent="0" algn="l" rtl="0">
              <a:spcBef>
                <a:spcPts val="200"/>
              </a:spcBef>
              <a:spcAft>
                <a:spcPts val="0"/>
              </a:spcAft>
              <a:buNone/>
            </a:pPr>
            <a:endParaRPr sz="16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600" b="1">
                <a:solidFill>
                  <a:srgbClr val="B0B0C0"/>
                </a:solidFill>
                <a:latin typeface="Courier New"/>
                <a:ea typeface="Courier New"/>
                <a:cs typeface="Courier New"/>
                <a:sym typeface="Courier New"/>
              </a:rPr>
              <a:t>FROM ________:3.12-slim</a:t>
            </a:r>
            <a:endParaRPr/>
          </a:p>
          <a:p>
            <a:pPr marL="0" marR="0" lvl="0" indent="0" algn="l" rtl="0">
              <a:spcBef>
                <a:spcPts val="200"/>
              </a:spcBef>
              <a:spcAft>
                <a:spcPts val="0"/>
              </a:spcAft>
              <a:buNone/>
            </a:pPr>
            <a:endParaRPr sz="1600" b="1">
              <a:solidFill>
                <a:srgbClr val="B0B0C0"/>
              </a:solidFill>
              <a:latin typeface="Courier New"/>
              <a:ea typeface="Courier New"/>
              <a:cs typeface="Courier New"/>
              <a:sym typeface="Courier New"/>
            </a:endParaRPr>
          </a:p>
          <a:p>
            <a:pPr marL="0" marR="0" lvl="0" indent="0" algn="l" rtl="0">
              <a:spcBef>
                <a:spcPts val="200"/>
              </a:spcBef>
              <a:spcAft>
                <a:spcPts val="0"/>
              </a:spcAft>
              <a:buNone/>
            </a:pPr>
            <a:r>
              <a:rPr lang="en-US" sz="1600" b="1">
                <a:solidFill>
                  <a:srgbClr val="B0B0C0"/>
                </a:solidFill>
                <a:latin typeface="Courier New"/>
                <a:ea typeface="Courier New"/>
                <a:cs typeface="Courier New"/>
                <a:sym typeface="Courier New"/>
              </a:rPr>
              <a:t>________ /app</a:t>
            </a:r>
            <a:endParaRPr/>
          </a:p>
          <a:p>
            <a:pPr marL="0" marR="0" lvl="0" indent="0" algn="l" rtl="0">
              <a:spcBef>
                <a:spcPts val="200"/>
              </a:spcBef>
              <a:spcAft>
                <a:spcPts val="0"/>
              </a:spcAft>
              <a:buNone/>
            </a:pPr>
            <a:endParaRPr sz="1600" b="1">
              <a:solidFill>
                <a:srgbClr val="B0B0C0"/>
              </a:solidFill>
              <a:latin typeface="Courier New"/>
              <a:ea typeface="Courier New"/>
              <a:cs typeface="Courier New"/>
              <a:sym typeface="Courier New"/>
            </a:endParaRPr>
          </a:p>
          <a:p>
            <a:pPr marL="0" marR="0" lvl="0" indent="0" algn="l" rtl="0">
              <a:spcBef>
                <a:spcPts val="200"/>
              </a:spcBef>
              <a:spcAft>
                <a:spcPts val="0"/>
              </a:spcAft>
              <a:buNone/>
            </a:pPr>
            <a:r>
              <a:rPr lang="en-US" sz="1600" b="1">
                <a:solidFill>
                  <a:srgbClr val="333344"/>
                </a:solidFill>
                <a:latin typeface="Courier New"/>
                <a:ea typeface="Courier New"/>
                <a:cs typeface="Courier New"/>
                <a:sym typeface="Courier New"/>
              </a:rPr>
              <a:t># Install Python deps FIRST (slow-changing)</a:t>
            </a:r>
            <a:endParaRPr/>
          </a:p>
          <a:p>
            <a:pPr marL="0" marR="0" lvl="0" indent="0" algn="l" rtl="0">
              <a:spcBef>
                <a:spcPts val="200"/>
              </a:spcBef>
              <a:spcAft>
                <a:spcPts val="0"/>
              </a:spcAft>
              <a:buNone/>
            </a:pPr>
            <a:r>
              <a:rPr lang="en-US" sz="1600" b="1">
                <a:solidFill>
                  <a:srgbClr val="B0B0C0"/>
                </a:solidFill>
                <a:latin typeface="Courier New"/>
                <a:ea typeface="Courier New"/>
                <a:cs typeface="Courier New"/>
                <a:sym typeface="Courier New"/>
              </a:rPr>
              <a:t>COPY ________ .</a:t>
            </a:r>
            <a:endParaRPr/>
          </a:p>
          <a:p>
            <a:pPr marL="0" marR="0" lvl="0" indent="0" algn="l" rtl="0">
              <a:spcBef>
                <a:spcPts val="200"/>
              </a:spcBef>
              <a:spcAft>
                <a:spcPts val="0"/>
              </a:spcAft>
              <a:buNone/>
            </a:pPr>
            <a:r>
              <a:rPr lang="en-US" sz="1600" b="1">
                <a:solidFill>
                  <a:srgbClr val="B0B0C0"/>
                </a:solidFill>
                <a:latin typeface="Courier New"/>
                <a:ea typeface="Courier New"/>
                <a:cs typeface="Courier New"/>
                <a:sym typeface="Courier New"/>
              </a:rPr>
              <a:t>RUN pip install ________ -r requirements.txt</a:t>
            </a:r>
            <a:endParaRPr/>
          </a:p>
          <a:p>
            <a:pPr marL="0" marR="0" lvl="0" indent="0" algn="l" rtl="0">
              <a:spcBef>
                <a:spcPts val="200"/>
              </a:spcBef>
              <a:spcAft>
                <a:spcPts val="0"/>
              </a:spcAft>
              <a:buNone/>
            </a:pPr>
            <a:endParaRPr sz="1600" b="1">
              <a:solidFill>
                <a:srgbClr val="B0B0C0"/>
              </a:solidFill>
              <a:latin typeface="Courier New"/>
              <a:ea typeface="Courier New"/>
              <a:cs typeface="Courier New"/>
              <a:sym typeface="Courier New"/>
            </a:endParaRPr>
          </a:p>
          <a:p>
            <a:pPr marL="0" marR="0" lvl="0" indent="0" algn="l" rtl="0">
              <a:spcBef>
                <a:spcPts val="200"/>
              </a:spcBef>
              <a:spcAft>
                <a:spcPts val="0"/>
              </a:spcAft>
              <a:buNone/>
            </a:pPr>
            <a:r>
              <a:rPr lang="en-US" sz="1600" b="1">
                <a:solidFill>
                  <a:srgbClr val="333344"/>
                </a:solidFill>
                <a:latin typeface="Courier New"/>
                <a:ea typeface="Courier New"/>
                <a:cs typeface="Courier New"/>
                <a:sym typeface="Courier New"/>
              </a:rPr>
              <a:t># Now copy the rest of the code (fast-changing)</a:t>
            </a:r>
            <a:endParaRPr/>
          </a:p>
          <a:p>
            <a:pPr marL="0" marR="0" lvl="0" indent="0" algn="l" rtl="0">
              <a:spcBef>
                <a:spcPts val="200"/>
              </a:spcBef>
              <a:spcAft>
                <a:spcPts val="0"/>
              </a:spcAft>
              <a:buNone/>
            </a:pPr>
            <a:r>
              <a:rPr lang="en-US" sz="1600" b="1">
                <a:solidFill>
                  <a:srgbClr val="B0B0C0"/>
                </a:solidFill>
                <a:latin typeface="Courier New"/>
                <a:ea typeface="Courier New"/>
                <a:cs typeface="Courier New"/>
                <a:sym typeface="Courier New"/>
              </a:rPr>
              <a:t>COPY ________ .</a:t>
            </a:r>
            <a:endParaRPr/>
          </a:p>
          <a:p>
            <a:pPr marL="0" marR="0" lvl="0" indent="0" algn="l" rtl="0">
              <a:spcBef>
                <a:spcPts val="200"/>
              </a:spcBef>
              <a:spcAft>
                <a:spcPts val="0"/>
              </a:spcAft>
              <a:buNone/>
            </a:pPr>
            <a:endParaRPr sz="1600" b="1">
              <a:solidFill>
                <a:srgbClr val="B0B0C0"/>
              </a:solidFill>
              <a:latin typeface="Courier New"/>
              <a:ea typeface="Courier New"/>
              <a:cs typeface="Courier New"/>
              <a:sym typeface="Courier New"/>
            </a:endParaRPr>
          </a:p>
          <a:p>
            <a:pPr marL="0" marR="0" lvl="0" indent="0" algn="l" rtl="0">
              <a:spcBef>
                <a:spcPts val="200"/>
              </a:spcBef>
              <a:spcAft>
                <a:spcPts val="0"/>
              </a:spcAft>
              <a:buNone/>
            </a:pPr>
            <a:r>
              <a:rPr lang="en-US" sz="1600" b="1">
                <a:solidFill>
                  <a:srgbClr val="333344"/>
                </a:solidFill>
                <a:latin typeface="Courier New"/>
                <a:ea typeface="Courier New"/>
                <a:cs typeface="Courier New"/>
                <a:sym typeface="Courier New"/>
              </a:rPr>
              <a:t># Start the server</a:t>
            </a:r>
            <a:endParaRPr/>
          </a:p>
          <a:p>
            <a:pPr marL="0" marR="0" lvl="0" indent="0" algn="l" rtl="0">
              <a:spcBef>
                <a:spcPts val="200"/>
              </a:spcBef>
              <a:spcAft>
                <a:spcPts val="0"/>
              </a:spcAft>
              <a:buNone/>
            </a:pPr>
            <a:r>
              <a:rPr lang="en-US" sz="1600" b="1">
                <a:solidFill>
                  <a:srgbClr val="B0B0C0"/>
                </a:solidFill>
                <a:latin typeface="Courier New"/>
                <a:ea typeface="Courier New"/>
                <a:cs typeface="Courier New"/>
                <a:sym typeface="Courier New"/>
              </a:rPr>
              <a:t>CMD ["uvicorn", "app:app", "--host", "________", "--port", "8000"]</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Shape 479"/>
        <p:cNvGrpSpPr/>
        <p:nvPr/>
      </p:nvGrpSpPr>
      <p:grpSpPr>
        <a:xfrm>
          <a:off x="0" y="0"/>
          <a:ext cx="0" cy="0"/>
          <a:chOff x="0" y="0"/>
          <a:chExt cx="0" cy="0"/>
        </a:xfrm>
      </p:grpSpPr>
      <p:sp>
        <p:nvSpPr>
          <p:cNvPr id="480" name="Google Shape;480;p29"/>
          <p:cNvSpPr txBox="1"/>
          <p:nvPr/>
        </p:nvSpPr>
        <p:spPr>
          <a:xfrm>
            <a:off x="731520" y="27432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rgbClr val="FFFFFF"/>
                </a:solidFill>
                <a:latin typeface="Calibri"/>
                <a:ea typeface="Calibri"/>
                <a:cs typeface="Calibri"/>
                <a:sym typeface="Calibri"/>
              </a:rPr>
              <a:t>ANSWER  </a:t>
            </a:r>
            <a:endParaRPr/>
          </a:p>
          <a:p>
            <a:pPr marL="0" marR="0" lvl="0" indent="0" algn="l" rtl="0">
              <a:spcBef>
                <a:spcPts val="0"/>
              </a:spcBef>
              <a:spcAft>
                <a:spcPts val="0"/>
              </a:spcAft>
              <a:buNone/>
            </a:pPr>
            <a:r>
              <a:rPr lang="en-US" sz="3000" b="1">
                <a:solidFill>
                  <a:srgbClr val="1A1A2E"/>
                </a:solidFill>
                <a:latin typeface="Calibri"/>
                <a:ea typeface="Calibri"/>
                <a:cs typeface="Calibri"/>
                <a:sym typeface="Calibri"/>
              </a:rPr>
              <a:t>Write a Dockerfile for a FastAPI app</a:t>
            </a:r>
            <a:endParaRPr/>
          </a:p>
        </p:txBody>
      </p:sp>
      <p:sp>
        <p:nvSpPr>
          <p:cNvPr id="481" name="Google Shape;481;p29"/>
          <p:cNvSpPr/>
          <p:nvPr/>
        </p:nvSpPr>
        <p:spPr>
          <a:xfrm>
            <a:off x="640080" y="228600"/>
            <a:ext cx="1188720" cy="365760"/>
          </a:xfrm>
          <a:prstGeom prst="roundRect">
            <a:avLst>
              <a:gd name="adj" fmla="val 16667"/>
            </a:avLst>
          </a:prstGeom>
          <a:solidFill>
            <a:srgbClr val="166534"/>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82" name="Google Shape;482;p29"/>
          <p:cNvSpPr/>
          <p:nvPr/>
        </p:nvSpPr>
        <p:spPr>
          <a:xfrm>
            <a:off x="731520" y="1371600"/>
            <a:ext cx="10728655" cy="50292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83" name="Google Shape;483;p29"/>
          <p:cNvSpPr txBox="1"/>
          <p:nvPr/>
        </p:nvSpPr>
        <p:spPr>
          <a:xfrm>
            <a:off x="1005840" y="1554480"/>
            <a:ext cx="10179900" cy="4663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a:solidFill>
                  <a:srgbClr val="333344"/>
                </a:solidFill>
                <a:latin typeface="Courier New"/>
                <a:ea typeface="Courier New"/>
                <a:cs typeface="Courier New"/>
                <a:sym typeface="Courier New"/>
              </a:rPr>
              <a:t>FROM python:3.12-slim</a:t>
            </a:r>
            <a:endParaRPr/>
          </a:p>
          <a:p>
            <a:pPr marL="0" marR="0" lvl="0" indent="0" algn="l" rtl="0">
              <a:spcBef>
                <a:spcPts val="200"/>
              </a:spcBef>
              <a:spcAft>
                <a:spcPts val="0"/>
              </a:spcAft>
              <a:buNone/>
            </a:pPr>
            <a:endParaRPr sz="15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WORKDIR /app</a:t>
            </a:r>
            <a:endParaRPr/>
          </a:p>
          <a:p>
            <a:pPr marL="0" marR="0" lvl="0" indent="0" algn="l" rtl="0">
              <a:spcBef>
                <a:spcPts val="200"/>
              </a:spcBef>
              <a:spcAft>
                <a:spcPts val="0"/>
              </a:spcAft>
              <a:buNone/>
            </a:pPr>
            <a:endParaRPr sz="15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Install Python deps first (slow-changing)</a:t>
            </a:r>
            <a:endParaRPr/>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COPY requirements.txt .</a:t>
            </a:r>
            <a:endParaRPr/>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RUN pip install --no-cache-dir -r requirements.txt</a:t>
            </a:r>
            <a:endParaRPr/>
          </a:p>
          <a:p>
            <a:pPr marL="0" marR="0" lvl="0" indent="0" algn="l" rtl="0">
              <a:spcBef>
                <a:spcPts val="200"/>
              </a:spcBef>
              <a:spcAft>
                <a:spcPts val="0"/>
              </a:spcAft>
              <a:buNone/>
            </a:pPr>
            <a:endParaRPr sz="15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Now copy the rest of the code (fast-changing)</a:t>
            </a:r>
            <a:endParaRPr/>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COPY . .</a:t>
            </a:r>
            <a:endParaRPr/>
          </a:p>
          <a:p>
            <a:pPr marL="0" marR="0" lvl="0" indent="0" algn="l" rtl="0">
              <a:spcBef>
                <a:spcPts val="200"/>
              </a:spcBef>
              <a:spcAft>
                <a:spcPts val="0"/>
              </a:spcAft>
              <a:buNone/>
            </a:pPr>
            <a:endParaRPr sz="15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Start the server</a:t>
            </a:r>
            <a:endParaRPr/>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CMD ["uvicorn", "app:app", "--host", "0.0.0.0", "--port", "8000"]</a:t>
            </a:r>
            <a:endParaRPr/>
          </a:p>
          <a:p>
            <a:pPr marL="0" marR="0" lvl="0" indent="0" algn="l" rtl="0">
              <a:spcBef>
                <a:spcPts val="200"/>
              </a:spcBef>
              <a:spcAft>
                <a:spcPts val="0"/>
              </a:spcAft>
              <a:buNone/>
            </a:pPr>
            <a:endParaRPr sz="15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sz="15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Build:  docker build -t my-app .</a:t>
            </a:r>
            <a:endParaRPr/>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Run:    docker run -p 8000:8000 my-app</a:t>
            </a:r>
            <a:endParaRPr/>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Deploy: commit the Dockerfile and `git push` - Railway does the rest.</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88"/>
        <p:cNvGrpSpPr/>
        <p:nvPr/>
      </p:nvGrpSpPr>
      <p:grpSpPr>
        <a:xfrm>
          <a:off x="0" y="0"/>
          <a:ext cx="0" cy="0"/>
          <a:chOff x="0" y="0"/>
          <a:chExt cx="0" cy="0"/>
        </a:xfrm>
      </p:grpSpPr>
      <p:sp>
        <p:nvSpPr>
          <p:cNvPr id="489" name="Google Shape;489;p30"/>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rgbClr val="1A1A2E"/>
                </a:solidFill>
                <a:latin typeface="Calibri"/>
                <a:ea typeface="Calibri"/>
                <a:cs typeface="Calibri"/>
                <a:sym typeface="Calibri"/>
              </a:rPr>
              <a:t>Where this goes next</a:t>
            </a:r>
            <a:endParaRPr/>
          </a:p>
        </p:txBody>
      </p:sp>
      <p:sp>
        <p:nvSpPr>
          <p:cNvPr id="490" name="Google Shape;490;p30"/>
          <p:cNvSpPr txBox="1"/>
          <p:nvPr/>
        </p:nvSpPr>
        <p:spPr>
          <a:xfrm>
            <a:off x="914388" y="1280140"/>
            <a:ext cx="10362900" cy="5202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333344"/>
                </a:solidFill>
                <a:latin typeface="Calibri"/>
                <a:ea typeface="Calibri"/>
                <a:cs typeface="Calibri"/>
                <a:sym typeface="Calibri"/>
              </a:rPr>
              <a:t>Today's three ideas: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 </a:t>
            </a:r>
            <a:r>
              <a:rPr lang="en-US" sz="2000" b="1" i="0" u="none" strike="noStrike" cap="none">
                <a:solidFill>
                  <a:srgbClr val="666677"/>
                </a:solidFill>
                <a:latin typeface="Calibri"/>
                <a:ea typeface="Calibri"/>
                <a:cs typeface="Calibri"/>
                <a:sym typeface="Calibri"/>
              </a:rPr>
              <a:t>container</a:t>
            </a:r>
            <a:r>
              <a:rPr lang="en-US" sz="2000" b="0" i="0" u="none" strike="noStrike" cap="none">
                <a:solidFill>
                  <a:srgbClr val="666677"/>
                </a:solidFill>
                <a:latin typeface="Calibri"/>
                <a:ea typeface="Calibri"/>
                <a:cs typeface="Calibri"/>
                <a:sym typeface="Calibri"/>
              </a:rPr>
              <a:t> is an isolated process with its own filesystem</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and network. No VM, no separate kernel.</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An </a:t>
            </a:r>
            <a:r>
              <a:rPr lang="en-US" sz="2000" b="1" i="0" u="none" strike="noStrike" cap="none">
                <a:solidFill>
                  <a:srgbClr val="666677"/>
                </a:solidFill>
                <a:latin typeface="Calibri"/>
                <a:ea typeface="Calibri"/>
                <a:cs typeface="Calibri"/>
                <a:sym typeface="Calibri"/>
              </a:rPr>
              <a:t>image</a:t>
            </a:r>
            <a:r>
              <a:rPr lang="en-US" sz="2000" b="0" i="0" u="none" strike="noStrike" cap="none">
                <a:solidFill>
                  <a:srgbClr val="666677"/>
                </a:solidFill>
                <a:latin typeface="Calibri"/>
                <a:ea typeface="Calibri"/>
                <a:cs typeface="Calibri"/>
                <a:sym typeface="Calibri"/>
              </a:rPr>
              <a:t> is the blueprint; a container is a running instance.</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 </a:t>
            </a:r>
            <a:r>
              <a:rPr lang="en-US" sz="2000" b="1" i="0" u="none" strike="noStrike" cap="none">
                <a:solidFill>
                  <a:srgbClr val="666677"/>
                </a:solidFill>
                <a:latin typeface="Calibri"/>
                <a:ea typeface="Calibri"/>
                <a:cs typeface="Calibri"/>
                <a:sym typeface="Calibri"/>
              </a:rPr>
              <a:t>Dockerfile</a:t>
            </a:r>
            <a:r>
              <a:rPr lang="en-US" sz="2000" b="0" i="0" u="none" strike="noStrike" cap="none">
                <a:solidFill>
                  <a:srgbClr val="666677"/>
                </a:solidFill>
                <a:latin typeface="Calibri"/>
                <a:ea typeface="Calibri"/>
                <a:cs typeface="Calibri"/>
                <a:sym typeface="Calibri"/>
              </a:rPr>
              <a:t> builds the image. Order matters: slow-changing</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things above fast-changing things.</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a:solidFill>
                  <a:srgbClr val="333344"/>
                </a:solidFill>
                <a:latin typeface="Calibri"/>
                <a:ea typeface="Calibri"/>
                <a:cs typeface="Calibri"/>
                <a:sym typeface="Calibri"/>
              </a:rPr>
              <a:t>And the wider point: containers are the unit the whole industry</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ships software on, from CI runners to the clouds themselves.</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a:solidFill>
                  <a:srgbClr val="333344"/>
                </a:solidFill>
                <a:latin typeface="Calibri"/>
                <a:ea typeface="Calibri"/>
                <a:cs typeface="Calibri"/>
                <a:sym typeface="Calibri"/>
              </a:rPr>
              <a:t>Next: </a:t>
            </a:r>
            <a:r>
              <a:rPr lang="en-US" sz="2400" b="1">
                <a:solidFill>
                  <a:srgbClr val="333344"/>
                </a:solidFill>
                <a:latin typeface="Calibri"/>
                <a:ea typeface="Calibri"/>
                <a:cs typeface="Calibri"/>
                <a:sym typeface="Calibri"/>
              </a:rPr>
              <a:t>CI/CD</a:t>
            </a:r>
            <a:r>
              <a:rPr lang="en-US" sz="2400" b="0">
                <a:solidFill>
                  <a:srgbClr val="333344"/>
                </a:solidFill>
                <a:latin typeface="Calibri"/>
                <a:ea typeface="Calibri"/>
                <a:cs typeface="Calibri"/>
                <a:sym typeface="Calibri"/>
              </a:rPr>
              <a:t> - tests on every push, run in a container.</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298</TotalTime>
  <Words>9072</Words>
  <Application>Microsoft Macintosh PowerPoint</Application>
  <PresentationFormat>Widescreen</PresentationFormat>
  <Paragraphs>697</Paragraphs>
  <Slides>53</Slides>
  <Notes>53</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53</vt:i4>
      </vt:variant>
    </vt:vector>
  </HeadingPairs>
  <TitlesOfParts>
    <vt:vector size="58" baseType="lpstr">
      <vt:lpstr>Courier New</vt:lpstr>
      <vt:lpstr>Courier Prime</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Andrew Aymeloglu</cp:lastModifiedBy>
  <cp:revision>6</cp:revision>
  <dcterms:created xsi:type="dcterms:W3CDTF">2013-01-27T09:14:16Z</dcterms:created>
  <dcterms:modified xsi:type="dcterms:W3CDTF">2026-05-19T23:42:28Z</dcterms:modified>
</cp:coreProperties>
</file>