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8" r:id="rId30"/>
    <p:sldId id="299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8" roundtripDataSignature="AMtx7mjSHhrZj3ltMzxGts6kppi2wr2l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8" Type="http://customschemas.google.com/relationships/presentationmetadata" Target="metadata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Fast pace. LLM use is expected and out in the open.</a:t>
            </a:r>
          </a:p>
        </p:txBody>
      </p:sp>
      <p:sp>
        <p:nvSpPr>
          <p:cNvPr id="92" name="Google Shape;92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cd09b5486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dcd09b5486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cd09b5486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3dcd09b5486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cd09b5486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dcd09b5486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cd09b54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" name="Google Shape;128;g3dcd09b5486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They'll use coding agents all semester.</a:t>
            </a:r>
          </a:p>
        </p:txBody>
      </p:sp>
      <p:sp>
        <p:nvSpPr>
          <p:cNvPr id="129" name="Google Shape;129;g3dcd09b5486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cd09b548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5" name="Google Shape;135;g3dcd09b5486_0_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They'll use coding agents all semester.</a:t>
            </a:r>
          </a:p>
        </p:txBody>
      </p:sp>
      <p:sp>
        <p:nvSpPr>
          <p:cNvPr id="136" name="Google Shape;136;g3dcd09b5486_0_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They'll use coding agents all semester.</a:t>
            </a:r>
          </a:p>
        </p:txBody>
      </p:sp>
      <p:sp>
        <p:nvSpPr>
          <p:cNvPr id="143" name="Google Shape;143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50" name="Google Shape;150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cd09b5486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g3dcd09b5486_0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57" name="Google Shape;157;g3dcd09b5486_0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cd09b5486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g3dcd09b5486_0_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64" name="Google Shape;164;g3dcd09b5486_0_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cd09b5486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1" name="Google Shape;171;g3dcd09b5486_0_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72" name="Google Shape;172;g3dcd09b5486_0_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cd09b5486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8" name="Google Shape;178;g3dcd09b5486_0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79" name="Google Shape;179;g3dcd09b5486_0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dcd09b5486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6" name="Google Shape;186;g3dcd09b5486_0_5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87" name="Google Shape;187;g3dcd09b5486_0_5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cd09b5486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3" name="Google Shape;193;g3dcd09b5486_0_4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194" name="Google Shape;194;g3dcd09b5486_0_4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cd09b5486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1" name="Google Shape;201;g3dcd09b5486_0_5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202" name="Google Shape;202;g3dcd09b5486_0_5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cd09b5486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cd09b5486_0_6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209" name="Google Shape;209;g3dcd09b5486_0_6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cd09b5486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g3dcd09b5486_0_8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216" name="Google Shape;216;g3dcd09b5486_0_8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dcd09b5486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g3dcd09b5486_0_8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Exams are conceptual; they need to explain what their code does.</a:t>
            </a:r>
          </a:p>
        </p:txBody>
      </p:sp>
      <p:sp>
        <p:nvSpPr>
          <p:cNvPr id="223" name="Google Shape;223;g3dcd09b5486_0_8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Core mental model for the rest of the course.</a:t>
            </a:r>
          </a:p>
        </p:txBody>
      </p:sp>
      <p:sp>
        <p:nvSpPr>
          <p:cNvPr id="230" name="Google Shape;230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each layer top to bottom, then spend a minute on the arrows.</a:t>
            </a:r>
          </a:p>
        </p:txBody>
      </p:sp>
      <p:sp>
        <p:nvSpPr>
          <p:cNvPr id="237" name="Google Shape;237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cd09b5486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3dcd09b5486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dcd09b5486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3dcd09b5486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FB037EC6-C087-73E2-005E-68875A20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>
            <a:extLst>
              <a:ext uri="{FF2B5EF4-FFF2-40B4-BE49-F238E27FC236}">
                <a16:creationId xmlns:a16="http://schemas.microsoft.com/office/drawing/2014/main" id="{4D49E355-C591-FC54-010B-EF6D2DEAD9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>
            <a:extLst>
              <a:ext uri="{FF2B5EF4-FFF2-40B4-BE49-F238E27FC236}">
                <a16:creationId xmlns:a16="http://schemas.microsoft.com/office/drawing/2014/main" id="{078E80AD-BD21-7DF0-8D4C-357D8E2E91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290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>
          <a:extLst>
            <a:ext uri="{FF2B5EF4-FFF2-40B4-BE49-F238E27FC236}">
              <a16:creationId xmlns:a16="http://schemas.microsoft.com/office/drawing/2014/main" id="{7D43824C-B1D8-C84B-012B-A4477CC7C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>
            <a:extLst>
              <a:ext uri="{FF2B5EF4-FFF2-40B4-BE49-F238E27FC236}">
                <a16:creationId xmlns:a16="http://schemas.microsoft.com/office/drawing/2014/main" id="{5AE4E408-A30B-1268-92DF-2F28390BE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>
            <a:extLst>
              <a:ext uri="{FF2B5EF4-FFF2-40B4-BE49-F238E27FC236}">
                <a16:creationId xmlns:a16="http://schemas.microsoft.com/office/drawing/2014/main" id="{96118B25-E2ED-3230-A944-F96AC96C51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877609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dcd09b5486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3dcd09b5486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dcd09b5486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3dcd09b5486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Weeks 1-6 build the chat app solo; week 7 pairs/trios, open-ended.</a:t>
            </a:r>
          </a:p>
        </p:txBody>
      </p:sp>
      <p:sp>
        <p:nvSpPr>
          <p:cNvPr id="359" name="Google Shape;359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6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7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8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8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8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2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overview and goals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Credit Hours: 3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a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project-based course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designed to layer a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engineering toolkit atop your programming fundamentals.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ambitious, but you'll be encouraged to make full use of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(like LLMs) to help you up the learning curve,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much like in industry.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you'll learn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Upon successful completion, you'll be able to: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Understand and use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source control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Grasp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with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Implement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strategies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Build with a new language/framework: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cd09b5486_0_1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2" name="Google Shape;119;g3dcd09b5486_0_106">
            <a:extLst>
              <a:ext uri="{FF2B5EF4-FFF2-40B4-BE49-F238E27FC236}">
                <a16:creationId xmlns:a16="http://schemas.microsoft.com/office/drawing/2014/main" id="{0D979075-C712-2B63-B9C1-E21D19D2BF81}"/>
              </a:ext>
            </a:extLst>
          </p:cNvPr>
          <p:cNvSpPr txBox="1"/>
          <p:nvPr/>
        </p:nvSpPr>
        <p:spPr>
          <a:xfrm>
            <a:off x="914370" y="1012260"/>
            <a:ext cx="10362900" cy="1646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cd09b5486_0_11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2" name="Google Shape;119;g3dcd09b5486_0_106">
            <a:extLst>
              <a:ext uri="{FF2B5EF4-FFF2-40B4-BE49-F238E27FC236}">
                <a16:creationId xmlns:a16="http://schemas.microsoft.com/office/drawing/2014/main" id="{A035A582-2856-FCAF-1E4D-51FB899173B0}"/>
              </a:ext>
            </a:extLst>
          </p:cNvPr>
          <p:cNvSpPr txBox="1"/>
          <p:nvPr/>
        </p:nvSpPr>
        <p:spPr>
          <a:xfrm>
            <a:off x="914370" y="1012260"/>
            <a:ext cx="10362900" cy="3647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cd09b5486_0_10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Contrast with other schools</a:t>
            </a:r>
            <a:endParaRPr/>
          </a:p>
        </p:txBody>
      </p:sp>
      <p:sp>
        <p:nvSpPr>
          <p:cNvPr id="119" name="Google Shape;119;g3dcd09b5486_0_106"/>
          <p:cNvSpPr txBox="1"/>
          <p:nvPr/>
        </p:nvSpPr>
        <p:spPr>
          <a:xfrm>
            <a:off x="914370" y="1012260"/>
            <a:ext cx="10362900" cy="56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Stanford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CS107 follows on this to build up and expand your breadth and depth of programming experience and techniques. The course </a:t>
            </a: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work from the C programming language down to the microprocessor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de-mystify the machine.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Berkeley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subjects covered in this course include C and assembly language programming, translation of high-level programs into machine language, computer organization, caches, performance measurement, parallelism, CPU design, warehouse-scale computing, and related topics.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MIT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understanding of key software engineering ideas…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ability to apply these ideas to design, implement, and test a small-to-medium scale software system</a:t>
            </a:r>
            <a:endParaRPr sz="2400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Course structure and evaluation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914400" y="1463040"/>
            <a:ext cx="10362900" cy="42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Programming Projects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Class homework involves applying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lecture skills to build components of a client-server web app.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Final Project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multi-week group project (2-3 people) to build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open-ended web application, stringing together all technologies.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Exams f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ocused on conceptual mastery.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5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LLMs/coding agents</a:t>
            </a:r>
            <a:r>
              <a:rPr lang="en-US" sz="35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are encouraged for all assignments.</a:t>
            </a:r>
            <a:endParaRPr sz="2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cd09b5486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2" name="Google Shape;132;g3dcd09b5486_0_0"/>
          <p:cNvSpPr txBox="1"/>
          <p:nvPr/>
        </p:nvSpPr>
        <p:spPr>
          <a:xfrm>
            <a:off x="914400" y="1463040"/>
            <a:ext cx="103629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cd09b5486_0_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39" name="Google Shape;139;g3dcd09b5486_0_6"/>
          <p:cNvSpPr txBox="1"/>
          <p:nvPr/>
        </p:nvSpPr>
        <p:spPr>
          <a:xfrm>
            <a:off x="914400" y="1463040"/>
            <a:ext cx="10362900" cy="31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Chatbots, agents, and coding agents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Chatbot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 conversational interface to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ask a question, it answers. No tools, no actions.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ChatGPT, Claude.ai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LLM that can take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actions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in a loop.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reasons, calls tools (search, browse, APIs), and iterates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until a task is done. Autonomy is the key difference.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an agent specialized for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 engineering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It reads your codebase, writes code, runs tests, and commits.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Examples: Claude Code, Cursor, GitHub Copilot agent mode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Using coding agents in this course</a:t>
            </a:r>
            <a:endParaRPr/>
          </a:p>
        </p:txBody>
      </p:sp>
      <p:sp>
        <p:nvSpPr>
          <p:cNvPr id="153" name="Google Shape;153;p6"/>
          <p:cNvSpPr txBox="1"/>
          <p:nvPr/>
        </p:nvSpPr>
        <p:spPr>
          <a:xfrm>
            <a:off x="914400" y="1463050"/>
            <a:ext cx="10652400" cy="41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agents are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encouraged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all assignments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If you go on to produce code for a living, your primary coding language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will be English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Tips for getting the most out of them: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Up front: b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 specific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describe what you want, not how to do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Iterate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treat it like pair programming, not a magic box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Form opinions as it codes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ask yourself “how would I have done this” and compare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great at: boilerplate, syntax, debugging*,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command-line manipulations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What they're bad at: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consistency, code reuse, judgment around taking shortcuts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cd09b5486_0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0" name="Google Shape;160;g3dcd09b5486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cd09b5486_0_1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67" name="Google Shape;167;g3dcd09b5486_0_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7" cy="3352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g3dcd09b5486_0_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669769"/>
            <a:ext cx="11886876" cy="12584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dcd09b5486_0_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75" name="Google Shape;175;g3dcd09b5486_0_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cd09b5486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82" name="Google Shape;182;g3dcd09b5486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391900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cd09b5486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5317560"/>
            <a:ext cx="11886875" cy="1117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cd09b5486_0_5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0" name="Google Shape;190;g3dcd09b5486_0_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dcd09b5486_0_4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Pay attention!</a:t>
            </a:r>
            <a:endParaRPr/>
          </a:p>
        </p:txBody>
      </p:sp>
      <p:pic>
        <p:nvPicPr>
          <p:cNvPr id="197" name="Google Shape;197;g3dcd09b5486_0_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64660"/>
            <a:ext cx="11886873" cy="1428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g3dcd09b5486_0_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775" y="4652329"/>
            <a:ext cx="11886873" cy="1006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dcd09b5486_0_5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05" name="Google Shape;205;g3dcd09b5486_0_57"/>
          <p:cNvSpPr txBox="1"/>
          <p:nvPr/>
        </p:nvSpPr>
        <p:spPr>
          <a:xfrm>
            <a:off x="914400" y="1463050"/>
            <a:ext cx="10652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cd09b5486_0_6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2" name="Google Shape;212;g3dcd09b5486_0_63"/>
          <p:cNvSpPr txBox="1"/>
          <p:nvPr/>
        </p:nvSpPr>
        <p:spPr>
          <a:xfrm>
            <a:off x="914400" y="1463050"/>
            <a:ext cx="10652400" cy="13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cd09b5486_0_8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19" name="Google Shape;219;g3dcd09b5486_0_81"/>
          <p:cNvSpPr txBox="1"/>
          <p:nvPr/>
        </p:nvSpPr>
        <p:spPr>
          <a:xfrm>
            <a:off x="914400" y="1463050"/>
            <a:ext cx="10652400" cy="21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cd09b5486_0_8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Vibecoding</a:t>
            </a:r>
            <a:endParaRPr/>
          </a:p>
        </p:txBody>
      </p:sp>
      <p:sp>
        <p:nvSpPr>
          <p:cNvPr id="226" name="Google Shape;226;g3dcd09b5486_0_87"/>
          <p:cNvSpPr txBox="1"/>
          <p:nvPr/>
        </p:nvSpPr>
        <p:spPr>
          <a:xfrm>
            <a:off x="914400" y="1463050"/>
            <a:ext cx="10652400" cy="209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Coding without reading - when is this appropriate?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60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the project is simple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you’ve invested heavily in skills/Claude infra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81000" algn="l" rtl="0">
              <a:spcBef>
                <a:spcPts val="0"/>
              </a:spcBef>
              <a:spcAft>
                <a:spcPts val="0"/>
              </a:spcAft>
              <a:buClr>
                <a:srgbClr val="333344"/>
              </a:buClr>
              <a:buSzPts val="2400"/>
              <a:buFont typeface="Calibri"/>
              <a:buChar char="●"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you’re really experienced and have intuition around when it’s “safe”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Client-server architecture</a:t>
            </a:r>
            <a:endParaRPr/>
          </a:p>
        </p:txBody>
      </p:sp>
      <p:sp>
        <p:nvSpPr>
          <p:cNvPr id="233" name="Google Shape;233;p7"/>
          <p:cNvSpPr txBox="1"/>
          <p:nvPr/>
        </p:nvSpPr>
        <p:spPr>
          <a:xfrm>
            <a:off x="914400" y="1463040"/>
            <a:ext cx="10362895" cy="2693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fundamental structure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most web applications.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(usually your web browser) sends requests to a server.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processes these requests and sends back responses.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course is designed to introduce you to 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client-server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architecture.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big picture</a:t>
            </a:r>
            <a:endParaRPr/>
          </a:p>
        </p:txBody>
      </p:sp>
      <p:sp>
        <p:nvSpPr>
          <p:cNvPr id="240" name="Google Shape;240;p8"/>
          <p:cNvSpPr/>
          <p:nvPr/>
        </p:nvSpPr>
        <p:spPr>
          <a:xfrm>
            <a:off x="457200" y="1645920"/>
            <a:ext cx="3200400" cy="182880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(Browser)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HTML / CSS / JS</a:t>
            </a:r>
            <a:b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3931920" y="2011680"/>
            <a:ext cx="164592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8"/>
          <p:cNvSpPr txBox="1"/>
          <p:nvPr/>
        </p:nvSpPr>
        <p:spPr>
          <a:xfrm>
            <a:off x="3840480" y="155448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HTTP / REST API</a:t>
            </a:r>
            <a:endParaRPr/>
          </a:p>
        </p:txBody>
      </p:sp>
      <p:sp>
        <p:nvSpPr>
          <p:cNvPr id="243" name="Google Shape;243;p8"/>
          <p:cNvSpPr/>
          <p:nvPr/>
        </p:nvSpPr>
        <p:spPr>
          <a:xfrm rot="10800000">
            <a:off x="3931920" y="2926080"/>
            <a:ext cx="164592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 txBox="1"/>
          <p:nvPr/>
        </p:nvSpPr>
        <p:spPr>
          <a:xfrm>
            <a:off x="3931920" y="32918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JSON responses</a:t>
            </a: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852160" y="1645920"/>
            <a:ext cx="2926080" cy="182880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(Backend)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b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9052560" y="2286000"/>
            <a:ext cx="1097280" cy="3200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A580C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10332720" y="1645920"/>
            <a:ext cx="1554480" cy="182880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b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SQLAlchemy</a:t>
            </a: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457200" y="4389120"/>
            <a:ext cx="11430000" cy="914400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 cap="flat" cmpd="sng">
            <a:solidFill>
              <a:srgbClr val="666677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Tools:   Git  /  Unix + CLI  /  Testing  /  Cloud Deployment  /  CI/CD</a:t>
            </a:r>
            <a:endParaRPr/>
          </a:p>
        </p:txBody>
      </p:sp>
      <p:sp>
        <p:nvSpPr>
          <p:cNvPr id="249" name="Google Shape;249;p8"/>
          <p:cNvSpPr txBox="1"/>
          <p:nvPr/>
        </p:nvSpPr>
        <p:spPr>
          <a:xfrm>
            <a:off x="457200" y="53949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1-2</a:t>
            </a:r>
            <a:endParaRPr/>
          </a:p>
        </p:txBody>
      </p:sp>
      <p:sp>
        <p:nvSpPr>
          <p:cNvPr id="250" name="Google Shape;250;p8"/>
          <p:cNvSpPr txBox="1"/>
          <p:nvPr/>
        </p:nvSpPr>
        <p:spPr>
          <a:xfrm>
            <a:off x="3840480" y="539496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3-4</a:t>
            </a:r>
            <a:endParaRPr/>
          </a:p>
        </p:txBody>
      </p:sp>
      <p:sp>
        <p:nvSpPr>
          <p:cNvPr id="251" name="Google Shape;251;p8"/>
          <p:cNvSpPr txBox="1"/>
          <p:nvPr/>
        </p:nvSpPr>
        <p:spPr>
          <a:xfrm>
            <a:off x="5852160" y="539496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5-6</a:t>
            </a:r>
            <a:endParaRPr/>
          </a:p>
        </p:txBody>
      </p:sp>
      <p:sp>
        <p:nvSpPr>
          <p:cNvPr id="252" name="Google Shape;252;p8"/>
          <p:cNvSpPr txBox="1"/>
          <p:nvPr/>
        </p:nvSpPr>
        <p:spPr>
          <a:xfrm>
            <a:off x="9052560" y="53949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Weeks 7-10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1: The Client (Frontend)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dcd09b5486_0_12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3" name="Google Shape;263;g3dcd09b5486_0_122"/>
          <p:cNvSpPr txBox="1"/>
          <p:nvPr/>
        </p:nvSpPr>
        <p:spPr>
          <a:xfrm>
            <a:off x="914400" y="1463040"/>
            <a:ext cx="10362900" cy="13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dcd09b5486_0_1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69" name="Google Shape;269;g3dcd09b5486_0_127"/>
          <p:cNvSpPr txBox="1"/>
          <p:nvPr/>
        </p:nvSpPr>
        <p:spPr>
          <a:xfrm>
            <a:off x="914400" y="1463040"/>
            <a:ext cx="10362900" cy="26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client (frontend)</a:t>
            </a:r>
            <a:endParaRPr/>
          </a:p>
        </p:txBody>
      </p:sp>
      <p:sp>
        <p:nvSpPr>
          <p:cNvPr id="275" name="Google Shape;275;p10"/>
          <p:cNvSpPr txBox="1"/>
          <p:nvPr/>
        </p:nvSpPr>
        <p:spPr>
          <a:xfrm>
            <a:off x="914400" y="1463040"/>
            <a:ext cx="10362900" cy="512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part of the application that users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see and interact with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directly in their web browser.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Often referred to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"frontend"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 handles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Interface (UI)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and aims to provide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optimal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User Experience (UX)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HTML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 and content of web pages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CSS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visual presentation and styling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interactivity and dynamic behavior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React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library for building user interfaces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2: The Server (Backend)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DF384229-E306-851C-6B2F-9FF23D440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>
            <a:extLst>
              <a:ext uri="{FF2B5EF4-FFF2-40B4-BE49-F238E27FC236}">
                <a16:creationId xmlns:a16="http://schemas.microsoft.com/office/drawing/2014/main" id="{386B50B2-47B4-6F85-EAED-6F761BBDF258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>
            <a:extLst>
              <a:ext uri="{FF2B5EF4-FFF2-40B4-BE49-F238E27FC236}">
                <a16:creationId xmlns:a16="http://schemas.microsoft.com/office/drawing/2014/main" id="{D209B13D-F841-8831-9DE2-5EB1257D65F2}"/>
              </a:ext>
            </a:extLst>
          </p:cNvPr>
          <p:cNvSpPr txBox="1"/>
          <p:nvPr/>
        </p:nvSpPr>
        <p:spPr>
          <a:xfrm>
            <a:off x="914400" y="1463040"/>
            <a:ext cx="10362895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32117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>
          <a:extLst>
            <a:ext uri="{FF2B5EF4-FFF2-40B4-BE49-F238E27FC236}">
              <a16:creationId xmlns:a16="http://schemas.microsoft.com/office/drawing/2014/main" id="{49A6AFD2-9668-FC62-0197-A80D60C34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>
            <a:extLst>
              <a:ext uri="{FF2B5EF4-FFF2-40B4-BE49-F238E27FC236}">
                <a16:creationId xmlns:a16="http://schemas.microsoft.com/office/drawing/2014/main" id="{37683F9C-273D-C419-D214-326B34C2B5A8}"/>
              </a:ext>
            </a:extLst>
          </p:cNvPr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>
            <a:extLst>
              <a:ext uri="{FF2B5EF4-FFF2-40B4-BE49-F238E27FC236}">
                <a16:creationId xmlns:a16="http://schemas.microsoft.com/office/drawing/2014/main" id="{72B50859-7D1D-3C31-6956-04B8C6A1098A}"/>
              </a:ext>
            </a:extLst>
          </p:cNvPr>
          <p:cNvSpPr txBox="1"/>
          <p:nvPr/>
        </p:nvSpPr>
        <p:spPr>
          <a:xfrm>
            <a:off x="914400" y="1463040"/>
            <a:ext cx="10362895" cy="2462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processing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data, and interacting with databases.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557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server (backend)</a:t>
            </a:r>
            <a:endParaRPr/>
          </a:p>
        </p:txBody>
      </p:sp>
      <p:sp>
        <p:nvSpPr>
          <p:cNvPr id="298" name="Google Shape;298;p12"/>
          <p:cNvSpPr txBox="1"/>
          <p:nvPr/>
        </p:nvSpPr>
        <p:spPr>
          <a:xfrm>
            <a:off x="914400" y="1463040"/>
            <a:ext cx="10362895" cy="4970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"engine room"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 the web application, running on a remote computer.</a:t>
            </a:r>
            <a:endParaRPr lang="en-US" dirty="0">
              <a:ea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Known as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"backend"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spcBef>
                <a:spcPts val="600"/>
              </a:spcBef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responsible for managing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application logic</a:t>
            </a:r>
            <a:r>
              <a:rPr lang="en-US" sz="2400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processing 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data, and interacting with databases.</a:t>
            </a:r>
            <a:endParaRPr lang="en-US"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learn: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our server-side language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modern web framework for building APIs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Client-server messaging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communication patterns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between the frontend and backend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3: The Data Layer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data layer (databases)</a:t>
            </a:r>
            <a:endParaRPr/>
          </a:p>
        </p:txBody>
      </p:sp>
      <p:sp>
        <p:nvSpPr>
          <p:cNvPr id="309" name="Google Shape;309;p14"/>
          <p:cNvSpPr txBox="1"/>
          <p:nvPr/>
        </p:nvSpPr>
        <p:spPr>
          <a:xfrm>
            <a:off x="914400" y="1463040"/>
            <a:ext cx="10362900" cy="3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system where your application's data is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stored persistently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Essential for any application that needs to save user information,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posts, or other dynamic content.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Technologies we'll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cover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Relational Databases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structured tables (e.g., PostgreSQL)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SQL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language for querying databases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 I/O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reading and writing files (JSON, CSV)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Part 4: APIs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dcd09b5486_0_14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0" name="Google Shape;320;g3dcd09b5486_0_142"/>
          <p:cNvSpPr txBox="1"/>
          <p:nvPr/>
        </p:nvSpPr>
        <p:spPr>
          <a:xfrm>
            <a:off x="914400" y="1463040"/>
            <a:ext cx="103629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dcd09b5486_0_14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26" name="Google Shape;326;g3dcd09b5486_0_147"/>
          <p:cNvSpPr txBox="1"/>
          <p:nvPr/>
        </p:nvSpPr>
        <p:spPr>
          <a:xfrm>
            <a:off x="914400" y="1463040"/>
            <a:ext cx="10362900" cy="25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APIs (Application Programming Interfaces)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set of definitions and protocols that allow different software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components to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communicate with each other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APIs serve as the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"contract"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that enables the frontend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backend to exchange data and instructions.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(Representational State Transfer) - an architectural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style for designing networked applications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Uses standard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HTTP methods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: GET, POST, PUT, DELETE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 will learn to design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RESTful endpoints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our app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7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Bringing It All Together: Deployment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Deployment and cloud services</a:t>
            </a:r>
            <a:endParaRPr/>
          </a:p>
        </p:txBody>
      </p:sp>
      <p:sp>
        <p:nvSpPr>
          <p:cNvPr id="343" name="Google Shape;343;p18"/>
          <p:cNvSpPr txBox="1"/>
          <p:nvPr/>
        </p:nvSpPr>
        <p:spPr>
          <a:xfrm>
            <a:off x="914400" y="1463040"/>
            <a:ext cx="10362900" cy="45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the process of making your web application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accessible to users over the internet.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Cloud services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 on-demand computing (servers, storage,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databases) delivered over the internet.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Benefits: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Scalability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handle more users without buying hardware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redundancy and failover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Cost-efficiency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pay for what you use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Essential tool: version control (Git)</a:t>
            </a:r>
            <a:endParaRPr dirty="0"/>
          </a:p>
        </p:txBody>
      </p:sp>
      <p:sp>
        <p:nvSpPr>
          <p:cNvPr id="349" name="Google Shape;349;p19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system that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tracks changes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files and projects over time,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making collaboration and error recovery much easier.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Absolutely crucial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for team collaboration on shared codebases.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Core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concepts you'll learn: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Repositories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where your code lives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Commits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snapshots of your project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parallel lines of development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Merges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combining work together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Ensuring quality: testing</a:t>
            </a:r>
            <a:endParaRPr/>
          </a:p>
        </p:txBody>
      </p:sp>
      <p:sp>
        <p:nvSpPr>
          <p:cNvPr id="355" name="Google Shape;355;p20"/>
          <p:cNvSpPr txBox="1"/>
          <p:nvPr/>
        </p:nvSpPr>
        <p:spPr>
          <a:xfrm>
            <a:off x="914400" y="1463040"/>
            <a:ext cx="10728655" cy="4170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Ensures the </a:t>
            </a:r>
            <a:r>
              <a:rPr lang="en-US" sz="2400" b="1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reliability, functionality, and stability</a:t>
            </a: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of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software, helping to catch bugs early.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We'll focus on: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Unit Testing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testing individual components in isolation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Test-driven development (TDD)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Continuous Integration (CI)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automated testing and deployment workflows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 dirty="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Testing is a core software engineering discipline, not something tacked on at the end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your web app: course journey</a:t>
            </a:r>
            <a:endParaRPr/>
          </a:p>
        </p:txBody>
      </p:sp>
      <p:sp>
        <p:nvSpPr>
          <p:cNvPr id="362" name="Google Shape;362;p21"/>
          <p:cNvSpPr txBox="1"/>
          <p:nvPr/>
        </p:nvSpPr>
        <p:spPr>
          <a:xfrm>
            <a:off x="914400" y="1463040"/>
            <a:ext cx="10362895" cy="289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Throughout the semester, you will progressively build and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integrate these core components of a web application.</a:t>
            </a:r>
            <a:endParaRPr dirty="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 dirty="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Starting with foundational tools like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Unix/Linux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Then moving to the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data layer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REST APIs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2000" b="1" i="0" u="none" strike="noStrike" cap="none" dirty="0" err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Followed by frontend development with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JavaScript/React</a:t>
            </a:r>
            <a:endParaRPr dirty="0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And finally: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</a:t>
            </a:r>
            <a:r>
              <a:rPr lang="en-US" sz="2000" b="0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a significant </a:t>
            </a:r>
            <a:r>
              <a:rPr lang="en-US" sz="2000" b="1" i="0" u="none" strike="noStrike" cap="none" dirty="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group project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2307</Words>
  <Application>Microsoft Macintosh PowerPoint</Application>
  <PresentationFormat>Widescreen</PresentationFormat>
  <Paragraphs>260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1</cp:revision>
  <dcterms:created xsi:type="dcterms:W3CDTF">2013-01-27T09:14:16Z</dcterms:created>
  <dcterms:modified xsi:type="dcterms:W3CDTF">2026-08-02T19:00:14Z</dcterms:modified>
</cp:coreProperties>
</file>