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98" r:id="rId30"/>
    <p:sldId id="299"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SHhrZj3ltMzxGts6kppi2wr2lj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8" Type="http://customschemas.google.com/relationships/presentationmetadata" Target="metadata"/><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Welcome! It's project-based, and the whole idea is that we're layering an SE toolkit on top of the programming they already know how to do.</a:t>
            </a:r>
            <a:endParaRP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Set expectations early, because this thing moves fast and covers a LOT of ground. And I want them using LLMs the whole way through, out in the open, not sneaking around with them.</a:t>
            </a:r>
            <a:endParaRPr/>
          </a:p>
        </p:txBody>
      </p:sp>
      <p:sp>
        <p:nvSpPr>
          <p:cNvPr id="92" name="Google Shape;92;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dcd09b5486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dcd09b5486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dcd09b5486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g3dcd09b5486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dcd09b5486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3dcd09b5486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cd09b5486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8" name="Google Shape;128;g3dcd09b5486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What separates these is how much rope you hand it - a chatbot just answers you, an agent can go off and actually do things in a loop, and a coding agent is that same loop pointed at a codebase. They'll be living in the third one all semester.</a:t>
            </a:r>
            <a:endParaRPr/>
          </a:p>
        </p:txBody>
      </p:sp>
      <p:sp>
        <p:nvSpPr>
          <p:cNvPr id="129" name="Google Shape;129;g3dcd09b5486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dcd09b5486_0_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g3dcd09b5486_0_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What separates these is how much rope you hand it - a chatbot just answers you, an agent can go off and actually do things in a loop, and a coding agent is that same loop pointed at a codebase. They'll be living in the third one all semester.</a:t>
            </a:r>
            <a:endParaRPr/>
          </a:p>
        </p:txBody>
      </p:sp>
      <p:sp>
        <p:nvSpPr>
          <p:cNvPr id="136" name="Google Shape;136;g3dcd09b5486_0_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What separates these is how much rope you hand it - a chatbot just answers you, an agent can go off and actually do things in a loop, and a coding agent is that same loop pointed at a codebase. They'll be living in the third one all semester.</a:t>
            </a:r>
            <a:endParaRPr/>
          </a:p>
        </p:txBody>
      </p:sp>
      <p:sp>
        <p:nvSpPr>
          <p:cNvPr id="143" name="Google Shape;143;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150" name="Google Shape;150;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dcd09b5486_0_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g3dcd09b5486_0_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157" name="Google Shape;157;g3dcd09b5486_0_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dcd09b5486_0_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 name="Google Shape;163;g3dcd09b5486_0_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164" name="Google Shape;164;g3dcd09b5486_0_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dcd09b5486_0_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g3dcd09b5486_0_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172" name="Google Shape;172;g3dcd09b5486_0_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cd09b5486_0_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g3dcd09b5486_0_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179" name="Google Shape;179;g3dcd09b5486_0_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dcd09b5486_0_5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g3dcd09b5486_0_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187" name="Google Shape;187;g3dcd09b5486_0_5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cd09b5486_0_4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3" name="Google Shape;193;g3dcd09b5486_0_4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194" name="Google Shape;194;g3dcd09b5486_0_4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dcd09b5486_0_5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g3dcd09b5486_0_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202" name="Google Shape;202;g3dcd09b5486_0_5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dcd09b5486_0_6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8" name="Google Shape;208;g3dcd09b5486_0_6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209" name="Google Shape;209;g3dcd09b5486_0_6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dcd09b5486_0_8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g3dcd09b5486_0_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216" name="Google Shape;216;g3dcd09b5486_0_8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dcd09b5486_0_8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2" name="Google Shape;222;g3dcd09b5486_0_8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Push on this one. The students who can tell you what their code actually does are gonna run circles around the ones who just take whatever came out of the agent, and since the exams are conceptual that shows up pretty fast.</a:t>
            </a:r>
            <a:endParaRPr/>
          </a:p>
        </p:txBody>
      </p:sp>
      <p:sp>
        <p:nvSpPr>
          <p:cNvPr id="223" name="Google Shape;223;g3dcd09b5486_0_8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Core mental model. Everything after this hangs off it.</a:t>
            </a:r>
            <a:endParaRPr/>
          </a:p>
        </p:txBody>
      </p:sp>
      <p:sp>
        <p:nvSpPr>
          <p:cNvPr id="230" name="Google Shape;230;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Walk each layer - browser up top, Python server in the middle, database at the bottom - and then spend a minute on the arrows, because the arrows are the part they haven't seen before.</a:t>
            </a:r>
            <a:endParaRPr/>
          </a:p>
        </p:txBody>
      </p:sp>
      <p:sp>
        <p:nvSpPr>
          <p:cNvPr id="237" name="Google Shape;237;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dcd09b5486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3dcd09b5486_0_1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dcd09b5486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g3dcd09b5486_0_1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a:extLst>
            <a:ext uri="{FF2B5EF4-FFF2-40B4-BE49-F238E27FC236}">
              <a16:creationId xmlns:a16="http://schemas.microsoft.com/office/drawing/2014/main" id="{FB037EC6-C087-73E2-005E-68875A203A2C}"/>
            </a:ext>
          </a:extLst>
        </p:cNvPr>
        <p:cNvGrpSpPr/>
        <p:nvPr/>
      </p:nvGrpSpPr>
      <p:grpSpPr>
        <a:xfrm>
          <a:off x="0" y="0"/>
          <a:ext cx="0" cy="0"/>
          <a:chOff x="0" y="0"/>
          <a:chExt cx="0" cy="0"/>
        </a:xfrm>
      </p:grpSpPr>
      <p:sp>
        <p:nvSpPr>
          <p:cNvPr id="294" name="Google Shape;294;p12:notes">
            <a:extLst>
              <a:ext uri="{FF2B5EF4-FFF2-40B4-BE49-F238E27FC236}">
                <a16:creationId xmlns:a16="http://schemas.microsoft.com/office/drawing/2014/main" id="{4D49E355-C591-FC54-010B-EF6D2DEAD9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12:notes">
            <a:extLst>
              <a:ext uri="{FF2B5EF4-FFF2-40B4-BE49-F238E27FC236}">
                <a16:creationId xmlns:a16="http://schemas.microsoft.com/office/drawing/2014/main" id="{078E80AD-BD21-7DF0-8D4C-357D8E2E91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90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a:extLst>
            <a:ext uri="{FF2B5EF4-FFF2-40B4-BE49-F238E27FC236}">
              <a16:creationId xmlns:a16="http://schemas.microsoft.com/office/drawing/2014/main" id="{7D43824C-B1D8-C84B-012B-A4477CC7C62F}"/>
            </a:ext>
          </a:extLst>
        </p:cNvPr>
        <p:cNvGrpSpPr/>
        <p:nvPr/>
      </p:nvGrpSpPr>
      <p:grpSpPr>
        <a:xfrm>
          <a:off x="0" y="0"/>
          <a:ext cx="0" cy="0"/>
          <a:chOff x="0" y="0"/>
          <a:chExt cx="0" cy="0"/>
        </a:xfrm>
      </p:grpSpPr>
      <p:sp>
        <p:nvSpPr>
          <p:cNvPr id="294" name="Google Shape;294;p12:notes">
            <a:extLst>
              <a:ext uri="{FF2B5EF4-FFF2-40B4-BE49-F238E27FC236}">
                <a16:creationId xmlns:a16="http://schemas.microsoft.com/office/drawing/2014/main" id="{5AE4E408-A30B-1268-92DF-2F28390BE1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12:notes">
            <a:extLst>
              <a:ext uri="{FF2B5EF4-FFF2-40B4-BE49-F238E27FC236}">
                <a16:creationId xmlns:a16="http://schemas.microsoft.com/office/drawing/2014/main" id="{96118B25-E2ED-3230-A944-F96AC96C51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8776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dcd09b5486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dcd09b5486_0_14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dcd09b5486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g3dcd09b5486_0_1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8" name="Google Shape;358;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Roadmap slide. Weeks 1-6 they build the chat app piece by piece on their own, then week 7 they pair up (or trio up) and it goes open-ended.</a:t>
            </a:r>
            <a:endParaRPr/>
          </a:p>
        </p:txBody>
      </p:sp>
      <p:sp>
        <p:nvSpPr>
          <p:cNvPr id="359" name="Google Shape;359;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a:spLocks noGrp="1"/>
          </p:cNvSpPr>
          <p:nvPr>
            <p:ph type="pic" idx="2"/>
          </p:nvPr>
        </p:nvSpPr>
        <p:spPr>
          <a:xfrm>
            <a:off x="1792288" y="612775"/>
            <a:ext cx="5486400" cy="4114800"/>
          </a:xfrm>
          <a:prstGeom prst="rect">
            <a:avLst/>
          </a:prstGeom>
          <a:noFill/>
          <a:ln>
            <a:noFill/>
          </a:ln>
        </p:spPr>
      </p:sp>
      <p:sp>
        <p:nvSpPr>
          <p:cNvPr id="64" name="Google Shape;64;p3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1.1</a:t>
            </a:r>
            <a:endParaRPr/>
          </a:p>
        </p:txBody>
      </p:sp>
      <p:sp>
        <p:nvSpPr>
          <p:cNvPr id="87" name="Google Shape;87;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Software Engineering</a:t>
            </a:r>
            <a:endParaRPr/>
          </a:p>
        </p:txBody>
      </p:sp>
      <p:sp>
        <p:nvSpPr>
          <p:cNvPr id="88" name="Google Shape;88;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sp>
        <p:nvSpPr>
          <p:cNvPr id="94" name="Google Shape;94;p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Course overview and goals</a:t>
            </a:r>
            <a:endParaRPr/>
          </a:p>
        </p:txBody>
      </p:sp>
      <p:sp>
        <p:nvSpPr>
          <p:cNvPr id="95" name="Google Shape;95;p2"/>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Credit Hours: 3</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This is a </a:t>
            </a:r>
            <a:r>
              <a:rPr lang="en-US" sz="2400" b="1" i="0" u="none" strike="noStrike" cap="none">
                <a:solidFill>
                  <a:srgbClr val="333344"/>
                </a:solidFill>
                <a:latin typeface="Calibri"/>
                <a:ea typeface="Calibri"/>
                <a:cs typeface="Calibri"/>
                <a:sym typeface="Calibri"/>
              </a:rPr>
              <a:t>project-based course</a:t>
            </a:r>
            <a:r>
              <a:rPr lang="en-US" sz="2400" b="0" i="0" u="none" strike="noStrike" cap="none">
                <a:solidFill>
                  <a:srgbClr val="333344"/>
                </a:solidFill>
                <a:latin typeface="Calibri"/>
                <a:ea typeface="Calibri"/>
                <a:cs typeface="Calibri"/>
                <a:sym typeface="Calibri"/>
              </a:rPr>
              <a:t> designed to layer a software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engineering toolkit atop your programming fundamentals.</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It's ambitious, but you'll be encouraged to make full use of</a:t>
            </a:r>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coding agents</a:t>
            </a:r>
            <a:r>
              <a:rPr lang="en-US" sz="2400" b="0" i="0" u="none" strike="noStrike" cap="none">
                <a:solidFill>
                  <a:srgbClr val="333344"/>
                </a:solidFill>
                <a:latin typeface="Calibri"/>
                <a:ea typeface="Calibri"/>
                <a:cs typeface="Calibri"/>
                <a:sym typeface="Calibri"/>
              </a:rPr>
              <a:t> (like LLMs) to help you up the learning curve,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much like in industry.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
        <p:cNvGrpSpPr/>
        <p:nvPr/>
      </p:nvGrpSpPr>
      <p:grpSpPr>
        <a:xfrm>
          <a:off x="0" y="0"/>
          <a:ext cx="0" cy="0"/>
          <a:chOff x="0" y="0"/>
          <a:chExt cx="0" cy="0"/>
        </a:xfrm>
      </p:grpSpPr>
      <p:sp>
        <p:nvSpPr>
          <p:cNvPr id="100" name="Google Shape;100;p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you'll learn</a:t>
            </a:r>
            <a:endParaRPr/>
          </a:p>
        </p:txBody>
      </p:sp>
      <p:sp>
        <p:nvSpPr>
          <p:cNvPr id="101" name="Google Shape;101;p3"/>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Upon successful completion, you'll be able to:</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Understand and use </a:t>
            </a:r>
            <a:r>
              <a:rPr lang="en-US" sz="2000" b="1" i="0" u="none" strike="noStrike" cap="none">
                <a:solidFill>
                  <a:srgbClr val="666677"/>
                </a:solidFill>
                <a:latin typeface="Calibri"/>
                <a:ea typeface="Calibri"/>
                <a:cs typeface="Calibri"/>
                <a:sym typeface="Calibri"/>
              </a:rPr>
              <a:t>source control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Grasp </a:t>
            </a:r>
            <a:r>
              <a:rPr lang="en-US" sz="2000" b="1" i="0" u="none" strike="noStrike" cap="none">
                <a:solidFill>
                  <a:srgbClr val="666677"/>
                </a:solidFill>
                <a:latin typeface="Calibri"/>
                <a:ea typeface="Calibri"/>
                <a:cs typeface="Calibri"/>
                <a:sym typeface="Calibri"/>
              </a:rPr>
              <a:t>client-server architecture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Work with </a:t>
            </a:r>
            <a:r>
              <a:rPr lang="en-US" sz="2000" b="1" i="0" u="none" strike="noStrike" cap="none">
                <a:solidFill>
                  <a:srgbClr val="666677"/>
                </a:solidFill>
                <a:latin typeface="Calibri"/>
                <a:ea typeface="Calibri"/>
                <a:cs typeface="Calibri"/>
                <a:sym typeface="Calibri"/>
              </a:rPr>
              <a:t>cloud services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Implement </a:t>
            </a:r>
            <a:r>
              <a:rPr lang="en-US" sz="2000" b="1" i="0" u="none" strike="noStrike" cap="none">
                <a:solidFill>
                  <a:srgbClr val="666677"/>
                </a:solidFill>
                <a:latin typeface="Calibri"/>
                <a:ea typeface="Calibri"/>
                <a:cs typeface="Calibri"/>
                <a:sym typeface="Calibri"/>
              </a:rPr>
              <a:t>testing strategies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Build with a new language/framework: </a:t>
            </a:r>
            <a:r>
              <a:rPr lang="en-US" sz="2000" b="1" i="0" u="none" strike="noStrike" cap="none">
                <a:solidFill>
                  <a:srgbClr val="666677"/>
                </a:solidFill>
                <a:latin typeface="Calibri"/>
                <a:ea typeface="Calibri"/>
                <a:cs typeface="Calibri"/>
                <a:sym typeface="Calibri"/>
              </a:rPr>
              <a:t>JavaScript/React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sp>
        <p:nvSpPr>
          <p:cNvPr id="106" name="Google Shape;106;g3dcd09b5486_0_11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Contrast with other schools</a:t>
            </a:r>
            <a:endParaRPr/>
          </a:p>
        </p:txBody>
      </p:sp>
      <p:sp>
        <p:nvSpPr>
          <p:cNvPr id="2" name="Google Shape;119;g3dcd09b5486_0_106">
            <a:extLst>
              <a:ext uri="{FF2B5EF4-FFF2-40B4-BE49-F238E27FC236}">
                <a16:creationId xmlns:a16="http://schemas.microsoft.com/office/drawing/2014/main" id="{0D979075-C712-2B63-B9C1-E21D19D2BF81}"/>
              </a:ext>
            </a:extLst>
          </p:cNvPr>
          <p:cNvSpPr txBox="1"/>
          <p:nvPr/>
        </p:nvSpPr>
        <p:spPr>
          <a:xfrm>
            <a:off x="914370" y="1012260"/>
            <a:ext cx="10362900" cy="1646564"/>
          </a:xfrm>
          <a:prstGeom prst="rect">
            <a:avLst/>
          </a:prstGeom>
          <a:noFill/>
          <a:ln>
            <a:noFill/>
          </a:ln>
        </p:spPr>
        <p:txBody>
          <a:bodyPr spcFirstLastPara="1" wrap="square" lIns="91425" tIns="45700" rIns="91425" bIns="45700" anchor="t" anchorCtr="0">
            <a:spAutoFit/>
          </a:bodyPr>
          <a:lstStyle/>
          <a:p>
            <a:pPr marL="457200" marR="0" lvl="1" indent="0" algn="l" rtl="0">
              <a:spcBef>
                <a:spcPts val="600"/>
              </a:spcBef>
              <a:spcAft>
                <a:spcPts val="0"/>
              </a:spcAft>
              <a:buNone/>
            </a:pPr>
            <a:r>
              <a:rPr lang="en-US" sz="2400" b="1" dirty="0">
                <a:solidFill>
                  <a:srgbClr val="333344"/>
                </a:solidFill>
                <a:latin typeface="Calibri"/>
                <a:ea typeface="Calibri"/>
                <a:cs typeface="Calibri"/>
                <a:sym typeface="Calibri"/>
              </a:rPr>
              <a:t>Stanford</a:t>
            </a:r>
            <a:r>
              <a:rPr lang="en-US" sz="2400" dirty="0">
                <a:solidFill>
                  <a:srgbClr val="333344"/>
                </a:solidFill>
                <a:latin typeface="Calibri"/>
                <a:ea typeface="Calibri"/>
                <a:cs typeface="Calibri"/>
                <a:sym typeface="Calibri"/>
              </a:rPr>
              <a:t>: CS107 follows on this to build up and expand your breadth and depth of programming experience and techniques. The course </a:t>
            </a:r>
            <a:r>
              <a:rPr lang="en-US" sz="2400" b="1" dirty="0">
                <a:solidFill>
                  <a:srgbClr val="333344"/>
                </a:solidFill>
                <a:latin typeface="Calibri"/>
                <a:ea typeface="Calibri"/>
                <a:cs typeface="Calibri"/>
                <a:sym typeface="Calibri"/>
              </a:rPr>
              <a:t>will work from the C programming language down to the microprocessor</a:t>
            </a:r>
            <a:r>
              <a:rPr lang="en-US" sz="2400" dirty="0">
                <a:solidFill>
                  <a:srgbClr val="333344"/>
                </a:solidFill>
                <a:latin typeface="Calibri"/>
                <a:ea typeface="Calibri"/>
                <a:cs typeface="Calibri"/>
                <a:sym typeface="Calibri"/>
              </a:rPr>
              <a:t> to de-mystify the machine.</a:t>
            </a:r>
            <a:endParaRPr sz="2400" dirty="0">
              <a:solidFill>
                <a:srgbClr val="333344"/>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sp>
        <p:nvSpPr>
          <p:cNvPr id="112" name="Google Shape;112;g3dcd09b5486_0_11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Contrast with other schools</a:t>
            </a:r>
            <a:endParaRPr/>
          </a:p>
        </p:txBody>
      </p:sp>
      <p:sp>
        <p:nvSpPr>
          <p:cNvPr id="2" name="Google Shape;119;g3dcd09b5486_0_106">
            <a:extLst>
              <a:ext uri="{FF2B5EF4-FFF2-40B4-BE49-F238E27FC236}">
                <a16:creationId xmlns:a16="http://schemas.microsoft.com/office/drawing/2014/main" id="{A035A582-2856-FCAF-1E4D-51FB899173B0}"/>
              </a:ext>
            </a:extLst>
          </p:cNvPr>
          <p:cNvSpPr txBox="1"/>
          <p:nvPr/>
        </p:nvSpPr>
        <p:spPr>
          <a:xfrm>
            <a:off x="914370" y="1012260"/>
            <a:ext cx="10362900" cy="3647112"/>
          </a:xfrm>
          <a:prstGeom prst="rect">
            <a:avLst/>
          </a:prstGeom>
          <a:noFill/>
          <a:ln>
            <a:noFill/>
          </a:ln>
        </p:spPr>
        <p:txBody>
          <a:bodyPr spcFirstLastPara="1" wrap="square" lIns="91425" tIns="45700" rIns="91425" bIns="45700" anchor="t" anchorCtr="0">
            <a:spAutoFit/>
          </a:bodyPr>
          <a:lstStyle/>
          <a:p>
            <a:pPr marL="457200" marR="0" lvl="1" indent="0" algn="l" rtl="0">
              <a:spcBef>
                <a:spcPts val="600"/>
              </a:spcBef>
              <a:spcAft>
                <a:spcPts val="0"/>
              </a:spcAft>
              <a:buNone/>
            </a:pPr>
            <a:r>
              <a:rPr lang="en-US" sz="2400" b="1" dirty="0">
                <a:solidFill>
                  <a:srgbClr val="333344"/>
                </a:solidFill>
                <a:latin typeface="Calibri"/>
                <a:ea typeface="Calibri"/>
                <a:cs typeface="Calibri"/>
                <a:sym typeface="Calibri"/>
              </a:rPr>
              <a:t>Stanford</a:t>
            </a:r>
            <a:r>
              <a:rPr lang="en-US" sz="2400" dirty="0">
                <a:solidFill>
                  <a:srgbClr val="333344"/>
                </a:solidFill>
                <a:latin typeface="Calibri"/>
                <a:ea typeface="Calibri"/>
                <a:cs typeface="Calibri"/>
                <a:sym typeface="Calibri"/>
              </a:rPr>
              <a:t>: CS107 follows on this to build up and expand your breadth and depth of programming experience and techniques. The course </a:t>
            </a:r>
            <a:r>
              <a:rPr lang="en-US" sz="2400" b="1" dirty="0">
                <a:solidFill>
                  <a:srgbClr val="333344"/>
                </a:solidFill>
                <a:latin typeface="Calibri"/>
                <a:ea typeface="Calibri"/>
                <a:cs typeface="Calibri"/>
                <a:sym typeface="Calibri"/>
              </a:rPr>
              <a:t>will work from the C programming language down to the microprocessor</a:t>
            </a:r>
            <a:r>
              <a:rPr lang="en-US" sz="2400" dirty="0">
                <a:solidFill>
                  <a:srgbClr val="333344"/>
                </a:solidFill>
                <a:latin typeface="Calibri"/>
                <a:ea typeface="Calibri"/>
                <a:cs typeface="Calibri"/>
                <a:sym typeface="Calibri"/>
              </a:rPr>
              <a:t> to de-mystify the machine.</a:t>
            </a:r>
            <a:endParaRPr sz="2400" dirty="0">
              <a:solidFill>
                <a:srgbClr val="333344"/>
              </a:solidFill>
              <a:latin typeface="Calibri"/>
              <a:ea typeface="Calibri"/>
              <a:cs typeface="Calibri"/>
              <a:sym typeface="Calibri"/>
            </a:endParaRPr>
          </a:p>
          <a:p>
            <a:pPr marL="457200" marR="0" lvl="1" indent="0" algn="l" rtl="0">
              <a:spcBef>
                <a:spcPts val="600"/>
              </a:spcBef>
              <a:spcAft>
                <a:spcPts val="0"/>
              </a:spcAft>
              <a:buNone/>
            </a:pPr>
            <a:endParaRPr sz="2400"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400" b="1" dirty="0">
                <a:solidFill>
                  <a:srgbClr val="333344"/>
                </a:solidFill>
                <a:latin typeface="Calibri"/>
                <a:ea typeface="Calibri"/>
                <a:cs typeface="Calibri"/>
                <a:sym typeface="Calibri"/>
              </a:rPr>
              <a:t>Berkeley</a:t>
            </a:r>
            <a:r>
              <a:rPr lang="en-US" sz="2400" dirty="0">
                <a:solidFill>
                  <a:srgbClr val="333344"/>
                </a:solidFill>
                <a:latin typeface="Calibri"/>
                <a:ea typeface="Calibri"/>
                <a:cs typeface="Calibri"/>
                <a:sym typeface="Calibri"/>
              </a:rPr>
              <a:t>: The subjects covered in this course include C and assembly language programming, translation of high-level programs into machine language, computer organization, caches, performance measurement, parallelism, CPU design, warehouse-scale computing, and related topics.</a:t>
            </a:r>
            <a:endParaRPr sz="2400" dirty="0">
              <a:solidFill>
                <a:srgbClr val="333344"/>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7"/>
        <p:cNvGrpSpPr/>
        <p:nvPr/>
      </p:nvGrpSpPr>
      <p:grpSpPr>
        <a:xfrm>
          <a:off x="0" y="0"/>
          <a:ext cx="0" cy="0"/>
          <a:chOff x="0" y="0"/>
          <a:chExt cx="0" cy="0"/>
        </a:xfrm>
      </p:grpSpPr>
      <p:sp>
        <p:nvSpPr>
          <p:cNvPr id="118" name="Google Shape;118;g3dcd09b5486_0_10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Contrast with other schools</a:t>
            </a:r>
            <a:endParaRPr/>
          </a:p>
        </p:txBody>
      </p:sp>
      <p:sp>
        <p:nvSpPr>
          <p:cNvPr id="119" name="Google Shape;119;g3dcd09b5486_0_106"/>
          <p:cNvSpPr txBox="1"/>
          <p:nvPr/>
        </p:nvSpPr>
        <p:spPr>
          <a:xfrm>
            <a:off x="914370" y="1012260"/>
            <a:ext cx="10362900" cy="5649000"/>
          </a:xfrm>
          <a:prstGeom prst="rect">
            <a:avLst/>
          </a:prstGeom>
          <a:noFill/>
          <a:ln>
            <a:noFill/>
          </a:ln>
        </p:spPr>
        <p:txBody>
          <a:bodyPr spcFirstLastPara="1" wrap="square" lIns="91425" tIns="45700" rIns="91425" bIns="45700" anchor="t" anchorCtr="0">
            <a:spAutoFit/>
          </a:bodyPr>
          <a:lstStyle/>
          <a:p>
            <a:pPr marL="457200" marR="0" lvl="1" indent="0" algn="l" rtl="0">
              <a:spcBef>
                <a:spcPts val="600"/>
              </a:spcBef>
              <a:spcAft>
                <a:spcPts val="0"/>
              </a:spcAft>
              <a:buNone/>
            </a:pPr>
            <a:r>
              <a:rPr lang="en-US" sz="2400" b="1" dirty="0">
                <a:solidFill>
                  <a:srgbClr val="333344"/>
                </a:solidFill>
                <a:latin typeface="Calibri"/>
                <a:ea typeface="Calibri"/>
                <a:cs typeface="Calibri"/>
                <a:sym typeface="Calibri"/>
              </a:rPr>
              <a:t>Stanford</a:t>
            </a:r>
            <a:r>
              <a:rPr lang="en-US" sz="2400" dirty="0">
                <a:solidFill>
                  <a:srgbClr val="333344"/>
                </a:solidFill>
                <a:latin typeface="Calibri"/>
                <a:ea typeface="Calibri"/>
                <a:cs typeface="Calibri"/>
                <a:sym typeface="Calibri"/>
              </a:rPr>
              <a:t>: CS107 follows on this to build up and expand your breadth and depth of programming experience and techniques. The course </a:t>
            </a:r>
            <a:r>
              <a:rPr lang="en-US" sz="2400" b="1" dirty="0">
                <a:solidFill>
                  <a:srgbClr val="333344"/>
                </a:solidFill>
                <a:latin typeface="Calibri"/>
                <a:ea typeface="Calibri"/>
                <a:cs typeface="Calibri"/>
                <a:sym typeface="Calibri"/>
              </a:rPr>
              <a:t>will work from the C programming language down to the microprocessor</a:t>
            </a:r>
            <a:r>
              <a:rPr lang="en-US" sz="2400" dirty="0">
                <a:solidFill>
                  <a:srgbClr val="333344"/>
                </a:solidFill>
                <a:latin typeface="Calibri"/>
                <a:ea typeface="Calibri"/>
                <a:cs typeface="Calibri"/>
                <a:sym typeface="Calibri"/>
              </a:rPr>
              <a:t> to de-mystify the machine.</a:t>
            </a:r>
            <a:endParaRPr sz="2400" dirty="0">
              <a:solidFill>
                <a:srgbClr val="333344"/>
              </a:solidFill>
              <a:latin typeface="Calibri"/>
              <a:ea typeface="Calibri"/>
              <a:cs typeface="Calibri"/>
              <a:sym typeface="Calibri"/>
            </a:endParaRPr>
          </a:p>
          <a:p>
            <a:pPr marL="457200" marR="0" lvl="1" indent="0" algn="l" rtl="0">
              <a:spcBef>
                <a:spcPts val="600"/>
              </a:spcBef>
              <a:spcAft>
                <a:spcPts val="0"/>
              </a:spcAft>
              <a:buNone/>
            </a:pPr>
            <a:endParaRPr sz="2400"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400" b="1" dirty="0">
                <a:solidFill>
                  <a:srgbClr val="333344"/>
                </a:solidFill>
                <a:latin typeface="Calibri"/>
                <a:ea typeface="Calibri"/>
                <a:cs typeface="Calibri"/>
                <a:sym typeface="Calibri"/>
              </a:rPr>
              <a:t>Berkeley</a:t>
            </a:r>
            <a:r>
              <a:rPr lang="en-US" sz="2400" dirty="0">
                <a:solidFill>
                  <a:srgbClr val="333344"/>
                </a:solidFill>
                <a:latin typeface="Calibri"/>
                <a:ea typeface="Calibri"/>
                <a:cs typeface="Calibri"/>
                <a:sym typeface="Calibri"/>
              </a:rPr>
              <a:t>: The subjects covered in this course include C and assembly language programming, translation of high-level programs into machine language, computer organization, caches, performance measurement, parallelism, CPU design, warehouse-scale computing, and related topics.</a:t>
            </a:r>
            <a:endParaRPr sz="2400" dirty="0">
              <a:solidFill>
                <a:srgbClr val="333344"/>
              </a:solidFill>
              <a:latin typeface="Calibri"/>
              <a:ea typeface="Calibri"/>
              <a:cs typeface="Calibri"/>
              <a:sym typeface="Calibri"/>
            </a:endParaRPr>
          </a:p>
          <a:p>
            <a:pPr marL="457200" marR="0" lvl="1" indent="0" algn="l" rtl="0">
              <a:spcBef>
                <a:spcPts val="600"/>
              </a:spcBef>
              <a:spcAft>
                <a:spcPts val="0"/>
              </a:spcAft>
              <a:buNone/>
            </a:pPr>
            <a:endParaRPr sz="2400"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400" b="1" dirty="0">
                <a:solidFill>
                  <a:srgbClr val="333344"/>
                </a:solidFill>
                <a:latin typeface="Calibri"/>
                <a:ea typeface="Calibri"/>
                <a:cs typeface="Calibri"/>
                <a:sym typeface="Calibri"/>
              </a:rPr>
              <a:t>MIT</a:t>
            </a:r>
            <a:r>
              <a:rPr lang="en-US" sz="2400" dirty="0">
                <a:solidFill>
                  <a:srgbClr val="333344"/>
                </a:solidFill>
                <a:latin typeface="Calibri"/>
                <a:ea typeface="Calibri"/>
                <a:cs typeface="Calibri"/>
                <a:sym typeface="Calibri"/>
              </a:rPr>
              <a:t>: </a:t>
            </a:r>
            <a:endParaRPr sz="2400" dirty="0">
              <a:solidFill>
                <a:srgbClr val="333344"/>
              </a:solidFill>
              <a:latin typeface="Calibri"/>
              <a:ea typeface="Calibri"/>
              <a:cs typeface="Calibri"/>
              <a:sym typeface="Calibri"/>
            </a:endParaRPr>
          </a:p>
          <a:p>
            <a:pPr marL="914400" marR="0" lvl="0" indent="-381000" algn="l" rtl="0">
              <a:spcBef>
                <a:spcPts val="600"/>
              </a:spcBef>
              <a:spcAft>
                <a:spcPts val="0"/>
              </a:spcAft>
              <a:buClr>
                <a:srgbClr val="333344"/>
              </a:buClr>
              <a:buSzPts val="2400"/>
              <a:buFont typeface="Calibri"/>
              <a:buChar char="●"/>
            </a:pPr>
            <a:r>
              <a:rPr lang="en-US" sz="2400" dirty="0">
                <a:solidFill>
                  <a:srgbClr val="333344"/>
                </a:solidFill>
                <a:latin typeface="Calibri"/>
                <a:ea typeface="Calibri"/>
                <a:cs typeface="Calibri"/>
                <a:sym typeface="Calibri"/>
              </a:rPr>
              <a:t>an understanding of key software engineering ideas…</a:t>
            </a:r>
            <a:endParaRPr sz="2400" dirty="0">
              <a:solidFill>
                <a:srgbClr val="333344"/>
              </a:solidFill>
              <a:latin typeface="Calibri"/>
              <a:ea typeface="Calibri"/>
              <a:cs typeface="Calibri"/>
              <a:sym typeface="Calibri"/>
            </a:endParaRPr>
          </a:p>
          <a:p>
            <a:pPr marL="914400" marR="0" lvl="0" indent="-381000" algn="l" rtl="0">
              <a:spcBef>
                <a:spcPts val="0"/>
              </a:spcBef>
              <a:spcAft>
                <a:spcPts val="0"/>
              </a:spcAft>
              <a:buClr>
                <a:srgbClr val="333344"/>
              </a:buClr>
              <a:buSzPts val="2400"/>
              <a:buFont typeface="Calibri"/>
              <a:buChar char="●"/>
            </a:pPr>
            <a:r>
              <a:rPr lang="en-US" sz="2400" dirty="0">
                <a:solidFill>
                  <a:srgbClr val="333344"/>
                </a:solidFill>
                <a:latin typeface="Calibri"/>
                <a:ea typeface="Calibri"/>
                <a:cs typeface="Calibri"/>
                <a:sym typeface="Calibri"/>
              </a:rPr>
              <a:t>the ability to apply these ideas to design, implement, and test a small-to-medium scale software system</a:t>
            </a:r>
            <a:endParaRPr sz="2400" dirty="0">
              <a:solidFill>
                <a:srgbClr val="333344"/>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3"/>
        <p:cNvGrpSpPr/>
        <p:nvPr/>
      </p:nvGrpSpPr>
      <p:grpSpPr>
        <a:xfrm>
          <a:off x="0" y="0"/>
          <a:ext cx="0" cy="0"/>
          <a:chOff x="0" y="0"/>
          <a:chExt cx="0" cy="0"/>
        </a:xfrm>
      </p:grpSpPr>
      <p:sp>
        <p:nvSpPr>
          <p:cNvPr id="124" name="Google Shape;124;p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Course structure and evaluation</a:t>
            </a:r>
            <a:endParaRPr/>
          </a:p>
        </p:txBody>
      </p:sp>
      <p:sp>
        <p:nvSpPr>
          <p:cNvPr id="125" name="Google Shape;125;p4"/>
          <p:cNvSpPr txBox="1"/>
          <p:nvPr/>
        </p:nvSpPr>
        <p:spPr>
          <a:xfrm>
            <a:off x="914400" y="1463040"/>
            <a:ext cx="10362900" cy="420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Programming Projects</a:t>
            </a:r>
            <a:r>
              <a:rPr lang="en-US" sz="2400" b="0" i="0" u="none" strike="noStrike" cap="none">
                <a:solidFill>
                  <a:srgbClr val="333344"/>
                </a:solidFill>
                <a:latin typeface="Calibri"/>
                <a:ea typeface="Calibri"/>
                <a:cs typeface="Calibri"/>
                <a:sym typeface="Calibri"/>
              </a:rPr>
              <a:t>: Class homework involves applying</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lecture skills to build components of a client-server web app.</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Final Project</a:t>
            </a:r>
            <a:r>
              <a:rPr lang="en-US" sz="2400" b="0" i="0" u="none" strike="noStrike" cap="none">
                <a:solidFill>
                  <a:srgbClr val="333344"/>
                </a:solidFill>
                <a:latin typeface="Calibri"/>
                <a:ea typeface="Calibri"/>
                <a:cs typeface="Calibri"/>
                <a:sym typeface="Calibri"/>
              </a:rPr>
              <a:t>: A multi-week group project (2-3 people) to build</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 open-ended web application, stringing together all technologies.</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Exams</a:t>
            </a:r>
            <a:r>
              <a:rPr lang="en-US" sz="2400" b="0" i="0" u="none" strike="noStrike" cap="non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Exams f</a:t>
            </a:r>
            <a:r>
              <a:rPr lang="en-US" sz="2400" b="0" i="0" u="none" strike="noStrike" cap="none">
                <a:solidFill>
                  <a:srgbClr val="333344"/>
                </a:solidFill>
                <a:latin typeface="Calibri"/>
                <a:ea typeface="Calibri"/>
                <a:cs typeface="Calibri"/>
                <a:sym typeface="Calibri"/>
              </a:rPr>
              <a:t>ocused on conceptual mastery.</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3500" b="1" i="0" u="none" strike="noStrike" cap="none">
                <a:solidFill>
                  <a:srgbClr val="333344"/>
                </a:solidFill>
                <a:latin typeface="Calibri"/>
                <a:ea typeface="Calibri"/>
                <a:cs typeface="Calibri"/>
                <a:sym typeface="Calibri"/>
              </a:rPr>
              <a:t>LLMs/coding agents</a:t>
            </a:r>
            <a:r>
              <a:rPr lang="en-US" sz="3500" b="0" i="0" u="none" strike="noStrike" cap="none">
                <a:solidFill>
                  <a:srgbClr val="333344"/>
                </a:solidFill>
                <a:latin typeface="Calibri"/>
                <a:ea typeface="Calibri"/>
                <a:cs typeface="Calibri"/>
                <a:sym typeface="Calibri"/>
              </a:rPr>
              <a:t> are encouraged for all assignments.</a:t>
            </a:r>
            <a:endParaRPr sz="2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
        <p:cNvGrpSpPr/>
        <p:nvPr/>
      </p:nvGrpSpPr>
      <p:grpSpPr>
        <a:xfrm>
          <a:off x="0" y="0"/>
          <a:ext cx="0" cy="0"/>
          <a:chOff x="0" y="0"/>
          <a:chExt cx="0" cy="0"/>
        </a:xfrm>
      </p:grpSpPr>
      <p:sp>
        <p:nvSpPr>
          <p:cNvPr id="131" name="Google Shape;131;g3dcd09b5486_0_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Chatbots, agents, and coding agents</a:t>
            </a:r>
            <a:endParaRPr/>
          </a:p>
        </p:txBody>
      </p:sp>
      <p:sp>
        <p:nvSpPr>
          <p:cNvPr id="132" name="Google Shape;132;g3dcd09b5486_0_0"/>
          <p:cNvSpPr txBox="1"/>
          <p:nvPr/>
        </p:nvSpPr>
        <p:spPr>
          <a:xfrm>
            <a:off x="914400" y="1463040"/>
            <a:ext cx="10362900" cy="1231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Chatbot</a:t>
            </a:r>
            <a:r>
              <a:rPr lang="en-US" sz="2400" b="0" i="0" u="none" strike="noStrike" cap="none">
                <a:solidFill>
                  <a:srgbClr val="333344"/>
                </a:solidFill>
                <a:latin typeface="Calibri"/>
                <a:ea typeface="Calibri"/>
                <a:cs typeface="Calibri"/>
                <a:sym typeface="Calibri"/>
              </a:rPr>
              <a:t>: a conversational interface to an LLM.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ask a question, it answers. No tools, no actions.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Examples: ChatGPT, Claude.ai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sp>
        <p:nvSpPr>
          <p:cNvPr id="138" name="Google Shape;138;g3dcd09b5486_0_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Chatbots, agents, and coding agents</a:t>
            </a:r>
            <a:endParaRPr/>
          </a:p>
        </p:txBody>
      </p:sp>
      <p:sp>
        <p:nvSpPr>
          <p:cNvPr id="139" name="Google Shape;139;g3dcd09b5486_0_6"/>
          <p:cNvSpPr txBox="1"/>
          <p:nvPr/>
        </p:nvSpPr>
        <p:spPr>
          <a:xfrm>
            <a:off x="914400" y="1463040"/>
            <a:ext cx="10362900" cy="3124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Chatbot</a:t>
            </a:r>
            <a:r>
              <a:rPr lang="en-US" sz="2400" b="0" i="0" u="none" strike="noStrike" cap="none">
                <a:solidFill>
                  <a:srgbClr val="333344"/>
                </a:solidFill>
                <a:latin typeface="Calibri"/>
                <a:ea typeface="Calibri"/>
                <a:cs typeface="Calibri"/>
                <a:sym typeface="Calibri"/>
              </a:rPr>
              <a:t>: a conversational interface to an LLM.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ask a question, it answers. No tools, no actions.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Examples: ChatGPT, Claude.ai</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Agent</a:t>
            </a:r>
            <a:r>
              <a:rPr lang="en-US" sz="2400" b="0" i="0" u="none" strike="noStrike" cap="none">
                <a:solidFill>
                  <a:srgbClr val="333344"/>
                </a:solidFill>
                <a:latin typeface="Calibri"/>
                <a:ea typeface="Calibri"/>
                <a:cs typeface="Calibri"/>
                <a:sym typeface="Calibri"/>
              </a:rPr>
              <a:t>: an LLM that can take </a:t>
            </a:r>
            <a:r>
              <a:rPr lang="en-US" sz="2400" b="1" i="0" u="none" strike="noStrike" cap="none">
                <a:solidFill>
                  <a:srgbClr val="333344"/>
                </a:solidFill>
                <a:latin typeface="Calibri"/>
                <a:ea typeface="Calibri"/>
                <a:cs typeface="Calibri"/>
                <a:sym typeface="Calibri"/>
              </a:rPr>
              <a:t>actions</a:t>
            </a:r>
            <a:r>
              <a:rPr lang="en-US" sz="2400" b="0" i="0" u="none" strike="noStrike" cap="none">
                <a:solidFill>
                  <a:srgbClr val="333344"/>
                </a:solidFill>
                <a:latin typeface="Calibri"/>
                <a:ea typeface="Calibri"/>
                <a:cs typeface="Calibri"/>
                <a:sym typeface="Calibri"/>
              </a:rPr>
              <a:t> in a loop.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It reasons, calls tools (search, browse, APIs), and iterates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until a task is done. Autonomy is the key difference.</a:t>
            </a:r>
            <a:endParaRPr/>
          </a:p>
          <a:p>
            <a:pPr marL="457200" marR="0" lvl="1" indent="0" algn="l" rtl="0">
              <a:spcBef>
                <a:spcPts val="6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sp>
        <p:nvSpPr>
          <p:cNvPr id="145" name="Google Shape;145;p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Chatbots, agents, and coding agents</a:t>
            </a:r>
            <a:endParaRPr/>
          </a:p>
        </p:txBody>
      </p:sp>
      <p:sp>
        <p:nvSpPr>
          <p:cNvPr id="146" name="Google Shape;146;p5"/>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Chatbot</a:t>
            </a:r>
            <a:r>
              <a:rPr lang="en-US" sz="2400" b="0" i="0" u="none" strike="noStrike" cap="none">
                <a:solidFill>
                  <a:srgbClr val="333344"/>
                </a:solidFill>
                <a:latin typeface="Calibri"/>
                <a:ea typeface="Calibri"/>
                <a:cs typeface="Calibri"/>
                <a:sym typeface="Calibri"/>
              </a:rPr>
              <a:t>: a conversational interface to an LLM.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ask a question, it answers. No tools, no actions.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Examples: ChatGPT, Claude.ai</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Agent</a:t>
            </a:r>
            <a:r>
              <a:rPr lang="en-US" sz="2400" b="0" i="0" u="none" strike="noStrike" cap="none">
                <a:solidFill>
                  <a:srgbClr val="333344"/>
                </a:solidFill>
                <a:latin typeface="Calibri"/>
                <a:ea typeface="Calibri"/>
                <a:cs typeface="Calibri"/>
                <a:sym typeface="Calibri"/>
              </a:rPr>
              <a:t>: an LLM that can take </a:t>
            </a:r>
            <a:r>
              <a:rPr lang="en-US" sz="2400" b="1" i="0" u="none" strike="noStrike" cap="none">
                <a:solidFill>
                  <a:srgbClr val="333344"/>
                </a:solidFill>
                <a:latin typeface="Calibri"/>
                <a:ea typeface="Calibri"/>
                <a:cs typeface="Calibri"/>
                <a:sym typeface="Calibri"/>
              </a:rPr>
              <a:t>actions</a:t>
            </a:r>
            <a:r>
              <a:rPr lang="en-US" sz="2400" b="0" i="0" u="none" strike="noStrike" cap="none">
                <a:solidFill>
                  <a:srgbClr val="333344"/>
                </a:solidFill>
                <a:latin typeface="Calibri"/>
                <a:ea typeface="Calibri"/>
                <a:cs typeface="Calibri"/>
                <a:sym typeface="Calibri"/>
              </a:rPr>
              <a:t> in a loop.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It reasons, calls tools (search, browse, APIs), and iterates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until a task is done. Autonomy is the key difference.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Coding agent</a:t>
            </a:r>
            <a:r>
              <a:rPr lang="en-US" sz="2400" b="0" i="0" u="none" strike="noStrike" cap="none">
                <a:solidFill>
                  <a:srgbClr val="333344"/>
                </a:solidFill>
                <a:latin typeface="Calibri"/>
                <a:ea typeface="Calibri"/>
                <a:cs typeface="Calibri"/>
                <a:sym typeface="Calibri"/>
              </a:rPr>
              <a:t>: an agent specialized for </a:t>
            </a:r>
            <a:r>
              <a:rPr lang="en-US" sz="2400" b="1" i="0" u="none" strike="noStrike" cap="none">
                <a:solidFill>
                  <a:srgbClr val="333344"/>
                </a:solidFill>
                <a:latin typeface="Calibri"/>
                <a:ea typeface="Calibri"/>
                <a:cs typeface="Calibri"/>
                <a:sym typeface="Calibri"/>
              </a:rPr>
              <a:t>software engineering</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It reads your codebase, writes code, runs tests, and commits.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Examples: Claude Code, Cursor, GitHub Copilot agent mode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Using coding agents in this course</a:t>
            </a:r>
            <a:endParaRPr/>
          </a:p>
        </p:txBody>
      </p:sp>
      <p:sp>
        <p:nvSpPr>
          <p:cNvPr id="153" name="Google Shape;153;p6"/>
          <p:cNvSpPr txBox="1"/>
          <p:nvPr/>
        </p:nvSpPr>
        <p:spPr>
          <a:xfrm>
            <a:off x="914400" y="1463050"/>
            <a:ext cx="106524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Coding agents are </a:t>
            </a:r>
            <a:r>
              <a:rPr lang="en-US" sz="2400" b="1" i="0" u="none" strike="noStrike" cap="none">
                <a:solidFill>
                  <a:srgbClr val="333344"/>
                </a:solidFill>
                <a:latin typeface="Calibri"/>
                <a:ea typeface="Calibri"/>
                <a:cs typeface="Calibri"/>
                <a:sym typeface="Calibri"/>
              </a:rPr>
              <a:t>encouraged</a:t>
            </a:r>
            <a:r>
              <a:rPr lang="en-US" sz="2400" b="0" i="0" u="none" strike="noStrike" cap="none">
                <a:solidFill>
                  <a:srgbClr val="333344"/>
                </a:solidFill>
                <a:latin typeface="Calibri"/>
                <a:ea typeface="Calibri"/>
                <a:cs typeface="Calibri"/>
                <a:sym typeface="Calibri"/>
              </a:rPr>
              <a:t> for all assignments</a:t>
            </a:r>
            <a:r>
              <a:rPr lang="en-US" sz="2400">
                <a:solidFill>
                  <a:srgbClr val="333344"/>
                </a:solidFill>
                <a:latin typeface="Calibri"/>
                <a:ea typeface="Calibri"/>
                <a:cs typeface="Calibri"/>
                <a:sym typeface="Calibri"/>
              </a:rPr>
              <a:t>. If you go on to produce code for a living, your primary coding language </a:t>
            </a:r>
            <a:r>
              <a:rPr lang="en-US" sz="2400" b="1">
                <a:solidFill>
                  <a:srgbClr val="333344"/>
                </a:solidFill>
                <a:latin typeface="Calibri"/>
                <a:ea typeface="Calibri"/>
                <a:cs typeface="Calibri"/>
                <a:sym typeface="Calibri"/>
              </a:rPr>
              <a:t>will be English</a:t>
            </a:r>
            <a:r>
              <a:rPr lang="en-US" sz="2400">
                <a:solidFill>
                  <a:srgbClr val="333344"/>
                </a:solidFill>
                <a:latin typeface="Calibri"/>
                <a:ea typeface="Calibri"/>
                <a:cs typeface="Calibri"/>
                <a:sym typeface="Calibri"/>
              </a:rPr>
              <a:t>.</a:t>
            </a:r>
            <a:endParaRPr>
              <a:latin typeface="Calibri"/>
              <a:ea typeface="Calibri"/>
              <a:cs typeface="Calibri"/>
              <a:sym typeface="Calibri"/>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Tips for getting the most out of them: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Up front: b</a:t>
            </a:r>
            <a:r>
              <a:rPr lang="en-US" sz="2000" b="1" i="0" u="none" strike="noStrike" cap="none">
                <a:solidFill>
                  <a:srgbClr val="666677"/>
                </a:solidFill>
                <a:latin typeface="Calibri"/>
                <a:ea typeface="Calibri"/>
                <a:cs typeface="Calibri"/>
                <a:sym typeface="Calibri"/>
              </a:rPr>
              <a:t>e specific</a:t>
            </a:r>
            <a:r>
              <a:rPr lang="en-US" sz="2000" b="0" i="0" u="none" strike="noStrike" cap="none">
                <a:solidFill>
                  <a:srgbClr val="666677"/>
                </a:solidFill>
                <a:latin typeface="Calibri"/>
                <a:ea typeface="Calibri"/>
                <a:cs typeface="Calibri"/>
                <a:sym typeface="Calibri"/>
              </a:rPr>
              <a:t>: describe what you want, not how to do 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Iterate</a:t>
            </a:r>
            <a:r>
              <a:rPr lang="en-US" sz="2000" b="0" i="0" u="none" strike="noStrike" cap="none">
                <a:solidFill>
                  <a:srgbClr val="666677"/>
                </a:solidFill>
                <a:latin typeface="Calibri"/>
                <a:ea typeface="Calibri"/>
                <a:cs typeface="Calibri"/>
                <a:sym typeface="Calibri"/>
              </a:rPr>
              <a:t>: treat it like pair programming, not a magic box</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Form opinions as it codes</a:t>
            </a: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ask yourself “how would I have done this” and compare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What they're great at: boilerplate, syntax, debugging*, </a:t>
            </a:r>
            <a:r>
              <a:rPr lang="en-US" sz="2400">
                <a:solidFill>
                  <a:srgbClr val="333344"/>
                </a:solidFill>
                <a:latin typeface="Calibri"/>
                <a:ea typeface="Calibri"/>
                <a:cs typeface="Calibri"/>
                <a:sym typeface="Calibri"/>
              </a:rPr>
              <a:t>command-line manipulations</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What they're bad at: </a:t>
            </a:r>
            <a:r>
              <a:rPr lang="en-US" sz="2400">
                <a:solidFill>
                  <a:srgbClr val="333344"/>
                </a:solidFill>
                <a:latin typeface="Calibri"/>
                <a:ea typeface="Calibri"/>
                <a:cs typeface="Calibri"/>
                <a:sym typeface="Calibri"/>
              </a:rPr>
              <a:t>consistency, code reuse, judgment around taking shortcuts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8"/>
        <p:cNvGrpSpPr/>
        <p:nvPr/>
      </p:nvGrpSpPr>
      <p:grpSpPr>
        <a:xfrm>
          <a:off x="0" y="0"/>
          <a:ext cx="0" cy="0"/>
          <a:chOff x="0" y="0"/>
          <a:chExt cx="0" cy="0"/>
        </a:xfrm>
      </p:grpSpPr>
      <p:sp>
        <p:nvSpPr>
          <p:cNvPr id="159" name="Google Shape;159;g3dcd09b5486_0_1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Pay attention!</a:t>
            </a:r>
            <a:endParaRPr/>
          </a:p>
        </p:txBody>
      </p:sp>
      <p:pic>
        <p:nvPicPr>
          <p:cNvPr id="160" name="Google Shape;160;g3dcd09b5486_0_12"/>
          <p:cNvPicPr preferRelativeResize="0"/>
          <p:nvPr/>
        </p:nvPicPr>
        <p:blipFill>
          <a:blip r:embed="rId3">
            <a:alphaModFix/>
          </a:blip>
          <a:stretch>
            <a:fillRect/>
          </a:stretch>
        </p:blipFill>
        <p:spPr>
          <a:xfrm>
            <a:off x="152400" y="1164660"/>
            <a:ext cx="11886877" cy="33527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5"/>
        <p:cNvGrpSpPr/>
        <p:nvPr/>
      </p:nvGrpSpPr>
      <p:grpSpPr>
        <a:xfrm>
          <a:off x="0" y="0"/>
          <a:ext cx="0" cy="0"/>
          <a:chOff x="0" y="0"/>
          <a:chExt cx="0" cy="0"/>
        </a:xfrm>
      </p:grpSpPr>
      <p:sp>
        <p:nvSpPr>
          <p:cNvPr id="166" name="Google Shape;166;g3dcd09b5486_0_19"/>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Pay attention!</a:t>
            </a:r>
            <a:endParaRPr/>
          </a:p>
        </p:txBody>
      </p:sp>
      <p:pic>
        <p:nvPicPr>
          <p:cNvPr id="167" name="Google Shape;167;g3dcd09b5486_0_19"/>
          <p:cNvPicPr preferRelativeResize="0"/>
          <p:nvPr/>
        </p:nvPicPr>
        <p:blipFill>
          <a:blip r:embed="rId3">
            <a:alphaModFix/>
          </a:blip>
          <a:stretch>
            <a:fillRect/>
          </a:stretch>
        </p:blipFill>
        <p:spPr>
          <a:xfrm>
            <a:off x="152400" y="1164660"/>
            <a:ext cx="11886877" cy="3352709"/>
          </a:xfrm>
          <a:prstGeom prst="rect">
            <a:avLst/>
          </a:prstGeom>
          <a:noFill/>
          <a:ln>
            <a:noFill/>
          </a:ln>
        </p:spPr>
      </p:pic>
      <p:pic>
        <p:nvPicPr>
          <p:cNvPr id="168" name="Google Shape;168;g3dcd09b5486_0_19"/>
          <p:cNvPicPr preferRelativeResize="0"/>
          <p:nvPr/>
        </p:nvPicPr>
        <p:blipFill>
          <a:blip r:embed="rId4">
            <a:alphaModFix/>
          </a:blip>
          <a:stretch>
            <a:fillRect/>
          </a:stretch>
        </p:blipFill>
        <p:spPr>
          <a:xfrm>
            <a:off x="152400" y="4669769"/>
            <a:ext cx="11886876" cy="125841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3"/>
        <p:cNvGrpSpPr/>
        <p:nvPr/>
      </p:nvGrpSpPr>
      <p:grpSpPr>
        <a:xfrm>
          <a:off x="0" y="0"/>
          <a:ext cx="0" cy="0"/>
          <a:chOff x="0" y="0"/>
          <a:chExt cx="0" cy="0"/>
        </a:xfrm>
      </p:grpSpPr>
      <p:sp>
        <p:nvSpPr>
          <p:cNvPr id="174" name="Google Shape;174;g3dcd09b5486_0_3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Pay attention!</a:t>
            </a:r>
            <a:endParaRPr/>
          </a:p>
        </p:txBody>
      </p:sp>
      <p:pic>
        <p:nvPicPr>
          <p:cNvPr id="175" name="Google Shape;175;g3dcd09b5486_0_34"/>
          <p:cNvPicPr preferRelativeResize="0"/>
          <p:nvPr/>
        </p:nvPicPr>
        <p:blipFill>
          <a:blip r:embed="rId3">
            <a:alphaModFix/>
          </a:blip>
          <a:stretch>
            <a:fillRect/>
          </a:stretch>
        </p:blipFill>
        <p:spPr>
          <a:xfrm>
            <a:off x="152400" y="1164660"/>
            <a:ext cx="11391900" cy="4000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0"/>
        <p:cNvGrpSpPr/>
        <p:nvPr/>
      </p:nvGrpSpPr>
      <p:grpSpPr>
        <a:xfrm>
          <a:off x="0" y="0"/>
          <a:ext cx="0" cy="0"/>
          <a:chOff x="0" y="0"/>
          <a:chExt cx="0" cy="0"/>
        </a:xfrm>
      </p:grpSpPr>
      <p:sp>
        <p:nvSpPr>
          <p:cNvPr id="181" name="Google Shape;181;g3dcd09b5486_0_2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Pay attention!</a:t>
            </a:r>
            <a:endParaRPr/>
          </a:p>
        </p:txBody>
      </p:sp>
      <p:pic>
        <p:nvPicPr>
          <p:cNvPr id="182" name="Google Shape;182;g3dcd09b5486_0_26"/>
          <p:cNvPicPr preferRelativeResize="0"/>
          <p:nvPr/>
        </p:nvPicPr>
        <p:blipFill>
          <a:blip r:embed="rId3">
            <a:alphaModFix/>
          </a:blip>
          <a:stretch>
            <a:fillRect/>
          </a:stretch>
        </p:blipFill>
        <p:spPr>
          <a:xfrm>
            <a:off x="152400" y="1164660"/>
            <a:ext cx="11391900" cy="4000500"/>
          </a:xfrm>
          <a:prstGeom prst="rect">
            <a:avLst/>
          </a:prstGeom>
          <a:noFill/>
          <a:ln>
            <a:noFill/>
          </a:ln>
        </p:spPr>
      </p:pic>
      <p:pic>
        <p:nvPicPr>
          <p:cNvPr id="183" name="Google Shape;183;g3dcd09b5486_0_26"/>
          <p:cNvPicPr preferRelativeResize="0"/>
          <p:nvPr/>
        </p:nvPicPr>
        <p:blipFill>
          <a:blip r:embed="rId4">
            <a:alphaModFix/>
          </a:blip>
          <a:stretch>
            <a:fillRect/>
          </a:stretch>
        </p:blipFill>
        <p:spPr>
          <a:xfrm>
            <a:off x="152400" y="5317560"/>
            <a:ext cx="11886875" cy="111772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8"/>
        <p:cNvGrpSpPr/>
        <p:nvPr/>
      </p:nvGrpSpPr>
      <p:grpSpPr>
        <a:xfrm>
          <a:off x="0" y="0"/>
          <a:ext cx="0" cy="0"/>
          <a:chOff x="0" y="0"/>
          <a:chExt cx="0" cy="0"/>
        </a:xfrm>
      </p:grpSpPr>
      <p:sp>
        <p:nvSpPr>
          <p:cNvPr id="189" name="Google Shape;189;g3dcd09b5486_0_5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Pay attention!</a:t>
            </a:r>
            <a:endParaRPr/>
          </a:p>
        </p:txBody>
      </p:sp>
      <p:pic>
        <p:nvPicPr>
          <p:cNvPr id="190" name="Google Shape;190;g3dcd09b5486_0_50"/>
          <p:cNvPicPr preferRelativeResize="0"/>
          <p:nvPr/>
        </p:nvPicPr>
        <p:blipFill>
          <a:blip r:embed="rId3">
            <a:alphaModFix/>
          </a:blip>
          <a:stretch>
            <a:fillRect/>
          </a:stretch>
        </p:blipFill>
        <p:spPr>
          <a:xfrm>
            <a:off x="152400" y="1164660"/>
            <a:ext cx="11886873" cy="14286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sp>
        <p:nvSpPr>
          <p:cNvPr id="196" name="Google Shape;196;g3dcd09b5486_0_4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Pay attention!</a:t>
            </a:r>
            <a:endParaRPr/>
          </a:p>
        </p:txBody>
      </p:sp>
      <p:pic>
        <p:nvPicPr>
          <p:cNvPr id="197" name="Google Shape;197;g3dcd09b5486_0_41"/>
          <p:cNvPicPr preferRelativeResize="0"/>
          <p:nvPr/>
        </p:nvPicPr>
        <p:blipFill>
          <a:blip r:embed="rId3">
            <a:alphaModFix/>
          </a:blip>
          <a:stretch>
            <a:fillRect/>
          </a:stretch>
        </p:blipFill>
        <p:spPr>
          <a:xfrm>
            <a:off x="152400" y="1164660"/>
            <a:ext cx="11886873" cy="1428644"/>
          </a:xfrm>
          <a:prstGeom prst="rect">
            <a:avLst/>
          </a:prstGeom>
          <a:noFill/>
          <a:ln>
            <a:noFill/>
          </a:ln>
        </p:spPr>
      </p:pic>
      <p:pic>
        <p:nvPicPr>
          <p:cNvPr id="198" name="Google Shape;198;g3dcd09b5486_0_41"/>
          <p:cNvPicPr preferRelativeResize="0"/>
          <p:nvPr/>
        </p:nvPicPr>
        <p:blipFill>
          <a:blip r:embed="rId4">
            <a:alphaModFix/>
          </a:blip>
          <a:stretch>
            <a:fillRect/>
          </a:stretch>
        </p:blipFill>
        <p:spPr>
          <a:xfrm>
            <a:off x="194775" y="4652329"/>
            <a:ext cx="11886873" cy="100670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sp>
        <p:nvSpPr>
          <p:cNvPr id="204" name="Google Shape;204;g3dcd09b5486_0_5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Vibecoding</a:t>
            </a:r>
            <a:endParaRPr/>
          </a:p>
        </p:txBody>
      </p:sp>
      <p:sp>
        <p:nvSpPr>
          <p:cNvPr id="205" name="Google Shape;205;g3dcd09b5486_0_57"/>
          <p:cNvSpPr txBox="1"/>
          <p:nvPr/>
        </p:nvSpPr>
        <p:spPr>
          <a:xfrm>
            <a:off x="914400" y="1463050"/>
            <a:ext cx="106524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a:solidFill>
                  <a:srgbClr val="333344"/>
                </a:solidFill>
                <a:latin typeface="Calibri"/>
                <a:ea typeface="Calibri"/>
                <a:cs typeface="Calibri"/>
                <a:sym typeface="Calibri"/>
              </a:rPr>
              <a:t>Coding without reading - when is this appropriate?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sp>
        <p:nvSpPr>
          <p:cNvPr id="211" name="Google Shape;211;g3dcd09b5486_0_63"/>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Vibecoding</a:t>
            </a:r>
            <a:endParaRPr/>
          </a:p>
        </p:txBody>
      </p:sp>
      <p:sp>
        <p:nvSpPr>
          <p:cNvPr id="212" name="Google Shape;212;g3dcd09b5486_0_63"/>
          <p:cNvSpPr txBox="1"/>
          <p:nvPr/>
        </p:nvSpPr>
        <p:spPr>
          <a:xfrm>
            <a:off x="914400" y="1463050"/>
            <a:ext cx="10652400" cy="13545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a:solidFill>
                  <a:srgbClr val="333344"/>
                </a:solidFill>
                <a:latin typeface="Calibri"/>
                <a:ea typeface="Calibri"/>
                <a:cs typeface="Calibri"/>
                <a:sym typeface="Calibri"/>
              </a:rPr>
              <a:t>Coding without reading - when is this appropriate?</a:t>
            </a:r>
            <a:endParaRPr sz="2400">
              <a:solidFill>
                <a:srgbClr val="333344"/>
              </a:solidFill>
              <a:latin typeface="Calibri"/>
              <a:ea typeface="Calibri"/>
              <a:cs typeface="Calibri"/>
              <a:sym typeface="Calibri"/>
            </a:endParaRPr>
          </a:p>
          <a:p>
            <a:pPr marL="0" marR="0" lvl="0" indent="0" algn="l" rtl="0">
              <a:spcBef>
                <a:spcPts val="600"/>
              </a:spcBef>
              <a:spcAft>
                <a:spcPts val="0"/>
              </a:spcAft>
              <a:buNone/>
            </a:pPr>
            <a:endParaRPr sz="2400">
              <a:solidFill>
                <a:srgbClr val="333344"/>
              </a:solidFill>
              <a:latin typeface="Calibri"/>
              <a:ea typeface="Calibri"/>
              <a:cs typeface="Calibri"/>
              <a:sym typeface="Calibri"/>
            </a:endParaRPr>
          </a:p>
          <a:p>
            <a:pPr marL="457200" marR="0" lvl="0" indent="-381000" algn="l" rtl="0">
              <a:spcBef>
                <a:spcPts val="600"/>
              </a:spcBef>
              <a:spcAft>
                <a:spcPts val="0"/>
              </a:spcAft>
              <a:buClr>
                <a:srgbClr val="333344"/>
              </a:buClr>
              <a:buSzPts val="2400"/>
              <a:buFont typeface="Calibri"/>
              <a:buChar char="●"/>
            </a:pPr>
            <a:r>
              <a:rPr lang="en-US" sz="2400">
                <a:solidFill>
                  <a:srgbClr val="333344"/>
                </a:solidFill>
                <a:latin typeface="Calibri"/>
                <a:ea typeface="Calibri"/>
                <a:cs typeface="Calibri"/>
                <a:sym typeface="Calibri"/>
              </a:rPr>
              <a:t>If the project is simple</a:t>
            </a:r>
            <a:endParaRPr sz="2400">
              <a:solidFill>
                <a:srgbClr val="333344"/>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7"/>
        <p:cNvGrpSpPr/>
        <p:nvPr/>
      </p:nvGrpSpPr>
      <p:grpSpPr>
        <a:xfrm>
          <a:off x="0" y="0"/>
          <a:ext cx="0" cy="0"/>
          <a:chOff x="0" y="0"/>
          <a:chExt cx="0" cy="0"/>
        </a:xfrm>
      </p:grpSpPr>
      <p:sp>
        <p:nvSpPr>
          <p:cNvPr id="218" name="Google Shape;218;g3dcd09b5486_0_8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Vibecoding</a:t>
            </a:r>
            <a:endParaRPr/>
          </a:p>
        </p:txBody>
      </p:sp>
      <p:sp>
        <p:nvSpPr>
          <p:cNvPr id="219" name="Google Shape;219;g3dcd09b5486_0_81"/>
          <p:cNvSpPr txBox="1"/>
          <p:nvPr/>
        </p:nvSpPr>
        <p:spPr>
          <a:xfrm>
            <a:off x="914400" y="1463050"/>
            <a:ext cx="10652400" cy="21702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a:solidFill>
                  <a:srgbClr val="333344"/>
                </a:solidFill>
                <a:latin typeface="Calibri"/>
                <a:ea typeface="Calibri"/>
                <a:cs typeface="Calibri"/>
                <a:sym typeface="Calibri"/>
              </a:rPr>
              <a:t>Coding without reading - when is this appropriate?</a:t>
            </a:r>
            <a:endParaRPr sz="2400">
              <a:solidFill>
                <a:srgbClr val="333344"/>
              </a:solidFill>
              <a:latin typeface="Calibri"/>
              <a:ea typeface="Calibri"/>
              <a:cs typeface="Calibri"/>
              <a:sym typeface="Calibri"/>
            </a:endParaRPr>
          </a:p>
          <a:p>
            <a:pPr marL="0" marR="0" lvl="0" indent="0" algn="l" rtl="0">
              <a:spcBef>
                <a:spcPts val="600"/>
              </a:spcBef>
              <a:spcAft>
                <a:spcPts val="0"/>
              </a:spcAft>
              <a:buNone/>
            </a:pPr>
            <a:endParaRPr sz="2400">
              <a:solidFill>
                <a:srgbClr val="333344"/>
              </a:solidFill>
              <a:latin typeface="Calibri"/>
              <a:ea typeface="Calibri"/>
              <a:cs typeface="Calibri"/>
              <a:sym typeface="Calibri"/>
            </a:endParaRPr>
          </a:p>
          <a:p>
            <a:pPr marL="457200" marR="0" lvl="0" indent="-381000" algn="l" rtl="0">
              <a:spcBef>
                <a:spcPts val="600"/>
              </a:spcBef>
              <a:spcAft>
                <a:spcPts val="0"/>
              </a:spcAft>
              <a:buClr>
                <a:srgbClr val="333344"/>
              </a:buClr>
              <a:buSzPts val="2400"/>
              <a:buFont typeface="Calibri"/>
              <a:buChar char="●"/>
            </a:pPr>
            <a:r>
              <a:rPr lang="en-US" sz="2400">
                <a:solidFill>
                  <a:srgbClr val="333344"/>
                </a:solidFill>
                <a:latin typeface="Calibri"/>
                <a:ea typeface="Calibri"/>
                <a:cs typeface="Calibri"/>
                <a:sym typeface="Calibri"/>
              </a:rPr>
              <a:t>If the project is simple</a:t>
            </a:r>
            <a:endParaRPr sz="2400">
              <a:solidFill>
                <a:srgbClr val="333344"/>
              </a:solidFill>
              <a:latin typeface="Calibri"/>
              <a:ea typeface="Calibri"/>
              <a:cs typeface="Calibri"/>
              <a:sym typeface="Calibri"/>
            </a:endParaRPr>
          </a:p>
          <a:p>
            <a:pPr marL="457200" marR="0" lvl="0" indent="-381000" algn="l" rtl="0">
              <a:spcBef>
                <a:spcPts val="0"/>
              </a:spcBef>
              <a:spcAft>
                <a:spcPts val="0"/>
              </a:spcAft>
              <a:buClr>
                <a:srgbClr val="333344"/>
              </a:buClr>
              <a:buSzPts val="2400"/>
              <a:buFont typeface="Calibri"/>
              <a:buChar char="●"/>
            </a:pPr>
            <a:r>
              <a:rPr lang="en-US" sz="2400">
                <a:solidFill>
                  <a:srgbClr val="333344"/>
                </a:solidFill>
                <a:latin typeface="Calibri"/>
                <a:ea typeface="Calibri"/>
                <a:cs typeface="Calibri"/>
                <a:sym typeface="Calibri"/>
              </a:rPr>
              <a:t>If you’ve invested heavily in skills/Claude infra</a:t>
            </a:r>
            <a:endParaRPr sz="2400">
              <a:solidFill>
                <a:srgbClr val="333344"/>
              </a:solidFill>
              <a:latin typeface="Calibri"/>
              <a:ea typeface="Calibri"/>
              <a:cs typeface="Calibri"/>
              <a:sym typeface="Calibri"/>
            </a:endParaRPr>
          </a:p>
          <a:p>
            <a:pPr marL="457200" marR="0" lvl="0" indent="0" algn="l" rtl="0">
              <a:spcBef>
                <a:spcPts val="600"/>
              </a:spcBef>
              <a:spcAft>
                <a:spcPts val="0"/>
              </a:spcAft>
              <a:buNone/>
            </a:pPr>
            <a:endParaRPr sz="2400">
              <a:solidFill>
                <a:srgbClr val="333344"/>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sp>
        <p:nvSpPr>
          <p:cNvPr id="225" name="Google Shape;225;g3dcd09b5486_0_8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Vibecoding</a:t>
            </a:r>
            <a:endParaRPr/>
          </a:p>
        </p:txBody>
      </p:sp>
      <p:sp>
        <p:nvSpPr>
          <p:cNvPr id="226" name="Google Shape;226;g3dcd09b5486_0_87"/>
          <p:cNvSpPr txBox="1"/>
          <p:nvPr/>
        </p:nvSpPr>
        <p:spPr>
          <a:xfrm>
            <a:off x="914400" y="1463050"/>
            <a:ext cx="10652400" cy="20934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a:solidFill>
                  <a:srgbClr val="333344"/>
                </a:solidFill>
                <a:latin typeface="Calibri"/>
                <a:ea typeface="Calibri"/>
                <a:cs typeface="Calibri"/>
                <a:sym typeface="Calibri"/>
              </a:rPr>
              <a:t>Coding without reading - when is this appropriate?</a:t>
            </a:r>
            <a:endParaRPr sz="2400">
              <a:solidFill>
                <a:srgbClr val="333344"/>
              </a:solidFill>
              <a:latin typeface="Calibri"/>
              <a:ea typeface="Calibri"/>
              <a:cs typeface="Calibri"/>
              <a:sym typeface="Calibri"/>
            </a:endParaRPr>
          </a:p>
          <a:p>
            <a:pPr marL="0" marR="0" lvl="0" indent="0" algn="l" rtl="0">
              <a:spcBef>
                <a:spcPts val="600"/>
              </a:spcBef>
              <a:spcAft>
                <a:spcPts val="0"/>
              </a:spcAft>
              <a:buNone/>
            </a:pPr>
            <a:endParaRPr sz="2400">
              <a:solidFill>
                <a:srgbClr val="333344"/>
              </a:solidFill>
              <a:latin typeface="Calibri"/>
              <a:ea typeface="Calibri"/>
              <a:cs typeface="Calibri"/>
              <a:sym typeface="Calibri"/>
            </a:endParaRPr>
          </a:p>
          <a:p>
            <a:pPr marL="457200" marR="0" lvl="0" indent="-381000" algn="l" rtl="0">
              <a:spcBef>
                <a:spcPts val="600"/>
              </a:spcBef>
              <a:spcAft>
                <a:spcPts val="0"/>
              </a:spcAft>
              <a:buClr>
                <a:srgbClr val="333344"/>
              </a:buClr>
              <a:buSzPts val="2400"/>
              <a:buFont typeface="Calibri"/>
              <a:buChar char="●"/>
            </a:pPr>
            <a:r>
              <a:rPr lang="en-US" sz="2400">
                <a:solidFill>
                  <a:srgbClr val="333344"/>
                </a:solidFill>
                <a:latin typeface="Calibri"/>
                <a:ea typeface="Calibri"/>
                <a:cs typeface="Calibri"/>
                <a:sym typeface="Calibri"/>
              </a:rPr>
              <a:t>If the project is simple</a:t>
            </a:r>
            <a:endParaRPr sz="2400">
              <a:solidFill>
                <a:srgbClr val="333344"/>
              </a:solidFill>
              <a:latin typeface="Calibri"/>
              <a:ea typeface="Calibri"/>
              <a:cs typeface="Calibri"/>
              <a:sym typeface="Calibri"/>
            </a:endParaRPr>
          </a:p>
          <a:p>
            <a:pPr marL="457200" marR="0" lvl="0" indent="-381000" algn="l" rtl="0">
              <a:spcBef>
                <a:spcPts val="0"/>
              </a:spcBef>
              <a:spcAft>
                <a:spcPts val="0"/>
              </a:spcAft>
              <a:buClr>
                <a:srgbClr val="333344"/>
              </a:buClr>
              <a:buSzPts val="2400"/>
              <a:buFont typeface="Calibri"/>
              <a:buChar char="●"/>
            </a:pPr>
            <a:r>
              <a:rPr lang="en-US" sz="2400">
                <a:solidFill>
                  <a:srgbClr val="333344"/>
                </a:solidFill>
                <a:latin typeface="Calibri"/>
                <a:ea typeface="Calibri"/>
                <a:cs typeface="Calibri"/>
                <a:sym typeface="Calibri"/>
              </a:rPr>
              <a:t>If you’ve invested heavily in skills/Claude infra</a:t>
            </a:r>
            <a:endParaRPr sz="2400">
              <a:solidFill>
                <a:srgbClr val="333344"/>
              </a:solidFill>
              <a:latin typeface="Calibri"/>
              <a:ea typeface="Calibri"/>
              <a:cs typeface="Calibri"/>
              <a:sym typeface="Calibri"/>
            </a:endParaRPr>
          </a:p>
          <a:p>
            <a:pPr marL="457200" marR="0" lvl="0" indent="-381000" algn="l" rtl="0">
              <a:spcBef>
                <a:spcPts val="0"/>
              </a:spcBef>
              <a:spcAft>
                <a:spcPts val="0"/>
              </a:spcAft>
              <a:buClr>
                <a:srgbClr val="333344"/>
              </a:buClr>
              <a:buSzPts val="2400"/>
              <a:buFont typeface="Calibri"/>
              <a:buChar char="●"/>
            </a:pPr>
            <a:r>
              <a:rPr lang="en-US" sz="2400">
                <a:solidFill>
                  <a:srgbClr val="333344"/>
                </a:solidFill>
                <a:latin typeface="Calibri"/>
                <a:ea typeface="Calibri"/>
                <a:cs typeface="Calibri"/>
                <a:sym typeface="Calibri"/>
              </a:rPr>
              <a:t>If you’re really experienced and have intuition around when it’s “safe”</a:t>
            </a:r>
            <a:endParaRPr sz="2400">
              <a:solidFill>
                <a:srgbClr val="333344"/>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1"/>
        <p:cNvGrpSpPr/>
        <p:nvPr/>
      </p:nvGrpSpPr>
      <p:grpSpPr>
        <a:xfrm>
          <a:off x="0" y="0"/>
          <a:ext cx="0" cy="0"/>
          <a:chOff x="0" y="0"/>
          <a:chExt cx="0" cy="0"/>
        </a:xfrm>
      </p:grpSpPr>
      <p:sp>
        <p:nvSpPr>
          <p:cNvPr id="232" name="Google Shape;232;p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Client-server architecture</a:t>
            </a:r>
            <a:endParaRPr/>
          </a:p>
        </p:txBody>
      </p:sp>
      <p:sp>
        <p:nvSpPr>
          <p:cNvPr id="233" name="Google Shape;233;p7"/>
          <p:cNvSpPr txBox="1"/>
          <p:nvPr/>
        </p:nvSpPr>
        <p:spPr>
          <a:xfrm>
            <a:off x="914400" y="1463040"/>
            <a:ext cx="10362895" cy="26930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This is the </a:t>
            </a:r>
            <a:r>
              <a:rPr lang="en-US" sz="2400" b="1" i="0" u="none" strike="noStrike" cap="none" dirty="0">
                <a:solidFill>
                  <a:srgbClr val="333344"/>
                </a:solidFill>
                <a:latin typeface="Calibri"/>
                <a:ea typeface="Calibri"/>
                <a:cs typeface="Calibri"/>
                <a:sym typeface="Calibri"/>
              </a:rPr>
              <a:t>fundamental structure</a:t>
            </a:r>
            <a:r>
              <a:rPr lang="en-US" sz="2400" b="0" i="0" u="none" strike="noStrike" cap="none" dirty="0">
                <a:solidFill>
                  <a:srgbClr val="333344"/>
                </a:solidFill>
                <a:latin typeface="Calibri"/>
                <a:ea typeface="Calibri"/>
                <a:cs typeface="Calibri"/>
                <a:sym typeface="Calibri"/>
              </a:rPr>
              <a:t> for most web applications.</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A </a:t>
            </a:r>
            <a:r>
              <a:rPr lang="en-US" sz="2400" b="1" i="0" u="none" strike="noStrike" cap="none" dirty="0">
                <a:solidFill>
                  <a:srgbClr val="333344"/>
                </a:solidFill>
                <a:latin typeface="Calibri"/>
                <a:ea typeface="Calibri"/>
                <a:cs typeface="Calibri"/>
                <a:sym typeface="Calibri"/>
              </a:rPr>
              <a:t>client</a:t>
            </a:r>
            <a:r>
              <a:rPr lang="en-US" sz="2400" b="0" i="0" u="none" strike="noStrike" cap="none" dirty="0">
                <a:solidFill>
                  <a:srgbClr val="333344"/>
                </a:solidFill>
                <a:latin typeface="Calibri"/>
                <a:ea typeface="Calibri"/>
                <a:cs typeface="Calibri"/>
                <a:sym typeface="Calibri"/>
              </a:rPr>
              <a:t> (usually your web browser) sends requests to a server.</a:t>
            </a:r>
            <a:endParaRPr dirty="0"/>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A </a:t>
            </a:r>
            <a:r>
              <a:rPr lang="en-US" sz="2400" b="1" i="0" u="none" strike="noStrike" cap="none" dirty="0">
                <a:solidFill>
                  <a:srgbClr val="333344"/>
                </a:solidFill>
                <a:latin typeface="Calibri"/>
                <a:ea typeface="Calibri"/>
                <a:cs typeface="Calibri"/>
                <a:sym typeface="Calibri"/>
              </a:rPr>
              <a:t>server</a:t>
            </a:r>
            <a:r>
              <a:rPr lang="en-US" sz="2400" b="0" i="0" u="none" strike="noStrike" cap="none" dirty="0">
                <a:solidFill>
                  <a:srgbClr val="333344"/>
                </a:solidFill>
                <a:latin typeface="Calibri"/>
                <a:ea typeface="Calibri"/>
                <a:cs typeface="Calibri"/>
                <a:sym typeface="Calibri"/>
              </a:rPr>
              <a:t> processes these requests and sends back responses.</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lvl="0">
              <a:spcBef>
                <a:spcPts val="600"/>
              </a:spcBef>
            </a:pPr>
            <a:r>
              <a:rPr lang="en-US" sz="2400" b="0" i="0" u="none" strike="noStrike" cap="none" dirty="0">
                <a:solidFill>
                  <a:srgbClr val="333344"/>
                </a:solidFill>
                <a:latin typeface="Calibri"/>
                <a:ea typeface="Calibri"/>
                <a:cs typeface="Calibri"/>
                <a:sym typeface="Calibri"/>
              </a:rPr>
              <a:t>This course is designed to introduce you to </a:t>
            </a:r>
            <a:r>
              <a:rPr lang="en-US" sz="2400" dirty="0">
                <a:solidFill>
                  <a:srgbClr val="333344"/>
                </a:solidFill>
                <a:latin typeface="Calibri"/>
                <a:ea typeface="Calibri"/>
                <a:cs typeface="Calibri"/>
                <a:sym typeface="Calibri"/>
              </a:rPr>
              <a:t>this client-server </a:t>
            </a:r>
            <a:r>
              <a:rPr lang="en-US" sz="2400" b="0" i="0" u="none" strike="noStrike" cap="none" dirty="0">
                <a:solidFill>
                  <a:srgbClr val="333344"/>
                </a:solidFill>
                <a:latin typeface="Calibri"/>
                <a:ea typeface="Calibri"/>
                <a:cs typeface="Calibri"/>
                <a:sym typeface="Calibri"/>
              </a:rPr>
              <a:t>architecture.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8"/>
        <p:cNvGrpSpPr/>
        <p:nvPr/>
      </p:nvGrpSpPr>
      <p:grpSpPr>
        <a:xfrm>
          <a:off x="0" y="0"/>
          <a:ext cx="0" cy="0"/>
          <a:chOff x="0" y="0"/>
          <a:chExt cx="0" cy="0"/>
        </a:xfrm>
      </p:grpSpPr>
      <p:sp>
        <p:nvSpPr>
          <p:cNvPr id="239" name="Google Shape;239;p8"/>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The big picture</a:t>
            </a:r>
            <a:endParaRPr/>
          </a:p>
        </p:txBody>
      </p:sp>
      <p:sp>
        <p:nvSpPr>
          <p:cNvPr id="240" name="Google Shape;240;p8"/>
          <p:cNvSpPr/>
          <p:nvPr/>
        </p:nvSpPr>
        <p:spPr>
          <a:xfrm>
            <a:off x="457200" y="1645920"/>
            <a:ext cx="3200400" cy="1828800"/>
          </a:xfrm>
          <a:prstGeom prst="roundRect">
            <a:avLst>
              <a:gd name="adj" fmla="val 16667"/>
            </a:avLst>
          </a:prstGeom>
          <a:solidFill>
            <a:srgbClr val="DBEAFE"/>
          </a:solidFill>
          <a:ln w="12700" cap="flat" cmpd="sng">
            <a:solidFill>
              <a:srgbClr val="666677"/>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rgbClr val="1D4ED8"/>
                </a:solidFill>
                <a:latin typeface="Calibri"/>
                <a:ea typeface="Calibri"/>
                <a:cs typeface="Calibri"/>
                <a:sym typeface="Calibri"/>
              </a:rPr>
              <a:t>Client</a:t>
            </a:r>
            <a:br>
              <a:rPr lang="en-US" sz="1800" b="1" i="0" u="none" strike="noStrike" cap="none">
                <a:solidFill>
                  <a:srgbClr val="1D4ED8"/>
                </a:solidFill>
                <a:latin typeface="Calibri"/>
                <a:ea typeface="Calibri"/>
                <a:cs typeface="Calibri"/>
                <a:sym typeface="Calibri"/>
              </a:rPr>
            </a:br>
            <a:r>
              <a:rPr lang="en-US" sz="1800" b="1" i="0" u="none" strike="noStrike" cap="none">
                <a:solidFill>
                  <a:srgbClr val="1D4ED8"/>
                </a:solidFill>
                <a:latin typeface="Calibri"/>
                <a:ea typeface="Calibri"/>
                <a:cs typeface="Calibri"/>
                <a:sym typeface="Calibri"/>
              </a:rPr>
              <a:t>(Browser)</a:t>
            </a:r>
            <a:br>
              <a:rPr lang="en-US" sz="1800" b="1" i="0" u="none" strike="noStrike" cap="none">
                <a:solidFill>
                  <a:srgbClr val="1D4ED8"/>
                </a:solidFill>
                <a:latin typeface="Calibri"/>
                <a:ea typeface="Calibri"/>
                <a:cs typeface="Calibri"/>
                <a:sym typeface="Calibri"/>
              </a:rPr>
            </a:br>
            <a:br>
              <a:rPr lang="en-US" sz="1800" b="1" i="0" u="none" strike="noStrike" cap="none">
                <a:solidFill>
                  <a:srgbClr val="1D4ED8"/>
                </a:solidFill>
                <a:latin typeface="Calibri"/>
                <a:ea typeface="Calibri"/>
                <a:cs typeface="Calibri"/>
                <a:sym typeface="Calibri"/>
              </a:rPr>
            </a:br>
            <a:r>
              <a:rPr lang="en-US" sz="1800" b="1" i="0" u="none" strike="noStrike" cap="none">
                <a:solidFill>
                  <a:srgbClr val="1D4ED8"/>
                </a:solidFill>
                <a:latin typeface="Calibri"/>
                <a:ea typeface="Calibri"/>
                <a:cs typeface="Calibri"/>
                <a:sym typeface="Calibri"/>
              </a:rPr>
              <a:t>HTML / CSS / JS</a:t>
            </a:r>
            <a:br>
              <a:rPr lang="en-US" sz="1800" b="1" i="0" u="none" strike="noStrike" cap="none">
                <a:solidFill>
                  <a:srgbClr val="1D4ED8"/>
                </a:solidFill>
                <a:latin typeface="Calibri"/>
                <a:ea typeface="Calibri"/>
                <a:cs typeface="Calibri"/>
                <a:sym typeface="Calibri"/>
              </a:rPr>
            </a:br>
            <a:r>
              <a:rPr lang="en-US" sz="1800" b="1" i="0" u="none" strike="noStrike" cap="none">
                <a:solidFill>
                  <a:srgbClr val="1D4ED8"/>
                </a:solidFill>
                <a:latin typeface="Calibri"/>
                <a:ea typeface="Calibri"/>
                <a:cs typeface="Calibri"/>
                <a:sym typeface="Calibri"/>
              </a:rPr>
              <a:t>React</a:t>
            </a:r>
            <a:endParaRPr/>
          </a:p>
        </p:txBody>
      </p:sp>
      <p:sp>
        <p:nvSpPr>
          <p:cNvPr id="241" name="Google Shape;241;p8"/>
          <p:cNvSpPr/>
          <p:nvPr/>
        </p:nvSpPr>
        <p:spPr>
          <a:xfrm>
            <a:off x="3931920" y="2011680"/>
            <a:ext cx="1645920" cy="320040"/>
          </a:xfrm>
          <a:prstGeom prst="rightArrow">
            <a:avLst>
              <a:gd name="adj1" fmla="val 50000"/>
              <a:gd name="adj2" fmla="val 50000"/>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8"/>
          <p:cNvSpPr txBox="1"/>
          <p:nvPr/>
        </p:nvSpPr>
        <p:spPr>
          <a:xfrm>
            <a:off x="3840480" y="1554480"/>
            <a:ext cx="182880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rgbClr val="5B21B6"/>
                </a:solidFill>
                <a:latin typeface="Calibri"/>
                <a:ea typeface="Calibri"/>
                <a:cs typeface="Calibri"/>
                <a:sym typeface="Calibri"/>
              </a:rPr>
              <a:t>HTTP / REST API</a:t>
            </a:r>
            <a:endParaRPr/>
          </a:p>
        </p:txBody>
      </p:sp>
      <p:sp>
        <p:nvSpPr>
          <p:cNvPr id="243" name="Google Shape;243;p8"/>
          <p:cNvSpPr/>
          <p:nvPr/>
        </p:nvSpPr>
        <p:spPr>
          <a:xfrm rot="10800000">
            <a:off x="3931920" y="2926080"/>
            <a:ext cx="1645920" cy="320040"/>
          </a:xfrm>
          <a:prstGeom prst="rightArrow">
            <a:avLst>
              <a:gd name="adj1" fmla="val 50000"/>
              <a:gd name="adj2" fmla="val 50000"/>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8"/>
          <p:cNvSpPr txBox="1"/>
          <p:nvPr/>
        </p:nvSpPr>
        <p:spPr>
          <a:xfrm>
            <a:off x="3931920" y="3291840"/>
            <a:ext cx="164592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rgbClr val="5B21B6"/>
                </a:solidFill>
                <a:latin typeface="Calibri"/>
                <a:ea typeface="Calibri"/>
                <a:cs typeface="Calibri"/>
                <a:sym typeface="Calibri"/>
              </a:rPr>
              <a:t>JSON responses</a:t>
            </a:r>
            <a:endParaRPr/>
          </a:p>
        </p:txBody>
      </p:sp>
      <p:sp>
        <p:nvSpPr>
          <p:cNvPr id="245" name="Google Shape;245;p8"/>
          <p:cNvSpPr/>
          <p:nvPr/>
        </p:nvSpPr>
        <p:spPr>
          <a:xfrm>
            <a:off x="5852160" y="1645920"/>
            <a:ext cx="2926080" cy="1828800"/>
          </a:xfrm>
          <a:prstGeom prst="roundRect">
            <a:avLst>
              <a:gd name="adj" fmla="val 16667"/>
            </a:avLst>
          </a:prstGeom>
          <a:solidFill>
            <a:srgbClr val="DCFCE7"/>
          </a:solidFill>
          <a:ln w="12700" cap="flat" cmpd="sng">
            <a:solidFill>
              <a:srgbClr val="666677"/>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rgbClr val="166534"/>
                </a:solidFill>
                <a:latin typeface="Calibri"/>
                <a:ea typeface="Calibri"/>
                <a:cs typeface="Calibri"/>
                <a:sym typeface="Calibri"/>
              </a:rPr>
              <a:t>Server</a:t>
            </a:r>
            <a:br>
              <a:rPr lang="en-US" sz="1800" b="1" i="0" u="none" strike="noStrike" cap="none">
                <a:solidFill>
                  <a:srgbClr val="166534"/>
                </a:solidFill>
                <a:latin typeface="Calibri"/>
                <a:ea typeface="Calibri"/>
                <a:cs typeface="Calibri"/>
                <a:sym typeface="Calibri"/>
              </a:rPr>
            </a:br>
            <a:r>
              <a:rPr lang="en-US" sz="1800" b="1" i="0" u="none" strike="noStrike" cap="none">
                <a:solidFill>
                  <a:srgbClr val="166534"/>
                </a:solidFill>
                <a:latin typeface="Calibri"/>
                <a:ea typeface="Calibri"/>
                <a:cs typeface="Calibri"/>
                <a:sym typeface="Calibri"/>
              </a:rPr>
              <a:t>(Backend)</a:t>
            </a:r>
            <a:br>
              <a:rPr lang="en-US" sz="1800" b="1" i="0" u="none" strike="noStrike" cap="none">
                <a:solidFill>
                  <a:srgbClr val="166534"/>
                </a:solidFill>
                <a:latin typeface="Calibri"/>
                <a:ea typeface="Calibri"/>
                <a:cs typeface="Calibri"/>
                <a:sym typeface="Calibri"/>
              </a:rPr>
            </a:br>
            <a:br>
              <a:rPr lang="en-US" sz="1800" b="1" i="0" u="none" strike="noStrike" cap="none">
                <a:solidFill>
                  <a:srgbClr val="166534"/>
                </a:solidFill>
                <a:latin typeface="Calibri"/>
                <a:ea typeface="Calibri"/>
                <a:cs typeface="Calibri"/>
                <a:sym typeface="Calibri"/>
              </a:rPr>
            </a:br>
            <a:r>
              <a:rPr lang="en-US" sz="1800" b="1" i="0" u="none" strike="noStrike" cap="none">
                <a:solidFill>
                  <a:srgbClr val="166534"/>
                </a:solidFill>
                <a:latin typeface="Calibri"/>
                <a:ea typeface="Calibri"/>
                <a:cs typeface="Calibri"/>
                <a:sym typeface="Calibri"/>
              </a:rPr>
              <a:t>Python</a:t>
            </a:r>
            <a:br>
              <a:rPr lang="en-US" sz="1800" b="1" i="0" u="none" strike="noStrike" cap="none">
                <a:solidFill>
                  <a:srgbClr val="166534"/>
                </a:solidFill>
                <a:latin typeface="Calibri"/>
                <a:ea typeface="Calibri"/>
                <a:cs typeface="Calibri"/>
                <a:sym typeface="Calibri"/>
              </a:rPr>
            </a:br>
            <a:r>
              <a:rPr lang="en-US" sz="1800" b="1" i="0" u="none" strike="noStrike" cap="none">
                <a:solidFill>
                  <a:srgbClr val="166534"/>
                </a:solidFill>
                <a:latin typeface="Calibri"/>
                <a:ea typeface="Calibri"/>
                <a:cs typeface="Calibri"/>
                <a:sym typeface="Calibri"/>
              </a:rPr>
              <a:t>FastAPI</a:t>
            </a:r>
            <a:endParaRPr/>
          </a:p>
        </p:txBody>
      </p:sp>
      <p:sp>
        <p:nvSpPr>
          <p:cNvPr id="246" name="Google Shape;246;p8"/>
          <p:cNvSpPr/>
          <p:nvPr/>
        </p:nvSpPr>
        <p:spPr>
          <a:xfrm>
            <a:off x="9052560" y="2286000"/>
            <a:ext cx="1097280" cy="320040"/>
          </a:xfrm>
          <a:prstGeom prst="rightArrow">
            <a:avLst>
              <a:gd name="adj1" fmla="val 50000"/>
              <a:gd name="adj2" fmla="val 50000"/>
            </a:avLst>
          </a:prstGeom>
          <a:solidFill>
            <a:srgbClr val="EA580C"/>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8"/>
          <p:cNvSpPr/>
          <p:nvPr/>
        </p:nvSpPr>
        <p:spPr>
          <a:xfrm>
            <a:off x="10332720" y="1645920"/>
            <a:ext cx="1554480" cy="1828800"/>
          </a:xfrm>
          <a:prstGeom prst="roundRect">
            <a:avLst>
              <a:gd name="adj" fmla="val 16667"/>
            </a:avLst>
          </a:prstGeom>
          <a:solidFill>
            <a:srgbClr val="FEF3C7"/>
          </a:solidFill>
          <a:ln w="12700" cap="flat" cmpd="sng">
            <a:solidFill>
              <a:srgbClr val="666677"/>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rgbClr val="EA580C"/>
                </a:solidFill>
                <a:latin typeface="Calibri"/>
                <a:ea typeface="Calibri"/>
                <a:cs typeface="Calibri"/>
                <a:sym typeface="Calibri"/>
              </a:rPr>
              <a:t>Database</a:t>
            </a:r>
            <a:br>
              <a:rPr lang="en-US" sz="1800" b="1" i="0" u="none" strike="noStrike" cap="none">
                <a:solidFill>
                  <a:srgbClr val="EA580C"/>
                </a:solidFill>
                <a:latin typeface="Calibri"/>
                <a:ea typeface="Calibri"/>
                <a:cs typeface="Calibri"/>
                <a:sym typeface="Calibri"/>
              </a:rPr>
            </a:br>
            <a:br>
              <a:rPr lang="en-US" sz="1800" b="1" i="0" u="none" strike="noStrike" cap="none">
                <a:solidFill>
                  <a:srgbClr val="EA580C"/>
                </a:solidFill>
                <a:latin typeface="Calibri"/>
                <a:ea typeface="Calibri"/>
                <a:cs typeface="Calibri"/>
                <a:sym typeface="Calibri"/>
              </a:rPr>
            </a:br>
            <a:r>
              <a:rPr lang="en-US" sz="1800" b="1" i="0" u="none" strike="noStrike" cap="none">
                <a:solidFill>
                  <a:srgbClr val="EA580C"/>
                </a:solidFill>
                <a:latin typeface="Calibri"/>
                <a:ea typeface="Calibri"/>
                <a:cs typeface="Calibri"/>
                <a:sym typeface="Calibri"/>
              </a:rPr>
              <a:t>SQL</a:t>
            </a:r>
            <a:br>
              <a:rPr lang="en-US" sz="1800" b="1" i="0" u="none" strike="noStrike" cap="none">
                <a:solidFill>
                  <a:srgbClr val="EA580C"/>
                </a:solidFill>
                <a:latin typeface="Calibri"/>
                <a:ea typeface="Calibri"/>
                <a:cs typeface="Calibri"/>
                <a:sym typeface="Calibri"/>
              </a:rPr>
            </a:br>
            <a:r>
              <a:rPr lang="en-US" sz="1800" b="1" i="0" u="none" strike="noStrike" cap="none">
                <a:solidFill>
                  <a:srgbClr val="EA580C"/>
                </a:solidFill>
                <a:latin typeface="Calibri"/>
                <a:ea typeface="Calibri"/>
                <a:cs typeface="Calibri"/>
                <a:sym typeface="Calibri"/>
              </a:rPr>
              <a:t>SQLAlchemy</a:t>
            </a:r>
            <a:endParaRPr/>
          </a:p>
        </p:txBody>
      </p:sp>
      <p:sp>
        <p:nvSpPr>
          <p:cNvPr id="248" name="Google Shape;248;p8"/>
          <p:cNvSpPr/>
          <p:nvPr/>
        </p:nvSpPr>
        <p:spPr>
          <a:xfrm>
            <a:off x="457200" y="4389120"/>
            <a:ext cx="11430000" cy="914400"/>
          </a:xfrm>
          <a:prstGeom prst="roundRect">
            <a:avLst>
              <a:gd name="adj" fmla="val 16667"/>
            </a:avLst>
          </a:prstGeom>
          <a:solidFill>
            <a:srgbClr val="EDE9FE"/>
          </a:solidFill>
          <a:ln w="12700" cap="flat" cmpd="sng">
            <a:solidFill>
              <a:srgbClr val="666677"/>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rgbClr val="5B21B6"/>
                </a:solidFill>
                <a:latin typeface="Calibri"/>
                <a:ea typeface="Calibri"/>
                <a:cs typeface="Calibri"/>
                <a:sym typeface="Calibri"/>
              </a:rPr>
              <a:t>Tools:   Git  /  Unix + CLI  /  Testing  /  Cloud Deployment  /  CI/CD</a:t>
            </a:r>
            <a:endParaRPr/>
          </a:p>
        </p:txBody>
      </p:sp>
      <p:sp>
        <p:nvSpPr>
          <p:cNvPr id="249" name="Google Shape;249;p8"/>
          <p:cNvSpPr txBox="1"/>
          <p:nvPr/>
        </p:nvSpPr>
        <p:spPr>
          <a:xfrm>
            <a:off x="457200" y="5394960"/>
            <a:ext cx="320040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0" i="0" u="none" strike="noStrike" cap="none">
                <a:solidFill>
                  <a:srgbClr val="666677"/>
                </a:solidFill>
                <a:latin typeface="Calibri"/>
                <a:ea typeface="Calibri"/>
                <a:cs typeface="Calibri"/>
                <a:sym typeface="Calibri"/>
              </a:rPr>
              <a:t>Weeks 1-2</a:t>
            </a:r>
            <a:endParaRPr/>
          </a:p>
        </p:txBody>
      </p:sp>
      <p:sp>
        <p:nvSpPr>
          <p:cNvPr id="250" name="Google Shape;250;p8"/>
          <p:cNvSpPr txBox="1"/>
          <p:nvPr/>
        </p:nvSpPr>
        <p:spPr>
          <a:xfrm>
            <a:off x="3840480" y="5394960"/>
            <a:ext cx="182880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0" i="0" u="none" strike="noStrike" cap="none">
                <a:solidFill>
                  <a:srgbClr val="666677"/>
                </a:solidFill>
                <a:latin typeface="Calibri"/>
                <a:ea typeface="Calibri"/>
                <a:cs typeface="Calibri"/>
                <a:sym typeface="Calibri"/>
              </a:rPr>
              <a:t>Weeks 3-4</a:t>
            </a:r>
            <a:endParaRPr/>
          </a:p>
        </p:txBody>
      </p:sp>
      <p:sp>
        <p:nvSpPr>
          <p:cNvPr id="251" name="Google Shape;251;p8"/>
          <p:cNvSpPr txBox="1"/>
          <p:nvPr/>
        </p:nvSpPr>
        <p:spPr>
          <a:xfrm>
            <a:off x="5852160" y="5394960"/>
            <a:ext cx="292608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0" i="0" u="none" strike="noStrike" cap="none">
                <a:solidFill>
                  <a:srgbClr val="666677"/>
                </a:solidFill>
                <a:latin typeface="Calibri"/>
                <a:ea typeface="Calibri"/>
                <a:cs typeface="Calibri"/>
                <a:sym typeface="Calibri"/>
              </a:rPr>
              <a:t>Weeks 5-6</a:t>
            </a:r>
            <a:endParaRPr/>
          </a:p>
        </p:txBody>
      </p:sp>
      <p:sp>
        <p:nvSpPr>
          <p:cNvPr id="252" name="Google Shape;252;p8"/>
          <p:cNvSpPr txBox="1"/>
          <p:nvPr/>
        </p:nvSpPr>
        <p:spPr>
          <a:xfrm>
            <a:off x="9052560" y="5394960"/>
            <a:ext cx="274320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0" i="0" u="none" strike="noStrike" cap="none">
                <a:solidFill>
                  <a:srgbClr val="666677"/>
                </a:solidFill>
                <a:latin typeface="Calibri"/>
                <a:ea typeface="Calibri"/>
                <a:cs typeface="Calibri"/>
                <a:sym typeface="Calibri"/>
              </a:rPr>
              <a:t>Weeks 7-10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56"/>
        <p:cNvGrpSpPr/>
        <p:nvPr/>
      </p:nvGrpSpPr>
      <p:grpSpPr>
        <a:xfrm>
          <a:off x="0" y="0"/>
          <a:ext cx="0" cy="0"/>
          <a:chOff x="0" y="0"/>
          <a:chExt cx="0" cy="0"/>
        </a:xfrm>
      </p:grpSpPr>
      <p:sp>
        <p:nvSpPr>
          <p:cNvPr id="257" name="Google Shape;257;p9"/>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Part 1: The Client (Frontend)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sp>
        <p:nvSpPr>
          <p:cNvPr id="262" name="Google Shape;262;g3dcd09b5486_0_12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client (frontend)</a:t>
            </a:r>
            <a:endParaRPr/>
          </a:p>
        </p:txBody>
      </p:sp>
      <p:sp>
        <p:nvSpPr>
          <p:cNvPr id="263" name="Google Shape;263;g3dcd09b5486_0_122"/>
          <p:cNvSpPr txBox="1"/>
          <p:nvPr/>
        </p:nvSpPr>
        <p:spPr>
          <a:xfrm>
            <a:off x="914400" y="1463040"/>
            <a:ext cx="10362900" cy="1354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part of the application that users </a:t>
            </a:r>
            <a:r>
              <a:rPr lang="en-US" sz="2400" b="1" i="0" u="none" strike="noStrike" cap="none">
                <a:solidFill>
                  <a:srgbClr val="333344"/>
                </a:solidFill>
                <a:latin typeface="Calibri"/>
                <a:ea typeface="Calibri"/>
                <a:cs typeface="Calibri"/>
                <a:sym typeface="Calibri"/>
              </a:rPr>
              <a:t>see and interact with</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directly in their web browser.</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Often referred to as the </a:t>
            </a:r>
            <a:r>
              <a:rPr lang="en-US" sz="2400" b="1" i="0" u="none" strike="noStrike" cap="none">
                <a:solidFill>
                  <a:srgbClr val="333344"/>
                </a:solidFill>
                <a:latin typeface="Calibri"/>
                <a:ea typeface="Calibri"/>
                <a:cs typeface="Calibri"/>
                <a:sym typeface="Calibri"/>
              </a:rPr>
              <a:t>"frontend"</a:t>
            </a:r>
            <a:r>
              <a:rPr lang="en-US" sz="2400" b="0" i="0" u="none" strike="noStrike" cap="none">
                <a:solidFill>
                  <a:srgbClr val="333344"/>
                </a:solidFill>
                <a:latin typeface="Calibri"/>
                <a:ea typeface="Calibri"/>
                <a:cs typeface="Calibri"/>
                <a:sym typeface="Calibri"/>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7"/>
        <p:cNvGrpSpPr/>
        <p:nvPr/>
      </p:nvGrpSpPr>
      <p:grpSpPr>
        <a:xfrm>
          <a:off x="0" y="0"/>
          <a:ext cx="0" cy="0"/>
          <a:chOff x="0" y="0"/>
          <a:chExt cx="0" cy="0"/>
        </a:xfrm>
      </p:grpSpPr>
      <p:sp>
        <p:nvSpPr>
          <p:cNvPr id="268" name="Google Shape;268;g3dcd09b5486_0_12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client (frontend)</a:t>
            </a:r>
            <a:endParaRPr/>
          </a:p>
        </p:txBody>
      </p:sp>
      <p:sp>
        <p:nvSpPr>
          <p:cNvPr id="269" name="Google Shape;269;g3dcd09b5486_0_127"/>
          <p:cNvSpPr txBox="1"/>
          <p:nvPr/>
        </p:nvSpPr>
        <p:spPr>
          <a:xfrm>
            <a:off x="914400" y="1463040"/>
            <a:ext cx="10362900" cy="269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part of the application that users </a:t>
            </a:r>
            <a:r>
              <a:rPr lang="en-US" sz="2400" b="1" i="0" u="none" strike="noStrike" cap="none">
                <a:solidFill>
                  <a:srgbClr val="333344"/>
                </a:solidFill>
                <a:latin typeface="Calibri"/>
                <a:ea typeface="Calibri"/>
                <a:cs typeface="Calibri"/>
                <a:sym typeface="Calibri"/>
              </a:rPr>
              <a:t>see and interact with</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directly in their web browser.</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Often referred to as the </a:t>
            </a:r>
            <a:r>
              <a:rPr lang="en-US" sz="2400" b="1" i="0" u="none" strike="noStrike" cap="none">
                <a:solidFill>
                  <a:srgbClr val="333344"/>
                </a:solidFill>
                <a:latin typeface="Calibri"/>
                <a:ea typeface="Calibri"/>
                <a:cs typeface="Calibri"/>
                <a:sym typeface="Calibri"/>
              </a:rPr>
              <a:t>"frontend"</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It handles the </a:t>
            </a:r>
            <a:r>
              <a:rPr lang="en-US" sz="2400" b="1" i="0" u="none" strike="noStrike" cap="none">
                <a:solidFill>
                  <a:srgbClr val="333344"/>
                </a:solidFill>
                <a:latin typeface="Calibri"/>
                <a:ea typeface="Calibri"/>
                <a:cs typeface="Calibri"/>
                <a:sym typeface="Calibri"/>
              </a:rPr>
              <a:t>User Interface (UI)</a:t>
            </a:r>
            <a:r>
              <a:rPr lang="en-US" sz="2400" b="0" i="0" u="none" strike="noStrike" cap="none">
                <a:solidFill>
                  <a:srgbClr val="333344"/>
                </a:solidFill>
                <a:latin typeface="Calibri"/>
                <a:ea typeface="Calibri"/>
                <a:cs typeface="Calibri"/>
                <a:sym typeface="Calibri"/>
              </a:rPr>
              <a:t> and aims to provide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 optimal </a:t>
            </a:r>
            <a:r>
              <a:rPr lang="en-US" sz="2400" b="1" i="0" u="none" strike="noStrike" cap="none">
                <a:solidFill>
                  <a:srgbClr val="333344"/>
                </a:solidFill>
                <a:latin typeface="Calibri"/>
                <a:ea typeface="Calibri"/>
                <a:cs typeface="Calibri"/>
                <a:sym typeface="Calibri"/>
              </a:rPr>
              <a:t>User Experience (UX)</a:t>
            </a:r>
            <a:r>
              <a:rPr lang="en-US" sz="2400" b="0" i="0" u="none" strike="noStrike" cap="none">
                <a:solidFill>
                  <a:srgbClr val="333344"/>
                </a:solidFill>
                <a:latin typeface="Calibri"/>
                <a:ea typeface="Calibri"/>
                <a:cs typeface="Calibri"/>
                <a:sym typeface="Calibri"/>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3"/>
        <p:cNvGrpSpPr/>
        <p:nvPr/>
      </p:nvGrpSpPr>
      <p:grpSpPr>
        <a:xfrm>
          <a:off x="0" y="0"/>
          <a:ext cx="0" cy="0"/>
          <a:chOff x="0" y="0"/>
          <a:chExt cx="0" cy="0"/>
        </a:xfrm>
      </p:grpSpPr>
      <p:sp>
        <p:nvSpPr>
          <p:cNvPr id="274" name="Google Shape;274;p1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client (frontend)</a:t>
            </a:r>
            <a:endParaRPr/>
          </a:p>
        </p:txBody>
      </p:sp>
      <p:sp>
        <p:nvSpPr>
          <p:cNvPr id="275" name="Google Shape;275;p10"/>
          <p:cNvSpPr txBox="1"/>
          <p:nvPr/>
        </p:nvSpPr>
        <p:spPr>
          <a:xfrm>
            <a:off x="914400" y="1463040"/>
            <a:ext cx="10362900" cy="512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part of the application that users </a:t>
            </a:r>
            <a:r>
              <a:rPr lang="en-US" sz="2400" b="1" i="0" u="none" strike="noStrike" cap="none">
                <a:solidFill>
                  <a:srgbClr val="333344"/>
                </a:solidFill>
                <a:latin typeface="Calibri"/>
                <a:ea typeface="Calibri"/>
                <a:cs typeface="Calibri"/>
                <a:sym typeface="Calibri"/>
              </a:rPr>
              <a:t>see and interact with</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directly in their web browser.</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Often referred to as the </a:t>
            </a:r>
            <a:r>
              <a:rPr lang="en-US" sz="2400" b="1" i="0" u="none" strike="noStrike" cap="none">
                <a:solidFill>
                  <a:srgbClr val="333344"/>
                </a:solidFill>
                <a:latin typeface="Calibri"/>
                <a:ea typeface="Calibri"/>
                <a:cs typeface="Calibri"/>
                <a:sym typeface="Calibri"/>
              </a:rPr>
              <a:t>"frontend"</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It handles the </a:t>
            </a:r>
            <a:r>
              <a:rPr lang="en-US" sz="2400" b="1" i="0" u="none" strike="noStrike" cap="none">
                <a:solidFill>
                  <a:srgbClr val="333344"/>
                </a:solidFill>
                <a:latin typeface="Calibri"/>
                <a:ea typeface="Calibri"/>
                <a:cs typeface="Calibri"/>
                <a:sym typeface="Calibri"/>
              </a:rPr>
              <a:t>User Interface (UI)</a:t>
            </a:r>
            <a:r>
              <a:rPr lang="en-US" sz="2400" b="0" i="0" u="none" strike="noStrike" cap="none">
                <a:solidFill>
                  <a:srgbClr val="333344"/>
                </a:solidFill>
                <a:latin typeface="Calibri"/>
                <a:ea typeface="Calibri"/>
                <a:cs typeface="Calibri"/>
                <a:sym typeface="Calibri"/>
              </a:rPr>
              <a:t> and aims to provide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 optimal </a:t>
            </a:r>
            <a:r>
              <a:rPr lang="en-US" sz="2400" b="1" i="0" u="none" strike="noStrike" cap="none">
                <a:solidFill>
                  <a:srgbClr val="333344"/>
                </a:solidFill>
                <a:latin typeface="Calibri"/>
                <a:ea typeface="Calibri"/>
                <a:cs typeface="Calibri"/>
                <a:sym typeface="Calibri"/>
              </a:rPr>
              <a:t>User Experience (UX)</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Technologies we'll </a:t>
            </a:r>
            <a:r>
              <a:rPr lang="en-US" sz="2400">
                <a:solidFill>
                  <a:srgbClr val="333344"/>
                </a:solidFill>
                <a:latin typeface="Calibri"/>
                <a:ea typeface="Calibri"/>
                <a:cs typeface="Calibri"/>
                <a:sym typeface="Calibri"/>
              </a:rPr>
              <a:t>use</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HTML</a:t>
            </a:r>
            <a:r>
              <a:rPr lang="en-US" sz="2000" b="0" i="0" u="none" strike="noStrike" cap="none">
                <a:solidFill>
                  <a:srgbClr val="666677"/>
                </a:solidFill>
                <a:latin typeface="Calibri"/>
                <a:ea typeface="Calibri"/>
                <a:cs typeface="Calibri"/>
                <a:sym typeface="Calibri"/>
              </a:rPr>
              <a:t> - structure and content of web pages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CSS</a:t>
            </a:r>
            <a:r>
              <a:rPr lang="en-US" sz="2000" b="0" i="0" u="none" strike="noStrike" cap="none">
                <a:solidFill>
                  <a:srgbClr val="666677"/>
                </a:solidFill>
                <a:latin typeface="Calibri"/>
                <a:ea typeface="Calibri"/>
                <a:cs typeface="Calibri"/>
                <a:sym typeface="Calibri"/>
              </a:rPr>
              <a:t> - visual presentation and styling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JavaScript</a:t>
            </a:r>
            <a:r>
              <a:rPr lang="en-US" sz="2000" b="0" i="0" u="none" strike="noStrike" cap="none">
                <a:solidFill>
                  <a:srgbClr val="666677"/>
                </a:solidFill>
                <a:latin typeface="Calibri"/>
                <a:ea typeface="Calibri"/>
                <a:cs typeface="Calibri"/>
                <a:sym typeface="Calibri"/>
              </a:rPr>
              <a:t> - interactivity and dynamic behavior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React</a:t>
            </a:r>
            <a:r>
              <a:rPr lang="en-US" sz="2000" b="0" i="0" u="none" strike="noStrike" cap="none">
                <a:solidFill>
                  <a:srgbClr val="666677"/>
                </a:solidFill>
                <a:latin typeface="Calibri"/>
                <a:ea typeface="Calibri"/>
                <a:cs typeface="Calibri"/>
                <a:sym typeface="Calibri"/>
              </a:rPr>
              <a:t> - a library for building user interfaces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79"/>
        <p:cNvGrpSpPr/>
        <p:nvPr/>
      </p:nvGrpSpPr>
      <p:grpSpPr>
        <a:xfrm>
          <a:off x="0" y="0"/>
          <a:ext cx="0" cy="0"/>
          <a:chOff x="0" y="0"/>
          <a:chExt cx="0" cy="0"/>
        </a:xfrm>
      </p:grpSpPr>
      <p:sp>
        <p:nvSpPr>
          <p:cNvPr id="280" name="Google Shape;280;p11"/>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Part 2: The Server (Backend)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6">
          <a:extLst>
            <a:ext uri="{FF2B5EF4-FFF2-40B4-BE49-F238E27FC236}">
              <a16:creationId xmlns:a16="http://schemas.microsoft.com/office/drawing/2014/main" id="{DF384229-E306-851C-6B2F-9FF23D440DC5}"/>
            </a:ext>
          </a:extLst>
        </p:cNvPr>
        <p:cNvGrpSpPr/>
        <p:nvPr/>
      </p:nvGrpSpPr>
      <p:grpSpPr>
        <a:xfrm>
          <a:off x="0" y="0"/>
          <a:ext cx="0" cy="0"/>
          <a:chOff x="0" y="0"/>
          <a:chExt cx="0" cy="0"/>
        </a:xfrm>
      </p:grpSpPr>
      <p:sp>
        <p:nvSpPr>
          <p:cNvPr id="297" name="Google Shape;297;p12">
            <a:extLst>
              <a:ext uri="{FF2B5EF4-FFF2-40B4-BE49-F238E27FC236}">
                <a16:creationId xmlns:a16="http://schemas.microsoft.com/office/drawing/2014/main" id="{386B50B2-47B4-6F85-EAED-6F761BBDF258}"/>
              </a:ext>
            </a:extLst>
          </p:cNvPr>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server (backend)</a:t>
            </a:r>
            <a:endParaRPr/>
          </a:p>
        </p:txBody>
      </p:sp>
      <p:sp>
        <p:nvSpPr>
          <p:cNvPr id="298" name="Google Shape;298;p12">
            <a:extLst>
              <a:ext uri="{FF2B5EF4-FFF2-40B4-BE49-F238E27FC236}">
                <a16:creationId xmlns:a16="http://schemas.microsoft.com/office/drawing/2014/main" id="{D209B13D-F841-8831-9DE2-5EB1257D65F2}"/>
              </a:ext>
            </a:extLst>
          </p:cNvPr>
          <p:cNvSpPr txBox="1"/>
          <p:nvPr/>
        </p:nvSpPr>
        <p:spPr>
          <a:xfrm>
            <a:off x="914400" y="1463040"/>
            <a:ext cx="10362895"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The </a:t>
            </a:r>
            <a:r>
              <a:rPr lang="en-US" sz="2400" b="1" i="0" u="none" strike="noStrike" cap="none" dirty="0">
                <a:solidFill>
                  <a:srgbClr val="333344"/>
                </a:solidFill>
                <a:latin typeface="Calibri"/>
                <a:ea typeface="Calibri"/>
                <a:cs typeface="Calibri"/>
                <a:sym typeface="Calibri"/>
              </a:rPr>
              <a:t>"engine room"</a:t>
            </a:r>
            <a:r>
              <a:rPr lang="en-US" sz="2400" b="0" i="0" u="none" strike="noStrike" cap="none" dirty="0">
                <a:solidFill>
                  <a:srgbClr val="333344"/>
                </a:solidFill>
                <a:latin typeface="Calibri"/>
                <a:ea typeface="Calibri"/>
                <a:cs typeface="Calibri"/>
                <a:sym typeface="Calibri"/>
              </a:rPr>
              <a:t> of the web application, running on a remote computer.</a:t>
            </a:r>
            <a:endParaRPr lang="en-US" dirty="0">
              <a:ea typeface="Calibri"/>
            </a:endParaRPr>
          </a:p>
          <a:p>
            <a:pPr marL="0" marR="0" lvl="0" indent="0" algn="l" rtl="0">
              <a:spcBef>
                <a:spcPts val="0"/>
              </a:spcBef>
              <a:spcAft>
                <a:spcPts val="0"/>
              </a:spcAft>
              <a:buNone/>
            </a:pPr>
            <a:endParaRPr lang="en-US" sz="2400" b="0" i="0" u="none" strike="noStrike" cap="none" dirty="0">
              <a:solidFill>
                <a:srgbClr val="333344"/>
              </a:solidFill>
              <a:latin typeface="Calibri"/>
              <a:ea typeface="Calibri"/>
              <a:cs typeface="Calibri"/>
              <a:sym typeface="Calibri"/>
            </a:endParaRPr>
          </a:p>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Known as the </a:t>
            </a:r>
            <a:r>
              <a:rPr lang="en-US" sz="2400" b="1" i="0" u="none" strike="noStrike" cap="none" dirty="0">
                <a:solidFill>
                  <a:srgbClr val="333344"/>
                </a:solidFill>
                <a:latin typeface="Calibri"/>
                <a:ea typeface="Calibri"/>
                <a:cs typeface="Calibri"/>
                <a:sym typeface="Calibri"/>
              </a:rPr>
              <a:t>"backend"</a:t>
            </a:r>
            <a:r>
              <a:rPr lang="en-US" sz="2400" b="0" i="0" u="none" strike="noStrike" cap="none" dirty="0">
                <a:solidFill>
                  <a:srgbClr val="333344"/>
                </a:solidFill>
                <a:latin typeface="Calibri"/>
                <a:ea typeface="Calibri"/>
                <a:cs typeface="Calibri"/>
                <a:sym typeface="Calibri"/>
              </a:rPr>
              <a:t>.</a:t>
            </a:r>
            <a:endParaRPr dirty="0"/>
          </a:p>
        </p:txBody>
      </p:sp>
    </p:spTree>
    <p:extLst>
      <p:ext uri="{BB962C8B-B14F-4D97-AF65-F5344CB8AC3E}">
        <p14:creationId xmlns:p14="http://schemas.microsoft.com/office/powerpoint/2010/main" val="1383211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6">
          <a:extLst>
            <a:ext uri="{FF2B5EF4-FFF2-40B4-BE49-F238E27FC236}">
              <a16:creationId xmlns:a16="http://schemas.microsoft.com/office/drawing/2014/main" id="{49A6AFD2-9668-FC62-0197-A80D60C34C9E}"/>
            </a:ext>
          </a:extLst>
        </p:cNvPr>
        <p:cNvGrpSpPr/>
        <p:nvPr/>
      </p:nvGrpSpPr>
      <p:grpSpPr>
        <a:xfrm>
          <a:off x="0" y="0"/>
          <a:ext cx="0" cy="0"/>
          <a:chOff x="0" y="0"/>
          <a:chExt cx="0" cy="0"/>
        </a:xfrm>
      </p:grpSpPr>
      <p:sp>
        <p:nvSpPr>
          <p:cNvPr id="297" name="Google Shape;297;p12">
            <a:extLst>
              <a:ext uri="{FF2B5EF4-FFF2-40B4-BE49-F238E27FC236}">
                <a16:creationId xmlns:a16="http://schemas.microsoft.com/office/drawing/2014/main" id="{37683F9C-273D-C419-D214-326B34C2B5A8}"/>
              </a:ext>
            </a:extLst>
          </p:cNvPr>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server (backend)</a:t>
            </a:r>
            <a:endParaRPr/>
          </a:p>
        </p:txBody>
      </p:sp>
      <p:sp>
        <p:nvSpPr>
          <p:cNvPr id="298" name="Google Shape;298;p12">
            <a:extLst>
              <a:ext uri="{FF2B5EF4-FFF2-40B4-BE49-F238E27FC236}">
                <a16:creationId xmlns:a16="http://schemas.microsoft.com/office/drawing/2014/main" id="{72B50859-7D1D-3C31-6956-04B8C6A1098A}"/>
              </a:ext>
            </a:extLst>
          </p:cNvPr>
          <p:cNvSpPr txBox="1"/>
          <p:nvPr/>
        </p:nvSpPr>
        <p:spPr>
          <a:xfrm>
            <a:off x="914400" y="1463040"/>
            <a:ext cx="10362895" cy="24621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The </a:t>
            </a:r>
            <a:r>
              <a:rPr lang="en-US" sz="2400" b="1" i="0" u="none" strike="noStrike" cap="none" dirty="0">
                <a:solidFill>
                  <a:srgbClr val="333344"/>
                </a:solidFill>
                <a:latin typeface="Calibri"/>
                <a:ea typeface="Calibri"/>
                <a:cs typeface="Calibri"/>
                <a:sym typeface="Calibri"/>
              </a:rPr>
              <a:t>"engine room"</a:t>
            </a:r>
            <a:r>
              <a:rPr lang="en-US" sz="2400" b="0" i="0" u="none" strike="noStrike" cap="none" dirty="0">
                <a:solidFill>
                  <a:srgbClr val="333344"/>
                </a:solidFill>
                <a:latin typeface="Calibri"/>
                <a:ea typeface="Calibri"/>
                <a:cs typeface="Calibri"/>
                <a:sym typeface="Calibri"/>
              </a:rPr>
              <a:t> of the web application, running on a remote computer.</a:t>
            </a:r>
            <a:endParaRPr lang="en-US" dirty="0">
              <a:ea typeface="Calibri"/>
            </a:endParaRPr>
          </a:p>
          <a:p>
            <a:pPr marL="0" marR="0" lvl="0" indent="0" algn="l" rtl="0">
              <a:spcBef>
                <a:spcPts val="0"/>
              </a:spcBef>
              <a:spcAft>
                <a:spcPts val="0"/>
              </a:spcAft>
              <a:buNone/>
            </a:pPr>
            <a:endParaRPr lang="en-US" sz="2400" b="0" i="0" u="none" strike="noStrike" cap="none" dirty="0">
              <a:solidFill>
                <a:srgbClr val="333344"/>
              </a:solidFill>
              <a:latin typeface="Calibri"/>
              <a:ea typeface="Calibri"/>
              <a:cs typeface="Calibri"/>
              <a:sym typeface="Calibri"/>
            </a:endParaRPr>
          </a:p>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Known as the </a:t>
            </a:r>
            <a:r>
              <a:rPr lang="en-US" sz="2400" b="1" i="0" u="none" strike="noStrike" cap="none" dirty="0">
                <a:solidFill>
                  <a:srgbClr val="333344"/>
                </a:solidFill>
                <a:latin typeface="Calibri"/>
                <a:ea typeface="Calibri"/>
                <a:cs typeface="Calibri"/>
                <a:sym typeface="Calibri"/>
              </a:rPr>
              <a:t>"backend"</a:t>
            </a:r>
            <a:r>
              <a:rPr lang="en-US" sz="2400" b="0" i="0" u="none" strike="noStrike" cap="none" dirty="0">
                <a:solidFill>
                  <a:srgbClr val="333344"/>
                </a:solidFill>
                <a:latin typeface="Calibri"/>
                <a:ea typeface="Calibri"/>
                <a:cs typeface="Calibri"/>
                <a:sym typeface="Calibri"/>
              </a:rPr>
              <a:t>.</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lvl="0">
              <a:spcBef>
                <a:spcPts val="600"/>
              </a:spcBef>
            </a:pPr>
            <a:r>
              <a:rPr lang="en-US" sz="2400" b="0" i="0" u="none" strike="noStrike" cap="none" dirty="0">
                <a:solidFill>
                  <a:srgbClr val="333344"/>
                </a:solidFill>
                <a:latin typeface="Calibri"/>
                <a:ea typeface="Calibri"/>
                <a:cs typeface="Calibri"/>
                <a:sym typeface="Calibri"/>
              </a:rPr>
              <a:t>It's responsible for managing </a:t>
            </a:r>
            <a:r>
              <a:rPr lang="en-US" sz="2400" b="1" i="0" u="none" strike="noStrike" cap="none" dirty="0">
                <a:solidFill>
                  <a:srgbClr val="333344"/>
                </a:solidFill>
                <a:latin typeface="Calibri"/>
                <a:ea typeface="Calibri"/>
                <a:cs typeface="Calibri"/>
                <a:sym typeface="Calibri"/>
              </a:rPr>
              <a:t>application logic</a:t>
            </a:r>
            <a:r>
              <a:rPr lang="en-US" sz="2400" dirty="0">
                <a:solidFill>
                  <a:srgbClr val="333344"/>
                </a:solidFill>
                <a:latin typeface="Calibri"/>
                <a:ea typeface="Calibri"/>
                <a:cs typeface="Calibri"/>
                <a:sym typeface="Calibri"/>
              </a:rPr>
              <a:t>, processing </a:t>
            </a:r>
            <a:r>
              <a:rPr lang="en-US" sz="2400" b="0" i="0" u="none" strike="noStrike" cap="none" dirty="0">
                <a:solidFill>
                  <a:srgbClr val="333344"/>
                </a:solidFill>
                <a:latin typeface="Calibri"/>
                <a:ea typeface="Calibri"/>
                <a:cs typeface="Calibri"/>
                <a:sym typeface="Calibri"/>
              </a:rPr>
              <a:t>data, and interacting with databases.</a:t>
            </a:r>
            <a:endParaRPr lang="en-US" dirty="0"/>
          </a:p>
        </p:txBody>
      </p:sp>
    </p:spTree>
    <p:extLst>
      <p:ext uri="{BB962C8B-B14F-4D97-AF65-F5344CB8AC3E}">
        <p14:creationId xmlns:p14="http://schemas.microsoft.com/office/powerpoint/2010/main" val="2751557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6"/>
        <p:cNvGrpSpPr/>
        <p:nvPr/>
      </p:nvGrpSpPr>
      <p:grpSpPr>
        <a:xfrm>
          <a:off x="0" y="0"/>
          <a:ext cx="0" cy="0"/>
          <a:chOff x="0" y="0"/>
          <a:chExt cx="0" cy="0"/>
        </a:xfrm>
      </p:grpSpPr>
      <p:sp>
        <p:nvSpPr>
          <p:cNvPr id="297" name="Google Shape;297;p1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server (backend)</a:t>
            </a:r>
            <a:endParaRPr/>
          </a:p>
        </p:txBody>
      </p:sp>
      <p:sp>
        <p:nvSpPr>
          <p:cNvPr id="298" name="Google Shape;298;p12"/>
          <p:cNvSpPr txBox="1"/>
          <p:nvPr/>
        </p:nvSpPr>
        <p:spPr>
          <a:xfrm>
            <a:off x="914400" y="1463040"/>
            <a:ext cx="10362895" cy="4970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The </a:t>
            </a:r>
            <a:r>
              <a:rPr lang="en-US" sz="2400" b="1" i="0" u="none" strike="noStrike" cap="none" dirty="0">
                <a:solidFill>
                  <a:srgbClr val="333344"/>
                </a:solidFill>
                <a:latin typeface="Calibri"/>
                <a:ea typeface="Calibri"/>
                <a:cs typeface="Calibri"/>
                <a:sym typeface="Calibri"/>
              </a:rPr>
              <a:t>"engine room"</a:t>
            </a:r>
            <a:r>
              <a:rPr lang="en-US" sz="2400" b="0" i="0" u="none" strike="noStrike" cap="none" dirty="0">
                <a:solidFill>
                  <a:srgbClr val="333344"/>
                </a:solidFill>
                <a:latin typeface="Calibri"/>
                <a:ea typeface="Calibri"/>
                <a:cs typeface="Calibri"/>
                <a:sym typeface="Calibri"/>
              </a:rPr>
              <a:t> of the web application, running on a remote computer.</a:t>
            </a:r>
            <a:endParaRPr lang="en-US" dirty="0">
              <a:ea typeface="Calibri"/>
            </a:endParaRPr>
          </a:p>
          <a:p>
            <a:pPr marL="0" marR="0" lvl="0" indent="0" algn="l" rtl="0">
              <a:spcBef>
                <a:spcPts val="0"/>
              </a:spcBef>
              <a:spcAft>
                <a:spcPts val="0"/>
              </a:spcAft>
              <a:buNone/>
            </a:pPr>
            <a:endParaRPr lang="en-US" sz="2400" b="0" i="0" u="none" strike="noStrike" cap="none" dirty="0">
              <a:solidFill>
                <a:srgbClr val="333344"/>
              </a:solidFill>
              <a:latin typeface="Calibri"/>
              <a:ea typeface="Calibri"/>
              <a:cs typeface="Calibri"/>
              <a:sym typeface="Calibri"/>
            </a:endParaRPr>
          </a:p>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Known as the </a:t>
            </a:r>
            <a:r>
              <a:rPr lang="en-US" sz="2400" b="1" i="0" u="none" strike="noStrike" cap="none" dirty="0">
                <a:solidFill>
                  <a:srgbClr val="333344"/>
                </a:solidFill>
                <a:latin typeface="Calibri"/>
                <a:ea typeface="Calibri"/>
                <a:cs typeface="Calibri"/>
                <a:sym typeface="Calibri"/>
              </a:rPr>
              <a:t>"backend"</a:t>
            </a:r>
            <a:r>
              <a:rPr lang="en-US" sz="2400" b="0" i="0" u="none" strike="noStrike" cap="none" dirty="0">
                <a:solidFill>
                  <a:srgbClr val="333344"/>
                </a:solidFill>
                <a:latin typeface="Calibri"/>
                <a:ea typeface="Calibri"/>
                <a:cs typeface="Calibri"/>
                <a:sym typeface="Calibri"/>
              </a:rPr>
              <a:t>.</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lvl="0">
              <a:spcBef>
                <a:spcPts val="600"/>
              </a:spcBef>
            </a:pPr>
            <a:r>
              <a:rPr lang="en-US" sz="2400" b="0" i="0" u="none" strike="noStrike" cap="none" dirty="0">
                <a:solidFill>
                  <a:srgbClr val="333344"/>
                </a:solidFill>
                <a:latin typeface="Calibri"/>
                <a:ea typeface="Calibri"/>
                <a:cs typeface="Calibri"/>
                <a:sym typeface="Calibri"/>
              </a:rPr>
              <a:t>It's responsible for managing </a:t>
            </a:r>
            <a:r>
              <a:rPr lang="en-US" sz="2400" b="1" i="0" u="none" strike="noStrike" cap="none" dirty="0">
                <a:solidFill>
                  <a:srgbClr val="333344"/>
                </a:solidFill>
                <a:latin typeface="Calibri"/>
                <a:ea typeface="Calibri"/>
                <a:cs typeface="Calibri"/>
                <a:sym typeface="Calibri"/>
              </a:rPr>
              <a:t>application logic</a:t>
            </a:r>
            <a:r>
              <a:rPr lang="en-US" sz="2400" dirty="0">
                <a:solidFill>
                  <a:srgbClr val="333344"/>
                </a:solidFill>
                <a:latin typeface="Calibri"/>
                <a:ea typeface="Calibri"/>
                <a:cs typeface="Calibri"/>
                <a:sym typeface="Calibri"/>
              </a:rPr>
              <a:t>, processing </a:t>
            </a:r>
            <a:r>
              <a:rPr lang="en-US" sz="2400" b="0" i="0" u="none" strike="noStrike" cap="none" dirty="0">
                <a:solidFill>
                  <a:srgbClr val="333344"/>
                </a:solidFill>
                <a:latin typeface="Calibri"/>
                <a:ea typeface="Calibri"/>
                <a:cs typeface="Calibri"/>
                <a:sym typeface="Calibri"/>
              </a:rPr>
              <a:t>data, and interacting with databases.</a:t>
            </a:r>
            <a:endParaRPr lang="en-US"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Technologies we'll learn:</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Python</a:t>
            </a:r>
            <a:r>
              <a:rPr lang="en-US" sz="2000" b="0" i="0" u="none" strike="noStrike" cap="none" dirty="0">
                <a:solidFill>
                  <a:srgbClr val="666677"/>
                </a:solidFill>
                <a:latin typeface="Calibri"/>
                <a:ea typeface="Calibri"/>
                <a:cs typeface="Calibri"/>
                <a:sym typeface="Calibri"/>
              </a:rPr>
              <a:t> - our server-side language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err="1">
                <a:solidFill>
                  <a:srgbClr val="666677"/>
                </a:solidFill>
                <a:latin typeface="Calibri"/>
                <a:ea typeface="Calibri"/>
                <a:cs typeface="Calibri"/>
                <a:sym typeface="Calibri"/>
              </a:rPr>
              <a:t>FastAPI</a:t>
            </a:r>
            <a:r>
              <a:rPr lang="en-US" sz="2000" b="0" i="0" u="none" strike="noStrike" cap="none" dirty="0">
                <a:solidFill>
                  <a:srgbClr val="666677"/>
                </a:solidFill>
                <a:latin typeface="Calibri"/>
                <a:ea typeface="Calibri"/>
                <a:cs typeface="Calibri"/>
                <a:sym typeface="Calibri"/>
              </a:rPr>
              <a:t> - a modern web framework for building APIs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Client-server messaging</a:t>
            </a:r>
            <a:r>
              <a:rPr lang="en-US" sz="2000" b="0" i="0" u="none" strike="noStrike" cap="none" dirty="0">
                <a:solidFill>
                  <a:srgbClr val="666677"/>
                </a:solidFill>
                <a:latin typeface="Calibri"/>
                <a:ea typeface="Calibri"/>
                <a:cs typeface="Calibri"/>
                <a:sym typeface="Calibri"/>
              </a:rPr>
              <a:t> - communication patterns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between the frontend and backend</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02"/>
        <p:cNvGrpSpPr/>
        <p:nvPr/>
      </p:nvGrpSpPr>
      <p:grpSpPr>
        <a:xfrm>
          <a:off x="0" y="0"/>
          <a:ext cx="0" cy="0"/>
          <a:chOff x="0" y="0"/>
          <a:chExt cx="0" cy="0"/>
        </a:xfrm>
      </p:grpSpPr>
      <p:sp>
        <p:nvSpPr>
          <p:cNvPr id="303" name="Google Shape;303;p13"/>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Part 3: The Data Layer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7"/>
        <p:cNvGrpSpPr/>
        <p:nvPr/>
      </p:nvGrpSpPr>
      <p:grpSpPr>
        <a:xfrm>
          <a:off x="0" y="0"/>
          <a:ext cx="0" cy="0"/>
          <a:chOff x="0" y="0"/>
          <a:chExt cx="0" cy="0"/>
        </a:xfrm>
      </p:grpSpPr>
      <p:sp>
        <p:nvSpPr>
          <p:cNvPr id="308" name="Google Shape;308;p1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data layer (databases)</a:t>
            </a:r>
            <a:endParaRPr/>
          </a:p>
        </p:txBody>
      </p:sp>
      <p:sp>
        <p:nvSpPr>
          <p:cNvPr id="309" name="Google Shape;309;p14"/>
          <p:cNvSpPr txBox="1"/>
          <p:nvPr/>
        </p:nvSpPr>
        <p:spPr>
          <a:xfrm>
            <a:off x="914400" y="1463040"/>
            <a:ext cx="10362900" cy="340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system where your application's data is </a:t>
            </a:r>
            <a:r>
              <a:rPr lang="en-US" sz="2400" b="1" i="0" u="none" strike="noStrike" cap="none">
                <a:solidFill>
                  <a:srgbClr val="333344"/>
                </a:solidFill>
                <a:latin typeface="Calibri"/>
                <a:ea typeface="Calibri"/>
                <a:cs typeface="Calibri"/>
                <a:sym typeface="Calibri"/>
              </a:rPr>
              <a:t>stored persistently</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Essential for any application that needs to save user information,</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posts, or other dynamic content.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Technologies we'll </a:t>
            </a:r>
            <a:r>
              <a:rPr lang="en-US" sz="2400">
                <a:solidFill>
                  <a:srgbClr val="333344"/>
                </a:solidFill>
                <a:latin typeface="Calibri"/>
                <a:ea typeface="Calibri"/>
                <a:cs typeface="Calibri"/>
                <a:sym typeface="Calibri"/>
              </a:rPr>
              <a:t>cover</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Relational Databases</a:t>
            </a:r>
            <a:r>
              <a:rPr lang="en-US" sz="2000" b="0" i="0" u="none" strike="noStrike" cap="none">
                <a:solidFill>
                  <a:srgbClr val="666677"/>
                </a:solidFill>
                <a:latin typeface="Calibri"/>
                <a:ea typeface="Calibri"/>
                <a:cs typeface="Calibri"/>
                <a:sym typeface="Calibri"/>
              </a:rPr>
              <a:t> - structured tables (e.g., PostgreSQL)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SQL</a:t>
            </a:r>
            <a:r>
              <a:rPr lang="en-US" sz="2000" b="0" i="0" u="none" strike="noStrike" cap="none">
                <a:solidFill>
                  <a:srgbClr val="666677"/>
                </a:solidFill>
                <a:latin typeface="Calibri"/>
                <a:ea typeface="Calibri"/>
                <a:cs typeface="Calibri"/>
                <a:sym typeface="Calibri"/>
              </a:rPr>
              <a:t> - the language for querying databases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File I/O</a:t>
            </a:r>
            <a:r>
              <a:rPr lang="en-US" sz="2000" b="0" i="0" u="none" strike="noStrike" cap="none">
                <a:solidFill>
                  <a:srgbClr val="666677"/>
                </a:solidFill>
                <a:latin typeface="Calibri"/>
                <a:ea typeface="Calibri"/>
                <a:cs typeface="Calibri"/>
                <a:sym typeface="Calibri"/>
              </a:rPr>
              <a:t> - reading and writing files (JSON, CSV)</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13"/>
        <p:cNvGrpSpPr/>
        <p:nvPr/>
      </p:nvGrpSpPr>
      <p:grpSpPr>
        <a:xfrm>
          <a:off x="0" y="0"/>
          <a:ext cx="0" cy="0"/>
          <a:chOff x="0" y="0"/>
          <a:chExt cx="0" cy="0"/>
        </a:xfrm>
      </p:grpSpPr>
      <p:sp>
        <p:nvSpPr>
          <p:cNvPr id="314" name="Google Shape;314;p15"/>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Part 4: APIs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g3dcd09b5486_0_14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APIs (Application Programming Interfaces)</a:t>
            </a:r>
            <a:endParaRPr/>
          </a:p>
        </p:txBody>
      </p:sp>
      <p:sp>
        <p:nvSpPr>
          <p:cNvPr id="320" name="Google Shape;320;g3dcd09b5486_0_142"/>
          <p:cNvSpPr txBox="1"/>
          <p:nvPr/>
        </p:nvSpPr>
        <p:spPr>
          <a:xfrm>
            <a:off x="914400" y="1463040"/>
            <a:ext cx="103629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set of definitions and protocols that allow different software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components to </a:t>
            </a:r>
            <a:r>
              <a:rPr lang="en-US" sz="2400" b="1" i="0" u="none" strike="noStrike" cap="none">
                <a:solidFill>
                  <a:srgbClr val="333344"/>
                </a:solidFill>
                <a:latin typeface="Calibri"/>
                <a:ea typeface="Calibri"/>
                <a:cs typeface="Calibri"/>
                <a:sym typeface="Calibri"/>
              </a:rPr>
              <a:t>communicate with each other</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4"/>
        <p:cNvGrpSpPr/>
        <p:nvPr/>
      </p:nvGrpSpPr>
      <p:grpSpPr>
        <a:xfrm>
          <a:off x="0" y="0"/>
          <a:ext cx="0" cy="0"/>
          <a:chOff x="0" y="0"/>
          <a:chExt cx="0" cy="0"/>
        </a:xfrm>
      </p:grpSpPr>
      <p:sp>
        <p:nvSpPr>
          <p:cNvPr id="325" name="Google Shape;325;g3dcd09b5486_0_14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APIs (Application Programming Interfaces)</a:t>
            </a:r>
            <a:endParaRPr/>
          </a:p>
        </p:txBody>
      </p:sp>
      <p:sp>
        <p:nvSpPr>
          <p:cNvPr id="326" name="Google Shape;326;g3dcd09b5486_0_147"/>
          <p:cNvSpPr txBox="1"/>
          <p:nvPr/>
        </p:nvSpPr>
        <p:spPr>
          <a:xfrm>
            <a:off x="914400" y="1463040"/>
            <a:ext cx="10362900" cy="2539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set of definitions and protocols that allow different software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components to </a:t>
            </a:r>
            <a:r>
              <a:rPr lang="en-US" sz="2400" b="1" i="0" u="none" strike="noStrike" cap="none">
                <a:solidFill>
                  <a:srgbClr val="333344"/>
                </a:solidFill>
                <a:latin typeface="Calibri"/>
                <a:ea typeface="Calibri"/>
                <a:cs typeface="Calibri"/>
                <a:sym typeface="Calibri"/>
              </a:rPr>
              <a:t>communicate with each other</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APIs serve as the </a:t>
            </a:r>
            <a:r>
              <a:rPr lang="en-US" sz="2400" b="1" i="0" u="none" strike="noStrike" cap="none">
                <a:solidFill>
                  <a:srgbClr val="333344"/>
                </a:solidFill>
                <a:latin typeface="Calibri"/>
                <a:ea typeface="Calibri"/>
                <a:cs typeface="Calibri"/>
                <a:sym typeface="Calibri"/>
              </a:rPr>
              <a:t>"contract"</a:t>
            </a:r>
            <a:r>
              <a:rPr lang="en-US" sz="2400" b="0" i="0" u="none" strike="noStrike" cap="none">
                <a:solidFill>
                  <a:srgbClr val="333344"/>
                </a:solidFill>
                <a:latin typeface="Calibri"/>
                <a:ea typeface="Calibri"/>
                <a:cs typeface="Calibri"/>
                <a:sym typeface="Calibri"/>
              </a:rPr>
              <a:t> that enables the frontend</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and backend to exchange data and instructions.</a:t>
            </a:r>
            <a:endParaRPr/>
          </a:p>
          <a:p>
            <a:pPr marL="457200" marR="0" lvl="1" indent="0" algn="l" rtl="0">
              <a:spcBef>
                <a:spcPts val="60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0"/>
        <p:cNvGrpSpPr/>
        <p:nvPr/>
      </p:nvGrpSpPr>
      <p:grpSpPr>
        <a:xfrm>
          <a:off x="0" y="0"/>
          <a:ext cx="0" cy="0"/>
          <a:chOff x="0" y="0"/>
          <a:chExt cx="0" cy="0"/>
        </a:xfrm>
      </p:grpSpPr>
      <p:sp>
        <p:nvSpPr>
          <p:cNvPr id="331" name="Google Shape;331;p1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APIs (Application Programming Interfaces)</a:t>
            </a:r>
            <a:endParaRPr/>
          </a:p>
        </p:txBody>
      </p:sp>
      <p:sp>
        <p:nvSpPr>
          <p:cNvPr id="332" name="Google Shape;332;p16"/>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set of definitions and protocols that allow different software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components to </a:t>
            </a:r>
            <a:r>
              <a:rPr lang="en-US" sz="2400" b="1" i="0" u="none" strike="noStrike" cap="none">
                <a:solidFill>
                  <a:srgbClr val="333344"/>
                </a:solidFill>
                <a:latin typeface="Calibri"/>
                <a:ea typeface="Calibri"/>
                <a:cs typeface="Calibri"/>
                <a:sym typeface="Calibri"/>
              </a:rPr>
              <a:t>communicate with each other</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APIs serve as the </a:t>
            </a:r>
            <a:r>
              <a:rPr lang="en-US" sz="2400" b="1" i="0" u="none" strike="noStrike" cap="none">
                <a:solidFill>
                  <a:srgbClr val="333344"/>
                </a:solidFill>
                <a:latin typeface="Calibri"/>
                <a:ea typeface="Calibri"/>
                <a:cs typeface="Calibri"/>
                <a:sym typeface="Calibri"/>
              </a:rPr>
              <a:t>"contract"</a:t>
            </a:r>
            <a:r>
              <a:rPr lang="en-US" sz="2400" b="0" i="0" u="none" strike="noStrike" cap="none">
                <a:solidFill>
                  <a:srgbClr val="333344"/>
                </a:solidFill>
                <a:latin typeface="Calibri"/>
                <a:ea typeface="Calibri"/>
                <a:cs typeface="Calibri"/>
                <a:sym typeface="Calibri"/>
              </a:rPr>
              <a:t> that enables the frontend</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and backend to exchange data and instructions.</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We'll focus on </a:t>
            </a:r>
            <a:r>
              <a:rPr lang="en-US" sz="2400" b="1" i="0" u="none" strike="noStrike" cap="none">
                <a:solidFill>
                  <a:srgbClr val="333344"/>
                </a:solidFill>
                <a:latin typeface="Calibri"/>
                <a:ea typeface="Calibri"/>
                <a:cs typeface="Calibri"/>
                <a:sym typeface="Calibri"/>
              </a:rPr>
              <a:t>REST APIs</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REST</a:t>
            </a:r>
            <a:r>
              <a:rPr lang="en-US" sz="2000" b="0" i="0" u="none" strike="noStrike" cap="none">
                <a:solidFill>
                  <a:srgbClr val="666677"/>
                </a:solidFill>
                <a:latin typeface="Calibri"/>
                <a:ea typeface="Calibri"/>
                <a:cs typeface="Calibri"/>
                <a:sym typeface="Calibri"/>
              </a:rPr>
              <a:t> (Representational State Transfer) - an architectural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style for designing networked applications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Uses standard </a:t>
            </a:r>
            <a:r>
              <a:rPr lang="en-US" sz="2000" b="1" i="0" u="none" strike="noStrike" cap="none">
                <a:solidFill>
                  <a:srgbClr val="666677"/>
                </a:solidFill>
                <a:latin typeface="Calibri"/>
                <a:ea typeface="Calibri"/>
                <a:cs typeface="Calibri"/>
                <a:sym typeface="Calibri"/>
              </a:rPr>
              <a:t>HTTP methods</a:t>
            </a:r>
            <a:r>
              <a:rPr lang="en-US" sz="2000" b="0" i="0" u="none" strike="noStrike" cap="none">
                <a:solidFill>
                  <a:srgbClr val="666677"/>
                </a:solidFill>
                <a:latin typeface="Calibri"/>
                <a:ea typeface="Calibri"/>
                <a:cs typeface="Calibri"/>
                <a:sym typeface="Calibri"/>
              </a:rPr>
              <a:t>: GET, POST, PUT, DELETE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We will learn to design </a:t>
            </a:r>
            <a:r>
              <a:rPr lang="en-US" sz="2000" b="1" i="0" u="none" strike="noStrike" cap="none">
                <a:solidFill>
                  <a:srgbClr val="666677"/>
                </a:solidFill>
                <a:latin typeface="Calibri"/>
                <a:ea typeface="Calibri"/>
                <a:cs typeface="Calibri"/>
                <a:sym typeface="Calibri"/>
              </a:rPr>
              <a:t>RESTful endpoints</a:t>
            </a:r>
            <a:r>
              <a:rPr lang="en-US" sz="2000" b="0" i="0" u="none" strike="noStrike" cap="none">
                <a:solidFill>
                  <a:srgbClr val="666677"/>
                </a:solidFill>
                <a:latin typeface="Calibri"/>
                <a:ea typeface="Calibri"/>
                <a:cs typeface="Calibri"/>
                <a:sym typeface="Calibri"/>
              </a:rPr>
              <a:t> for our app</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36"/>
        <p:cNvGrpSpPr/>
        <p:nvPr/>
      </p:nvGrpSpPr>
      <p:grpSpPr>
        <a:xfrm>
          <a:off x="0" y="0"/>
          <a:ext cx="0" cy="0"/>
          <a:chOff x="0" y="0"/>
          <a:chExt cx="0" cy="0"/>
        </a:xfrm>
      </p:grpSpPr>
      <p:sp>
        <p:nvSpPr>
          <p:cNvPr id="337" name="Google Shape;337;p17"/>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Bringing It All Together: Deployment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1"/>
        <p:cNvGrpSpPr/>
        <p:nvPr/>
      </p:nvGrpSpPr>
      <p:grpSpPr>
        <a:xfrm>
          <a:off x="0" y="0"/>
          <a:ext cx="0" cy="0"/>
          <a:chOff x="0" y="0"/>
          <a:chExt cx="0" cy="0"/>
        </a:xfrm>
      </p:grpSpPr>
      <p:sp>
        <p:nvSpPr>
          <p:cNvPr id="342" name="Google Shape;342;p1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Deployment and cloud services</a:t>
            </a:r>
            <a:endParaRPr/>
          </a:p>
        </p:txBody>
      </p:sp>
      <p:sp>
        <p:nvSpPr>
          <p:cNvPr id="343" name="Google Shape;343;p18"/>
          <p:cNvSpPr txBox="1"/>
          <p:nvPr/>
        </p:nvSpPr>
        <p:spPr>
          <a:xfrm>
            <a:off x="914400" y="1463040"/>
            <a:ext cx="10362900" cy="458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Deployment</a:t>
            </a:r>
            <a:r>
              <a:rPr lang="en-US" sz="2400" b="0" i="0" u="none" strike="noStrike" cap="none">
                <a:solidFill>
                  <a:srgbClr val="333344"/>
                </a:solidFill>
                <a:latin typeface="Calibri"/>
                <a:ea typeface="Calibri"/>
                <a:cs typeface="Calibri"/>
                <a:sym typeface="Calibri"/>
              </a:rPr>
              <a:t>: the process of making your web application</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accessible to users over the internet.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Cloud services</a:t>
            </a:r>
            <a:r>
              <a:rPr lang="en-US" sz="2400" b="0" i="0" u="none" strike="noStrike" cap="none">
                <a:solidFill>
                  <a:srgbClr val="333344"/>
                </a:solidFill>
                <a:latin typeface="Calibri"/>
                <a:ea typeface="Calibri"/>
                <a:cs typeface="Calibri"/>
                <a:sym typeface="Calibri"/>
              </a:rPr>
              <a:t>: on-demand computing (servers, storage,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databases) delivered over the internet.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Benefits: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Scalability</a:t>
            </a:r>
            <a:r>
              <a:rPr lang="en-US" sz="2000" b="0" i="0" u="none" strike="noStrike" cap="none">
                <a:solidFill>
                  <a:srgbClr val="666677"/>
                </a:solidFill>
                <a:latin typeface="Calibri"/>
                <a:ea typeface="Calibri"/>
                <a:cs typeface="Calibri"/>
                <a:sym typeface="Calibri"/>
              </a:rPr>
              <a:t> - handle more users without buying hardware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Reliability</a:t>
            </a:r>
            <a:r>
              <a:rPr lang="en-US" sz="2000" b="0" i="0" u="none" strike="noStrike" cap="none">
                <a:solidFill>
                  <a:srgbClr val="666677"/>
                </a:solidFill>
                <a:latin typeface="Calibri"/>
                <a:ea typeface="Calibri"/>
                <a:cs typeface="Calibri"/>
                <a:sym typeface="Calibri"/>
              </a:rPr>
              <a:t> - redundancy and failover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Cost-efficiency</a:t>
            </a:r>
            <a:r>
              <a:rPr lang="en-US" sz="2000" b="0" i="0" u="none" strike="noStrike" cap="none">
                <a:solidFill>
                  <a:srgbClr val="666677"/>
                </a:solidFill>
                <a:latin typeface="Calibri"/>
                <a:ea typeface="Calibri"/>
                <a:cs typeface="Calibri"/>
                <a:sym typeface="Calibri"/>
              </a:rPr>
              <a:t> - pay for what you use</a:t>
            </a:r>
            <a:endParaRPr/>
          </a:p>
          <a:p>
            <a:pPr marL="0" marR="0" lvl="0" indent="0" algn="l" rtl="0">
              <a:spcBef>
                <a:spcPts val="600"/>
              </a:spcBef>
              <a:spcAft>
                <a:spcPts val="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7"/>
        <p:cNvGrpSpPr/>
        <p:nvPr/>
      </p:nvGrpSpPr>
      <p:grpSpPr>
        <a:xfrm>
          <a:off x="0" y="0"/>
          <a:ext cx="0" cy="0"/>
          <a:chOff x="0" y="0"/>
          <a:chExt cx="0" cy="0"/>
        </a:xfrm>
      </p:grpSpPr>
      <p:sp>
        <p:nvSpPr>
          <p:cNvPr id="348" name="Google Shape;348;p1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dirty="0">
                <a:solidFill>
                  <a:srgbClr val="1A1A2E"/>
                </a:solidFill>
                <a:latin typeface="Calibri"/>
                <a:ea typeface="Calibri"/>
                <a:cs typeface="Calibri"/>
                <a:sym typeface="Calibri"/>
              </a:rPr>
              <a:t>Essential tool: version control (Git)</a:t>
            </a:r>
            <a:endParaRPr dirty="0"/>
          </a:p>
        </p:txBody>
      </p:sp>
      <p:sp>
        <p:nvSpPr>
          <p:cNvPr id="349" name="Google Shape;349;p19"/>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A system that </a:t>
            </a:r>
            <a:r>
              <a:rPr lang="en-US" sz="2400" b="1" i="0" u="none" strike="noStrike" cap="none" dirty="0">
                <a:solidFill>
                  <a:srgbClr val="333344"/>
                </a:solidFill>
                <a:latin typeface="Calibri"/>
                <a:ea typeface="Calibri"/>
                <a:cs typeface="Calibri"/>
                <a:sym typeface="Calibri"/>
              </a:rPr>
              <a:t>tracks changes</a:t>
            </a:r>
            <a:r>
              <a:rPr lang="en-US" sz="2400" b="0" i="0" u="none" strike="noStrike" cap="none" dirty="0">
                <a:solidFill>
                  <a:srgbClr val="333344"/>
                </a:solidFill>
                <a:latin typeface="Calibri"/>
                <a:ea typeface="Calibri"/>
                <a:cs typeface="Calibri"/>
                <a:sym typeface="Calibri"/>
              </a:rPr>
              <a:t> to files and projects over time,</a:t>
            </a:r>
            <a:endParaRPr dirty="0"/>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making collaboration and error recovery much easier.</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dirty="0">
                <a:solidFill>
                  <a:srgbClr val="333344"/>
                </a:solidFill>
                <a:latin typeface="Calibri"/>
                <a:ea typeface="Calibri"/>
                <a:cs typeface="Calibri"/>
                <a:sym typeface="Calibri"/>
              </a:rPr>
              <a:t>Absolutely crucial</a:t>
            </a:r>
            <a:r>
              <a:rPr lang="en-US" sz="2400" b="0" i="0" u="none" strike="noStrike" cap="none" dirty="0">
                <a:solidFill>
                  <a:srgbClr val="333344"/>
                </a:solidFill>
                <a:latin typeface="Calibri"/>
                <a:ea typeface="Calibri"/>
                <a:cs typeface="Calibri"/>
                <a:sym typeface="Calibri"/>
              </a:rPr>
              <a:t> for team collaboration on shared codebases.</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Core </a:t>
            </a:r>
            <a:r>
              <a:rPr lang="en-US" sz="2400" b="1" i="0" u="none" strike="noStrike" cap="none" dirty="0">
                <a:solidFill>
                  <a:srgbClr val="333344"/>
                </a:solidFill>
                <a:latin typeface="Calibri"/>
                <a:ea typeface="Calibri"/>
                <a:cs typeface="Calibri"/>
                <a:sym typeface="Calibri"/>
              </a:rPr>
              <a:t>Git</a:t>
            </a:r>
            <a:r>
              <a:rPr lang="en-US" sz="2400" b="0" i="0" u="none" strike="noStrike" cap="none" dirty="0">
                <a:solidFill>
                  <a:srgbClr val="333344"/>
                </a:solidFill>
                <a:latin typeface="Calibri"/>
                <a:ea typeface="Calibri"/>
                <a:cs typeface="Calibri"/>
                <a:sym typeface="Calibri"/>
              </a:rPr>
              <a:t> concepts you'll learn:</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Repositories</a:t>
            </a:r>
            <a:r>
              <a:rPr lang="en-US" sz="2000" b="0" i="0" u="none" strike="noStrike" cap="none" dirty="0">
                <a:solidFill>
                  <a:srgbClr val="666677"/>
                </a:solidFill>
                <a:latin typeface="Calibri"/>
                <a:ea typeface="Calibri"/>
                <a:cs typeface="Calibri"/>
                <a:sym typeface="Calibri"/>
              </a:rPr>
              <a:t> - where your code lives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Commits</a:t>
            </a:r>
            <a:r>
              <a:rPr lang="en-US" sz="2000" b="0" i="0" u="none" strike="noStrike" cap="none" dirty="0">
                <a:solidFill>
                  <a:srgbClr val="666677"/>
                </a:solidFill>
                <a:latin typeface="Calibri"/>
                <a:ea typeface="Calibri"/>
                <a:cs typeface="Calibri"/>
                <a:sym typeface="Calibri"/>
              </a:rPr>
              <a:t> - snapshots of your project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Branches</a:t>
            </a:r>
            <a:r>
              <a:rPr lang="en-US" sz="2000" b="0" i="0" u="none" strike="noStrike" cap="none" dirty="0">
                <a:solidFill>
                  <a:srgbClr val="666677"/>
                </a:solidFill>
                <a:latin typeface="Calibri"/>
                <a:ea typeface="Calibri"/>
                <a:cs typeface="Calibri"/>
                <a:sym typeface="Calibri"/>
              </a:rPr>
              <a:t> - parallel lines of development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Merges</a:t>
            </a:r>
            <a:r>
              <a:rPr lang="en-US" sz="2000" b="0" i="0" u="none" strike="noStrike" cap="none" dirty="0">
                <a:solidFill>
                  <a:srgbClr val="666677"/>
                </a:solidFill>
                <a:latin typeface="Calibri"/>
                <a:ea typeface="Calibri"/>
                <a:cs typeface="Calibri"/>
                <a:sym typeface="Calibri"/>
              </a:rPr>
              <a:t> - combining work together</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3"/>
        <p:cNvGrpSpPr/>
        <p:nvPr/>
      </p:nvGrpSpPr>
      <p:grpSpPr>
        <a:xfrm>
          <a:off x="0" y="0"/>
          <a:ext cx="0" cy="0"/>
          <a:chOff x="0" y="0"/>
          <a:chExt cx="0" cy="0"/>
        </a:xfrm>
      </p:grpSpPr>
      <p:sp>
        <p:nvSpPr>
          <p:cNvPr id="354" name="Google Shape;354;p2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Ensuring quality: testing</a:t>
            </a:r>
            <a:endParaRPr/>
          </a:p>
        </p:txBody>
      </p:sp>
      <p:sp>
        <p:nvSpPr>
          <p:cNvPr id="355" name="Google Shape;355;p20"/>
          <p:cNvSpPr txBox="1"/>
          <p:nvPr/>
        </p:nvSpPr>
        <p:spPr>
          <a:xfrm>
            <a:off x="914400" y="1463040"/>
            <a:ext cx="10728655" cy="4170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Ensures the </a:t>
            </a:r>
            <a:r>
              <a:rPr lang="en-US" sz="2400" b="1" i="0" u="none" strike="noStrike" cap="none" dirty="0">
                <a:solidFill>
                  <a:srgbClr val="333344"/>
                </a:solidFill>
                <a:latin typeface="Calibri"/>
                <a:ea typeface="Calibri"/>
                <a:cs typeface="Calibri"/>
                <a:sym typeface="Calibri"/>
              </a:rPr>
              <a:t>reliability, functionality, and stability</a:t>
            </a:r>
            <a:r>
              <a:rPr lang="en-US" sz="2400" b="0" i="0" u="none" strike="noStrike" cap="none" dirty="0">
                <a:solidFill>
                  <a:srgbClr val="333344"/>
                </a:solidFill>
                <a:latin typeface="Calibri"/>
                <a:ea typeface="Calibri"/>
                <a:cs typeface="Calibri"/>
                <a:sym typeface="Calibri"/>
              </a:rPr>
              <a:t> of</a:t>
            </a:r>
            <a:endParaRPr dirty="0"/>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software, helping to catch bugs early.</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We'll focus on:</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Unit Testing</a:t>
            </a:r>
            <a:r>
              <a:rPr lang="en-US" sz="2000" b="0" i="0" u="none" strike="noStrike" cap="none" dirty="0">
                <a:solidFill>
                  <a:srgbClr val="666677"/>
                </a:solidFill>
                <a:latin typeface="Calibri"/>
                <a:ea typeface="Calibri"/>
                <a:cs typeface="Calibri"/>
                <a:sym typeface="Calibri"/>
              </a:rPr>
              <a:t> - testing individual components in isolation</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Test-driven development (TDD)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Continuous Integration (CI)</a:t>
            </a:r>
            <a:r>
              <a:rPr lang="en-US" sz="2000" b="0" i="0" u="none" strike="noStrike" cap="none" dirty="0">
                <a:solidFill>
                  <a:srgbClr val="666677"/>
                </a:solidFill>
                <a:latin typeface="Calibri"/>
                <a:ea typeface="Calibri"/>
                <a:cs typeface="Calibri"/>
                <a:sym typeface="Calibri"/>
              </a:rPr>
              <a:t> - automated testing and deployment workflows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Testing is a core software engineering discipline, not something tacked on at the end</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0"/>
        <p:cNvGrpSpPr/>
        <p:nvPr/>
      </p:nvGrpSpPr>
      <p:grpSpPr>
        <a:xfrm>
          <a:off x="0" y="0"/>
          <a:ext cx="0" cy="0"/>
          <a:chOff x="0" y="0"/>
          <a:chExt cx="0" cy="0"/>
        </a:xfrm>
      </p:grpSpPr>
      <p:sp>
        <p:nvSpPr>
          <p:cNvPr id="361" name="Google Shape;361;p2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Building your web app: course journey</a:t>
            </a:r>
            <a:endParaRPr/>
          </a:p>
        </p:txBody>
      </p:sp>
      <p:sp>
        <p:nvSpPr>
          <p:cNvPr id="362" name="Google Shape;362;p21"/>
          <p:cNvSpPr txBox="1"/>
          <p:nvPr/>
        </p:nvSpPr>
        <p:spPr>
          <a:xfrm>
            <a:off x="914400" y="1463040"/>
            <a:ext cx="10362895" cy="28930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Throughout the semester, you will progressively build and</a:t>
            </a:r>
            <a:endParaRPr dirty="0"/>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integrate these core components of a web application.</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Starting with foundational tools like </a:t>
            </a:r>
            <a:r>
              <a:rPr lang="en-US" sz="2000" b="1" i="0" u="none" strike="noStrike" cap="none" dirty="0">
                <a:solidFill>
                  <a:srgbClr val="666677"/>
                </a:solidFill>
                <a:latin typeface="Calibri"/>
                <a:ea typeface="Calibri"/>
                <a:cs typeface="Calibri"/>
                <a:sym typeface="Calibri"/>
              </a:rPr>
              <a:t>Unix/Linux</a:t>
            </a:r>
            <a:r>
              <a:rPr lang="en-US" sz="2000" b="0" i="0" u="none" strike="noStrike" cap="none" dirty="0">
                <a:solidFill>
                  <a:srgbClr val="666677"/>
                </a:solidFill>
                <a:latin typeface="Calibri"/>
                <a:ea typeface="Calibri"/>
                <a:cs typeface="Calibri"/>
                <a:sym typeface="Calibri"/>
              </a:rPr>
              <a:t> and </a:t>
            </a:r>
            <a:r>
              <a:rPr lang="en-US" sz="2000" b="1" i="0" u="none" strike="noStrike" cap="none" dirty="0">
                <a:solidFill>
                  <a:srgbClr val="666677"/>
                </a:solidFill>
                <a:latin typeface="Calibri"/>
                <a:ea typeface="Calibri"/>
                <a:cs typeface="Calibri"/>
                <a:sym typeface="Calibri"/>
              </a:rPr>
              <a:t>Git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Then moving to the </a:t>
            </a:r>
            <a:r>
              <a:rPr lang="en-US" sz="2000" b="1" i="0" u="none" strike="noStrike" cap="none" dirty="0">
                <a:solidFill>
                  <a:srgbClr val="666677"/>
                </a:solidFill>
                <a:latin typeface="Calibri"/>
                <a:ea typeface="Calibri"/>
                <a:cs typeface="Calibri"/>
                <a:sym typeface="Calibri"/>
              </a:rPr>
              <a:t>data layer</a:t>
            </a: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REST APIs</a:t>
            </a:r>
            <a:r>
              <a:rPr lang="en-US" sz="2000" b="0" i="0" u="none" strike="noStrike" cap="none" dirty="0">
                <a:solidFill>
                  <a:srgbClr val="666677"/>
                </a:solidFill>
                <a:latin typeface="Calibri"/>
                <a:ea typeface="Calibri"/>
                <a:cs typeface="Calibri"/>
                <a:sym typeface="Calibri"/>
              </a:rPr>
              <a:t>, and </a:t>
            </a:r>
            <a:r>
              <a:rPr lang="en-US" sz="2000" b="1" i="0" u="none" strike="noStrike" cap="none" dirty="0" err="1">
                <a:solidFill>
                  <a:srgbClr val="666677"/>
                </a:solidFill>
                <a:latin typeface="Calibri"/>
                <a:ea typeface="Calibri"/>
                <a:cs typeface="Calibri"/>
                <a:sym typeface="Calibri"/>
              </a:rPr>
              <a:t>FastAPI</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Followed by frontend development with </a:t>
            </a:r>
            <a:r>
              <a:rPr lang="en-US" sz="2000" b="1" i="0" u="none" strike="noStrike" cap="none" dirty="0">
                <a:solidFill>
                  <a:srgbClr val="666677"/>
                </a:solidFill>
                <a:latin typeface="Calibri"/>
                <a:ea typeface="Calibri"/>
                <a:cs typeface="Calibri"/>
                <a:sym typeface="Calibri"/>
              </a:rPr>
              <a:t>JavaScript/React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And finally: </a:t>
            </a:r>
            <a:r>
              <a:rPr lang="en-US" sz="2000" b="1" i="0" u="none" strike="noStrike" cap="none" dirty="0">
                <a:solidFill>
                  <a:srgbClr val="666677"/>
                </a:solidFill>
                <a:latin typeface="Calibri"/>
                <a:ea typeface="Calibri"/>
                <a:cs typeface="Calibri"/>
                <a:sym typeface="Calibri"/>
              </a:rPr>
              <a:t>deployment</a:t>
            </a: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testing</a:t>
            </a:r>
            <a:r>
              <a:rPr lang="en-US" sz="2000" b="0" i="0" u="none" strike="noStrike" cap="none" dirty="0">
                <a:solidFill>
                  <a:srgbClr val="666677"/>
                </a:solidFill>
                <a:latin typeface="Calibri"/>
                <a:ea typeface="Calibri"/>
                <a:cs typeface="Calibri"/>
                <a:sym typeface="Calibri"/>
              </a:rPr>
              <a:t>, and a significant </a:t>
            </a:r>
            <a:r>
              <a:rPr lang="en-US" sz="2000" b="1" i="0" u="none" strike="noStrike" cap="none" dirty="0">
                <a:solidFill>
                  <a:srgbClr val="666677"/>
                </a:solidFill>
                <a:latin typeface="Calibri"/>
                <a:ea typeface="Calibri"/>
                <a:cs typeface="Calibri"/>
                <a:sym typeface="Calibri"/>
              </a:rPr>
              <a:t>group project</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2307</Words>
  <Application>Microsoft Macintosh PowerPoint</Application>
  <PresentationFormat>Widescreen</PresentationFormat>
  <Paragraphs>260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1</cp:revision>
  <dcterms:created xsi:type="dcterms:W3CDTF">2013-01-27T09:14:16Z</dcterms:created>
  <dcterms:modified xsi:type="dcterms:W3CDTF">2026-08-02T19:00:14Z</dcterms:modified>
</cp:coreProperties>
</file>