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4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98" r:id="rId30"/>
    <p:sldId id="299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8" roundtripDataSignature="AMtx7mjSHhrZj3ltMzxGts6kppi2wr2lj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customschemas.google.com/relationships/presentationmetadata" Target="metadata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Welcome to Software Engineering! This is a project-based course that layers an SE toolkit atop their programming fundamentals.</a:t>
            </a:r>
            <a:endParaRPr/>
          </a:p>
        </p:txBody>
      </p:sp>
      <p:sp>
        <p:nvSpPr>
          <p:cNvPr id="83" name="Google Shape;83;p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Set expectations: this course moves fast and covers a lot of ground. LLM usage is not just allowed - it's encouraged.</a:t>
            </a:r>
            <a:endParaRPr/>
          </a:p>
        </p:txBody>
      </p:sp>
      <p:sp>
        <p:nvSpPr>
          <p:cNvPr id="92" name="Google Shape;92;p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dcd09b5486_0_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g3dcd09b5486_0_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dcd09b5486_0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g3dcd09b5486_0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dcd09b5486_0_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g3dcd09b5486_0_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cd09b548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8" name="Google Shape;128;g3dcd09b5486_0_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key progression is autonomy: chatbots answer, agents act, coding agents act specifically on code. Students will use coding agents throughout this course.</a:t>
            </a:r>
            <a:endParaRPr/>
          </a:p>
        </p:txBody>
      </p:sp>
      <p:sp>
        <p:nvSpPr>
          <p:cNvPr id="129" name="Google Shape;129;g3dcd09b5486_0_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cd09b5486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5" name="Google Shape;135;g3dcd09b5486_0_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key progression is autonomy: chatbots answer, agents act, coding agents act specifically on code. Students will use coding agents throughout this course.</a:t>
            </a:r>
            <a:endParaRPr/>
          </a:p>
        </p:txBody>
      </p:sp>
      <p:sp>
        <p:nvSpPr>
          <p:cNvPr id="136" name="Google Shape;136;g3dcd09b5486_0_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2" name="Google Shape;142;p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key progression is autonomy: chatbots answer, agents act, coding agents act specifically on code. Students will use coding agents throughout this course.</a:t>
            </a:r>
            <a:endParaRPr/>
          </a:p>
        </p:txBody>
      </p:sp>
      <p:sp>
        <p:nvSpPr>
          <p:cNvPr id="143" name="Google Shape;143;p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9" name="Google Shape;149;p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Emphasize that agents are a tool, not a crutch. Students who understand what the code does will outperform students who blindly accept agent output.</a:t>
            </a:r>
            <a:endParaRPr/>
          </a:p>
        </p:txBody>
      </p:sp>
      <p:sp>
        <p:nvSpPr>
          <p:cNvPr id="150" name="Google Shape;150;p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dcd09b5486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6" name="Google Shape;156;g3dcd09b5486_0_1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Emphasize that agents are a tool, not a crutch. Students who understand what the code does will outperform students who blindly accept agent output.</a:t>
            </a:r>
            <a:endParaRPr/>
          </a:p>
        </p:txBody>
      </p:sp>
      <p:sp>
        <p:nvSpPr>
          <p:cNvPr id="157" name="Google Shape;157;g3dcd09b5486_0_1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dcd09b5486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3" name="Google Shape;163;g3dcd09b5486_0_1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Emphasize that agents are a tool, not a crutch. Students who understand what the code does will outperform students who blindly accept agent output.</a:t>
            </a:r>
            <a:endParaRPr/>
          </a:p>
        </p:txBody>
      </p:sp>
      <p:sp>
        <p:nvSpPr>
          <p:cNvPr id="164" name="Google Shape;164;g3dcd09b5486_0_1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dcd09b5486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1" name="Google Shape;171;g3dcd09b5486_0_3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Emphasize that agents are a tool, not a crutch. Students who understand what the code does will outperform students who blindly accept agent output.</a:t>
            </a:r>
            <a:endParaRPr/>
          </a:p>
        </p:txBody>
      </p:sp>
      <p:sp>
        <p:nvSpPr>
          <p:cNvPr id="172" name="Google Shape;172;g3dcd09b5486_0_3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dcd09b5486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8" name="Google Shape;178;g3dcd09b5486_0_2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Emphasize that agents are a tool, not a crutch. Students who understand what the code does will outperform students who blindly accept agent output.</a:t>
            </a:r>
            <a:endParaRPr/>
          </a:p>
        </p:txBody>
      </p:sp>
      <p:sp>
        <p:nvSpPr>
          <p:cNvPr id="179" name="Google Shape;179;g3dcd09b5486_0_2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dcd09b5486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6" name="Google Shape;186;g3dcd09b5486_0_5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Emphasize that agents are a tool, not a crutch. Students who understand what the code does will outperform students who blindly accept agent output.</a:t>
            </a:r>
            <a:endParaRPr/>
          </a:p>
        </p:txBody>
      </p:sp>
      <p:sp>
        <p:nvSpPr>
          <p:cNvPr id="187" name="Google Shape;187;g3dcd09b5486_0_5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dcd09b5486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3" name="Google Shape;193;g3dcd09b5486_0_4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Emphasize that agents are a tool, not a crutch. Students who understand what the code does will outperform students who blindly accept agent output.</a:t>
            </a:r>
            <a:endParaRPr/>
          </a:p>
        </p:txBody>
      </p:sp>
      <p:sp>
        <p:nvSpPr>
          <p:cNvPr id="194" name="Google Shape;194;g3dcd09b5486_0_4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dcd09b5486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1" name="Google Shape;201;g3dcd09b5486_0_5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Emphasize that agents are a tool, not a crutch. Students who understand what the code does will outperform students who blindly accept agent output.</a:t>
            </a:r>
            <a:endParaRPr/>
          </a:p>
        </p:txBody>
      </p:sp>
      <p:sp>
        <p:nvSpPr>
          <p:cNvPr id="202" name="Google Shape;202;g3dcd09b5486_0_5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dcd09b5486_0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8" name="Google Shape;208;g3dcd09b5486_0_6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Emphasize that agents are a tool, not a crutch. Students who understand what the code does will outperform students who blindly accept agent output.</a:t>
            </a:r>
            <a:endParaRPr/>
          </a:p>
        </p:txBody>
      </p:sp>
      <p:sp>
        <p:nvSpPr>
          <p:cNvPr id="209" name="Google Shape;209;g3dcd09b5486_0_6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3dcd09b5486_0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5" name="Google Shape;215;g3dcd09b5486_0_8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Emphasize that agents are a tool, not a crutch. Students who understand what the code does will outperform students who blindly accept agent output.</a:t>
            </a:r>
            <a:endParaRPr/>
          </a:p>
        </p:txBody>
      </p:sp>
      <p:sp>
        <p:nvSpPr>
          <p:cNvPr id="216" name="Google Shape;216;g3dcd09b5486_0_8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dcd09b5486_0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2" name="Google Shape;222;g3dcd09b5486_0_8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Emphasize that agents are a tool, not a crutch. Students who understand what the code does will outperform students who blindly accept agent output.</a:t>
            </a:r>
            <a:endParaRPr/>
          </a:p>
        </p:txBody>
      </p:sp>
      <p:sp>
        <p:nvSpPr>
          <p:cNvPr id="223" name="Google Shape;223;g3dcd09b5486_0_8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This is the core mental model for the entire course.</a:t>
            </a:r>
            <a:endParaRPr/>
          </a:p>
        </p:txBody>
      </p:sp>
      <p:sp>
        <p:nvSpPr>
          <p:cNvPr id="230" name="Google Shape;230;p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6" name="Google Shape;236;p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Walk through each layer: client (browser), server (Python), database, and how they communicate. This diagram is the roadmap for the entire course.</a:t>
            </a:r>
            <a:endParaRPr/>
          </a:p>
        </p:txBody>
      </p:sp>
      <p:sp>
        <p:nvSpPr>
          <p:cNvPr id="237" name="Google Shape;237;p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5" name="Google Shape;25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3dcd09b5486_0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g3dcd09b5486_0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3dcd09b5486_0_1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g3dcd09b5486_0_1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2" name="Google Shape;272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8" name="Google Shape;27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3">
          <a:extLst>
            <a:ext uri="{FF2B5EF4-FFF2-40B4-BE49-F238E27FC236}">
              <a16:creationId xmlns:a16="http://schemas.microsoft.com/office/drawing/2014/main" id="{FB037EC6-C087-73E2-005E-68875A203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12:notes">
            <a:extLst>
              <a:ext uri="{FF2B5EF4-FFF2-40B4-BE49-F238E27FC236}">
                <a16:creationId xmlns:a16="http://schemas.microsoft.com/office/drawing/2014/main" id="{4D49E355-C591-FC54-010B-EF6D2DEAD9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5" name="Google Shape;295;p12:notes">
            <a:extLst>
              <a:ext uri="{FF2B5EF4-FFF2-40B4-BE49-F238E27FC236}">
                <a16:creationId xmlns:a16="http://schemas.microsoft.com/office/drawing/2014/main" id="{078E80AD-BD21-7DF0-8D4C-357D8E2E91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52906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3">
          <a:extLst>
            <a:ext uri="{FF2B5EF4-FFF2-40B4-BE49-F238E27FC236}">
              <a16:creationId xmlns:a16="http://schemas.microsoft.com/office/drawing/2014/main" id="{7D43824C-B1D8-C84B-012B-A4477CC7C6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12:notes">
            <a:extLst>
              <a:ext uri="{FF2B5EF4-FFF2-40B4-BE49-F238E27FC236}">
                <a16:creationId xmlns:a16="http://schemas.microsoft.com/office/drawing/2014/main" id="{5AE4E408-A30B-1268-92DF-2F28390BE1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5" name="Google Shape;295;p12:notes">
            <a:extLst>
              <a:ext uri="{FF2B5EF4-FFF2-40B4-BE49-F238E27FC236}">
                <a16:creationId xmlns:a16="http://schemas.microsoft.com/office/drawing/2014/main" id="{96118B25-E2ED-3230-A944-F96AC96C51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7877609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5" name="Google Shape;29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1" name="Google Shape;30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2" name="Google Shape;312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dcd09b5486_0_1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7" name="Google Shape;317;g3dcd09b5486_0_1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g3dcd09b5486_0_1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3" name="Google Shape;323;g3dcd09b5486_0_1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9" name="Google Shape;329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5" name="Google Shape;335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0" name="Google Shape;340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8" name="Google Shape;358;p2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This is the roadmap. Individual assignments in weeks 1-6 scaffold the chat app. Week 7+ is the open-ended team project.</a:t>
            </a:r>
            <a:endParaRPr/>
          </a:p>
        </p:txBody>
      </p:sp>
      <p:sp>
        <p:nvSpPr>
          <p:cNvPr id="359" name="Google Shape;359;p2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4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4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2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2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2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2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6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26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2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2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7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27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2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8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28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28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28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2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9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0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30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30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3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3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3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1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1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1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3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3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2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3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3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3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3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3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5B21B6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914400" y="1645920"/>
            <a:ext cx="10362895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Lecture 1.1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914400" y="2468880"/>
            <a:ext cx="10362895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Software Engineering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914400" y="4754880"/>
            <a:ext cx="1036289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Andy Aymeloglu - UATX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Course overview and goals</a:t>
            </a:r>
            <a:endParaRPr/>
          </a:p>
        </p:txBody>
      </p:sp>
      <p:sp>
        <p:nvSpPr>
          <p:cNvPr id="95" name="Google Shape;95;p2"/>
          <p:cNvSpPr txBox="1"/>
          <p:nvPr/>
        </p:nvSpPr>
        <p:spPr>
          <a:xfrm>
            <a:off x="914400" y="1463040"/>
            <a:ext cx="10362895" cy="4937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Credit Hours: 3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This is a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project-based course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designed to layer a software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engineering toolkit atop your programming fundamentals.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It's ambitious, but you'll be encouraged to make full use of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coding agents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(like LLMs) to help you up the learning curve,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much like in industry.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you'll learn</a:t>
            </a:r>
            <a:endParaRPr/>
          </a:p>
        </p:txBody>
      </p:sp>
      <p:sp>
        <p:nvSpPr>
          <p:cNvPr id="101" name="Google Shape;101;p3"/>
          <p:cNvSpPr txBox="1"/>
          <p:nvPr/>
        </p:nvSpPr>
        <p:spPr>
          <a:xfrm>
            <a:off x="914400" y="1463040"/>
            <a:ext cx="10362895" cy="4937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Upon successful completion, you'll be able to: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Understand and use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source control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Grasp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client-server architecture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Work with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cloud services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Implement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testing strategies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Build with a new language/framework: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JavaScript/React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dcd09b5486_0_112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Contrast with other schools</a:t>
            </a:r>
            <a:endParaRPr/>
          </a:p>
        </p:txBody>
      </p:sp>
      <p:sp>
        <p:nvSpPr>
          <p:cNvPr id="2" name="Google Shape;119;g3dcd09b5486_0_106">
            <a:extLst>
              <a:ext uri="{FF2B5EF4-FFF2-40B4-BE49-F238E27FC236}">
                <a16:creationId xmlns:a16="http://schemas.microsoft.com/office/drawing/2014/main" id="{0D979075-C712-2B63-B9C1-E21D19D2BF81}"/>
              </a:ext>
            </a:extLst>
          </p:cNvPr>
          <p:cNvSpPr txBox="1"/>
          <p:nvPr/>
        </p:nvSpPr>
        <p:spPr>
          <a:xfrm>
            <a:off x="914370" y="1012260"/>
            <a:ext cx="10362900" cy="16465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Stanford</a:t>
            </a:r>
            <a:r>
              <a:rPr lang="en-US" sz="2400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CS107 follows on this to build up and expand your breadth and depth of programming experience and techniques. The course </a:t>
            </a:r>
            <a:r>
              <a:rPr lang="en-US" sz="2400" b="1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will work from the C programming language down to the microprocessor</a:t>
            </a:r>
            <a:r>
              <a:rPr lang="en-US" sz="2400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to de-mystify the machine.</a:t>
            </a:r>
            <a:endParaRPr sz="2400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dcd09b5486_0_117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Contrast with other schools</a:t>
            </a:r>
            <a:endParaRPr/>
          </a:p>
        </p:txBody>
      </p:sp>
      <p:sp>
        <p:nvSpPr>
          <p:cNvPr id="2" name="Google Shape;119;g3dcd09b5486_0_106">
            <a:extLst>
              <a:ext uri="{FF2B5EF4-FFF2-40B4-BE49-F238E27FC236}">
                <a16:creationId xmlns:a16="http://schemas.microsoft.com/office/drawing/2014/main" id="{A035A582-2856-FCAF-1E4D-51FB899173B0}"/>
              </a:ext>
            </a:extLst>
          </p:cNvPr>
          <p:cNvSpPr txBox="1"/>
          <p:nvPr/>
        </p:nvSpPr>
        <p:spPr>
          <a:xfrm>
            <a:off x="914370" y="1012260"/>
            <a:ext cx="10362900" cy="3647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Stanford</a:t>
            </a:r>
            <a:r>
              <a:rPr lang="en-US" sz="2400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CS107 follows on this to build up and expand your breadth and depth of programming experience and techniques. The course </a:t>
            </a:r>
            <a:r>
              <a:rPr lang="en-US" sz="2400" b="1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will work from the C programming language down to the microprocessor</a:t>
            </a:r>
            <a:r>
              <a:rPr lang="en-US" sz="2400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to de-mystify the machine.</a:t>
            </a:r>
            <a:endParaRPr sz="2400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Berkeley</a:t>
            </a:r>
            <a:r>
              <a:rPr lang="en-US" sz="2400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The subjects covered in this course include C and assembly language programming, translation of high-level programs into machine language, computer organization, caches, performance measurement, parallelism, CPU design, warehouse-scale computing, and related topics.</a:t>
            </a:r>
            <a:endParaRPr sz="2400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dcd09b5486_0_106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Contrast with other schools</a:t>
            </a:r>
            <a:endParaRPr/>
          </a:p>
        </p:txBody>
      </p:sp>
      <p:sp>
        <p:nvSpPr>
          <p:cNvPr id="119" name="Google Shape;119;g3dcd09b5486_0_106"/>
          <p:cNvSpPr txBox="1"/>
          <p:nvPr/>
        </p:nvSpPr>
        <p:spPr>
          <a:xfrm>
            <a:off x="914370" y="1012260"/>
            <a:ext cx="10362900" cy="564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Stanford</a:t>
            </a:r>
            <a:r>
              <a:rPr lang="en-US" sz="2400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CS107 follows on this to build up and expand your breadth and depth of programming experience and techniques. The course </a:t>
            </a:r>
            <a:r>
              <a:rPr lang="en-US" sz="2400" b="1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will work from the C programming language down to the microprocessor</a:t>
            </a:r>
            <a:r>
              <a:rPr lang="en-US" sz="2400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to de-mystify the machine.</a:t>
            </a:r>
            <a:endParaRPr sz="2400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Berkeley</a:t>
            </a:r>
            <a:r>
              <a:rPr lang="en-US" sz="2400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The subjects covered in this course include C and assembly language programming, translation of high-level programs into machine language, computer organization, caches, performance measurement, parallelism, CPU design, warehouse-scale computing, and related topics.</a:t>
            </a:r>
            <a:endParaRPr sz="2400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MIT</a:t>
            </a:r>
            <a:r>
              <a:rPr lang="en-US" sz="2400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endParaRPr sz="2400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marR="0" lvl="0" indent="-381000" algn="l" rtl="0">
              <a:spcBef>
                <a:spcPts val="600"/>
              </a:spcBef>
              <a:spcAft>
                <a:spcPts val="0"/>
              </a:spcAft>
              <a:buClr>
                <a:srgbClr val="333344"/>
              </a:buClr>
              <a:buSzPts val="2400"/>
              <a:buFont typeface="Calibri"/>
              <a:buChar char="●"/>
            </a:pPr>
            <a:r>
              <a:rPr lang="en-US" sz="2400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an understanding of key software engineering ideas…</a:t>
            </a:r>
            <a:endParaRPr sz="2400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marR="0" lvl="0" indent="-381000" algn="l" rtl="0">
              <a:spcBef>
                <a:spcPts val="0"/>
              </a:spcBef>
              <a:spcAft>
                <a:spcPts val="0"/>
              </a:spcAft>
              <a:buClr>
                <a:srgbClr val="333344"/>
              </a:buClr>
              <a:buSzPts val="2400"/>
              <a:buFont typeface="Calibri"/>
              <a:buChar char="●"/>
            </a:pPr>
            <a:r>
              <a:rPr lang="en-US" sz="2400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ability to apply these ideas to design, implement, and test a small-to-medium scale software system</a:t>
            </a:r>
            <a:endParaRPr sz="2400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4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Course structure and evaluation</a:t>
            </a:r>
            <a:endParaRPr/>
          </a:p>
        </p:txBody>
      </p:sp>
      <p:sp>
        <p:nvSpPr>
          <p:cNvPr id="125" name="Google Shape;125;p4"/>
          <p:cNvSpPr txBox="1"/>
          <p:nvPr/>
        </p:nvSpPr>
        <p:spPr>
          <a:xfrm>
            <a:off x="914400" y="1463040"/>
            <a:ext cx="10362900" cy="420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Programming Projects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Class homework involves applying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lecture skills to build components of a client-server web app.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Final Project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A multi-week group project (2-3 people) to build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an open-ended web application, stringing together all technologies.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Exams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Exams f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ocused on conceptual mastery.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35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LLMs/coding agents</a:t>
            </a:r>
            <a:r>
              <a:rPr lang="en-US" sz="35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are encouraged for all assignments.</a:t>
            </a:r>
            <a:endParaRPr sz="25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dcd09b5486_0_0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Chatbots, agents, and coding agents</a:t>
            </a:r>
            <a:endParaRPr/>
          </a:p>
        </p:txBody>
      </p:sp>
      <p:sp>
        <p:nvSpPr>
          <p:cNvPr id="132" name="Google Shape;132;g3dcd09b5486_0_0"/>
          <p:cNvSpPr txBox="1"/>
          <p:nvPr/>
        </p:nvSpPr>
        <p:spPr>
          <a:xfrm>
            <a:off x="914400" y="1463040"/>
            <a:ext cx="10362900" cy="123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Chatbot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a conversational interface to an LLM.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 ask a question, it answers. No tools, no actions.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Examples: ChatGPT, Claude.ai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dcd09b5486_0_6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Chatbots, agents, and coding agents</a:t>
            </a:r>
            <a:endParaRPr/>
          </a:p>
        </p:txBody>
      </p:sp>
      <p:sp>
        <p:nvSpPr>
          <p:cNvPr id="139" name="Google Shape;139;g3dcd09b5486_0_6"/>
          <p:cNvSpPr txBox="1"/>
          <p:nvPr/>
        </p:nvSpPr>
        <p:spPr>
          <a:xfrm>
            <a:off x="914400" y="1463040"/>
            <a:ext cx="10362900" cy="312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Chatbot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a conversational interface to an LLM.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 ask a question, it answers. No tools, no actions.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Examples: ChatGPT, Claude.ai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Agent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an LLM that can take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actions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in a loop.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It reasons, calls tools (search, browse, APIs), and iterates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until a task is done. Autonomy is the key difference.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5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Chatbots, agents, and coding agents</a:t>
            </a:r>
            <a:endParaRPr/>
          </a:p>
        </p:txBody>
      </p:sp>
      <p:sp>
        <p:nvSpPr>
          <p:cNvPr id="146" name="Google Shape;146;p5"/>
          <p:cNvSpPr txBox="1"/>
          <p:nvPr/>
        </p:nvSpPr>
        <p:spPr>
          <a:xfrm>
            <a:off x="914400" y="1463040"/>
            <a:ext cx="10362900" cy="44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Chatbot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a conversational interface to an LLM.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 ask a question, it answers. No tools, no actions.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Examples: ChatGPT, Claude.ai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Agent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an LLM that can take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actions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in a loop.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It reasons, calls tools (search, browse, APIs), and iterates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until a task is done. Autonomy is the key difference.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Coding agent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an agent specialized for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software engineering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It reads your codebase, writes code, runs tests, and commits.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Examples: Claude Code, Cursor, GitHub Copilot agent mode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6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Using coding agents in this course</a:t>
            </a:r>
            <a:endParaRPr/>
          </a:p>
        </p:txBody>
      </p:sp>
      <p:sp>
        <p:nvSpPr>
          <p:cNvPr id="153" name="Google Shape;153;p6"/>
          <p:cNvSpPr txBox="1"/>
          <p:nvPr/>
        </p:nvSpPr>
        <p:spPr>
          <a:xfrm>
            <a:off x="914400" y="1463050"/>
            <a:ext cx="10652400" cy="41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Coding agents are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encouraged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for all assignments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 If you go on to produce code for a living, your primary coding language </a:t>
            </a: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will be English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Tips for getting the most out of them: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Up front: b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e specific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: describe what you want, not how to do it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Iterate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: treat it like pair programming, not a magic box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Form opinions as it codes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ask yourself “how would I have done this” and compare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What they're great at: boilerplate, syntax, debugging*,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command-line manipulations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What they're bad at: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consistency, code reuse, judgment around taking shortcuts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dcd09b5486_0_12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Pay attention!</a:t>
            </a:r>
            <a:endParaRPr/>
          </a:p>
        </p:txBody>
      </p:sp>
      <p:pic>
        <p:nvPicPr>
          <p:cNvPr id="160" name="Google Shape;160;g3dcd09b5486_0_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64660"/>
            <a:ext cx="11886877" cy="335270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dcd09b5486_0_19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Pay attention!</a:t>
            </a:r>
            <a:endParaRPr/>
          </a:p>
        </p:txBody>
      </p:sp>
      <p:pic>
        <p:nvPicPr>
          <p:cNvPr id="167" name="Google Shape;167;g3dcd09b5486_0_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64660"/>
            <a:ext cx="11886877" cy="335270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g3dcd09b5486_0_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4669769"/>
            <a:ext cx="11886876" cy="12584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dcd09b5486_0_34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Pay attention!</a:t>
            </a:r>
            <a:endParaRPr/>
          </a:p>
        </p:txBody>
      </p:sp>
      <p:pic>
        <p:nvPicPr>
          <p:cNvPr id="175" name="Google Shape;175;g3dcd09b5486_0_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64660"/>
            <a:ext cx="11391900" cy="4000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dcd09b5486_0_26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Pay attention!</a:t>
            </a:r>
            <a:endParaRPr/>
          </a:p>
        </p:txBody>
      </p:sp>
      <p:pic>
        <p:nvPicPr>
          <p:cNvPr id="182" name="Google Shape;182;g3dcd09b5486_0_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64660"/>
            <a:ext cx="11391900" cy="400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g3dcd09b5486_0_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5317560"/>
            <a:ext cx="11886875" cy="111772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dcd09b5486_0_50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Pay attention!</a:t>
            </a:r>
            <a:endParaRPr/>
          </a:p>
        </p:txBody>
      </p:sp>
      <p:pic>
        <p:nvPicPr>
          <p:cNvPr id="190" name="Google Shape;190;g3dcd09b5486_0_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64660"/>
            <a:ext cx="11886873" cy="14286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dcd09b5486_0_41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Pay attention!</a:t>
            </a:r>
            <a:endParaRPr/>
          </a:p>
        </p:txBody>
      </p:sp>
      <p:pic>
        <p:nvPicPr>
          <p:cNvPr id="197" name="Google Shape;197;g3dcd09b5486_0_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64660"/>
            <a:ext cx="11886873" cy="14286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g3dcd09b5486_0_4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4775" y="4652329"/>
            <a:ext cx="11886873" cy="100670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dcd09b5486_0_57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Vibecoding</a:t>
            </a:r>
            <a:endParaRPr/>
          </a:p>
        </p:txBody>
      </p:sp>
      <p:sp>
        <p:nvSpPr>
          <p:cNvPr id="205" name="Google Shape;205;g3dcd09b5486_0_57"/>
          <p:cNvSpPr txBox="1"/>
          <p:nvPr/>
        </p:nvSpPr>
        <p:spPr>
          <a:xfrm>
            <a:off x="914400" y="1463050"/>
            <a:ext cx="10652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Coding without reading - when is this appropriate?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dcd09b5486_0_63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Vibecoding</a:t>
            </a:r>
            <a:endParaRPr/>
          </a:p>
        </p:txBody>
      </p:sp>
      <p:sp>
        <p:nvSpPr>
          <p:cNvPr id="212" name="Google Shape;212;g3dcd09b5486_0_63"/>
          <p:cNvSpPr txBox="1"/>
          <p:nvPr/>
        </p:nvSpPr>
        <p:spPr>
          <a:xfrm>
            <a:off x="914400" y="1463050"/>
            <a:ext cx="10652400" cy="13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Coding without reading - when is this appropriate?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81000" algn="l" rtl="0">
              <a:spcBef>
                <a:spcPts val="600"/>
              </a:spcBef>
              <a:spcAft>
                <a:spcPts val="0"/>
              </a:spcAft>
              <a:buClr>
                <a:srgbClr val="333344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If the project is simple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dcd09b5486_0_81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Vibecoding</a:t>
            </a:r>
            <a:endParaRPr/>
          </a:p>
        </p:txBody>
      </p:sp>
      <p:sp>
        <p:nvSpPr>
          <p:cNvPr id="219" name="Google Shape;219;g3dcd09b5486_0_81"/>
          <p:cNvSpPr txBox="1"/>
          <p:nvPr/>
        </p:nvSpPr>
        <p:spPr>
          <a:xfrm>
            <a:off x="914400" y="1463050"/>
            <a:ext cx="10652400" cy="217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Coding without reading - when is this appropriate?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81000" algn="l" rtl="0">
              <a:spcBef>
                <a:spcPts val="600"/>
              </a:spcBef>
              <a:spcAft>
                <a:spcPts val="0"/>
              </a:spcAft>
              <a:buClr>
                <a:srgbClr val="333344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If the project is simple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81000" algn="l" rtl="0">
              <a:spcBef>
                <a:spcPts val="0"/>
              </a:spcBef>
              <a:spcAft>
                <a:spcPts val="0"/>
              </a:spcAft>
              <a:buClr>
                <a:srgbClr val="333344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If you’ve invested heavily in skills/Claude infra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dcd09b5486_0_87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Vibecoding</a:t>
            </a:r>
            <a:endParaRPr/>
          </a:p>
        </p:txBody>
      </p:sp>
      <p:sp>
        <p:nvSpPr>
          <p:cNvPr id="226" name="Google Shape;226;g3dcd09b5486_0_87"/>
          <p:cNvSpPr txBox="1"/>
          <p:nvPr/>
        </p:nvSpPr>
        <p:spPr>
          <a:xfrm>
            <a:off x="914400" y="1463050"/>
            <a:ext cx="10652400" cy="209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Coding without reading - when is this appropriate?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81000" algn="l" rtl="0">
              <a:spcBef>
                <a:spcPts val="600"/>
              </a:spcBef>
              <a:spcAft>
                <a:spcPts val="0"/>
              </a:spcAft>
              <a:buClr>
                <a:srgbClr val="333344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If the project is simple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81000" algn="l" rtl="0">
              <a:spcBef>
                <a:spcPts val="0"/>
              </a:spcBef>
              <a:spcAft>
                <a:spcPts val="0"/>
              </a:spcAft>
              <a:buClr>
                <a:srgbClr val="333344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If you’ve invested heavily in skills/Claude infra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81000" algn="l" rtl="0">
              <a:spcBef>
                <a:spcPts val="0"/>
              </a:spcBef>
              <a:spcAft>
                <a:spcPts val="0"/>
              </a:spcAft>
              <a:buClr>
                <a:srgbClr val="333344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If you’re really experienced and have intuition around when it’s “safe”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7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Client-server architecture</a:t>
            </a:r>
            <a:endParaRPr/>
          </a:p>
        </p:txBody>
      </p:sp>
      <p:sp>
        <p:nvSpPr>
          <p:cNvPr id="233" name="Google Shape;233;p7"/>
          <p:cNvSpPr txBox="1"/>
          <p:nvPr/>
        </p:nvSpPr>
        <p:spPr>
          <a:xfrm>
            <a:off x="914400" y="1463040"/>
            <a:ext cx="10362895" cy="2693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This is the </a:t>
            </a:r>
            <a:r>
              <a:rPr lang="en-US" sz="2400" b="1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fundamental structure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for most web applications.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US" sz="2400" b="1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client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(usually your web browser) sends requests to a server.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US" sz="2400" b="1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server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processes these requests and sends back responses.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spcBef>
                <a:spcPts val="600"/>
              </a:spcBef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This course is designed to introduce you to </a:t>
            </a:r>
            <a:r>
              <a:rPr lang="en-US" sz="2400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this client-server 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architecture.</a:t>
            </a:r>
            <a:endParaRPr lang="en-US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8"/>
          <p:cNvSpPr txBox="1"/>
          <p:nvPr/>
        </p:nvSpPr>
        <p:spPr>
          <a:xfrm>
            <a:off x="731520" y="27432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big picture</a:t>
            </a:r>
            <a:endParaRPr/>
          </a:p>
        </p:txBody>
      </p:sp>
      <p:sp>
        <p:nvSpPr>
          <p:cNvPr id="240" name="Google Shape;240;p8"/>
          <p:cNvSpPr/>
          <p:nvPr/>
        </p:nvSpPr>
        <p:spPr>
          <a:xfrm>
            <a:off x="457200" y="1645920"/>
            <a:ext cx="3200400" cy="1828800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12700" cap="flat" cmpd="sng">
            <a:solidFill>
              <a:srgbClr val="666677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Client</a:t>
            </a:r>
            <a:br>
              <a:rPr lang="en-US" sz="18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(Browser)</a:t>
            </a:r>
            <a:br>
              <a:rPr lang="en-US" sz="18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8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HTML / CSS / JS</a:t>
            </a:r>
            <a:br>
              <a:rPr lang="en-US" sz="18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React</a:t>
            </a:r>
            <a:endParaRPr/>
          </a:p>
        </p:txBody>
      </p:sp>
      <p:sp>
        <p:nvSpPr>
          <p:cNvPr id="241" name="Google Shape;241;p8"/>
          <p:cNvSpPr/>
          <p:nvPr/>
        </p:nvSpPr>
        <p:spPr>
          <a:xfrm>
            <a:off x="3931920" y="2011680"/>
            <a:ext cx="1645920" cy="3200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B21B6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8"/>
          <p:cNvSpPr txBox="1"/>
          <p:nvPr/>
        </p:nvSpPr>
        <p:spPr>
          <a:xfrm>
            <a:off x="3840480" y="1554480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HTTP / REST API</a:t>
            </a:r>
            <a:endParaRPr/>
          </a:p>
        </p:txBody>
      </p:sp>
      <p:sp>
        <p:nvSpPr>
          <p:cNvPr id="243" name="Google Shape;243;p8"/>
          <p:cNvSpPr/>
          <p:nvPr/>
        </p:nvSpPr>
        <p:spPr>
          <a:xfrm rot="10800000">
            <a:off x="3931920" y="2926080"/>
            <a:ext cx="1645920" cy="3200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B21B6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8"/>
          <p:cNvSpPr txBox="1"/>
          <p:nvPr/>
        </p:nvSpPr>
        <p:spPr>
          <a:xfrm>
            <a:off x="3931920" y="329184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JSON responses</a:t>
            </a:r>
            <a:endParaRPr/>
          </a:p>
        </p:txBody>
      </p:sp>
      <p:sp>
        <p:nvSpPr>
          <p:cNvPr id="245" name="Google Shape;245;p8"/>
          <p:cNvSpPr/>
          <p:nvPr/>
        </p:nvSpPr>
        <p:spPr>
          <a:xfrm>
            <a:off x="5852160" y="1645920"/>
            <a:ext cx="2926080" cy="1828800"/>
          </a:xfrm>
          <a:prstGeom prst="roundRect">
            <a:avLst>
              <a:gd name="adj" fmla="val 16667"/>
            </a:avLst>
          </a:prstGeom>
          <a:solidFill>
            <a:srgbClr val="DCFCE7"/>
          </a:solidFill>
          <a:ln w="12700" cap="flat" cmpd="sng">
            <a:solidFill>
              <a:srgbClr val="666677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Server</a:t>
            </a:r>
            <a:br>
              <a:rPr lang="en-US" sz="1800" b="1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1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(Backend)</a:t>
            </a:r>
            <a:br>
              <a:rPr lang="en-US" sz="1800" b="1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800" b="1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1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Python</a:t>
            </a:r>
            <a:br>
              <a:rPr lang="en-US" sz="1800" b="1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1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FastAPI</a:t>
            </a:r>
            <a:endParaRPr/>
          </a:p>
        </p:txBody>
      </p:sp>
      <p:sp>
        <p:nvSpPr>
          <p:cNvPr id="246" name="Google Shape;246;p8"/>
          <p:cNvSpPr/>
          <p:nvPr/>
        </p:nvSpPr>
        <p:spPr>
          <a:xfrm>
            <a:off x="9052560" y="2286000"/>
            <a:ext cx="1097280" cy="3200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A580C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8"/>
          <p:cNvSpPr/>
          <p:nvPr/>
        </p:nvSpPr>
        <p:spPr>
          <a:xfrm>
            <a:off x="10332720" y="1645920"/>
            <a:ext cx="1554480" cy="1828800"/>
          </a:xfrm>
          <a:prstGeom prst="roundRect">
            <a:avLst>
              <a:gd name="adj" fmla="val 16667"/>
            </a:avLst>
          </a:prstGeom>
          <a:solidFill>
            <a:srgbClr val="FEF3C7"/>
          </a:solidFill>
          <a:ln w="12700" cap="flat" cmpd="sng">
            <a:solidFill>
              <a:srgbClr val="666677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Database</a:t>
            </a:r>
            <a:br>
              <a:rPr lang="en-US" sz="1800" b="1" i="0" u="none" strike="noStrike" cap="non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800" b="1" i="0" u="none" strike="noStrike" cap="non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1" i="0" u="none" strike="noStrike" cap="non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SQL</a:t>
            </a:r>
            <a:br>
              <a:rPr lang="en-US" sz="1800" b="1" i="0" u="none" strike="noStrike" cap="non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1" i="0" u="none" strike="noStrike" cap="non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SQLAlchemy</a:t>
            </a:r>
            <a:endParaRPr/>
          </a:p>
        </p:txBody>
      </p:sp>
      <p:sp>
        <p:nvSpPr>
          <p:cNvPr id="248" name="Google Shape;248;p8"/>
          <p:cNvSpPr/>
          <p:nvPr/>
        </p:nvSpPr>
        <p:spPr>
          <a:xfrm>
            <a:off x="457200" y="4389120"/>
            <a:ext cx="11430000" cy="914400"/>
          </a:xfrm>
          <a:prstGeom prst="roundRect">
            <a:avLst>
              <a:gd name="adj" fmla="val 16667"/>
            </a:avLst>
          </a:prstGeom>
          <a:solidFill>
            <a:srgbClr val="EDE9FE"/>
          </a:solidFill>
          <a:ln w="12700" cap="flat" cmpd="sng">
            <a:solidFill>
              <a:srgbClr val="666677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Tools:   Git  /  Unix + CLI  /  Testing  /  Cloud Deployment  /  CI/CD</a:t>
            </a:r>
            <a:endParaRPr/>
          </a:p>
        </p:txBody>
      </p:sp>
      <p:sp>
        <p:nvSpPr>
          <p:cNvPr id="249" name="Google Shape;249;p8"/>
          <p:cNvSpPr txBox="1"/>
          <p:nvPr/>
        </p:nvSpPr>
        <p:spPr>
          <a:xfrm>
            <a:off x="457200" y="5394960"/>
            <a:ext cx="3200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Weeks 1-2</a:t>
            </a:r>
            <a:endParaRPr/>
          </a:p>
        </p:txBody>
      </p:sp>
      <p:sp>
        <p:nvSpPr>
          <p:cNvPr id="250" name="Google Shape;250;p8"/>
          <p:cNvSpPr txBox="1"/>
          <p:nvPr/>
        </p:nvSpPr>
        <p:spPr>
          <a:xfrm>
            <a:off x="3840480" y="5394960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Weeks 3-4</a:t>
            </a:r>
            <a:endParaRPr/>
          </a:p>
        </p:txBody>
      </p:sp>
      <p:sp>
        <p:nvSpPr>
          <p:cNvPr id="251" name="Google Shape;251;p8"/>
          <p:cNvSpPr txBox="1"/>
          <p:nvPr/>
        </p:nvSpPr>
        <p:spPr>
          <a:xfrm>
            <a:off x="5852160" y="5394960"/>
            <a:ext cx="29260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Weeks 5-6</a:t>
            </a:r>
            <a:endParaRPr/>
          </a:p>
        </p:txBody>
      </p:sp>
      <p:sp>
        <p:nvSpPr>
          <p:cNvPr id="252" name="Google Shape;252;p8"/>
          <p:cNvSpPr txBox="1"/>
          <p:nvPr/>
        </p:nvSpPr>
        <p:spPr>
          <a:xfrm>
            <a:off x="9052560" y="5394960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Weeks 7-10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9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Part 1: The Client (Frontend)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dcd09b5486_0_122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client (frontend)</a:t>
            </a:r>
            <a:endParaRPr/>
          </a:p>
        </p:txBody>
      </p:sp>
      <p:sp>
        <p:nvSpPr>
          <p:cNvPr id="263" name="Google Shape;263;g3dcd09b5486_0_122"/>
          <p:cNvSpPr txBox="1"/>
          <p:nvPr/>
        </p:nvSpPr>
        <p:spPr>
          <a:xfrm>
            <a:off x="914400" y="1463040"/>
            <a:ext cx="10362900" cy="13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part of the application that users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see and interact with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directly in their web browser.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Often referred to as the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"frontend"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dcd09b5486_0_127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client (frontend)</a:t>
            </a:r>
            <a:endParaRPr/>
          </a:p>
        </p:txBody>
      </p:sp>
      <p:sp>
        <p:nvSpPr>
          <p:cNvPr id="269" name="Google Shape;269;g3dcd09b5486_0_127"/>
          <p:cNvSpPr txBox="1"/>
          <p:nvPr/>
        </p:nvSpPr>
        <p:spPr>
          <a:xfrm>
            <a:off x="914400" y="1463040"/>
            <a:ext cx="10362900" cy="269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part of the application that users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see and interact with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directly in their web browser.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Often referred to as the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"frontend"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It handles the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User Interface (UI)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and aims to provide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an optimal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User Experience (UX)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0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client (frontend)</a:t>
            </a:r>
            <a:endParaRPr/>
          </a:p>
        </p:txBody>
      </p:sp>
      <p:sp>
        <p:nvSpPr>
          <p:cNvPr id="275" name="Google Shape;275;p10"/>
          <p:cNvSpPr txBox="1"/>
          <p:nvPr/>
        </p:nvSpPr>
        <p:spPr>
          <a:xfrm>
            <a:off x="914400" y="1463040"/>
            <a:ext cx="10362900" cy="512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part of the application that users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see and interact with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directly in their web browser.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Often referred to as the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"frontend"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It handles the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User Interface (UI)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and aims to provide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an optimal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User Experience (UX)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Technologies we'll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use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HTML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structure and content of web pages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CSS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visual presentation and styling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JavaScript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interactivity and dynamic behavior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React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a library for building user interfaces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1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Part 2: The Server (Backend)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6">
          <a:extLst>
            <a:ext uri="{FF2B5EF4-FFF2-40B4-BE49-F238E27FC236}">
              <a16:creationId xmlns:a16="http://schemas.microsoft.com/office/drawing/2014/main" id="{DF384229-E306-851C-6B2F-9FF23D440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12">
            <a:extLst>
              <a:ext uri="{FF2B5EF4-FFF2-40B4-BE49-F238E27FC236}">
                <a16:creationId xmlns:a16="http://schemas.microsoft.com/office/drawing/2014/main" id="{386B50B2-47B4-6F85-EAED-6F761BBDF258}"/>
              </a:ext>
            </a:extLst>
          </p:cNvPr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server (backend)</a:t>
            </a:r>
            <a:endParaRPr/>
          </a:p>
        </p:txBody>
      </p:sp>
      <p:sp>
        <p:nvSpPr>
          <p:cNvPr id="298" name="Google Shape;298;p12">
            <a:extLst>
              <a:ext uri="{FF2B5EF4-FFF2-40B4-BE49-F238E27FC236}">
                <a16:creationId xmlns:a16="http://schemas.microsoft.com/office/drawing/2014/main" id="{D209B13D-F841-8831-9DE2-5EB1257D65F2}"/>
              </a:ext>
            </a:extLst>
          </p:cNvPr>
          <p:cNvSpPr txBox="1"/>
          <p:nvPr/>
        </p:nvSpPr>
        <p:spPr>
          <a:xfrm>
            <a:off x="914400" y="1463040"/>
            <a:ext cx="10362895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lang="en-US" sz="2400" b="1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"engine room"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of the web application, running on a remote computer.</a:t>
            </a:r>
            <a:endParaRPr lang="en-US" dirty="0">
              <a:ea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400" b="0" i="0" u="none" strike="noStrike" cap="none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Known as the </a:t>
            </a:r>
            <a:r>
              <a:rPr lang="en-US" sz="2400" b="1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"backend"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8321171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6">
          <a:extLst>
            <a:ext uri="{FF2B5EF4-FFF2-40B4-BE49-F238E27FC236}">
              <a16:creationId xmlns:a16="http://schemas.microsoft.com/office/drawing/2014/main" id="{49A6AFD2-9668-FC62-0197-A80D60C34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12">
            <a:extLst>
              <a:ext uri="{FF2B5EF4-FFF2-40B4-BE49-F238E27FC236}">
                <a16:creationId xmlns:a16="http://schemas.microsoft.com/office/drawing/2014/main" id="{37683F9C-273D-C419-D214-326B34C2B5A8}"/>
              </a:ext>
            </a:extLst>
          </p:cNvPr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server (backend)</a:t>
            </a:r>
            <a:endParaRPr/>
          </a:p>
        </p:txBody>
      </p:sp>
      <p:sp>
        <p:nvSpPr>
          <p:cNvPr id="298" name="Google Shape;298;p12">
            <a:extLst>
              <a:ext uri="{FF2B5EF4-FFF2-40B4-BE49-F238E27FC236}">
                <a16:creationId xmlns:a16="http://schemas.microsoft.com/office/drawing/2014/main" id="{72B50859-7D1D-3C31-6956-04B8C6A1098A}"/>
              </a:ext>
            </a:extLst>
          </p:cNvPr>
          <p:cNvSpPr txBox="1"/>
          <p:nvPr/>
        </p:nvSpPr>
        <p:spPr>
          <a:xfrm>
            <a:off x="914400" y="1463040"/>
            <a:ext cx="10362895" cy="2462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lang="en-US" sz="2400" b="1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"engine room"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of the web application, running on a remote computer.</a:t>
            </a:r>
            <a:endParaRPr lang="en-US" dirty="0">
              <a:ea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400" b="0" i="0" u="none" strike="noStrike" cap="none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Known as the </a:t>
            </a:r>
            <a:r>
              <a:rPr lang="en-US" sz="2400" b="1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"backend"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spcBef>
                <a:spcPts val="600"/>
              </a:spcBef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It's responsible for managing </a:t>
            </a:r>
            <a:r>
              <a:rPr lang="en-US" sz="2400" b="1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application logic</a:t>
            </a:r>
            <a:r>
              <a:rPr lang="en-US" sz="2400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, processing 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data, and interacting with databases.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155711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1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server (backend)</a:t>
            </a:r>
            <a:endParaRPr/>
          </a:p>
        </p:txBody>
      </p:sp>
      <p:sp>
        <p:nvSpPr>
          <p:cNvPr id="298" name="Google Shape;298;p12"/>
          <p:cNvSpPr txBox="1"/>
          <p:nvPr/>
        </p:nvSpPr>
        <p:spPr>
          <a:xfrm>
            <a:off x="914400" y="1463040"/>
            <a:ext cx="10362895" cy="49705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lang="en-US" sz="2400" b="1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"engine room"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of the web application, running on a remote computer.</a:t>
            </a:r>
            <a:endParaRPr lang="en-US" dirty="0">
              <a:ea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400" b="0" i="0" u="none" strike="noStrike" cap="none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Known as the </a:t>
            </a:r>
            <a:r>
              <a:rPr lang="en-US" sz="2400" b="1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"backend"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spcBef>
                <a:spcPts val="600"/>
              </a:spcBef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It's responsible for managing </a:t>
            </a:r>
            <a:r>
              <a:rPr lang="en-US" sz="2400" b="1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application logic</a:t>
            </a:r>
            <a:r>
              <a:rPr lang="en-US" sz="2400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, processing 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data, and interacting with databases.</a:t>
            </a:r>
            <a:endParaRPr lang="en-US"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Technologies we'll learn: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Python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our server-side language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 dirty="0" err="1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FastAPI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a modern web framework for building APIs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Client-server messaging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communication patterns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between the frontend and backend</a:t>
            </a:r>
            <a:endParaRPr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13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Part 3: The Data Layer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14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data layer (databases)</a:t>
            </a:r>
            <a:endParaRPr/>
          </a:p>
        </p:txBody>
      </p:sp>
      <p:sp>
        <p:nvSpPr>
          <p:cNvPr id="309" name="Google Shape;309;p14"/>
          <p:cNvSpPr txBox="1"/>
          <p:nvPr/>
        </p:nvSpPr>
        <p:spPr>
          <a:xfrm>
            <a:off x="914400" y="1463040"/>
            <a:ext cx="10362900" cy="3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system where your application's data is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stored persistently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Essential for any application that needs to save user information,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posts, or other dynamic content.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Technologies we'll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cover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Relational Databases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structured tables (e.g., PostgreSQL)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SQL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the language for querying databases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File I/O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reading and writing files (JSON, CSV)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15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Part 4: APIs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3dcd09b5486_0_142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APIs (Application Programming Interfaces)</a:t>
            </a:r>
            <a:endParaRPr/>
          </a:p>
        </p:txBody>
      </p:sp>
      <p:sp>
        <p:nvSpPr>
          <p:cNvPr id="320" name="Google Shape;320;g3dcd09b5486_0_142"/>
          <p:cNvSpPr txBox="1"/>
          <p:nvPr/>
        </p:nvSpPr>
        <p:spPr>
          <a:xfrm>
            <a:off x="914400" y="1463040"/>
            <a:ext cx="10362900" cy="12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set of definitions and protocols that allow different software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components to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communicate with each other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3dcd09b5486_0_147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APIs (Application Programming Interfaces)</a:t>
            </a:r>
            <a:endParaRPr/>
          </a:p>
        </p:txBody>
      </p:sp>
      <p:sp>
        <p:nvSpPr>
          <p:cNvPr id="326" name="Google Shape;326;g3dcd09b5486_0_147"/>
          <p:cNvSpPr txBox="1"/>
          <p:nvPr/>
        </p:nvSpPr>
        <p:spPr>
          <a:xfrm>
            <a:off x="914400" y="1463040"/>
            <a:ext cx="10362900" cy="253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set of definitions and protocols that allow different software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components to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communicate with each other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APIs serve as the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"contract"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that enables the frontend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and backend to exchange data and instructions.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16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APIs (Application Programming Interfaces)</a:t>
            </a:r>
            <a:endParaRPr/>
          </a:p>
        </p:txBody>
      </p:sp>
      <p:sp>
        <p:nvSpPr>
          <p:cNvPr id="332" name="Google Shape;332;p16"/>
          <p:cNvSpPr txBox="1"/>
          <p:nvPr/>
        </p:nvSpPr>
        <p:spPr>
          <a:xfrm>
            <a:off x="914400" y="1463040"/>
            <a:ext cx="10362895" cy="4937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set of definitions and protocols that allow different software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components to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communicate with each other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APIs serve as the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"contract"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that enables the frontend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and backend to exchange data and instructions.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We'll focus on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REST APIs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REST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(Representational State Transfer) - an architectural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style for designing networked applications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Uses standard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HTTP methods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: GET, POST, PUT, DELETE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We will learn to design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RESTful endpoints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for our app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17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Bringing It All Together: Deployment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18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Deployment and cloud services</a:t>
            </a:r>
            <a:endParaRPr/>
          </a:p>
        </p:txBody>
      </p:sp>
      <p:sp>
        <p:nvSpPr>
          <p:cNvPr id="343" name="Google Shape;343;p18"/>
          <p:cNvSpPr txBox="1"/>
          <p:nvPr/>
        </p:nvSpPr>
        <p:spPr>
          <a:xfrm>
            <a:off x="914400" y="1463040"/>
            <a:ext cx="10362900" cy="45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Deployment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the process of making your web application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accessible to users over the internet.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Cloud services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on-demand computing (servers, storage,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databases) delivered over the internet.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Benefits: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Scalability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handle more users without buying hardware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Reliability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redundancy and failover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Cost-efficiency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pay for what you use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19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Essential tool: version control (Git)</a:t>
            </a:r>
            <a:endParaRPr dirty="0"/>
          </a:p>
        </p:txBody>
      </p:sp>
      <p:sp>
        <p:nvSpPr>
          <p:cNvPr id="349" name="Google Shape;349;p19"/>
          <p:cNvSpPr txBox="1"/>
          <p:nvPr/>
        </p:nvSpPr>
        <p:spPr>
          <a:xfrm>
            <a:off x="914400" y="1463040"/>
            <a:ext cx="10362895" cy="4937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system that </a:t>
            </a:r>
            <a:r>
              <a:rPr lang="en-US" sz="2400" b="1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tracks changes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to files and projects over time,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making collaboration and error recovery much easier.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Absolutely crucial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for team collaboration on shared codebases.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Core </a:t>
            </a:r>
            <a:r>
              <a:rPr lang="en-US" sz="2400" b="1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Git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concepts you'll learn: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Repositories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where your code lives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Commits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snapshots of your project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Branches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parallel lines of development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Merges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combining work together</a:t>
            </a:r>
            <a:endParaRPr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20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Ensuring quality: testing</a:t>
            </a:r>
            <a:endParaRPr/>
          </a:p>
        </p:txBody>
      </p:sp>
      <p:sp>
        <p:nvSpPr>
          <p:cNvPr id="355" name="Google Shape;355;p20"/>
          <p:cNvSpPr txBox="1"/>
          <p:nvPr/>
        </p:nvSpPr>
        <p:spPr>
          <a:xfrm>
            <a:off x="914400" y="1463040"/>
            <a:ext cx="10728655" cy="4170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Ensures the </a:t>
            </a:r>
            <a:r>
              <a:rPr lang="en-US" sz="2400" b="1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reliability, functionality, and stability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of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software, helping to catch bugs early.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We'll focus on: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Unit Testing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testing individual components in isolation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Test-driven development (TDD)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Continuous Integration (CI)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automated testing and deployment workflows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Testing is a core software engineering discipline, not something tacked on at the end</a:t>
            </a:r>
            <a:endParaRPr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2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Building your web app: course journey</a:t>
            </a:r>
            <a:endParaRPr/>
          </a:p>
        </p:txBody>
      </p:sp>
      <p:sp>
        <p:nvSpPr>
          <p:cNvPr id="362" name="Google Shape;362;p21"/>
          <p:cNvSpPr txBox="1"/>
          <p:nvPr/>
        </p:nvSpPr>
        <p:spPr>
          <a:xfrm>
            <a:off x="914400" y="1463040"/>
            <a:ext cx="10362895" cy="2893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Throughout the semester, you will progressively build and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integrate these core components of a web application.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Starting with foundational tools like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Unix/Linux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Git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Then moving to the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data layer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REST APIs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, and </a:t>
            </a:r>
            <a:r>
              <a:rPr lang="en-US" sz="2000" b="1" i="0" u="none" strike="noStrike" cap="none" dirty="0" err="1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FastAPI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Followed by frontend development with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JavaScript/React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And finally: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deployment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testing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, and a significant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group project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2307</Words>
  <Application>Microsoft Macintosh PowerPoint</Application>
  <PresentationFormat>Widescreen</PresentationFormat>
  <Paragraphs>260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Andrew Aymeloglu</cp:lastModifiedBy>
  <cp:revision>1</cp:revision>
  <dcterms:created xsi:type="dcterms:W3CDTF">2013-01-27T09:14:16Z</dcterms:created>
  <dcterms:modified xsi:type="dcterms:W3CDTF">2026-08-02T19:00:14Z</dcterms:modified>
</cp:coreProperties>
</file>