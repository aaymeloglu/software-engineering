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82" r:id="rId25"/>
    <p:sldId id="283" r:id="rId26"/>
    <p:sldId id="284" r:id="rId27"/>
    <p:sldId id="285" r:id="rId28"/>
    <p:sldId id="286" r:id="rId29"/>
    <p:sldId id="287" r:id="rId30"/>
    <p:sldId id="288" r:id="rId31"/>
    <p:sldId id="289" r:id="rId32"/>
    <p:sldId id="290" r:id="rId33"/>
    <p:sldId id="291" r:id="rId34"/>
    <p:sldId id="292" r:id="rId35"/>
    <p:sldId id="293" r:id="rId36"/>
    <p:sldId id="294" r:id="rId37"/>
    <p:sldId id="295" r:id="rId38"/>
    <p:sldId id="296" r:id="rId39"/>
    <p:sldId id="297" r:id="rId40"/>
    <p:sldId id="298" r:id="rId41"/>
    <p:sldId id="299" r:id="rId42"/>
    <p:sldId id="300" r:id="rId43"/>
    <p:sldId id="301" r:id="rId44"/>
  </p:sldIdLst>
  <p:sldSz cx="12192000" cy="6858000"/>
  <p:notesSz cx="6858000" cy="9144000"/>
  <p:embeddedFontLst>
    <p:embeddedFont>
      <p:font typeface="Courier Prime" pitchFamily="49" charset="77"/>
      <p:regular r:id="rId47"/>
      <p:bold r:id="rId48"/>
      <p:italic r:id="rId49"/>
      <p:boldItalic r:id="rId5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57" roundtripDataSignature="AMtx7mjQ1Zsv1xZ076b33qj2j9AaOIhc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6" Type="http://schemas.openxmlformats.org/officeDocument/2006/relationships/notesMaster" Target="notesMasters/notesMaster1.xml"/><Relationship Id="rId47" Type="http://schemas.openxmlformats.org/officeDocument/2006/relationships/font" Target="fonts/font1.fntdata"/><Relationship Id="rId48" Type="http://schemas.openxmlformats.org/officeDocument/2006/relationships/font" Target="fonts/font2.fntdata"/><Relationship Id="rId49" Type="http://schemas.openxmlformats.org/officeDocument/2006/relationships/font" Target="fonts/font3.fntdata"/><Relationship Id="rId50" Type="http://schemas.openxmlformats.org/officeDocument/2006/relationships/font" Target="fonts/font4.fntdata"/><Relationship Id="rId57" Type="http://customschemas.google.com/relationships/presentationmetadata" Target="metadata"/><Relationship Id="rId58" Type="http://schemas.openxmlformats.org/officeDocument/2006/relationships/presProps" Target="presProps.xml"/><Relationship Id="rId59" Type="http://schemas.openxmlformats.org/officeDocument/2006/relationships/viewProps" Target="viewProps.xml"/><Relationship Id="rId60" Type="http://schemas.openxmlformats.org/officeDocument/2006/relationships/theme" Target="theme/theme1.xml"/><Relationship Id="rId6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Relationship Id="rId3" Type="http://schemas.openxmlformats.org/officeDocument/2006/relationships/hyperlink" Target="http://r.ok" TargetMode="Externa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endParaRPr dirty="0"/>
          </a:p>
        </p:txBody>
      </p:sp>
      <p:sp>
        <p:nvSpPr>
          <p:cNvPr id="83" name="Google Shape;83;p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" name="Google Shape;91;p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Show of hands. Answer (b): no re-render triggered, and `let count = 0` resets anyway.</a:t>
            </a:r>
          </a:p>
        </p:txBody>
      </p:sp>
      <p:sp>
        <p:nvSpPr>
          <p:cNvPr id="92" name="Google Shape;92;p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e10b4ab9c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0" name="Google Shape;100;g3e10b4ab9cc_0_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101" name="Google Shape;101;g3e10b4ab9cc_0_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e10b4ab9cc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6" name="Google Shape;106;g3e10b4ab9cc_0_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Naming convention [thing, setThing]; correct agent-written variants like [thingState, updateThing].</a:t>
            </a:r>
          </a:p>
        </p:txBody>
      </p:sp>
      <p:sp>
        <p:nvSpPr>
          <p:cNvPr id="107" name="Google Shape;107;g3e10b4ab9cc_0_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e10b4ab9cc_0_1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3" name="Google Shape;113;g3e10b4ab9cc_0_11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30 seconds, then call on someone per blank. Answers: useState, setCount, useState, setCount.</a:t>
            </a:r>
          </a:p>
          <a:p/>
          <a:p>
            <a:r>
              <a:t>const [count, setCount] = useState(0);</a:t>
            </a:r>
          </a:p>
          <a:p>
            <a:r>
              <a:t>&lt;button onClick={() =&gt; setCount(count + 1)}&gt;+&lt;/button&gt;</a:t>
            </a:r>
          </a:p>
        </p:txBody>
      </p:sp>
      <p:sp>
        <p:nvSpPr>
          <p:cNvPr id="114" name="Google Shape;114;g3e10b4ab9cc_0_11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e10b4ab9cc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2" name="Google Shape;122;g3e10b4ab9cc_0_12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Show the three-line diff against the broken counter on slide 1.</a:t>
            </a:r>
          </a:p>
        </p:txBody>
      </p:sp>
      <p:sp>
        <p:nvSpPr>
          <p:cNvPr id="123" name="Google Shape;123;g3e10b4ab9cc_0_12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e10b4ab9cc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1" name="Google Shape;131;g3e10b4ab9cc_0_1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Closures like onClick capture that render's count; sets up the next quiz.</a:t>
            </a:r>
          </a:p>
        </p:txBody>
      </p:sp>
      <p:sp>
        <p:nvSpPr>
          <p:cNvPr id="132" name="Google Shape;132;g3e10b4ab9cc_0_1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e10b4ab9cc_0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8" name="Google Shape;138;g3e10b4ab9cc_0_13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Guesses first. Answer: 1, both calls see count=0. Fix: setCount(c =&gt; c + 1).</a:t>
            </a:r>
          </a:p>
        </p:txBody>
      </p:sp>
      <p:sp>
        <p:nvSpPr>
          <p:cNvPr id="139" name="Google Shape;139;g3e10b4ab9cc_0_13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e10b4ab9cc_0_5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7" name="Google Shape;147;g3e10b4ab9cc_0_53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Walk through: React sets a 'currently rendering fiber' pointer before calling Counter().</a:t>
            </a:r>
          </a:p>
        </p:txBody>
      </p:sp>
      <p:sp>
        <p:nvSpPr>
          <p:cNvPr id="148" name="Google Shape;148;g3e10b4ab9cc_0_53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e10b4ab9cc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4" name="Google Shape;154;g3e10b4ab9cc_0_13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Walk through: React sets a 'currently rendering fiber' pointer before calling Counter().</a:t>
            </a:r>
          </a:p>
        </p:txBody>
      </p:sp>
      <p:sp>
        <p:nvSpPr>
          <p:cNvPr id="155" name="Google Shape;155;g3e10b4ab9cc_0_13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e10b4ab9cc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1" name="Google Shape;161;g3e10b4ab9cc_0_2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162" name="Google Shape;162;g3e10b4ab9cc_0_2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e10b4ab9cc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0" name="Google Shape;170;g3e10b4ab9cc_0_3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When something doesn't update, trace the loop: usually step 2 or step 7.</a:t>
            </a:r>
          </a:p>
        </p:txBody>
      </p:sp>
      <p:sp>
        <p:nvSpPr>
          <p:cNvPr id="171" name="Google Shape;171;g3e10b4ab9cc_0_3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7" name="Google Shape;177;p1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178" name="Google Shape;178;p1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6" name="Google Shape;186;p1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Answers: setName, useState(""), setName(e.target.value). Forget onChange and typing does nothing.</a:t>
            </a:r>
          </a:p>
          <a:p/>
          <a:p>
            <a:r>
              <a:t>const [name, setName] = useState("");</a:t>
            </a:r>
          </a:p>
          <a:p>
            <a:r>
              <a:t>setName(e.target.value)</a:t>
            </a:r>
          </a:p>
        </p:txBody>
      </p:sp>
      <p:sp>
        <p:nvSpPr>
          <p:cNvPr id="187" name="Google Shape;187;p1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5" name="Google Shape;195;p1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196" name="Google Shape;196;p1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e10b4ab9cc_0_1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1" name="Google Shape;201;g3e10b4ab9cc_0_14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Show network tab: infinite fetch loop. 'Add a flag' fails too, flag resets each render.</a:t>
            </a:r>
          </a:p>
        </p:txBody>
      </p:sp>
      <p:sp>
        <p:nvSpPr>
          <p:cNvPr id="202" name="Google Shape;202;g3e10b4ab9cc_0_14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e10b4ab9cc_0_2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0" name="Google Shape;210;g3e10b4ab9cc_0_23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211" name="Google Shape;211;g3e10b4ab9cc_0_23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e10b4ab9cc_0_2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7" name="Google Shape;217;g3e10b4ab9cc_0_23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218" name="Google Shape;218;g3e10b4ab9cc_0_23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4" name="Google Shape;224;p1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225" name="Google Shape;225;p1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3e10b4ab9cc_0_2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1" name="Google Shape;231;g3e10b4ab9cc_0_24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Decision tree aloud. No obvious deps? Effect probably belongs in a handler instead.</a:t>
            </a:r>
          </a:p>
        </p:txBody>
      </p:sp>
      <p:sp>
        <p:nvSpPr>
          <p:cNvPr id="232" name="Google Shape;232;g3e10b4ab9cc_0_24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8" name="Google Shape;238;p1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Decision tree aloud. No obvious deps? Effect probably belongs in a handler instead.</a:t>
            </a:r>
          </a:p>
        </p:txBody>
      </p:sp>
      <p:sp>
        <p:nvSpPr>
          <p:cNvPr id="239" name="Google Shape;239;p1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5" name="Google Shape;245;p2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Answer (a). (b) infinite loop; (c) runs every render; (d) works (stable setter) but misleading.</a:t>
            </a:r>
          </a:p>
        </p:txBody>
      </p:sp>
      <p:sp>
        <p:nvSpPr>
          <p:cNvPr id="246" name="Google Shape;246;p2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4" name="Google Shape;254;p2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A is stuck: effect captured the first render's userId, never refetches. B correct.</a:t>
            </a:r>
          </a:p>
        </p:txBody>
      </p:sp>
      <p:sp>
        <p:nvSpPr>
          <p:cNvPr id="255" name="Google Shape;255;p2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3e10b4ab9cc_0_2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7" name="Google Shape;287;g3e10b4ab9cc_0_25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Ask if they have the React ESLint plugin turned on.</a:t>
            </a:r>
          </a:p>
        </p:txBody>
      </p:sp>
      <p:sp>
        <p:nvSpPr>
          <p:cNvPr id="288" name="Google Shape;288;g3e10b4ab9cc_0_25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3e10b4ab9cc_0_2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4" name="Google Shape;294;g3e10b4ab9cc_0_25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Ask if they have the React ESLint plugin turned on.</a:t>
            </a:r>
          </a:p>
        </p:txBody>
      </p:sp>
      <p:sp>
        <p:nvSpPr>
          <p:cNvPr id="295" name="Google Shape;295;g3e10b4ab9cc_0_25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3e10b4ab9cc_0_2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1" name="Google Shape;301;g3e10b4ab9cc_0_26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302" name="Google Shape;302;g3e10b4ab9cc_0_26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e10b4ab9cc_0_3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8" name="Google Shape;308;g3e10b4ab9cc_0_36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Expect this in their final project; walk through each piece.</a:t>
            </a:r>
          </a:p>
        </p:txBody>
      </p:sp>
      <p:sp>
        <p:nvSpPr>
          <p:cNvPr id="309" name="Google Shape;309;g3e10b4ab9cc_0_36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e10b4ab9cc_0_3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7" name="Google Shape;317;g3e10b4ab9cc_0_36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Expect this in their final project; walk through each piece.</a:t>
            </a:r>
          </a:p>
        </p:txBody>
      </p:sp>
      <p:sp>
        <p:nvSpPr>
          <p:cNvPr id="318" name="Google Shape;318;g3e10b4ab9cc_0_36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3e10b4ab9cc_0_2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6" name="Google Shape;326;g3e10b4ab9cc_0_27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Expect this in their final project; walk through each piece.</a:t>
            </a:r>
          </a:p>
        </p:txBody>
      </p:sp>
      <p:sp>
        <p:nvSpPr>
          <p:cNvPr id="327" name="Google Shape;327;g3e10b4ab9cc_0_27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5" name="Google Shape;335;p2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Don't use React Query in this course - do it by hand first.</a:t>
            </a:r>
          </a:p>
        </p:txBody>
      </p:sp>
      <p:sp>
        <p:nvSpPr>
          <p:cNvPr id="336" name="Google Shape;336;p2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2" name="Google Shape;342;p2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  <a:p>
            <a:r>
              <a:t>   const [messages, setMessages] = useState&lt;Message[]&gt;([]);</a:t>
            </a:r>
          </a:p>
          <a:p>
            <a:r>
              <a:t>    const [loading,  setLoading]  = useState(true);</a:t>
            </a:r>
          </a:p>
          <a:p>
            <a:r>
              <a:t>    const [error,    setError]    = useState&lt;string | null&gt;(null);</a:t>
            </a:r>
          </a:p>
          <a:p>
            <a:r>
              <a:t>if (!r.ok)</a:t>
            </a:r>
          </a:p>
          <a:p>
            <a:r>
              <a:t> setMessages(await r.json());</a:t>
            </a:r>
          </a:p>
          <a:p>
            <a:r>
              <a:t>setLoading(false);</a:t>
            </a:r>
          </a:p>
          <a:p>
            <a:r>
              <a:t>useEffect</a:t>
            </a:r>
          </a:p>
          <a:p>
            <a:r>
              <a:t>    }, []);</a:t>
            </a:r>
          </a:p>
          <a:p>
            <a:r>
              <a:t>    if (loading) return &lt;p&gt;Loading...&lt;/p&gt;;</a:t>
            </a:r>
          </a:p>
          <a:p>
            <a:r>
              <a:t>    if (error)   return &lt;p&gt;Failed: {error}&lt;/p&gt;;</a:t>
            </a:r>
          </a:p>
          <a:p>
            <a:r>
              <a:t>    return &lt;ul&gt;{messages.map(m =&gt; (</a:t>
            </a:r>
          </a:p>
          <a:p>
            <a:r>
              <a:t>        &lt;li key={m.id}&gt;&lt;b&gt;{m.author}:&lt;/b&gt; {m.text}&lt;/li&gt;</a:t>
            </a:r>
          </a:p>
          <a:p>
            <a:r>
              <a:t>    ))}&lt;/ul&gt;;</a:t>
            </a:r>
          </a:p>
        </p:txBody>
      </p:sp>
      <p:sp>
        <p:nvSpPr>
          <p:cNvPr id="343" name="Google Shape;343;p2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1" name="Google Shape;351;p2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Same shape as the TodoList; only data shape and rendering change.</a:t>
            </a:r>
          </a:p>
        </p:txBody>
      </p:sp>
      <p:sp>
        <p:nvSpPr>
          <p:cNvPr id="352" name="Google Shape;352;p2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g3e10b4ab9cc_0_3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0" name="Google Shape;360;g3e10b4ab9cc_0_37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361" name="Google Shape;361;g3e10b4ab9cc_0_37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3e10b4ab9cc_0_3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6" name="Google Shape;366;g3e10b4ab9cc_0_38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BBS frame: A2 /api/messages endpoint plus A4 frontend, new messages still don't appear.</a:t>
            </a:r>
          </a:p>
        </p:txBody>
      </p:sp>
      <p:sp>
        <p:nvSpPr>
          <p:cNvPr id="367" name="Google Shape;367;g3e10b4ab9cc_0_38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g3e10b4ab9cc_0_3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3" name="Google Shape;373;g3e10b4ab9cc_0_38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BBS frame: A2 /api/messages endpoint plus A4 frontend, new messages still don't appear.</a:t>
            </a:r>
          </a:p>
        </p:txBody>
      </p:sp>
      <p:sp>
        <p:nvSpPr>
          <p:cNvPr id="374" name="Google Shape;374;g3e10b4ab9cc_0_38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3e10b4ab9cc_0_3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0" name="Google Shape;380;g3e10b4ab9cc_0_39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Happy path first. Bug: event loop owns the interval, survives unmount. Dev warning, prod leak.</a:t>
            </a:r>
          </a:p>
        </p:txBody>
      </p:sp>
      <p:sp>
        <p:nvSpPr>
          <p:cNvPr id="381" name="Google Shape;381;g3e10b4ab9cc_0_39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3e10b4ab9cc_0_4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9" name="Google Shape;389;g3e10b4ab9cc_0_40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Analogue to memory management. Plain fetch with no timer/subscription needs no cleanup.</a:t>
            </a:r>
          </a:p>
        </p:txBody>
      </p:sp>
      <p:sp>
        <p:nvSpPr>
          <p:cNvPr id="390" name="Google Shape;390;g3e10b4ab9cc_0_40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3e10b4ab9cc_0_4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6" name="Google Shape;396;g3e10b4ab9cc_0_40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Analogue to memory management. Plain fetch with no timer/subscription needs no cleanup.</a:t>
            </a:r>
          </a:p>
        </p:txBody>
      </p:sp>
      <p:sp>
        <p:nvSpPr>
          <p:cNvPr id="397" name="Google Shape;397;g3e10b4ab9cc_0_40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3e10b4ab9cc_0_5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3" name="Google Shape;403;g3e10b4ab9cc_0_51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Show the one-line diff vs slide 35.</a:t>
            </a:r>
          </a:p>
        </p:txBody>
      </p:sp>
      <p:sp>
        <p:nvSpPr>
          <p:cNvPr id="404" name="Google Shape;404;g3e10b4ab9cc_0_51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3e10b4ab9cc_0_4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12" name="Google Shape;412;g3e10b4ab9cc_0_41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Show the one-line diff vs slide 35.</a:t>
            </a:r>
          </a:p>
        </p:txBody>
      </p:sp>
      <p:sp>
        <p:nvSpPr>
          <p:cNvPr id="413" name="Google Shape;413;g3e10b4ab9cc_0_41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g3e10b4ab9cc_0_5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1" name="Google Shape;421;g3e10b4ab9cc_0_52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Zero changes to their A2 API. Not teaching SSE/WebSockets; pushes allowed for final project.</a:t>
            </a:r>
          </a:p>
        </p:txBody>
      </p:sp>
      <p:sp>
        <p:nvSpPr>
          <p:cNvPr id="422" name="Google Shape;422;g3e10b4ab9cc_0_52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g3e10b4ab9cc_0_4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8" name="Google Shape;428;g3e10b4ab9cc_0_42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Zero changes to their A2 API. Not teaching SSE/WebSockets; pushes allowed for final project.</a:t>
            </a:r>
          </a:p>
        </p:txBody>
      </p:sp>
      <p:sp>
        <p:nvSpPr>
          <p:cNvPr id="429" name="Google Shape;429;g3e10b4ab9cc_0_42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35" name="Google Shape;435;p2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436" name="Google Shape;436;p2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2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2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3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34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34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3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3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3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3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3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35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3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3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3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36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36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36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36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3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3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3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3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3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3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8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38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38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3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3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3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9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9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9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3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4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0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4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4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4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41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41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4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4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4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3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3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3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3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5B21B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914400" y="1645920"/>
            <a:ext cx="10362895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Lecture 7.1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914400" y="2468880"/>
            <a:ext cx="10362895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React State and Effects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914400" y="4754880"/>
            <a:ext cx="1036289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Andy Aymeloglu - UATX Software Engineering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4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To recap</a:t>
            </a: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: click + three times. What renders?</a:t>
            </a:r>
            <a:endParaRPr/>
          </a:p>
        </p:txBody>
      </p:sp>
      <p:sp>
        <p:nvSpPr>
          <p:cNvPr id="95" name="Google Shape;95;p4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96" name="Google Shape;96;p4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4"/>
          <p:cNvSpPr txBox="1"/>
          <p:nvPr/>
        </p:nvSpPr>
        <p:spPr>
          <a:xfrm>
            <a:off x="1005840" y="1645920"/>
            <a:ext cx="10179900" cy="37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Counter() {</a:t>
            </a:r>
            <a:endParaRPr sz="19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let count = 0;</a:t>
            </a:r>
            <a:endParaRPr sz="19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20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(</a:t>
            </a:r>
            <a:endParaRPr sz="19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&lt;div&gt;</a:t>
            </a:r>
            <a:endParaRPr sz="19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&lt;p&gt;Count: {count}&lt;/p&gt;</a:t>
            </a:r>
            <a:endParaRPr sz="19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&lt;button onClick={() =&gt; count = count + 1}&gt;+&lt;/button&gt;</a:t>
            </a:r>
            <a:endParaRPr sz="19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&lt;/div&gt;</a:t>
            </a:r>
            <a:endParaRPr sz="19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);</a:t>
            </a:r>
            <a:endParaRPr sz="19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9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23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e10b4ab9cc_0_0"/>
          <p:cNvSpPr txBox="1"/>
          <p:nvPr/>
        </p:nvSpPr>
        <p:spPr>
          <a:xfrm>
            <a:off x="914400" y="2286000"/>
            <a:ext cx="103629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useState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e10b4ab9cc_0_5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useState: memory between renders</a:t>
            </a:r>
            <a:endParaRPr/>
          </a:p>
        </p:txBody>
      </p:sp>
      <p:sp>
        <p:nvSpPr>
          <p:cNvPr id="110" name="Google Shape;110;g3e10b4ab9cc_0_5"/>
          <p:cNvSpPr txBox="1"/>
          <p:nvPr/>
        </p:nvSpPr>
        <p:spPr>
          <a:xfrm>
            <a:off x="914388" y="1513040"/>
            <a:ext cx="10362900" cy="434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`useState` is React's way of giving a component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memory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const [count, setCount] = useState(0);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Call it inside your component, get back two things: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`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count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 - the current value right now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`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setCount(newValue)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 - tells React to store a new value AND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re-run the component function so it sees the update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`0` argument is the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initial value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starting state for the very first render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e10b4ab9cc_0_114"/>
          <p:cNvSpPr txBox="1"/>
          <p:nvPr/>
        </p:nvSpPr>
        <p:spPr>
          <a:xfrm>
            <a:off x="731520" y="274320"/>
            <a:ext cx="107286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TRY IT 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Make it work - fill in the blanks</a:t>
            </a:r>
            <a:endParaRPr/>
          </a:p>
        </p:txBody>
      </p:sp>
      <p:sp>
        <p:nvSpPr>
          <p:cNvPr id="117" name="Google Shape;117;g3e10b4ab9cc_0_114"/>
          <p:cNvSpPr/>
          <p:nvPr/>
        </p:nvSpPr>
        <p:spPr>
          <a:xfrm>
            <a:off x="640080" y="228600"/>
            <a:ext cx="1097400" cy="365700"/>
          </a:xfrm>
          <a:prstGeom prst="roundRect">
            <a:avLst>
              <a:gd name="adj" fmla="val 16667"/>
            </a:avLst>
          </a:prstGeom>
          <a:solidFill>
            <a:srgbClr val="5B21B6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g3e10b4ab9cc_0_114"/>
          <p:cNvSpPr/>
          <p:nvPr/>
        </p:nvSpPr>
        <p:spPr>
          <a:xfrm>
            <a:off x="731520" y="1371600"/>
            <a:ext cx="10728600" cy="50292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g3e10b4ab9cc_0_114"/>
          <p:cNvSpPr txBox="1"/>
          <p:nvPr/>
        </p:nvSpPr>
        <p:spPr>
          <a:xfrm>
            <a:off x="1005840" y="1554480"/>
            <a:ext cx="10179900" cy="369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import { ________ } from "react";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800" b="1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Counter()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[count, ________] = ________(0);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800" b="1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(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&lt;div&gt;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&lt;p&gt;Count: {count}&lt;/p&gt;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&lt;button onClick={() =&gt; ________(count + 1)}&gt;+&lt;/button&gt;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&lt;/div&gt;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e10b4ab9cc_0_122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working counter</a:t>
            </a:r>
            <a:endParaRPr/>
          </a:p>
        </p:txBody>
      </p:sp>
      <p:sp>
        <p:nvSpPr>
          <p:cNvPr id="126" name="Google Shape;126;g3e10b4ab9cc_0_122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127" name="Google Shape;127;g3e10b4ab9cc_0_122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g3e10b4ab9cc_0_122"/>
          <p:cNvSpPr txBox="1"/>
          <p:nvPr/>
        </p:nvSpPr>
        <p:spPr>
          <a:xfrm>
            <a:off x="1005840" y="1645920"/>
            <a:ext cx="10179900" cy="44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import { useState } from "react";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Counter()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// Declare a piece of state named `count`, initialized to 0.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[count, setCount] = useState(0);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(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&lt;div&gt;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&lt;p&gt;Count: {count}&lt;/p&gt;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&lt;button onClick={() =&gt; setCount(count + 1)}&gt;+&lt;/button&gt;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&lt;/div&gt;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Click the button. Count goes up. React noticed setCount was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called, ran the Counter function again with the new value,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and updated the &lt;p&gt; to reflect it. The function didn't.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e10b4ab9cc_0_19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How useState actually works</a:t>
            </a:r>
            <a:endParaRPr/>
          </a:p>
        </p:txBody>
      </p:sp>
      <p:sp>
        <p:nvSpPr>
          <p:cNvPr id="135" name="Google Shape;135;g3e10b4ab9cc_0_19"/>
          <p:cNvSpPr txBox="1"/>
          <p:nvPr/>
        </p:nvSpPr>
        <p:spPr>
          <a:xfrm>
            <a:off x="914388" y="1086240"/>
            <a:ext cx="10362900" cy="52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count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is a local variable — but a snapshot, not a live binding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React keeps the value in its own memory, attached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to this specific component instance.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That snapshot is frozen for the lifetime of this render.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On each run of the function, `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useState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 returns **whatever React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has stored**. First run: the initial value. Subsequent runs: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whatever the setter most recently set.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setCount(5)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 does two things: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Stores `5` in React's memory for this component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Marks the component dirty so React re-runs it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setter is the ONLY way to change state. Direct mutation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triggers nothing.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e10b4ab9cc_0_130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count = ?</a:t>
            </a:r>
            <a:endParaRPr/>
          </a:p>
        </p:txBody>
      </p:sp>
      <p:sp>
        <p:nvSpPr>
          <p:cNvPr id="142" name="Google Shape;142;g3e10b4ab9cc_0_130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143" name="Google Shape;143;g3e10b4ab9cc_0_130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g3e10b4ab9cc_0_130"/>
          <p:cNvSpPr txBox="1"/>
          <p:nvPr/>
        </p:nvSpPr>
        <p:spPr>
          <a:xfrm>
            <a:off x="1005840" y="1645920"/>
            <a:ext cx="10179900" cy="369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DoubleClicker()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[count, setCount] = useState(0);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8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function bump()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setCount(count + 1);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setCount(count + 1);   // surely +2, right?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8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&lt;button onClick={bump}&gt;{count}&lt;/button&gt;;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8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You click ONCE. What's the count after?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e10b4ab9cc_0_532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How does setCount know which component?</a:t>
            </a:r>
            <a:endParaRPr/>
          </a:p>
        </p:txBody>
      </p:sp>
      <p:sp>
        <p:nvSpPr>
          <p:cNvPr id="151" name="Google Shape;151;g3e10b4ab9cc_0_532"/>
          <p:cNvSpPr txBox="1"/>
          <p:nvPr/>
        </p:nvSpPr>
        <p:spPr>
          <a:xfrm>
            <a:off x="914375" y="1121575"/>
            <a:ext cx="10728600" cy="27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Reasonable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q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when you call </a:t>
            </a:r>
            <a:r>
              <a:rPr lang="en-US" sz="2400" b="1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setCount(5)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, how does React know what to update?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There can be hundreds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of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&lt;Counter/&gt;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 on the page.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Setter is a</a:t>
            </a: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closure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 captured at moment </a:t>
            </a:r>
            <a:r>
              <a:rPr lang="en-US" sz="2400" b="1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useState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ran, baked with two pointers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Which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fiber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(React's per-instance bookkeeping object)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Which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slot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in that fiber's hook list (1st useState,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2nd useState, etc. - matched by call order)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e10b4ab9cc_0_138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How does setCount know which component?</a:t>
            </a:r>
            <a:endParaRPr/>
          </a:p>
        </p:txBody>
      </p:sp>
      <p:sp>
        <p:nvSpPr>
          <p:cNvPr id="158" name="Google Shape;158;g3e10b4ab9cc_0_138"/>
          <p:cNvSpPr txBox="1"/>
          <p:nvPr/>
        </p:nvSpPr>
        <p:spPr>
          <a:xfrm>
            <a:off x="914375" y="1121575"/>
            <a:ext cx="10728600" cy="487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Reasonable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q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when you call </a:t>
            </a:r>
            <a:r>
              <a:rPr lang="en-US" sz="2400" b="1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setCount(5)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, how does React know what to update?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There can be hundreds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of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&lt;Counter/&gt;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 on the page.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Setter is a</a:t>
            </a: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closure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 captured at moment </a:t>
            </a:r>
            <a:r>
              <a:rPr lang="en-US" sz="2400" b="1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useState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ran, baked with two pointers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Which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fiber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(React's per-instance bookkeeping object)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Which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slot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in that fiber's hook list (1st useState,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2nd useState, etc. - matched by call order)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Calling </a:t>
            </a:r>
            <a:r>
              <a:rPr lang="en-US" sz="2400" b="1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setCount(5)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writes `5` into that slot and marks that fiber dirty.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Why hooks have rules: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slots are matched by </a:t>
            </a: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call order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So `useState` inside an `if` would shift the slot indices between re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nders.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hat's why hooks must run at the top level, in the same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order, every render.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e10b4ab9cc_0_25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Multiple pieces of state in one component</a:t>
            </a:r>
            <a:endParaRPr/>
          </a:p>
        </p:txBody>
      </p:sp>
      <p:sp>
        <p:nvSpPr>
          <p:cNvPr id="165" name="Google Shape;165;g3e10b4ab9cc_0_25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166" name="Google Shape;166;g3e10b4ab9cc_0_25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g3e10b4ab9cc_0_25"/>
          <p:cNvSpPr txBox="1"/>
          <p:nvPr/>
        </p:nvSpPr>
        <p:spPr>
          <a:xfrm>
            <a:off x="1005840" y="1645920"/>
            <a:ext cx="10179900" cy="466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LoginForm()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// Each useState call manages one independent piece of state.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[username, setUsername]   = useState("");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[password, setPassword]   = useState("");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[rememberMe, setRemember] = useState(false);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(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&lt;form&gt;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&lt;label&gt;Username: {username || "(empty)"}&lt;/label&gt;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&lt;label&gt;Password: {"*".repeat(password.length)}&lt;/label&gt;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&lt;label&gt;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Remember me: {rememberMe ? "yes" : "no"}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&lt;/label&gt;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&lt;/form&gt;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e10b4ab9cc_0_33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render cycle, in one picture</a:t>
            </a:r>
            <a:endParaRPr/>
          </a:p>
        </p:txBody>
      </p:sp>
      <p:sp>
        <p:nvSpPr>
          <p:cNvPr id="174" name="Google Shape;174;g3e10b4ab9cc_0_33"/>
          <p:cNvSpPr txBox="1"/>
          <p:nvPr/>
        </p:nvSpPr>
        <p:spPr>
          <a:xfrm>
            <a:off x="914400" y="1463040"/>
            <a:ext cx="10362900" cy="51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Here's the loop that makes React interactive:</a:t>
            </a: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The user does something (clicks, types, loads the page)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An event handler runs, and calls a setter: `setCount(5)`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3.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React schedules a re-render of this component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4.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React calls your component function again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5.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`useState` returns the new value (5)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6.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The function returns new JSX based on the new state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7.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React diffs the new JSX against the previous render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8.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React updates only the parts of the DOM that changed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Your function doesn't know it's being called for the second time.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From its perspective, it's a pure function running with the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current state as input. Same data in, same JSX out.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5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Click handlers calling setters</a:t>
            </a:r>
            <a:endParaRPr/>
          </a:p>
        </p:txBody>
      </p:sp>
      <p:sp>
        <p:nvSpPr>
          <p:cNvPr id="181" name="Google Shape;181;p15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182" name="Google Shape;182;p15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5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ClickCounter()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[count, setCount] = useState(0);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8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(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&lt;div&gt;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&lt;p&gt;Count: {count}&lt;/p&gt;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&lt;button onClick={() =&gt; setCount(count + 1)}&gt;+&lt;/button&gt;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&lt;button onClick={() =&gt; setCount(count - 1)}&gt;-&lt;/button&gt;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&lt;button onClick={() =&gt; setCount(0)}&gt;reset&lt;/button&gt;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&lt;/div&gt;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8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Each button has its own onClick that calls setCount with a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different new value. Every click triggers the render cycle.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6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Controlled inputs: state drives the input value</a:t>
            </a:r>
            <a:endParaRPr/>
          </a:p>
        </p:txBody>
      </p:sp>
      <p:sp>
        <p:nvSpPr>
          <p:cNvPr id="190" name="Google Shape;190;p16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191" name="Google Shape;191;p16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6"/>
          <p:cNvSpPr txBox="1"/>
          <p:nvPr/>
        </p:nvSpPr>
        <p:spPr>
          <a:xfrm>
            <a:off x="1005840" y="1645920"/>
            <a:ext cx="10179900" cy="467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NameForm() {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[name, </a:t>
            </a:r>
            <a:r>
              <a:rPr lang="en-US" sz="21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_______</a:t>
            </a: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] = </a:t>
            </a:r>
            <a:r>
              <a:rPr lang="en-US" sz="21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________</a:t>
            </a: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(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&lt;div&gt;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&lt;input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type="text"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value={name}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onChange={(e) =&gt; </a:t>
            </a:r>
            <a:r>
              <a:rPr lang="en-US" sz="17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_________________</a:t>
            </a: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placeholder="Enter your name"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/&gt;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&lt;p&gt;Hello, {name || "stranger"}!&lt;/p&gt;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&lt;/div&gt;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);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7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Effects: Doing Things Outside of Rendering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e10b4ab9cc_0_149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naive approach</a:t>
            </a:r>
            <a:endParaRPr/>
          </a:p>
        </p:txBody>
      </p:sp>
      <p:sp>
        <p:nvSpPr>
          <p:cNvPr id="205" name="Google Shape;205;g3e10b4ab9cc_0_149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206" name="Google Shape;206;g3e10b4ab9cc_0_149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g3e10b4ab9cc_0_149"/>
          <p:cNvSpPr txBox="1"/>
          <p:nvPr/>
        </p:nvSpPr>
        <p:spPr>
          <a:xfrm>
            <a:off x="1005840" y="1645920"/>
            <a:ext cx="10179900" cy="489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MessageList() {</a:t>
            </a:r>
            <a:endParaRPr sz="20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[messages, setMessages] = useState&lt;Message[]&gt;([]);</a:t>
            </a:r>
            <a:endParaRPr sz="20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9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// Just fetch and set state</a:t>
            </a:r>
            <a:endParaRPr sz="20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fetch("/api/messages")</a:t>
            </a:r>
            <a:endParaRPr sz="20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.then(r =&gt; r.json())</a:t>
            </a:r>
            <a:endParaRPr sz="20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.then(setMessages);</a:t>
            </a:r>
            <a:endParaRPr sz="20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9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(</a:t>
            </a:r>
            <a:endParaRPr sz="20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&lt;ul&gt;</a:t>
            </a:r>
            <a:endParaRPr sz="20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{messages.map(m =&gt; &lt;li key={m.id}&gt;{m.text}&lt;/li&gt;)}</a:t>
            </a:r>
            <a:endParaRPr sz="20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&lt;/ul&gt;</a:t>
            </a:r>
            <a:endParaRPr sz="20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);</a:t>
            </a:r>
            <a:endParaRPr sz="20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20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23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e10b4ab9cc_0_232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Why side effects need their own tool</a:t>
            </a:r>
            <a:endParaRPr/>
          </a:p>
        </p:txBody>
      </p:sp>
      <p:sp>
        <p:nvSpPr>
          <p:cNvPr id="214" name="Google Shape;214;g3e10b4ab9cc_0_232"/>
          <p:cNvSpPr txBox="1"/>
          <p:nvPr/>
        </p:nvSpPr>
        <p:spPr>
          <a:xfrm>
            <a:off x="914400" y="1172965"/>
            <a:ext cx="10362900" cy="22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Your component wants to do things that aren't part of rendering:</a:t>
            </a:r>
            <a:endParaRPr sz="2400" b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Fetch data from a server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Subscribe to an event stream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Start a timer or interval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Update the page title, log analytics, etc.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e10b4ab9cc_0_238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Why side effects need their own tool</a:t>
            </a:r>
            <a:endParaRPr/>
          </a:p>
        </p:txBody>
      </p:sp>
      <p:sp>
        <p:nvSpPr>
          <p:cNvPr id="221" name="Google Shape;221;g3e10b4ab9cc_0_238"/>
          <p:cNvSpPr txBox="1"/>
          <p:nvPr/>
        </p:nvSpPr>
        <p:spPr>
          <a:xfrm>
            <a:off x="914400" y="1172965"/>
            <a:ext cx="10362900" cy="466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Your component wants to do things that aren't part of rendering:</a:t>
            </a:r>
            <a:endParaRPr sz="2400" b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Fetch data from a server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Subscribe to an event stream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Start a timer or interval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Update the page title, log analytics, etc.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 can't just drop these in the component body.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Component function runs on every render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very state change triggers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 re-render. 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 `fetch` in the body would hit the server on every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click. A subscription would register a new listener every time.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8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Why side effects need their own tool</a:t>
            </a:r>
            <a:endParaRPr/>
          </a:p>
        </p:txBody>
      </p:sp>
      <p:sp>
        <p:nvSpPr>
          <p:cNvPr id="228" name="Google Shape;228;p18"/>
          <p:cNvSpPr txBox="1"/>
          <p:nvPr/>
        </p:nvSpPr>
        <p:spPr>
          <a:xfrm>
            <a:off x="914400" y="1172965"/>
            <a:ext cx="10362900" cy="55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Your component wants to do things that aren't part of rendering:</a:t>
            </a:r>
            <a:endParaRPr sz="2400" b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Fetch data from a server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Subscribe to an event stream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Start a timer or interval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Update the page title, log analytics, etc.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 can't just drop these in the component body.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Component function runs on every render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very state change triggers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 re-render. 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 `fetch` in the body would hit the server on every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click. A subscription would register a new listener every time.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Want to say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"do this AFTER the render, only when certain things change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That's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useEffect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3e10b4ab9cc_0_244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useEffect(fn, deps)</a:t>
            </a:r>
            <a:endParaRPr/>
          </a:p>
        </p:txBody>
      </p:sp>
      <p:sp>
        <p:nvSpPr>
          <p:cNvPr id="235" name="Google Shape;235;g3e10b4ab9cc_0_244"/>
          <p:cNvSpPr txBox="1"/>
          <p:nvPr/>
        </p:nvSpPr>
        <p:spPr>
          <a:xfrm>
            <a:off x="914400" y="1135790"/>
            <a:ext cx="10362900" cy="27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useEffect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takes two arguments: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 function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the side effect to run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 deps array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when to re-run the effect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After each render, React checks the deps array. 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If any value changed since last render, React runs the function.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19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useEffect(fn, deps)</a:t>
            </a:r>
            <a:endParaRPr/>
          </a:p>
        </p:txBody>
      </p:sp>
      <p:sp>
        <p:nvSpPr>
          <p:cNvPr id="242" name="Google Shape;242;p19"/>
          <p:cNvSpPr txBox="1"/>
          <p:nvPr/>
        </p:nvSpPr>
        <p:spPr>
          <a:xfrm>
            <a:off x="914400" y="1135790"/>
            <a:ext cx="10362900" cy="564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useEffect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takes two arguments: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 function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the side effect to run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 deps array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when to re-run the effect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After each render, React checks the deps array. 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If any value changed since last render, React runs the function.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Common patterns: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`[]`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   - empty array: run once, on first mount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`[id]`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 - re-run whenever `id` changes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`[a, b]`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- re-run whenever `a` OR `b` changes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no array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run after every render (rarely useful)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`[]` is the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most common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 "On first load, do this."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0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Pick the right deps array</a:t>
            </a:r>
            <a:endParaRPr/>
          </a:p>
        </p:txBody>
      </p:sp>
      <p:sp>
        <p:nvSpPr>
          <p:cNvPr id="249" name="Google Shape;249;p20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250" name="Google Shape;250;p20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0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MessageList()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[messages, setMessages] = useState&lt;Message[]&gt;([]);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useEffect(() =&gt;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async function load()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const r = await fetch("/api/messages");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setMessages(await r.json());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load();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}, ???);   // &lt;-- what goes here?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&lt;ul&gt;{messages.map(m =&gt; &lt;li key={m.id}&gt;{m.text}&lt;/li&gt;)}&lt;/ul&gt;;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(a)  []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(b)  [messages]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(c)  no array at all - just useEffect(() =&gt; { ... })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(d)  [setMessages]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Spot the bug: userId comes from the URL</a:t>
            </a:r>
            <a:endParaRPr/>
          </a:p>
        </p:txBody>
      </p:sp>
      <p:sp>
        <p:nvSpPr>
          <p:cNvPr id="258" name="Google Shape;258;p22"/>
          <p:cNvSpPr/>
          <p:nvPr/>
        </p:nvSpPr>
        <p:spPr>
          <a:xfrm>
            <a:off x="512250" y="1364500"/>
            <a:ext cx="11167200" cy="53949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22"/>
          <p:cNvSpPr txBox="1"/>
          <p:nvPr/>
        </p:nvSpPr>
        <p:spPr>
          <a:xfrm>
            <a:off x="731515" y="1678770"/>
            <a:ext cx="10179900" cy="29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A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UserProfile({ userId }: { userId: string }) {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[user, setUser] = useState&lt;User | null&gt;(null);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useEffect(() =&gt; {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fetch(`/api/user/${userId}`)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.then(r =&gt; r.json())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.then(setUser);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}, []);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&lt;div&gt;{user?.name}&lt;/div&gt;;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600"/>
          </a:p>
        </p:txBody>
      </p:sp>
      <p:sp>
        <p:nvSpPr>
          <p:cNvPr id="260" name="Google Shape;260;p22"/>
          <p:cNvSpPr txBox="1"/>
          <p:nvPr/>
        </p:nvSpPr>
        <p:spPr>
          <a:xfrm>
            <a:off x="5198140" y="3316095"/>
            <a:ext cx="10179900" cy="29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B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UserProfile({ userId }: { userId: string }) {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[user, setUser] = useState&lt;User | null&gt;(null);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useEffect(() =&gt; {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fetch(`/api/user/${userId}`)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.then(r =&gt; r.json())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.then(setUser);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}, [userId]);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&lt;div&gt;{user?.name}&lt;/div&gt;;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600"/>
          </a:p>
        </p:txBody>
      </p:sp>
      <p:sp>
        <p:nvSpPr>
          <p:cNvPr id="261" name="Google Shape;261;p22"/>
          <p:cNvSpPr txBox="1"/>
          <p:nvPr/>
        </p:nvSpPr>
        <p:spPr>
          <a:xfrm>
            <a:off x="1083865" y="5477945"/>
            <a:ext cx="10179900" cy="13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600"/>
          </a:p>
          <a:p>
            <a:pPr marL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The user clicks a different profile - userId changes.</a:t>
            </a:r>
            <a:endParaRPr sz="16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Which one shows the new user, and which one is stuck?</a:t>
            </a:r>
            <a:endParaRPr sz="16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6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e10b4ab9cc_0_252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deps array trap</a:t>
            </a:r>
            <a:endParaRPr/>
          </a:p>
        </p:txBody>
      </p:sp>
      <p:sp>
        <p:nvSpPr>
          <p:cNvPr id="291" name="Google Shape;291;g3e10b4ab9cc_0_252"/>
          <p:cNvSpPr txBox="1"/>
          <p:nvPr/>
        </p:nvSpPr>
        <p:spPr>
          <a:xfrm>
            <a:off x="914388" y="1085990"/>
            <a:ext cx="10362900" cy="363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#1 useEffect bug is the wrong dependency array.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Forgetting a dep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-&gt; stale values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Effect reads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count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from outer scope, but </a:t>
            </a:r>
            <a:r>
              <a:rPr lang="en-US" sz="2000" b="1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count</a:t>
            </a:r>
            <a:r>
              <a:rPr lang="en-US" sz="2000" b="1">
                <a:solidFill>
                  <a:srgbClr val="666677"/>
                </a:solidFill>
              </a:rPr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isn't listed.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effect captures the old value forever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Including too many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-&gt; unnecessary re-fetches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nclude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unrelated state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and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the fetch fires on every unrelated update.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e10b4ab9cc_0_258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deps array trap</a:t>
            </a:r>
            <a:endParaRPr/>
          </a:p>
        </p:txBody>
      </p:sp>
      <p:sp>
        <p:nvSpPr>
          <p:cNvPr id="298" name="Google Shape;298;g3e10b4ab9cc_0_258"/>
          <p:cNvSpPr txBox="1"/>
          <p:nvPr/>
        </p:nvSpPr>
        <p:spPr>
          <a:xfrm>
            <a:off x="914388" y="1085990"/>
            <a:ext cx="10362900" cy="538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#1 useEffect bug is the wrong dependency array.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Forgetting a dep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-&gt; stale values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Effect reads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count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from outer scope, but </a:t>
            </a:r>
            <a:r>
              <a:rPr lang="en-US" sz="2000" b="1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count</a:t>
            </a:r>
            <a:r>
              <a:rPr lang="en-US" sz="2000" b="1">
                <a:solidFill>
                  <a:srgbClr val="666677"/>
                </a:solidFill>
              </a:rPr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isn't listed.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effect captures the old value forever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Including too many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-&gt; unnecessary re-fetches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nclude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unrelated state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and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the fetch fires on every unrelated update.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Rule of thumb: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every value from outside the effect that the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effect reads should be in the deps array. The React ESLint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plugin warns you when you miss one.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For today, </a:t>
            </a:r>
            <a:r>
              <a:rPr lang="en-US" sz="2400" b="1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`[]`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for "run once on mount" handles 90% of cases.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3e10b4ab9cc_0_264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Every fetch has three UI states</a:t>
            </a:r>
            <a:endParaRPr/>
          </a:p>
        </p:txBody>
      </p:sp>
      <p:sp>
        <p:nvSpPr>
          <p:cNvPr id="305" name="Google Shape;305;g3e10b4ab9cc_0_264"/>
          <p:cNvSpPr txBox="1"/>
          <p:nvPr/>
        </p:nvSpPr>
        <p:spPr>
          <a:xfrm>
            <a:off x="914400" y="1463040"/>
            <a:ext cx="10362900" cy="40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When you fetch data in a component, the UI has to represent three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states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Loading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request in flight, render a spinner or placeholder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Error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- request failed, render the error message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- request succeeded, render the content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Three pieces of state (`loading`, `error`, `data`)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One effect that updates all three, and conditional rendering in the JSX.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This triad is really the most-copied pattern in React.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Every d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ata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component you ever build is going to look like it.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3e10b4ab9cc_0_368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TodoList with loading, error, and data</a:t>
            </a:r>
            <a:endParaRPr/>
          </a:p>
        </p:txBody>
      </p:sp>
      <p:sp>
        <p:nvSpPr>
          <p:cNvPr id="312" name="Google Shape;312;g3e10b4ab9cc_0_368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313" name="Google Shape;313;g3e10b4ab9cc_0_368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g3e10b4ab9cc_0_368"/>
          <p:cNvSpPr txBox="1"/>
          <p:nvPr/>
        </p:nvSpPr>
        <p:spPr>
          <a:xfrm>
            <a:off x="1005840" y="1645920"/>
            <a:ext cx="10179900" cy="464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TodoList()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[todos,   setTodos]   = useState&lt;Todo[]&gt;([]);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[loading, setLoading] = useState(true);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[error,   setError]   = useState&lt;string | null&gt;(null);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useEffect(() =&gt;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}, []);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e10b4ab9cc_0_360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TodoList with loading, error, and data</a:t>
            </a:r>
            <a:endParaRPr/>
          </a:p>
        </p:txBody>
      </p:sp>
      <p:sp>
        <p:nvSpPr>
          <p:cNvPr id="321" name="Google Shape;321;g3e10b4ab9cc_0_360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322" name="Google Shape;322;g3e10b4ab9cc_0_360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g3e10b4ab9cc_0_360"/>
          <p:cNvSpPr txBox="1"/>
          <p:nvPr/>
        </p:nvSpPr>
        <p:spPr>
          <a:xfrm>
            <a:off x="1005840" y="1645920"/>
            <a:ext cx="10179900" cy="464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TodoList()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[todos,   setTodos]   = useState&lt;Todo[]&gt;([]);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[loading, setLoading] = useState(true);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[error,   setError]   = useState&lt;string | null&gt;(null);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useEffect(() =&gt;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}, []);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if (loading) return &lt;p&gt;Loading...&lt;/p&gt;;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if (error)   return &lt;p&gt;Could not load: {error}&lt;/p&gt;;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&lt;ul&gt;{todos.map(t =&gt; &lt;li key={t.id}&gt;{t.title}&lt;/li&gt;)}&lt;/ul&gt;;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e10b4ab9cc_0_270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TodoList with loading, error, and data</a:t>
            </a:r>
            <a:endParaRPr/>
          </a:p>
        </p:txBody>
      </p:sp>
      <p:sp>
        <p:nvSpPr>
          <p:cNvPr id="330" name="Google Shape;330;g3e10b4ab9cc_0_270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331" name="Google Shape;331;g3e10b4ab9cc_0_270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g3e10b4ab9cc_0_270"/>
          <p:cNvSpPr txBox="1"/>
          <p:nvPr/>
        </p:nvSpPr>
        <p:spPr>
          <a:xfrm>
            <a:off x="1005840" y="1645920"/>
            <a:ext cx="10179900" cy="464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TodoList()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[todos,   setTodos]   = useState&lt;Todo[]&gt;([]);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[loading, setLoading] = useState(true);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[error,   setError]   = useState&lt;string | null&gt;(null);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useEffect(() =&gt;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async function load()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try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const r = await fetch("/api/todos");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if (!r.ok) throw new Error(`HTTP ${r.status}`);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setTodos(await r.json());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} catch (err) { setError(String(err)); 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finally       { setLoading(false);    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load();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}, []);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if (loading) return &lt;p&gt;Loading...&lt;/p&gt;;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if (error)   return &lt;p&gt;Could not load: {error}&lt;/p&gt;;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&lt;ul&gt;{todos.map(t =&gt; &lt;li key={t.id}&gt;{t.title}&lt;/li&gt;)}&lt;/ul&gt;;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26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Some projects use a library for this</a:t>
            </a:r>
            <a:endParaRPr/>
          </a:p>
        </p:txBody>
      </p:sp>
      <p:sp>
        <p:nvSpPr>
          <p:cNvPr id="339" name="Google Shape;339;p26"/>
          <p:cNvSpPr txBox="1"/>
          <p:nvPr/>
        </p:nvSpPr>
        <p:spPr>
          <a:xfrm>
            <a:off x="914388" y="1134615"/>
            <a:ext cx="10362900" cy="449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Every fetching component looks like the previous slide.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Three useStates, one useEffect with empty deps, try/catch, conditional rendering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React ecosystem built libraries that handle it for you:</a:t>
            </a:r>
            <a:endParaRPr sz="2400" b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React Query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(TanStack Query) - the most popular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SWR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smaller, also good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They give you </a:t>
            </a:r>
            <a:r>
              <a:rPr lang="en-US" sz="2400" b="1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useQuery("/api/todos")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and return `{ data,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loading, error }` directly. Plus caching, refetching, retries.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Understand the basic React pattern,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then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decide if you want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the library.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27"/>
          <p:cNvSpPr txBox="1"/>
          <p:nvPr/>
        </p:nvSpPr>
        <p:spPr>
          <a:xfrm>
            <a:off x="731520" y="27432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TRY IT 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Fetch messages with loading/error/data</a:t>
            </a:r>
            <a:endParaRPr/>
          </a:p>
        </p:txBody>
      </p:sp>
      <p:sp>
        <p:nvSpPr>
          <p:cNvPr id="346" name="Google Shape;346;p27"/>
          <p:cNvSpPr/>
          <p:nvPr/>
        </p:nvSpPr>
        <p:spPr>
          <a:xfrm>
            <a:off x="640080" y="228600"/>
            <a:ext cx="1097280" cy="365760"/>
          </a:xfrm>
          <a:prstGeom prst="roundRect">
            <a:avLst>
              <a:gd name="adj" fmla="val 16667"/>
            </a:avLst>
          </a:prstGeom>
          <a:solidFill>
            <a:srgbClr val="5B21B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27"/>
          <p:cNvSpPr/>
          <p:nvPr/>
        </p:nvSpPr>
        <p:spPr>
          <a:xfrm>
            <a:off x="731520" y="1371600"/>
            <a:ext cx="10728655" cy="50292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27"/>
          <p:cNvSpPr txBox="1"/>
          <p:nvPr/>
        </p:nvSpPr>
        <p:spPr>
          <a:xfrm>
            <a:off x="1005840" y="1554480"/>
            <a:ext cx="10179900" cy="480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Goal: &lt;Messages /&gt; fetches /api/messages on mount, renders them.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Assume: interface Message { id; author; text 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Messages()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[messages, setMessages]</a:t>
            </a:r>
            <a:r>
              <a:rPr lang="en-US" sz="13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= useState&lt;________&gt;([]);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[loading,  setLoading]</a:t>
            </a:r>
            <a:r>
              <a:rPr lang="en-US" sz="13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= useState(________);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[error,    setError]</a:t>
            </a:r>
            <a:r>
              <a:rPr lang="en-US" sz="13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= useState&lt;________&gt;(null);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________(() =&gt;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async function load()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try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const r = await fetch("/api/messages");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if (!r.________) </a:t>
            </a: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throw new Error(`HTTP ${r.status}`);</a:t>
            </a: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</a:t>
            </a: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setMessages(await</a:t>
            </a:r>
            <a:r>
              <a:rPr lang="en-US" sz="13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r.________());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} catch (err) { setError(String(err)); 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</a:t>
            </a: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finally</a:t>
            </a:r>
            <a:r>
              <a:rPr lang="en-US" sz="13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   { setLoading(________); 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load();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}, ________);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if (________) </a:t>
            </a: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return &lt;p&gt;Loading...&lt;/p&gt;;</a:t>
            </a: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if (________) </a:t>
            </a: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return &lt;p&gt;Failed: {error}&lt;/p&gt;;</a:t>
            </a: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-US" sz="13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&lt;ul&gt;{________}&lt;/ul&gt;;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28"/>
          <p:cNvSpPr txBox="1"/>
          <p:nvPr/>
        </p:nvSpPr>
        <p:spPr>
          <a:xfrm>
            <a:off x="731520" y="27432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ANSWER 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Fetch messages with loading/error/data</a:t>
            </a:r>
            <a:endParaRPr/>
          </a:p>
        </p:txBody>
      </p:sp>
      <p:sp>
        <p:nvSpPr>
          <p:cNvPr id="355" name="Google Shape;355;p28"/>
          <p:cNvSpPr/>
          <p:nvPr/>
        </p:nvSpPr>
        <p:spPr>
          <a:xfrm>
            <a:off x="640080" y="228600"/>
            <a:ext cx="1188720" cy="365760"/>
          </a:xfrm>
          <a:prstGeom prst="roundRect">
            <a:avLst>
              <a:gd name="adj" fmla="val 16667"/>
            </a:avLst>
          </a:prstGeom>
          <a:solidFill>
            <a:srgbClr val="16653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>
            <a:off x="731520" y="1371600"/>
            <a:ext cx="10728655" cy="50292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8"/>
          <p:cNvSpPr txBox="1"/>
          <p:nvPr/>
        </p:nvSpPr>
        <p:spPr>
          <a:xfrm>
            <a:off x="1005840" y="1554480"/>
            <a:ext cx="10180015" cy="4663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Messages()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[messages, setMessages] = useState&lt;Message[]&gt;([]);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[loading,  setLoading]  = useState(true);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[error,    setError]    = useState&lt;string | null&gt;(null);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useEffect(() =&gt;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async function load()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try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const r = await fetch("/api/messages");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if (!r.ok) throw new Error(`HTTP ${r.status}`);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setMessages(await r.json());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} catch (err) { setError(String(err)); 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finally       { setLoading(false);    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load();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}, []);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if (loading) return &lt;p&gt;Loading...&lt;/p&gt;;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if (error)   return &lt;p&gt;Failed: {error}&lt;/p&gt;;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&lt;ul&gt;{messages.map(m =&gt; (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&lt;li key={m.id}&gt;&lt;b&gt;{m.author}:&lt;/b&gt; {m.text}&lt;/li&gt;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))}&lt;/ul&gt;;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g3e10b4ab9cc_0_376"/>
          <p:cNvSpPr txBox="1"/>
          <p:nvPr/>
        </p:nvSpPr>
        <p:spPr>
          <a:xfrm>
            <a:off x="914400" y="2286000"/>
            <a:ext cx="10362900" cy="144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Auto-Updating from the Server: Polling and Cleanup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3e10b4ab9cc_0_381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Alice posts. Bob hits refresh.</a:t>
            </a:r>
            <a:endParaRPr/>
          </a:p>
        </p:txBody>
      </p:sp>
      <p:sp>
        <p:nvSpPr>
          <p:cNvPr id="370" name="Google Shape;370;g3e10b4ab9cc_0_381"/>
          <p:cNvSpPr txBox="1"/>
          <p:nvPr/>
        </p:nvSpPr>
        <p:spPr>
          <a:xfrm>
            <a:off x="914400" y="1463040"/>
            <a:ext cx="10362900" cy="27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 build a message board. Two users open it in two tabs.</a:t>
            </a:r>
            <a:endParaRPr sz="2400" b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Alice posts "hello."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Bob, watching the same page, sees nothing.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Bob hits refresh. "hello" appears.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That works. It also kinda feels broken. Real chat apps don't make you refresh.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3e10b4ab9cc_0_387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Alice posts. Bob hits refresh.</a:t>
            </a:r>
            <a:endParaRPr/>
          </a:p>
        </p:txBody>
      </p:sp>
      <p:sp>
        <p:nvSpPr>
          <p:cNvPr id="377" name="Google Shape;377;g3e10b4ab9cc_0_387"/>
          <p:cNvSpPr txBox="1"/>
          <p:nvPr/>
        </p:nvSpPr>
        <p:spPr>
          <a:xfrm>
            <a:off x="914400" y="1463040"/>
            <a:ext cx="10362900" cy="487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 build a message board. Two users open it in two tabs.</a:t>
            </a:r>
            <a:endParaRPr sz="2400" b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Alice posts "hello."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Bob, watching the same page, sees nothing.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Bob hits refresh. "hello" appears.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That works. It also kinda feels broken. Real chat apps don't make you refresh.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We already have </a:t>
            </a:r>
            <a:r>
              <a:rPr lang="en-US" sz="2400" b="1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useEffect(fn, [])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 run once, on mount. But once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Once isn't enough here. We need an effect that runs on mount AND keeps fetching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eriodically, for as long as the component is on screen.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simplest tool for that is `setInterval` inside the effect.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3e10b4ab9cc_0_393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First attempt: setInterval inside useEffect</a:t>
            </a:r>
            <a:endParaRPr/>
          </a:p>
        </p:txBody>
      </p:sp>
      <p:sp>
        <p:nvSpPr>
          <p:cNvPr id="384" name="Google Shape;384;g3e10b4ab9cc_0_393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385" name="Google Shape;385;g3e10b4ab9cc_0_393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g3e10b4ab9cc_0_393"/>
          <p:cNvSpPr txBox="1"/>
          <p:nvPr/>
        </p:nvSpPr>
        <p:spPr>
          <a:xfrm>
            <a:off x="1005840" y="1645920"/>
            <a:ext cx="10179900" cy="44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MessageList() {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[messages, setMessages] = useState&lt;Message[]&gt;([]);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6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useEffect(() =&gt; {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async function load() {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const r = await fetch("/api/messages");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setMessages(await r.json());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}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load();                            // initial fetch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setInterval(load, 2000);           // refetch every 2 seconds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}, []);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6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&lt;ul&gt;{messages.map(m =&gt; &lt;li key={m.id}&gt;{m.text}&lt;/li&gt;)}&lt;/ul&gt;;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Works! ...until you navigates away.</a:t>
            </a:r>
            <a:endParaRPr sz="170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e10b4ab9cc_0_401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useEffect cleanup: every setup needs a teardown</a:t>
            </a:r>
            <a:endParaRPr/>
          </a:p>
        </p:txBody>
      </p:sp>
      <p:sp>
        <p:nvSpPr>
          <p:cNvPr id="393" name="Google Shape;393;g3e10b4ab9cc_0_401"/>
          <p:cNvSpPr txBox="1"/>
          <p:nvPr/>
        </p:nvSpPr>
        <p:spPr>
          <a:xfrm>
            <a:off x="902975" y="1189200"/>
            <a:ext cx="10633500" cy="280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An effect can </a:t>
            </a: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return a function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 That function is the cleanup.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React calls the cleanup at two moments:</a:t>
            </a:r>
            <a:endParaRPr sz="2400" b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When the component unmounts (the user navigated away,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  the parent stopped rendering this child, etc.)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Right before the effect runs again, if the deps changed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g3e10b4ab9cc_0_407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useEffect cleanup: every setup needs a teardown</a:t>
            </a:r>
            <a:endParaRPr/>
          </a:p>
        </p:txBody>
      </p:sp>
      <p:sp>
        <p:nvSpPr>
          <p:cNvPr id="400" name="Google Shape;400;g3e10b4ab9cc_0_407"/>
          <p:cNvSpPr txBox="1"/>
          <p:nvPr/>
        </p:nvSpPr>
        <p:spPr>
          <a:xfrm>
            <a:off x="902975" y="1189200"/>
            <a:ext cx="10633500" cy="532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An effect can </a:t>
            </a: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return a function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 That function is the cleanup.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React calls the cleanup at two moments:</a:t>
            </a:r>
            <a:endParaRPr sz="2400" b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When the component unmounts (the user navigated away,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  the parent stopped rendering this child, etc.)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Right before the effect runs again, if the deps changed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rule: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if your effect started something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living 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outside React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, cleanup has to stop it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`setInterval`        -&gt; `clearInterval`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`setTimeout`         -&gt; `clearTimeout`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`addEventListener`   -&gt; `removeEventListener`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`new WebSocket(...)` -&gt; `.close()`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If you don't, the thing keeps running on an unmounted component.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g3e10b4ab9cc_0_510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fix: return a cleanup function</a:t>
            </a:r>
            <a:endParaRPr/>
          </a:p>
        </p:txBody>
      </p:sp>
      <p:sp>
        <p:nvSpPr>
          <p:cNvPr id="407" name="Google Shape;407;g3e10b4ab9cc_0_510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408" name="Google Shape;408;g3e10b4ab9cc_0_510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g3e10b4ab9cc_0_510"/>
          <p:cNvSpPr txBox="1"/>
          <p:nvPr/>
        </p:nvSpPr>
        <p:spPr>
          <a:xfrm>
            <a:off x="1005840" y="1645920"/>
            <a:ext cx="10179900" cy="49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MessageList() {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[messages, setMessages] = useState&lt;Message[]&gt;([]);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useEffect(() =&gt; {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async function load() {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const r = await fetch("/api/messages");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setMessages(await r.json());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}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load();                                  // initial fetch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________ = setInterval(load, 2000);      // refetch every 2s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}, []);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&lt;ul&gt;{messages.map(m =&gt; &lt;li key={m.id}&gt;{m.text}&lt;/li&gt;)}&lt;/ul&gt;;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80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3e10b4ab9cc_0_413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fix: return a cleanup function</a:t>
            </a:r>
            <a:endParaRPr/>
          </a:p>
        </p:txBody>
      </p:sp>
      <p:sp>
        <p:nvSpPr>
          <p:cNvPr id="416" name="Google Shape;416;g3e10b4ab9cc_0_413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417" name="Google Shape;417;g3e10b4ab9cc_0_413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g3e10b4ab9cc_0_413"/>
          <p:cNvSpPr txBox="1"/>
          <p:nvPr/>
        </p:nvSpPr>
        <p:spPr>
          <a:xfrm>
            <a:off x="1005840" y="1645920"/>
            <a:ext cx="10179900" cy="49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MessageList() {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[messages, setMessages] = useState&lt;Message[]&gt;([]);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useEffect(() =&gt; {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async function load() {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const r = await fetch("/api/messages");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setMessages(await r.json());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}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load();                                  // initial fetch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const id = setInterval(load, 2000);      // refetch every 2s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return () =&gt; clearInterval(id);          // tear down on unmount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}, []);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&lt;ul&gt;{messages.map(m =&gt; &lt;li key={m.id}&gt;{m.text}&lt;/li&gt;)}&lt;/ul&gt;;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8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80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3e10b4ab9cc_0_526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Polling is cheap. Pushes are right.</a:t>
            </a:r>
            <a:endParaRPr/>
          </a:p>
        </p:txBody>
      </p:sp>
      <p:sp>
        <p:nvSpPr>
          <p:cNvPr id="425" name="Google Shape;425;g3e10b4ab9cc_0_526"/>
          <p:cNvSpPr txBox="1"/>
          <p:nvPr/>
        </p:nvSpPr>
        <p:spPr>
          <a:xfrm>
            <a:off x="914388" y="1134590"/>
            <a:ext cx="10362900" cy="190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Polling - every N seconds, fetch the whole list: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Zero server-side work; runs against any REST API you already have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Most polls return data identical to the last one (wasteful)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Always 0..N seconds behind reality (no faster than your interval)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g3e10b4ab9cc_0_421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Polling is cheap. Pushes are right.</a:t>
            </a:r>
            <a:endParaRPr/>
          </a:p>
        </p:txBody>
      </p:sp>
      <p:sp>
        <p:nvSpPr>
          <p:cNvPr id="432" name="Google Shape;432;g3e10b4ab9cc_0_421"/>
          <p:cNvSpPr txBox="1"/>
          <p:nvPr/>
        </p:nvSpPr>
        <p:spPr>
          <a:xfrm>
            <a:off x="914388" y="1134590"/>
            <a:ext cx="10362900" cy="520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Polling - every N seconds, fetch the whole list: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Zero server-side work; runs against any REST API you already have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Most polls return data identical to the last one (wasteful)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Always 0..N seconds behind reality (no faster than your interval)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Pushes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 the server sends an update when something changes:</a:t>
            </a:r>
            <a:endParaRPr sz="2400" b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Server-Sent Events (SSE): a one-way stream of updates over HTTP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WebSockets: a full two-way connection between browser and server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Real-time, no wasted requests, but the server has to support it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(a long-lived connection per client) - more moving parts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For your BBS frontend, polling is fine. Slack and Discord are pushes.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 really only reach for pushes when polling stops being enough.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29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Where this goes next</a:t>
            </a:r>
            <a:endParaRPr/>
          </a:p>
        </p:txBody>
      </p:sp>
      <p:sp>
        <p:nvSpPr>
          <p:cNvPr id="439" name="Google Shape;439;p29"/>
          <p:cNvSpPr txBox="1"/>
          <p:nvPr/>
        </p:nvSpPr>
        <p:spPr>
          <a:xfrm>
            <a:off x="914400" y="1280140"/>
            <a:ext cx="10362900" cy="47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Three things to walk away with:</a:t>
            </a:r>
            <a:endParaRPr sz="2400" b="1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useState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for memory between renders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useEffect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for side effects, with a deps array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loading / error / data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for every fetching component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 now have everything you need for a real React app: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DOM, components, state, effects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Next: </a:t>
            </a: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deployment.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Your app has lived on localhost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all semester. Time to put it on the internet. Also the kickoff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for the final project - teams of 2-3, six weeks, open-ended.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8452</Words>
  <Application>Microsoft Macintosh PowerPoint</Application>
  <PresentationFormat>Widescreen</PresentationFormat>
  <Paragraphs>664</Paragraphs>
  <Slides>44</Slides>
  <Notes>44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9" baseType="lpstr">
      <vt:lpstr>Courier New</vt:lpstr>
      <vt:lpstr>Courier Prime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Andrew Aymeloglu</cp:lastModifiedBy>
  <cp:revision>1</cp:revision>
  <dcterms:created xsi:type="dcterms:W3CDTF">2013-01-27T09:14:16Z</dcterms:created>
  <dcterms:modified xsi:type="dcterms:W3CDTF">2026-05-12T22:39:25Z</dcterms:modified>
</cp:coreProperties>
</file>