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Lst>
  <p:sldSz cx="12192000" cy="6858000"/>
  <p:notesSz cx="6858000" cy="9144000"/>
  <p:embeddedFontLst>
    <p:embeddedFont>
      <p:font typeface="Courier Prime" pitchFamily="49" charset="77"/>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jQ1Zsv1xZ076b33qj2j9AaOIhcL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6" Type="http://schemas.openxmlformats.org/officeDocument/2006/relationships/notesMaster" Target="notesMasters/notesMaster1.xml"/><Relationship Id="rId47" Type="http://schemas.openxmlformats.org/officeDocument/2006/relationships/font" Target="fonts/font1.fntdata"/><Relationship Id="rId48" Type="http://schemas.openxmlformats.org/officeDocument/2006/relationships/font" Target="fonts/font2.fntdata"/><Relationship Id="rId49" Type="http://schemas.openxmlformats.org/officeDocument/2006/relationships/font" Target="fonts/font3.fntdata"/><Relationship Id="rId50" Type="http://schemas.openxmlformats.org/officeDocument/2006/relationships/font" Target="fonts/font4.fntdata"/><Relationship Id="rId57" Type="http://customschemas.google.com/relationships/presentationmetadata" Target="metadata"/><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r.ok"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a:r>
            <a:r>
              <a:rPr lang="en-US" dirty="0" err="1"/>
              <a:t/>
            </a:r>
            <a:r>
              <a:rPr lang="en-US" dirty="0"/>
              <a:t/>
            </a:r>
            <a:r>
              <a:rPr lang="en-US" dirty="0" err="1"/>
              <a:t/>
            </a:r>
            <a:r>
              <a:rPr lang="en-US" dirty="0"/>
              <a:t/>
            </a:r>
            <a:endParaRPr dirty="0"/>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Don't reveal yet - this is a call-on-someone slide. Show of hands for each option. Most students go with (a) because the code 'looks right.' A few will sniff out (b) because they remember the 6.1 thread about pure functions. Take the temperature, then click to the next slide for the explanation. The two reasons you want them to discover: (1) React doesn't know to re-render - nothing triggers it. (2) Even if it did re-run the function, `let count = 0` would just reset to zero again. The compound failure is what makes the answer (b) rather than something more interesting.</a:t>
            </a:r>
            <a:endParaRPr dirty="0"/>
          </a:p>
        </p:txBody>
      </p:sp>
      <p:sp>
        <p:nvSpPr>
          <p:cNvPr id="92" name="Google Shape;92;p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e10b4ab9cc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 name="Google Shape;100;g3e10b4ab9cc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hook itself. Memory between renders, one line at a time.</a:t>
            </a:r>
            <a:endParaRPr dirty="0"/>
          </a:p>
        </p:txBody>
      </p:sp>
      <p:sp>
        <p:nvSpPr>
          <p:cNvPr id="101" name="Google Shape;101;g3e10b4ab9cc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e10b4ab9cc_0_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 name="Google Shape;106;g3e10b4ab9cc_0_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two-thing shape of </a:t>
            </a:r>
            <a:r>
              <a:rPr lang="en-US" dirty="0" err="1"/>
              <a:t>useState's</a:t>
            </a:r>
            <a:r>
              <a:rPr lang="en-US" dirty="0"/>
              <a:t> return value is the single most confusing part for students who are new to hooks. Hammer on it: you always destructure it, you always call it at the top of the component, and the names are technically up to you but the convention everybody reads is [thing, setThing].</a:t>
            </a:r>
            <a:r>
              <a:rPr lang="en-US" dirty="0" err="1"/>
              <a:t/>
            </a:r>
            <a:r>
              <a:rPr lang="en-US" dirty="0"/>
              <a:t/>
            </a:r>
            <a:r>
              <a:rPr lang="en-US" dirty="0" err="1"/>
              <a:t/>
            </a:r>
            <a:r>
              <a:rPr lang="en-US" dirty="0"/>
              <a:t> If their coding agent writes [</a:t>
            </a:r>
            <a:r>
              <a:rPr lang="en-US" dirty="0" err="1"/>
              <a:t>thingState</a:t>
            </a:r>
            <a:r>
              <a:rPr lang="en-US" dirty="0"/>
              <a:t>, </a:t>
            </a:r>
            <a:r>
              <a:rPr lang="en-US" dirty="0" err="1"/>
              <a:t>updateThing</a:t>
            </a:r>
            <a:r>
              <a:rPr lang="en-US" dirty="0"/>
              <a:t>], push it back toward the convention - readability across the ecosystem matters.</a:t>
            </a:r>
            <a:endParaRPr dirty="0"/>
          </a:p>
        </p:txBody>
      </p:sp>
      <p:sp>
        <p:nvSpPr>
          <p:cNvPr id="107" name="Google Shape;107;g3e10b4ab9cc_0_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e10b4ab9cc_0_1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3" name="Google Shape;113;g3e10b4ab9cc_0_1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Four blanks, all from this and the previous content slide: the hook name to import (</a:t>
            </a:r>
            <a:r>
              <a:rPr lang="en-US" dirty="0" err="1"/>
              <a:t>useState</a:t>
            </a:r>
            <a:r>
              <a:rPr lang="en-US" dirty="0"/>
              <a:t>), the setter from the </a:t>
            </a:r>
            <a:r>
              <a:rPr lang="en-US" dirty="0" err="1"/>
              <a:t>destructure</a:t>
            </a:r>
            <a:r>
              <a:rPr lang="en-US" dirty="0"/>
              <a:t> (</a:t>
            </a:r>
            <a:r>
              <a:rPr lang="en-US" dirty="0" err="1"/>
              <a:t>setCount</a:t>
            </a:r>
            <a:r>
              <a:rPr lang="en-US" dirty="0"/>
              <a:t>), the hook call itself (</a:t>
            </a:r>
            <a:r>
              <a:rPr lang="en-US" dirty="0" err="1"/>
              <a:t>useState</a:t>
            </a:r>
            <a:r>
              <a:rPr lang="en-US" dirty="0"/>
              <a:t>), and the setter call in the handler (</a:t>
            </a:r>
            <a:r>
              <a:rPr lang="en-US" dirty="0" err="1"/>
              <a:t>setCount</a:t>
            </a:r>
            <a:r>
              <a:rPr lang="en-US" dirty="0"/>
              <a:t>). Give the class 30 seconds, then call on someone for each blank. The next slide is the working version with the teaching comments at the bottom - treat it as the answer key.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const [count, </a:t>
            </a:r>
            <a:r>
              <a:rPr lang="en-US" dirty="0" err="1"/>
              <a:t>setCount</a:t>
            </a:r>
            <a:r>
              <a:rPr lang="en-US" dirty="0"/>
              <a:t>] = </a:t>
            </a:r>
            <a:r>
              <a:rPr lang="en-US" dirty="0" err="1"/>
              <a:t>useState</a:t>
            </a:r>
            <a:r>
              <a:rPr lang="en-US" dirty="0"/>
              <a:t>(0);</a:t>
            </a:r>
            <a:endParaRPr dirty="0"/>
          </a:p>
          <a:p>
            <a:pPr marL="0" lvl="0" indent="0" algn="l" rtl="0">
              <a:spcBef>
                <a:spcPts val="0"/>
              </a:spcBef>
              <a:spcAft>
                <a:spcPts val="0"/>
              </a:spcAft>
              <a:buNone/>
            </a:pPr>
            <a:r>
              <a:rPr lang="en-US" dirty="0"/>
              <a:t>&lt;button </a:t>
            </a:r>
            <a:r>
              <a:rPr lang="en-US" dirty="0" err="1"/>
              <a:t>onClick</a:t>
            </a:r>
            <a:r>
              <a:rPr lang="en-US" dirty="0"/>
              <a:t>={() =&gt; </a:t>
            </a:r>
            <a:r>
              <a:rPr lang="en-US" dirty="0" err="1"/>
              <a:t>setCount</a:t>
            </a:r>
            <a:r>
              <a:rPr lang="en-US" dirty="0"/>
              <a:t>(count + 1)}&gt;+&lt;/button&gt;</a:t>
            </a:r>
            <a:endParaRPr dirty="0"/>
          </a:p>
        </p:txBody>
      </p:sp>
      <p:sp>
        <p:nvSpPr>
          <p:cNvPr id="114" name="Google Shape;114;g3e10b4ab9cc_0_11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e10b4ab9cc_0_1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2" name="Google Shape;122;g3e10b4ab9cc_0_1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working version is literally three lines different from the broken one - import </a:t>
            </a:r>
            <a:r>
              <a:rPr lang="en-US" dirty="0" err="1"/>
              <a:t>useState</a:t>
            </a:r>
            <a:r>
              <a:rPr lang="en-US" dirty="0"/>
              <a:t>, declare with [count, </a:t>
            </a:r>
            <a:r>
              <a:rPr lang="en-US" dirty="0" err="1"/>
              <a:t>setCount</a:t>
            </a:r>
            <a:r>
              <a:rPr lang="en-US" dirty="0"/>
              <a:t>] = </a:t>
            </a:r>
            <a:r>
              <a:rPr lang="en-US" dirty="0" err="1"/>
              <a:t>useState</a:t>
            </a:r>
            <a:r>
              <a:rPr lang="en-US" dirty="0"/>
              <a:t>(0), and call </a:t>
            </a:r>
            <a:r>
              <a:rPr lang="en-US" dirty="0" err="1"/>
              <a:t>setCount</a:t>
            </a:r>
            <a:r>
              <a:rPr lang="en-US" dirty="0"/>
              <a:t> in the handler. The UI actually updates because calling the setter is the signal to React that state changed and a re-render is needed. Make the diff visible, don't just let students read the new version.</a:t>
            </a:r>
            <a:endParaRPr dirty="0"/>
          </a:p>
        </p:txBody>
      </p:sp>
      <p:sp>
        <p:nvSpPr>
          <p:cNvPr id="123" name="Google Shape;123;g3e10b4ab9cc_0_1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e10b4ab9cc_0_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1" name="Google Shape;131;g3e10b4ab9cc_0_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Any closure (like an </a:t>
            </a:r>
            <a:r>
              <a:rPr lang="en-US" dirty="0" err="1"/>
              <a:t>onClick</a:t>
            </a:r>
            <a:r>
              <a:rPr lang="en-US" dirty="0"/>
              <a:t>) that captures count captures that render's value, even if state changes later.</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The 'React keeps it in its own memory' mental model is really what unlocks the intuition for hooks. Students who believe count is 'just a variable' get confused by closure bugs for weeks...students who believe React is storing it somewhere else understand that the function is just asking React for the current value every run. That framing does a lot of work later when we hit </a:t>
            </a:r>
            <a:r>
              <a:rPr lang="en-US" dirty="0" err="1"/>
              <a:t>useEffect</a:t>
            </a:r>
            <a:r>
              <a:rPr lang="en-US" dirty="0"/>
              <a:t>.</a:t>
            </a:r>
            <a:endParaRPr dirty="0"/>
          </a:p>
        </p:txBody>
      </p:sp>
      <p:sp>
        <p:nvSpPr>
          <p:cNvPr id="132" name="Google Shape;132;g3e10b4ab9cc_0_1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e10b4ab9cc_0_13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g3e10b4ab9cc_0_13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Answer: 1. Pause for guesses first - this one tricks even students who got the previous slide. The bug is the snapshot framing playing out: `count` was 0 when this render captured it, so both </a:t>
            </a:r>
            <a:r>
              <a:rPr lang="en-US" dirty="0" err="1"/>
              <a:t>setCount</a:t>
            </a:r>
            <a:r>
              <a:rPr lang="en-US" dirty="0"/>
              <a:t>(count + 1) calls are </a:t>
            </a:r>
            <a:r>
              <a:rPr lang="en-US" dirty="0" err="1"/>
              <a:t>setCount</a:t>
            </a:r>
            <a:r>
              <a:rPr lang="en-US" dirty="0"/>
              <a:t>(0 + 1) = </a:t>
            </a:r>
            <a:r>
              <a:rPr lang="en-US" dirty="0" err="1"/>
              <a:t>setCount</a:t>
            </a:r>
            <a:r>
              <a:rPr lang="en-US" dirty="0"/>
              <a:t>(1). Two writes of the same value, React stores 1. The cure is the FUNCTIONAL updater form: </a:t>
            </a:r>
            <a:r>
              <a:rPr lang="en-US" dirty="0" err="1"/>
              <a:t>setCount</a:t>
            </a:r>
            <a:r>
              <a:rPr lang="en-US" dirty="0"/>
              <a:t>(c =&gt; c + 1). When you pass a function, React calls it with the latest queued value, so the second call gets c=1 and returns 2. Mention this verbally - not needed for the rest of the lecture, but students who go work at a real company will see </a:t>
            </a:r>
            <a:r>
              <a:rPr lang="en-US" dirty="0" err="1"/>
              <a:t>setCount</a:t>
            </a:r>
            <a:r>
              <a:rPr lang="en-US" dirty="0"/>
              <a:t>(c =&gt; c + 1) everywhere and should know what it's for.</a:t>
            </a:r>
            <a:endParaRPr dirty="0"/>
          </a:p>
        </p:txBody>
      </p:sp>
      <p:sp>
        <p:nvSpPr>
          <p:cNvPr id="139" name="Google Shape;139;g3e10b4ab9cc_0_13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e10b4ab9cc_0_53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7" name="Google Shape;147;g3e10b4ab9cc_0_5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slide is really the under-explained mechanic of React, and once students get it the rules of hooks stop feeling arbitrary. Walk through it slowly: before React calls Counter(), it sets a module-level 'currently rendering fiber' pointer. </a:t>
            </a:r>
            <a:r>
              <a:rPr lang="en-US" dirty="0" err="1"/>
              <a:t>useState</a:t>
            </a:r>
            <a:r>
              <a:rPr lang="en-US" dirty="0"/>
              <a:t> reads that pointer, walks the linked list of hook slots on that fiber, grabs (or creates) the next slot by call order, and returns [</a:t>
            </a:r>
            <a:r>
              <a:rPr lang="en-US" dirty="0" err="1"/>
              <a:t>slot.value</a:t>
            </a:r>
            <a:r>
              <a:rPr lang="en-US" dirty="0"/>
              <a:t>, </a:t>
            </a:r>
            <a:r>
              <a:rPr lang="en-US" dirty="0" err="1"/>
              <a:t>slot.setter</a:t>
            </a:r>
            <a:r>
              <a:rPr lang="en-US" dirty="0"/>
              <a:t>]. The setter was created when the slot was, capturing (fiber, </a:t>
            </a:r>
            <a:r>
              <a:rPr lang="en-US" dirty="0" err="1"/>
              <a:t>slotIndex</a:t>
            </a:r>
            <a:r>
              <a:rPr lang="en-US" dirty="0"/>
              <a:t>) in its closure...so calling it later already has all the addressing info baked in. Pay this off later in 7.x or 8.x when stale closures or rules-of-hooks lint errors come up. The rules-of-hooks bit at the bottom matters - students who skip the rule and conditionally call </a:t>
            </a:r>
            <a:r>
              <a:rPr lang="en-US" dirty="0" err="1"/>
              <a:t>useState</a:t>
            </a:r>
            <a:r>
              <a:rPr lang="en-US" dirty="0"/>
              <a:t> get totally cryptic bugs that are basically uninvestigable without this mental model.</a:t>
            </a:r>
            <a:endParaRPr dirty="0"/>
          </a:p>
        </p:txBody>
      </p:sp>
      <p:sp>
        <p:nvSpPr>
          <p:cNvPr id="148" name="Google Shape;148;g3e10b4ab9cc_0_53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e10b4ab9cc_0_13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4" name="Google Shape;154;g3e10b4ab9cc_0_13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slide is really the under-explained mechanic of React, and once students get it the rules of hooks stop feeling arbitrary. Walk through it slowly: before React calls Counter(), it sets a module-level 'currently rendering fiber' pointer. </a:t>
            </a:r>
            <a:r>
              <a:rPr lang="en-US" dirty="0" err="1"/>
              <a:t>useState</a:t>
            </a:r>
            <a:r>
              <a:rPr lang="en-US" dirty="0"/>
              <a:t> reads that pointer, walks the linked list of hook slots on that fiber, grabs (or creates) the next slot by call order, and returns [</a:t>
            </a:r>
            <a:r>
              <a:rPr lang="en-US" dirty="0" err="1"/>
              <a:t>slot.value</a:t>
            </a:r>
            <a:r>
              <a:rPr lang="en-US" dirty="0"/>
              <a:t>, </a:t>
            </a:r>
            <a:r>
              <a:rPr lang="en-US" dirty="0" err="1"/>
              <a:t>slot.setter</a:t>
            </a:r>
            <a:r>
              <a:rPr lang="en-US" dirty="0"/>
              <a:t>]. The setter was created when the slot was, capturing (fiber, </a:t>
            </a:r>
            <a:r>
              <a:rPr lang="en-US" dirty="0" err="1"/>
              <a:t>slotIndex</a:t>
            </a:r>
            <a:r>
              <a:rPr lang="en-US" dirty="0"/>
              <a:t>) in its closure...so calling it later already has all the addressing info baked in. Pay this off later in 7.x or 8.x when stale closures or rules-of-hooks lint errors come up. The rules-of-hooks bit at the bottom matters - students who skip the rule and conditionally call </a:t>
            </a:r>
            <a:r>
              <a:rPr lang="en-US" dirty="0" err="1"/>
              <a:t>useState</a:t>
            </a:r>
            <a:r>
              <a:rPr lang="en-US" dirty="0"/>
              <a:t> get totally cryptic bugs that are basically uninvestigable without this mental model.</a:t>
            </a:r>
            <a:endParaRPr dirty="0"/>
          </a:p>
        </p:txBody>
      </p:sp>
      <p:sp>
        <p:nvSpPr>
          <p:cNvPr id="155" name="Google Shape;155;g3e10b4ab9cc_0_13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e10b4ab9cc_0_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1" name="Google Shape;161;g3e10b4ab9cc_0_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Each </a:t>
            </a:r>
            <a:r>
              <a:rPr lang="en-US" dirty="0" err="1"/>
              <a:t>useState</a:t>
            </a:r>
            <a:r>
              <a:rPr lang="en-US" dirty="0"/>
              <a:t> is independent of the others. You can have as many as you need. The one rule is that they have to be called in the same ORDER on every render, which really just means no </a:t>
            </a:r>
            <a:r>
              <a:rPr lang="en-US" dirty="0" err="1"/>
              <a:t>useState</a:t>
            </a:r>
            <a:r>
              <a:rPr lang="en-US" dirty="0"/>
              <a:t> inside if statements or loops. React tracks them by call order, not by name...which is </a:t>
            </a:r>
            <a:r>
              <a:rPr lang="en-US" dirty="0" err="1"/>
              <a:t>kinda</a:t>
            </a:r>
            <a:r>
              <a:rPr lang="en-US" dirty="0"/>
              <a:t> wild the first time you learn it.</a:t>
            </a:r>
            <a:endParaRPr dirty="0"/>
          </a:p>
        </p:txBody>
      </p:sp>
      <p:sp>
        <p:nvSpPr>
          <p:cNvPr id="162" name="Google Shape;162;g3e10b4ab9cc_0_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e10b4ab9cc_0_3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g3e10b4ab9cc_0_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Students should pretty much memorize this loop - it's the foundation for every React debugging intuition they'll ever need. When something doesn't update, trace through: which step is broken? Usually it's step 2 (forgot to call the setter in the first place) or step 7 (React saw the same reference and skipped the update). If their coding agent produces 'my state isn't updating' bugs, this is the slide to push them back to.</a:t>
            </a:r>
            <a:endParaRPr dirty="0"/>
          </a:p>
        </p:txBody>
      </p:sp>
      <p:sp>
        <p:nvSpPr>
          <p:cNvPr id="171" name="Google Shape;171;g3e10b4ab9cc_0_3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7" name="Google Shape;177;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Three buttons and three handlers all hanging off one piece of state, and each handler is an inline arrow function computing the new value off the current one. Point out that `count - 1` and `count + 1` are reading whatever count is RIGHT NOW, at click time...which is how React stays consistent with the value rendered in the paragraph above.</a:t>
            </a:r>
            <a:endParaRPr dirty="0"/>
          </a:p>
        </p:txBody>
      </p:sp>
      <p:sp>
        <p:nvSpPr>
          <p:cNvPr id="178" name="Google Shape;178;p1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controlled-input pattern, and they'll use it for basically every form they ever build in React, so it's really worth sitting on. The rules are that value is bound to state and onChange updates state.</a:t>
            </a:r>
            <a:r>
              <a:rPr lang="en-US" dirty="0" err="1"/>
              <a:t/>
            </a:r>
            <a:r>
              <a:rPr lang="en-US" dirty="0"/>
              <a:t> The slight weirdness is that state IS the source of truth now - if you forget to update state on change, typing in the input does absolutely nothing. That confuses students the first time they see it.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const [name, </a:t>
            </a:r>
            <a:r>
              <a:rPr lang="en-US" dirty="0" err="1"/>
              <a:t>setName</a:t>
            </a:r>
            <a:r>
              <a:rPr lang="en-US" dirty="0"/>
              <a:t>] = </a:t>
            </a:r>
            <a:r>
              <a:rPr lang="en-US" dirty="0" err="1"/>
              <a:t>useState</a:t>
            </a:r>
            <a:r>
              <a:rPr lang="en-US" dirty="0"/>
              <a:t>("");</a:t>
            </a:r>
            <a:endParaRPr dirty="0"/>
          </a:p>
          <a:p>
            <a:pPr marL="0" lvl="0" indent="0" algn="l" rtl="0">
              <a:spcBef>
                <a:spcPts val="0"/>
              </a:spcBef>
              <a:spcAft>
                <a:spcPts val="0"/>
              </a:spcAft>
              <a:buNone/>
            </a:pPr>
            <a:r>
              <a:rPr lang="en-US" dirty="0" err="1"/>
              <a:t>setName</a:t>
            </a:r>
            <a:r>
              <a:rPr lang="en-US" dirty="0"/>
              <a:t>(</a:t>
            </a:r>
            <a:r>
              <a:rPr lang="en-US" dirty="0" err="1"/>
              <a:t>e.target.value</a:t>
            </a:r>
            <a:r>
              <a:rPr lang="en-US" dirty="0"/>
              <a:t>)</a:t>
            </a:r>
            <a:endParaRPr dirty="0"/>
          </a:p>
        </p:txBody>
      </p:sp>
      <p:sp>
        <p:nvSpPr>
          <p:cNvPr id="187" name="Google Shape;187;p1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5" name="Google Shape;195;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second hook. Mental model really matters here - side effects do NOT belong in the render body, and </a:t>
            </a:r>
            <a:r>
              <a:rPr lang="en-US" dirty="0" err="1"/>
              <a:t>useEffect</a:t>
            </a:r>
            <a:r>
              <a:rPr lang="en-US" dirty="0"/>
              <a:t> is the controlled way to do them.</a:t>
            </a:r>
            <a:endParaRPr dirty="0"/>
          </a:p>
        </p:txBody>
      </p:sp>
      <p:sp>
        <p:nvSpPr>
          <p:cNvPr id="196" name="Google Shape;196;p1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e10b4ab9cc_0_14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1" name="Google Shape;201;g3e10b4ab9cc_0_14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Open the network tab. The page hammers /</a:t>
            </a:r>
            <a:r>
              <a:rPr lang="en-US" dirty="0" err="1"/>
              <a:t>api</a:t>
            </a:r>
            <a:r>
              <a:rPr lang="en-US" dirty="0"/>
              <a:t>/messages forever.</a:t>
            </a:r>
            <a:endParaRPr dirty="0"/>
          </a:p>
          <a:p>
            <a:pPr marL="0" lvl="0" indent="0" algn="l" rtl="0">
              <a:spcBef>
                <a:spcPts val="0"/>
              </a:spcBef>
              <a:spcAft>
                <a:spcPts val="0"/>
              </a:spcAft>
              <a:buNone/>
            </a:pPr>
            <a:r>
              <a:rPr lang="en-US" dirty="0"/>
              <a:t>//</a:t>
            </a:r>
            <a:endParaRPr dirty="0"/>
          </a:p>
          <a:p>
            <a:pPr marL="0" lvl="0" indent="0" algn="l" rtl="0">
              <a:spcBef>
                <a:spcPts val="0"/>
              </a:spcBef>
              <a:spcAft>
                <a:spcPts val="0"/>
              </a:spcAft>
              <a:buNone/>
            </a:pPr>
            <a:r>
              <a:rPr lang="en-US" dirty="0"/>
              <a:t>// Why? The function body runs on EVERY render. The fetch fires,</a:t>
            </a:r>
            <a:endParaRPr dirty="0"/>
          </a:p>
          <a:p>
            <a:pPr marL="0" lvl="0" indent="0" algn="l" rtl="0">
              <a:spcBef>
                <a:spcPts val="0"/>
              </a:spcBef>
              <a:spcAft>
                <a:spcPts val="0"/>
              </a:spcAft>
              <a:buNone/>
            </a:pPr>
            <a:r>
              <a:rPr lang="en-US" dirty="0"/>
              <a:t>// completes, calls </a:t>
            </a:r>
            <a:r>
              <a:rPr lang="en-US" dirty="0" err="1"/>
              <a:t>setMessages</a:t>
            </a:r>
            <a:r>
              <a:rPr lang="en-US" dirty="0"/>
              <a:t>, which triggers a re-render. The</a:t>
            </a:r>
            <a:endParaRPr dirty="0"/>
          </a:p>
          <a:p>
            <a:pPr marL="0" lvl="0" indent="0" algn="l" rtl="0">
              <a:spcBef>
                <a:spcPts val="0"/>
              </a:spcBef>
              <a:spcAft>
                <a:spcPts val="0"/>
              </a:spcAft>
              <a:buNone/>
            </a:pPr>
            <a:r>
              <a:rPr lang="en-US" dirty="0"/>
              <a:t>// re-render runs the body again - fetch again. Infinite loop.</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Anything that TOUCHES THE OUTSIDE WORLD (fetch, subscribe, timer, </a:t>
            </a:r>
            <a:r>
              <a:rPr lang="en-US" dirty="0" err="1"/>
              <a:t>document.title</a:t>
            </a:r>
            <a:r>
              <a:rPr lang="en-US" dirty="0"/>
              <a:t>) doesn't belong there, because the body re-runs on every render. Some students will say 'just add a flag' - show why that doesn't work either, the flag resets every render, same problem as count in the broken counter. The answer is 'we need a tool that runs AFTER render and only when we say so' - which is exactly </a:t>
            </a:r>
            <a:r>
              <a:rPr lang="en-US" dirty="0" err="1"/>
              <a:t>useEffect</a:t>
            </a:r>
            <a:r>
              <a:rPr lang="en-US" dirty="0"/>
              <a:t>, on the next two slides.</a:t>
            </a:r>
            <a:endParaRPr dirty="0"/>
          </a:p>
        </p:txBody>
      </p:sp>
      <p:sp>
        <p:nvSpPr>
          <p:cNvPr id="202" name="Google Shape;202;g3e10b4ab9cc_0_14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e10b4ab9cc_0_23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g3e10b4ab9cc_0_2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motivation actually matters here. Students need to really understand that side effects would fire uncontrollably if you just put them in the render body - otherwise </a:t>
            </a:r>
            <a:r>
              <a:rPr lang="en-US" dirty="0" err="1"/>
              <a:t>useEffect</a:t>
            </a:r>
            <a:r>
              <a:rPr lang="en-US" dirty="0"/>
              <a:t> looks like extra ceremony for no reason. </a:t>
            </a:r>
            <a:r>
              <a:rPr lang="en-US" dirty="0" err="1"/>
              <a:t>useEffect</a:t>
            </a:r>
            <a:r>
              <a:rPr lang="en-US" dirty="0"/>
              <a:t> is the controlled way to do anything that touches the outside world, and the reason it exists at all is that the render body is the wrong place.</a:t>
            </a:r>
            <a:endParaRPr dirty="0"/>
          </a:p>
        </p:txBody>
      </p:sp>
      <p:sp>
        <p:nvSpPr>
          <p:cNvPr id="211" name="Google Shape;211;g3e10b4ab9cc_0_23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e10b4ab9cc_0_23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7" name="Google Shape;217;g3e10b4ab9cc_0_23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motivation actually matters here. Students need to really understand that side effects would fire uncontrollably if you just put them in the render body - otherwise </a:t>
            </a:r>
            <a:r>
              <a:rPr lang="en-US" dirty="0" err="1"/>
              <a:t>useEffect</a:t>
            </a:r>
            <a:r>
              <a:rPr lang="en-US" dirty="0"/>
              <a:t> looks like extra ceremony for no reason. </a:t>
            </a:r>
            <a:r>
              <a:rPr lang="en-US" dirty="0" err="1"/>
              <a:t>useEffect</a:t>
            </a:r>
            <a:r>
              <a:rPr lang="en-US" dirty="0"/>
              <a:t> is the controlled way to do anything that touches the outside world, and the reason it exists at all is that the render body is the wrong place.</a:t>
            </a:r>
            <a:endParaRPr dirty="0"/>
          </a:p>
        </p:txBody>
      </p:sp>
      <p:sp>
        <p:nvSpPr>
          <p:cNvPr id="218" name="Google Shape;218;g3e10b4ab9cc_0_23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motivation actually matters here. Students need to really understand that side effects would fire uncontrollably if you just put them in the render body - otherwise </a:t>
            </a:r>
            <a:r>
              <a:rPr lang="en-US" dirty="0" err="1"/>
              <a:t>useEffect</a:t>
            </a:r>
            <a:r>
              <a:rPr lang="en-US" dirty="0"/>
              <a:t> looks like extra ceremony for no reason. </a:t>
            </a:r>
            <a:r>
              <a:rPr lang="en-US" dirty="0" err="1"/>
              <a:t>useEffect</a:t>
            </a:r>
            <a:r>
              <a:rPr lang="en-US" dirty="0"/>
              <a:t> is the controlled way to do anything that touches the outside world, and the reason it exists at all is that the render body is the wrong place.</a:t>
            </a:r>
            <a:endParaRPr dirty="0"/>
          </a:p>
        </p:txBody>
      </p:sp>
      <p:sp>
        <p:nvSpPr>
          <p:cNvPr id="225" name="Google Shape;225;p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e10b4ab9cc_0_24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1" name="Google Shape;231;g3e10b4ab9cc_0_2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deps array is the part students consistently get wrong. Walk them through the decision tree out loud: always want to run once on mount? Use []. Want to re-run when some prop or state changes? List it. Never want to think about it at all? That's usually a sign the effect should just be called directly in a handler instead of sitting in </a:t>
            </a:r>
            <a:r>
              <a:rPr lang="en-US" dirty="0" err="1"/>
              <a:t>useEffect</a:t>
            </a:r>
            <a:r>
              <a:rPr lang="en-US" dirty="0"/>
              <a:t>.</a:t>
            </a:r>
            <a:endParaRPr dirty="0"/>
          </a:p>
        </p:txBody>
      </p:sp>
      <p:sp>
        <p:nvSpPr>
          <p:cNvPr id="232" name="Google Shape;232;g3e10b4ab9cc_0_24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deps array is the part students consistently get wrong. Walk them through the decision tree out loud: always want to run once on mount? Use []. Want to re-run when some prop or state changes? List it. Never want to think about it at all? That's usually a sign the effect should just be called directly in a handler instead of sitting in </a:t>
            </a:r>
            <a:r>
              <a:rPr lang="en-US" dirty="0" err="1"/>
              <a:t>useEffect</a:t>
            </a:r>
            <a:r>
              <a:rPr lang="en-US" dirty="0"/>
              <a:t>.</a:t>
            </a:r>
            <a:endParaRPr dirty="0"/>
          </a:p>
        </p:txBody>
      </p:sp>
      <p:sp>
        <p:nvSpPr>
          <p:cNvPr id="239" name="Google Shape;239;p1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Right answer is (a). Walk through the wrong ones, since they're each a real bug students will eventually write: (b) [messages] is an infinite loop - effect runs, </a:t>
            </a:r>
            <a:r>
              <a:rPr lang="en-US" dirty="0" err="1"/>
              <a:t>setMessages</a:t>
            </a:r>
            <a:r>
              <a:rPr lang="en-US" dirty="0"/>
              <a:t> updates messages, deps array changed, effect runs again, repeat forever. This one really does bite. (c) no array means the effect runs after EVERY render - every state change anywhere in the component triggers a re-fetch. Also basically infinite. (d) [</a:t>
            </a:r>
            <a:r>
              <a:rPr lang="en-US" dirty="0" err="1"/>
              <a:t>setMessages</a:t>
            </a:r>
            <a:r>
              <a:rPr lang="en-US" dirty="0"/>
              <a:t>] technically works because React guarantees the setter identity is stable across renders, so it's equivalent to []. But it's misleading - a reader would think the effect depends on the setter, which it doesn't. The rule: list what the effect actually reads from outside. The effect reads nothing from outside, so [] it is.</a:t>
            </a:r>
            <a:endParaRPr dirty="0"/>
          </a:p>
        </p:txBody>
      </p:sp>
      <p:sp>
        <p:nvSpPr>
          <p:cNvPr id="246" name="Google Shape;246;p2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4" name="Google Shape;254;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 is broken. The effect captures the </a:t>
            </a:r>
            <a:r>
              <a:rPr lang="en-US" dirty="0" err="1"/>
              <a:t>userId</a:t>
            </a:r>
            <a:r>
              <a:rPr lang="en-US" dirty="0"/>
              <a:t> from the first render (snapshot framing again) and never re-fetches when it changes - so when the user navigates from /users/123 to /users/456, the page keeps showing 123's data. B is correct - the effect re-runs whenever </a:t>
            </a:r>
            <a:r>
              <a:rPr lang="en-US" dirty="0" err="1"/>
              <a:t>userId</a:t>
            </a:r>
            <a:r>
              <a:rPr lang="en-US" dirty="0"/>
              <a:t> changes, fetching the new user. This is THE stale-closure bug and it's the single most common </a:t>
            </a:r>
            <a:r>
              <a:rPr lang="en-US" dirty="0" err="1"/>
              <a:t>useEffect</a:t>
            </a:r>
            <a:r>
              <a:rPr lang="en-US" dirty="0"/>
              <a:t> mistake in the wild. The next slide formalizes the rule and tells them about the </a:t>
            </a:r>
            <a:r>
              <a:rPr lang="en-US" dirty="0" err="1"/>
              <a:t>ESLint</a:t>
            </a:r>
            <a:r>
              <a:rPr lang="en-US" dirty="0"/>
              <a:t> plugin that catches this automatically.</a:t>
            </a:r>
            <a:endParaRPr dirty="0"/>
          </a:p>
        </p:txBody>
      </p:sp>
      <p:sp>
        <p:nvSpPr>
          <p:cNvPr id="255" name="Google Shape;255;p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e10b4ab9cc_0_25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7" name="Google Shape;287;g3e10b4ab9cc_0_25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Stale closures are really the hard part of </a:t>
            </a:r>
            <a:r>
              <a:rPr lang="en-US" dirty="0" err="1"/>
              <a:t>useEffect</a:t>
            </a:r>
            <a:r>
              <a:rPr lang="en-US" dirty="0"/>
              <a:t>, and they come from violating the deps rule. Students will hit this once or twice and then internalize the pattern...it's </a:t>
            </a:r>
            <a:r>
              <a:rPr lang="en-US" dirty="0" err="1"/>
              <a:t>kinda</a:t>
            </a:r>
            <a:r>
              <a:rPr lang="en-US" dirty="0"/>
              <a:t> a rite of passage. The </a:t>
            </a:r>
            <a:r>
              <a:rPr lang="en-US" dirty="0" err="1"/>
              <a:t>ESLint</a:t>
            </a:r>
            <a:r>
              <a:rPr lang="en-US" dirty="0"/>
              <a:t> plugin catches most of it automatically, so recommend they turn it on if they're not already. Push your coding agent to include the right deps rather than fighting the warning.</a:t>
            </a:r>
            <a:endParaRPr dirty="0"/>
          </a:p>
        </p:txBody>
      </p:sp>
      <p:sp>
        <p:nvSpPr>
          <p:cNvPr id="288" name="Google Shape;288;g3e10b4ab9cc_0_25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e10b4ab9cc_0_25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4" name="Google Shape;294;g3e10b4ab9cc_0_25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Stale closures are really the hard part of </a:t>
            </a:r>
            <a:r>
              <a:rPr lang="en-US" dirty="0" err="1"/>
              <a:t>useEffect</a:t>
            </a:r>
            <a:r>
              <a:rPr lang="en-US" dirty="0"/>
              <a:t>, and they come from violating the deps rule. Students will hit this once or twice and then internalize the pattern...it's </a:t>
            </a:r>
            <a:r>
              <a:rPr lang="en-US" dirty="0" err="1"/>
              <a:t>kinda</a:t>
            </a:r>
            <a:r>
              <a:rPr lang="en-US" dirty="0"/>
              <a:t> a rite of passage. The </a:t>
            </a:r>
            <a:r>
              <a:rPr lang="en-US" dirty="0" err="1"/>
              <a:t>ESLint</a:t>
            </a:r>
            <a:r>
              <a:rPr lang="en-US" dirty="0"/>
              <a:t> plugin catches most of it automatically, so recommend they turn it on if they're not already. Push your coding agent to include the right deps rather than fighting the warning.</a:t>
            </a:r>
            <a:endParaRPr dirty="0"/>
          </a:p>
        </p:txBody>
      </p:sp>
      <p:sp>
        <p:nvSpPr>
          <p:cNvPr id="295" name="Google Shape;295;g3e10b4ab9cc_0_25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e10b4ab9cc_0_26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1" name="Google Shape;301;g3e10b4ab9cc_0_26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Just about every data-fetching component out there has this exact shape, and once they recognize it they can point it at any fetch they like. Worth mentioning that libraries like React Query exist specifically to automate this pattern away, but writing it by hand first really builds the intuition for what those libraries are actually doing for you under the hood.</a:t>
            </a:r>
            <a:endParaRPr dirty="0"/>
          </a:p>
        </p:txBody>
      </p:sp>
      <p:sp>
        <p:nvSpPr>
          <p:cNvPr id="302" name="Google Shape;302;g3e10b4ab9cc_0_26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e10b4ab9cc_0_36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8" name="Google Shape;308;g3e10b4ab9cc_0_36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every piece of this slowly. Three </a:t>
            </a:r>
            <a:r>
              <a:rPr lang="en-US" dirty="0" err="1"/>
              <a:t>useState</a:t>
            </a:r>
            <a:r>
              <a:rPr lang="en-US" dirty="0"/>
              <a:t> calls, one </a:t>
            </a:r>
            <a:r>
              <a:rPr lang="en-US" dirty="0" err="1"/>
              <a:t>useEffect</a:t>
            </a:r>
            <a:r>
              <a:rPr lang="en-US" dirty="0"/>
              <a:t> with [] deps, try/catch/finally for the three branches, conditional rendering with early returns. This is the single most copied piece of React code in the industry...students should be able to reproduce it from memory by the end of the week, because it's going to show up in their final project somewhere almost for sure.</a:t>
            </a:r>
            <a:endParaRPr dirty="0"/>
          </a:p>
        </p:txBody>
      </p:sp>
      <p:sp>
        <p:nvSpPr>
          <p:cNvPr id="309" name="Google Shape;309;g3e10b4ab9cc_0_36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e10b4ab9cc_0_36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7" name="Google Shape;317;g3e10b4ab9cc_0_36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every piece of this slowly. Three </a:t>
            </a:r>
            <a:r>
              <a:rPr lang="en-US" dirty="0" err="1"/>
              <a:t>useState</a:t>
            </a:r>
            <a:r>
              <a:rPr lang="en-US" dirty="0"/>
              <a:t> calls, one </a:t>
            </a:r>
            <a:r>
              <a:rPr lang="en-US" dirty="0" err="1"/>
              <a:t>useEffect</a:t>
            </a:r>
            <a:r>
              <a:rPr lang="en-US" dirty="0"/>
              <a:t> with [] deps, try/catch/finally for the three branches, conditional rendering with early returns. This is the single most copied piece of React code in the industry...students should be able to reproduce it from memory by the end of the week, because it's going to show up in their final project somewhere almost for sure.</a:t>
            </a:r>
            <a:endParaRPr dirty="0"/>
          </a:p>
        </p:txBody>
      </p:sp>
      <p:sp>
        <p:nvSpPr>
          <p:cNvPr id="318" name="Google Shape;318;g3e10b4ab9cc_0_36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e10b4ab9cc_0_27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6" name="Google Shape;326;g3e10b4ab9cc_0_27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every piece of this slowly. Three </a:t>
            </a:r>
            <a:r>
              <a:rPr lang="en-US" dirty="0" err="1"/>
              <a:t>useState</a:t>
            </a:r>
            <a:r>
              <a:rPr lang="en-US" dirty="0"/>
              <a:t> calls, one </a:t>
            </a:r>
            <a:r>
              <a:rPr lang="en-US" dirty="0" err="1"/>
              <a:t>useEffect</a:t>
            </a:r>
            <a:r>
              <a:rPr lang="en-US" dirty="0"/>
              <a:t> with [] deps, try/catch/finally for the three branches, conditional rendering with early returns. This is the single most copied piece of React code in the industry...students should be able to reproduce it from memory by the end of the week, because it's going to show up in their final project somewhere almost for sure.</a:t>
            </a:r>
            <a:endParaRPr dirty="0"/>
          </a:p>
        </p:txBody>
      </p:sp>
      <p:sp>
        <p:nvSpPr>
          <p:cNvPr id="327" name="Google Shape;327;g3e10b4ab9cc_0_27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5" name="Google Shape;335;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Students really shouldn't reach for React Query in this course - it’s </a:t>
            </a:r>
            <a:r>
              <a:rPr lang="en-US" dirty="0" err="1"/>
              <a:t>kinda</a:t>
            </a:r>
            <a:r>
              <a:rPr lang="en-US" dirty="0"/>
              <a:t> overkill, and pulling in a library lets them skip the intuition. But they absolutely should know these libraries exist, because when they go build real projects after this class they WILL use one. Frame it as 'earn the shortcut by doing it the long way once.'</a:t>
            </a:r>
            <a:endParaRPr dirty="0"/>
          </a:p>
        </p:txBody>
      </p:sp>
      <p:sp>
        <p:nvSpPr>
          <p:cNvPr id="336" name="Google Shape;336;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2" name="Google Shape;342;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const [messages, </a:t>
            </a:r>
            <a:r>
              <a:rPr lang="en-US" dirty="0" err="1"/>
              <a:t>setMessages</a:t>
            </a:r>
            <a:r>
              <a:rPr lang="en-US" dirty="0"/>
              <a:t>] = </a:t>
            </a:r>
            <a:r>
              <a:rPr lang="en-US" dirty="0" err="1"/>
              <a:t>useState</a:t>
            </a:r>
            <a:r>
              <a:rPr lang="en-US" dirty="0"/>
              <a:t>&lt;Message[]&gt;([]);</a:t>
            </a:r>
            <a:endParaRPr dirty="0"/>
          </a:p>
          <a:p>
            <a:pPr marL="0" lvl="0" indent="0" algn="l" rtl="0">
              <a:spcBef>
                <a:spcPts val="0"/>
              </a:spcBef>
              <a:spcAft>
                <a:spcPts val="0"/>
              </a:spcAft>
              <a:buNone/>
            </a:pPr>
            <a:r>
              <a:rPr lang="en-US" dirty="0"/>
              <a:t>    const [loading,  </a:t>
            </a:r>
            <a:r>
              <a:rPr lang="en-US" dirty="0" err="1"/>
              <a:t>setLoading</a:t>
            </a:r>
            <a:r>
              <a:rPr lang="en-US" dirty="0"/>
              <a:t>]  = </a:t>
            </a:r>
            <a:r>
              <a:rPr lang="en-US" dirty="0" err="1"/>
              <a:t>useState</a:t>
            </a:r>
            <a:r>
              <a:rPr lang="en-US" dirty="0"/>
              <a:t>(true);</a:t>
            </a:r>
            <a:endParaRPr dirty="0"/>
          </a:p>
          <a:p>
            <a:pPr marL="0" lvl="0" indent="0" algn="l" rtl="0">
              <a:spcBef>
                <a:spcPts val="0"/>
              </a:spcBef>
              <a:spcAft>
                <a:spcPts val="0"/>
              </a:spcAft>
              <a:buNone/>
            </a:pPr>
            <a:r>
              <a:rPr lang="en-US" dirty="0"/>
              <a:t>    const [error,    </a:t>
            </a:r>
            <a:r>
              <a:rPr lang="en-US" dirty="0" err="1"/>
              <a:t>setError</a:t>
            </a:r>
            <a:r>
              <a:rPr lang="en-US" dirty="0"/>
              <a:t>]    = </a:t>
            </a:r>
            <a:r>
              <a:rPr lang="en-US" dirty="0" err="1"/>
              <a:t>useState</a:t>
            </a:r>
            <a:r>
              <a:rPr lang="en-US" dirty="0"/>
              <a:t>&lt;string | null&gt;(null);</a:t>
            </a:r>
            <a:endParaRPr dirty="0"/>
          </a:p>
          <a:p>
            <a:pPr marL="0" lvl="0" indent="0" algn="l" rtl="0">
              <a:spcBef>
                <a:spcPts val="200"/>
              </a:spcBef>
              <a:spcAft>
                <a:spcPts val="0"/>
              </a:spcAft>
              <a:buNone/>
            </a:pPr>
            <a:r>
              <a:rPr lang="en-US" sz="1300" b="1" dirty="0">
                <a:solidFill>
                  <a:srgbClr val="333344"/>
                </a:solidFill>
                <a:latin typeface="Courier New"/>
                <a:ea typeface="Courier New"/>
                <a:cs typeface="Courier New"/>
                <a:sym typeface="Courier New"/>
              </a:rPr>
              <a:t>if (!</a:t>
            </a:r>
            <a:r>
              <a:rPr lang="en-US" sz="1300" b="1" u="sng" dirty="0">
                <a:solidFill>
                  <a:schemeClr val="hlink"/>
                </a:solidFill>
                <a:latin typeface="Courier New"/>
                <a:ea typeface="Courier New"/>
                <a:cs typeface="Courier New"/>
                <a:sym typeface="Courier New"/>
                <a:hlinkClick r:id="rId3"/>
              </a:rPr>
              <a:t>r.ok</a:t>
            </a:r>
            <a:r>
              <a:rPr lang="en-US" sz="1300" b="1" dirty="0">
                <a:solidFill>
                  <a:srgbClr val="333344"/>
                </a:solidFill>
                <a:latin typeface="Courier New"/>
                <a:ea typeface="Courier New"/>
                <a:cs typeface="Courier New"/>
                <a:sym typeface="Courier New"/>
              </a:rPr>
              <a:t>)</a:t>
            </a:r>
            <a:endParaRPr sz="1300" b="1" dirty="0">
              <a:solidFill>
                <a:srgbClr val="333344"/>
              </a:solidFill>
              <a:latin typeface="Courier New"/>
              <a:ea typeface="Courier New"/>
              <a:cs typeface="Courier New"/>
              <a:sym typeface="Courier New"/>
            </a:endParaRPr>
          </a:p>
          <a:p>
            <a:pPr marL="0" lvl="0" indent="0" algn="l" rtl="0">
              <a:spcBef>
                <a:spcPts val="200"/>
              </a:spcBef>
              <a:spcAft>
                <a:spcPts val="0"/>
              </a:spcAft>
              <a:buNone/>
            </a:pPr>
            <a:r>
              <a:rPr lang="en-US" sz="1300" b="1" dirty="0">
                <a:solidFill>
                  <a:srgbClr val="333344"/>
                </a:solidFill>
                <a:latin typeface="Courier New"/>
                <a:ea typeface="Courier New"/>
                <a:cs typeface="Courier New"/>
                <a:sym typeface="Courier New"/>
              </a:rPr>
              <a:t> </a:t>
            </a:r>
            <a:r>
              <a:rPr lang="en-US" sz="1300" b="1" dirty="0" err="1">
                <a:solidFill>
                  <a:srgbClr val="333344"/>
                </a:solidFill>
                <a:latin typeface="Courier New"/>
                <a:ea typeface="Courier New"/>
                <a:cs typeface="Courier New"/>
                <a:sym typeface="Courier New"/>
              </a:rPr>
              <a:t>setMessages</a:t>
            </a:r>
            <a:r>
              <a:rPr lang="en-US" sz="1300" b="1" dirty="0">
                <a:solidFill>
                  <a:srgbClr val="333344"/>
                </a:solidFill>
                <a:latin typeface="Courier New"/>
                <a:ea typeface="Courier New"/>
                <a:cs typeface="Courier New"/>
                <a:sym typeface="Courier New"/>
              </a:rPr>
              <a:t>(await </a:t>
            </a:r>
            <a:r>
              <a:rPr lang="en-US" sz="1300" b="1" dirty="0" err="1">
                <a:solidFill>
                  <a:srgbClr val="333344"/>
                </a:solidFill>
                <a:latin typeface="Courier New"/>
                <a:ea typeface="Courier New"/>
                <a:cs typeface="Courier New"/>
                <a:sym typeface="Courier New"/>
              </a:rPr>
              <a:t>r.json</a:t>
            </a:r>
            <a:r>
              <a:rPr lang="en-US" sz="1300" b="1" dirty="0">
                <a:solidFill>
                  <a:srgbClr val="333344"/>
                </a:solidFill>
                <a:latin typeface="Courier New"/>
                <a:ea typeface="Courier New"/>
                <a:cs typeface="Courier New"/>
                <a:sym typeface="Courier New"/>
              </a:rPr>
              <a:t>()); </a:t>
            </a:r>
            <a:endParaRPr sz="1300" b="1" dirty="0">
              <a:solidFill>
                <a:srgbClr val="333344"/>
              </a:solidFill>
              <a:latin typeface="Courier New"/>
              <a:ea typeface="Courier New"/>
              <a:cs typeface="Courier New"/>
              <a:sym typeface="Courier New"/>
            </a:endParaRPr>
          </a:p>
          <a:p>
            <a:pPr marL="0" lvl="0" indent="0" algn="l" rtl="0">
              <a:spcBef>
                <a:spcPts val="200"/>
              </a:spcBef>
              <a:spcAft>
                <a:spcPts val="0"/>
              </a:spcAft>
              <a:buNone/>
            </a:pPr>
            <a:r>
              <a:rPr lang="en-US" sz="1300" b="1" dirty="0" err="1">
                <a:solidFill>
                  <a:srgbClr val="333344"/>
                </a:solidFill>
                <a:latin typeface="Courier New"/>
                <a:ea typeface="Courier New"/>
                <a:cs typeface="Courier New"/>
                <a:sym typeface="Courier New"/>
              </a:rPr>
              <a:t>setLoading</a:t>
            </a:r>
            <a:r>
              <a:rPr lang="en-US" sz="1300" b="1" dirty="0">
                <a:solidFill>
                  <a:srgbClr val="333344"/>
                </a:solidFill>
                <a:latin typeface="Courier New"/>
                <a:ea typeface="Courier New"/>
                <a:cs typeface="Courier New"/>
                <a:sym typeface="Courier New"/>
              </a:rPr>
              <a:t>(false);</a:t>
            </a:r>
            <a:endParaRPr sz="1300" b="1" dirty="0">
              <a:solidFill>
                <a:srgbClr val="333344"/>
              </a:solidFill>
              <a:latin typeface="Courier New"/>
              <a:ea typeface="Courier New"/>
              <a:cs typeface="Courier New"/>
              <a:sym typeface="Courier New"/>
            </a:endParaRPr>
          </a:p>
          <a:p>
            <a:pPr marL="0" lvl="0" indent="0" algn="l" rtl="0">
              <a:spcBef>
                <a:spcPts val="200"/>
              </a:spcBef>
              <a:spcAft>
                <a:spcPts val="0"/>
              </a:spcAft>
              <a:buNone/>
            </a:pPr>
            <a:r>
              <a:rPr lang="en-US" sz="1300" b="1" dirty="0" err="1">
                <a:solidFill>
                  <a:srgbClr val="333344"/>
                </a:solidFill>
                <a:latin typeface="Courier New"/>
                <a:ea typeface="Courier New"/>
                <a:cs typeface="Courier New"/>
                <a:sym typeface="Courier New"/>
              </a:rPr>
              <a:t>useEffect</a:t>
            </a:r>
            <a:endParaRPr sz="1300" b="1" dirty="0">
              <a:solidFill>
                <a:srgbClr val="333344"/>
              </a:solidFill>
              <a:latin typeface="Courier New"/>
              <a:ea typeface="Courier New"/>
              <a:cs typeface="Courier New"/>
              <a:sym typeface="Courier New"/>
            </a:endParaRPr>
          </a:p>
          <a:p>
            <a:pPr marL="0" lvl="0" indent="0" algn="l" rtl="0">
              <a:spcBef>
                <a:spcPts val="200"/>
              </a:spcBef>
              <a:spcAft>
                <a:spcPts val="0"/>
              </a:spcAft>
              <a:buNone/>
            </a:pPr>
            <a:r>
              <a:rPr lang="en-US" sz="1300" b="1" dirty="0">
                <a:solidFill>
                  <a:srgbClr val="333344"/>
                </a:solidFill>
                <a:latin typeface="Courier New"/>
                <a:ea typeface="Courier New"/>
                <a:cs typeface="Courier New"/>
                <a:sym typeface="Courier New"/>
              </a:rPr>
              <a:t>    }, []);</a:t>
            </a:r>
            <a:endParaRPr dirty="0">
              <a:solidFill>
                <a:schemeClr val="dk1"/>
              </a:solidFill>
            </a:endParaRPr>
          </a:p>
          <a:p>
            <a:pPr marL="0" lvl="0" indent="0" algn="l" rtl="0">
              <a:spcBef>
                <a:spcPts val="200"/>
              </a:spcBef>
              <a:spcAft>
                <a:spcPts val="0"/>
              </a:spcAft>
              <a:buNone/>
            </a:pPr>
            <a:r>
              <a:rPr lang="en-US" sz="1300" b="1" dirty="0">
                <a:solidFill>
                  <a:srgbClr val="333344"/>
                </a:solidFill>
                <a:latin typeface="Courier New"/>
                <a:ea typeface="Courier New"/>
                <a:cs typeface="Courier New"/>
                <a:sym typeface="Courier New"/>
              </a:rPr>
              <a:t>    if (loading) return &lt;p&gt;Loading...&lt;/p&gt;;</a:t>
            </a:r>
            <a:endParaRPr dirty="0">
              <a:solidFill>
                <a:schemeClr val="dk1"/>
              </a:solidFill>
            </a:endParaRPr>
          </a:p>
          <a:p>
            <a:pPr marL="0" lvl="0" indent="0" algn="l" rtl="0">
              <a:spcBef>
                <a:spcPts val="200"/>
              </a:spcBef>
              <a:spcAft>
                <a:spcPts val="0"/>
              </a:spcAft>
              <a:buNone/>
            </a:pPr>
            <a:r>
              <a:rPr lang="en-US" sz="1300" b="1" dirty="0">
                <a:solidFill>
                  <a:srgbClr val="333344"/>
                </a:solidFill>
                <a:latin typeface="Courier New"/>
                <a:ea typeface="Courier New"/>
                <a:cs typeface="Courier New"/>
                <a:sym typeface="Courier New"/>
              </a:rPr>
              <a:t>    if (error)   return &lt;p&gt;Failed: {error}&lt;/p&gt;;</a:t>
            </a:r>
            <a:endParaRPr dirty="0">
              <a:solidFill>
                <a:schemeClr val="dk1"/>
              </a:solidFill>
            </a:endParaRPr>
          </a:p>
          <a:p>
            <a:pPr marL="0" lvl="0" indent="0" algn="l" rtl="0">
              <a:spcBef>
                <a:spcPts val="200"/>
              </a:spcBef>
              <a:spcAft>
                <a:spcPts val="0"/>
              </a:spcAft>
              <a:buNone/>
            </a:pPr>
            <a:r>
              <a:rPr lang="en-US" sz="1300" b="1" dirty="0">
                <a:solidFill>
                  <a:srgbClr val="333344"/>
                </a:solidFill>
                <a:latin typeface="Courier New"/>
                <a:ea typeface="Courier New"/>
                <a:cs typeface="Courier New"/>
                <a:sym typeface="Courier New"/>
              </a:rPr>
              <a:t>    return &lt;ul&gt;{</a:t>
            </a:r>
            <a:r>
              <a:rPr lang="en-US" sz="1300" b="1" dirty="0" err="1">
                <a:solidFill>
                  <a:srgbClr val="333344"/>
                </a:solidFill>
                <a:latin typeface="Courier New"/>
                <a:ea typeface="Courier New"/>
                <a:cs typeface="Courier New"/>
                <a:sym typeface="Courier New"/>
              </a:rPr>
              <a:t>messages.map</a:t>
            </a:r>
            <a:r>
              <a:rPr lang="en-US" sz="1300" b="1" dirty="0">
                <a:solidFill>
                  <a:srgbClr val="333344"/>
                </a:solidFill>
                <a:latin typeface="Courier New"/>
                <a:ea typeface="Courier New"/>
                <a:cs typeface="Courier New"/>
                <a:sym typeface="Courier New"/>
              </a:rPr>
              <a:t>(m =&gt; (</a:t>
            </a:r>
            <a:endParaRPr dirty="0">
              <a:solidFill>
                <a:schemeClr val="dk1"/>
              </a:solidFill>
            </a:endParaRPr>
          </a:p>
          <a:p>
            <a:pPr marL="0" lvl="0" indent="0" algn="l" rtl="0">
              <a:spcBef>
                <a:spcPts val="200"/>
              </a:spcBef>
              <a:spcAft>
                <a:spcPts val="0"/>
              </a:spcAft>
              <a:buNone/>
            </a:pPr>
            <a:r>
              <a:rPr lang="en-US" sz="1300" b="1" dirty="0">
                <a:solidFill>
                  <a:srgbClr val="333344"/>
                </a:solidFill>
                <a:latin typeface="Courier New"/>
                <a:ea typeface="Courier New"/>
                <a:cs typeface="Courier New"/>
                <a:sym typeface="Courier New"/>
              </a:rPr>
              <a:t>        &lt;li key={</a:t>
            </a:r>
            <a:r>
              <a:rPr lang="en-US" sz="1300" b="1" dirty="0" err="1">
                <a:solidFill>
                  <a:srgbClr val="333344"/>
                </a:solidFill>
                <a:latin typeface="Courier New"/>
                <a:ea typeface="Courier New"/>
                <a:cs typeface="Courier New"/>
                <a:sym typeface="Courier New"/>
              </a:rPr>
              <a:t>m.id</a:t>
            </a:r>
            <a:r>
              <a:rPr lang="en-US" sz="1300" b="1" dirty="0">
                <a:solidFill>
                  <a:srgbClr val="333344"/>
                </a:solidFill>
                <a:latin typeface="Courier New"/>
                <a:ea typeface="Courier New"/>
                <a:cs typeface="Courier New"/>
                <a:sym typeface="Courier New"/>
              </a:rPr>
              <a:t>}&gt;&lt;b&gt;{</a:t>
            </a:r>
            <a:r>
              <a:rPr lang="en-US" sz="1300" b="1" dirty="0" err="1">
                <a:solidFill>
                  <a:srgbClr val="333344"/>
                </a:solidFill>
                <a:latin typeface="Courier New"/>
                <a:ea typeface="Courier New"/>
                <a:cs typeface="Courier New"/>
                <a:sym typeface="Courier New"/>
              </a:rPr>
              <a:t>m.author</a:t>
            </a:r>
            <a:r>
              <a:rPr lang="en-US" sz="1300" b="1" dirty="0">
                <a:solidFill>
                  <a:srgbClr val="333344"/>
                </a:solidFill>
                <a:latin typeface="Courier New"/>
                <a:ea typeface="Courier New"/>
                <a:cs typeface="Courier New"/>
                <a:sym typeface="Courier New"/>
              </a:rPr>
              <a:t>}:&lt;/b&gt; {</a:t>
            </a:r>
            <a:r>
              <a:rPr lang="en-US" sz="1300" b="1" dirty="0" err="1">
                <a:solidFill>
                  <a:srgbClr val="333344"/>
                </a:solidFill>
                <a:latin typeface="Courier New"/>
                <a:ea typeface="Courier New"/>
                <a:cs typeface="Courier New"/>
                <a:sym typeface="Courier New"/>
              </a:rPr>
              <a:t>m.text</a:t>
            </a:r>
            <a:r>
              <a:rPr lang="en-US" sz="1300" b="1" dirty="0">
                <a:solidFill>
                  <a:srgbClr val="333344"/>
                </a:solidFill>
                <a:latin typeface="Courier New"/>
                <a:ea typeface="Courier New"/>
                <a:cs typeface="Courier New"/>
                <a:sym typeface="Courier New"/>
              </a:rPr>
              <a:t>}&lt;/li&gt;</a:t>
            </a:r>
            <a:endParaRPr dirty="0">
              <a:solidFill>
                <a:schemeClr val="dk1"/>
              </a:solidFill>
            </a:endParaRPr>
          </a:p>
          <a:p>
            <a:pPr marL="0" lvl="0" indent="0" algn="l" rtl="0">
              <a:spcBef>
                <a:spcPts val="200"/>
              </a:spcBef>
              <a:spcAft>
                <a:spcPts val="0"/>
              </a:spcAft>
              <a:buClr>
                <a:schemeClr val="dk1"/>
              </a:buClr>
              <a:buFont typeface="Arial"/>
              <a:buNone/>
            </a:pPr>
            <a:r>
              <a:rPr lang="en-US" sz="1300" b="1" dirty="0">
                <a:solidFill>
                  <a:srgbClr val="333344"/>
                </a:solidFill>
                <a:latin typeface="Courier New"/>
                <a:ea typeface="Courier New"/>
                <a:cs typeface="Courier New"/>
                <a:sym typeface="Courier New"/>
              </a:rPr>
              <a:t>    ))}&lt;/ul&gt;;</a:t>
            </a:r>
            <a:endParaRPr sz="1300" b="1" dirty="0">
              <a:solidFill>
                <a:srgbClr val="333344"/>
              </a:solidFill>
              <a:latin typeface="Courier New"/>
              <a:ea typeface="Courier New"/>
              <a:cs typeface="Courier New"/>
              <a:sym typeface="Courier New"/>
            </a:endParaRPr>
          </a:p>
        </p:txBody>
      </p:sp>
      <p:sp>
        <p:nvSpPr>
          <p:cNvPr id="343" name="Google Shape;343;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1" name="Google Shape;351;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Walk through each answer. This is the EXACT same shape as the TodoList from earlier - the only things that change are the data shape and the rendered content. Once students see that the pattern generalizes, they can apply it to literally any endpoint in their final project without thinking much about it.</a:t>
            </a:r>
            <a:endParaRPr/>
          </a:p>
        </p:txBody>
      </p:sp>
      <p:sp>
        <p:nvSpPr>
          <p:cNvPr id="352" name="Google Shape;352;p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e10b4ab9cc_0_37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0" name="Google Shape;360;g3e10b4ab9cc_0_37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Pivot from the loading/error/data fetch (which fires once) to the next obvious question: what if the data on the server keeps changing? In a chat-style app, one user's post should show up in another user's browser without a refresh. The simplest way to get there is polling - and polling is the perfect motivator for the cleanup function in </a:t>
            </a:r>
            <a:r>
              <a:rPr lang="en-US" dirty="0" err="1"/>
              <a:t>useEffect</a:t>
            </a:r>
            <a:r>
              <a:rPr lang="en-US" dirty="0"/>
              <a:t>, since without cleanup it's a textbook resource leak.</a:t>
            </a:r>
            <a:endParaRPr dirty="0"/>
          </a:p>
        </p:txBody>
      </p:sp>
      <p:sp>
        <p:nvSpPr>
          <p:cNvPr id="361" name="Google Shape;361;g3e10b4ab9cc_0_37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e10b4ab9cc_0_38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6" name="Google Shape;366;g3e10b4ab9cc_0_38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Set up the use case in the BBS frame from A4. Students really feel the gap here - they've built a working /</a:t>
            </a:r>
            <a:r>
              <a:rPr lang="en-US" dirty="0" err="1"/>
              <a:t>api</a:t>
            </a:r>
            <a:r>
              <a:rPr lang="en-US" dirty="0"/>
              <a:t>/messages endpoint in A2, and a working frontend that lists messages in A4, and somehow the thing still feels janky because new messages don't appear. The fix is small, and it's the natural setup for cleanup functions a couple slides from now.</a:t>
            </a:r>
            <a:endParaRPr dirty="0"/>
          </a:p>
        </p:txBody>
      </p:sp>
      <p:sp>
        <p:nvSpPr>
          <p:cNvPr id="367" name="Google Shape;367;g3e10b4ab9cc_0_38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e10b4ab9cc_0_38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3" name="Google Shape;373;g3e10b4ab9cc_0_38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Set up the use case in the BBS frame from A4. Students really feel the gap here - they've built a working /</a:t>
            </a:r>
            <a:r>
              <a:rPr lang="en-US" dirty="0" err="1"/>
              <a:t>api</a:t>
            </a:r>
            <a:r>
              <a:rPr lang="en-US" dirty="0"/>
              <a:t>/messages endpoint in A2, and a working frontend that lists messages in A4, and somehow the thing still feels janky because new messages don't appear. The fix is small, and it's the natural setup for cleanup functions a couple slides from now.</a:t>
            </a:r>
            <a:endParaRPr dirty="0"/>
          </a:p>
        </p:txBody>
      </p:sp>
      <p:sp>
        <p:nvSpPr>
          <p:cNvPr id="374" name="Google Shape;374;g3e10b4ab9cc_0_38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e10b4ab9cc_0_39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0" name="Google Shape;380;g3e10b4ab9cc_0_39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Walk through the happy path first: </a:t>
            </a:r>
            <a:r>
              <a:rPr lang="en-US" dirty="0" err="1"/>
              <a:t>setInterval</a:t>
            </a:r>
            <a:r>
              <a:rPr lang="en-US" dirty="0"/>
              <a:t> fires load() every 2 seconds, load() calls </a:t>
            </a:r>
            <a:r>
              <a:rPr lang="en-US" dirty="0" err="1"/>
              <a:t>setMessages</a:t>
            </a:r>
            <a:r>
              <a:rPr lang="en-US" dirty="0"/>
              <a:t>, that triggers a re-render, the new posts show up. That part actually works and it's worth pausing on - this is the whole feature in five lines. Then turn to the bug. The interval is a number tracked by the JS event loop, not by React, so unmounting the component doesn't stop it. The interval keeps firing, hits a stale </a:t>
            </a:r>
            <a:r>
              <a:rPr lang="en-US" dirty="0" err="1"/>
              <a:t>setMessages</a:t>
            </a:r>
            <a:r>
              <a:rPr lang="en-US" dirty="0"/>
              <a:t>, and React grumbles. In dev it's a warning, in production it's a slow leak that gets worse the more the user navigates around. The fix is the cleanup function on the next slide.</a:t>
            </a:r>
            <a:endParaRPr dirty="0"/>
          </a:p>
        </p:txBody>
      </p:sp>
      <p:sp>
        <p:nvSpPr>
          <p:cNvPr id="381" name="Google Shape;381;g3e10b4ab9cc_0_39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e10b4ab9cc_0_40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9" name="Google Shape;389;g3e10b4ab9cc_0_40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Cleanup is the second-most-important thing about </a:t>
            </a:r>
            <a:r>
              <a:rPr lang="en-US" dirty="0" err="1"/>
              <a:t>useEffect</a:t>
            </a:r>
            <a:r>
              <a:rPr lang="en-US" dirty="0"/>
              <a:t> after the deps array, and it's the part students skip until something breaks. The mental model that sticks: the effect is a setup phase, the returned function is the matching teardown, and the pair has to balance. If the effect doesn't start anything external (e.g. it's just a fetch with no timer or subscription), no cleanup is needed. If it starts a timer / listener / socket - always cleanup. The pattern carries over to literally every real React app they'll ever touch.</a:t>
            </a:r>
            <a:endParaRPr dirty="0"/>
          </a:p>
        </p:txBody>
      </p:sp>
      <p:sp>
        <p:nvSpPr>
          <p:cNvPr id="390" name="Google Shape;390;g3e10b4ab9cc_0_40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e10b4ab9cc_0_40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6" name="Google Shape;396;g3e10b4ab9cc_0_40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en-US" dirty="0"/>
              <a:t>Analogue to memory management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Cleanup is the second-most-important thing about </a:t>
            </a:r>
            <a:r>
              <a:rPr lang="en-US" dirty="0" err="1"/>
              <a:t>useEffect</a:t>
            </a:r>
            <a:r>
              <a:rPr lang="en-US" dirty="0"/>
              <a:t> after the deps array, and it's the part students skip until something breaks. The mental model that sticks: the effect is a setup phase, the returned function is the matching teardown, and the pair has to balance. If the effect doesn't start anything external (e.g. it's just a fetch with no timer or subscription), no cleanup is needed. If it starts a timer / listener / socket - always cleanup. The pattern carries over to literally every real React app they'll ever touch.</a:t>
            </a:r>
            <a:endParaRPr dirty="0"/>
          </a:p>
        </p:txBody>
      </p:sp>
      <p:sp>
        <p:nvSpPr>
          <p:cNvPr id="397" name="Google Shape;397;g3e10b4ab9cc_0_40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e10b4ab9cc_0_5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3" name="Google Shape;403;g3e10b4ab9cc_0_5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One line different from the broken version. The interval lives</a:t>
            </a:r>
            <a:endParaRPr dirty="0"/>
          </a:p>
          <a:p>
            <a:pPr marL="0" lvl="0" indent="0" algn="l" rtl="0">
              <a:spcBef>
                <a:spcPts val="0"/>
              </a:spcBef>
              <a:spcAft>
                <a:spcPts val="0"/>
              </a:spcAft>
              <a:buNone/>
            </a:pPr>
            <a:r>
              <a:rPr lang="en-US" dirty="0"/>
              <a:t>// exactly as long as the component does - React calls the cleanup</a:t>
            </a:r>
            <a:endParaRPr dirty="0"/>
          </a:p>
          <a:p>
            <a:pPr marL="0" lvl="0" indent="0" algn="l" rtl="0">
              <a:spcBef>
                <a:spcPts val="0"/>
              </a:spcBef>
              <a:spcAft>
                <a:spcPts val="0"/>
              </a:spcAft>
              <a:buNone/>
            </a:pPr>
            <a:r>
              <a:rPr lang="en-US" dirty="0"/>
              <a:t>// when the component unmounts, and the interval is cleared. No more</a:t>
            </a:r>
            <a:endParaRPr dirty="0"/>
          </a:p>
          <a:p>
            <a:pPr marL="0" lvl="0" indent="0" algn="l" rtl="0">
              <a:spcBef>
                <a:spcPts val="0"/>
              </a:spcBef>
              <a:spcAft>
                <a:spcPts val="0"/>
              </a:spcAft>
              <a:buNone/>
            </a:pPr>
            <a:r>
              <a:rPr lang="en-US" dirty="0"/>
              <a:t>// orphan timers, no more </a:t>
            </a:r>
            <a:r>
              <a:rPr lang="en-US" dirty="0" err="1"/>
              <a:t>setState</a:t>
            </a:r>
            <a:r>
              <a:rPr lang="en-US" dirty="0"/>
              <a:t>-on-unmounted warnings.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The cure is to capture the interval id and return a function that clears it, which is two added characters and a one-line return. Make the diff visible, because a leak and a clean component are separated by literally one line here. Mention briefly that this same shape (setup at the top of the effect, teardown in the return) is how you'd wire up a WebSocket (`new WebSocket` at the top, `.close()` in the return), or a window resize listener (`</a:t>
            </a:r>
            <a:r>
              <a:rPr lang="en-US" dirty="0" err="1"/>
              <a:t>addEventListener</a:t>
            </a:r>
            <a:r>
              <a:rPr lang="en-US" dirty="0"/>
              <a:t>` at the top, `</a:t>
            </a:r>
            <a:r>
              <a:rPr lang="en-US" dirty="0" err="1"/>
              <a:t>removeEventListener</a:t>
            </a:r>
            <a:r>
              <a:rPr lang="en-US" dirty="0"/>
              <a:t>` in the return). Students who hold this pattern stop having to memorize new APIs.</a:t>
            </a:r>
            <a:endParaRPr dirty="0"/>
          </a:p>
        </p:txBody>
      </p:sp>
      <p:sp>
        <p:nvSpPr>
          <p:cNvPr id="404" name="Google Shape;404;g3e10b4ab9cc_0_5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e10b4ab9cc_0_4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2" name="Google Shape;412;g3e10b4ab9cc_0_4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One line different from the broken version. The interval lives</a:t>
            </a:r>
            <a:endParaRPr dirty="0"/>
          </a:p>
          <a:p>
            <a:pPr marL="0" lvl="0" indent="0" algn="l" rtl="0">
              <a:spcBef>
                <a:spcPts val="0"/>
              </a:spcBef>
              <a:spcAft>
                <a:spcPts val="0"/>
              </a:spcAft>
              <a:buNone/>
            </a:pPr>
            <a:r>
              <a:rPr lang="en-US" dirty="0"/>
              <a:t>// exactly as long as the component does - React calls the cleanup</a:t>
            </a:r>
            <a:endParaRPr dirty="0"/>
          </a:p>
          <a:p>
            <a:pPr marL="0" lvl="0" indent="0" algn="l" rtl="0">
              <a:spcBef>
                <a:spcPts val="0"/>
              </a:spcBef>
              <a:spcAft>
                <a:spcPts val="0"/>
              </a:spcAft>
              <a:buNone/>
            </a:pPr>
            <a:r>
              <a:rPr lang="en-US" dirty="0"/>
              <a:t>// when the component unmounts, and the interval is cleared. No more</a:t>
            </a:r>
            <a:endParaRPr dirty="0"/>
          </a:p>
          <a:p>
            <a:pPr marL="0" lvl="0" indent="0" algn="l" rtl="0">
              <a:spcBef>
                <a:spcPts val="0"/>
              </a:spcBef>
              <a:spcAft>
                <a:spcPts val="0"/>
              </a:spcAft>
              <a:buNone/>
            </a:pPr>
            <a:r>
              <a:rPr lang="en-US" dirty="0"/>
              <a:t>// orphan timers, no more </a:t>
            </a:r>
            <a:r>
              <a:rPr lang="en-US" dirty="0" err="1"/>
              <a:t>setState</a:t>
            </a:r>
            <a:r>
              <a:rPr lang="en-US" dirty="0"/>
              <a:t>-on-unmounted warnings.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The cure is to capture the interval id and return a function that clears it, which is two added characters and a one-line return. Make the diff visible, because a leak and a clean component are separated by literally one line here. Mention briefly that this same shape (setup at the top of the effect, teardown in the return) is how you'd wire up a WebSocket (`new WebSocket` at the top, `.close()` in the return), or a window resize listener (`</a:t>
            </a:r>
            <a:r>
              <a:rPr lang="en-US" dirty="0" err="1"/>
              <a:t>addEventListener</a:t>
            </a:r>
            <a:r>
              <a:rPr lang="en-US" dirty="0"/>
              <a:t>` at the top, `</a:t>
            </a:r>
            <a:r>
              <a:rPr lang="en-US" dirty="0" err="1"/>
              <a:t>removeEventListener</a:t>
            </a:r>
            <a:r>
              <a:rPr lang="en-US" dirty="0"/>
              <a:t>` in the return). Students who hold this pattern stop having to memorize new APIs.</a:t>
            </a:r>
            <a:endParaRPr dirty="0"/>
          </a:p>
        </p:txBody>
      </p:sp>
      <p:sp>
        <p:nvSpPr>
          <p:cNvPr id="413" name="Google Shape;413;g3e10b4ab9cc_0_4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e10b4ab9cc_0_5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1" name="Google Shape;421;g3e10b4ab9cc_0_5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honest tradeoff. Polling is the right call for the A4 frontend because it requires zero changes to their A2 API - the endpoint they already have just gets hit every couple seconds, done. SSE and </a:t>
            </a:r>
            <a:r>
              <a:rPr lang="en-US" dirty="0" err="1"/>
              <a:t>WebSockets</a:t>
            </a:r>
            <a:r>
              <a:rPr lang="en-US" dirty="0"/>
              <a:t> are the names they need to have heard so they don't think polling is the only option in the world, but I'm explicitly not teaching either today. If someone wants to do pushes for the final project that's fine, but it's a meaningful step up in server complexity and I'd push them to nail polling first. The closing line matters: polling is the right starting point and most apps ship with polling for a long time before they outgrow it.</a:t>
            </a:r>
            <a:endParaRPr dirty="0"/>
          </a:p>
        </p:txBody>
      </p:sp>
      <p:sp>
        <p:nvSpPr>
          <p:cNvPr id="422" name="Google Shape;422;g3e10b4ab9cc_0_5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e10b4ab9cc_0_4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8" name="Google Shape;428;g3e10b4ab9cc_0_4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honest tradeoff. Polling is the right call for the A4 frontend because it requires zero changes to their A2 API - the endpoint they already have just gets hit every couple seconds, done. SSE and </a:t>
            </a:r>
            <a:r>
              <a:rPr lang="en-US" dirty="0" err="1"/>
              <a:t>WebSockets</a:t>
            </a:r>
            <a:r>
              <a:rPr lang="en-US" dirty="0"/>
              <a:t> are the names they need to have heard so they don't think polling is the only option in the world, but I'm explicitly not teaching either today. If someone wants to do pushes for the final project that's fine, but it's a meaningful step up in server complexity and I'd push them to nail polling first. The closing line matters: polling is the right starting point and most apps ship with polling for a long time before they outgrow it.</a:t>
            </a:r>
            <a:endParaRPr dirty="0"/>
          </a:p>
        </p:txBody>
      </p:sp>
      <p:sp>
        <p:nvSpPr>
          <p:cNvPr id="429" name="Google Shape;429;g3e10b4ab9cc_0_4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5" name="Google Shape;435;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Recap of the three things from the lecture, then the forward reference. 7.2 is the final project kickoff plus cloud deployment intro, so students should leave 7.1 feeling like React is basically unlocked and they can start brainstorming project ideas on the walk home.</a:t>
            </a:r>
            <a:endParaRPr dirty="0"/>
          </a:p>
        </p:txBody>
      </p:sp>
      <p:sp>
        <p:nvSpPr>
          <p:cNvPr id="436" name="Google Shape;436;p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9"/>
          <p:cNvSpPr>
            <a:spLocks noGrp="1"/>
          </p:cNvSpPr>
          <p:nvPr>
            <p:ph type="pic" idx="2"/>
          </p:nvPr>
        </p:nvSpPr>
        <p:spPr>
          <a:xfrm>
            <a:off x="1792288" y="612775"/>
            <a:ext cx="5486400" cy="4114800"/>
          </a:xfrm>
          <a:prstGeom prst="rect">
            <a:avLst/>
          </a:prstGeom>
          <a:noFill/>
          <a:ln>
            <a:noFill/>
          </a:ln>
        </p:spPr>
      </p:sp>
      <p:sp>
        <p:nvSpPr>
          <p:cNvPr id="64" name="Google Shape;64;p3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
        <p:cNvGrpSpPr/>
        <p:nvPr/>
      </p:nvGrpSpPr>
      <p:grpSpPr>
        <a:xfrm>
          <a:off x="0" y="0"/>
          <a:ext cx="0" cy="0"/>
          <a:chOff x="0" y="0"/>
          <a:chExt cx="0" cy="0"/>
        </a:xfrm>
      </p:grpSpPr>
      <p:sp>
        <p:nvSpPr>
          <p:cNvPr id="85" name="Google Shape;85;p1"/>
          <p:cNvSpPr/>
          <p:nvPr/>
        </p:nvSpPr>
        <p:spPr>
          <a:xfrm>
            <a:off x="0" y="0"/>
            <a:ext cx="12191695" cy="137160"/>
          </a:xfrm>
          <a:prstGeom prst="rect">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
          <p:cNvSpPr txBox="1"/>
          <p:nvPr/>
        </p:nvSpPr>
        <p:spPr>
          <a:xfrm>
            <a:off x="914400" y="1645920"/>
            <a:ext cx="10362895"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5B21B6"/>
                </a:solidFill>
                <a:latin typeface="Calibri"/>
                <a:ea typeface="Calibri"/>
                <a:cs typeface="Calibri"/>
                <a:sym typeface="Calibri"/>
              </a:rPr>
              <a:t>Lecture 7.1</a:t>
            </a:r>
            <a:endParaRPr/>
          </a:p>
        </p:txBody>
      </p:sp>
      <p:sp>
        <p:nvSpPr>
          <p:cNvPr id="87" name="Google Shape;87;p1"/>
          <p:cNvSpPr txBox="1"/>
          <p:nvPr/>
        </p:nvSpPr>
        <p:spPr>
          <a:xfrm>
            <a:off x="914400" y="2468880"/>
            <a:ext cx="10362895" cy="182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i="0" u="none" strike="noStrike" cap="none">
                <a:solidFill>
                  <a:srgbClr val="1A1A2E"/>
                </a:solidFill>
                <a:latin typeface="Calibri"/>
                <a:ea typeface="Calibri"/>
                <a:cs typeface="Calibri"/>
                <a:sym typeface="Calibri"/>
              </a:rPr>
              <a:t>React State and Effects</a:t>
            </a:r>
            <a:endParaRPr/>
          </a:p>
        </p:txBody>
      </p:sp>
      <p:sp>
        <p:nvSpPr>
          <p:cNvPr id="88" name="Google Shape;88;p1"/>
          <p:cNvSpPr txBox="1"/>
          <p:nvPr/>
        </p:nvSpPr>
        <p:spPr>
          <a:xfrm>
            <a:off x="914400" y="4754880"/>
            <a:ext cx="1036289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Andy Aymeloglu - UATX Software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
        <p:cNvGrpSpPr/>
        <p:nvPr/>
      </p:nvGrpSpPr>
      <p:grpSpPr>
        <a:xfrm>
          <a:off x="0" y="0"/>
          <a:ext cx="0" cy="0"/>
          <a:chOff x="0" y="0"/>
          <a:chExt cx="0" cy="0"/>
        </a:xfrm>
      </p:grpSpPr>
      <p:sp>
        <p:nvSpPr>
          <p:cNvPr id="94" name="Google Shape;94;p4"/>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To recap</a:t>
            </a:r>
            <a:r>
              <a:rPr lang="en-US" sz="3200" b="1" i="0" u="none" strike="noStrike" cap="none">
                <a:solidFill>
                  <a:srgbClr val="1A1A2E"/>
                </a:solidFill>
                <a:latin typeface="Calibri"/>
                <a:ea typeface="Calibri"/>
                <a:cs typeface="Calibri"/>
                <a:sym typeface="Calibri"/>
              </a:rPr>
              <a:t>: click + three times. What renders?</a:t>
            </a:r>
            <a:endParaRPr/>
          </a:p>
        </p:txBody>
      </p:sp>
      <p:sp>
        <p:nvSpPr>
          <p:cNvPr id="95" name="Google Shape;95;p4"/>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TypeScript</a:t>
            </a:r>
            <a:endParaRPr/>
          </a:p>
        </p:txBody>
      </p:sp>
      <p:sp>
        <p:nvSpPr>
          <p:cNvPr id="96" name="Google Shape;96;p4"/>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p4"/>
          <p:cNvSpPr txBox="1"/>
          <p:nvPr/>
        </p:nvSpPr>
        <p:spPr>
          <a:xfrm>
            <a:off x="1005840" y="1645920"/>
            <a:ext cx="10179900" cy="3781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333344"/>
                </a:solidFill>
                <a:latin typeface="Courier New"/>
                <a:ea typeface="Courier New"/>
                <a:cs typeface="Courier New"/>
                <a:sym typeface="Courier New"/>
              </a:rPr>
              <a:t>function Counter() {</a:t>
            </a:r>
            <a:endParaRPr sz="1900"/>
          </a:p>
          <a:p>
            <a:pPr marL="0" marR="0" lvl="0" indent="0" algn="l" rtl="0">
              <a:spcBef>
                <a:spcPts val="200"/>
              </a:spcBef>
              <a:spcAft>
                <a:spcPts val="0"/>
              </a:spcAft>
              <a:buNone/>
            </a:pPr>
            <a:r>
              <a:rPr lang="en-US" sz="2000" b="1" i="0" u="none" strike="noStrike" cap="none">
                <a:solidFill>
                  <a:srgbClr val="333344"/>
                </a:solidFill>
                <a:latin typeface="Courier New"/>
                <a:ea typeface="Courier New"/>
                <a:cs typeface="Courier New"/>
                <a:sym typeface="Courier New"/>
              </a:rPr>
              <a:t>    let count = 0;</a:t>
            </a:r>
            <a:endParaRPr sz="1900"/>
          </a:p>
          <a:p>
            <a:pPr marL="0" marR="0" lvl="0" indent="0" algn="l" rtl="0">
              <a:spcBef>
                <a:spcPts val="200"/>
              </a:spcBef>
              <a:spcAft>
                <a:spcPts val="0"/>
              </a:spcAft>
              <a:buNone/>
            </a:pPr>
            <a:endParaRPr sz="20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2000" b="1" i="0" u="none" strike="noStrike" cap="none">
                <a:solidFill>
                  <a:srgbClr val="333344"/>
                </a:solidFill>
                <a:latin typeface="Courier New"/>
                <a:ea typeface="Courier New"/>
                <a:cs typeface="Courier New"/>
                <a:sym typeface="Courier New"/>
              </a:rPr>
              <a:t>    return (</a:t>
            </a:r>
            <a:endParaRPr sz="1900"/>
          </a:p>
          <a:p>
            <a:pPr marL="0" marR="0" lvl="0" indent="0" algn="l" rtl="0">
              <a:spcBef>
                <a:spcPts val="200"/>
              </a:spcBef>
              <a:spcAft>
                <a:spcPts val="0"/>
              </a:spcAft>
              <a:buNone/>
            </a:pPr>
            <a:r>
              <a:rPr lang="en-US" sz="2000" b="1" i="0" u="none" strike="noStrike" cap="none">
                <a:solidFill>
                  <a:srgbClr val="333344"/>
                </a:solidFill>
                <a:latin typeface="Courier New"/>
                <a:ea typeface="Courier New"/>
                <a:cs typeface="Courier New"/>
                <a:sym typeface="Courier New"/>
              </a:rPr>
              <a:t>        &lt;div&gt;</a:t>
            </a:r>
            <a:endParaRPr sz="1900"/>
          </a:p>
          <a:p>
            <a:pPr marL="0" marR="0" lvl="0" indent="0" algn="l" rtl="0">
              <a:spcBef>
                <a:spcPts val="200"/>
              </a:spcBef>
              <a:spcAft>
                <a:spcPts val="0"/>
              </a:spcAft>
              <a:buNone/>
            </a:pPr>
            <a:r>
              <a:rPr lang="en-US" sz="2000" b="1" i="0" u="none" strike="noStrike" cap="none">
                <a:solidFill>
                  <a:srgbClr val="333344"/>
                </a:solidFill>
                <a:latin typeface="Courier New"/>
                <a:ea typeface="Courier New"/>
                <a:cs typeface="Courier New"/>
                <a:sym typeface="Courier New"/>
              </a:rPr>
              <a:t>            &lt;p&gt;Count: {count}&lt;/p&gt;</a:t>
            </a:r>
            <a:endParaRPr sz="1900"/>
          </a:p>
          <a:p>
            <a:pPr marL="0" marR="0" lvl="0" indent="0" algn="l" rtl="0">
              <a:spcBef>
                <a:spcPts val="200"/>
              </a:spcBef>
              <a:spcAft>
                <a:spcPts val="0"/>
              </a:spcAft>
              <a:buNone/>
            </a:pPr>
            <a:r>
              <a:rPr lang="en-US" sz="2000" b="1" i="0" u="none" strike="noStrike" cap="none">
                <a:solidFill>
                  <a:srgbClr val="333344"/>
                </a:solidFill>
                <a:latin typeface="Courier New"/>
                <a:ea typeface="Courier New"/>
                <a:cs typeface="Courier New"/>
                <a:sym typeface="Courier New"/>
              </a:rPr>
              <a:t>            &lt;button onClick={() =&gt; count = count + 1}&gt;+&lt;/button&gt;</a:t>
            </a:r>
            <a:endParaRPr sz="1900"/>
          </a:p>
          <a:p>
            <a:pPr marL="0" marR="0" lvl="0" indent="0" algn="l" rtl="0">
              <a:spcBef>
                <a:spcPts val="200"/>
              </a:spcBef>
              <a:spcAft>
                <a:spcPts val="0"/>
              </a:spcAft>
              <a:buNone/>
            </a:pPr>
            <a:r>
              <a:rPr lang="en-US" sz="2000" b="1" i="0" u="none" strike="noStrike" cap="none">
                <a:solidFill>
                  <a:srgbClr val="333344"/>
                </a:solidFill>
                <a:latin typeface="Courier New"/>
                <a:ea typeface="Courier New"/>
                <a:cs typeface="Courier New"/>
                <a:sym typeface="Courier New"/>
              </a:rPr>
              <a:t>        &lt;/div&gt;</a:t>
            </a:r>
            <a:endParaRPr sz="1900"/>
          </a:p>
          <a:p>
            <a:pPr marL="0" marR="0" lvl="0" indent="0" algn="l" rtl="0">
              <a:spcBef>
                <a:spcPts val="200"/>
              </a:spcBef>
              <a:spcAft>
                <a:spcPts val="0"/>
              </a:spcAft>
              <a:buNone/>
            </a:pPr>
            <a:r>
              <a:rPr lang="en-US" sz="2000" b="1" i="0" u="none" strike="noStrike" cap="none">
                <a:solidFill>
                  <a:srgbClr val="333344"/>
                </a:solidFill>
                <a:latin typeface="Courier New"/>
                <a:ea typeface="Courier New"/>
                <a:cs typeface="Courier New"/>
                <a:sym typeface="Courier New"/>
              </a:rPr>
              <a:t>    );</a:t>
            </a:r>
            <a:endParaRPr sz="1900"/>
          </a:p>
          <a:p>
            <a:pPr marL="0" marR="0" lvl="0" indent="0" algn="l" rtl="0">
              <a:spcBef>
                <a:spcPts val="200"/>
              </a:spcBef>
              <a:spcAft>
                <a:spcPts val="0"/>
              </a:spcAft>
              <a:buNone/>
            </a:pPr>
            <a:r>
              <a:rPr lang="en-US" sz="2000" b="1" i="0" u="none" strike="noStrike" cap="none">
                <a:solidFill>
                  <a:srgbClr val="333344"/>
                </a:solidFill>
                <a:latin typeface="Courier New"/>
                <a:ea typeface="Courier New"/>
                <a:cs typeface="Courier New"/>
                <a:sym typeface="Courier New"/>
              </a:rPr>
              <a:t>}</a:t>
            </a:r>
            <a:endParaRPr sz="1900"/>
          </a:p>
          <a:p>
            <a:pPr marL="0" marR="0" lvl="0" indent="0" algn="l" rtl="0">
              <a:spcBef>
                <a:spcPts val="200"/>
              </a:spcBef>
              <a:spcAft>
                <a:spcPts val="0"/>
              </a:spcAft>
              <a:buNone/>
            </a:pPr>
            <a:endParaRPr sz="2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102"/>
        <p:cNvGrpSpPr/>
        <p:nvPr/>
      </p:nvGrpSpPr>
      <p:grpSpPr>
        <a:xfrm>
          <a:off x="0" y="0"/>
          <a:ext cx="0" cy="0"/>
          <a:chOff x="0" y="0"/>
          <a:chExt cx="0" cy="0"/>
        </a:xfrm>
      </p:grpSpPr>
      <p:sp>
        <p:nvSpPr>
          <p:cNvPr id="103" name="Google Shape;103;g3e10b4ab9cc_0_0"/>
          <p:cNvSpPr txBox="1"/>
          <p:nvPr/>
        </p:nvSpPr>
        <p:spPr>
          <a:xfrm>
            <a:off x="914400" y="2286000"/>
            <a:ext cx="10362900" cy="76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useState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8"/>
        <p:cNvGrpSpPr/>
        <p:nvPr/>
      </p:nvGrpSpPr>
      <p:grpSpPr>
        <a:xfrm>
          <a:off x="0" y="0"/>
          <a:ext cx="0" cy="0"/>
          <a:chOff x="0" y="0"/>
          <a:chExt cx="0" cy="0"/>
        </a:xfrm>
      </p:grpSpPr>
      <p:sp>
        <p:nvSpPr>
          <p:cNvPr id="109" name="Google Shape;109;g3e10b4ab9cc_0_5"/>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useState: memory between renders</a:t>
            </a:r>
            <a:endParaRPr/>
          </a:p>
        </p:txBody>
      </p:sp>
      <p:sp>
        <p:nvSpPr>
          <p:cNvPr id="110" name="Google Shape;110;g3e10b4ab9cc_0_5"/>
          <p:cNvSpPr txBox="1"/>
          <p:nvPr/>
        </p:nvSpPr>
        <p:spPr>
          <a:xfrm>
            <a:off x="914388" y="1513040"/>
            <a:ext cx="10362900" cy="4340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`useState` is React's way of giving a component </a:t>
            </a:r>
            <a:r>
              <a:rPr lang="en-US" sz="2400" b="1" i="0" u="none" strike="noStrike" cap="none">
                <a:solidFill>
                  <a:srgbClr val="333344"/>
                </a:solidFill>
                <a:latin typeface="Calibri"/>
                <a:ea typeface="Calibri"/>
                <a:cs typeface="Calibri"/>
                <a:sym typeface="Calibri"/>
              </a:rPr>
              <a:t>memory</a:t>
            </a:r>
            <a:r>
              <a:rPr lang="en-US" sz="2400" b="0" i="0" u="none" strike="noStrike" cap="none">
                <a:solidFill>
                  <a:srgbClr val="333344"/>
                </a:solidFill>
                <a:latin typeface="Calibri"/>
                <a:ea typeface="Calibri"/>
                <a:cs typeface="Calibri"/>
                <a:sym typeface="Calibri"/>
              </a:rPr>
              <a:t>.</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const [count, setCount] = useState(0);</a:t>
            </a:r>
            <a:endParaRPr b="1">
              <a:latin typeface="Courier Prime"/>
              <a:ea typeface="Courier Prime"/>
              <a:cs typeface="Courier Prime"/>
              <a:sym typeface="Courier Prime"/>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Call it inside your component, get back two things: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count</a:t>
            </a:r>
            <a:r>
              <a:rPr lang="en-US" sz="2000" b="0" i="0" u="none" strike="noStrike" cap="none">
                <a:solidFill>
                  <a:srgbClr val="666677"/>
                </a:solidFill>
                <a:latin typeface="Calibri"/>
                <a:ea typeface="Calibri"/>
                <a:cs typeface="Calibri"/>
                <a:sym typeface="Calibri"/>
              </a:rPr>
              <a:t>` - the current value right now</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setCount(newValue)</a:t>
            </a:r>
            <a:r>
              <a:rPr lang="en-US" sz="2000" b="0" i="0" u="none" strike="noStrike" cap="none">
                <a:solidFill>
                  <a:srgbClr val="666677"/>
                </a:solidFill>
                <a:latin typeface="Calibri"/>
                <a:ea typeface="Calibri"/>
                <a:cs typeface="Calibri"/>
                <a:sym typeface="Calibri"/>
              </a:rPr>
              <a:t>` - tells React to store a new value AND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re-run the component function so it sees the update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`0` argument is the </a:t>
            </a:r>
            <a:r>
              <a:rPr lang="en-US" sz="2400" b="1" i="0" u="none" strike="noStrike" cap="none">
                <a:solidFill>
                  <a:srgbClr val="333344"/>
                </a:solidFill>
                <a:latin typeface="Calibri"/>
                <a:ea typeface="Calibri"/>
                <a:cs typeface="Calibri"/>
                <a:sym typeface="Calibri"/>
              </a:rPr>
              <a:t>initial value</a:t>
            </a:r>
            <a:r>
              <a:rPr lang="en-US" sz="2400" b="0" i="0" u="none" strike="noStrike" cap="none">
                <a:solidFill>
                  <a:srgbClr val="333344"/>
                </a:solidFill>
                <a:latin typeface="Calibri"/>
                <a:ea typeface="Calibri"/>
                <a:cs typeface="Calibri"/>
                <a:sym typeface="Calibri"/>
              </a:rPr>
              <a:t> - </a:t>
            </a:r>
            <a:r>
              <a:rPr lang="en-US" sz="2400">
                <a:solidFill>
                  <a:srgbClr val="333344"/>
                </a:solidFill>
                <a:latin typeface="Calibri"/>
                <a:ea typeface="Calibri"/>
                <a:cs typeface="Calibri"/>
                <a:sym typeface="Calibri"/>
              </a:rPr>
              <a:t>starting state for the very first render</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5"/>
        <p:cNvGrpSpPr/>
        <p:nvPr/>
      </p:nvGrpSpPr>
      <p:grpSpPr>
        <a:xfrm>
          <a:off x="0" y="0"/>
          <a:ext cx="0" cy="0"/>
          <a:chOff x="0" y="0"/>
          <a:chExt cx="0" cy="0"/>
        </a:xfrm>
      </p:grpSpPr>
      <p:sp>
        <p:nvSpPr>
          <p:cNvPr id="116" name="Google Shape;116;g3e10b4ab9cc_0_114"/>
          <p:cNvSpPr txBox="1"/>
          <p:nvPr/>
        </p:nvSpPr>
        <p:spPr>
          <a:xfrm>
            <a:off x="731520" y="274320"/>
            <a:ext cx="10728600" cy="800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FFFFFF"/>
                </a:solidFill>
                <a:latin typeface="Calibri"/>
                <a:ea typeface="Calibri"/>
                <a:cs typeface="Calibri"/>
                <a:sym typeface="Calibri"/>
              </a:rPr>
              <a:t>TRY IT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Make it work - fill in the blanks</a:t>
            </a:r>
            <a:endParaRPr/>
          </a:p>
        </p:txBody>
      </p:sp>
      <p:sp>
        <p:nvSpPr>
          <p:cNvPr id="117" name="Google Shape;117;g3e10b4ab9cc_0_114"/>
          <p:cNvSpPr/>
          <p:nvPr/>
        </p:nvSpPr>
        <p:spPr>
          <a:xfrm>
            <a:off x="640080" y="228600"/>
            <a:ext cx="1097400" cy="365700"/>
          </a:xfrm>
          <a:prstGeom prst="roundRect">
            <a:avLst>
              <a:gd name="adj" fmla="val 16667"/>
            </a:avLst>
          </a:prstGeom>
          <a:solidFill>
            <a:srgbClr val="5B21B6"/>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8" name="Google Shape;118;g3e10b4ab9cc_0_114"/>
          <p:cNvSpPr/>
          <p:nvPr/>
        </p:nvSpPr>
        <p:spPr>
          <a:xfrm>
            <a:off x="731520" y="1371600"/>
            <a:ext cx="10728600"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9" name="Google Shape;119;g3e10b4ab9cc_0_114"/>
          <p:cNvSpPr txBox="1"/>
          <p:nvPr/>
        </p:nvSpPr>
        <p:spPr>
          <a:xfrm>
            <a:off x="1005840" y="1554480"/>
            <a:ext cx="10179900" cy="369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B0B0C0"/>
                </a:solidFill>
                <a:latin typeface="Courier New"/>
                <a:ea typeface="Courier New"/>
                <a:cs typeface="Courier New"/>
                <a:sym typeface="Courier New"/>
              </a:rPr>
              <a:t>import { ________ } from "react";</a:t>
            </a:r>
            <a:endParaRPr/>
          </a:p>
          <a:p>
            <a:pPr marL="0" marR="0" lvl="0" indent="0" algn="l" rtl="0">
              <a:spcBef>
                <a:spcPts val="200"/>
              </a:spcBef>
              <a:spcAft>
                <a:spcPts val="0"/>
              </a:spcAft>
              <a:buNone/>
            </a:pPr>
            <a:endParaRPr sz="18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function Counter() {</a:t>
            </a:r>
            <a:endParaRPr/>
          </a:p>
          <a:p>
            <a:pPr marL="0" marR="0" lvl="0" indent="0" algn="l" rtl="0">
              <a:spcBef>
                <a:spcPts val="200"/>
              </a:spcBef>
              <a:spcAft>
                <a:spcPts val="0"/>
              </a:spcAft>
              <a:buNone/>
            </a:pPr>
            <a:r>
              <a:rPr lang="en-US" sz="1800" b="1">
                <a:solidFill>
                  <a:srgbClr val="B0B0C0"/>
                </a:solidFill>
                <a:latin typeface="Courier New"/>
                <a:ea typeface="Courier New"/>
                <a:cs typeface="Courier New"/>
                <a:sym typeface="Courier New"/>
              </a:rPr>
              <a:t>    const [count, ________] = ________(0);</a:t>
            </a:r>
            <a:endParaRPr/>
          </a:p>
          <a:p>
            <a:pPr marL="0" marR="0" lvl="0" indent="0" algn="l" rtl="0">
              <a:spcBef>
                <a:spcPts val="200"/>
              </a:spcBef>
              <a:spcAft>
                <a:spcPts val="0"/>
              </a:spcAft>
              <a:buNone/>
            </a:pPr>
            <a:endParaRPr sz="18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return (</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&lt;div&gt;</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&lt;p&gt;Count: {count}&lt;/p&gt;</a:t>
            </a:r>
            <a:endParaRPr/>
          </a:p>
          <a:p>
            <a:pPr marL="0" marR="0" lvl="0" indent="0" algn="l" rtl="0">
              <a:spcBef>
                <a:spcPts val="200"/>
              </a:spcBef>
              <a:spcAft>
                <a:spcPts val="0"/>
              </a:spcAft>
              <a:buNone/>
            </a:pPr>
            <a:r>
              <a:rPr lang="en-US" sz="1800" b="1">
                <a:solidFill>
                  <a:srgbClr val="B0B0C0"/>
                </a:solidFill>
                <a:latin typeface="Courier New"/>
                <a:ea typeface="Courier New"/>
                <a:cs typeface="Courier New"/>
                <a:sym typeface="Courier New"/>
              </a:rPr>
              <a:t>            &lt;button onClick={() =&gt; ________(count + 1)}&gt;+&lt;/button&gt;</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&lt;/div&gt;</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4"/>
        <p:cNvGrpSpPr/>
        <p:nvPr/>
      </p:nvGrpSpPr>
      <p:grpSpPr>
        <a:xfrm>
          <a:off x="0" y="0"/>
          <a:ext cx="0" cy="0"/>
          <a:chOff x="0" y="0"/>
          <a:chExt cx="0" cy="0"/>
        </a:xfrm>
      </p:grpSpPr>
      <p:sp>
        <p:nvSpPr>
          <p:cNvPr id="125" name="Google Shape;125;g3e10b4ab9cc_0_122"/>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A working counter</a:t>
            </a:r>
            <a:endParaRPr/>
          </a:p>
        </p:txBody>
      </p:sp>
      <p:sp>
        <p:nvSpPr>
          <p:cNvPr id="126" name="Google Shape;126;g3e10b4ab9cc_0_122"/>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a:solidFill>
                  <a:srgbClr val="5B21B6"/>
                </a:solidFill>
                <a:latin typeface="Courier New"/>
                <a:ea typeface="Courier New"/>
                <a:cs typeface="Courier New"/>
                <a:sym typeface="Courier New"/>
              </a:rPr>
              <a:t>TypeScript</a:t>
            </a:r>
            <a:endParaRPr/>
          </a:p>
        </p:txBody>
      </p:sp>
      <p:sp>
        <p:nvSpPr>
          <p:cNvPr id="127" name="Google Shape;127;g3e10b4ab9cc_0_122"/>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28" name="Google Shape;128;g3e10b4ab9cc_0_122"/>
          <p:cNvSpPr txBox="1"/>
          <p:nvPr/>
        </p:nvSpPr>
        <p:spPr>
          <a:xfrm>
            <a:off x="1005840" y="1645920"/>
            <a:ext cx="10179900" cy="442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33344"/>
                </a:solidFill>
                <a:latin typeface="Courier New"/>
                <a:ea typeface="Courier New"/>
                <a:cs typeface="Courier New"/>
                <a:sym typeface="Courier New"/>
              </a:rPr>
              <a:t>import { useState } from "react";</a:t>
            </a:r>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function Counter() {</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 Declare a piece of state named `count`, initialized to 0.</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const [count, setCount] = useState(0);</a:t>
            </a:r>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return (</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&lt;div&gt;</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&lt;p&gt;Count: {count}&lt;/p&gt;</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&lt;button onClick={() =&gt; setCount(count + 1)}&gt;+&lt;/button&gt;</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&lt;/div&gt;</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Click the button. Count goes up. React noticed setCount was</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called, ran the Counter function again with the new value,</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and updated the &lt;p&gt; to reflect it. The function didn't.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3"/>
        <p:cNvGrpSpPr/>
        <p:nvPr/>
      </p:nvGrpSpPr>
      <p:grpSpPr>
        <a:xfrm>
          <a:off x="0" y="0"/>
          <a:ext cx="0" cy="0"/>
          <a:chOff x="0" y="0"/>
          <a:chExt cx="0" cy="0"/>
        </a:xfrm>
      </p:grpSpPr>
      <p:sp>
        <p:nvSpPr>
          <p:cNvPr id="134" name="Google Shape;134;g3e10b4ab9cc_0_19"/>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How useState actually works</a:t>
            </a:r>
            <a:endParaRPr/>
          </a:p>
        </p:txBody>
      </p:sp>
      <p:sp>
        <p:nvSpPr>
          <p:cNvPr id="135" name="Google Shape;135;g3e10b4ab9cc_0_19"/>
          <p:cNvSpPr txBox="1"/>
          <p:nvPr/>
        </p:nvSpPr>
        <p:spPr>
          <a:xfrm>
            <a:off x="914388" y="1086240"/>
            <a:ext cx="10362900" cy="526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t>
            </a:r>
            <a:r>
              <a:rPr lang="en-US" sz="2400" b="1" i="0" u="none" strike="noStrike" cap="none">
                <a:solidFill>
                  <a:srgbClr val="333344"/>
                </a:solidFill>
                <a:latin typeface="Courier Prime"/>
                <a:ea typeface="Courier Prime"/>
                <a:cs typeface="Courier Prime"/>
                <a:sym typeface="Courier Prime"/>
              </a:rPr>
              <a:t>count</a:t>
            </a:r>
            <a:r>
              <a:rPr lang="en-US" sz="2400" b="0" i="0" u="none" strike="noStrike" cap="none">
                <a:solidFill>
                  <a:srgbClr val="333344"/>
                </a:solidFill>
                <a:latin typeface="Calibri"/>
                <a:ea typeface="Calibri"/>
                <a:cs typeface="Calibri"/>
                <a:sym typeface="Calibri"/>
              </a:rPr>
              <a:t>` </a:t>
            </a:r>
            <a:r>
              <a:rPr lang="en-US" sz="2400">
                <a:solidFill>
                  <a:srgbClr val="333344"/>
                </a:solidFill>
                <a:latin typeface="Calibri"/>
                <a:ea typeface="Calibri"/>
                <a:cs typeface="Calibri"/>
                <a:sym typeface="Calibri"/>
              </a:rPr>
              <a:t>is a local variable — but a snapshot, not a live binding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React keeps the value in its own memory, attached</a:t>
            </a:r>
            <a:r>
              <a:rPr lang="en-US"/>
              <a:t> </a:t>
            </a:r>
            <a:r>
              <a:rPr lang="en-US" sz="2000" b="0" i="0" u="none" strike="noStrike" cap="none">
                <a:solidFill>
                  <a:srgbClr val="666677"/>
                </a:solidFill>
                <a:latin typeface="Calibri"/>
                <a:ea typeface="Calibri"/>
                <a:cs typeface="Calibri"/>
                <a:sym typeface="Calibri"/>
              </a:rPr>
              <a:t>to this specific component instance.</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a:solidFill>
                  <a:srgbClr val="666677"/>
                </a:solidFill>
                <a:latin typeface="Calibri"/>
                <a:ea typeface="Calibri"/>
                <a:cs typeface="Calibri"/>
                <a:sym typeface="Calibri"/>
              </a:rPr>
              <a:t>  That snapshot is frozen for the lifetime of this render.</a:t>
            </a:r>
            <a:endParaRPr sz="2000">
              <a:solidFill>
                <a:srgbClr val="666677"/>
              </a:solidFill>
              <a:latin typeface="Calibri"/>
              <a:ea typeface="Calibri"/>
              <a:cs typeface="Calibri"/>
              <a:sym typeface="Calibri"/>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On each run of the function, `</a:t>
            </a:r>
            <a:r>
              <a:rPr lang="en-US" sz="2400" b="1" i="0" u="none" strike="noStrike" cap="none">
                <a:solidFill>
                  <a:srgbClr val="333344"/>
                </a:solidFill>
                <a:latin typeface="Courier Prime"/>
                <a:ea typeface="Courier Prime"/>
                <a:cs typeface="Courier Prime"/>
                <a:sym typeface="Courier Prime"/>
              </a:rPr>
              <a:t>useState</a:t>
            </a:r>
            <a:r>
              <a:rPr lang="en-US" sz="2400" b="0" i="0" u="none" strike="noStrike" cap="none">
                <a:solidFill>
                  <a:srgbClr val="333344"/>
                </a:solidFill>
                <a:latin typeface="Calibri"/>
                <a:ea typeface="Calibri"/>
                <a:cs typeface="Calibri"/>
                <a:sym typeface="Calibri"/>
              </a:rPr>
              <a:t>` returns **whatever React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has stored**. First run: the initial value. Subsequent runs: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whatever the setter most recently set.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a:t>
            </a:r>
            <a:r>
              <a:rPr lang="en-US" sz="2400" b="1" i="0" u="none" strike="noStrike" cap="none">
                <a:solidFill>
                  <a:srgbClr val="333344"/>
                </a:solidFill>
                <a:latin typeface="Courier Prime"/>
                <a:ea typeface="Courier Prime"/>
                <a:cs typeface="Courier Prime"/>
                <a:sym typeface="Courier Prime"/>
              </a:rPr>
              <a:t>setCount(5)</a:t>
            </a:r>
            <a:r>
              <a:rPr lang="en-US" sz="2400" b="0" i="0" u="none" strike="noStrike" cap="none">
                <a:solidFill>
                  <a:srgbClr val="333344"/>
                </a:solidFill>
                <a:latin typeface="Calibri"/>
                <a:ea typeface="Calibri"/>
                <a:cs typeface="Calibri"/>
                <a:sym typeface="Calibri"/>
              </a:rPr>
              <a:t>` does two things: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Stores `5` in React's memory for this component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a:t>
            </a:r>
            <a:r>
              <a:rPr lang="en-US" sz="2000" b="0" i="0" u="none" strike="noStrike" cap="none">
                <a:solidFill>
                  <a:srgbClr val="666677"/>
                </a:solidFill>
                <a:latin typeface="Calibri"/>
                <a:ea typeface="Calibri"/>
                <a:cs typeface="Calibri"/>
                <a:sym typeface="Calibri"/>
              </a:rPr>
              <a:t> Marks the component dirty so React re-runs it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setter is the ONLY way to change state. Direct mutation </a:t>
            </a:r>
            <a:r>
              <a:rPr lang="en-US" sz="2400">
                <a:solidFill>
                  <a:srgbClr val="333344"/>
                </a:solidFill>
                <a:latin typeface="Calibri"/>
                <a:ea typeface="Calibri"/>
                <a:cs typeface="Calibri"/>
                <a:sym typeface="Calibri"/>
              </a:rPr>
              <a:t>triggers nothing.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0"/>
        <p:cNvGrpSpPr/>
        <p:nvPr/>
      </p:nvGrpSpPr>
      <p:grpSpPr>
        <a:xfrm>
          <a:off x="0" y="0"/>
          <a:ext cx="0" cy="0"/>
          <a:chOff x="0" y="0"/>
          <a:chExt cx="0" cy="0"/>
        </a:xfrm>
      </p:grpSpPr>
      <p:sp>
        <p:nvSpPr>
          <p:cNvPr id="141" name="Google Shape;141;g3e10b4ab9cc_0_130"/>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count = ?</a:t>
            </a:r>
            <a:endParaRPr/>
          </a:p>
        </p:txBody>
      </p:sp>
      <p:sp>
        <p:nvSpPr>
          <p:cNvPr id="142" name="Google Shape;142;g3e10b4ab9cc_0_130"/>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a:solidFill>
                  <a:srgbClr val="5B21B6"/>
                </a:solidFill>
                <a:latin typeface="Courier New"/>
                <a:ea typeface="Courier New"/>
                <a:cs typeface="Courier New"/>
                <a:sym typeface="Courier New"/>
              </a:rPr>
              <a:t>TypeScript</a:t>
            </a:r>
            <a:endParaRPr/>
          </a:p>
        </p:txBody>
      </p:sp>
      <p:sp>
        <p:nvSpPr>
          <p:cNvPr id="143" name="Google Shape;143;g3e10b4ab9cc_0_130"/>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44" name="Google Shape;144;g3e10b4ab9cc_0_130"/>
          <p:cNvSpPr txBox="1"/>
          <p:nvPr/>
        </p:nvSpPr>
        <p:spPr>
          <a:xfrm>
            <a:off x="1005840" y="1645920"/>
            <a:ext cx="10179900" cy="369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333344"/>
                </a:solidFill>
                <a:latin typeface="Courier New"/>
                <a:ea typeface="Courier New"/>
                <a:cs typeface="Courier New"/>
                <a:sym typeface="Courier New"/>
              </a:rPr>
              <a:t>function DoubleClicker() {</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const [count, setCount] = useState(0);</a:t>
            </a:r>
            <a:endParaRPr/>
          </a:p>
          <a:p>
            <a:pPr marL="0" marR="0" lvl="0" indent="0" algn="l" rtl="0">
              <a:spcBef>
                <a:spcPts val="200"/>
              </a:spcBef>
              <a:spcAft>
                <a:spcPts val="0"/>
              </a:spcAft>
              <a:buNone/>
            </a:pPr>
            <a:endParaRPr sz="18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function bump() {</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setCount(count + 1);</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setCount(count + 1);   // surely +2, right?</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endParaRPr sz="18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return &lt;button onClick={bump}&gt;{count}&lt;/button&gt;;</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8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You click ONCE. What's the count after?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9"/>
        <p:cNvGrpSpPr/>
        <p:nvPr/>
      </p:nvGrpSpPr>
      <p:grpSpPr>
        <a:xfrm>
          <a:off x="0" y="0"/>
          <a:ext cx="0" cy="0"/>
          <a:chOff x="0" y="0"/>
          <a:chExt cx="0" cy="0"/>
        </a:xfrm>
      </p:grpSpPr>
      <p:sp>
        <p:nvSpPr>
          <p:cNvPr id="150" name="Google Shape;150;g3e10b4ab9cc_0_53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How does setCount know which component?</a:t>
            </a:r>
            <a:endParaRPr/>
          </a:p>
        </p:txBody>
      </p:sp>
      <p:sp>
        <p:nvSpPr>
          <p:cNvPr id="151" name="Google Shape;151;g3e10b4ab9cc_0_532"/>
          <p:cNvSpPr txBox="1"/>
          <p:nvPr/>
        </p:nvSpPr>
        <p:spPr>
          <a:xfrm>
            <a:off x="914375" y="1121575"/>
            <a:ext cx="10728600" cy="273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Reasonable </a:t>
            </a:r>
            <a:r>
              <a:rPr lang="en-US" sz="2400">
                <a:solidFill>
                  <a:srgbClr val="333344"/>
                </a:solidFill>
                <a:latin typeface="Calibri"/>
                <a:ea typeface="Calibri"/>
                <a:cs typeface="Calibri"/>
                <a:sym typeface="Calibri"/>
              </a:rPr>
              <a:t>q</a:t>
            </a:r>
            <a:r>
              <a:rPr lang="en-US" sz="2400" b="0">
                <a:solidFill>
                  <a:srgbClr val="333344"/>
                </a:solidFill>
                <a:latin typeface="Calibri"/>
                <a:ea typeface="Calibri"/>
                <a:cs typeface="Calibri"/>
                <a:sym typeface="Calibri"/>
              </a:rPr>
              <a:t>: when you call </a:t>
            </a:r>
            <a:r>
              <a:rPr lang="en-US" sz="2400" b="1">
                <a:solidFill>
                  <a:srgbClr val="333344"/>
                </a:solidFill>
                <a:latin typeface="Courier Prime"/>
                <a:ea typeface="Courier Prime"/>
                <a:cs typeface="Courier Prime"/>
                <a:sym typeface="Courier Prime"/>
              </a:rPr>
              <a:t>setCount(5)</a:t>
            </a:r>
            <a:r>
              <a:rPr lang="en-US" sz="2400" b="0">
                <a:solidFill>
                  <a:srgbClr val="333344"/>
                </a:solidFill>
                <a:latin typeface="Calibri"/>
                <a:ea typeface="Calibri"/>
                <a:cs typeface="Calibri"/>
                <a:sym typeface="Calibri"/>
              </a:rPr>
              <a:t>, how does React know what to update?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There can be hundreds</a:t>
            </a:r>
            <a:r>
              <a:rPr lang="en-US"/>
              <a:t> </a:t>
            </a:r>
            <a:r>
              <a:rPr lang="en-US" sz="2000" b="0" i="0" u="none" strike="noStrike" cap="none">
                <a:solidFill>
                  <a:srgbClr val="666677"/>
                </a:solidFill>
                <a:latin typeface="Calibri"/>
                <a:ea typeface="Calibri"/>
                <a:cs typeface="Calibri"/>
                <a:sym typeface="Calibri"/>
              </a:rPr>
              <a:t>of </a:t>
            </a:r>
            <a:r>
              <a:rPr lang="en-US" sz="2000" b="1" i="0" u="none" strike="noStrike" cap="none">
                <a:solidFill>
                  <a:srgbClr val="666677"/>
                </a:solidFill>
                <a:latin typeface="Courier Prime"/>
                <a:ea typeface="Courier Prime"/>
                <a:cs typeface="Courier Prime"/>
                <a:sym typeface="Courier Prime"/>
              </a:rPr>
              <a:t>&lt;Counter/&gt;</a:t>
            </a:r>
            <a:r>
              <a:rPr lang="en-US" sz="2000" b="0" i="0" u="none" strike="noStrike" cap="none">
                <a:solidFill>
                  <a:srgbClr val="666677"/>
                </a:solidFill>
                <a:latin typeface="Calibri"/>
                <a:ea typeface="Calibri"/>
                <a:cs typeface="Calibri"/>
                <a:sym typeface="Calibri"/>
              </a:rPr>
              <a:t>s on the page.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a:solidFill>
                  <a:srgbClr val="333344"/>
                </a:solidFill>
                <a:latin typeface="Calibri"/>
                <a:ea typeface="Calibri"/>
                <a:cs typeface="Calibri"/>
                <a:sym typeface="Calibri"/>
              </a:rPr>
              <a:t>Setter is a</a:t>
            </a:r>
            <a:r>
              <a:rPr lang="en-US" sz="2400" b="1">
                <a:solidFill>
                  <a:srgbClr val="333344"/>
                </a:solidFill>
                <a:latin typeface="Calibri"/>
                <a:ea typeface="Calibri"/>
                <a:cs typeface="Calibri"/>
                <a:sym typeface="Calibri"/>
              </a:rPr>
              <a:t> closure</a:t>
            </a:r>
            <a:r>
              <a:rPr lang="en-US" sz="2400" b="0">
                <a:solidFill>
                  <a:srgbClr val="333344"/>
                </a:solidFill>
                <a:latin typeface="Calibri"/>
                <a:ea typeface="Calibri"/>
                <a:cs typeface="Calibri"/>
                <a:sym typeface="Calibri"/>
              </a:rPr>
              <a:t> - captured at moment </a:t>
            </a:r>
            <a:r>
              <a:rPr lang="en-US" sz="2400" b="1">
                <a:solidFill>
                  <a:srgbClr val="333344"/>
                </a:solidFill>
                <a:latin typeface="Courier Prime"/>
                <a:ea typeface="Courier Prime"/>
                <a:cs typeface="Courier Prime"/>
                <a:sym typeface="Courier Prime"/>
              </a:rPr>
              <a:t>useState</a:t>
            </a:r>
            <a:r>
              <a:rPr lang="en-US" sz="2400">
                <a:solidFill>
                  <a:srgbClr val="333344"/>
                </a:solidFill>
                <a:latin typeface="Calibri"/>
                <a:ea typeface="Calibri"/>
                <a:cs typeface="Calibri"/>
                <a:sym typeface="Calibri"/>
              </a:rPr>
              <a:t> ran, baked with two pointers</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Which </a:t>
            </a:r>
            <a:r>
              <a:rPr lang="en-US" sz="2000" b="1" i="0" u="none" strike="noStrike" cap="none">
                <a:solidFill>
                  <a:srgbClr val="666677"/>
                </a:solidFill>
                <a:latin typeface="Calibri"/>
                <a:ea typeface="Calibri"/>
                <a:cs typeface="Calibri"/>
                <a:sym typeface="Calibri"/>
              </a:rPr>
              <a:t>fiber</a:t>
            </a:r>
            <a:r>
              <a:rPr lang="en-US" sz="2000" b="0" i="0" u="none" strike="noStrike" cap="none">
                <a:solidFill>
                  <a:srgbClr val="666677"/>
                </a:solidFill>
                <a:latin typeface="Calibri"/>
                <a:ea typeface="Calibri"/>
                <a:cs typeface="Calibri"/>
                <a:sym typeface="Calibri"/>
              </a:rPr>
              <a:t> (React's per-instance bookkeeping object)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a:t>
            </a:r>
            <a:r>
              <a:rPr lang="en-US" sz="2000" b="0" i="0" u="none" strike="noStrike" cap="none">
                <a:solidFill>
                  <a:srgbClr val="666677"/>
                </a:solidFill>
                <a:latin typeface="Calibri"/>
                <a:ea typeface="Calibri"/>
                <a:cs typeface="Calibri"/>
                <a:sym typeface="Calibri"/>
              </a:rPr>
              <a:t> Which </a:t>
            </a:r>
            <a:r>
              <a:rPr lang="en-US" sz="2000" b="1" i="0" u="none" strike="noStrike" cap="none">
                <a:solidFill>
                  <a:srgbClr val="666677"/>
                </a:solidFill>
                <a:latin typeface="Calibri"/>
                <a:ea typeface="Calibri"/>
                <a:cs typeface="Calibri"/>
                <a:sym typeface="Calibri"/>
              </a:rPr>
              <a:t>slot</a:t>
            </a:r>
            <a:r>
              <a:rPr lang="en-US" sz="2000" b="0" i="0" u="none" strike="noStrike" cap="none">
                <a:solidFill>
                  <a:srgbClr val="666677"/>
                </a:solidFill>
                <a:latin typeface="Calibri"/>
                <a:ea typeface="Calibri"/>
                <a:cs typeface="Calibri"/>
                <a:sym typeface="Calibri"/>
              </a:rPr>
              <a:t> in that fiber's hook list (1st useState,</a:t>
            </a:r>
            <a:r>
              <a:rPr lang="en-US"/>
              <a:t> </a:t>
            </a:r>
            <a:r>
              <a:rPr lang="en-US" sz="2000" b="0" i="0" u="none" strike="noStrike" cap="none">
                <a:solidFill>
                  <a:srgbClr val="666677"/>
                </a:solidFill>
                <a:latin typeface="Calibri"/>
                <a:ea typeface="Calibri"/>
                <a:cs typeface="Calibri"/>
                <a:sym typeface="Calibri"/>
              </a:rPr>
              <a:t>2nd useState, etc. - matched by call order)</a:t>
            </a:r>
            <a:endParaRPr/>
          </a:p>
          <a:p>
            <a:pPr marL="457200" marR="0" lvl="1" indent="0" algn="l" rtl="0">
              <a:spcBef>
                <a:spcPts val="60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6"/>
        <p:cNvGrpSpPr/>
        <p:nvPr/>
      </p:nvGrpSpPr>
      <p:grpSpPr>
        <a:xfrm>
          <a:off x="0" y="0"/>
          <a:ext cx="0" cy="0"/>
          <a:chOff x="0" y="0"/>
          <a:chExt cx="0" cy="0"/>
        </a:xfrm>
      </p:grpSpPr>
      <p:sp>
        <p:nvSpPr>
          <p:cNvPr id="157" name="Google Shape;157;g3e10b4ab9cc_0_138"/>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How does setCount know which component?</a:t>
            </a:r>
            <a:endParaRPr/>
          </a:p>
        </p:txBody>
      </p:sp>
      <p:sp>
        <p:nvSpPr>
          <p:cNvPr id="158" name="Google Shape;158;g3e10b4ab9cc_0_138"/>
          <p:cNvSpPr txBox="1"/>
          <p:nvPr/>
        </p:nvSpPr>
        <p:spPr>
          <a:xfrm>
            <a:off x="914375" y="1121575"/>
            <a:ext cx="10728600" cy="487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Reasonable </a:t>
            </a:r>
            <a:r>
              <a:rPr lang="en-US" sz="2400">
                <a:solidFill>
                  <a:srgbClr val="333344"/>
                </a:solidFill>
                <a:latin typeface="Calibri"/>
                <a:ea typeface="Calibri"/>
                <a:cs typeface="Calibri"/>
                <a:sym typeface="Calibri"/>
              </a:rPr>
              <a:t>q</a:t>
            </a:r>
            <a:r>
              <a:rPr lang="en-US" sz="2400" b="0">
                <a:solidFill>
                  <a:srgbClr val="333344"/>
                </a:solidFill>
                <a:latin typeface="Calibri"/>
                <a:ea typeface="Calibri"/>
                <a:cs typeface="Calibri"/>
                <a:sym typeface="Calibri"/>
              </a:rPr>
              <a:t>: when you call </a:t>
            </a:r>
            <a:r>
              <a:rPr lang="en-US" sz="2400" b="1">
                <a:solidFill>
                  <a:srgbClr val="333344"/>
                </a:solidFill>
                <a:latin typeface="Courier Prime"/>
                <a:ea typeface="Courier Prime"/>
                <a:cs typeface="Courier Prime"/>
                <a:sym typeface="Courier Prime"/>
              </a:rPr>
              <a:t>setCount(5)</a:t>
            </a:r>
            <a:r>
              <a:rPr lang="en-US" sz="2400" b="0">
                <a:solidFill>
                  <a:srgbClr val="333344"/>
                </a:solidFill>
                <a:latin typeface="Calibri"/>
                <a:ea typeface="Calibri"/>
                <a:cs typeface="Calibri"/>
                <a:sym typeface="Calibri"/>
              </a:rPr>
              <a:t>, how does React know what to update?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There can be hundreds</a:t>
            </a:r>
            <a:r>
              <a:rPr lang="en-US"/>
              <a:t> </a:t>
            </a:r>
            <a:r>
              <a:rPr lang="en-US" sz="2000" b="0" i="0" u="none" strike="noStrike" cap="none">
                <a:solidFill>
                  <a:srgbClr val="666677"/>
                </a:solidFill>
                <a:latin typeface="Calibri"/>
                <a:ea typeface="Calibri"/>
                <a:cs typeface="Calibri"/>
                <a:sym typeface="Calibri"/>
              </a:rPr>
              <a:t>of </a:t>
            </a:r>
            <a:r>
              <a:rPr lang="en-US" sz="2000" b="1" i="0" u="none" strike="noStrike" cap="none">
                <a:solidFill>
                  <a:srgbClr val="666677"/>
                </a:solidFill>
                <a:latin typeface="Courier Prime"/>
                <a:ea typeface="Courier Prime"/>
                <a:cs typeface="Courier Prime"/>
                <a:sym typeface="Courier Prime"/>
              </a:rPr>
              <a:t>&lt;Counter/&gt;</a:t>
            </a:r>
            <a:r>
              <a:rPr lang="en-US" sz="2000" b="0" i="0" u="none" strike="noStrike" cap="none">
                <a:solidFill>
                  <a:srgbClr val="666677"/>
                </a:solidFill>
                <a:latin typeface="Calibri"/>
                <a:ea typeface="Calibri"/>
                <a:cs typeface="Calibri"/>
                <a:sym typeface="Calibri"/>
              </a:rPr>
              <a:t>s on the page.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a:solidFill>
                  <a:srgbClr val="333344"/>
                </a:solidFill>
                <a:latin typeface="Calibri"/>
                <a:ea typeface="Calibri"/>
                <a:cs typeface="Calibri"/>
                <a:sym typeface="Calibri"/>
              </a:rPr>
              <a:t>Setter is a</a:t>
            </a:r>
            <a:r>
              <a:rPr lang="en-US" sz="2400" b="1">
                <a:solidFill>
                  <a:srgbClr val="333344"/>
                </a:solidFill>
                <a:latin typeface="Calibri"/>
                <a:ea typeface="Calibri"/>
                <a:cs typeface="Calibri"/>
                <a:sym typeface="Calibri"/>
              </a:rPr>
              <a:t> closure</a:t>
            </a:r>
            <a:r>
              <a:rPr lang="en-US" sz="2400" b="0">
                <a:solidFill>
                  <a:srgbClr val="333344"/>
                </a:solidFill>
                <a:latin typeface="Calibri"/>
                <a:ea typeface="Calibri"/>
                <a:cs typeface="Calibri"/>
                <a:sym typeface="Calibri"/>
              </a:rPr>
              <a:t> - captured at moment </a:t>
            </a:r>
            <a:r>
              <a:rPr lang="en-US" sz="2400" b="1">
                <a:solidFill>
                  <a:srgbClr val="333344"/>
                </a:solidFill>
                <a:latin typeface="Courier Prime"/>
                <a:ea typeface="Courier Prime"/>
                <a:cs typeface="Courier Prime"/>
                <a:sym typeface="Courier Prime"/>
              </a:rPr>
              <a:t>useState</a:t>
            </a:r>
            <a:r>
              <a:rPr lang="en-US" sz="2400">
                <a:solidFill>
                  <a:srgbClr val="333344"/>
                </a:solidFill>
                <a:latin typeface="Calibri"/>
                <a:ea typeface="Calibri"/>
                <a:cs typeface="Calibri"/>
                <a:sym typeface="Calibri"/>
              </a:rPr>
              <a:t> ran, baked with two pointers</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Which </a:t>
            </a:r>
            <a:r>
              <a:rPr lang="en-US" sz="2000" b="1" i="0" u="none" strike="noStrike" cap="none">
                <a:solidFill>
                  <a:srgbClr val="666677"/>
                </a:solidFill>
                <a:latin typeface="Calibri"/>
                <a:ea typeface="Calibri"/>
                <a:cs typeface="Calibri"/>
                <a:sym typeface="Calibri"/>
              </a:rPr>
              <a:t>fiber</a:t>
            </a:r>
            <a:r>
              <a:rPr lang="en-US" sz="2000" b="0" i="0" u="none" strike="noStrike" cap="none">
                <a:solidFill>
                  <a:srgbClr val="666677"/>
                </a:solidFill>
                <a:latin typeface="Calibri"/>
                <a:ea typeface="Calibri"/>
                <a:cs typeface="Calibri"/>
                <a:sym typeface="Calibri"/>
              </a:rPr>
              <a:t> (React's per-instance bookkeeping object)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a:t>
            </a:r>
            <a:r>
              <a:rPr lang="en-US" sz="2000" b="0" i="0" u="none" strike="noStrike" cap="none">
                <a:solidFill>
                  <a:srgbClr val="666677"/>
                </a:solidFill>
                <a:latin typeface="Calibri"/>
                <a:ea typeface="Calibri"/>
                <a:cs typeface="Calibri"/>
                <a:sym typeface="Calibri"/>
              </a:rPr>
              <a:t> Which </a:t>
            </a:r>
            <a:r>
              <a:rPr lang="en-US" sz="2000" b="1" i="0" u="none" strike="noStrike" cap="none">
                <a:solidFill>
                  <a:srgbClr val="666677"/>
                </a:solidFill>
                <a:latin typeface="Calibri"/>
                <a:ea typeface="Calibri"/>
                <a:cs typeface="Calibri"/>
                <a:sym typeface="Calibri"/>
              </a:rPr>
              <a:t>slot</a:t>
            </a:r>
            <a:r>
              <a:rPr lang="en-US" sz="2000" b="0" i="0" u="none" strike="noStrike" cap="none">
                <a:solidFill>
                  <a:srgbClr val="666677"/>
                </a:solidFill>
                <a:latin typeface="Calibri"/>
                <a:ea typeface="Calibri"/>
                <a:cs typeface="Calibri"/>
                <a:sym typeface="Calibri"/>
              </a:rPr>
              <a:t> in that fiber's hook list (1st useState,</a:t>
            </a:r>
            <a:r>
              <a:rPr lang="en-US"/>
              <a:t> </a:t>
            </a:r>
            <a:r>
              <a:rPr lang="en-US" sz="2000" b="0" i="0" u="none" strike="noStrike" cap="none">
                <a:solidFill>
                  <a:srgbClr val="666677"/>
                </a:solidFill>
                <a:latin typeface="Calibri"/>
                <a:ea typeface="Calibri"/>
                <a:cs typeface="Calibri"/>
                <a:sym typeface="Calibri"/>
              </a:rPr>
              <a:t>2nd useState, etc. - matched by call order)</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Calling </a:t>
            </a:r>
            <a:r>
              <a:rPr lang="en-US" sz="2400" b="1">
                <a:solidFill>
                  <a:srgbClr val="333344"/>
                </a:solidFill>
                <a:latin typeface="Courier Prime"/>
                <a:ea typeface="Courier Prime"/>
                <a:cs typeface="Courier Prime"/>
                <a:sym typeface="Courier Prime"/>
              </a:rPr>
              <a:t>setCount(5)</a:t>
            </a:r>
            <a:r>
              <a:rPr lang="en-US" sz="2400" b="0">
                <a:solidFill>
                  <a:srgbClr val="333344"/>
                </a:solidFill>
                <a:latin typeface="Calibri"/>
                <a:ea typeface="Calibri"/>
                <a:cs typeface="Calibri"/>
                <a:sym typeface="Calibri"/>
              </a:rPr>
              <a:t> writes `5` into that slot and marks that fiber dirty.</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Why hooks have rules:</a:t>
            </a:r>
            <a:r>
              <a:rPr lang="en-US" sz="2400" b="0">
                <a:solidFill>
                  <a:srgbClr val="333344"/>
                </a:solidFill>
                <a:latin typeface="Calibri"/>
                <a:ea typeface="Calibri"/>
                <a:cs typeface="Calibri"/>
                <a:sym typeface="Calibri"/>
              </a:rPr>
              <a:t> slots are matched by </a:t>
            </a:r>
            <a:r>
              <a:rPr lang="en-US" sz="2400" b="1">
                <a:solidFill>
                  <a:srgbClr val="333344"/>
                </a:solidFill>
                <a:latin typeface="Calibri"/>
                <a:ea typeface="Calibri"/>
                <a:cs typeface="Calibri"/>
                <a:sym typeface="Calibri"/>
              </a:rPr>
              <a:t>call order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So `useState` inside an `if` would shift the slot indices between re</a:t>
            </a:r>
            <a:r>
              <a:rPr lang="en-US" sz="2000">
                <a:solidFill>
                  <a:srgbClr val="666677"/>
                </a:solidFill>
                <a:latin typeface="Calibri"/>
                <a:ea typeface="Calibri"/>
                <a:cs typeface="Calibri"/>
                <a:sym typeface="Calibri"/>
              </a:rPr>
              <a:t>nders.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T</a:t>
            </a:r>
            <a:r>
              <a:rPr lang="en-US" sz="2000" b="0" i="0" u="none" strike="noStrike" cap="none">
                <a:solidFill>
                  <a:srgbClr val="666677"/>
                </a:solidFill>
                <a:latin typeface="Calibri"/>
                <a:ea typeface="Calibri"/>
                <a:cs typeface="Calibri"/>
                <a:sym typeface="Calibri"/>
              </a:rPr>
              <a:t>hat's why hooks must run at the top level, in the same</a:t>
            </a:r>
            <a:r>
              <a:rPr lang="en-US"/>
              <a:t> </a:t>
            </a:r>
            <a:r>
              <a:rPr lang="en-US" sz="2000" b="0" i="0" u="none" strike="noStrike" cap="none">
                <a:solidFill>
                  <a:srgbClr val="666677"/>
                </a:solidFill>
                <a:latin typeface="Calibri"/>
                <a:ea typeface="Calibri"/>
                <a:cs typeface="Calibri"/>
                <a:sym typeface="Calibri"/>
              </a:rPr>
              <a:t>order, every render.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3"/>
        <p:cNvGrpSpPr/>
        <p:nvPr/>
      </p:nvGrpSpPr>
      <p:grpSpPr>
        <a:xfrm>
          <a:off x="0" y="0"/>
          <a:ext cx="0" cy="0"/>
          <a:chOff x="0" y="0"/>
          <a:chExt cx="0" cy="0"/>
        </a:xfrm>
      </p:grpSpPr>
      <p:sp>
        <p:nvSpPr>
          <p:cNvPr id="164" name="Google Shape;164;g3e10b4ab9cc_0_25"/>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Multiple pieces of state in one component</a:t>
            </a:r>
            <a:endParaRPr/>
          </a:p>
        </p:txBody>
      </p:sp>
      <p:sp>
        <p:nvSpPr>
          <p:cNvPr id="165" name="Google Shape;165;g3e10b4ab9cc_0_25"/>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TypeScript</a:t>
            </a:r>
            <a:endParaRPr/>
          </a:p>
        </p:txBody>
      </p:sp>
      <p:sp>
        <p:nvSpPr>
          <p:cNvPr id="166" name="Google Shape;166;g3e10b4ab9cc_0_25"/>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7" name="Google Shape;167;g3e10b4ab9cc_0_25"/>
          <p:cNvSpPr txBox="1"/>
          <p:nvPr/>
        </p:nvSpPr>
        <p:spPr>
          <a:xfrm>
            <a:off x="1005840" y="1645920"/>
            <a:ext cx="10179900" cy="4663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333344"/>
                </a:solidFill>
                <a:latin typeface="Courier New"/>
                <a:ea typeface="Courier New"/>
                <a:cs typeface="Courier New"/>
                <a:sym typeface="Courier New"/>
              </a:rPr>
              <a:t>function LoginForm() {</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 Each useState call manages one independent piece of state.</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const [username, setUsername]   = useState("");</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const [password, setPassword]   = useState("");</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const [rememberMe, setRemember] = useState(false);</a:t>
            </a:r>
            <a:endParaRPr/>
          </a:p>
          <a:p>
            <a:pPr marL="0" marR="0" lvl="0" indent="0" algn="l" rtl="0">
              <a:spcBef>
                <a:spcPts val="200"/>
              </a:spcBef>
              <a:spcAft>
                <a:spcPts val="0"/>
              </a:spcAft>
              <a:buNone/>
            </a:pPr>
            <a:endParaRPr sz="17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return (</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&lt;form&gt;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&lt;label&gt;Username: {username || "(empty)"}&lt;/label&gt;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&lt;label&gt;Password: {"*".repeat(password.length)}&lt;/label&gt;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&lt;label&gt;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Remember me: {rememberMe ? "yes" : "no"}</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&lt;/label&gt;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&lt;/form&gt;</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700" b="1" i="0" u="none" strike="noStrike" cap="none">
                <a:solidFill>
                  <a:srgbClr val="333344"/>
                </a:solidFill>
                <a:latin typeface="Courier New"/>
                <a:ea typeface="Courier New"/>
                <a:cs typeface="Courier New"/>
                <a:sym typeface="Courier New"/>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2"/>
        <p:cNvGrpSpPr/>
        <p:nvPr/>
      </p:nvGrpSpPr>
      <p:grpSpPr>
        <a:xfrm>
          <a:off x="0" y="0"/>
          <a:ext cx="0" cy="0"/>
          <a:chOff x="0" y="0"/>
          <a:chExt cx="0" cy="0"/>
        </a:xfrm>
      </p:grpSpPr>
      <p:sp>
        <p:nvSpPr>
          <p:cNvPr id="173" name="Google Shape;173;g3e10b4ab9cc_0_33"/>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render cycle, in one picture</a:t>
            </a:r>
            <a:endParaRPr/>
          </a:p>
        </p:txBody>
      </p:sp>
      <p:sp>
        <p:nvSpPr>
          <p:cNvPr id="174" name="Google Shape;174;g3e10b4ab9cc_0_33"/>
          <p:cNvSpPr txBox="1"/>
          <p:nvPr/>
        </p:nvSpPr>
        <p:spPr>
          <a:xfrm>
            <a:off x="914400" y="1463040"/>
            <a:ext cx="10362900" cy="5141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Here's the loop that makes React interactive:</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The user does something (clicks, types, loads the page)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a:t>
            </a:r>
            <a:r>
              <a:rPr lang="en-US" sz="2000" b="0" i="0" u="none" strike="noStrike" cap="none">
                <a:solidFill>
                  <a:srgbClr val="666677"/>
                </a:solidFill>
                <a:latin typeface="Calibri"/>
                <a:ea typeface="Calibri"/>
                <a:cs typeface="Calibri"/>
                <a:sym typeface="Calibri"/>
              </a:rPr>
              <a:t> An event handler runs, and calls a setter: `setCount(5)`</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3.</a:t>
            </a:r>
            <a:r>
              <a:rPr lang="en-US" sz="2000" b="0" i="0" u="none" strike="noStrike" cap="none">
                <a:solidFill>
                  <a:srgbClr val="666677"/>
                </a:solidFill>
                <a:latin typeface="Calibri"/>
                <a:ea typeface="Calibri"/>
                <a:cs typeface="Calibri"/>
                <a:sym typeface="Calibri"/>
              </a:rPr>
              <a:t> React schedules a re-render of this component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4.</a:t>
            </a:r>
            <a:r>
              <a:rPr lang="en-US" sz="2000" b="0" i="0" u="none" strike="noStrike" cap="none">
                <a:solidFill>
                  <a:srgbClr val="666677"/>
                </a:solidFill>
                <a:latin typeface="Calibri"/>
                <a:ea typeface="Calibri"/>
                <a:cs typeface="Calibri"/>
                <a:sym typeface="Calibri"/>
              </a:rPr>
              <a:t> React calls your component function again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5.</a:t>
            </a:r>
            <a:r>
              <a:rPr lang="en-US" sz="2000" b="0" i="0" u="none" strike="noStrike" cap="none">
                <a:solidFill>
                  <a:srgbClr val="666677"/>
                </a:solidFill>
                <a:latin typeface="Calibri"/>
                <a:ea typeface="Calibri"/>
                <a:cs typeface="Calibri"/>
                <a:sym typeface="Calibri"/>
              </a:rPr>
              <a:t> `useState` returns the new value (5)</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6.</a:t>
            </a:r>
            <a:r>
              <a:rPr lang="en-US" sz="2000" b="0" i="0" u="none" strike="noStrike" cap="none">
                <a:solidFill>
                  <a:srgbClr val="666677"/>
                </a:solidFill>
                <a:latin typeface="Calibri"/>
                <a:ea typeface="Calibri"/>
                <a:cs typeface="Calibri"/>
                <a:sym typeface="Calibri"/>
              </a:rPr>
              <a:t> The function returns new JSX based on the new state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7.</a:t>
            </a:r>
            <a:r>
              <a:rPr lang="en-US" sz="2000" b="0" i="0" u="none" strike="noStrike" cap="none">
                <a:solidFill>
                  <a:srgbClr val="666677"/>
                </a:solidFill>
                <a:latin typeface="Calibri"/>
                <a:ea typeface="Calibri"/>
                <a:cs typeface="Calibri"/>
                <a:sym typeface="Calibri"/>
              </a:rPr>
              <a:t> React diffs the new JSX against the previous render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8.</a:t>
            </a:r>
            <a:r>
              <a:rPr lang="en-US" sz="2000" b="0" i="0" u="none" strike="noStrike" cap="none">
                <a:solidFill>
                  <a:srgbClr val="666677"/>
                </a:solidFill>
                <a:latin typeface="Calibri"/>
                <a:ea typeface="Calibri"/>
                <a:cs typeface="Calibri"/>
                <a:sym typeface="Calibri"/>
              </a:rPr>
              <a:t> React updates only the parts of the DOM that changed</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Your function doesn't know it's being called for the second time.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From its perspective, it's a pure function running with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current state as input. Same data in, same JSX out.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9"/>
        <p:cNvGrpSpPr/>
        <p:nvPr/>
      </p:nvGrpSpPr>
      <p:grpSpPr>
        <a:xfrm>
          <a:off x="0" y="0"/>
          <a:ext cx="0" cy="0"/>
          <a:chOff x="0" y="0"/>
          <a:chExt cx="0" cy="0"/>
        </a:xfrm>
      </p:grpSpPr>
      <p:sp>
        <p:nvSpPr>
          <p:cNvPr id="180" name="Google Shape;180;p1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Click handlers calling setters</a:t>
            </a:r>
            <a:endParaRPr/>
          </a:p>
        </p:txBody>
      </p:sp>
      <p:sp>
        <p:nvSpPr>
          <p:cNvPr id="181" name="Google Shape;181;p15"/>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a:solidFill>
                  <a:srgbClr val="5B21B6"/>
                </a:solidFill>
                <a:latin typeface="Courier New"/>
                <a:ea typeface="Courier New"/>
                <a:cs typeface="Courier New"/>
                <a:sym typeface="Courier New"/>
              </a:rPr>
              <a:t>TypeScript</a:t>
            </a:r>
            <a:endParaRPr/>
          </a:p>
        </p:txBody>
      </p:sp>
      <p:sp>
        <p:nvSpPr>
          <p:cNvPr id="182" name="Google Shape;182;p15"/>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3" name="Google Shape;183;p15"/>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333344"/>
                </a:solidFill>
                <a:latin typeface="Courier New"/>
                <a:ea typeface="Courier New"/>
                <a:cs typeface="Courier New"/>
                <a:sym typeface="Courier New"/>
              </a:rPr>
              <a:t>function ClickCounter() {</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const [count, setCount] = useState(0);</a:t>
            </a:r>
            <a:endParaRPr/>
          </a:p>
          <a:p>
            <a:pPr marL="0" marR="0" lvl="0" indent="0" algn="l" rtl="0">
              <a:spcBef>
                <a:spcPts val="200"/>
              </a:spcBef>
              <a:spcAft>
                <a:spcPts val="0"/>
              </a:spcAft>
              <a:buNone/>
            </a:pPr>
            <a:endParaRPr sz="18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return (</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&lt;div&gt;</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&lt;p&gt;Count: {count}&lt;/p&gt;</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&lt;button onClick={() =&gt; setCount(count + 1)}&gt;+&lt;/button&gt;</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&lt;button onClick={() =&gt; setCount(count - 1)}&gt;-&lt;/button&gt;</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&lt;button onClick={() =&gt; setCount(0)}&gt;reset&lt;/button&gt;</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&lt;/div&gt;</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8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Each button has its own onClick that calls setCount with a</a:t>
            </a:r>
            <a:endParaRPr/>
          </a:p>
          <a:p>
            <a:pPr marL="0" marR="0" lvl="0" indent="0" algn="l" rtl="0">
              <a:spcBef>
                <a:spcPts val="200"/>
              </a:spcBef>
              <a:spcAft>
                <a:spcPts val="0"/>
              </a:spcAft>
              <a:buNone/>
            </a:pPr>
            <a:r>
              <a:rPr lang="en-US" sz="1800" b="1">
                <a:solidFill>
                  <a:srgbClr val="333344"/>
                </a:solidFill>
                <a:latin typeface="Courier New"/>
                <a:ea typeface="Courier New"/>
                <a:cs typeface="Courier New"/>
                <a:sym typeface="Courier New"/>
              </a:rPr>
              <a:t>// different new value. Every click triggers the render cycle.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8"/>
        <p:cNvGrpSpPr/>
        <p:nvPr/>
      </p:nvGrpSpPr>
      <p:grpSpPr>
        <a:xfrm>
          <a:off x="0" y="0"/>
          <a:ext cx="0" cy="0"/>
          <a:chOff x="0" y="0"/>
          <a:chExt cx="0" cy="0"/>
        </a:xfrm>
      </p:grpSpPr>
      <p:sp>
        <p:nvSpPr>
          <p:cNvPr id="189" name="Google Shape;189;p1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Controlled inputs: state drives the input value</a:t>
            </a:r>
            <a:endParaRPr/>
          </a:p>
        </p:txBody>
      </p:sp>
      <p:sp>
        <p:nvSpPr>
          <p:cNvPr id="190" name="Google Shape;190;p16"/>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a:solidFill>
                  <a:srgbClr val="5B21B6"/>
                </a:solidFill>
                <a:latin typeface="Courier New"/>
                <a:ea typeface="Courier New"/>
                <a:cs typeface="Courier New"/>
                <a:sym typeface="Courier New"/>
              </a:rPr>
              <a:t>TypeScript</a:t>
            </a:r>
            <a:endParaRPr/>
          </a:p>
        </p:txBody>
      </p:sp>
      <p:sp>
        <p:nvSpPr>
          <p:cNvPr id="191" name="Google Shape;191;p16"/>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2" name="Google Shape;192;p16"/>
          <p:cNvSpPr txBox="1"/>
          <p:nvPr/>
        </p:nvSpPr>
        <p:spPr>
          <a:xfrm>
            <a:off x="1005840" y="1645920"/>
            <a:ext cx="10179900" cy="4679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a:solidFill>
                  <a:srgbClr val="333344"/>
                </a:solidFill>
                <a:latin typeface="Courier New"/>
                <a:ea typeface="Courier New"/>
                <a:cs typeface="Courier New"/>
                <a:sym typeface="Courier New"/>
              </a:rPr>
              <a:t>function NameForm() {</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const [name, </a:t>
            </a:r>
            <a:r>
              <a:rPr lang="en-US" sz="2100" b="1">
                <a:solidFill>
                  <a:srgbClr val="B0B0C0"/>
                </a:solidFill>
                <a:latin typeface="Courier New"/>
                <a:ea typeface="Courier New"/>
                <a:cs typeface="Courier New"/>
                <a:sym typeface="Courier New"/>
              </a:rPr>
              <a:t>_______</a:t>
            </a:r>
            <a:r>
              <a:rPr lang="en-US" sz="1700" b="1">
                <a:solidFill>
                  <a:srgbClr val="333344"/>
                </a:solidFill>
                <a:latin typeface="Courier New"/>
                <a:ea typeface="Courier New"/>
                <a:cs typeface="Courier New"/>
                <a:sym typeface="Courier New"/>
              </a:rPr>
              <a:t>] = </a:t>
            </a:r>
            <a:r>
              <a:rPr lang="en-US" sz="2100" b="1">
                <a:solidFill>
                  <a:srgbClr val="B0B0C0"/>
                </a:solidFill>
                <a:latin typeface="Courier New"/>
                <a:ea typeface="Courier New"/>
                <a:cs typeface="Courier New"/>
                <a:sym typeface="Courier New"/>
              </a:rPr>
              <a:t>________</a:t>
            </a:r>
            <a:r>
              <a:rPr lang="en-US" sz="1700" b="1">
                <a:solidFill>
                  <a:srgbClr val="333344"/>
                </a:solidFill>
                <a:latin typeface="Courier New"/>
                <a:ea typeface="Courier New"/>
                <a:cs typeface="Courier New"/>
                <a:sym typeface="Courier New"/>
              </a:rPr>
              <a:t>;</a:t>
            </a:r>
            <a:endParaRPr sz="1700"/>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return (</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&lt;div&gt;</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&lt;input</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type="text"</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value={name}</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onChange={(e) =&gt; </a:t>
            </a:r>
            <a:r>
              <a:rPr lang="en-US" sz="1700" b="1">
                <a:solidFill>
                  <a:srgbClr val="B0B0C0"/>
                </a:solidFill>
                <a:latin typeface="Courier New"/>
                <a:ea typeface="Courier New"/>
                <a:cs typeface="Courier New"/>
                <a:sym typeface="Courier New"/>
              </a:rPr>
              <a:t>_________________</a:t>
            </a:r>
            <a:r>
              <a:rPr lang="en-US" sz="1700" b="1">
                <a:solidFill>
                  <a:srgbClr val="333344"/>
                </a:solidFill>
                <a:latin typeface="Courier New"/>
                <a:ea typeface="Courier New"/>
                <a:cs typeface="Courier New"/>
                <a:sym typeface="Courier New"/>
              </a:rPr>
              <a:t>}</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placeholder="Enter your name"</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/&gt;</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&lt;p&gt;Hello, {name || "stranger"}!&lt;/p&gt;</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&lt;/div&gt;</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a:t>
            </a:r>
            <a:endParaRPr sz="17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a:t>
            </a:r>
            <a:endParaRPr sz="1700"/>
          </a:p>
          <a:p>
            <a:pPr marL="0" marR="0" lvl="0" indent="0" algn="l" rtl="0">
              <a:spcBef>
                <a:spcPts val="2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197"/>
        <p:cNvGrpSpPr/>
        <p:nvPr/>
      </p:nvGrpSpPr>
      <p:grpSpPr>
        <a:xfrm>
          <a:off x="0" y="0"/>
          <a:ext cx="0" cy="0"/>
          <a:chOff x="0" y="0"/>
          <a:chExt cx="0" cy="0"/>
        </a:xfrm>
      </p:grpSpPr>
      <p:sp>
        <p:nvSpPr>
          <p:cNvPr id="198" name="Google Shape;198;p17"/>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a:solidFill>
                  <a:srgbClr val="5B21B6"/>
                </a:solidFill>
                <a:latin typeface="Calibri"/>
                <a:ea typeface="Calibri"/>
                <a:cs typeface="Calibri"/>
                <a:sym typeface="Calibri"/>
              </a:rPr>
              <a:t>Effects: Doing Things Outside of Rendering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3"/>
        <p:cNvGrpSpPr/>
        <p:nvPr/>
      </p:nvGrpSpPr>
      <p:grpSpPr>
        <a:xfrm>
          <a:off x="0" y="0"/>
          <a:ext cx="0" cy="0"/>
          <a:chOff x="0" y="0"/>
          <a:chExt cx="0" cy="0"/>
        </a:xfrm>
      </p:grpSpPr>
      <p:sp>
        <p:nvSpPr>
          <p:cNvPr id="204" name="Google Shape;204;g3e10b4ab9cc_0_149"/>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The naive approach</a:t>
            </a:r>
            <a:endParaRPr/>
          </a:p>
        </p:txBody>
      </p:sp>
      <p:sp>
        <p:nvSpPr>
          <p:cNvPr id="205" name="Google Shape;205;g3e10b4ab9cc_0_149"/>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a:solidFill>
                  <a:srgbClr val="5B21B6"/>
                </a:solidFill>
                <a:latin typeface="Courier New"/>
                <a:ea typeface="Courier New"/>
                <a:cs typeface="Courier New"/>
                <a:sym typeface="Courier New"/>
              </a:rPr>
              <a:t>TypeScript</a:t>
            </a:r>
            <a:endParaRPr/>
          </a:p>
        </p:txBody>
      </p:sp>
      <p:sp>
        <p:nvSpPr>
          <p:cNvPr id="206" name="Google Shape;206;g3e10b4ab9cc_0_149"/>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7" name="Google Shape;207;g3e10b4ab9cc_0_149"/>
          <p:cNvSpPr txBox="1"/>
          <p:nvPr/>
        </p:nvSpPr>
        <p:spPr>
          <a:xfrm>
            <a:off x="1005840" y="1645920"/>
            <a:ext cx="10179900" cy="489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900" b="1">
                <a:solidFill>
                  <a:srgbClr val="333344"/>
                </a:solidFill>
                <a:latin typeface="Courier New"/>
                <a:ea typeface="Courier New"/>
                <a:cs typeface="Courier New"/>
                <a:sym typeface="Courier New"/>
              </a:rPr>
              <a:t>function MessageList() {</a:t>
            </a:r>
            <a:endParaRPr sz="2000"/>
          </a:p>
          <a:p>
            <a:pPr marL="0" marR="0" lvl="0" indent="0" algn="l" rtl="0">
              <a:spcBef>
                <a:spcPts val="200"/>
              </a:spcBef>
              <a:spcAft>
                <a:spcPts val="0"/>
              </a:spcAft>
              <a:buNone/>
            </a:pPr>
            <a:r>
              <a:rPr lang="en-US" sz="1900" b="1">
                <a:solidFill>
                  <a:srgbClr val="333344"/>
                </a:solidFill>
                <a:latin typeface="Courier New"/>
                <a:ea typeface="Courier New"/>
                <a:cs typeface="Courier New"/>
                <a:sym typeface="Courier New"/>
              </a:rPr>
              <a:t>    const [messages, setMessages] = useState&lt;Message[]&gt;([]);</a:t>
            </a:r>
            <a:endParaRPr sz="2000"/>
          </a:p>
          <a:p>
            <a:pPr marL="0" marR="0" lvl="0" indent="0" algn="l" rtl="0">
              <a:spcBef>
                <a:spcPts val="200"/>
              </a:spcBef>
              <a:spcAft>
                <a:spcPts val="0"/>
              </a:spcAft>
              <a:buNone/>
            </a:pPr>
            <a:endParaRPr sz="19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900" b="1">
                <a:solidFill>
                  <a:srgbClr val="333344"/>
                </a:solidFill>
                <a:latin typeface="Courier New"/>
                <a:ea typeface="Courier New"/>
                <a:cs typeface="Courier New"/>
                <a:sym typeface="Courier New"/>
              </a:rPr>
              <a:t>    // Just fetch and set state</a:t>
            </a:r>
            <a:endParaRPr sz="2000"/>
          </a:p>
          <a:p>
            <a:pPr marL="0" marR="0" lvl="0" indent="0" algn="l" rtl="0">
              <a:spcBef>
                <a:spcPts val="200"/>
              </a:spcBef>
              <a:spcAft>
                <a:spcPts val="0"/>
              </a:spcAft>
              <a:buNone/>
            </a:pPr>
            <a:r>
              <a:rPr lang="en-US" sz="1900" b="1">
                <a:solidFill>
                  <a:srgbClr val="333344"/>
                </a:solidFill>
                <a:latin typeface="Courier New"/>
                <a:ea typeface="Courier New"/>
                <a:cs typeface="Courier New"/>
                <a:sym typeface="Courier New"/>
              </a:rPr>
              <a:t>    fetch("/api/messages")</a:t>
            </a:r>
            <a:endParaRPr sz="2000"/>
          </a:p>
          <a:p>
            <a:pPr marL="0" marR="0" lvl="0" indent="0" algn="l" rtl="0">
              <a:spcBef>
                <a:spcPts val="200"/>
              </a:spcBef>
              <a:spcAft>
                <a:spcPts val="0"/>
              </a:spcAft>
              <a:buNone/>
            </a:pPr>
            <a:r>
              <a:rPr lang="en-US" sz="1900" b="1">
                <a:solidFill>
                  <a:srgbClr val="333344"/>
                </a:solidFill>
                <a:latin typeface="Courier New"/>
                <a:ea typeface="Courier New"/>
                <a:cs typeface="Courier New"/>
                <a:sym typeface="Courier New"/>
              </a:rPr>
              <a:t>        .then(r =&gt; r.json())</a:t>
            </a:r>
            <a:endParaRPr sz="2000"/>
          </a:p>
          <a:p>
            <a:pPr marL="0" marR="0" lvl="0" indent="0" algn="l" rtl="0">
              <a:spcBef>
                <a:spcPts val="200"/>
              </a:spcBef>
              <a:spcAft>
                <a:spcPts val="0"/>
              </a:spcAft>
              <a:buNone/>
            </a:pPr>
            <a:r>
              <a:rPr lang="en-US" sz="1900" b="1">
                <a:solidFill>
                  <a:srgbClr val="333344"/>
                </a:solidFill>
                <a:latin typeface="Courier New"/>
                <a:ea typeface="Courier New"/>
                <a:cs typeface="Courier New"/>
                <a:sym typeface="Courier New"/>
              </a:rPr>
              <a:t>        .then(setMessages);</a:t>
            </a:r>
            <a:endParaRPr sz="2000"/>
          </a:p>
          <a:p>
            <a:pPr marL="0" marR="0" lvl="0" indent="0" algn="l" rtl="0">
              <a:spcBef>
                <a:spcPts val="200"/>
              </a:spcBef>
              <a:spcAft>
                <a:spcPts val="0"/>
              </a:spcAft>
              <a:buNone/>
            </a:pPr>
            <a:endParaRPr sz="19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900" b="1">
                <a:solidFill>
                  <a:srgbClr val="333344"/>
                </a:solidFill>
                <a:latin typeface="Courier New"/>
                <a:ea typeface="Courier New"/>
                <a:cs typeface="Courier New"/>
                <a:sym typeface="Courier New"/>
              </a:rPr>
              <a:t>    return (</a:t>
            </a:r>
            <a:endParaRPr sz="2000"/>
          </a:p>
          <a:p>
            <a:pPr marL="0" marR="0" lvl="0" indent="0" algn="l" rtl="0">
              <a:spcBef>
                <a:spcPts val="200"/>
              </a:spcBef>
              <a:spcAft>
                <a:spcPts val="0"/>
              </a:spcAft>
              <a:buNone/>
            </a:pPr>
            <a:r>
              <a:rPr lang="en-US" sz="1900" b="1">
                <a:solidFill>
                  <a:srgbClr val="333344"/>
                </a:solidFill>
                <a:latin typeface="Courier New"/>
                <a:ea typeface="Courier New"/>
                <a:cs typeface="Courier New"/>
                <a:sym typeface="Courier New"/>
              </a:rPr>
              <a:t>        &lt;ul&gt;</a:t>
            </a:r>
            <a:endParaRPr sz="2000"/>
          </a:p>
          <a:p>
            <a:pPr marL="0" marR="0" lvl="0" indent="0" algn="l" rtl="0">
              <a:spcBef>
                <a:spcPts val="200"/>
              </a:spcBef>
              <a:spcAft>
                <a:spcPts val="0"/>
              </a:spcAft>
              <a:buNone/>
            </a:pPr>
            <a:r>
              <a:rPr lang="en-US" sz="1900" b="1">
                <a:solidFill>
                  <a:srgbClr val="333344"/>
                </a:solidFill>
                <a:latin typeface="Courier New"/>
                <a:ea typeface="Courier New"/>
                <a:cs typeface="Courier New"/>
                <a:sym typeface="Courier New"/>
              </a:rPr>
              <a:t>            {messages.map(m =&gt; &lt;li key={m.id}&gt;{m.text}&lt;/li&gt;)}</a:t>
            </a:r>
            <a:endParaRPr sz="2000"/>
          </a:p>
          <a:p>
            <a:pPr marL="0" marR="0" lvl="0" indent="0" algn="l" rtl="0">
              <a:spcBef>
                <a:spcPts val="200"/>
              </a:spcBef>
              <a:spcAft>
                <a:spcPts val="0"/>
              </a:spcAft>
              <a:buNone/>
            </a:pPr>
            <a:r>
              <a:rPr lang="en-US" sz="1900" b="1">
                <a:solidFill>
                  <a:srgbClr val="333344"/>
                </a:solidFill>
                <a:latin typeface="Courier New"/>
                <a:ea typeface="Courier New"/>
                <a:cs typeface="Courier New"/>
                <a:sym typeface="Courier New"/>
              </a:rPr>
              <a:t>        &lt;/ul&gt;</a:t>
            </a:r>
            <a:endParaRPr sz="2000"/>
          </a:p>
          <a:p>
            <a:pPr marL="0" marR="0" lvl="0" indent="0" algn="l" rtl="0">
              <a:spcBef>
                <a:spcPts val="200"/>
              </a:spcBef>
              <a:spcAft>
                <a:spcPts val="0"/>
              </a:spcAft>
              <a:buNone/>
            </a:pPr>
            <a:r>
              <a:rPr lang="en-US" sz="1900" b="1">
                <a:solidFill>
                  <a:srgbClr val="333344"/>
                </a:solidFill>
                <a:latin typeface="Courier New"/>
                <a:ea typeface="Courier New"/>
                <a:cs typeface="Courier New"/>
                <a:sym typeface="Courier New"/>
              </a:rPr>
              <a:t>    );</a:t>
            </a:r>
            <a:endParaRPr sz="2000"/>
          </a:p>
          <a:p>
            <a:pPr marL="0" marR="0" lvl="0" indent="0" algn="l" rtl="0">
              <a:spcBef>
                <a:spcPts val="200"/>
              </a:spcBef>
              <a:spcAft>
                <a:spcPts val="0"/>
              </a:spcAft>
              <a:buNone/>
            </a:pPr>
            <a:r>
              <a:rPr lang="en-US" sz="1900" b="1">
                <a:solidFill>
                  <a:srgbClr val="333344"/>
                </a:solidFill>
                <a:latin typeface="Courier New"/>
                <a:ea typeface="Courier New"/>
                <a:cs typeface="Courier New"/>
                <a:sym typeface="Courier New"/>
              </a:rPr>
              <a:t>}</a:t>
            </a:r>
            <a:endParaRPr sz="2000"/>
          </a:p>
          <a:p>
            <a:pPr marL="0" marR="0" lvl="0" indent="0" algn="l" rtl="0">
              <a:spcBef>
                <a:spcPts val="200"/>
              </a:spcBef>
              <a:spcAft>
                <a:spcPts val="0"/>
              </a:spcAft>
              <a:buNone/>
            </a:pPr>
            <a:endParaRPr sz="23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2"/>
        <p:cNvGrpSpPr/>
        <p:nvPr/>
      </p:nvGrpSpPr>
      <p:grpSpPr>
        <a:xfrm>
          <a:off x="0" y="0"/>
          <a:ext cx="0" cy="0"/>
          <a:chOff x="0" y="0"/>
          <a:chExt cx="0" cy="0"/>
        </a:xfrm>
      </p:grpSpPr>
      <p:sp>
        <p:nvSpPr>
          <p:cNvPr id="213" name="Google Shape;213;g3e10b4ab9cc_0_23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Why side effects need their own tool</a:t>
            </a:r>
            <a:endParaRPr/>
          </a:p>
        </p:txBody>
      </p:sp>
      <p:sp>
        <p:nvSpPr>
          <p:cNvPr id="214" name="Google Shape;214;g3e10b4ab9cc_0_232"/>
          <p:cNvSpPr txBox="1"/>
          <p:nvPr/>
        </p:nvSpPr>
        <p:spPr>
          <a:xfrm>
            <a:off x="914400" y="1172965"/>
            <a:ext cx="10362900" cy="2293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Your component wants to do things that aren't part of rendering:</a:t>
            </a:r>
            <a:endParaRPr sz="2400" b="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Fetch data from a server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Subscribe to an event stream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Start a timer or interval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Update the page title, log analytics, etc.</a:t>
            </a:r>
            <a:endParaRPr/>
          </a:p>
          <a:p>
            <a:pPr marL="457200" marR="0" lvl="1" indent="0" algn="l" rtl="0">
              <a:spcBef>
                <a:spcPts val="60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9"/>
        <p:cNvGrpSpPr/>
        <p:nvPr/>
      </p:nvGrpSpPr>
      <p:grpSpPr>
        <a:xfrm>
          <a:off x="0" y="0"/>
          <a:ext cx="0" cy="0"/>
          <a:chOff x="0" y="0"/>
          <a:chExt cx="0" cy="0"/>
        </a:xfrm>
      </p:grpSpPr>
      <p:sp>
        <p:nvSpPr>
          <p:cNvPr id="220" name="Google Shape;220;g3e10b4ab9cc_0_238"/>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Why side effects need their own tool</a:t>
            </a:r>
            <a:endParaRPr/>
          </a:p>
        </p:txBody>
      </p:sp>
      <p:sp>
        <p:nvSpPr>
          <p:cNvPr id="221" name="Google Shape;221;g3e10b4ab9cc_0_238"/>
          <p:cNvSpPr txBox="1"/>
          <p:nvPr/>
        </p:nvSpPr>
        <p:spPr>
          <a:xfrm>
            <a:off x="914400" y="1172965"/>
            <a:ext cx="10362900" cy="4663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Your component wants to do things that aren't part of rendering:</a:t>
            </a:r>
            <a:endParaRPr sz="2400" b="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Fetch data from a server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Subscribe to an event stream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Start a timer or interval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Update the page title, log analytics, etc.</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You can't just drop these in the component body.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Component function runs on every render</a:t>
            </a: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a:solidFill>
                  <a:srgbClr val="666677"/>
                </a:solidFill>
                <a:latin typeface="Calibri"/>
                <a:ea typeface="Calibri"/>
                <a:cs typeface="Calibri"/>
                <a:sym typeface="Calibri"/>
              </a:rPr>
              <a:t>  E</a:t>
            </a:r>
            <a:r>
              <a:rPr lang="en-US" sz="2000" b="0" i="0" u="none" strike="noStrike" cap="none">
                <a:solidFill>
                  <a:srgbClr val="666677"/>
                </a:solidFill>
                <a:latin typeface="Calibri"/>
                <a:ea typeface="Calibri"/>
                <a:cs typeface="Calibri"/>
                <a:sym typeface="Calibri"/>
              </a:rPr>
              <a:t>very state change triggers</a:t>
            </a:r>
            <a:r>
              <a:rPr lang="en-US"/>
              <a:t> </a:t>
            </a:r>
            <a:r>
              <a:rPr lang="en-US" sz="2000" b="0" i="0" u="none" strike="noStrike" cap="none">
                <a:solidFill>
                  <a:srgbClr val="666677"/>
                </a:solidFill>
                <a:latin typeface="Calibri"/>
                <a:ea typeface="Calibri"/>
                <a:cs typeface="Calibri"/>
                <a:sym typeface="Calibri"/>
              </a:rPr>
              <a:t>a re-render. </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a:solidFill>
                  <a:srgbClr val="666677"/>
                </a:solidFill>
                <a:latin typeface="Calibri"/>
                <a:ea typeface="Calibri"/>
                <a:cs typeface="Calibri"/>
                <a:sym typeface="Calibri"/>
              </a:rPr>
              <a:t>  </a:t>
            </a:r>
            <a:r>
              <a:rPr lang="en-US" sz="2000" b="0" i="0" u="none" strike="noStrike" cap="none">
                <a:solidFill>
                  <a:srgbClr val="666677"/>
                </a:solidFill>
                <a:latin typeface="Calibri"/>
                <a:ea typeface="Calibri"/>
                <a:cs typeface="Calibri"/>
                <a:sym typeface="Calibri"/>
              </a:rPr>
              <a:t>A `fetch` in the body would hit the server on every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click. A subscription would register a new listener every time.</a:t>
            </a:r>
            <a:endParaRPr/>
          </a:p>
          <a:p>
            <a:pPr marL="457200" marR="0" lvl="1" indent="0" algn="l" rtl="0">
              <a:spcBef>
                <a:spcPts val="60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6"/>
        <p:cNvGrpSpPr/>
        <p:nvPr/>
      </p:nvGrpSpPr>
      <p:grpSpPr>
        <a:xfrm>
          <a:off x="0" y="0"/>
          <a:ext cx="0" cy="0"/>
          <a:chOff x="0" y="0"/>
          <a:chExt cx="0" cy="0"/>
        </a:xfrm>
      </p:grpSpPr>
      <p:sp>
        <p:nvSpPr>
          <p:cNvPr id="227" name="Google Shape;227;p18"/>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Why side effects need their own tool</a:t>
            </a:r>
            <a:endParaRPr/>
          </a:p>
        </p:txBody>
      </p:sp>
      <p:sp>
        <p:nvSpPr>
          <p:cNvPr id="228" name="Google Shape;228;p18"/>
          <p:cNvSpPr txBox="1"/>
          <p:nvPr/>
        </p:nvSpPr>
        <p:spPr>
          <a:xfrm>
            <a:off x="914400" y="1172965"/>
            <a:ext cx="10362900" cy="5587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Your component wants to do things that aren't part of rendering:</a:t>
            </a:r>
            <a:endParaRPr sz="2400" b="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Fetch data from a server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Subscribe to an event stream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Start a timer or interval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Update the page title, log analytics, etc.</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You can't just drop these in the component body.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Component function runs on every render</a:t>
            </a: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a:solidFill>
                  <a:srgbClr val="666677"/>
                </a:solidFill>
                <a:latin typeface="Calibri"/>
                <a:ea typeface="Calibri"/>
                <a:cs typeface="Calibri"/>
                <a:sym typeface="Calibri"/>
              </a:rPr>
              <a:t>  E</a:t>
            </a:r>
            <a:r>
              <a:rPr lang="en-US" sz="2000" b="0" i="0" u="none" strike="noStrike" cap="none">
                <a:solidFill>
                  <a:srgbClr val="666677"/>
                </a:solidFill>
                <a:latin typeface="Calibri"/>
                <a:ea typeface="Calibri"/>
                <a:cs typeface="Calibri"/>
                <a:sym typeface="Calibri"/>
              </a:rPr>
              <a:t>very state change triggers</a:t>
            </a:r>
            <a:r>
              <a:rPr lang="en-US"/>
              <a:t> </a:t>
            </a:r>
            <a:r>
              <a:rPr lang="en-US" sz="2000" b="0" i="0" u="none" strike="noStrike" cap="none">
                <a:solidFill>
                  <a:srgbClr val="666677"/>
                </a:solidFill>
                <a:latin typeface="Calibri"/>
                <a:ea typeface="Calibri"/>
                <a:cs typeface="Calibri"/>
                <a:sym typeface="Calibri"/>
              </a:rPr>
              <a:t>a re-render. </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a:solidFill>
                  <a:srgbClr val="666677"/>
                </a:solidFill>
                <a:latin typeface="Calibri"/>
                <a:ea typeface="Calibri"/>
                <a:cs typeface="Calibri"/>
                <a:sym typeface="Calibri"/>
              </a:rPr>
              <a:t>  </a:t>
            </a:r>
            <a:r>
              <a:rPr lang="en-US" sz="2000" b="0" i="0" u="none" strike="noStrike" cap="none">
                <a:solidFill>
                  <a:srgbClr val="666677"/>
                </a:solidFill>
                <a:latin typeface="Calibri"/>
                <a:ea typeface="Calibri"/>
                <a:cs typeface="Calibri"/>
                <a:sym typeface="Calibri"/>
              </a:rPr>
              <a:t>A `fetch` in the body would hit the server on every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click. A subscription would register a new listener every time.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a:solidFill>
                  <a:srgbClr val="333344"/>
                </a:solidFill>
                <a:latin typeface="Calibri"/>
                <a:ea typeface="Calibri"/>
                <a:cs typeface="Calibri"/>
                <a:sym typeface="Calibri"/>
              </a:rPr>
              <a:t>Want to say</a:t>
            </a:r>
            <a:r>
              <a:rPr lang="en-US" sz="2400" b="0">
                <a:solidFill>
                  <a:srgbClr val="333344"/>
                </a:solidFill>
                <a:latin typeface="Calibri"/>
                <a:ea typeface="Calibri"/>
                <a:cs typeface="Calibri"/>
                <a:sym typeface="Calibri"/>
              </a:rPr>
              <a:t> "do this AFTER the render, only when certain things change</a:t>
            </a:r>
            <a:r>
              <a:rPr lang="en-US" sz="2400">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That's </a:t>
            </a:r>
            <a:r>
              <a:rPr lang="en-US" sz="2000" b="1" i="0" u="none" strike="noStrike" cap="none">
                <a:solidFill>
                  <a:srgbClr val="666677"/>
                </a:solidFill>
                <a:latin typeface="Courier Prime"/>
                <a:ea typeface="Courier Prime"/>
                <a:cs typeface="Courier Prime"/>
                <a:sym typeface="Courier Prime"/>
              </a:rPr>
              <a:t>useEffect</a:t>
            </a:r>
            <a:r>
              <a:rPr lang="en-US" sz="2000" b="0" i="0" u="none" strike="noStrike" cap="none">
                <a:solidFill>
                  <a:srgbClr val="666677"/>
                </a:solidFill>
                <a:latin typeface="Calibri"/>
                <a:ea typeface="Calibri"/>
                <a:cs typeface="Calibri"/>
                <a:sym typeface="Calibri"/>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3"/>
        <p:cNvGrpSpPr/>
        <p:nvPr/>
      </p:nvGrpSpPr>
      <p:grpSpPr>
        <a:xfrm>
          <a:off x="0" y="0"/>
          <a:ext cx="0" cy="0"/>
          <a:chOff x="0" y="0"/>
          <a:chExt cx="0" cy="0"/>
        </a:xfrm>
      </p:grpSpPr>
      <p:sp>
        <p:nvSpPr>
          <p:cNvPr id="234" name="Google Shape;234;g3e10b4ab9cc_0_244"/>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useEffect(fn, deps)</a:t>
            </a:r>
            <a:endParaRPr/>
          </a:p>
        </p:txBody>
      </p:sp>
      <p:sp>
        <p:nvSpPr>
          <p:cNvPr id="235" name="Google Shape;235;g3e10b4ab9cc_0_244"/>
          <p:cNvSpPr txBox="1"/>
          <p:nvPr/>
        </p:nvSpPr>
        <p:spPr>
          <a:xfrm>
            <a:off x="914400" y="1135790"/>
            <a:ext cx="10362900" cy="273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333344"/>
                </a:solidFill>
                <a:latin typeface="Courier Prime"/>
                <a:ea typeface="Courier Prime"/>
                <a:cs typeface="Courier Prime"/>
                <a:sym typeface="Courier Prime"/>
              </a:rPr>
              <a:t>useEffect</a:t>
            </a:r>
            <a:r>
              <a:rPr lang="en-US" sz="2400" b="0">
                <a:solidFill>
                  <a:srgbClr val="333344"/>
                </a:solidFill>
                <a:latin typeface="Calibri"/>
                <a:ea typeface="Calibri"/>
                <a:cs typeface="Calibri"/>
                <a:sym typeface="Calibri"/>
              </a:rPr>
              <a:t> takes two arguments: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 function</a:t>
            </a:r>
            <a:r>
              <a:rPr lang="en-US" sz="2000" b="0" i="0" u="none" strike="noStrike" cap="none">
                <a:solidFill>
                  <a:srgbClr val="666677"/>
                </a:solidFill>
                <a:latin typeface="Calibri"/>
                <a:ea typeface="Calibri"/>
                <a:cs typeface="Calibri"/>
                <a:sym typeface="Calibri"/>
              </a:rPr>
              <a:t> - the side effect to run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 deps array</a:t>
            </a:r>
            <a:r>
              <a:rPr lang="en-US" sz="2000" b="0" i="0" u="none" strike="noStrike" cap="none">
                <a:solidFill>
                  <a:srgbClr val="666677"/>
                </a:solidFill>
                <a:latin typeface="Calibri"/>
                <a:ea typeface="Calibri"/>
                <a:cs typeface="Calibri"/>
                <a:sym typeface="Calibri"/>
              </a:rPr>
              <a:t> - when to re-run the effect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After each render, React checks the deps array.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If any value changed since last render, React runs the function.</a:t>
            </a:r>
            <a:endParaRPr/>
          </a:p>
          <a:p>
            <a:pPr marL="0" marR="0" lvl="0" indent="0" algn="l" rtl="0">
              <a:spcBef>
                <a:spcPts val="60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0"/>
        <p:cNvGrpSpPr/>
        <p:nvPr/>
      </p:nvGrpSpPr>
      <p:grpSpPr>
        <a:xfrm>
          <a:off x="0" y="0"/>
          <a:ext cx="0" cy="0"/>
          <a:chOff x="0" y="0"/>
          <a:chExt cx="0" cy="0"/>
        </a:xfrm>
      </p:grpSpPr>
      <p:sp>
        <p:nvSpPr>
          <p:cNvPr id="241" name="Google Shape;241;p19"/>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useEffect(fn, deps)</a:t>
            </a:r>
            <a:endParaRPr/>
          </a:p>
        </p:txBody>
      </p:sp>
      <p:sp>
        <p:nvSpPr>
          <p:cNvPr id="242" name="Google Shape;242;p19"/>
          <p:cNvSpPr txBox="1"/>
          <p:nvPr/>
        </p:nvSpPr>
        <p:spPr>
          <a:xfrm>
            <a:off x="914400" y="1135790"/>
            <a:ext cx="10362900" cy="5649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333344"/>
                </a:solidFill>
                <a:latin typeface="Courier Prime"/>
                <a:ea typeface="Courier Prime"/>
                <a:cs typeface="Courier Prime"/>
                <a:sym typeface="Courier Prime"/>
              </a:rPr>
              <a:t>useEffect</a:t>
            </a:r>
            <a:r>
              <a:rPr lang="en-US" sz="2400" b="0">
                <a:solidFill>
                  <a:srgbClr val="333344"/>
                </a:solidFill>
                <a:latin typeface="Calibri"/>
                <a:ea typeface="Calibri"/>
                <a:cs typeface="Calibri"/>
                <a:sym typeface="Calibri"/>
              </a:rPr>
              <a:t> takes two arguments: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 function</a:t>
            </a:r>
            <a:r>
              <a:rPr lang="en-US" sz="2000" b="0" i="0" u="none" strike="noStrike" cap="none">
                <a:solidFill>
                  <a:srgbClr val="666677"/>
                </a:solidFill>
                <a:latin typeface="Calibri"/>
                <a:ea typeface="Calibri"/>
                <a:cs typeface="Calibri"/>
                <a:sym typeface="Calibri"/>
              </a:rPr>
              <a:t> - the side effect to run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 deps array</a:t>
            </a:r>
            <a:r>
              <a:rPr lang="en-US" sz="2000" b="0" i="0" u="none" strike="noStrike" cap="none">
                <a:solidFill>
                  <a:srgbClr val="666677"/>
                </a:solidFill>
                <a:latin typeface="Calibri"/>
                <a:ea typeface="Calibri"/>
                <a:cs typeface="Calibri"/>
                <a:sym typeface="Calibri"/>
              </a:rPr>
              <a:t> - when to re-run the effect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After each render, React checks the deps array. </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If any value changed since last render, React runs the function.</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Common patterns: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t>
            </a:r>
            <a:r>
              <a:rPr lang="en-US" sz="2000" b="0" i="0" u="none" strike="noStrike" cap="none">
                <a:solidFill>
                  <a:srgbClr val="666677"/>
                </a:solidFill>
                <a:latin typeface="Calibri"/>
                <a:ea typeface="Calibri"/>
                <a:cs typeface="Calibri"/>
                <a:sym typeface="Calibri"/>
              </a:rPr>
              <a:t>       - empty array: run once, on first mount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`[id]`</a:t>
            </a:r>
            <a:r>
              <a:rPr lang="en-US" sz="2000" b="0" i="0" u="none" strike="noStrike" cap="none">
                <a:solidFill>
                  <a:srgbClr val="666677"/>
                </a:solidFill>
                <a:latin typeface="Calibri"/>
                <a:ea typeface="Calibri"/>
                <a:cs typeface="Calibri"/>
                <a:sym typeface="Calibri"/>
              </a:rPr>
              <a:t>     - re-run whenever `id` changes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 b]`</a:t>
            </a:r>
            <a:r>
              <a:rPr lang="en-US" sz="2000" b="0" i="0" u="none" strike="noStrike" cap="none">
                <a:solidFill>
                  <a:srgbClr val="666677"/>
                </a:solidFill>
                <a:latin typeface="Calibri"/>
                <a:ea typeface="Calibri"/>
                <a:cs typeface="Calibri"/>
                <a:sym typeface="Calibri"/>
              </a:rPr>
              <a:t>   - re-run whenever `a` OR `b` changes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no array</a:t>
            </a:r>
            <a:r>
              <a:rPr lang="en-US" sz="2000" b="0" i="0" u="none" strike="noStrike" cap="none">
                <a:solidFill>
                  <a:srgbClr val="666677"/>
                </a:solidFill>
                <a:latin typeface="Calibri"/>
                <a:ea typeface="Calibri"/>
                <a:cs typeface="Calibri"/>
                <a:sym typeface="Calibri"/>
              </a:rPr>
              <a:t> - run after every render (rarely useful)</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 is the </a:t>
            </a:r>
            <a:r>
              <a:rPr lang="en-US" sz="2400">
                <a:solidFill>
                  <a:srgbClr val="333344"/>
                </a:solidFill>
                <a:latin typeface="Calibri"/>
                <a:ea typeface="Calibri"/>
                <a:cs typeface="Calibri"/>
                <a:sym typeface="Calibri"/>
              </a:rPr>
              <a:t>most common</a:t>
            </a:r>
            <a:r>
              <a:rPr lang="en-US" sz="2400" b="0">
                <a:solidFill>
                  <a:srgbClr val="333344"/>
                </a:solidFill>
                <a:latin typeface="Calibri"/>
                <a:ea typeface="Calibri"/>
                <a:cs typeface="Calibri"/>
                <a:sym typeface="Calibri"/>
              </a:rPr>
              <a:t>. "On first load, do this."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7"/>
        <p:cNvGrpSpPr/>
        <p:nvPr/>
      </p:nvGrpSpPr>
      <p:grpSpPr>
        <a:xfrm>
          <a:off x="0" y="0"/>
          <a:ext cx="0" cy="0"/>
          <a:chOff x="0" y="0"/>
          <a:chExt cx="0" cy="0"/>
        </a:xfrm>
      </p:grpSpPr>
      <p:sp>
        <p:nvSpPr>
          <p:cNvPr id="248" name="Google Shape;248;p20"/>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Pick the right deps array</a:t>
            </a:r>
            <a:endParaRPr/>
          </a:p>
        </p:txBody>
      </p:sp>
      <p:sp>
        <p:nvSpPr>
          <p:cNvPr id="249" name="Google Shape;249;p20"/>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a:solidFill>
                  <a:srgbClr val="5B21B6"/>
                </a:solidFill>
                <a:latin typeface="Courier New"/>
                <a:ea typeface="Courier New"/>
                <a:cs typeface="Courier New"/>
                <a:sym typeface="Courier New"/>
              </a:rPr>
              <a:t>TypeScript</a:t>
            </a:r>
            <a:endParaRPr/>
          </a:p>
        </p:txBody>
      </p:sp>
      <p:sp>
        <p:nvSpPr>
          <p:cNvPr id="250" name="Google Shape;250;p20"/>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1" name="Google Shape;251;p20"/>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33344"/>
                </a:solidFill>
                <a:latin typeface="Courier New"/>
                <a:ea typeface="Courier New"/>
                <a:cs typeface="Courier New"/>
                <a:sym typeface="Courier New"/>
              </a:rPr>
              <a:t>function MessageList() {</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const [messages, setMessages] = useState&lt;Message[]&gt;([]);</a:t>
            </a:r>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useEffect(() =&gt; {</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async function load() {</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const r = await fetch("/api/messages");</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setMessages(await r.json());</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load();</a:t>
            </a:r>
            <a:endParaRPr/>
          </a:p>
          <a:p>
            <a:pPr marL="0" marR="0" lvl="0" indent="0" algn="l" rtl="0">
              <a:spcBef>
                <a:spcPts val="200"/>
              </a:spcBef>
              <a:spcAft>
                <a:spcPts val="0"/>
              </a:spcAft>
              <a:buNone/>
            </a:pPr>
            <a:r>
              <a:rPr lang="en-US" sz="1500" b="1">
                <a:solidFill>
                  <a:srgbClr val="B0B0C0"/>
                </a:solidFill>
                <a:latin typeface="Courier New"/>
                <a:ea typeface="Courier New"/>
                <a:cs typeface="Courier New"/>
                <a:sym typeface="Courier New"/>
              </a:rPr>
              <a:t>    }, ???);   // &lt;-- what goes here?</a:t>
            </a:r>
            <a:endParaRPr/>
          </a:p>
          <a:p>
            <a:pPr marL="0" marR="0" lvl="0" indent="0" algn="l" rtl="0">
              <a:spcBef>
                <a:spcPts val="200"/>
              </a:spcBef>
              <a:spcAft>
                <a:spcPts val="0"/>
              </a:spcAft>
              <a:buNone/>
            </a:pPr>
            <a:endParaRPr sz="1500" b="1">
              <a:solidFill>
                <a:srgbClr val="B0B0C0"/>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return &lt;ul&gt;{messages.map(m =&gt; &lt;li key={m.id}&gt;{m.text}&lt;/li&gt;)}&lt;/ul&gt;;</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(a)  []</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(b)  [messages]</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(c)  no array at all - just useEffect(() =&gt; { ... })</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(d)  [setMessages]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6"/>
        <p:cNvGrpSpPr/>
        <p:nvPr/>
      </p:nvGrpSpPr>
      <p:grpSpPr>
        <a:xfrm>
          <a:off x="0" y="0"/>
          <a:ext cx="0" cy="0"/>
          <a:chOff x="0" y="0"/>
          <a:chExt cx="0" cy="0"/>
        </a:xfrm>
      </p:grpSpPr>
      <p:sp>
        <p:nvSpPr>
          <p:cNvPr id="257" name="Google Shape;257;p22"/>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Spot the bug: userId comes from the URL</a:t>
            </a:r>
            <a:endParaRPr/>
          </a:p>
        </p:txBody>
      </p:sp>
      <p:sp>
        <p:nvSpPr>
          <p:cNvPr id="258" name="Google Shape;258;p22"/>
          <p:cNvSpPr/>
          <p:nvPr/>
        </p:nvSpPr>
        <p:spPr>
          <a:xfrm>
            <a:off x="512250" y="1364500"/>
            <a:ext cx="11167200" cy="53949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Font typeface="Arial"/>
              <a:buNone/>
            </a:pPr>
            <a:endParaRPr sz="1800">
              <a:solidFill>
                <a:schemeClr val="dk1"/>
              </a:solidFill>
              <a:latin typeface="Calibri"/>
              <a:ea typeface="Calibri"/>
              <a:cs typeface="Calibri"/>
              <a:sym typeface="Calibri"/>
            </a:endParaRPr>
          </a:p>
        </p:txBody>
      </p:sp>
      <p:sp>
        <p:nvSpPr>
          <p:cNvPr id="259" name="Google Shape;259;p22"/>
          <p:cNvSpPr txBox="1"/>
          <p:nvPr/>
        </p:nvSpPr>
        <p:spPr>
          <a:xfrm>
            <a:off x="731515" y="1678770"/>
            <a:ext cx="10179900" cy="290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33344"/>
                </a:solidFill>
                <a:latin typeface="Courier New"/>
                <a:ea typeface="Courier New"/>
                <a:cs typeface="Courier New"/>
                <a:sym typeface="Courier New"/>
              </a:rPr>
              <a:t>// A</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function UserProfile({ userId }: { userId: string }) {</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const [user, setUser] = useState&lt;User | null&gt;(null);</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useEffect(() =&gt; {</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fetch(`/api/user/${userId}`)</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.then(r =&gt; r.json())</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.then(setUser);</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 []);</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return &lt;div&gt;{user?.name}&lt;/div&gt;;</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a:t>
            </a:r>
            <a:endParaRPr sz="1600"/>
          </a:p>
          <a:p>
            <a:pPr marL="0" marR="0" lvl="0" indent="0" algn="l" rtl="0">
              <a:spcBef>
                <a:spcPts val="200"/>
              </a:spcBef>
              <a:spcAft>
                <a:spcPts val="0"/>
              </a:spcAft>
              <a:buNone/>
            </a:pPr>
            <a:endParaRPr sz="1600"/>
          </a:p>
        </p:txBody>
      </p:sp>
      <p:sp>
        <p:nvSpPr>
          <p:cNvPr id="260" name="Google Shape;260;p22"/>
          <p:cNvSpPr txBox="1"/>
          <p:nvPr/>
        </p:nvSpPr>
        <p:spPr>
          <a:xfrm>
            <a:off x="5198140" y="3316095"/>
            <a:ext cx="10179900" cy="29040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B</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function UserProfile({ userId }: { userId: string }) {</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const [user, setUser] = useState&lt;User | null&gt;(null);</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useEffect(() =&gt; {</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fetch(`/api/user/${userId}`)</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.then(r =&gt; r.json())</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.then(setUser);</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 [userId]);</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return &lt;div&gt;{user?.name}&lt;/div&gt;;</a:t>
            </a:r>
            <a:endParaRPr sz="1600"/>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a:t>
            </a:r>
            <a:endParaRPr sz="1600"/>
          </a:p>
          <a:p>
            <a:pPr marL="0" marR="0" lvl="0" indent="0" algn="l" rtl="0">
              <a:spcBef>
                <a:spcPts val="200"/>
              </a:spcBef>
              <a:spcAft>
                <a:spcPts val="0"/>
              </a:spcAft>
              <a:buNone/>
            </a:pPr>
            <a:endParaRPr sz="1600"/>
          </a:p>
        </p:txBody>
      </p:sp>
      <p:sp>
        <p:nvSpPr>
          <p:cNvPr id="261" name="Google Shape;261;p22"/>
          <p:cNvSpPr txBox="1"/>
          <p:nvPr/>
        </p:nvSpPr>
        <p:spPr>
          <a:xfrm>
            <a:off x="1083865" y="5477945"/>
            <a:ext cx="10179900" cy="1380000"/>
          </a:xfrm>
          <a:prstGeom prst="rect">
            <a:avLst/>
          </a:prstGeom>
          <a:noFill/>
          <a:ln>
            <a:noFill/>
          </a:ln>
        </p:spPr>
        <p:txBody>
          <a:bodyPr spcFirstLastPara="1" wrap="square" lIns="91425" tIns="45700" rIns="91425" bIns="45700" anchor="t" anchorCtr="0">
            <a:spAutoFit/>
          </a:bodyPr>
          <a:lstStyle/>
          <a:p>
            <a:pPr marL="0" marR="0" lvl="0" indent="0" algn="l" rtl="0">
              <a:spcBef>
                <a:spcPts val="200"/>
              </a:spcBef>
              <a:spcAft>
                <a:spcPts val="0"/>
              </a:spcAft>
              <a:buNone/>
            </a:pPr>
            <a:endParaRPr sz="1600"/>
          </a:p>
          <a:p>
            <a:pPr marL="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lvl="0" indent="0" algn="l" rtl="0">
              <a:spcBef>
                <a:spcPts val="200"/>
              </a:spcBef>
              <a:spcAft>
                <a:spcPts val="0"/>
              </a:spcAft>
              <a:buNone/>
            </a:pPr>
            <a:r>
              <a:rPr lang="en-US" sz="1500" b="1">
                <a:solidFill>
                  <a:srgbClr val="333344"/>
                </a:solidFill>
                <a:latin typeface="Courier New"/>
                <a:ea typeface="Courier New"/>
                <a:cs typeface="Courier New"/>
                <a:sym typeface="Courier New"/>
              </a:rPr>
              <a:t>// The user clicks a different profile - userId changes.</a:t>
            </a:r>
            <a:endParaRPr sz="1600">
              <a:solidFill>
                <a:schemeClr val="dk1"/>
              </a:solidFill>
            </a:endParaRPr>
          </a:p>
          <a:p>
            <a:pPr marL="0" lvl="0" indent="0" algn="l" rtl="0">
              <a:spcBef>
                <a:spcPts val="200"/>
              </a:spcBef>
              <a:spcAft>
                <a:spcPts val="0"/>
              </a:spcAft>
              <a:buNone/>
            </a:pPr>
            <a:r>
              <a:rPr lang="en-US" sz="1500" b="1">
                <a:solidFill>
                  <a:srgbClr val="333344"/>
                </a:solidFill>
                <a:latin typeface="Courier New"/>
                <a:ea typeface="Courier New"/>
                <a:cs typeface="Courier New"/>
                <a:sym typeface="Courier New"/>
              </a:rPr>
              <a:t>// Which one shows the new user, and which one is stuck?</a:t>
            </a:r>
            <a:endParaRPr sz="1600">
              <a:solidFill>
                <a:schemeClr val="dk1"/>
              </a:solidFill>
            </a:endParaRPr>
          </a:p>
          <a:p>
            <a:pPr marL="0" marR="0" lvl="0" indent="0" algn="l" rtl="0">
              <a:spcBef>
                <a:spcPts val="200"/>
              </a:spcBef>
              <a:spcAft>
                <a:spcPts val="0"/>
              </a:spcAft>
              <a:buNone/>
            </a:pP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9"/>
        <p:cNvGrpSpPr/>
        <p:nvPr/>
      </p:nvGrpSpPr>
      <p:grpSpPr>
        <a:xfrm>
          <a:off x="0" y="0"/>
          <a:ext cx="0" cy="0"/>
          <a:chOff x="0" y="0"/>
          <a:chExt cx="0" cy="0"/>
        </a:xfrm>
      </p:grpSpPr>
      <p:sp>
        <p:nvSpPr>
          <p:cNvPr id="290" name="Google Shape;290;g3e10b4ab9cc_0_25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The deps array trap</a:t>
            </a:r>
            <a:endParaRPr/>
          </a:p>
        </p:txBody>
      </p:sp>
      <p:sp>
        <p:nvSpPr>
          <p:cNvPr id="291" name="Google Shape;291;g3e10b4ab9cc_0_252"/>
          <p:cNvSpPr txBox="1"/>
          <p:nvPr/>
        </p:nvSpPr>
        <p:spPr>
          <a:xfrm>
            <a:off x="914388" y="1085990"/>
            <a:ext cx="10362900" cy="3632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The #1 useEffect bug is the wrong dependency array.</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Forgetting a dep</a:t>
            </a:r>
            <a:r>
              <a:rPr lang="en-US" sz="2400" b="0">
                <a:solidFill>
                  <a:srgbClr val="333344"/>
                </a:solidFill>
                <a:latin typeface="Calibri"/>
                <a:ea typeface="Calibri"/>
                <a:cs typeface="Calibri"/>
                <a:sym typeface="Calibri"/>
              </a:rPr>
              <a:t> -&gt; stale values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Effect reads </a:t>
            </a:r>
            <a:r>
              <a:rPr lang="en-US" sz="2000" b="1" i="0" u="none" strike="noStrike" cap="none">
                <a:solidFill>
                  <a:srgbClr val="666677"/>
                </a:solidFill>
                <a:latin typeface="Courier Prime"/>
                <a:ea typeface="Courier Prime"/>
                <a:cs typeface="Courier Prime"/>
                <a:sym typeface="Courier Prime"/>
              </a:rPr>
              <a:t>count</a:t>
            </a:r>
            <a:r>
              <a:rPr lang="en-US" sz="2000" b="0" i="0" u="none" strike="noStrike" cap="none">
                <a:solidFill>
                  <a:srgbClr val="666677"/>
                </a:solidFill>
                <a:latin typeface="Calibri"/>
                <a:ea typeface="Calibri"/>
                <a:cs typeface="Calibri"/>
                <a:sym typeface="Calibri"/>
              </a:rPr>
              <a:t> from outer scope, but </a:t>
            </a:r>
            <a:r>
              <a:rPr lang="en-US" sz="2000" b="1">
                <a:solidFill>
                  <a:srgbClr val="666677"/>
                </a:solidFill>
                <a:latin typeface="Courier Prime"/>
                <a:ea typeface="Courier Prime"/>
                <a:cs typeface="Courier Prime"/>
                <a:sym typeface="Courier Prime"/>
              </a:rPr>
              <a:t>count</a:t>
            </a:r>
            <a:r>
              <a:rPr lang="en-US" sz="2000" b="1">
                <a:solidFill>
                  <a:srgbClr val="666677"/>
                </a:solidFill>
              </a:rPr>
              <a:t> </a:t>
            </a:r>
            <a:r>
              <a:rPr lang="en-US" sz="2000" b="0" i="0" u="none" strike="noStrike" cap="none">
                <a:solidFill>
                  <a:srgbClr val="666677"/>
                </a:solidFill>
                <a:latin typeface="Calibri"/>
                <a:ea typeface="Calibri"/>
                <a:cs typeface="Calibri"/>
                <a:sym typeface="Calibri"/>
              </a:rPr>
              <a:t>isn't listed.</a:t>
            </a:r>
            <a:endParaRPr sz="2000">
              <a:solidFill>
                <a:srgbClr val="666677"/>
              </a:solidFill>
              <a:latin typeface="Calibri"/>
              <a:ea typeface="Calibri"/>
              <a:cs typeface="Calibri"/>
              <a:sym typeface="Calibri"/>
            </a:endParaRPr>
          </a:p>
          <a:p>
            <a:pPr marL="457200" lvl="1" indent="0" algn="l" rtl="0">
              <a:spcBef>
                <a:spcPts val="600"/>
              </a:spcBef>
              <a:spcAft>
                <a:spcPts val="0"/>
              </a:spcAft>
              <a:buNone/>
            </a:pPr>
            <a:r>
              <a:rPr lang="en-US" sz="2000">
                <a:solidFill>
                  <a:srgbClr val="666677"/>
                </a:solidFill>
                <a:latin typeface="Calibri"/>
                <a:ea typeface="Calibri"/>
                <a:cs typeface="Calibri"/>
                <a:sym typeface="Calibri"/>
              </a:rPr>
              <a:t>  The effect captures the old value forever</a:t>
            </a:r>
            <a:endParaRPr sz="2000">
              <a:solidFill>
                <a:srgbClr val="666677"/>
              </a:solidFill>
              <a:latin typeface="Calibri"/>
              <a:ea typeface="Calibri"/>
              <a:cs typeface="Calibri"/>
              <a:sym typeface="Calibri"/>
            </a:endParaRPr>
          </a:p>
          <a:p>
            <a:pPr marL="457200" lvl="1" indent="0" algn="l" rtl="0">
              <a:spcBef>
                <a:spcPts val="600"/>
              </a:spcBef>
              <a:spcAft>
                <a:spcPts val="0"/>
              </a:spcAft>
              <a:buNone/>
            </a:pPr>
            <a:endParaRPr sz="200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Including too many</a:t>
            </a:r>
            <a:r>
              <a:rPr lang="en-US" sz="2400" b="0">
                <a:solidFill>
                  <a:srgbClr val="333344"/>
                </a:solidFill>
                <a:latin typeface="Calibri"/>
                <a:ea typeface="Calibri"/>
                <a:cs typeface="Calibri"/>
                <a:sym typeface="Calibri"/>
              </a:rPr>
              <a:t> -&gt; unnecessary re-fetches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a:t>
            </a:r>
            <a:r>
              <a:rPr lang="en-US" sz="2000">
                <a:solidFill>
                  <a:srgbClr val="666677"/>
                </a:solidFill>
                <a:latin typeface="Calibri"/>
                <a:ea typeface="Calibri"/>
                <a:cs typeface="Calibri"/>
                <a:sym typeface="Calibri"/>
              </a:rPr>
              <a:t>nclude </a:t>
            </a:r>
            <a:r>
              <a:rPr lang="en-US" sz="2000" b="0" i="0" u="none" strike="noStrike" cap="none">
                <a:solidFill>
                  <a:srgbClr val="666677"/>
                </a:solidFill>
                <a:latin typeface="Calibri"/>
                <a:ea typeface="Calibri"/>
                <a:cs typeface="Calibri"/>
                <a:sym typeface="Calibri"/>
              </a:rPr>
              <a:t>unrelated state</a:t>
            </a:r>
            <a:r>
              <a:rPr lang="en-US" sz="2000">
                <a:solidFill>
                  <a:srgbClr val="666677"/>
                </a:solidFill>
                <a:latin typeface="Calibri"/>
                <a:ea typeface="Calibri"/>
                <a:cs typeface="Calibri"/>
                <a:sym typeface="Calibri"/>
              </a:rPr>
              <a:t> and</a:t>
            </a:r>
            <a:r>
              <a:rPr lang="en-US" sz="2000" b="0" i="0" u="none" strike="noStrike" cap="none">
                <a:solidFill>
                  <a:srgbClr val="666677"/>
                </a:solidFill>
                <a:latin typeface="Calibri"/>
                <a:ea typeface="Calibri"/>
                <a:cs typeface="Calibri"/>
                <a:sym typeface="Calibri"/>
              </a:rPr>
              <a:t> the fetch fires on every unrelated update.</a:t>
            </a:r>
            <a:endParaRPr/>
          </a:p>
          <a:p>
            <a:pPr marL="0" marR="0" lvl="0" indent="0" algn="l" rtl="0">
              <a:spcBef>
                <a:spcPts val="60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6"/>
        <p:cNvGrpSpPr/>
        <p:nvPr/>
      </p:nvGrpSpPr>
      <p:grpSpPr>
        <a:xfrm>
          <a:off x="0" y="0"/>
          <a:ext cx="0" cy="0"/>
          <a:chOff x="0" y="0"/>
          <a:chExt cx="0" cy="0"/>
        </a:xfrm>
      </p:grpSpPr>
      <p:sp>
        <p:nvSpPr>
          <p:cNvPr id="297" name="Google Shape;297;g3e10b4ab9cc_0_258"/>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The deps array trap</a:t>
            </a:r>
            <a:endParaRPr/>
          </a:p>
        </p:txBody>
      </p:sp>
      <p:sp>
        <p:nvSpPr>
          <p:cNvPr id="298" name="Google Shape;298;g3e10b4ab9cc_0_258"/>
          <p:cNvSpPr txBox="1"/>
          <p:nvPr/>
        </p:nvSpPr>
        <p:spPr>
          <a:xfrm>
            <a:off x="914388" y="1085990"/>
            <a:ext cx="10362900" cy="5387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The #1 useEffect bug is the wrong dependency array.</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Forgetting a dep</a:t>
            </a:r>
            <a:r>
              <a:rPr lang="en-US" sz="2400" b="0">
                <a:solidFill>
                  <a:srgbClr val="333344"/>
                </a:solidFill>
                <a:latin typeface="Calibri"/>
                <a:ea typeface="Calibri"/>
                <a:cs typeface="Calibri"/>
                <a:sym typeface="Calibri"/>
              </a:rPr>
              <a:t> -&gt; stale values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Effect reads </a:t>
            </a:r>
            <a:r>
              <a:rPr lang="en-US" sz="2000" b="1" i="0" u="none" strike="noStrike" cap="none">
                <a:solidFill>
                  <a:srgbClr val="666677"/>
                </a:solidFill>
                <a:latin typeface="Courier Prime"/>
                <a:ea typeface="Courier Prime"/>
                <a:cs typeface="Courier Prime"/>
                <a:sym typeface="Courier Prime"/>
              </a:rPr>
              <a:t>count</a:t>
            </a:r>
            <a:r>
              <a:rPr lang="en-US" sz="2000" b="0" i="0" u="none" strike="noStrike" cap="none">
                <a:solidFill>
                  <a:srgbClr val="666677"/>
                </a:solidFill>
                <a:latin typeface="Calibri"/>
                <a:ea typeface="Calibri"/>
                <a:cs typeface="Calibri"/>
                <a:sym typeface="Calibri"/>
              </a:rPr>
              <a:t> from outer scope, but </a:t>
            </a:r>
            <a:r>
              <a:rPr lang="en-US" sz="2000" b="1">
                <a:solidFill>
                  <a:srgbClr val="666677"/>
                </a:solidFill>
                <a:latin typeface="Courier Prime"/>
                <a:ea typeface="Courier Prime"/>
                <a:cs typeface="Courier Prime"/>
                <a:sym typeface="Courier Prime"/>
              </a:rPr>
              <a:t>count</a:t>
            </a:r>
            <a:r>
              <a:rPr lang="en-US" sz="2000" b="1">
                <a:solidFill>
                  <a:srgbClr val="666677"/>
                </a:solidFill>
              </a:rPr>
              <a:t> </a:t>
            </a:r>
            <a:r>
              <a:rPr lang="en-US" sz="2000" b="0" i="0" u="none" strike="noStrike" cap="none">
                <a:solidFill>
                  <a:srgbClr val="666677"/>
                </a:solidFill>
                <a:latin typeface="Calibri"/>
                <a:ea typeface="Calibri"/>
                <a:cs typeface="Calibri"/>
                <a:sym typeface="Calibri"/>
              </a:rPr>
              <a:t>isn't listed.</a:t>
            </a:r>
            <a:endParaRPr sz="2000">
              <a:solidFill>
                <a:srgbClr val="666677"/>
              </a:solidFill>
              <a:latin typeface="Calibri"/>
              <a:ea typeface="Calibri"/>
              <a:cs typeface="Calibri"/>
              <a:sym typeface="Calibri"/>
            </a:endParaRPr>
          </a:p>
          <a:p>
            <a:pPr marL="457200" lvl="1" indent="0" algn="l" rtl="0">
              <a:spcBef>
                <a:spcPts val="600"/>
              </a:spcBef>
              <a:spcAft>
                <a:spcPts val="0"/>
              </a:spcAft>
              <a:buNone/>
            </a:pPr>
            <a:r>
              <a:rPr lang="en-US" sz="2000">
                <a:solidFill>
                  <a:srgbClr val="666677"/>
                </a:solidFill>
                <a:latin typeface="Calibri"/>
                <a:ea typeface="Calibri"/>
                <a:cs typeface="Calibri"/>
                <a:sym typeface="Calibri"/>
              </a:rPr>
              <a:t>  The effect captures the old value forever</a:t>
            </a:r>
            <a:endParaRPr sz="2000">
              <a:solidFill>
                <a:srgbClr val="666677"/>
              </a:solidFill>
              <a:latin typeface="Calibri"/>
              <a:ea typeface="Calibri"/>
              <a:cs typeface="Calibri"/>
              <a:sym typeface="Calibri"/>
            </a:endParaRPr>
          </a:p>
          <a:p>
            <a:pPr marL="457200" lvl="1" indent="0" algn="l" rtl="0">
              <a:spcBef>
                <a:spcPts val="600"/>
              </a:spcBef>
              <a:spcAft>
                <a:spcPts val="0"/>
              </a:spcAft>
              <a:buNone/>
            </a:pPr>
            <a:endParaRPr sz="200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Including too many</a:t>
            </a:r>
            <a:r>
              <a:rPr lang="en-US" sz="2400" b="0">
                <a:solidFill>
                  <a:srgbClr val="333344"/>
                </a:solidFill>
                <a:latin typeface="Calibri"/>
                <a:ea typeface="Calibri"/>
                <a:cs typeface="Calibri"/>
                <a:sym typeface="Calibri"/>
              </a:rPr>
              <a:t> -&gt; unnecessary re-fetches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a:t>
            </a:r>
            <a:r>
              <a:rPr lang="en-US" sz="2000">
                <a:solidFill>
                  <a:srgbClr val="666677"/>
                </a:solidFill>
                <a:latin typeface="Calibri"/>
                <a:ea typeface="Calibri"/>
                <a:cs typeface="Calibri"/>
                <a:sym typeface="Calibri"/>
              </a:rPr>
              <a:t>nclude </a:t>
            </a:r>
            <a:r>
              <a:rPr lang="en-US" sz="2000" b="0" i="0" u="none" strike="noStrike" cap="none">
                <a:solidFill>
                  <a:srgbClr val="666677"/>
                </a:solidFill>
                <a:latin typeface="Calibri"/>
                <a:ea typeface="Calibri"/>
                <a:cs typeface="Calibri"/>
                <a:sym typeface="Calibri"/>
              </a:rPr>
              <a:t>unrelated state</a:t>
            </a:r>
            <a:r>
              <a:rPr lang="en-US" sz="2000">
                <a:solidFill>
                  <a:srgbClr val="666677"/>
                </a:solidFill>
                <a:latin typeface="Calibri"/>
                <a:ea typeface="Calibri"/>
                <a:cs typeface="Calibri"/>
                <a:sym typeface="Calibri"/>
              </a:rPr>
              <a:t> and</a:t>
            </a:r>
            <a:r>
              <a:rPr lang="en-US" sz="2000" b="0" i="0" u="none" strike="noStrike" cap="none">
                <a:solidFill>
                  <a:srgbClr val="666677"/>
                </a:solidFill>
                <a:latin typeface="Calibri"/>
                <a:ea typeface="Calibri"/>
                <a:cs typeface="Calibri"/>
                <a:sym typeface="Calibri"/>
              </a:rPr>
              <a:t> the fetch fires on every unrelated update.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Rule of thumb:</a:t>
            </a:r>
            <a:r>
              <a:rPr lang="en-US" sz="2400" b="0">
                <a:solidFill>
                  <a:srgbClr val="333344"/>
                </a:solidFill>
                <a:latin typeface="Calibri"/>
                <a:ea typeface="Calibri"/>
                <a:cs typeface="Calibri"/>
                <a:sym typeface="Calibri"/>
              </a:rPr>
              <a:t> every value from outside the effect that the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effect reads should be in the deps array. The React ESLint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plugin warns you when you miss one.</a:t>
            </a: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For today, </a:t>
            </a:r>
            <a:r>
              <a:rPr lang="en-US" sz="2400" b="1">
                <a:solidFill>
                  <a:srgbClr val="333344"/>
                </a:solidFill>
                <a:latin typeface="Courier Prime"/>
                <a:ea typeface="Courier Prime"/>
                <a:cs typeface="Courier Prime"/>
                <a:sym typeface="Courier Prime"/>
              </a:rPr>
              <a:t>`[]`</a:t>
            </a:r>
            <a:r>
              <a:rPr lang="en-US" sz="2400" b="0">
                <a:solidFill>
                  <a:srgbClr val="333344"/>
                </a:solidFill>
                <a:latin typeface="Calibri"/>
                <a:ea typeface="Calibri"/>
                <a:cs typeface="Calibri"/>
                <a:sym typeface="Calibri"/>
              </a:rPr>
              <a:t> for "run once on mount" handles 90% of cases.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3"/>
        <p:cNvGrpSpPr/>
        <p:nvPr/>
      </p:nvGrpSpPr>
      <p:grpSpPr>
        <a:xfrm>
          <a:off x="0" y="0"/>
          <a:ext cx="0" cy="0"/>
          <a:chOff x="0" y="0"/>
          <a:chExt cx="0" cy="0"/>
        </a:xfrm>
      </p:grpSpPr>
      <p:sp>
        <p:nvSpPr>
          <p:cNvPr id="304" name="Google Shape;304;g3e10b4ab9cc_0_264"/>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Every fetch has three UI states</a:t>
            </a:r>
            <a:endParaRPr/>
          </a:p>
        </p:txBody>
      </p:sp>
      <p:sp>
        <p:nvSpPr>
          <p:cNvPr id="305" name="Google Shape;305;g3e10b4ab9cc_0_264"/>
          <p:cNvSpPr txBox="1"/>
          <p:nvPr/>
        </p:nvSpPr>
        <p:spPr>
          <a:xfrm>
            <a:off x="914400" y="1463040"/>
            <a:ext cx="10362900" cy="4048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When you fetch data in a component, the UI has to represent three </a:t>
            </a:r>
            <a:r>
              <a:rPr lang="en-US" sz="2400">
                <a:solidFill>
                  <a:srgbClr val="333344"/>
                </a:solidFill>
                <a:latin typeface="Calibri"/>
                <a:ea typeface="Calibri"/>
                <a:cs typeface="Calibri"/>
                <a:sym typeface="Calibri"/>
              </a:rPr>
              <a:t>states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Loading</a:t>
            </a:r>
            <a:r>
              <a:rPr lang="en-US" sz="2000" b="0" i="0" u="none" strike="noStrike" cap="none">
                <a:solidFill>
                  <a:srgbClr val="666677"/>
                </a:solidFill>
                <a:latin typeface="Calibri"/>
                <a:ea typeface="Calibri"/>
                <a:cs typeface="Calibri"/>
                <a:sym typeface="Calibri"/>
              </a:rPr>
              <a:t> - request in flight, render a spinner or placeholder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Error</a:t>
            </a:r>
            <a:r>
              <a:rPr lang="en-US" sz="2000" b="0" i="0" u="none" strike="noStrike" cap="none">
                <a:solidFill>
                  <a:srgbClr val="666677"/>
                </a:solidFill>
                <a:latin typeface="Calibri"/>
                <a:ea typeface="Calibri"/>
                <a:cs typeface="Calibri"/>
                <a:sym typeface="Calibri"/>
              </a:rPr>
              <a:t>   - request failed, render the error message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Data</a:t>
            </a:r>
            <a:r>
              <a:rPr lang="en-US" sz="2000" b="0" i="0" u="none" strike="noStrike" cap="none">
                <a:solidFill>
                  <a:srgbClr val="666677"/>
                </a:solidFill>
                <a:latin typeface="Calibri"/>
                <a:ea typeface="Calibri"/>
                <a:cs typeface="Calibri"/>
                <a:sym typeface="Calibri"/>
              </a:rPr>
              <a:t>    - request succeeded, render the content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Three pieces of state (`loading`, `error`, `data`)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One effect that updates all three, and conditional rendering in the JSX.</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This triad is really the most-copied pattern in React.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Every d</a:t>
            </a:r>
            <a:r>
              <a:rPr lang="en-US" sz="2000">
                <a:solidFill>
                  <a:srgbClr val="666677"/>
                </a:solidFill>
                <a:latin typeface="Calibri"/>
                <a:ea typeface="Calibri"/>
                <a:cs typeface="Calibri"/>
                <a:sym typeface="Calibri"/>
              </a:rPr>
              <a:t>ata </a:t>
            </a:r>
            <a:r>
              <a:rPr lang="en-US" sz="2000" b="0" i="0" u="none" strike="noStrike" cap="none">
                <a:solidFill>
                  <a:srgbClr val="666677"/>
                </a:solidFill>
                <a:latin typeface="Calibri"/>
                <a:ea typeface="Calibri"/>
                <a:cs typeface="Calibri"/>
                <a:sym typeface="Calibri"/>
              </a:rPr>
              <a:t>component you ever build is going to look like it.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0"/>
        <p:cNvGrpSpPr/>
        <p:nvPr/>
      </p:nvGrpSpPr>
      <p:grpSpPr>
        <a:xfrm>
          <a:off x="0" y="0"/>
          <a:ext cx="0" cy="0"/>
          <a:chOff x="0" y="0"/>
          <a:chExt cx="0" cy="0"/>
        </a:xfrm>
      </p:grpSpPr>
      <p:sp>
        <p:nvSpPr>
          <p:cNvPr id="311" name="Google Shape;311;g3e10b4ab9cc_0_368"/>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A TodoList with loading, error, and data</a:t>
            </a:r>
            <a:endParaRPr/>
          </a:p>
        </p:txBody>
      </p:sp>
      <p:sp>
        <p:nvSpPr>
          <p:cNvPr id="312" name="Google Shape;312;g3e10b4ab9cc_0_368"/>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a:solidFill>
                  <a:srgbClr val="5B21B6"/>
                </a:solidFill>
                <a:latin typeface="Courier New"/>
                <a:ea typeface="Courier New"/>
                <a:cs typeface="Courier New"/>
                <a:sym typeface="Courier New"/>
              </a:rPr>
              <a:t>TypeScript</a:t>
            </a:r>
            <a:endParaRPr/>
          </a:p>
        </p:txBody>
      </p:sp>
      <p:sp>
        <p:nvSpPr>
          <p:cNvPr id="313" name="Google Shape;313;g3e10b4ab9cc_0_368"/>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4" name="Google Shape;314;g3e10b4ab9cc_0_368"/>
          <p:cNvSpPr txBox="1"/>
          <p:nvPr/>
        </p:nvSpPr>
        <p:spPr>
          <a:xfrm>
            <a:off x="1005840" y="1645920"/>
            <a:ext cx="10179900" cy="464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333344"/>
                </a:solidFill>
                <a:latin typeface="Courier New"/>
                <a:ea typeface="Courier New"/>
                <a:cs typeface="Courier New"/>
                <a:sym typeface="Courier New"/>
              </a:rPr>
              <a:t>function TodoList()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const [todos,   setTodos]   = useState&lt;Todo[]&gt;([]);</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const [loading, setLoading] = useState(true);</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const [error,   setError]   = useState&lt;string | null&gt;(null);</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useEffect(() =&gt; {</a:t>
            </a:r>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 []);</a:t>
            </a:r>
            <a:endParaRPr/>
          </a:p>
          <a:p>
            <a:pPr marL="0" marR="0" lvl="0" indent="0" algn="l" rtl="0">
              <a:spcBef>
                <a:spcPts val="200"/>
              </a:spcBef>
              <a:spcAft>
                <a:spcPts val="0"/>
              </a:spcAft>
              <a:buNone/>
            </a:pPr>
            <a:endParaRPr/>
          </a:p>
          <a:p>
            <a:pPr marL="0" marR="0" lvl="0" indent="0" algn="l" rtl="0">
              <a:spcBef>
                <a:spcPts val="200"/>
              </a:spcBef>
              <a:spcAft>
                <a:spcPts val="0"/>
              </a:spcAft>
              <a:buNone/>
            </a:pPr>
            <a:endParaRPr/>
          </a:p>
          <a:p>
            <a:pPr marL="0" marR="0" lvl="0" indent="0" algn="l" rtl="0">
              <a:spcBef>
                <a:spcPts val="200"/>
              </a:spcBef>
              <a:spcAft>
                <a:spcPts val="0"/>
              </a:spcAft>
              <a:buNone/>
            </a:pP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9"/>
        <p:cNvGrpSpPr/>
        <p:nvPr/>
      </p:nvGrpSpPr>
      <p:grpSpPr>
        <a:xfrm>
          <a:off x="0" y="0"/>
          <a:ext cx="0" cy="0"/>
          <a:chOff x="0" y="0"/>
          <a:chExt cx="0" cy="0"/>
        </a:xfrm>
      </p:grpSpPr>
      <p:sp>
        <p:nvSpPr>
          <p:cNvPr id="320" name="Google Shape;320;g3e10b4ab9cc_0_360"/>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A TodoList with loading, error, and data</a:t>
            </a:r>
            <a:endParaRPr/>
          </a:p>
        </p:txBody>
      </p:sp>
      <p:sp>
        <p:nvSpPr>
          <p:cNvPr id="321" name="Google Shape;321;g3e10b4ab9cc_0_360"/>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a:solidFill>
                  <a:srgbClr val="5B21B6"/>
                </a:solidFill>
                <a:latin typeface="Courier New"/>
                <a:ea typeface="Courier New"/>
                <a:cs typeface="Courier New"/>
                <a:sym typeface="Courier New"/>
              </a:rPr>
              <a:t>TypeScript</a:t>
            </a:r>
            <a:endParaRPr/>
          </a:p>
        </p:txBody>
      </p:sp>
      <p:sp>
        <p:nvSpPr>
          <p:cNvPr id="322" name="Google Shape;322;g3e10b4ab9cc_0_360"/>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3" name="Google Shape;323;g3e10b4ab9cc_0_360"/>
          <p:cNvSpPr txBox="1"/>
          <p:nvPr/>
        </p:nvSpPr>
        <p:spPr>
          <a:xfrm>
            <a:off x="1005840" y="1645920"/>
            <a:ext cx="10179900" cy="464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333344"/>
                </a:solidFill>
                <a:latin typeface="Courier New"/>
                <a:ea typeface="Courier New"/>
                <a:cs typeface="Courier New"/>
                <a:sym typeface="Courier New"/>
              </a:rPr>
              <a:t>function TodoList()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const [todos,   setTodos]   = useState&lt;Todo[]&gt;([]);</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const [loading, setLoading] = useState(true);</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const [error,   setError]   = useState&lt;string | null&gt;(null);</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useEffect(() =&gt; {</a:t>
            </a:r>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if (loading) return &lt;p&gt;Loading...&lt;/p&gt;;</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if (error)   return &lt;p&gt;Could not load: {error}&lt;/p&gt;;</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return &lt;ul&gt;{todos.map(t =&gt; &lt;li key={t.id}&gt;{t.title}&lt;/li&gt;)}&lt;/ul&gt;;</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8"/>
        <p:cNvGrpSpPr/>
        <p:nvPr/>
      </p:nvGrpSpPr>
      <p:grpSpPr>
        <a:xfrm>
          <a:off x="0" y="0"/>
          <a:ext cx="0" cy="0"/>
          <a:chOff x="0" y="0"/>
          <a:chExt cx="0" cy="0"/>
        </a:xfrm>
      </p:grpSpPr>
      <p:sp>
        <p:nvSpPr>
          <p:cNvPr id="329" name="Google Shape;329;g3e10b4ab9cc_0_270"/>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A TodoList with loading, error, and data</a:t>
            </a:r>
            <a:endParaRPr/>
          </a:p>
        </p:txBody>
      </p:sp>
      <p:sp>
        <p:nvSpPr>
          <p:cNvPr id="330" name="Google Shape;330;g3e10b4ab9cc_0_270"/>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a:solidFill>
                  <a:srgbClr val="5B21B6"/>
                </a:solidFill>
                <a:latin typeface="Courier New"/>
                <a:ea typeface="Courier New"/>
                <a:cs typeface="Courier New"/>
                <a:sym typeface="Courier New"/>
              </a:rPr>
              <a:t>TypeScript</a:t>
            </a:r>
            <a:endParaRPr/>
          </a:p>
        </p:txBody>
      </p:sp>
      <p:sp>
        <p:nvSpPr>
          <p:cNvPr id="331" name="Google Shape;331;g3e10b4ab9cc_0_270"/>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g3e10b4ab9cc_0_270"/>
          <p:cNvSpPr txBox="1"/>
          <p:nvPr/>
        </p:nvSpPr>
        <p:spPr>
          <a:xfrm>
            <a:off x="1005840" y="1645920"/>
            <a:ext cx="10179900" cy="464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333344"/>
                </a:solidFill>
                <a:latin typeface="Courier New"/>
                <a:ea typeface="Courier New"/>
                <a:cs typeface="Courier New"/>
                <a:sym typeface="Courier New"/>
              </a:rPr>
              <a:t>function TodoList()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const [todos,   setTodos]   = useState&lt;Todo[]&gt;([]);</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const [loading, setLoading] = useState(true);</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const [error,   setError]   = useState&lt;string | null&gt;(null);</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useEffect(() =&gt;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async function load()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try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const r = await fetch("/api/todos");</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if (!r.ok) throw new Error(`HTTP ${r.status}`);</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setTodos(await r.json());</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 catch (err) { setError(String(err));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finally       { setLoading(false);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load();</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 []);</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if (loading) return &lt;p&gt;Loading...&lt;/p&gt;;</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if (error)   return &lt;p&gt;Could not load: {error}&lt;/p&gt;;</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    return &lt;ul&gt;{todos.map(t =&gt; &lt;li key={t.id}&gt;{t.title}&lt;/li&gt;)}&lt;/ul&gt;;</a:t>
            </a:r>
            <a:endParaRPr/>
          </a:p>
          <a:p>
            <a:pPr marL="0" marR="0" lvl="0" indent="0" algn="l" rtl="0">
              <a:spcBef>
                <a:spcPts val="200"/>
              </a:spcBef>
              <a:spcAft>
                <a:spcPts val="0"/>
              </a:spcAft>
              <a:buNone/>
            </a:pPr>
            <a:r>
              <a:rPr lang="en-US" sz="1400" b="1">
                <a:solidFill>
                  <a:srgbClr val="333344"/>
                </a:solidFill>
                <a:latin typeface="Courier New"/>
                <a:ea typeface="Courier New"/>
                <a:cs typeface="Courier New"/>
                <a:sym typeface="Courier New"/>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7"/>
        <p:cNvGrpSpPr/>
        <p:nvPr/>
      </p:nvGrpSpPr>
      <p:grpSpPr>
        <a:xfrm>
          <a:off x="0" y="0"/>
          <a:ext cx="0" cy="0"/>
          <a:chOff x="0" y="0"/>
          <a:chExt cx="0" cy="0"/>
        </a:xfrm>
      </p:grpSpPr>
      <p:sp>
        <p:nvSpPr>
          <p:cNvPr id="338" name="Google Shape;338;p2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Some projects use a library for this</a:t>
            </a:r>
            <a:endParaRPr/>
          </a:p>
        </p:txBody>
      </p:sp>
      <p:sp>
        <p:nvSpPr>
          <p:cNvPr id="339" name="Google Shape;339;p26"/>
          <p:cNvSpPr txBox="1"/>
          <p:nvPr/>
        </p:nvSpPr>
        <p:spPr>
          <a:xfrm>
            <a:off x="914388" y="1134615"/>
            <a:ext cx="10362900" cy="4494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Every fetching component looks like the previous slide.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Three useStates, one useEffect with empty deps, try/catch, conditional rendering</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The React ecosystem built libraries that handle it for you:</a:t>
            </a:r>
            <a:endParaRPr sz="2400" b="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React Query</a:t>
            </a:r>
            <a:r>
              <a:rPr lang="en-US" sz="2000" b="0" i="0" u="none" strike="noStrike" cap="none">
                <a:solidFill>
                  <a:srgbClr val="666677"/>
                </a:solidFill>
                <a:latin typeface="Calibri"/>
                <a:ea typeface="Calibri"/>
                <a:cs typeface="Calibri"/>
                <a:sym typeface="Calibri"/>
              </a:rPr>
              <a:t> (TanStack Query) - the most popular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SWR</a:t>
            </a:r>
            <a:r>
              <a:rPr lang="en-US" sz="2000" b="0" i="0" u="none" strike="noStrike" cap="none">
                <a:solidFill>
                  <a:srgbClr val="666677"/>
                </a:solidFill>
                <a:latin typeface="Calibri"/>
                <a:ea typeface="Calibri"/>
                <a:cs typeface="Calibri"/>
                <a:sym typeface="Calibri"/>
              </a:rPr>
              <a:t> - smaller, also good</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They give you </a:t>
            </a:r>
            <a:r>
              <a:rPr lang="en-US" sz="2400" b="1">
                <a:solidFill>
                  <a:srgbClr val="333344"/>
                </a:solidFill>
                <a:latin typeface="Courier Prime"/>
                <a:ea typeface="Courier Prime"/>
                <a:cs typeface="Courier Prime"/>
                <a:sym typeface="Courier Prime"/>
              </a:rPr>
              <a:t>useQuery("/api/todos")</a:t>
            </a:r>
            <a:r>
              <a:rPr lang="en-US" sz="2400" b="0">
                <a:solidFill>
                  <a:srgbClr val="333344"/>
                </a:solidFill>
                <a:latin typeface="Calibri"/>
                <a:ea typeface="Calibri"/>
                <a:cs typeface="Calibri"/>
                <a:sym typeface="Calibri"/>
              </a:rPr>
              <a:t> and return `{ data,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loading, error }` directly. Plus caching, refetching, retries.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Understand the basic React pattern,</a:t>
            </a:r>
            <a:r>
              <a:rPr lang="en-US" sz="2400" b="0">
                <a:solidFill>
                  <a:srgbClr val="333344"/>
                </a:solidFill>
                <a:latin typeface="Calibri"/>
                <a:ea typeface="Calibri"/>
                <a:cs typeface="Calibri"/>
                <a:sym typeface="Calibri"/>
              </a:rPr>
              <a:t> </a:t>
            </a:r>
            <a:r>
              <a:rPr lang="en-US" sz="2400">
                <a:solidFill>
                  <a:srgbClr val="333344"/>
                </a:solidFill>
                <a:latin typeface="Calibri"/>
                <a:ea typeface="Calibri"/>
                <a:cs typeface="Calibri"/>
                <a:sym typeface="Calibri"/>
              </a:rPr>
              <a:t>then</a:t>
            </a:r>
            <a:r>
              <a:rPr lang="en-US" sz="2400" b="0">
                <a:solidFill>
                  <a:srgbClr val="333344"/>
                </a:solidFill>
                <a:latin typeface="Calibri"/>
                <a:ea typeface="Calibri"/>
                <a:cs typeface="Calibri"/>
                <a:sym typeface="Calibri"/>
              </a:rPr>
              <a:t> </a:t>
            </a:r>
            <a:r>
              <a:rPr lang="en-US" sz="2400">
                <a:solidFill>
                  <a:srgbClr val="333344"/>
                </a:solidFill>
                <a:latin typeface="Calibri"/>
                <a:ea typeface="Calibri"/>
                <a:cs typeface="Calibri"/>
                <a:sym typeface="Calibri"/>
              </a:rPr>
              <a:t>decide if you want</a:t>
            </a:r>
            <a:r>
              <a:rPr lang="en-US" sz="2400" b="0">
                <a:solidFill>
                  <a:srgbClr val="333344"/>
                </a:solidFill>
                <a:latin typeface="Calibri"/>
                <a:ea typeface="Calibri"/>
                <a:cs typeface="Calibri"/>
                <a:sym typeface="Calibri"/>
              </a:rPr>
              <a:t> the library.</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4"/>
        <p:cNvGrpSpPr/>
        <p:nvPr/>
      </p:nvGrpSpPr>
      <p:grpSpPr>
        <a:xfrm>
          <a:off x="0" y="0"/>
          <a:ext cx="0" cy="0"/>
          <a:chOff x="0" y="0"/>
          <a:chExt cx="0" cy="0"/>
        </a:xfrm>
      </p:grpSpPr>
      <p:sp>
        <p:nvSpPr>
          <p:cNvPr id="345" name="Google Shape;345;p27"/>
          <p:cNvSpPr txBox="1"/>
          <p:nvPr/>
        </p:nvSpPr>
        <p:spPr>
          <a:xfrm>
            <a:off x="731520" y="27432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TRY IT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Fetch messages with loading/error/data</a:t>
            </a:r>
            <a:endParaRPr/>
          </a:p>
        </p:txBody>
      </p:sp>
      <p:sp>
        <p:nvSpPr>
          <p:cNvPr id="346" name="Google Shape;346;p27"/>
          <p:cNvSpPr/>
          <p:nvPr/>
        </p:nvSpPr>
        <p:spPr>
          <a:xfrm>
            <a:off x="640080" y="228600"/>
            <a:ext cx="1097280" cy="365760"/>
          </a:xfrm>
          <a:prstGeom prst="roundRect">
            <a:avLst>
              <a:gd name="adj" fmla="val 16667"/>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7" name="Google Shape;347;p27"/>
          <p:cNvSpPr/>
          <p:nvPr/>
        </p:nvSpPr>
        <p:spPr>
          <a:xfrm>
            <a:off x="731520" y="1371600"/>
            <a:ext cx="10728655"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8" name="Google Shape;348;p27"/>
          <p:cNvSpPr txBox="1"/>
          <p:nvPr/>
        </p:nvSpPr>
        <p:spPr>
          <a:xfrm>
            <a:off x="1005840" y="1554480"/>
            <a:ext cx="10179900" cy="4807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a:solidFill>
                  <a:srgbClr val="333344"/>
                </a:solidFill>
                <a:latin typeface="Courier New"/>
                <a:ea typeface="Courier New"/>
                <a:cs typeface="Courier New"/>
                <a:sym typeface="Courier New"/>
              </a:rPr>
              <a:t>// Goal: &lt;Messages /&gt; fetches /api/messages on mount, renders them.</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Assume: interface Message { id; author; text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function Messages() {</a:t>
            </a:r>
            <a:endParaRPr/>
          </a:p>
          <a:p>
            <a:pPr marL="0" marR="0" lvl="0" indent="0" algn="l" rtl="0">
              <a:spcBef>
                <a:spcPts val="200"/>
              </a:spcBef>
              <a:spcAft>
                <a:spcPts val="0"/>
              </a:spcAft>
              <a:buNone/>
            </a:pPr>
            <a:r>
              <a:rPr lang="en-US" sz="1300" b="1">
                <a:solidFill>
                  <a:srgbClr val="B0B0C0"/>
                </a:solidFill>
                <a:latin typeface="Courier New"/>
                <a:ea typeface="Courier New"/>
                <a:cs typeface="Courier New"/>
                <a:sym typeface="Courier New"/>
              </a:rPr>
              <a:t>    </a:t>
            </a:r>
            <a:r>
              <a:rPr lang="en-US" sz="1300" b="1">
                <a:solidFill>
                  <a:srgbClr val="333344"/>
                </a:solidFill>
                <a:latin typeface="Courier New"/>
                <a:ea typeface="Courier New"/>
                <a:cs typeface="Courier New"/>
                <a:sym typeface="Courier New"/>
              </a:rPr>
              <a:t>const [messages, setMessages]</a:t>
            </a:r>
            <a:r>
              <a:rPr lang="en-US" sz="1300" b="1">
                <a:solidFill>
                  <a:srgbClr val="B0B0C0"/>
                </a:solidFill>
                <a:latin typeface="Courier New"/>
                <a:ea typeface="Courier New"/>
                <a:cs typeface="Courier New"/>
                <a:sym typeface="Courier New"/>
              </a:rPr>
              <a:t> = useState&lt;________&gt;([]);</a:t>
            </a:r>
            <a:endParaRPr/>
          </a:p>
          <a:p>
            <a:pPr marL="0" marR="0" lvl="0" indent="0" algn="l" rtl="0">
              <a:spcBef>
                <a:spcPts val="200"/>
              </a:spcBef>
              <a:spcAft>
                <a:spcPts val="0"/>
              </a:spcAft>
              <a:buNone/>
            </a:pPr>
            <a:r>
              <a:rPr lang="en-US" sz="1300" b="1">
                <a:solidFill>
                  <a:srgbClr val="B0B0C0"/>
                </a:solidFill>
                <a:latin typeface="Courier New"/>
                <a:ea typeface="Courier New"/>
                <a:cs typeface="Courier New"/>
                <a:sym typeface="Courier New"/>
              </a:rPr>
              <a:t>    </a:t>
            </a:r>
            <a:r>
              <a:rPr lang="en-US" sz="1300" b="1">
                <a:solidFill>
                  <a:srgbClr val="333344"/>
                </a:solidFill>
                <a:latin typeface="Courier New"/>
                <a:ea typeface="Courier New"/>
                <a:cs typeface="Courier New"/>
                <a:sym typeface="Courier New"/>
              </a:rPr>
              <a:t>const [loading,  setLoading]</a:t>
            </a:r>
            <a:r>
              <a:rPr lang="en-US" sz="1300" b="1">
                <a:solidFill>
                  <a:srgbClr val="B0B0C0"/>
                </a:solidFill>
                <a:latin typeface="Courier New"/>
                <a:ea typeface="Courier New"/>
                <a:cs typeface="Courier New"/>
                <a:sym typeface="Courier New"/>
              </a:rPr>
              <a:t>  = useState(________);</a:t>
            </a:r>
            <a:endParaRPr/>
          </a:p>
          <a:p>
            <a:pPr marL="0" marR="0" lvl="0" indent="0" algn="l" rtl="0">
              <a:spcBef>
                <a:spcPts val="200"/>
              </a:spcBef>
              <a:spcAft>
                <a:spcPts val="0"/>
              </a:spcAft>
              <a:buNone/>
            </a:pPr>
            <a:r>
              <a:rPr lang="en-US" sz="1300" b="1">
                <a:solidFill>
                  <a:srgbClr val="B0B0C0"/>
                </a:solidFill>
                <a:latin typeface="Courier New"/>
                <a:ea typeface="Courier New"/>
                <a:cs typeface="Courier New"/>
                <a:sym typeface="Courier New"/>
              </a:rPr>
              <a:t>    </a:t>
            </a:r>
            <a:r>
              <a:rPr lang="en-US" sz="1300" b="1">
                <a:solidFill>
                  <a:srgbClr val="333344"/>
                </a:solidFill>
                <a:latin typeface="Courier New"/>
                <a:ea typeface="Courier New"/>
                <a:cs typeface="Courier New"/>
                <a:sym typeface="Courier New"/>
              </a:rPr>
              <a:t>const [error,    setError]</a:t>
            </a:r>
            <a:r>
              <a:rPr lang="en-US" sz="1300" b="1">
                <a:solidFill>
                  <a:srgbClr val="B0B0C0"/>
                </a:solidFill>
                <a:latin typeface="Courier New"/>
                <a:ea typeface="Courier New"/>
                <a:cs typeface="Courier New"/>
                <a:sym typeface="Courier New"/>
              </a:rPr>
              <a:t>    = useState&lt;________&gt;(null);</a:t>
            </a:r>
            <a:endParaRPr/>
          </a:p>
          <a:p>
            <a:pPr marL="0" marR="0" lvl="0" indent="0" algn="l" rtl="0">
              <a:spcBef>
                <a:spcPts val="200"/>
              </a:spcBef>
              <a:spcAft>
                <a:spcPts val="0"/>
              </a:spcAft>
              <a:buNone/>
            </a:pPr>
            <a:r>
              <a:rPr lang="en-US" sz="1300" b="1">
                <a:solidFill>
                  <a:srgbClr val="B0B0C0"/>
                </a:solidFill>
                <a:latin typeface="Courier New"/>
                <a:ea typeface="Courier New"/>
                <a:cs typeface="Courier New"/>
                <a:sym typeface="Courier New"/>
              </a:rPr>
              <a:t>    ________(() =&gt;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async function load()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try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const r = await fetch("/api/messages");</a:t>
            </a:r>
            <a:endParaRPr/>
          </a:p>
          <a:p>
            <a:pPr marL="0" marR="0" lvl="0" indent="0" algn="l" rtl="0">
              <a:spcBef>
                <a:spcPts val="200"/>
              </a:spcBef>
              <a:spcAft>
                <a:spcPts val="0"/>
              </a:spcAft>
              <a:buNone/>
            </a:pPr>
            <a:r>
              <a:rPr lang="en-US" sz="1300" b="1">
                <a:solidFill>
                  <a:srgbClr val="B0B0C0"/>
                </a:solidFill>
                <a:latin typeface="Courier New"/>
                <a:ea typeface="Courier New"/>
                <a:cs typeface="Courier New"/>
                <a:sym typeface="Courier New"/>
              </a:rPr>
              <a:t>                if (!r.________) </a:t>
            </a:r>
            <a:r>
              <a:rPr lang="en-US" sz="1300" b="1">
                <a:solidFill>
                  <a:srgbClr val="333344"/>
                </a:solidFill>
                <a:latin typeface="Courier New"/>
                <a:ea typeface="Courier New"/>
                <a:cs typeface="Courier New"/>
                <a:sym typeface="Courier New"/>
              </a:rPr>
              <a:t>throw new Error(`HTTP ${r.status}`);</a:t>
            </a:r>
            <a:endParaRPr>
              <a:solidFill>
                <a:srgbClr val="333344"/>
              </a:solidFill>
            </a:endParaRPr>
          </a:p>
          <a:p>
            <a:pPr marL="0" marR="0" lvl="0" indent="0" algn="l" rtl="0">
              <a:spcBef>
                <a:spcPts val="200"/>
              </a:spcBef>
              <a:spcAft>
                <a:spcPts val="0"/>
              </a:spcAft>
              <a:buNone/>
            </a:pPr>
            <a:r>
              <a:rPr lang="en-US" sz="1300" b="1">
                <a:solidFill>
                  <a:srgbClr val="B0B0C0"/>
                </a:solidFill>
                <a:latin typeface="Courier New"/>
                <a:ea typeface="Courier New"/>
                <a:cs typeface="Courier New"/>
                <a:sym typeface="Courier New"/>
              </a:rPr>
              <a:t>                </a:t>
            </a:r>
            <a:r>
              <a:rPr lang="en-US" sz="1300" b="1">
                <a:solidFill>
                  <a:srgbClr val="333344"/>
                </a:solidFill>
                <a:latin typeface="Courier New"/>
                <a:ea typeface="Courier New"/>
                <a:cs typeface="Courier New"/>
                <a:sym typeface="Courier New"/>
              </a:rPr>
              <a:t>setMessages(await</a:t>
            </a:r>
            <a:r>
              <a:rPr lang="en-US" sz="1300" b="1">
                <a:solidFill>
                  <a:srgbClr val="B0B0C0"/>
                </a:solidFill>
                <a:latin typeface="Courier New"/>
                <a:ea typeface="Courier New"/>
                <a:cs typeface="Courier New"/>
                <a:sym typeface="Courier New"/>
              </a:rPr>
              <a:t> r.________());</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 catch (err) { setError(String(err)); }</a:t>
            </a:r>
            <a:endParaRPr/>
          </a:p>
          <a:p>
            <a:pPr marL="0" marR="0" lvl="0" indent="0" algn="l" rtl="0">
              <a:spcBef>
                <a:spcPts val="200"/>
              </a:spcBef>
              <a:spcAft>
                <a:spcPts val="0"/>
              </a:spcAft>
              <a:buNone/>
            </a:pPr>
            <a:r>
              <a:rPr lang="en-US" sz="1300" b="1">
                <a:solidFill>
                  <a:srgbClr val="B0B0C0"/>
                </a:solidFill>
                <a:latin typeface="Courier New"/>
                <a:ea typeface="Courier New"/>
                <a:cs typeface="Courier New"/>
                <a:sym typeface="Courier New"/>
              </a:rPr>
              <a:t>            </a:t>
            </a:r>
            <a:r>
              <a:rPr lang="en-US" sz="1300" b="1">
                <a:solidFill>
                  <a:srgbClr val="333344"/>
                </a:solidFill>
                <a:latin typeface="Courier New"/>
                <a:ea typeface="Courier New"/>
                <a:cs typeface="Courier New"/>
                <a:sym typeface="Courier New"/>
              </a:rPr>
              <a:t>finally</a:t>
            </a:r>
            <a:r>
              <a:rPr lang="en-US" sz="1300" b="1">
                <a:solidFill>
                  <a:srgbClr val="B0B0C0"/>
                </a:solidFill>
                <a:latin typeface="Courier New"/>
                <a:ea typeface="Courier New"/>
                <a:cs typeface="Courier New"/>
                <a:sym typeface="Courier New"/>
              </a:rPr>
              <a:t>       { setLoading(________);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load();</a:t>
            </a:r>
            <a:endParaRPr/>
          </a:p>
          <a:p>
            <a:pPr marL="0" marR="0" lvl="0" indent="0" algn="l" rtl="0">
              <a:spcBef>
                <a:spcPts val="200"/>
              </a:spcBef>
              <a:spcAft>
                <a:spcPts val="0"/>
              </a:spcAft>
              <a:buNone/>
            </a:pPr>
            <a:r>
              <a:rPr lang="en-US" sz="1300" b="1">
                <a:solidFill>
                  <a:srgbClr val="B0B0C0"/>
                </a:solidFill>
                <a:latin typeface="Courier New"/>
                <a:ea typeface="Courier New"/>
                <a:cs typeface="Courier New"/>
                <a:sym typeface="Courier New"/>
              </a:rPr>
              <a:t>    }, ________);</a:t>
            </a:r>
            <a:endParaRPr/>
          </a:p>
          <a:p>
            <a:pPr marL="0" marR="0" lvl="0" indent="0" algn="l" rtl="0">
              <a:spcBef>
                <a:spcPts val="200"/>
              </a:spcBef>
              <a:spcAft>
                <a:spcPts val="0"/>
              </a:spcAft>
              <a:buNone/>
            </a:pPr>
            <a:r>
              <a:rPr lang="en-US" sz="1300" b="1">
                <a:solidFill>
                  <a:srgbClr val="B0B0C0"/>
                </a:solidFill>
                <a:latin typeface="Courier New"/>
                <a:ea typeface="Courier New"/>
                <a:cs typeface="Courier New"/>
                <a:sym typeface="Courier New"/>
              </a:rPr>
              <a:t>    if (________) </a:t>
            </a:r>
            <a:r>
              <a:rPr lang="en-US" sz="1300" b="1">
                <a:solidFill>
                  <a:srgbClr val="333344"/>
                </a:solidFill>
                <a:latin typeface="Courier New"/>
                <a:ea typeface="Courier New"/>
                <a:cs typeface="Courier New"/>
                <a:sym typeface="Courier New"/>
              </a:rPr>
              <a:t>return &lt;p&gt;Loading...&lt;/p&gt;;</a:t>
            </a:r>
            <a:endParaRPr>
              <a:solidFill>
                <a:srgbClr val="333344"/>
              </a:solidFill>
            </a:endParaRPr>
          </a:p>
          <a:p>
            <a:pPr marL="0" marR="0" lvl="0" indent="0" algn="l" rtl="0">
              <a:spcBef>
                <a:spcPts val="200"/>
              </a:spcBef>
              <a:spcAft>
                <a:spcPts val="0"/>
              </a:spcAft>
              <a:buNone/>
            </a:pPr>
            <a:r>
              <a:rPr lang="en-US" sz="1300" b="1">
                <a:solidFill>
                  <a:srgbClr val="B0B0C0"/>
                </a:solidFill>
                <a:latin typeface="Courier New"/>
                <a:ea typeface="Courier New"/>
                <a:cs typeface="Courier New"/>
                <a:sym typeface="Courier New"/>
              </a:rPr>
              <a:t>    if (________) </a:t>
            </a:r>
            <a:r>
              <a:rPr lang="en-US" sz="1300" b="1">
                <a:solidFill>
                  <a:srgbClr val="333344"/>
                </a:solidFill>
                <a:latin typeface="Courier New"/>
                <a:ea typeface="Courier New"/>
                <a:cs typeface="Courier New"/>
                <a:sym typeface="Courier New"/>
              </a:rPr>
              <a:t>return &lt;p&gt;Failed: {error}&lt;/p&gt;;</a:t>
            </a:r>
            <a:endParaRPr>
              <a:solidFill>
                <a:srgbClr val="333344"/>
              </a:solidFill>
            </a:endParaRPr>
          </a:p>
          <a:p>
            <a:pPr marL="0" marR="0" lvl="0" indent="0" algn="l" rtl="0">
              <a:spcBef>
                <a:spcPts val="200"/>
              </a:spcBef>
              <a:spcAft>
                <a:spcPts val="0"/>
              </a:spcAft>
              <a:buNone/>
            </a:pPr>
            <a:r>
              <a:rPr lang="en-US" sz="1300" b="1">
                <a:solidFill>
                  <a:srgbClr val="B0B0C0"/>
                </a:solidFill>
                <a:latin typeface="Courier New"/>
                <a:ea typeface="Courier New"/>
                <a:cs typeface="Courier New"/>
                <a:sym typeface="Courier New"/>
              </a:rPr>
              <a:t>    </a:t>
            </a:r>
            <a:r>
              <a:rPr lang="en-US" sz="1300" b="1">
                <a:solidFill>
                  <a:srgbClr val="333344"/>
                </a:solidFill>
                <a:latin typeface="Courier New"/>
                <a:ea typeface="Courier New"/>
                <a:cs typeface="Courier New"/>
                <a:sym typeface="Courier New"/>
              </a:rPr>
              <a:t>return</a:t>
            </a:r>
            <a:r>
              <a:rPr lang="en-US" sz="1300" b="1">
                <a:solidFill>
                  <a:srgbClr val="B0B0C0"/>
                </a:solidFill>
                <a:latin typeface="Courier New"/>
                <a:ea typeface="Courier New"/>
                <a:cs typeface="Courier New"/>
                <a:sym typeface="Courier New"/>
              </a:rPr>
              <a:t> &lt;ul&gt;{________}&lt;/ul&gt;;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Shape 353"/>
        <p:cNvGrpSpPr/>
        <p:nvPr/>
      </p:nvGrpSpPr>
      <p:grpSpPr>
        <a:xfrm>
          <a:off x="0" y="0"/>
          <a:ext cx="0" cy="0"/>
          <a:chOff x="0" y="0"/>
          <a:chExt cx="0" cy="0"/>
        </a:xfrm>
      </p:grpSpPr>
      <p:sp>
        <p:nvSpPr>
          <p:cNvPr id="354" name="Google Shape;354;p28"/>
          <p:cNvSpPr txBox="1"/>
          <p:nvPr/>
        </p:nvSpPr>
        <p:spPr>
          <a:xfrm>
            <a:off x="731520" y="27432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ANSWER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Fetch messages with loading/error/data</a:t>
            </a:r>
            <a:endParaRPr/>
          </a:p>
        </p:txBody>
      </p:sp>
      <p:sp>
        <p:nvSpPr>
          <p:cNvPr id="355" name="Google Shape;355;p28"/>
          <p:cNvSpPr/>
          <p:nvPr/>
        </p:nvSpPr>
        <p:spPr>
          <a:xfrm>
            <a:off x="640080" y="228600"/>
            <a:ext cx="1188720" cy="365760"/>
          </a:xfrm>
          <a:prstGeom prst="roundRect">
            <a:avLst>
              <a:gd name="adj" fmla="val 16667"/>
            </a:avLst>
          </a:prstGeom>
          <a:solidFill>
            <a:srgbClr val="166534"/>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6" name="Google Shape;356;p28"/>
          <p:cNvSpPr/>
          <p:nvPr/>
        </p:nvSpPr>
        <p:spPr>
          <a:xfrm>
            <a:off x="731520" y="1371600"/>
            <a:ext cx="10728655"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7" name="Google Shape;357;p28"/>
          <p:cNvSpPr txBox="1"/>
          <p:nvPr/>
        </p:nvSpPr>
        <p:spPr>
          <a:xfrm>
            <a:off x="1005840" y="1554480"/>
            <a:ext cx="10180015" cy="46634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a:solidFill>
                  <a:srgbClr val="333344"/>
                </a:solidFill>
                <a:latin typeface="Courier New"/>
                <a:ea typeface="Courier New"/>
                <a:cs typeface="Courier New"/>
                <a:sym typeface="Courier New"/>
              </a:rPr>
              <a:t>function Messages()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const [messages, setMessages] = useState&lt;Message[]&gt;([]);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const [loading,  setLoading]  = useState(true);</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const [error,    setError]    = useState&lt;string | null&gt;(null);</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useEffect(() =&gt;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async function load()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try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const r = await fetch("/api/messages");</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if (!r.ok) throw new Error(`HTTP ${r.status}`);</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setMessages(await r.json());</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 catch (err) { setError(String(err));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finally       { setLoading(false);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load();</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if (loading) return &lt;p&gt;Loading...&lt;/p&gt;;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if (error)   return &lt;p&gt;Failed: {error}&lt;/p&gt;;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return &lt;ul&gt;{messages.map(m =&gt; (</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&lt;li key={m.id}&gt;&lt;b&gt;{m.author}:&lt;/b&gt; {m.text}&lt;/li&gt;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    ))}&lt;/ul&gt;;</a:t>
            </a:r>
            <a:endParaRPr/>
          </a:p>
          <a:p>
            <a:pPr marL="0" marR="0" lvl="0" indent="0" algn="l" rtl="0">
              <a:spcBef>
                <a:spcPts val="200"/>
              </a:spcBef>
              <a:spcAft>
                <a:spcPts val="0"/>
              </a:spcAft>
              <a:buNone/>
            </a:pPr>
            <a:r>
              <a:rPr lang="en-US" sz="1300" b="1">
                <a:solidFill>
                  <a:srgbClr val="333344"/>
                </a:solidFill>
                <a:latin typeface="Courier New"/>
                <a:ea typeface="Courier New"/>
                <a:cs typeface="Courier New"/>
                <a:sym typeface="Courier New"/>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362"/>
        <p:cNvGrpSpPr/>
        <p:nvPr/>
      </p:nvGrpSpPr>
      <p:grpSpPr>
        <a:xfrm>
          <a:off x="0" y="0"/>
          <a:ext cx="0" cy="0"/>
          <a:chOff x="0" y="0"/>
          <a:chExt cx="0" cy="0"/>
        </a:xfrm>
      </p:grpSpPr>
      <p:sp>
        <p:nvSpPr>
          <p:cNvPr id="363" name="Google Shape;363;g3e10b4ab9cc_0_376"/>
          <p:cNvSpPr txBox="1"/>
          <p:nvPr/>
        </p:nvSpPr>
        <p:spPr>
          <a:xfrm>
            <a:off x="914400" y="2286000"/>
            <a:ext cx="10362900" cy="144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a:solidFill>
                  <a:srgbClr val="5B21B6"/>
                </a:solidFill>
                <a:latin typeface="Calibri"/>
                <a:ea typeface="Calibri"/>
                <a:cs typeface="Calibri"/>
                <a:sym typeface="Calibri"/>
              </a:rPr>
              <a:t>Auto-Updating from the Server: Polling and Cleanup</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8"/>
        <p:cNvGrpSpPr/>
        <p:nvPr/>
      </p:nvGrpSpPr>
      <p:grpSpPr>
        <a:xfrm>
          <a:off x="0" y="0"/>
          <a:ext cx="0" cy="0"/>
          <a:chOff x="0" y="0"/>
          <a:chExt cx="0" cy="0"/>
        </a:xfrm>
      </p:grpSpPr>
      <p:sp>
        <p:nvSpPr>
          <p:cNvPr id="369" name="Google Shape;369;g3e10b4ab9cc_0_381"/>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Alice posts. Bob hits refresh.</a:t>
            </a:r>
            <a:endParaRPr/>
          </a:p>
        </p:txBody>
      </p:sp>
      <p:sp>
        <p:nvSpPr>
          <p:cNvPr id="370" name="Google Shape;370;g3e10b4ab9cc_0_381"/>
          <p:cNvSpPr txBox="1"/>
          <p:nvPr/>
        </p:nvSpPr>
        <p:spPr>
          <a:xfrm>
            <a:off x="914400" y="1463040"/>
            <a:ext cx="10362900" cy="273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You build a message board. Two users open it in two tabs.</a:t>
            </a:r>
            <a:endParaRPr sz="2400" b="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Alice posts "hello."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Bob, watching the same page, sees nothing.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Bob hits refresh. "hello" appears.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That works. It also kinda feels broken. Real chat apps don't make you refresh.</a:t>
            </a:r>
            <a:endParaRPr/>
          </a:p>
          <a:p>
            <a:pPr marL="0" marR="0" lvl="0" indent="0" algn="l" rtl="0">
              <a:spcBef>
                <a:spcPts val="600"/>
              </a:spcBef>
              <a:spcAft>
                <a:spcPts val="0"/>
              </a:spcAft>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5"/>
        <p:cNvGrpSpPr/>
        <p:nvPr/>
      </p:nvGrpSpPr>
      <p:grpSpPr>
        <a:xfrm>
          <a:off x="0" y="0"/>
          <a:ext cx="0" cy="0"/>
          <a:chOff x="0" y="0"/>
          <a:chExt cx="0" cy="0"/>
        </a:xfrm>
      </p:grpSpPr>
      <p:sp>
        <p:nvSpPr>
          <p:cNvPr id="376" name="Google Shape;376;g3e10b4ab9cc_0_387"/>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Alice posts. Bob hits refresh.</a:t>
            </a:r>
            <a:endParaRPr/>
          </a:p>
        </p:txBody>
      </p:sp>
      <p:sp>
        <p:nvSpPr>
          <p:cNvPr id="377" name="Google Shape;377;g3e10b4ab9cc_0_387"/>
          <p:cNvSpPr txBox="1"/>
          <p:nvPr/>
        </p:nvSpPr>
        <p:spPr>
          <a:xfrm>
            <a:off x="914400" y="1463040"/>
            <a:ext cx="10362900" cy="487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You build a message board. Two users open it in two tabs.</a:t>
            </a:r>
            <a:endParaRPr sz="2400" b="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Alice posts "hello."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Bob, watching the same page, sees nothing.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Bob hits refresh. "hello" appears.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That works. It also kinda feels broken. Real chat apps don't make you refresh.</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We already have </a:t>
            </a:r>
            <a:r>
              <a:rPr lang="en-US" sz="2400" b="1">
                <a:solidFill>
                  <a:srgbClr val="333344"/>
                </a:solidFill>
                <a:latin typeface="Courier Prime"/>
                <a:ea typeface="Courier Prime"/>
                <a:cs typeface="Courier Prime"/>
                <a:sym typeface="Courier Prime"/>
              </a:rPr>
              <a:t>useEffect(fn, [])</a:t>
            </a:r>
            <a:r>
              <a:rPr lang="en-US" sz="2400" b="0">
                <a:solidFill>
                  <a:srgbClr val="333344"/>
                </a:solidFill>
                <a:latin typeface="Calibri"/>
                <a:ea typeface="Calibri"/>
                <a:cs typeface="Calibri"/>
                <a:sym typeface="Calibri"/>
              </a:rPr>
              <a:t> - run once, on mount. But once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Once isn't enough here. We need an effect that runs on mount AND keeps fetching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P</a:t>
            </a:r>
            <a:r>
              <a:rPr lang="en-US" sz="2000" b="0" i="0" u="none" strike="noStrike" cap="none">
                <a:solidFill>
                  <a:srgbClr val="666677"/>
                </a:solidFill>
                <a:latin typeface="Calibri"/>
                <a:ea typeface="Calibri"/>
                <a:cs typeface="Calibri"/>
                <a:sym typeface="Calibri"/>
              </a:rPr>
              <a:t>eriodically, for as long as the component is on screen.</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The simplest tool for that is `setInterval` inside the effect.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2"/>
        <p:cNvGrpSpPr/>
        <p:nvPr/>
      </p:nvGrpSpPr>
      <p:grpSpPr>
        <a:xfrm>
          <a:off x="0" y="0"/>
          <a:ext cx="0" cy="0"/>
          <a:chOff x="0" y="0"/>
          <a:chExt cx="0" cy="0"/>
        </a:xfrm>
      </p:grpSpPr>
      <p:sp>
        <p:nvSpPr>
          <p:cNvPr id="383" name="Google Shape;383;g3e10b4ab9cc_0_393"/>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First attempt: setInterval inside useEffect</a:t>
            </a:r>
            <a:endParaRPr/>
          </a:p>
        </p:txBody>
      </p:sp>
      <p:sp>
        <p:nvSpPr>
          <p:cNvPr id="384" name="Google Shape;384;g3e10b4ab9cc_0_393"/>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a:solidFill>
                  <a:srgbClr val="5B21B6"/>
                </a:solidFill>
                <a:latin typeface="Courier New"/>
                <a:ea typeface="Courier New"/>
                <a:cs typeface="Courier New"/>
                <a:sym typeface="Courier New"/>
              </a:rPr>
              <a:t>TypeScript</a:t>
            </a:r>
            <a:endParaRPr/>
          </a:p>
        </p:txBody>
      </p:sp>
      <p:sp>
        <p:nvSpPr>
          <p:cNvPr id="385" name="Google Shape;385;g3e10b4ab9cc_0_393"/>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86" name="Google Shape;386;g3e10b4ab9cc_0_393"/>
          <p:cNvSpPr txBox="1"/>
          <p:nvPr/>
        </p:nvSpPr>
        <p:spPr>
          <a:xfrm>
            <a:off x="1005840" y="1645920"/>
            <a:ext cx="10179900" cy="443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33344"/>
                </a:solidFill>
                <a:latin typeface="Courier New"/>
                <a:ea typeface="Courier New"/>
                <a:cs typeface="Courier New"/>
                <a:sym typeface="Courier New"/>
              </a:rPr>
              <a:t>function MessageList() {</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const [messages, setMessages] = useState&lt;Message[]&gt;([]);</a:t>
            </a:r>
            <a:endParaRPr sz="1700"/>
          </a:p>
          <a:p>
            <a:pPr marL="0" marR="0" lvl="0" indent="0" algn="l" rtl="0">
              <a:spcBef>
                <a:spcPts val="200"/>
              </a:spcBef>
              <a:spcAft>
                <a:spcPts val="0"/>
              </a:spcAft>
              <a:buNone/>
            </a:pPr>
            <a:endParaRPr sz="16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useEffect(() =&gt; {</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async function load() {</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const r = await fetch("/api/messages");</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setMessages(await r.json());</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load();                            // initial fetch</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setInterval(load, 2000);           // refetch every 2 seconds</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 []);</a:t>
            </a:r>
            <a:endParaRPr sz="1700"/>
          </a:p>
          <a:p>
            <a:pPr marL="0" marR="0" lvl="0" indent="0" algn="l" rtl="0">
              <a:spcBef>
                <a:spcPts val="200"/>
              </a:spcBef>
              <a:spcAft>
                <a:spcPts val="0"/>
              </a:spcAft>
              <a:buNone/>
            </a:pPr>
            <a:endParaRPr sz="16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return &lt;ul&gt;{messages.map(m =&gt; &lt;li key={m.id}&gt;{m.text}&lt;/li&gt;)}&lt;/ul&gt;;</a:t>
            </a: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a:t>
            </a:r>
            <a:endParaRPr sz="1700"/>
          </a:p>
          <a:p>
            <a:pPr marL="0" marR="0" lvl="0" indent="0" algn="l" rtl="0">
              <a:spcBef>
                <a:spcPts val="200"/>
              </a:spcBef>
              <a:spcAft>
                <a:spcPts val="0"/>
              </a:spcAft>
              <a:buNone/>
            </a:pPr>
            <a:endParaRPr sz="1700"/>
          </a:p>
          <a:p>
            <a:pPr marL="0" marR="0" lvl="0" indent="0" algn="l" rtl="0">
              <a:spcBef>
                <a:spcPts val="200"/>
              </a:spcBef>
              <a:spcAft>
                <a:spcPts val="0"/>
              </a:spcAft>
              <a:buNone/>
            </a:pPr>
            <a:r>
              <a:rPr lang="en-US" sz="1600" b="1">
                <a:solidFill>
                  <a:srgbClr val="333344"/>
                </a:solidFill>
                <a:latin typeface="Courier New"/>
                <a:ea typeface="Courier New"/>
                <a:cs typeface="Courier New"/>
                <a:sym typeface="Courier New"/>
              </a:rPr>
              <a:t>// Works! ...until you navigates away.</a:t>
            </a:r>
            <a:endParaRPr sz="17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1"/>
        <p:cNvGrpSpPr/>
        <p:nvPr/>
      </p:nvGrpSpPr>
      <p:grpSpPr>
        <a:xfrm>
          <a:off x="0" y="0"/>
          <a:ext cx="0" cy="0"/>
          <a:chOff x="0" y="0"/>
          <a:chExt cx="0" cy="0"/>
        </a:xfrm>
      </p:grpSpPr>
      <p:sp>
        <p:nvSpPr>
          <p:cNvPr id="392" name="Google Shape;392;g3e10b4ab9cc_0_401"/>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useEffect cleanup: every setup needs a teardown</a:t>
            </a:r>
            <a:endParaRPr/>
          </a:p>
        </p:txBody>
      </p:sp>
      <p:sp>
        <p:nvSpPr>
          <p:cNvPr id="393" name="Google Shape;393;g3e10b4ab9cc_0_401"/>
          <p:cNvSpPr txBox="1"/>
          <p:nvPr/>
        </p:nvSpPr>
        <p:spPr>
          <a:xfrm>
            <a:off x="902975" y="1189200"/>
            <a:ext cx="10633500" cy="2801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An effect can </a:t>
            </a:r>
            <a:r>
              <a:rPr lang="en-US" sz="2400" b="1">
                <a:solidFill>
                  <a:srgbClr val="333344"/>
                </a:solidFill>
                <a:latin typeface="Calibri"/>
                <a:ea typeface="Calibri"/>
                <a:cs typeface="Calibri"/>
                <a:sym typeface="Calibri"/>
              </a:rPr>
              <a:t>return a function</a:t>
            </a:r>
            <a:r>
              <a:rPr lang="en-US" sz="2400" b="0">
                <a:solidFill>
                  <a:srgbClr val="333344"/>
                </a:solidFill>
                <a:latin typeface="Calibri"/>
                <a:ea typeface="Calibri"/>
                <a:cs typeface="Calibri"/>
                <a:sym typeface="Calibri"/>
              </a:rPr>
              <a:t>. That function is the cleanup.</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React calls the cleanup at two moments:</a:t>
            </a:r>
            <a:endParaRPr sz="2400" b="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When the component unmounts (the user navigated away,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parent stopped rendering this child, etc.)</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a:t>
            </a:r>
            <a:r>
              <a:rPr lang="en-US" sz="2000" b="0" i="0" u="none" strike="noStrike" cap="none">
                <a:solidFill>
                  <a:srgbClr val="666677"/>
                </a:solidFill>
                <a:latin typeface="Calibri"/>
                <a:ea typeface="Calibri"/>
                <a:cs typeface="Calibri"/>
                <a:sym typeface="Calibri"/>
              </a:rPr>
              <a:t> Right before the effect runs again, if the deps changed</a:t>
            </a:r>
            <a:endParaRPr/>
          </a:p>
          <a:p>
            <a:pPr marL="0" marR="0" lvl="0" indent="0" algn="l" rtl="0">
              <a:spcBef>
                <a:spcPts val="600"/>
              </a:spcBef>
              <a:spcAft>
                <a:spcPts val="0"/>
              </a:spcAft>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8"/>
        <p:cNvGrpSpPr/>
        <p:nvPr/>
      </p:nvGrpSpPr>
      <p:grpSpPr>
        <a:xfrm>
          <a:off x="0" y="0"/>
          <a:ext cx="0" cy="0"/>
          <a:chOff x="0" y="0"/>
          <a:chExt cx="0" cy="0"/>
        </a:xfrm>
      </p:grpSpPr>
      <p:sp>
        <p:nvSpPr>
          <p:cNvPr id="399" name="Google Shape;399;g3e10b4ab9cc_0_407"/>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useEffect cleanup: every setup needs a teardown</a:t>
            </a:r>
            <a:endParaRPr/>
          </a:p>
        </p:txBody>
      </p:sp>
      <p:sp>
        <p:nvSpPr>
          <p:cNvPr id="400" name="Google Shape;400;g3e10b4ab9cc_0_407"/>
          <p:cNvSpPr txBox="1"/>
          <p:nvPr/>
        </p:nvSpPr>
        <p:spPr>
          <a:xfrm>
            <a:off x="902975" y="1189200"/>
            <a:ext cx="10633500" cy="532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An effect can </a:t>
            </a:r>
            <a:r>
              <a:rPr lang="en-US" sz="2400" b="1">
                <a:solidFill>
                  <a:srgbClr val="333344"/>
                </a:solidFill>
                <a:latin typeface="Calibri"/>
                <a:ea typeface="Calibri"/>
                <a:cs typeface="Calibri"/>
                <a:sym typeface="Calibri"/>
              </a:rPr>
              <a:t>return a function</a:t>
            </a:r>
            <a:r>
              <a:rPr lang="en-US" sz="2400" b="0">
                <a:solidFill>
                  <a:srgbClr val="333344"/>
                </a:solidFill>
                <a:latin typeface="Calibri"/>
                <a:ea typeface="Calibri"/>
                <a:cs typeface="Calibri"/>
                <a:sym typeface="Calibri"/>
              </a:rPr>
              <a:t>. That function is the cleanup.</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React calls the cleanup at two moments:</a:t>
            </a:r>
            <a:endParaRPr sz="2400" b="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1.</a:t>
            </a:r>
            <a:r>
              <a:rPr lang="en-US" sz="2000" b="0" i="0" u="none" strike="noStrike" cap="none">
                <a:solidFill>
                  <a:srgbClr val="666677"/>
                </a:solidFill>
                <a:latin typeface="Calibri"/>
                <a:ea typeface="Calibri"/>
                <a:cs typeface="Calibri"/>
                <a:sym typeface="Calibri"/>
              </a:rPr>
              <a:t> When the component unmounts (the user navigated away,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parent stopped rendering this child, etc.)</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a:t>
            </a:r>
            <a:r>
              <a:rPr lang="en-US" sz="2000" b="0" i="0" u="none" strike="noStrike" cap="none">
                <a:solidFill>
                  <a:srgbClr val="666677"/>
                </a:solidFill>
                <a:latin typeface="Calibri"/>
                <a:ea typeface="Calibri"/>
                <a:cs typeface="Calibri"/>
                <a:sym typeface="Calibri"/>
              </a:rPr>
              <a:t> Right before the effect runs again, if the deps changed</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The rule:</a:t>
            </a:r>
            <a:r>
              <a:rPr lang="en-US" sz="2400" b="0">
                <a:solidFill>
                  <a:srgbClr val="333344"/>
                </a:solidFill>
                <a:latin typeface="Calibri"/>
                <a:ea typeface="Calibri"/>
                <a:cs typeface="Calibri"/>
                <a:sym typeface="Calibri"/>
              </a:rPr>
              <a:t> if your effect started something </a:t>
            </a:r>
            <a:r>
              <a:rPr lang="en-US" sz="2400">
                <a:solidFill>
                  <a:srgbClr val="333344"/>
                </a:solidFill>
                <a:latin typeface="Calibri"/>
                <a:ea typeface="Calibri"/>
                <a:cs typeface="Calibri"/>
                <a:sym typeface="Calibri"/>
              </a:rPr>
              <a:t>living </a:t>
            </a:r>
            <a:r>
              <a:rPr lang="en-US" sz="2400" b="0">
                <a:solidFill>
                  <a:srgbClr val="333344"/>
                </a:solidFill>
                <a:latin typeface="Calibri"/>
                <a:ea typeface="Calibri"/>
                <a:cs typeface="Calibri"/>
                <a:sym typeface="Calibri"/>
              </a:rPr>
              <a:t>outside React</a:t>
            </a:r>
            <a:r>
              <a:rPr lang="en-US" sz="2400">
                <a:solidFill>
                  <a:srgbClr val="333344"/>
                </a:solidFill>
                <a:latin typeface="Calibri"/>
                <a:ea typeface="Calibri"/>
                <a:cs typeface="Calibri"/>
                <a:sym typeface="Calibri"/>
              </a:rPr>
              <a:t>, cleanup has to stop it</a:t>
            </a: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`setInterval`        -&gt; `clearInterval`</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`setTimeout`         -&gt; `clearTimeout`</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`addEventListener`   -&gt; `removeEventListener`</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`new WebSocket(...)` -&gt; `.close()`</a:t>
            </a: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If you don't, the thing keeps running on an unmounted component.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5"/>
        <p:cNvGrpSpPr/>
        <p:nvPr/>
      </p:nvGrpSpPr>
      <p:grpSpPr>
        <a:xfrm>
          <a:off x="0" y="0"/>
          <a:ext cx="0" cy="0"/>
          <a:chOff x="0" y="0"/>
          <a:chExt cx="0" cy="0"/>
        </a:xfrm>
      </p:grpSpPr>
      <p:sp>
        <p:nvSpPr>
          <p:cNvPr id="406" name="Google Shape;406;g3e10b4ab9cc_0_510"/>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The fix: return a cleanup function</a:t>
            </a:r>
            <a:endParaRPr/>
          </a:p>
        </p:txBody>
      </p:sp>
      <p:sp>
        <p:nvSpPr>
          <p:cNvPr id="407" name="Google Shape;407;g3e10b4ab9cc_0_510"/>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a:solidFill>
                  <a:srgbClr val="5B21B6"/>
                </a:solidFill>
                <a:latin typeface="Courier New"/>
                <a:ea typeface="Courier New"/>
                <a:cs typeface="Courier New"/>
                <a:sym typeface="Courier New"/>
              </a:rPr>
              <a:t>TypeScript</a:t>
            </a:r>
            <a:endParaRPr/>
          </a:p>
        </p:txBody>
      </p:sp>
      <p:sp>
        <p:nvSpPr>
          <p:cNvPr id="408" name="Google Shape;408;g3e10b4ab9cc_0_510"/>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09" name="Google Shape;409;g3e10b4ab9cc_0_510"/>
          <p:cNvSpPr txBox="1"/>
          <p:nvPr/>
        </p:nvSpPr>
        <p:spPr>
          <a:xfrm>
            <a:off x="1005840" y="1645920"/>
            <a:ext cx="10179900" cy="496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a:solidFill>
                  <a:srgbClr val="333344"/>
                </a:solidFill>
                <a:latin typeface="Courier New"/>
                <a:ea typeface="Courier New"/>
                <a:cs typeface="Courier New"/>
                <a:sym typeface="Courier New"/>
              </a:rPr>
              <a:t>function MessageList() {</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const [messages, setMessages] = useState&lt;Message[]&gt;([]);</a:t>
            </a:r>
            <a:endParaRPr sz="1800"/>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useEffect(() =&gt; {</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async function load() {</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const r = await fetch("/api/messages");</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setMessages(await r.json());</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load();                                  // initial fetch</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________ = setInterval(load, 2000);      // refetch every 2s</a:t>
            </a:r>
            <a:endParaRPr sz="1800"/>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 []);</a:t>
            </a:r>
            <a:endParaRPr sz="1800"/>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return &lt;ul&gt;{messages.map(m =&gt; &lt;li key={m.id}&gt;{m.text}&lt;/li&gt;)}&lt;/ul&gt;;</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a:t>
            </a:r>
            <a:endParaRPr sz="1800"/>
          </a:p>
          <a:p>
            <a:pPr marL="0" marR="0" lvl="0" indent="0" algn="l" rtl="0">
              <a:spcBef>
                <a:spcPts val="200"/>
              </a:spcBef>
              <a:spcAft>
                <a:spcPts val="0"/>
              </a:spcAft>
              <a:buNone/>
            </a:pP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4"/>
        <p:cNvGrpSpPr/>
        <p:nvPr/>
      </p:nvGrpSpPr>
      <p:grpSpPr>
        <a:xfrm>
          <a:off x="0" y="0"/>
          <a:ext cx="0" cy="0"/>
          <a:chOff x="0" y="0"/>
          <a:chExt cx="0" cy="0"/>
        </a:xfrm>
      </p:grpSpPr>
      <p:sp>
        <p:nvSpPr>
          <p:cNvPr id="415" name="Google Shape;415;g3e10b4ab9cc_0_413"/>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1A1A2E"/>
                </a:solidFill>
                <a:latin typeface="Calibri"/>
                <a:ea typeface="Calibri"/>
                <a:cs typeface="Calibri"/>
                <a:sym typeface="Calibri"/>
              </a:rPr>
              <a:t>The fix: return a cleanup function</a:t>
            </a:r>
            <a:endParaRPr/>
          </a:p>
        </p:txBody>
      </p:sp>
      <p:sp>
        <p:nvSpPr>
          <p:cNvPr id="416" name="Google Shape;416;g3e10b4ab9cc_0_413"/>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a:solidFill>
                  <a:srgbClr val="5B21B6"/>
                </a:solidFill>
                <a:latin typeface="Courier New"/>
                <a:ea typeface="Courier New"/>
                <a:cs typeface="Courier New"/>
                <a:sym typeface="Courier New"/>
              </a:rPr>
              <a:t>TypeScript</a:t>
            </a:r>
            <a:endParaRPr/>
          </a:p>
        </p:txBody>
      </p:sp>
      <p:sp>
        <p:nvSpPr>
          <p:cNvPr id="417" name="Google Shape;417;g3e10b4ab9cc_0_413"/>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18" name="Google Shape;418;g3e10b4ab9cc_0_413"/>
          <p:cNvSpPr txBox="1"/>
          <p:nvPr/>
        </p:nvSpPr>
        <p:spPr>
          <a:xfrm>
            <a:off x="1005840" y="1645920"/>
            <a:ext cx="10179900" cy="496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a:solidFill>
                  <a:srgbClr val="333344"/>
                </a:solidFill>
                <a:latin typeface="Courier New"/>
                <a:ea typeface="Courier New"/>
                <a:cs typeface="Courier New"/>
                <a:sym typeface="Courier New"/>
              </a:rPr>
              <a:t>function MessageList() {</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const [messages, setMessages] = useState&lt;Message[]&gt;([]);</a:t>
            </a:r>
            <a:endParaRPr sz="1800"/>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useEffect(() =&gt; {</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async function load() {</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const r = await fetch("/api/messages");</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setMessages(await r.json());</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load();                                  // initial fetch</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const id = setInterval(load, 2000);      // refetch every 2s</a:t>
            </a:r>
            <a:endParaRPr sz="1800"/>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return () =&gt; clearInterval(id);          // tear down on unmount</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 []);</a:t>
            </a:r>
            <a:endParaRPr sz="1800"/>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return &lt;ul&gt;{messages.map(m =&gt; &lt;li key={m.id}&gt;{m.text}&lt;/li&gt;)}&lt;/ul&gt;;</a:t>
            </a:r>
            <a:endParaRPr sz="1800"/>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a:t>
            </a:r>
            <a:endParaRPr sz="1800"/>
          </a:p>
          <a:p>
            <a:pPr marL="0" marR="0" lvl="0" indent="0" algn="l" rtl="0">
              <a:spcBef>
                <a:spcPts val="200"/>
              </a:spcBef>
              <a:spcAft>
                <a:spcPts val="0"/>
              </a:spcAft>
              <a:buNone/>
            </a:pP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3"/>
        <p:cNvGrpSpPr/>
        <p:nvPr/>
      </p:nvGrpSpPr>
      <p:grpSpPr>
        <a:xfrm>
          <a:off x="0" y="0"/>
          <a:ext cx="0" cy="0"/>
          <a:chOff x="0" y="0"/>
          <a:chExt cx="0" cy="0"/>
        </a:xfrm>
      </p:grpSpPr>
      <p:sp>
        <p:nvSpPr>
          <p:cNvPr id="424" name="Google Shape;424;g3e10b4ab9cc_0_52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Polling is cheap. Pushes are right.</a:t>
            </a:r>
            <a:endParaRPr/>
          </a:p>
        </p:txBody>
      </p:sp>
      <p:sp>
        <p:nvSpPr>
          <p:cNvPr id="425" name="Google Shape;425;g3e10b4ab9cc_0_526"/>
          <p:cNvSpPr txBox="1"/>
          <p:nvPr/>
        </p:nvSpPr>
        <p:spPr>
          <a:xfrm>
            <a:off x="914388" y="1134590"/>
            <a:ext cx="10362900" cy="1908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Polling - every N seconds, fetch the whole list: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Zero server-side work; runs against any REST API you already have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Most polls return data identical to the last one (wasteful)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Always 0..N seconds behind reality (no faster than your interval)</a:t>
            </a:r>
            <a:endParaRPr/>
          </a:p>
          <a:p>
            <a:pPr marL="457200" marR="0" lvl="1" indent="0" algn="l" rtl="0">
              <a:spcBef>
                <a:spcPts val="600"/>
              </a:spcBef>
              <a:spcAft>
                <a:spcPts val="0"/>
              </a:spcAft>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0"/>
        <p:cNvGrpSpPr/>
        <p:nvPr/>
      </p:nvGrpSpPr>
      <p:grpSpPr>
        <a:xfrm>
          <a:off x="0" y="0"/>
          <a:ext cx="0" cy="0"/>
          <a:chOff x="0" y="0"/>
          <a:chExt cx="0" cy="0"/>
        </a:xfrm>
      </p:grpSpPr>
      <p:sp>
        <p:nvSpPr>
          <p:cNvPr id="431" name="Google Shape;431;g3e10b4ab9cc_0_421"/>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Polling is cheap. Pushes are right.</a:t>
            </a:r>
            <a:endParaRPr/>
          </a:p>
        </p:txBody>
      </p:sp>
      <p:sp>
        <p:nvSpPr>
          <p:cNvPr id="432" name="Google Shape;432;g3e10b4ab9cc_0_421"/>
          <p:cNvSpPr txBox="1"/>
          <p:nvPr/>
        </p:nvSpPr>
        <p:spPr>
          <a:xfrm>
            <a:off x="914388" y="1134590"/>
            <a:ext cx="10362900" cy="5202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a:solidFill>
                  <a:srgbClr val="333344"/>
                </a:solidFill>
                <a:latin typeface="Calibri"/>
                <a:ea typeface="Calibri"/>
                <a:cs typeface="Calibri"/>
                <a:sym typeface="Calibri"/>
              </a:rPr>
              <a:t>Polling - every N seconds, fetch the whole list: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Zero server-side work; runs against any REST API you already have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Most polls return data identical to the last one (wasteful)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Always 0..N seconds behind reality (no faster than your interval)</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a:solidFill>
                  <a:srgbClr val="333344"/>
                </a:solidFill>
                <a:latin typeface="Calibri"/>
                <a:ea typeface="Calibri"/>
                <a:cs typeface="Calibri"/>
                <a:sym typeface="Calibri"/>
              </a:rPr>
              <a:t>Pushes</a:t>
            </a:r>
            <a:r>
              <a:rPr lang="en-US" sz="2400" b="0">
                <a:solidFill>
                  <a:srgbClr val="333344"/>
                </a:solidFill>
                <a:latin typeface="Calibri"/>
                <a:ea typeface="Calibri"/>
                <a:cs typeface="Calibri"/>
                <a:sym typeface="Calibri"/>
              </a:rPr>
              <a:t> - the server sends an update when something changes:</a:t>
            </a:r>
            <a:endParaRPr sz="2400" b="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Server-Sent Events (SSE): a one-way stream of updates over HTTP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WebSockets: a full two-way connection between browser and server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Real-time, no wasted requests, but the server has to support it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long-lived connection per client) - more moving parts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For your BBS frontend, polling is fine. Slack and Discord are pushes.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 really only reach for pushes when polling stops being enough.</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7"/>
        <p:cNvGrpSpPr/>
        <p:nvPr/>
      </p:nvGrpSpPr>
      <p:grpSpPr>
        <a:xfrm>
          <a:off x="0" y="0"/>
          <a:ext cx="0" cy="0"/>
          <a:chOff x="0" y="0"/>
          <a:chExt cx="0" cy="0"/>
        </a:xfrm>
      </p:grpSpPr>
      <p:sp>
        <p:nvSpPr>
          <p:cNvPr id="438" name="Google Shape;438;p29"/>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Where this goes next</a:t>
            </a:r>
            <a:endParaRPr/>
          </a:p>
        </p:txBody>
      </p:sp>
      <p:sp>
        <p:nvSpPr>
          <p:cNvPr id="439" name="Google Shape;439;p29"/>
          <p:cNvSpPr txBox="1"/>
          <p:nvPr/>
        </p:nvSpPr>
        <p:spPr>
          <a:xfrm>
            <a:off x="914400" y="1280140"/>
            <a:ext cx="10362900" cy="4725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333344"/>
                </a:solidFill>
                <a:latin typeface="Calibri"/>
                <a:ea typeface="Calibri"/>
                <a:cs typeface="Calibri"/>
                <a:sym typeface="Calibri"/>
              </a:rPr>
              <a:t>Three things to walk away with:</a:t>
            </a:r>
            <a:endParaRPr sz="2400" b="1">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useState</a:t>
            </a:r>
            <a:r>
              <a:rPr lang="en-US" sz="2000" b="0" i="0" u="none" strike="noStrike" cap="none">
                <a:solidFill>
                  <a:srgbClr val="666677"/>
                </a:solidFill>
                <a:latin typeface="Calibri"/>
                <a:ea typeface="Calibri"/>
                <a:cs typeface="Calibri"/>
                <a:sym typeface="Calibri"/>
              </a:rPr>
              <a:t> for memory between renders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ourier Prime"/>
                <a:ea typeface="Courier Prime"/>
                <a:cs typeface="Courier Prime"/>
                <a:sym typeface="Courier Prime"/>
              </a:rPr>
              <a:t>useEffect</a:t>
            </a:r>
            <a:r>
              <a:rPr lang="en-US" sz="2000" b="0" i="0" u="none" strike="noStrike" cap="none">
                <a:solidFill>
                  <a:srgbClr val="666677"/>
                </a:solidFill>
                <a:latin typeface="Calibri"/>
                <a:ea typeface="Calibri"/>
                <a:cs typeface="Calibri"/>
                <a:sym typeface="Calibri"/>
              </a:rPr>
              <a:t> for side effects, with a deps array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loading / error / data</a:t>
            </a:r>
            <a:r>
              <a:rPr lang="en-US" sz="2000" b="0" i="0" u="none" strike="noStrike" cap="none">
                <a:solidFill>
                  <a:srgbClr val="666677"/>
                </a:solidFill>
                <a:latin typeface="Calibri"/>
                <a:ea typeface="Calibri"/>
                <a:cs typeface="Calibri"/>
                <a:sym typeface="Calibri"/>
              </a:rPr>
              <a:t> for every fetching component</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You now have everything you need for a real React app: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DOM, components, state, effects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Next: </a:t>
            </a:r>
            <a:r>
              <a:rPr lang="en-US" sz="2400" b="1">
                <a:solidFill>
                  <a:srgbClr val="333344"/>
                </a:solidFill>
                <a:latin typeface="Calibri"/>
                <a:ea typeface="Calibri"/>
                <a:cs typeface="Calibri"/>
                <a:sym typeface="Calibri"/>
              </a:rPr>
              <a:t>deployment.</a:t>
            </a:r>
            <a:r>
              <a:rPr lang="en-US" sz="2400" b="0">
                <a:solidFill>
                  <a:srgbClr val="333344"/>
                </a:solidFill>
                <a:latin typeface="Calibri"/>
                <a:ea typeface="Calibri"/>
                <a:cs typeface="Calibri"/>
                <a:sym typeface="Calibri"/>
              </a:rPr>
              <a:t> Your app has lived on localhost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all semester. Time to put it on the internet. Also the kickoff</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for the final project - teams of 2-3, six weeks, open-ended.</a:t>
            </a:r>
            <a:endParaRPr/>
          </a:p>
          <a:p>
            <a:pPr marL="0" marR="0" lvl="0" indent="0" algn="l" rtl="0">
              <a:spcBef>
                <a:spcPts val="60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8452</Words>
  <Application>Microsoft Macintosh PowerPoint</Application>
  <PresentationFormat>Widescreen</PresentationFormat>
  <Paragraphs>664</Paragraphs>
  <Slides>44</Slides>
  <Notes>44</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Courier New</vt:lpstr>
      <vt:lpstr>Courier Prime</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Andrew Aymeloglu</cp:lastModifiedBy>
  <cp:revision>1</cp:revision>
  <dcterms:created xsi:type="dcterms:W3CDTF">2013-01-27T09:14:16Z</dcterms:created>
  <dcterms:modified xsi:type="dcterms:W3CDTF">2026-05-12T22:39:25Z</dcterms:modified>
</cp:coreProperties>
</file>