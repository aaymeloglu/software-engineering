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</p:sldIdLst>
  <p:sldSz cy="6858000" cx="12191675"/>
  <p:notesSz cx="6858000" cy="9144000"/>
  <p:embeddedFontLst>
    <p:embeddedFont>
      <p:font typeface="Courier Prime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60" roundtripDataSignature="AMtx7mhyjS2giVrPZZdJ+XEaIF7/Ee88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font" Target="fonts/CourierPrime-regular.fntdata"/><Relationship Id="rId57" Type="http://schemas.openxmlformats.org/officeDocument/2006/relationships/font" Target="fonts/CourierPrime-bold.fntdata"/><Relationship Id="rId58" Type="http://schemas.openxmlformats.org/officeDocument/2006/relationships/font" Target="fonts/CourierPrime-italic.fntdata"/><Relationship Id="rId59" Type="http://schemas.openxmlformats.org/officeDocument/2006/relationships/font" Target="fonts/CourierPrime-boldItalic.fntdata"/><Relationship Id="rId6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/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679c205eb_0_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g3e679c205eb_0_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 it: JavaScript and Java are unrelated.</a:t>
            </a:r>
          </a:p>
        </p:txBody>
      </p:sp>
      <p:sp>
        <p:nvSpPr>
          <p:cNvPr id="92" name="Google Shape;92;g3e679c205eb_0_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 it: JavaScript and Java are unrelated.</a:t>
            </a:r>
          </a:p>
        </p:txBody>
      </p:sp>
      <p:sp>
        <p:nvSpPr>
          <p:cNvPr id="99" name="Google Shape;99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e679c205eb_0_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5" name="Google Shape;105;g3e679c205eb_0_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Design decisions you have to live with - this is the extreme case.</a:t>
            </a:r>
          </a:p>
        </p:txBody>
      </p:sp>
      <p:sp>
        <p:nvSpPr>
          <p:cNvPr id="106" name="Google Shape;106;g3e679c205eb_0_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e679c205eb_0_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g3e679c205eb_0_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Read each constraint slowly. Don't spoil the next slide's answers.</a:t>
            </a:r>
          </a:p>
        </p:txBody>
      </p:sp>
      <p:sp>
        <p:nvSpPr>
          <p:cNvPr id="114" name="Google Shape;114;g3e679c205eb_0_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e679c205eb_0_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g3e679c205eb_0_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Read each constraint slowly. Don't spoil the next slide's answers.</a:t>
            </a:r>
          </a:p>
        </p:txBody>
      </p:sp>
      <p:sp>
        <p:nvSpPr>
          <p:cNvPr id="121" name="Google Shape;121;g3e679c205eb_0_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679c205eb_0_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e679c205eb_0_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Read each constraint slowly. Don't spoil the next slide's answers.</a:t>
            </a:r>
          </a:p>
        </p:txBody>
      </p:sp>
      <p:sp>
        <p:nvSpPr>
          <p:cNvPr id="128" name="Google Shape;128;g3e679c205eb_0_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e679c205eb_0_3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g3e679c205eb_0_3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Read each constraint slowly. Don't spoil the next slide's answers.</a:t>
            </a:r>
          </a:p>
        </p:txBody>
      </p:sp>
      <p:sp>
        <p:nvSpPr>
          <p:cNvPr id="135" name="Google Shape;135;g3e679c205eb_0_3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1" name="Google Shape;141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Read each constraint slowly. Don't spoil the next slide's answers.</a:t>
            </a:r>
          </a:p>
        </p:txBody>
      </p:sp>
      <p:sp>
        <p:nvSpPr>
          <p:cNvPr id="142" name="Google Shape;142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4 min full. Cold-call three pairs, board answers. Expect: dynamic typing, forgiving errors, event-driven, interpreted.</a:t>
            </a:r>
          </a:p>
        </p:txBody>
      </p:sp>
      <p:sp>
        <p:nvSpPr>
          <p:cNvPr id="149" name="Google Shape;14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e69013deec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g3e69013deec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Check each decision against the board answers.</a:t>
            </a:r>
          </a:p>
        </p:txBody>
      </p:sp>
      <p:sp>
        <p:nvSpPr>
          <p:cNvPr id="157" name="Google Shape;157;g3e69013deec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Check each decision against the board answers.</a:t>
            </a:r>
          </a:p>
        </p:txBody>
      </p:sp>
      <p:sp>
        <p:nvSpPr>
          <p:cNvPr id="164" name="Google Shape;164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0" name="Google Shape;170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Default const, let only to reassign. ESLint no-var in eslint:recommended bans `var`.</a:t>
            </a:r>
          </a:p>
        </p:txBody>
      </p:sp>
      <p:sp>
        <p:nvSpPr>
          <p:cNvPr id="171" name="Google Shape;171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9" name="Google Shape;179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Treat null/undefined the same in practice: check `== null`, or use `??` / `?.`.</a:t>
            </a:r>
          </a:p>
        </p:txBody>
      </p:sp>
      <p:sp>
        <p:nvSpPr>
          <p:cNvPr id="180" name="Google Shape;180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8" name="Google Shape;18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89" name="Google Shape;18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e679c205eb_0_4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7" name="Google Shape;197;g3e679c205eb_0_4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Dot for fixed names, bracket for keys held in a variable.</a:t>
            </a:r>
          </a:p>
        </p:txBody>
      </p:sp>
      <p:sp>
        <p:nvSpPr>
          <p:cNvPr id="198" name="Google Shape;198;g3e679c205eb_0_4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e679c205eb_0_4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6" name="Google Shape;206;g3e679c205eb_0_4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Dot for fixed names, bracket for keys held in a variable.</a:t>
            </a:r>
          </a:p>
        </p:txBody>
      </p:sp>
      <p:sp>
        <p:nvSpPr>
          <p:cNvPr id="207" name="Google Shape;207;g3e679c205eb_0_4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5" name="Google Shape;21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Dot for fixed names, bracket for keys held in a variable.</a:t>
            </a:r>
          </a:p>
        </p:txBody>
      </p:sp>
      <p:sp>
        <p:nvSpPr>
          <p:cNvPr id="216" name="Google Shape;21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e679c205eb_0_5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4" name="Google Shape;224;g3e679c205eb_0_5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Only sequence type, no tuples. Same shape their FastAPI endpoints return in 5.2 and 6.1.</a:t>
            </a:r>
          </a:p>
        </p:txBody>
      </p:sp>
      <p:sp>
        <p:nvSpPr>
          <p:cNvPr id="225" name="Google Shape;225;g3e679c205eb_0_5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3" name="Google Shape;233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Only sequence type, no tuples. Same shape their FastAPI endpoints return in 5.2 and 6.1.</a:t>
            </a:r>
          </a:p>
        </p:txBody>
      </p:sp>
      <p:sp>
        <p:nvSpPr>
          <p:cNvPr id="234" name="Google Shape;234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2" name="Google Shape;242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Ternary = Python conditional expression. First-class functions return as a topic in 10.1.</a:t>
            </a:r>
          </a:p>
        </p:txBody>
      </p:sp>
      <p:sp>
        <p:nvSpPr>
          <p:cNvPr id="243" name="Google Shape;243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1" name="Google Shape;251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Walk the reduce accumulator through two iterations by hand. React uses .map() for list rendering.</a:t>
            </a:r>
          </a:p>
        </p:txBody>
      </p:sp>
      <p:sp>
        <p:nvSpPr>
          <p:cNvPr id="252" name="Google Shape;252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e68e3e393f_0_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0" name="Google Shape;260;g3e68e3e393f_0_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`==` can't be removed without breaking the web, so nobody types it. Linters enforce `===`.</a:t>
            </a:r>
          </a:p>
        </p:txBody>
      </p:sp>
      <p:sp>
        <p:nvSpPr>
          <p:cNvPr id="261" name="Google Shape;261;g3e68e3e393f_0_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e68e3e393f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9" name="Google Shape;269;g3e68e3e393f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`==` can't be removed without breaking the web, so nobody types it. Linters enforce `===`.</a:t>
            </a:r>
          </a:p>
        </p:txBody>
      </p:sp>
      <p:sp>
        <p:nvSpPr>
          <p:cNvPr id="270" name="Google Shape;270;g3e68e3e393f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8" name="Google Shape;278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`==` can't be removed without breaking the web, so nobody types it. Linters enforce `===`.</a:t>
            </a:r>
          </a:p>
        </p:txBody>
      </p:sp>
      <p:sp>
        <p:nvSpPr>
          <p:cNvPr id="279" name="Google Shape;279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7" name="Google Shape;287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Three browser additions today: types, DOM, events. Talking to a server is next lecture.</a:t>
            </a:r>
          </a:p>
        </p:txBody>
      </p:sp>
      <p:sp>
        <p:nvSpPr>
          <p:cNvPr id="288" name="Google Shape;288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e679c205eb_0_6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3" name="Google Shape;293;g3e679c205eb_0_6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spirit as pytest: find out early. Bundler (Vite) arrives in week 6 with React.</a:t>
            </a:r>
          </a:p>
        </p:txBody>
      </p:sp>
      <p:sp>
        <p:nvSpPr>
          <p:cNvPr id="294" name="Google Shape;294;g3e679c205eb_0_6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e679c205eb_0_7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0" name="Google Shape;300;g3e679c205eb_0_7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spirit as pytest: find out early. Bundler (Vite) arrives in week 6 with React.</a:t>
            </a:r>
          </a:p>
        </p:txBody>
      </p:sp>
      <p:sp>
        <p:nvSpPr>
          <p:cNvPr id="301" name="Google Shape;301;g3e679c205eb_0_7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7" name="Google Shape;307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spirit as pytest: find out early. Bundler (Vite) arrives in week 6 with React.</a:t>
            </a:r>
          </a:p>
        </p:txBody>
      </p:sp>
      <p:sp>
        <p:nvSpPr>
          <p:cNvPr id="308" name="Google Shape;308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e679c205eb_0_7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4" name="Google Shape;314;g3e679c205eb_0_7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Annotations vanish at compile. `string | null` makes the two-nothings explicit.</a:t>
            </a:r>
          </a:p>
        </p:txBody>
      </p:sp>
      <p:sp>
        <p:nvSpPr>
          <p:cNvPr id="315" name="Google Shape;315;g3e679c205eb_0_7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3" name="Google Shape;323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Annotations vanish at compile. `string | null` makes the two-nothings explicit.</a:t>
            </a:r>
          </a:p>
        </p:txBody>
      </p:sp>
      <p:sp>
        <p:nvSpPr>
          <p:cNvPr id="324" name="Google Shape;324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2" name="Google Shape;332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Interfaces = Pydantic models from 3.2; `?` = `Optional[int]`.</a:t>
            </a:r>
          </a:p>
        </p:txBody>
      </p:sp>
      <p:sp>
        <p:nvSpPr>
          <p:cNvPr id="333" name="Google Shape;333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1" name="Google Shape;341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JS reaches into the tree and mutates it, no re-parsing HTML text.</a:t>
            </a:r>
          </a:p>
        </p:txBody>
      </p:sp>
      <p:sp>
        <p:nvSpPr>
          <p:cNvPr id="342" name="Google Shape;342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e679c205eb_0_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8" name="Google Shape;348;g3e679c205eb_0_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~30 tags in everyday use, look up the rest. class is what classList flips later.</a:t>
            </a:r>
          </a:p>
        </p:txBody>
      </p:sp>
      <p:sp>
        <p:nvSpPr>
          <p:cNvPr id="349" name="Google Shape;349;g3e679c205eb_0_8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e679c205eb_0_9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5" name="Google Shape;355;g3e679c205eb_0_9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selector syntax as querySelector, one engine for both. Skip cascade/specificity.</a:t>
            </a:r>
          </a:p>
        </p:txBody>
      </p:sp>
      <p:sp>
        <p:nvSpPr>
          <p:cNvPr id="356" name="Google Shape;356;g3e679c205eb_0_9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e679c205eb_0_17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2" name="Google Shape;362;g3e679c205eb_0_17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Same selector syntax as querySelector, one engine for both. Skip cascade/specificity.</a:t>
            </a:r>
          </a:p>
        </p:txBody>
      </p:sp>
      <p:sp>
        <p:nvSpPr>
          <p:cNvPr id="363" name="Google Shape;363;g3e679c205eb_0_17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e679c205eb_0_27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9" name="Google Shape;369;g3e679c205eb_0_27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Keep this slide up on the projector through the next few.</a:t>
            </a:r>
          </a:p>
        </p:txBody>
      </p:sp>
      <p:sp>
        <p:nvSpPr>
          <p:cNvPr id="370" name="Google Shape;370;g3e679c205eb_0_27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e679c205eb_0_28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8" name="Google Shape;378;g3e679c205eb_0_28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Optional: open devtools on the live page, toggle `done` in the elements panel.</a:t>
            </a:r>
          </a:p>
        </p:txBody>
      </p:sp>
      <p:sp>
        <p:nvSpPr>
          <p:cNvPr id="379" name="Google Shape;379;g3e679c205eb_0_28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e679c205eb_0_49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7" name="Google Shape;387;g3e679c205eb_0_49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`as HTMLInputElement` is a type assertion; without it TS gives `Element`, no `.value`.</a:t>
            </a:r>
          </a:p>
        </p:txBody>
      </p:sp>
      <p:sp>
        <p:nvSpPr>
          <p:cNvPr id="388" name="Google Shape;388;g3e679c205eb_0_49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`as HTMLInputElement` is a type assertion; without it TS gives `Element`, no `.value`.</a:t>
            </a:r>
          </a:p>
        </p:txBody>
      </p:sp>
      <p:sp>
        <p:nvSpPr>
          <p:cNvPr id="397" name="Google Shape;39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3e679c205eb_0_5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5" name="Google Shape;405;g3e679c205eb_0_5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Default to textContent + createElement. innerHTML runs `&lt;script&gt;` from user input - XSS, see 9.2.</a:t>
            </a:r>
          </a:p>
        </p:txBody>
      </p:sp>
      <p:sp>
        <p:nvSpPr>
          <p:cNvPr id="406" name="Google Shape;406;g3e679c205eb_0_50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e679c205eb_0_49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4" name="Google Shape;414;g3e679c205eb_0_49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Default to textContent + createElement. innerHTML runs `&lt;script&gt;` from user input - XSS, see 9.2.</a:t>
            </a:r>
          </a:p>
        </p:txBody>
      </p:sp>
      <p:sp>
        <p:nvSpPr>
          <p:cNvPr id="415" name="Google Shape;415;g3e679c205eb_0_49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3" name="Google Shape;423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Default to textContent + createElement. innerHTML runs `&lt;script&gt;` from user input - XSS, see 9.2.</a:t>
            </a:r>
          </a:p>
        </p:txBody>
      </p:sp>
      <p:sp>
        <p:nvSpPr>
          <p:cNvPr id="424" name="Google Shape;424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e679c205eb_0_17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2" name="Google Shape;432;g3e679c205eb_0_17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Pause after 'and then... nothing' before advancing.</a:t>
            </a:r>
          </a:p>
        </p:txBody>
      </p:sp>
      <p:sp>
        <p:nvSpPr>
          <p:cNvPr id="433" name="Google Shape;433;g3e679c205eb_0_17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3e679c205eb_0_18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9" name="Google Shape;439;g3e679c205eb_0_18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Pause after 'and then... nothing' before advancing.</a:t>
            </a:r>
          </a:p>
        </p:txBody>
      </p:sp>
      <p:sp>
        <p:nvSpPr>
          <p:cNvPr id="440" name="Google Shape;440;g3e679c205eb_0_18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2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6" name="Google Shape;446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47" name="Google Shape;447;p2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3" name="Google Shape;453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Walk the four numbered steps aloud. Mention preventDefault now, before they build forms.</a:t>
            </a:r>
          </a:p>
        </p:txBody>
      </p:sp>
      <p:sp>
        <p:nvSpPr>
          <p:cNvPr id="454" name="Google Shape;454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2" name="Google Shape;462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Blanks: querySelectorAll, forEach, addEventListener, classList, toggle, done.</a:t>
            </a:r>
          </a:p>
        </p:txBody>
      </p:sp>
      <p:sp>
        <p:nvSpPr>
          <p:cNvPr id="463" name="Google Shape;463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1" name="Google Shape;471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Don't teach delegation, just name it. Todos added via slide 46 get no listener.</a:t>
            </a:r>
          </a:p>
        </p:txBody>
      </p:sp>
      <p:sp>
        <p:nvSpPr>
          <p:cNvPr id="472" name="Google Shape;472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0" name="Google Shape;480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Frame 5.2 as waiting. Repeat the rules list at the top of 5.2.</a:t>
            </a:r>
          </a:p>
        </p:txBody>
      </p:sp>
      <p:sp>
        <p:nvSpPr>
          <p:cNvPr id="481" name="Google Shape;481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3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3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3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3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3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3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3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5.1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JavaScript and the Browser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679c205eb_0_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language you don't get to avoid</a:t>
            </a:r>
            <a:endParaRPr/>
          </a:p>
        </p:txBody>
      </p:sp>
      <p:sp>
        <p:nvSpPr>
          <p:cNvPr id="95" name="Google Shape;95;g3e679c205eb_0_2"/>
          <p:cNvSpPr txBox="1"/>
          <p:nvPr/>
        </p:nvSpPr>
        <p:spPr>
          <a:xfrm>
            <a:off x="914400" y="1280140"/>
            <a:ext cx="103629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Count the languages that run unmodified on your laptop: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Python, Go, Rust, Java, C, C++, Ruby, Swift, ... dozens.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language you don't get to avoid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914400" y="1280140"/>
            <a:ext cx="10362900" cy="23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Count the languages that run unmodified on your laptop: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Python, Go, Rust, Java, C, C++, Ruby, Swift, ... dozens.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Count the languages that run unmodified in every browser on earth: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One.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JavaScript. About 97% of all websites ship it.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e679c205eb_0_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language you don't get to avoid</a:t>
            </a:r>
            <a:endParaRPr/>
          </a:p>
        </p:txBody>
      </p:sp>
      <p:sp>
        <p:nvSpPr>
          <p:cNvPr id="109" name="Google Shape;109;g3e679c205eb_0_8"/>
          <p:cNvSpPr txBox="1"/>
          <p:nvPr/>
        </p:nvSpPr>
        <p:spPr>
          <a:xfrm>
            <a:off x="914400" y="1280150"/>
            <a:ext cx="7524300" cy="3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May 1995.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Netscape needed a scripting language for buttons and form validation, before Microsoft shipped something competing.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  <a:p>
            <a:pPr indent="0" lvl="1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hired </a:t>
            </a:r>
            <a:r>
              <a:rPr b="1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Brendan Eich</a:t>
            </a:r>
            <a:r>
              <a:rPr lang="en-US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gave him</a:t>
            </a:r>
            <a: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ten days.</a:t>
            </a:r>
            <a:endParaRPr sz="18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language was called Mocha, then LiveScript, then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JavaScript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</p:txBody>
      </p:sp>
      <p:pic>
        <p:nvPicPr>
          <p:cNvPr id="110" name="Google Shape;110;g3e679c205eb_0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78650" y="1065110"/>
            <a:ext cx="2286000" cy="30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e679c205eb_0_1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Brendan Eich's constraints, in one slide</a:t>
            </a:r>
            <a:endParaRPr/>
          </a:p>
        </p:txBody>
      </p:sp>
      <p:sp>
        <p:nvSpPr>
          <p:cNvPr id="117" name="Google Shape;117;g3e679c205eb_0_15"/>
          <p:cNvSpPr txBox="1"/>
          <p:nvPr/>
        </p:nvSpPr>
        <p:spPr>
          <a:xfrm>
            <a:off x="914400" y="1463040"/>
            <a:ext cx="10362900" cy="15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Imagine you're the one with ten days. What are you up against?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 Ten-day timebox.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Ship or be fired.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e679c205eb_0_2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Brendan Eich's constraints, in one slide</a:t>
            </a:r>
            <a:endParaRPr/>
          </a:p>
        </p:txBody>
      </p:sp>
      <p:sp>
        <p:nvSpPr>
          <p:cNvPr id="124" name="Google Shape;124;g3e679c205eb_0_21"/>
          <p:cNvSpPr txBox="1"/>
          <p:nvPr/>
        </p:nvSpPr>
        <p:spPr>
          <a:xfrm>
            <a:off x="914400" y="1463040"/>
            <a:ext cx="10362900" cy="167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Imagine you're the one with ten days. What are you up against?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 Ten-day timebox.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Ship or be fired.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 Must look like Java.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Curly braces, semicolons, C-ish syntax.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e679c205eb_0_27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Brendan Eich's constraints, in one slide</a:t>
            </a:r>
            <a:endParaRPr/>
          </a:p>
        </p:txBody>
      </p:sp>
      <p:sp>
        <p:nvSpPr>
          <p:cNvPr id="131" name="Google Shape;131;g3e679c205eb_0_27"/>
          <p:cNvSpPr txBox="1"/>
          <p:nvPr/>
        </p:nvSpPr>
        <p:spPr>
          <a:xfrm>
            <a:off x="914400" y="1463040"/>
            <a:ext cx="10362900" cy="27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Imagine you're the one with ten days. What are you up against?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 Ten-day timebox.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Ship or be fired.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 Must look like Java.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Curly braces, semicolons, C-ish syntax.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 Must run in a web page.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Handle clicks, form input, animations.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Live in an HTML document you don't control.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e679c205eb_0_3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Brendan Eich's constraints, in one slide</a:t>
            </a:r>
            <a:endParaRPr/>
          </a:p>
        </p:txBody>
      </p:sp>
      <p:sp>
        <p:nvSpPr>
          <p:cNvPr id="138" name="Google Shape;138;g3e679c205eb_0_33"/>
          <p:cNvSpPr txBox="1"/>
          <p:nvPr/>
        </p:nvSpPr>
        <p:spPr>
          <a:xfrm>
            <a:off x="914400" y="1463040"/>
            <a:ext cx="103629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Imagine you're the one with ten days. What are you up against?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 Ten-day timebox.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Ship or be fired.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 Must look like Java.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Curly braces, semicolons, C-ish syntax.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 Must run in a web page.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Handle clicks, form input, animations.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Live in an HTML document you don't control.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 Target = non-programmers.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People marking up HTML, not people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who know compilers. Forgiving by default.</a:t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Brendan Eich's constraints, in one slide</a:t>
            </a:r>
            <a:endParaRPr/>
          </a:p>
        </p:txBody>
      </p:sp>
      <p:sp>
        <p:nvSpPr>
          <p:cNvPr id="145" name="Google Shape;145;p3"/>
          <p:cNvSpPr txBox="1"/>
          <p:nvPr/>
        </p:nvSpPr>
        <p:spPr>
          <a:xfrm>
            <a:off x="914400" y="1463040"/>
            <a:ext cx="10362900" cy="46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Imagine you're the one with ten days. What are you up against?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 Ten-day timebox.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Ship or be fired.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 Must look like Java.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Curly braces, semicolons, C-ish syntax.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 Must run in a web page.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Handle clicks, form input, animations.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Live in an HTML document you don't control.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 Target = non-programmers.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People marking up HTML, not people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who know compilers. Forgiving by default.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5. Never crash the browser.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syntax error can't take down the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 user's entire session.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52" name="Google Shape;152;p4"/>
          <p:cNvSpPr txBox="1"/>
          <p:nvPr/>
        </p:nvSpPr>
        <p:spPr>
          <a:xfrm>
            <a:off x="1371600" y="2011680"/>
            <a:ext cx="944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You</a:t>
            </a: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’re in this position</a:t>
            </a: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 What do you build?</a:t>
            </a:r>
            <a:endParaRPr/>
          </a:p>
        </p:txBody>
      </p:sp>
      <p:sp>
        <p:nvSpPr>
          <p:cNvPr id="153" name="Google Shape;153;p4"/>
          <p:cNvSpPr txBox="1"/>
          <p:nvPr/>
        </p:nvSpPr>
        <p:spPr>
          <a:xfrm>
            <a:off x="1828800" y="4572000"/>
            <a:ext cx="85341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What decisions would you make about types, errors, syntax, how forgiving the language is? Don't try to predict what JavaScript actually did - tell me what YOU would do under those constraints.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e69013deec_0_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Eich did, and why JS is weird</a:t>
            </a:r>
            <a:endParaRPr/>
          </a:p>
        </p:txBody>
      </p:sp>
      <p:sp>
        <p:nvSpPr>
          <p:cNvPr id="160" name="Google Shape;160;g3e69013deec_0_0"/>
          <p:cNvSpPr txBox="1"/>
          <p:nvPr/>
        </p:nvSpPr>
        <p:spPr>
          <a:xfrm>
            <a:off x="914400" y="1463040"/>
            <a:ext cx="103629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Eich's actual decisions: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Dynamic typing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audience: non-programmers.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Event-driven, single-threaded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shared with the browser UI.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Prototype-based objects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no classes (ten days, after all).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Forgiving coercion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`5 + "3"` gives `"53"`, not an error.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Never crashes the page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errors get caught and logged.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Eich did, and why JS is weird</a:t>
            </a:r>
            <a:endParaRPr/>
          </a:p>
        </p:txBody>
      </p:sp>
      <p:sp>
        <p:nvSpPr>
          <p:cNvPr id="167" name="Google Shape;167;p5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Eich's actual decisions:</a:t>
            </a:r>
            <a:endParaRPr b="0" i="0" sz="2400" u="none" cap="none" strike="noStrik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Dynamic typing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audience: non-programmers.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Event-driven, single-threaded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shared with the browser UI.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Prototype-based objects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no classes (ten days, after all).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Forgiving coercion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`5 + "3"` gives `"53"`, not an error.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Never crashes the page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errors get caught and logged.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Plus thirty years of "don't break old websites" produced the famous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oddities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two nothings, two equality operators, hoisting, `[] + {}`.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Don't memorize the quirks.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Use the modern way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let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`, `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const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`===`,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template literals. Read JS with empathy for the box Eich was in.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Variables: let and const (never var)</a:t>
            </a:r>
            <a:endParaRPr/>
          </a:p>
        </p:txBody>
      </p:sp>
      <p:sp>
        <p:nvSpPr>
          <p:cNvPr id="174" name="Google Shape;174;p6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175" name="Google Shape;175;p6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6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let - a variable you can reassign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let count = 0;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count = count + 1;         // fine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count = "one";              // also fine (dynamic types)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const - a binding you cannot reassign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PI = 3.14159;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PI = 3;                     // TypeError: Assignment to constant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const on an object means the BINDING is const,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not the value. You can still mutate the object.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todo = { title: "read", done: false };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todo.done = true;           // fine - mutating, not reassigning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 = { title: "x" };      // TypeError - reassigning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var exists. It's the old way. Scar tissue. Don't use it.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six primitive types (plus 'object')</a:t>
            </a:r>
            <a:endParaRPr/>
          </a:p>
        </p:txBody>
      </p:sp>
      <p:sp>
        <p:nvSpPr>
          <p:cNvPr id="183" name="Google Shape;183;p7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184" name="Google Shape;184;p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7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Numbers - integers and floats, one type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n = 42;              // typeof n === "number"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x = 3.14;            // also "number"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Strings - single, double, or backtick quotes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s = "hello";         // typeof s === "string"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Booleans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 = true;            // typeof t === "boolean"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Two kinds of nothing (yes, really):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a = null;            // "I set this to nothing on purpose"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b = undefined;       // "I never set this at all"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Everything else is an object: arrays, functions, dates, dicts, ...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list = [1, 2, 3];    // typeof list === "object"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fn   = () =&gt; 42;     // typeof fn   === "function" (special-case)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Strings and template literals</a:t>
            </a:r>
            <a:endParaRPr/>
          </a:p>
        </p:txBody>
      </p:sp>
      <p:sp>
        <p:nvSpPr>
          <p:cNvPr id="192" name="Google Shape;192;p8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Single or double quotes - interchangeable, no difference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a = 'alice';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b = "bob";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Backticks give you TEMPLATE LITERALS: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  - multi-line strings without \n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  - interpolation with ${...}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name = "alice";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age  = 30;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greeting = `Hello, ${name}!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You are ${age} years old.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Next year you will be ${age + 1}.`;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Python parallel: backticks ~= f-strings.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Use backticks anytime you need interpolation.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Regular quotes are fine for short fixed strings.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e679c205eb_0_4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Objects: JavaScript's dict</a:t>
            </a:r>
            <a:endParaRPr/>
          </a:p>
        </p:txBody>
      </p:sp>
      <p:sp>
        <p:nvSpPr>
          <p:cNvPr id="201" name="Google Shape;201;g3e679c205eb_0_4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202" name="Google Shape;202;g3e679c205eb_0_4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g3e679c205eb_0_49"/>
          <p:cNvSpPr txBox="1"/>
          <p:nvPr/>
        </p:nvSpPr>
        <p:spPr>
          <a:xfrm>
            <a:off x="1005840" y="1645920"/>
            <a:ext cx="10179900" cy="31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Object literal - a bag of key/value pairs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todo =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1,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title: "read the JS lecture notes",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done: false,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Access with dot or bracket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todo.title            // "read the JS lecture notes"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todo["title"]          // same thing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e679c205eb_0_4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Objects: JavaScript's dict</a:t>
            </a:r>
            <a:endParaRPr/>
          </a:p>
        </p:txBody>
      </p:sp>
      <p:sp>
        <p:nvSpPr>
          <p:cNvPr id="210" name="Google Shape;210;g3e679c205eb_0_4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211" name="Google Shape;211;g3e679c205eb_0_4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g3e679c205eb_0_40"/>
          <p:cNvSpPr txBox="1"/>
          <p:nvPr/>
        </p:nvSpPr>
        <p:spPr>
          <a:xfrm>
            <a:off x="1005840" y="1645920"/>
            <a:ext cx="10179900" cy="38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Object literal - a bag of key/value pairs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todo =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1,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title: "read the JS lecture notes",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done: false,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Access with dot or bracket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todo.title            // "read the JS lecture notes"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todo["title"]          // same thing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Add or update properties freely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todo.priority = "high";     // object is now { id, title, done, priority 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todo.done = true;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Objects: JavaScript's dict</a:t>
            </a:r>
            <a:endParaRPr/>
          </a:p>
        </p:txBody>
      </p:sp>
      <p:sp>
        <p:nvSpPr>
          <p:cNvPr id="219" name="Google Shape;219;p9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220" name="Google Shape;220;p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 txBox="1"/>
          <p:nvPr/>
        </p:nvSpPr>
        <p:spPr>
          <a:xfrm>
            <a:off x="1005840" y="1645920"/>
            <a:ext cx="10179900" cy="46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Object literal - a bag of key/value pairs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todo =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1,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title: "read the JS lecture notes",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done: false,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Access with dot or bracket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todo.title            // "read the JS lecture notes"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todo["title"]          // same thing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Add or update properties freely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todo.priority = "high";     // object is now { id, title, done, priority 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todo.done = true;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Keys are always strings (even if you write them bare)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nums = { 1: "one", 2: "two" };    // "1" and "2"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nums[1]                                 // "one"  (1 coerced to "1")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e679c205eb_0_57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Arrays and the running todo list</a:t>
            </a:r>
            <a:endParaRPr/>
          </a:p>
        </p:txBody>
      </p:sp>
      <p:sp>
        <p:nvSpPr>
          <p:cNvPr id="228" name="Google Shape;228;g3e679c205eb_0_57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229" name="Google Shape;229;g3e679c205eb_0_57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g3e679c205eb_0_57"/>
          <p:cNvSpPr txBox="1"/>
          <p:nvPr/>
        </p:nvSpPr>
        <p:spPr>
          <a:xfrm>
            <a:off x="1005840" y="1645920"/>
            <a:ext cx="10179900" cy="28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Array literal - ordered, mutable, heterogeneous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things = [1, "two", 3.0, true, { nested: "object" }];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things.length             // 5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things[0]                 // 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Mutating methods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stack = [];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stack.push("a", "b");      // ["a", "b"]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stack.pop();                // returns "b", leaves ["a"]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Arrays and the running todo list</a:t>
            </a:r>
            <a:endParaRPr/>
          </a:p>
        </p:txBody>
      </p:sp>
      <p:sp>
        <p:nvSpPr>
          <p:cNvPr id="237" name="Google Shape;237;p1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238" name="Google Shape;238;p1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 txBox="1"/>
          <p:nvPr/>
        </p:nvSpPr>
        <p:spPr>
          <a:xfrm>
            <a:off x="1005840" y="1645920"/>
            <a:ext cx="10179900" cy="46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Array literal - ordered, mutable, heterogeneous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things = [1, "two", 3.0, true, { nested: "object" }];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things.length             // 5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things[0]                 // 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Mutating methods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stack = [];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stack.push("a", "b");      // ["a", "b"]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stack.pop();                // returns "b", leaves ["a"]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From here on, this is our running example dataset: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todos = [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 id: 1, title: "read the JS notes",     done: true,  priority: 2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 id: 2, title: "write a fetch example", done: false, priority: 1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 id: 3, title: "pick up milk",          done: false, priority: 3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 id: 4, title: "call the vet",          done: true,  priority: 1 },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];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Functions: declarations and arrows</a:t>
            </a:r>
            <a:endParaRPr/>
          </a:p>
        </p:txBody>
      </p:sp>
      <p:sp>
        <p:nvSpPr>
          <p:cNvPr id="246" name="Google Shape;246;p11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247" name="Google Shape;247;p1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1. Function declaration - the classic form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addOne(n)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n + 1;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addOne(5);   // 6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2. Arrow function - the modern, compact form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double = (n) =&gt; n * 2;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double(5);   // 10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Arrow with multiple statements needs braces + explicit return: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describe = (todo) =&gt;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status = todo.done ? "done" : "pending";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`${todo.title} (${status})`;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describe(todos[0]);   // "read the JS notes (done)"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Functions are VALUES. Pass them as arguments, return them, store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them in arrays. Up next: array methods that take a function.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map, filter, reduce on the todo list</a:t>
            </a:r>
            <a:endParaRPr/>
          </a:p>
        </p:txBody>
      </p:sp>
      <p:sp>
        <p:nvSpPr>
          <p:cNvPr id="255" name="Google Shape;255;p12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256" name="Google Shape;256;p12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2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.map(fn) - run fn on each element, collect results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.filter(fn) - keep elements where fn returns true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.reduce(fn, start) - fold the array down to a single value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Titles of everything still to do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pending = todos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.filter((t) =&gt; !t.done)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.map((t) =&gt; t.title);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["write a fetch example", "pick up milk"]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Count how many are done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doneCount = todos.filter((t) =&gt; t.done).length;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2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Total priority points across all pending todos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openPriority = todos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.filter((t) =&gt; !t.done)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.reduce((sum, t) =&gt; sum + t.priority, 0);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4  (priorities 1 + 3)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e68e3e393f_0_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Two equality operators: === and ==</a:t>
            </a:r>
            <a:endParaRPr/>
          </a:p>
        </p:txBody>
      </p:sp>
      <p:sp>
        <p:nvSpPr>
          <p:cNvPr id="264" name="Google Shape;264;g3e68e3e393f_0_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265" name="Google Shape;265;g3e68e3e393f_0_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g3e68e3e393f_0_8"/>
          <p:cNvSpPr txBox="1"/>
          <p:nvPr/>
        </p:nvSpPr>
        <p:spPr>
          <a:xfrm>
            <a:off x="1005840" y="1645920"/>
            <a:ext cx="10179900" cy="13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== is loose equality: coerces types, then compares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 == "1"           // true    (string coerced to number)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0 == false         // true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null == undefined  // true    (single allowed loose-equality use)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e68e3e393f_0_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Two equality operators: === and ==</a:t>
            </a:r>
            <a:endParaRPr/>
          </a:p>
        </p:txBody>
      </p:sp>
      <p:sp>
        <p:nvSpPr>
          <p:cNvPr id="273" name="Google Shape;273;g3e68e3e393f_0_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274" name="Google Shape;274;g3e68e3e393f_0_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g3e68e3e393f_0_0"/>
          <p:cNvSpPr txBox="1"/>
          <p:nvPr/>
        </p:nvSpPr>
        <p:spPr>
          <a:xfrm>
            <a:off x="1005840" y="1645920"/>
            <a:ext cx="101799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== is loose equality: coerces types, then compares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 == "1"           // true    (string coerced to number)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0 == false         // true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null == undefined  // true    (single allowed loose-equality use)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Coercion rules are surprising at the edges: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[] == 0            // true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NaN == NaN         // false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"0" == false       // true (inconsistently)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Two equality operators: === and ==</a:t>
            </a:r>
            <a:endParaRPr/>
          </a:p>
        </p:txBody>
      </p:sp>
      <p:sp>
        <p:nvSpPr>
          <p:cNvPr id="282" name="Google Shape;282;p13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JavaScript</a:t>
            </a:r>
            <a:endParaRPr/>
          </a:p>
        </p:txBody>
      </p:sp>
      <p:sp>
        <p:nvSpPr>
          <p:cNvPr id="283" name="Google Shape;283;p13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3"/>
          <p:cNvSpPr txBox="1"/>
          <p:nvPr/>
        </p:nvSpPr>
        <p:spPr>
          <a:xfrm>
            <a:off x="1005840" y="1645920"/>
            <a:ext cx="10179900" cy="46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== is loose equality: coerces types, then compares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 == "1"           // true    (string coerced to number)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0 == false         // true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null == undefined  // true    (single allowed loose-equality use)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Coercion rules are surprising at the edges: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[] == 0            // true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NaN == NaN         // false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"0" == false       // true (inconsistently)</a:t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=== is strict equality: same type AND same value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 === 1            // true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 === "1"          // false   (different types)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null === undefined // false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ALWAYS use ===.  NEVER use ==.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(One exception: x == null catches both null and undefined.)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Modern consensus, including Eich's: just use ===.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4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Now Drop It Into a Browser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e679c205eb_0_6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add types now?</a:t>
            </a:r>
            <a:endParaRPr/>
          </a:p>
        </p:txBody>
      </p:sp>
      <p:sp>
        <p:nvSpPr>
          <p:cNvPr id="297" name="Google Shape;297;g3e679c205eb_0_65"/>
          <p:cNvSpPr txBox="1"/>
          <p:nvPr/>
        </p:nvSpPr>
        <p:spPr>
          <a:xfrm>
            <a:off x="914400" y="1188840"/>
            <a:ext cx="103629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Remember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?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 type hints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brought sanity.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FastAPI/Pydan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tic could read function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signature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s, validate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requests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and enforce contracts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Also code just got more readable, IDEs could flag issues, “linters” can throw errors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e679c205eb_0_7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add types now?</a:t>
            </a:r>
            <a:endParaRPr/>
          </a:p>
        </p:txBody>
      </p:sp>
      <p:sp>
        <p:nvSpPr>
          <p:cNvPr id="304" name="Google Shape;304;g3e679c205eb_0_71"/>
          <p:cNvSpPr txBox="1"/>
          <p:nvPr/>
        </p:nvSpPr>
        <p:spPr>
          <a:xfrm>
            <a:off x="914400" y="1188840"/>
            <a:ext cx="103629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Remember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?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 type hints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brought sanity.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FastAPI/Pydan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tic could read function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signature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s, validate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requests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and enforce contracts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Also code just got more readable, IDEs could flag issues, “linters” can throw errors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JavaScript has the same problem Python had before type hints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ynamic types are great when prototyping, painful at scale. Pass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string where you meant a number and watch something break seven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function calls away.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add types now?</a:t>
            </a:r>
            <a:endParaRPr/>
          </a:p>
        </p:txBody>
      </p:sp>
      <p:sp>
        <p:nvSpPr>
          <p:cNvPr id="311" name="Google Shape;311;p15"/>
          <p:cNvSpPr txBox="1"/>
          <p:nvPr/>
        </p:nvSpPr>
        <p:spPr>
          <a:xfrm>
            <a:off x="914400" y="11888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Remember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?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Python type hints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brought sanity.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FastAPI/Pydan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tic could read function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signature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s, validate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requests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and enforce contracts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Also code just got more readable, IDEs could flag issues, “linters” can throw errors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JavaScript has the same problem Python had before type hints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ynamic types are great when prototyping, painful at scale. Pass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string where you meant a number and watch something break seven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function calls away.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TypeScript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adds a type system to JavaScript. Write `.ts` files;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compiler (`tsc`) checks the types and produces plain `.js` for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browser. Types are for you and your editor, not the browser --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they vanish during compilation.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e679c205eb_0_77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Type annotations</a:t>
            </a:r>
            <a:endParaRPr/>
          </a:p>
        </p:txBody>
      </p:sp>
      <p:sp>
        <p:nvSpPr>
          <p:cNvPr id="318" name="Google Shape;318;g3e679c205eb_0_77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19" name="Google Shape;319;g3e679c205eb_0_77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g3e679c205eb_0_77"/>
          <p:cNvSpPr txBox="1"/>
          <p:nvPr/>
        </p:nvSpPr>
        <p:spPr>
          <a:xfrm>
            <a:off x="1005840" y="1645920"/>
            <a:ext cx="10179900" cy="3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Basic types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let count: number = 0;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name: string = "alice";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done: boolean = false;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Arrays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ids: number[] = [1, 2, 3];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titles: string[] = ["read", "write"];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Functions - annotate parameters and return type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addOne(n: number): number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n + 1;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Type annotations</a:t>
            </a:r>
            <a:endParaRPr/>
          </a:p>
        </p:txBody>
      </p:sp>
      <p:sp>
        <p:nvSpPr>
          <p:cNvPr id="327" name="Google Shape;327;p16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28" name="Google Shape;328;p16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6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Basic types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let count: number = 0;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name: string = "alice";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done: boolean = false;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Arrays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ids: number[] = [1, 2, 3];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titles: string[] = ["read", "write"];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Functions - annotate parameters and return type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addOne(n: number): number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n + 1;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"null or a string" - the union type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let maybeTitle: string | null = null;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maybeTitle = "hello";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Arrow function with types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double = (n: number): number =&gt; n * 2;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Interfaces: shapes for objects</a:t>
            </a:r>
            <a:endParaRPr/>
          </a:p>
        </p:txBody>
      </p:sp>
      <p:sp>
        <p:nvSpPr>
          <p:cNvPr id="336" name="Google Shape;336;p17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37" name="Google Shape;337;p1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7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 interface describes the shape of an object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interface Todo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id: number;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title: string;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done: boolean;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priority?: number;   // ? means "optional"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Annotate variables and function parameters with Todo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first: Todo = { id: 1, title: "read notes", done: true };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function describe(todo: Todo): string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`${todo.title} (${todo.done ? "done" : "pending"})`;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Misspell a field or miss a required one - tsc catches it: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bad: Todo = { id: 2, title: "oops" };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Error: Property 'done' is missing in type ...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the DOM actually is</a:t>
            </a:r>
            <a:endParaRPr/>
          </a:p>
        </p:txBody>
      </p:sp>
      <p:sp>
        <p:nvSpPr>
          <p:cNvPr id="345" name="Google Shape;345;p18"/>
          <p:cNvSpPr txBox="1"/>
          <p:nvPr/>
        </p:nvSpPr>
        <p:spPr>
          <a:xfrm>
            <a:off x="914388" y="1145540"/>
            <a:ext cx="10362900" cy="552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the browser loads an HTML page, it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parses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the HTML into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tree of objects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 Every tag becomes an object. The tree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is rooted at `document`.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&lt;body&gt;                      </a:t>
            </a:r>
            <a:r>
              <a:rPr b="1" lang="en-US" sz="2000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-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document.body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&lt;h1&gt;Todos&lt;/h1&gt;            - an h1 object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&lt;ul&gt;                      - a ul object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  &lt;li&gt;read&lt;/li&gt;           - li objects inside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  &lt;/ul&gt;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&lt;/body&gt;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Your JS gets a reference to that tree and can read and modify it.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Change an object and the browser re-renders the page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immediately. This is the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DOM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Document Object Model.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e679c205eb_0_8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HTML in two minutes</a:t>
            </a:r>
            <a:endParaRPr/>
          </a:p>
        </p:txBody>
      </p:sp>
      <p:sp>
        <p:nvSpPr>
          <p:cNvPr id="352" name="Google Shape;352;g3e679c205eb_0_85"/>
          <p:cNvSpPr txBox="1"/>
          <p:nvPr/>
        </p:nvSpPr>
        <p:spPr>
          <a:xfrm>
            <a:off x="914375" y="1116675"/>
            <a:ext cx="10362900" cy="626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HTML is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tags wrapping content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Tags nest. The browser parses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page top-to-bottom into the object tree from the last slide.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`&lt;h1&gt;My Todos&lt;/h1&gt;`     - a heading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`&lt;button&gt;Add&lt;/button&gt;`  - a button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`&lt;ul&gt;&lt;li&gt;...&lt;/li&gt;&lt;/ul&gt;` - a list with items inside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Tags carry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attributes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name=value pairs inside the opening tag: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`id="new-todo"`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unique handle for this one element on the page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`class="done"`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a group label, mainly used to hook CSS to it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`src=`, `href=`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point at images, scripts, other pages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Two tags do special jobs we'll lean on: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`&lt;script src="..."&gt;`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loads JavaScript,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`&lt;link rel="stylesheet"&gt;`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loads CSS.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e679c205eb_0_9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CSS in two minutes</a:t>
            </a:r>
            <a:endParaRPr/>
          </a:p>
        </p:txBody>
      </p:sp>
      <p:sp>
        <p:nvSpPr>
          <p:cNvPr id="359" name="Google Shape;359;g3e679c205eb_0_91"/>
          <p:cNvSpPr txBox="1"/>
          <p:nvPr/>
        </p:nvSpPr>
        <p:spPr>
          <a:xfrm>
            <a:off x="914400" y="1463040"/>
            <a:ext cx="10362900" cy="54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CSS attaches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visual rules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elements - color, spacing, font,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layout. The browser keeps a stylesheet alongside the DOM tree.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rule is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selector { property: value; }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`#new-todo { width: 300px; }`                  - by id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`.done    { text-decoration: line-through; }`  - by class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`li       { padding: 4px; }`                   - by tag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Three ways to attach CSS to a page: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&lt;style&gt;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block in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&lt;head&gt;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 external `.css` file via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&lt;link rel="stylesheet"&gt;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or `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style="..."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 inline on a single tag.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e679c205eb_0_17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CSS in two minutes</a:t>
            </a:r>
            <a:endParaRPr/>
          </a:p>
        </p:txBody>
      </p:sp>
      <p:sp>
        <p:nvSpPr>
          <p:cNvPr id="366" name="Google Shape;366;g3e679c205eb_0_172"/>
          <p:cNvSpPr txBox="1"/>
          <p:nvPr/>
        </p:nvSpPr>
        <p:spPr>
          <a:xfrm>
            <a:off x="914400" y="1463040"/>
            <a:ext cx="103629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CSS attaches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visual rules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to elements - color, spacing, font,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layout. The browser keeps a stylesheet alongside the DOM tree.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rule is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selector { property: value; }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`#new-todo { width: 300px; }`                  - by id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`.done    { text-decoration: line-through; }`  - by class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  `li       { padding: 4px; }`                   - by tag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Change which classes an element has and the matching rules apply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or stop applying.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`list.classList.toggle("done")` two slides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from now is exactly that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flipping which CSS rules hit.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e679c205eb_0_273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tiny HTML file we'll work against</a:t>
            </a:r>
            <a:endParaRPr/>
          </a:p>
        </p:txBody>
      </p:sp>
      <p:sp>
        <p:nvSpPr>
          <p:cNvPr id="373" name="Google Shape;373;g3e679c205eb_0_273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HTML</a:t>
            </a:r>
            <a:endParaRPr/>
          </a:p>
        </p:txBody>
      </p:sp>
      <p:sp>
        <p:nvSpPr>
          <p:cNvPr id="374" name="Google Shape;374;g3e679c205eb_0_273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g3e679c205eb_0_273"/>
          <p:cNvSpPr txBox="1"/>
          <p:nvPr/>
        </p:nvSpPr>
        <p:spPr>
          <a:xfrm>
            <a:off x="1005840" y="1645920"/>
            <a:ext cx="10179900" cy="4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&lt;!DOCTYPE html&gt;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&lt;html&gt;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&lt;head&gt;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&lt;title&gt;Todos&lt;/title&gt;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&lt;link rel="stylesheet" href="app.css"&gt;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&lt;/head&gt;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&lt;body&gt;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&lt;h1&gt;My Todos&lt;/h1&gt;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&lt;input id="new-todo" type="text" placeholder="What to do?"&gt;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&lt;button id="add-button"&gt;Add&lt;/button&gt;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&lt;ul id="todo-list"&gt;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&lt;li&gt;read the JS notes&lt;/li&gt;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&lt;li&gt;write a fetch example&lt;/li&gt;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&lt;/ul&gt;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&lt;script src="app.js"&gt;&lt;/script&gt;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&lt;/body&gt;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&lt;/html&gt;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e679c205eb_0_281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...and the CSS file it pulls in</a:t>
            </a:r>
            <a:endParaRPr/>
          </a:p>
        </p:txBody>
      </p:sp>
      <p:sp>
        <p:nvSpPr>
          <p:cNvPr id="382" name="Google Shape;382;g3e679c205eb_0_281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CSS</a:t>
            </a:r>
            <a:endParaRPr/>
          </a:p>
        </p:txBody>
      </p:sp>
      <p:sp>
        <p:nvSpPr>
          <p:cNvPr id="383" name="Google Shape;383;g3e679c205eb_0_281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g3e679c205eb_0_281"/>
          <p:cNvSpPr txBox="1"/>
          <p:nvPr/>
        </p:nvSpPr>
        <p:spPr>
          <a:xfrm>
            <a:off x="1005840" y="1645920"/>
            <a:ext cx="10179900" cy="47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/* app.css */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body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font-family: sans-serif;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max-width: 500px;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margin: 2rem auto;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h1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color: #222;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li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padding: 4px 0;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cursor: pointer;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3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.done {</a:t>
            </a:r>
            <a:endParaRPr b="1"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text-decoration: line-through;</a:t>
            </a:r>
            <a:endParaRPr b="1"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color: gray;</a:t>
            </a:r>
            <a:endParaRPr b="1"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b="1" sz="16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e679c205eb_0_49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Selecting elements</a:t>
            </a:r>
            <a:endParaRPr/>
          </a:p>
        </p:txBody>
      </p:sp>
      <p:sp>
        <p:nvSpPr>
          <p:cNvPr id="391" name="Google Shape;391;g3e679c205eb_0_49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392" name="Google Shape;392;g3e679c205eb_0_49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g3e679c205eb_0_490"/>
          <p:cNvSpPr txBox="1"/>
          <p:nvPr/>
        </p:nvSpPr>
        <p:spPr>
          <a:xfrm>
            <a:off x="1005840" y="1645920"/>
            <a:ext cx="10179900" cy="23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document.querySelector takes a CSS selector, returns the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first matching element (or null if none match).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heading = document.querySelector("h1");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input   = document.querySelector("#new-todo") as HTMLInputElement;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button  = document.querySelector("#add-button") as HTMLButtonElement;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list    = document.querySelector("#todo-list") as HTMLUListElement;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# selects by id, . selects by class, tag names select by tag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Selecting elements</a:t>
            </a:r>
            <a:endParaRPr/>
          </a:p>
        </p:txBody>
      </p:sp>
      <p:sp>
        <p:nvSpPr>
          <p:cNvPr id="400" name="Google Shape;400;p2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01" name="Google Shape;401;p2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0"/>
          <p:cNvSpPr txBox="1"/>
          <p:nvPr/>
        </p:nvSpPr>
        <p:spPr>
          <a:xfrm>
            <a:off x="1005840" y="1645920"/>
            <a:ext cx="10179900" cy="314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document.querySelector takes a CSS selector, returns the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first matching element (or null if none match).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document.querySelectorAll returns a list of all matches</a:t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the space in "#todo-list li" means "&lt;li&gt;s INSIDE #todo-list" - gets the children</a:t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items = document.querySelectorAll("#todo-list li");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items is a NodeList - like an array, iterate with forEach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items.forEach((li) =&gt;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console.log(li.textContent);  // "read the JS notes", etc.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});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e679c205eb_0_507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Modifying and creating elements</a:t>
            </a:r>
            <a:endParaRPr/>
          </a:p>
        </p:txBody>
      </p:sp>
      <p:sp>
        <p:nvSpPr>
          <p:cNvPr id="409" name="Google Shape;409;g3e679c205eb_0_507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10" name="Google Shape;410;g3e679c205eb_0_507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g3e679c205eb_0_507"/>
          <p:cNvSpPr txBox="1"/>
          <p:nvPr/>
        </p:nvSpPr>
        <p:spPr>
          <a:xfrm>
            <a:off x="1005840" y="1645920"/>
            <a:ext cx="10179900" cy="13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Reading and writing properties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text: string = input.value;     // what the user typed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heading.textContent = "Updated Todos";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input.value = "";                       // clear the input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e679c205eb_0_49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Modifying and creating elements</a:t>
            </a:r>
            <a:endParaRPr/>
          </a:p>
        </p:txBody>
      </p:sp>
      <p:sp>
        <p:nvSpPr>
          <p:cNvPr id="418" name="Google Shape;418;g3e679c205eb_0_499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19" name="Google Shape;419;g3e679c205eb_0_499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g3e679c205eb_0_499"/>
          <p:cNvSpPr txBox="1"/>
          <p:nvPr/>
        </p:nvSpPr>
        <p:spPr>
          <a:xfrm>
            <a:off x="1005840" y="1645920"/>
            <a:ext cx="101799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Reading and writing properties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text: string = input.value;     // what the user typed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heading.textContent = "Updated Todos";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input.value = "";                       // clear the input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CSS classes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list.classList.add("loading");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list.classList.remove("loading");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list.classList.toggle("dark-mode");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2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Modifying and creating elements</a:t>
            </a:r>
            <a:endParaRPr/>
          </a:p>
        </p:txBody>
      </p:sp>
      <p:sp>
        <p:nvSpPr>
          <p:cNvPr id="427" name="Google Shape;427;p21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28" name="Google Shape;428;p2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1"/>
          <p:cNvSpPr txBox="1"/>
          <p:nvPr/>
        </p:nvSpPr>
        <p:spPr>
          <a:xfrm>
            <a:off x="1005840" y="1645920"/>
            <a:ext cx="10179900" cy="46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Reading and writing properties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text: string = input.value;     // what the user typed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heading.textContent = "Updated Todos";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input.value = "";                       // clear the input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CSS classes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list.classList.add("loading");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list.classList.remove("loading");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list.classList.toggle("dark-mode");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Build a brand new &lt;li&gt; element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newItem = document.createElement("li");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newItem.textContent = "pick up milk";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list.append(newItem);</a:t>
            </a:r>
            <a:endParaRPr sz="17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5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Remove an element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newItem.remove();</a:t>
            </a:r>
            <a:endParaRPr sz="1600"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e679c205eb_0_17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event-driven code works</a:t>
            </a:r>
            <a:endParaRPr/>
          </a:p>
        </p:txBody>
      </p:sp>
      <p:sp>
        <p:nvSpPr>
          <p:cNvPr id="436" name="Google Shape;436;g3e679c205eb_0_178"/>
          <p:cNvSpPr txBox="1"/>
          <p:nvPr/>
        </p:nvSpPr>
        <p:spPr>
          <a:xfrm>
            <a:off x="914400" y="1131115"/>
            <a:ext cx="10362900" cy="27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Most of the code you've written this semester ran top to bottom.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Python script starts, runs every line in order, exits.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Test runs, asserts happen, test ends.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web page doesn't work that way.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age loads, code runs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once to set things up, and then...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nothing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3e679c205eb_0_18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event-driven code works</a:t>
            </a:r>
            <a:endParaRPr/>
          </a:p>
        </p:txBody>
      </p:sp>
      <p:sp>
        <p:nvSpPr>
          <p:cNvPr id="443" name="Google Shape;443;g3e679c205eb_0_184"/>
          <p:cNvSpPr txBox="1"/>
          <p:nvPr/>
        </p:nvSpPr>
        <p:spPr>
          <a:xfrm>
            <a:off x="914400" y="1131115"/>
            <a:ext cx="10362900" cy="38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Most of the code you've written this semester ran top to bottom.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Python script starts, runs every line in order, exits.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Test runs, asserts happen, test ends.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web page doesn't work that way.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age loads, code runs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once to set things up, and then...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nothing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/>
          </a:p>
          <a:p>
            <a:pPr indent="0" lvl="1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1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1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600"/>
              <a:t>The JavaScript isn't "waiting" anywhere. It just stopped running.</a:t>
            </a:r>
            <a:endParaRPr sz="2600"/>
          </a:p>
          <a:p>
            <a:pPr indent="0" lvl="1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event-driven code works</a:t>
            </a:r>
            <a:endParaRPr/>
          </a:p>
        </p:txBody>
      </p:sp>
      <p:sp>
        <p:nvSpPr>
          <p:cNvPr id="450" name="Google Shape;450;p22"/>
          <p:cNvSpPr txBox="1"/>
          <p:nvPr/>
        </p:nvSpPr>
        <p:spPr>
          <a:xfrm>
            <a:off x="914400" y="1131115"/>
            <a:ext cx="103629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the user clicks a button, the browser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fires an event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If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previously registered a function for that event, the browser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calls your function with an event object.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You register a callback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, t</a:t>
            </a: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 browser calls it later.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addEventListener: register, then react</a:t>
            </a:r>
            <a:endParaRPr/>
          </a:p>
        </p:txBody>
      </p:sp>
      <p:sp>
        <p:nvSpPr>
          <p:cNvPr id="457" name="Google Shape;457;p23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TypeScript</a:t>
            </a:r>
            <a:endParaRPr/>
          </a:p>
        </p:txBody>
      </p:sp>
      <p:sp>
        <p:nvSpPr>
          <p:cNvPr id="458" name="Google Shape;458;p23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3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addEventListener(name, fn). Names: "click", "input", "submit".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"submit" reloads the page by default - call preventDefault to stay.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input  = document.querySelector("#new-todo")  as HTMLInputElement;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button = document.querySelector("#add-button") as HTMLButtonElement;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list   = document.querySelector("#todo-list")  as HTMLUListElement;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button.addEventListener("click", () =&gt;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1. read what the user typed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text: string = input.value.trim();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(text === "") return;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2. build a new &lt;li&gt; and 3. append to the list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const li = document.createElement("li");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li.textContent = text;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list.append(li);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i="0" sz="1400" u="none" cap="none" strike="noStrik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// 4. clear the input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input.value = "";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});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24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Strike through todos when clicked</a:t>
            </a:r>
            <a:endParaRPr/>
          </a:p>
        </p:txBody>
      </p:sp>
      <p:sp>
        <p:nvSpPr>
          <p:cNvPr id="466" name="Google Shape;466;p24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4"/>
          <p:cNvSpPr txBox="1"/>
          <p:nvPr/>
        </p:nvSpPr>
        <p:spPr>
          <a:xfrm>
            <a:off x="1005840" y="1554480"/>
            <a:ext cx="10179900" cy="46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Goal: when the user clicks any &lt;li&gt; in #todo-list, toggle 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"done" class on it.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Hints: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  - querySelectorAll returns ALL matches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  - classList.toggle flips a class on/off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  - each element needs its OWN click listener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const items = document.________("#todo-list li");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items.________((li) =&gt;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li.________("click", () =&gt;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        li.________.________("________");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});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25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Strike through todos when clicked</a:t>
            </a:r>
            <a:endParaRPr/>
          </a:p>
        </p:txBody>
      </p:sp>
      <p:sp>
        <p:nvSpPr>
          <p:cNvPr id="475" name="Google Shape;475;p25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fmla="val 16667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25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5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const items = document.querySelectorAll("#todo-list li");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items.forEach((li) =&gt;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li.addEventListener("click", () =&gt; {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li.classList.toggle("done");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});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Why a listener on each &lt;li&gt;?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  Because we want each to respond independently to its own click.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  We could attach one listener to the &lt;ul&gt; instead and check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  event.target to see which &lt;li&gt; was clicked - that's a pattern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  called "event delegation," and it matters when items are added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//   and removed dynamically. For a fixed list, per-item is fine.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484" name="Google Shape;484;p26"/>
          <p:cNvSpPr txBox="1"/>
          <p:nvPr/>
        </p:nvSpPr>
        <p:spPr>
          <a:xfrm>
            <a:off x="914388" y="1188815"/>
            <a:ext cx="10362900" cy="514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JavaScript is a ten-day language given a browser to mutate.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Read it with empathy for the constraints; use the modern way.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 `let` and `const`. Never `var`.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 `===`. Never `==` (except `x == null`).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 `.map()` / `.filter()` / `.reduce()` instead of `for` loops.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 TypeScript. Annotate at boundaries; let inference do the rest.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Mutate the DOM via `textContent` and `createElement`, not `innerHTML`.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Register callbacks with `addEventListener`.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Next: the third thing - a way to talk to your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webserver.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Calls involving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code that has to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wait</a:t>
            </a:r>
            <a:r>
              <a:rPr lang="en-US"/>
              <a:t> 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before continuing. Promises, async/await.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After that,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React.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