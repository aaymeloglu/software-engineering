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6858000" cx="12191675"/>
  <p:notesSz cx="6858000" cy="9144000"/>
  <p:embeddedFontLst>
    <p:embeddedFont>
      <p:font typeface="Courier Prime"/>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0" roundtripDataSignature="AMtx7mhyjS2giVrPZZdJ+XEaIF7/Ee88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font" Target="fonts/CourierPrime-regular.fntdata"/><Relationship Id="rId57" Type="http://schemas.openxmlformats.org/officeDocument/2006/relationships/font" Target="fonts/CourierPrime-bold.fntdata"/><Relationship Id="rId58" Type="http://schemas.openxmlformats.org/officeDocument/2006/relationships/font" Target="fonts/CourierPrime-italic.fntdata"/><Relationship Id="rId59" Type="http://schemas.openxmlformats.org/officeDocument/2006/relationships/font" Target="fonts/CourierPrime-boldItalic.fntdata"/><Relationship Id="rId6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679c205eb_0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3e679c205eb_0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stakes early. JS is the only programming language that ships in every browser, and that 97% number is worth leaning on - it's the grounding stat for why we're spending a whole lecture on this. Then immediately pivot to the ten-days story...every weird thing they're about to see should make them think 'ten days' and click into place. Also worth saying out loud: JavaScript and Java are unrelated. At least one student will ask about that later if I skip saying it.</a:t>
            </a:r>
            <a:endParaRPr/>
          </a:p>
        </p:txBody>
      </p:sp>
      <p:sp>
        <p:nvSpPr>
          <p:cNvPr id="92" name="Google Shape;92;g3e679c205eb_0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stakes early. JS is the only programming language that ships in every browser, and that 97% number is worth leaning on - it's the grounding stat for why we're spending a whole lecture on this. Then immediately pivot to the ten-days story...every weird thing they're about to see should make them think 'ten days' and click into place. Also worth saying out loud: JavaScript and Java are unrelated. At least one student will ask about that later if I skip saying it.</a:t>
            </a:r>
            <a:endParaRPr/>
          </a:p>
        </p:txBody>
      </p:sp>
      <p:sp>
        <p:nvSpPr>
          <p:cNvPr id="99" name="Google Shape;99;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679c205eb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g3e679c205eb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weird thing you’re about to see should make you think 'ten days' and click into place. </a:t>
            </a:r>
            <a:r>
              <a:rPr lang="en-US"/>
              <a:t>Also: JavaScript and Java are unrelated. At least one student will ask about that later if I skip saying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keep harping on making good design decisions because you have to live with them. This is the ultimate version of that.</a:t>
            </a:r>
            <a:endParaRPr/>
          </a:p>
        </p:txBody>
      </p:sp>
      <p:sp>
        <p:nvSpPr>
          <p:cNvPr id="106" name="Google Shape;106;g3e679c205eb_0_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679c205eb_0_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g3e679c205eb_0_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each one out loud and slow. Students should really feel the pressure of ten days stacked on top of all those requirements at once. The next slide asks them to BE Eich for four minutes so don't spoil the answers here.</a:t>
            </a:r>
            <a:endParaRPr/>
          </a:p>
        </p:txBody>
      </p:sp>
      <p:sp>
        <p:nvSpPr>
          <p:cNvPr id="114" name="Google Shape;114;g3e679c205eb_0_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679c205eb_0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g3e679c205eb_0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each one out loud and slow. Students should really feel the pressure of ten days stacked on top of all those requirements at once. The next slide asks them to BE Eich for four minutes so don't spoil the answers here.</a:t>
            </a:r>
            <a:endParaRPr/>
          </a:p>
        </p:txBody>
      </p:sp>
      <p:sp>
        <p:nvSpPr>
          <p:cNvPr id="121" name="Google Shape;121;g3e679c205eb_0_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679c205eb_0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e679c205eb_0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each one out loud and slow. Students should really feel the pressure of ten days stacked on top of all those requirements at once. The next slide asks them to BE Eich for four minutes so don't spoil the answers here.</a:t>
            </a:r>
            <a:endParaRPr/>
          </a:p>
        </p:txBody>
      </p:sp>
      <p:sp>
        <p:nvSpPr>
          <p:cNvPr id="128" name="Google Shape;128;g3e679c205eb_0_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679c205eb_0_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g3e679c205eb_0_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each one out loud and slow. Students should really feel the pressure of ten days stacked on top of all those requirements at once. The next slide asks them to BE Eich for four minutes so don't spoil the answers here.</a:t>
            </a:r>
            <a:endParaRPr/>
          </a:p>
        </p:txBody>
      </p:sp>
      <p:sp>
        <p:nvSpPr>
          <p:cNvPr id="135" name="Google Shape;135;g3e679c205eb_0_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each one out loud and slow. Students should really feel the pressure of ten days stacked on top of all those requirements at once. The next slide asks them to BE Eich for four minutes so don't spoil the answers here.</a:t>
            </a:r>
            <a:endParaRPr/>
          </a:p>
        </p:txBody>
      </p:sp>
      <p:sp>
        <p:nvSpPr>
          <p:cNvPr id="142" name="Google Shape;142;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them the full four minutes, don't cut it short. Cold-call three pairs afterward and put their answers on the board. The next slide validates each one against what Eich actually did, and it lands way better when students see their own instincts lining up. Things they should surface: (a) DYNAMIC TYPING - non-programmers can't be expected to     annotate types, no time to build a type system anyway. (b) FORGIVING ERRORS - a syntax error can't kill the whole     page, default to recovering and limping on. (c) EVENT-DRIVEN - the browser is reacting to user input,     so the language needs a way to say 'run this code when     the user clicks that button.' (d) INTERPRETED, not compiled - no build step, save the     HTML and hit reload. (e) SIMPLE OBJECT MODEL - no class hierarchies, just bags     of properties. Keep their answers on the board through the next section.</a:t>
            </a:r>
            <a:endParaRPr/>
          </a:p>
        </p:txBody>
      </p:sp>
      <p:sp>
        <p:nvSpPr>
          <p:cNvPr id="149" name="Google Shape;14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69013deec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g3e69013deec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decision and point back at the students' answers on the board. Eich gets a lot of grief on the internet and most of it is unfair once you see the box he was working in. The bottom half is permission-to-not-memorize: students don't need every dark corner of JS, they need to read it fluently and write the modern idioms. The quirks show up often enough that knowing WHY they're there is way more useful than memorizing a rules table.</a:t>
            </a:r>
            <a:endParaRPr/>
          </a:p>
        </p:txBody>
      </p:sp>
      <p:sp>
        <p:nvSpPr>
          <p:cNvPr id="157" name="Google Shape;157;g3e69013deec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decision and point back at the students' answers on the board. Eich gets a lot of grief on the internet and most of it is unfair once you see the box he was working in. The bottom half is permission-to-not-memorize: students don't need every dark corner of JS, they need to read it fluently and write the modern idioms. The quirks show up often enough that knowing WHY they're there is way more useful than memorizing a rules table.</a:t>
            </a:r>
            <a:endParaRPr/>
          </a:p>
        </p:txBody>
      </p:sp>
      <p:sp>
        <p:nvSpPr>
          <p:cNvPr id="164" name="Google Shape;16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Default to `const`, reach for `let` when you actually need to reassign, never use `var`. The const-on-object subtlety is worth pausing on - it catches every JS beginner at least once. const means the binding is fixed, not the value inside. If a coding agent sneaks a `var` into your code, call it out, there's no real reason for it in modern JS.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ESLint with no-var from eslint:recommended will ban it.</a:t>
            </a:r>
            <a:endParaRPr/>
          </a:p>
        </p:txBody>
      </p:sp>
      <p:sp>
        <p:nvSpPr>
          <p:cNvPr id="171" name="Google Shape;17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Numbers are ONE type, no separate int vs float, which is convenient until you hit floating-point precision later. The two-nothings bit is the scar-tissue moment in action. `null` is deliberate, `undefined` is accidental, and in practice you treat them the same and check with `== null` (one of the few legit uses of `==`). Or use `??` / `?.` for the modern way.</a:t>
            </a:r>
            <a:endParaRPr/>
          </a:p>
        </p:txBody>
      </p:sp>
      <p:sp>
        <p:nvSpPr>
          <p:cNvPr id="180" name="Google Shape;18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Template literals are the modern way to build strings in JS, same idea as Python's f-strings. `${expr}` interpolates and you get multi-line strings for free without \n escapes. If your code does string concatenation with `+`, you should probably reach for backticks instead.</a:t>
            </a:r>
            <a:endParaRPr/>
          </a:p>
        </p:txBody>
      </p:sp>
      <p:sp>
        <p:nvSpPr>
          <p:cNvPr id="189" name="Google Shape;18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679c205eb_0_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e679c205eb_0_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Dot-access for fixed names, bracket-access for dynamic keys you have in a variable. The numeric-keys-coerce-to-strings example is a scar-tissue callout - it bites people coming from languages with proper dict types. Not a gotcha you hit often, but worth flagging so students aren't confused the one time it happens.</a:t>
            </a:r>
            <a:endParaRPr/>
          </a:p>
        </p:txBody>
      </p:sp>
      <p:sp>
        <p:nvSpPr>
          <p:cNvPr id="198" name="Google Shape;198;g3e679c205eb_0_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679c205eb_0_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g3e679c205eb_0_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Dot-access for fixed names, bracket-access for dynamic keys you have in a variable. The numeric-keys-coerce-to-strings example is a scar-tissue callout - it bites people coming from languages with proper dict types. Not a gotcha you hit often, but worth flagging so students aren't confused the one time it happens.</a:t>
            </a:r>
            <a:endParaRPr/>
          </a:p>
        </p:txBody>
      </p:sp>
      <p:sp>
        <p:nvSpPr>
          <p:cNvPr id="207" name="Google Shape;207;g3e679c205eb_0_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Dot-access for fixed names, bracket-access for dynamic keys you have in a variable. The numeric-keys-coerce-to-strings example is a scar-tissue callout - it bites people coming from languages with proper dict types. Not a gotcha you hit often, but worth flagging so students aren't confused the one time it happens.</a:t>
            </a:r>
            <a:endParaRPr/>
          </a:p>
        </p:txBody>
      </p:sp>
      <p:sp>
        <p:nvSpPr>
          <p:cNvPr id="216" name="Google Shape;21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679c205eb_0_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g3e679c205eb_0_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Arrays are JS's only sequence type - no tuples, no linked lists, no separate typed-array thing for normal use. What matters here is the second half: the running todos dataset. Every subsequent slide uses this same shape. Array of objects with known keys is the same shape students will see coming back from their FastAPI endpoints in 5.2 and 6.1, so getting comfortable here pays off directly.</a:t>
            </a:r>
            <a:endParaRPr/>
          </a:p>
        </p:txBody>
      </p:sp>
      <p:sp>
        <p:nvSpPr>
          <p:cNvPr id="225" name="Google Shape;225;g3e679c205eb_0_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Arrays are JS's only sequence type - no tuples, no linked lists, no separate typed-array thing for normal use. What matters here is the second half: the running todos dataset. Every subsequent slide uses this same shape. Array of objects with known keys is the same shape students will see coming back from their FastAPI endpoints in 5.2 and 6.1, so getting comfortable here pays off directly.</a:t>
            </a:r>
            <a:endParaRPr/>
          </a:p>
        </p:txBody>
      </p:sp>
      <p:sp>
        <p:nvSpPr>
          <p:cNvPr id="234" name="Google Shape;23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syntaxes are everywhere in real codebases. Arrows are the modern default for short callbacks, and one-expression arrows get an implicit return for free. The describe example uses the ternary operator (same idea as Python's conditional expression). The last comment is the bridge into the next slide - functions are values, which is why array methods take functions as arguments. We come back to first-class functions as a topic in 10.1.</a:t>
            </a:r>
            <a:endParaRPr/>
          </a:p>
        </p:txBody>
      </p:sp>
      <p:sp>
        <p:nvSpPr>
          <p:cNvPr id="243" name="Google Shape;243;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Idiomatic modern JS almost never uses a for loop to transform data - it uses array methods that take a function. Point out the chaining explicitly: filter returns an array, so you can call .map() on it directly. That's the functional style that defines modern JS. The reduce example is worth walking through slowly because reduce is the one students struggle with the first time. Walking the accumulator through two iterations by hand clears it up fast. Tee up that React leans on .map() especially hard for list rendering - it's how you turn a list of data into a list of UI elements.</a:t>
            </a:r>
            <a:endParaRPr/>
          </a:p>
        </p:txBody>
      </p:sp>
      <p:sp>
        <p:nvSpPr>
          <p:cNvPr id="252" name="Google Shape;252;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68e3e393f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g3e68e3e393f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Using `==` is how you end up with bugs that look impossible to reproduce. `===` compares type AND value with no surprises - every modern codebase, every linter, every style guide agrees. ALWAYS ===. The edge cases at the bottom are the scar-tissue callout: the language literally cannot remove `==` without breaking the web, so the community collectively agrees not to type it. That's a normal pattern in JS-world and it explains a LOT of the style rules students will see in real codebases.</a:t>
            </a:r>
            <a:endParaRPr/>
          </a:p>
        </p:txBody>
      </p:sp>
      <p:sp>
        <p:nvSpPr>
          <p:cNvPr id="261" name="Google Shape;261;g3e68e3e393f_0_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68e3e393f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g3e68e3e393f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Using `==` is how you end up with bugs that look impossible to reproduce. `===` compares type AND value with no surprises - every modern codebase, every linter, every style guide agrees. ALWAYS ===. The edge cases at the bottom are the scar-tissue callout: the language literally cannot remove `==` without breaking the web, so the community collectively agrees not to type it. That's a normal pattern in JS-world and it explains a LOT of the style rules students will see in real codebases.</a:t>
            </a:r>
            <a:endParaRPr/>
          </a:p>
        </p:txBody>
      </p:sp>
      <p:sp>
        <p:nvSpPr>
          <p:cNvPr id="270" name="Google Shape;270;g3e68e3e393f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Using `==` is how you end up with bugs that look impossible to reproduce. `===` compares type AND value with no surprises - every modern codebase, every linter, every style guide agrees. ALWAYS ===. The edge cases at the bottom are the scar-tissue callout: the language literally cannot remove `==` without breaking the web, so the community collectively agrees not to type it. That's a normal pattern in JS-world and it explains a LOT of the style rules students will see in real codebases.</a:t>
            </a:r>
            <a:endParaRPr/>
          </a:p>
        </p:txBody>
      </p:sp>
      <p:sp>
        <p:nvSpPr>
          <p:cNvPr id="279" name="Google Shape;279;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the browser gives JS that Python never had: types (via TypeScript), a document to mutate (the DOM), and events to react to. We get the first two halves today. The third gift - talking to a server - gets its own lecture next class.</a:t>
            </a:r>
            <a:endParaRPr/>
          </a:p>
        </p:txBody>
      </p:sp>
      <p:sp>
        <p:nvSpPr>
          <p:cNvPr id="288" name="Google Shape;288;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679c205eb_0_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g3e679c205eb_0_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TypeScript is a COMPILE-TIME layer - the browser still ends up running plain JavaScript, and TypeScript's whole job is to catch your mistakes before you ship. Same spirit as pytest, which is to say fail early rather than late. In real projects you use a bundler (Vite, esbuild) that handles compilation + bundling + hot reloading in one tool - you'll see that in week 6 when we set up React.</a:t>
            </a:r>
            <a:endParaRPr/>
          </a:p>
        </p:txBody>
      </p:sp>
      <p:sp>
        <p:nvSpPr>
          <p:cNvPr id="294" name="Google Shape;294;g3e679c205eb_0_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679c205eb_0_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g3e679c205eb_0_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TypeScript is a COMPILE-TIME layer - the browser still ends up running plain JavaScript, and TypeScript's whole job is to catch your mistakes before you ship. Same spirit as pytest, which is to say fail early rather than late. In real projects you use a bundler (Vite, esbuild) that handles compilation + bundling + hot reloading in one tool - you'll see that in week 6 when we set up React.</a:t>
            </a:r>
            <a:endParaRPr/>
          </a:p>
        </p:txBody>
      </p:sp>
      <p:sp>
        <p:nvSpPr>
          <p:cNvPr id="301" name="Google Shape;301;g3e679c205eb_0_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TypeScript is a COMPILE-TIME layer - the browser still ends up running plain JavaScript, and TypeScript's whole job is to catch your mistakes before you ship. Same spirit as pytest, which is to say fail early rather than late. In real projects you use a bundler (Vite, esbuild) that handles compilation + bundling + hot reloading in one tool - you'll see that in week 6 when we set up React.</a:t>
            </a:r>
            <a:endParaRPr/>
          </a:p>
        </p:txBody>
      </p:sp>
      <p:sp>
        <p:nvSpPr>
          <p:cNvPr id="308" name="Google Shape;308;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e679c205eb_0_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g3e679c205eb_0_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one. Point out that this IS still JavaScript code, just with extra `: type` annotations - those annotations disappear when tsc compiles the file. The union type `string | null` is TS's way to be explicit about the two-nothings problem from the language tour, worth pointing at.</a:t>
            </a:r>
            <a:endParaRPr/>
          </a:p>
        </p:txBody>
      </p:sp>
      <p:sp>
        <p:nvSpPr>
          <p:cNvPr id="315" name="Google Shape;315;g3e679c205eb_0_7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one. Point out that this IS still JavaScript code, just with extra `: type` annotations - those annotations disappear when tsc compiles the file. The union type `string | null` is TS's way to be explicit about the two-nothings problem from the language tour, worth pointing at.</a:t>
            </a:r>
            <a:endParaRPr/>
          </a:p>
        </p:txBody>
      </p:sp>
      <p:sp>
        <p:nvSpPr>
          <p:cNvPr id="324" name="Google Shape;32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Interfaces are TypeScript's equivalent of Pydantic models from 3.2 - they describe the shape an object should have. The optional `?` on priority is the same idea as `Optional[int]` in Python. When tsc sees a shape mismatch it flags it before the code ever runs, which is the whole point.</a:t>
            </a:r>
            <a:endParaRPr/>
          </a:p>
        </p:txBody>
      </p:sp>
      <p:sp>
        <p:nvSpPr>
          <p:cNvPr id="333" name="Google Shape;333;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should see the HTML on the left and the corresponding object tree on the right and understand that JS is mutating the tree, not re-parsing the HTML text. That mental shift is what makes the rest of the section land.</a:t>
            </a:r>
            <a:endParaRPr/>
          </a:p>
        </p:txBody>
      </p:sp>
      <p:sp>
        <p:nvSpPr>
          <p:cNvPr id="342" name="Google Shape;34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679c205eb_0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g3e679c205eb_0_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HTML is the part students have probably already seen but never been formally introduced to. The point to hammer is that the browser turns this text into the object tree from the previous slide - that's the bridge into the rest of the DOM section. The id-vs-class distinction is the one to belabor: id is unique per page and the thing querySelector grabs by `#`, class is the grouping mechanism CSS will hook into and the thing classList.add/toggle flips. If a student has never written HTML, this slide plus the next is enough to read the tiny file we're about to put up.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Maybe 30 tags in everyday use. Look up the rest when you need them.</a:t>
            </a:r>
            <a:endParaRPr/>
          </a:p>
          <a:p>
            <a:pPr indent="0" lvl="0" marL="0" rtl="0" algn="l">
              <a:spcBef>
                <a:spcPts val="0"/>
              </a:spcBef>
              <a:spcAft>
                <a:spcPts val="0"/>
              </a:spcAft>
              <a:buNone/>
            </a:pPr>
            <a:r>
              <a:t/>
            </a:r>
            <a:endParaRPr/>
          </a:p>
        </p:txBody>
      </p:sp>
      <p:sp>
        <p:nvSpPr>
          <p:cNvPr id="349" name="Google Shape;349;g3e679c205eb_0_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679c205eb_0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g3e679c205eb_0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reason CSS shows up in a JS lecture: classList is one of the most common things you do to the DOM, and classList only makes sense if you know what a class is for. Tie selectors back to querySelector - same `#`, `.`, tag-name syntax, which is not a coincidence, the browser uses one selector engine for both. Don't go deep on the cascade or specificity here - they'll meet that the first time two rules fight, and that's a fine time to learn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Same selector syntax JavaScript's `querySelector` uses:</a:t>
            </a:r>
            <a:endParaRPr/>
          </a:p>
          <a:p>
            <a:pPr indent="0" lvl="0" marL="0" rtl="0" algn="l">
              <a:spcBef>
                <a:spcPts val="0"/>
              </a:spcBef>
              <a:spcAft>
                <a:spcPts val="0"/>
              </a:spcAft>
              <a:buNone/>
            </a:pPr>
            <a:r>
              <a:t/>
            </a:r>
            <a:endParaRPr/>
          </a:p>
        </p:txBody>
      </p:sp>
      <p:sp>
        <p:nvSpPr>
          <p:cNvPr id="356" name="Google Shape;356;g3e679c205eb_0_9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e679c205eb_0_1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g3e679c205eb_0_1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reason CSS shows up in a JS lecture: classList is one of the most common things you do to the DOM, and classList only makes sense if you know what a class is for. Tie selectors back to querySelector - same `#`, `.`, tag-name syntax, which is not a coincidence, the browser uses one selector engine for both. Don't go deep on the cascade or specificity here - they'll meet that the first time two rules fight, and that's a fine time to learn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Same selector syntax JavaScript's `querySelector` uses:</a:t>
            </a:r>
            <a:endParaRPr/>
          </a:p>
          <a:p>
            <a:pPr indent="0" lvl="0" marL="0" rtl="0" algn="l">
              <a:spcBef>
                <a:spcPts val="0"/>
              </a:spcBef>
              <a:spcAft>
                <a:spcPts val="0"/>
              </a:spcAft>
              <a:buNone/>
            </a:pPr>
            <a:r>
              <a:t/>
            </a:r>
            <a:endParaRPr/>
          </a:p>
        </p:txBody>
      </p:sp>
      <p:sp>
        <p:nvSpPr>
          <p:cNvPr id="363" name="Google Shape;363;g3e679c205eb_0_1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e679c205eb_0_2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g3e679c205eb_0_2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page for the rest of the DOM section. One input, one button, one ul with two initial items. The &lt;link&gt; tag in the head pulls in app.css (next slide), the &lt;script&gt; tag at the bottom loads our compiled TypeScript. Three files, one for each language. Keep this slide up on the projector as you walk through the next few - students need to see what the JS is operating on.</a:t>
            </a:r>
            <a:endParaRPr/>
          </a:p>
        </p:txBody>
      </p:sp>
      <p:sp>
        <p:nvSpPr>
          <p:cNvPr id="370" name="Google Shape;370;g3e679c205eb_0_27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679c205eb_0_2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g3e679c205eb_0_2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Tiny stylesheet, four rules. The first three are cosmetic - they keep the page from looking like 1996 so students aren't distracted by raw browser defaults. The last one is the rule that matters: anything with class="done" gets line-throughed. The closing exercise will toggle that class on and off in JS, and the visible behavior comes from this CSS rule. If you want to make the connection extra concrete, open devtools on the live page and edit a class in the elements panel - the line-through appears and disappears as you toggle.</a:t>
            </a:r>
            <a:endParaRPr/>
          </a:p>
        </p:txBody>
      </p:sp>
      <p:sp>
        <p:nvSpPr>
          <p:cNvPr id="379" name="Google Shape;379;g3e679c205eb_0_2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679c205eb_0_4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g3e679c205eb_0_4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querySelector takes a CSS selector, same syntax CSS uses. The `as HTMLInputElement` cast is a TypeScript type assertion - tsc doesn't know what tag the selector will actually match at runtime, so we tell it. Without the cast, TS would treat `input` as the generic `Element` type and we couldn't access .value. Scar tissue from TS meeting the browser, but you get used to it.</a:t>
            </a:r>
            <a:endParaRPr/>
          </a:p>
        </p:txBody>
      </p:sp>
      <p:sp>
        <p:nvSpPr>
          <p:cNvPr id="388" name="Google Shape;388;g3e679c205eb_0_49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querySelector takes a CSS selector, same syntax CSS uses. The `as HTMLInputElement` cast is a TypeScript type assertion - tsc doesn't know what tag the selector will actually match at runtime, so we tell it. Without the cast, TS would treat `input` as the generic `Element` type and we couldn't access .value. Scar tissue from TS meeting the browser, but you get used to it.</a:t>
            </a:r>
            <a:endParaRPr/>
          </a:p>
        </p:txBody>
      </p:sp>
      <p:sp>
        <p:nvSpPr>
          <p:cNvPr id="397" name="Google Shape;39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e679c205eb_0_5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g3e679c205eb_0_5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property of the DOM object is a setter - assigning to .textContent changes what the user sees immediately. .classList is the cleanest way to toggle CSS classes on and off. createElement + append is the safe way to build DOM nodes. innerHTML is faster to type but becomes an XSS vulnerability the moment user input touches it - the browser will happily execute &lt;script&gt; tags inside strings assigned to innerHTML. Teach textContent and createElement as the default. We come back to the XSS story properly in 9.2.</a:t>
            </a:r>
            <a:endParaRPr/>
          </a:p>
        </p:txBody>
      </p:sp>
      <p:sp>
        <p:nvSpPr>
          <p:cNvPr id="406" name="Google Shape;406;g3e679c205eb_0_5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e679c205eb_0_4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g3e679c205eb_0_4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property of the DOM object is a setter - assigning to .textContent changes what the user sees immediately. .classList is the cleanest way to toggle CSS classes on and off. createElement + append is the safe way to build DOM nodes. innerHTML is faster to type but becomes an XSS vulnerability the moment user input touches it - the browser will happily execute &lt;script&gt; tags inside strings assigned to innerHTML. Teach textContent and createElement as the default. We come back to the XSS story properly in 9.2.</a:t>
            </a:r>
            <a:endParaRPr/>
          </a:p>
        </p:txBody>
      </p:sp>
      <p:sp>
        <p:nvSpPr>
          <p:cNvPr id="415" name="Google Shape;415;g3e679c205eb_0_4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property of the DOM object is a setter - assigning to .textContent changes what the user sees immediately. .classList is the cleanest way to toggle CSS classes on and off. createElement + append is the safe way to build DOM nodes. innerHTML is faster to type but becomes an XSS vulnerability the moment user input touches it - the browser will happily execute &lt;script&gt; tags inside strings assigned to innerHTML. Teach textContent and createElement as the default. We come back to the XSS story properly in 9.2.</a:t>
            </a:r>
            <a:endParaRPr/>
          </a:p>
        </p:txBody>
      </p:sp>
      <p:sp>
        <p:nvSpPr>
          <p:cNvPr id="424" name="Google Shape;4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e679c205eb_0_1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2" name="Google Shape;432;g3e679c205eb_0_1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coming from Python are used to linear control flow, and event-driven code is the opposite of that - your code runs in response to stimuli, your job is to register the right responses ahead of time. Pause on the 'and then nothing' line, that surprises students every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JavaScript isn't "waiting" anywhere. It just stopped running.</a:t>
            </a:r>
            <a:endParaRPr/>
          </a:p>
          <a:p>
            <a:pPr indent="0" lvl="0" marL="0" rtl="0" algn="l">
              <a:spcBef>
                <a:spcPts val="0"/>
              </a:spcBef>
              <a:spcAft>
                <a:spcPts val="0"/>
              </a:spcAft>
              <a:buNone/>
            </a:pPr>
            <a:r>
              <a:t/>
            </a:r>
            <a:endParaRPr/>
          </a:p>
        </p:txBody>
      </p:sp>
      <p:sp>
        <p:nvSpPr>
          <p:cNvPr id="433" name="Google Shape;433;g3e679c205eb_0_17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679c205eb_0_1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g3e679c205eb_0_1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coming from Python are used to linear control flow, and event-driven code is the opposite of that - your code runs in response to stimuli, your job is to register the right responses ahead of time. Pause on the 'and then nothing' line, that surprises students every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JavaScript isn't "waiting" anywhere. It just stopped running.</a:t>
            </a:r>
            <a:endParaRPr/>
          </a:p>
          <a:p>
            <a:pPr indent="0" lvl="0" marL="0" rtl="0" algn="l">
              <a:spcBef>
                <a:spcPts val="0"/>
              </a:spcBef>
              <a:spcAft>
                <a:spcPts val="0"/>
              </a:spcAft>
              <a:buNone/>
            </a:pPr>
            <a:r>
              <a:t/>
            </a:r>
            <a:endParaRPr/>
          </a:p>
        </p:txBody>
      </p:sp>
      <p:sp>
        <p:nvSpPr>
          <p:cNvPr id="440" name="Google Shape;440;g3e679c205eb_0_1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coming from Python are used to linear control flow, and event-driven code is the opposite of that - your code runs in response to stimuli, your job is to register the right responses ahead of time. Pause on the 'and then nothing' line, that surprises students every time.</a:t>
            </a:r>
            <a:endParaRPr/>
          </a:p>
        </p:txBody>
      </p:sp>
      <p:sp>
        <p:nvSpPr>
          <p:cNvPr id="447" name="Google Shape;447;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addEventListener takes an event name and a function. The click handler combines everything from the DOM section - querySelector, .value, createElement, append, all doing real work together. Walk through the four numbered steps out loud, this is roughly the shape of every event handler students will write for the rest of the semester. preventDefault stops the browser's default behavior, and for forms that's a full-page reload - mention it now so students don't lose an hour to it later when they're building forms.</a:t>
            </a:r>
            <a:endParaRPr/>
          </a:p>
        </p:txBody>
      </p:sp>
      <p:sp>
        <p:nvSpPr>
          <p:cNvPr id="454" name="Google Shape;454;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blank is one concept. querySelectorAll returns a NodeList of matches, forEach iterates over it, addEventListener registers the click handler, classList.toggle flips the class. This exercise ties together DOM selection, iteration, events, and class manipulation in about ten lines, which is kinda the whole browser half of the day in miniature.</a:t>
            </a:r>
            <a:endParaRPr/>
          </a:p>
        </p:txBody>
      </p:sp>
      <p:sp>
        <p:nvSpPr>
          <p:cNvPr id="463" name="Google Shape;463;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answer. Then use the speaker notes to introduce event delegation as a forward-looking idea - if you add todos dynamically (the way the previous worked example does), per-item listeners don't get attached to the new ones, which is a bug students will hit. Event delegation is the cleaner fix. Don't teach it in full, just plant the name so they know to look it up when the bug bites.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items.forEach((li) =&gt; {</a:t>
            </a:r>
            <a:endParaRPr/>
          </a:p>
          <a:p>
            <a:pPr indent="0" lvl="0" marL="0" rtl="0" algn="l">
              <a:spcBef>
                <a:spcPts val="0"/>
              </a:spcBef>
              <a:spcAft>
                <a:spcPts val="0"/>
              </a:spcAft>
              <a:buNone/>
            </a:pPr>
            <a:r>
              <a:rPr lang="en-US"/>
              <a:t>    li.addEventListener("click", () =&gt; {</a:t>
            </a:r>
            <a:endParaRPr/>
          </a:p>
          <a:p>
            <a:pPr indent="0" lvl="0" marL="0" rtl="0" algn="l">
              <a:spcBef>
                <a:spcPts val="0"/>
              </a:spcBef>
              <a:spcAft>
                <a:spcPts val="0"/>
              </a:spcAft>
              <a:buNone/>
            </a:pPr>
            <a:r>
              <a:rPr lang="en-US"/>
              <a:t>        li.classList.toggle("done");</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Why a listener on each &lt;li&gt;?</a:t>
            </a:r>
            <a:endParaRPr/>
          </a:p>
          <a:p>
            <a:pPr indent="0" lvl="0" marL="0" rtl="0" algn="l">
              <a:spcBef>
                <a:spcPts val="0"/>
              </a:spcBef>
              <a:spcAft>
                <a:spcPts val="0"/>
              </a:spcAft>
              <a:buNone/>
            </a:pPr>
            <a:r>
              <a:rPr lang="en-US"/>
              <a:t>//   Because we want each to respond independently to its own click.</a:t>
            </a:r>
            <a:endParaRPr/>
          </a:p>
          <a:p>
            <a:pPr indent="0" lvl="0" marL="0" rtl="0" algn="l">
              <a:spcBef>
                <a:spcPts val="0"/>
              </a:spcBef>
              <a:spcAft>
                <a:spcPts val="0"/>
              </a:spcAft>
              <a:buNone/>
            </a:pPr>
            <a:r>
              <a:rPr lang="en-US"/>
              <a:t>//   We could attach one listener to the &lt;ul&gt; instead and check</a:t>
            </a:r>
            <a:endParaRPr/>
          </a:p>
          <a:p>
            <a:pPr indent="0" lvl="0" marL="0" rtl="0" algn="l">
              <a:spcBef>
                <a:spcPts val="0"/>
              </a:spcBef>
              <a:spcAft>
                <a:spcPts val="0"/>
              </a:spcAft>
              <a:buNone/>
            </a:pPr>
            <a:r>
              <a:rPr lang="en-US"/>
              <a:t>//   event.target to see which &lt;li&gt; was clicked - that's a pattern</a:t>
            </a:r>
            <a:endParaRPr/>
          </a:p>
          <a:p>
            <a:pPr indent="0" lvl="0" marL="0" rtl="0" algn="l">
              <a:spcBef>
                <a:spcPts val="0"/>
              </a:spcBef>
              <a:spcAft>
                <a:spcPts val="0"/>
              </a:spcAft>
              <a:buNone/>
            </a:pPr>
            <a:r>
              <a:rPr lang="en-US"/>
              <a:t>//   called "event delegation," and it matters when items are added</a:t>
            </a:r>
            <a:endParaRPr/>
          </a:p>
          <a:p>
            <a:pPr indent="0" lvl="0" marL="0" rtl="0" algn="l">
              <a:spcBef>
                <a:spcPts val="0"/>
              </a:spcBef>
              <a:spcAft>
                <a:spcPts val="0"/>
              </a:spcAft>
              <a:buNone/>
            </a:pPr>
            <a:r>
              <a:rPr lang="en-US"/>
              <a:t>//   and removed dynamically. For a fixed list, per-item is fine.</a:t>
            </a:r>
            <a:endParaRPr/>
          </a:p>
          <a:p>
            <a:pPr indent="0" lvl="0" marL="0" rtl="0" algn="l">
              <a:spcBef>
                <a:spcPts val="0"/>
              </a:spcBef>
              <a:spcAft>
                <a:spcPts val="0"/>
              </a:spcAft>
              <a:buNone/>
            </a:pPr>
            <a:r>
              <a:t/>
            </a:r>
            <a:endParaRPr/>
          </a:p>
        </p:txBody>
      </p:sp>
      <p:sp>
        <p:nvSpPr>
          <p:cNvPr id="472" name="Google Shape;47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Forward reference to 5.2 explicitly flags that fetch is the third capability and brings async with it. Students should leave today knowing that next class is about WAITING, not about a new piece of syntax. That framing sets up the promises material really well. The rules of the road in the middle are the practical takeaways - feel free to repeat them at the top of 5.2 if it helps.</a:t>
            </a:r>
            <a:endParaRPr/>
          </a:p>
        </p:txBody>
      </p:sp>
      <p:sp>
        <p:nvSpPr>
          <p:cNvPr id="481" name="Google Shape;481;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5B21B6"/>
                </a:solidFill>
                <a:latin typeface="Calibri"/>
                <a:ea typeface="Calibri"/>
                <a:cs typeface="Calibri"/>
                <a:sym typeface="Calibri"/>
              </a:rPr>
              <a:t>Lecture 5.1</a:t>
            </a:r>
            <a:endParaRPr/>
          </a:p>
        </p:txBody>
      </p:sp>
      <p:sp>
        <p:nvSpPr>
          <p:cNvPr id="87" name="Google Shape;87;p1"/>
          <p:cNvSpPr txBox="1"/>
          <p:nvPr/>
        </p:nvSpPr>
        <p:spPr>
          <a:xfrm>
            <a:off x="914400" y="2468880"/>
            <a:ext cx="10362895"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rgbClr val="1A1A2E"/>
                </a:solidFill>
                <a:latin typeface="Calibri"/>
                <a:ea typeface="Calibri"/>
                <a:cs typeface="Calibri"/>
                <a:sym typeface="Calibri"/>
              </a:rPr>
              <a:t>JavaScript and the Browser</a:t>
            </a:r>
            <a:endParaRPr/>
          </a:p>
        </p:txBody>
      </p:sp>
      <p:sp>
        <p:nvSpPr>
          <p:cNvPr id="88" name="Google Shape;88;p1"/>
          <p:cNvSpPr txBox="1"/>
          <p:nvPr/>
        </p:nvSpPr>
        <p:spPr>
          <a:xfrm>
            <a:off x="914400" y="4754880"/>
            <a:ext cx="1036289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g3e679c205eb_0_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language you don't get to avoid</a:t>
            </a:r>
            <a:endParaRPr/>
          </a:p>
        </p:txBody>
      </p:sp>
      <p:sp>
        <p:nvSpPr>
          <p:cNvPr id="95" name="Google Shape;95;g3e679c205eb_0_2"/>
          <p:cNvSpPr txBox="1"/>
          <p:nvPr/>
        </p:nvSpPr>
        <p:spPr>
          <a:xfrm>
            <a:off x="914400" y="1280140"/>
            <a:ext cx="10362900" cy="1139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Count the languages that run unmodified on your laptop: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Python, Go, Rust, Java, C, C++, Ruby, Swift, ... dozens.</a:t>
            </a:r>
            <a:endParaRPr/>
          </a:p>
          <a:p>
            <a:pPr indent="0" lvl="1" marL="457200" marR="0" rtl="0" algn="l">
              <a:spcBef>
                <a:spcPts val="6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language you don't get to avoid</a:t>
            </a:r>
            <a:endParaRPr/>
          </a:p>
        </p:txBody>
      </p:sp>
      <p:sp>
        <p:nvSpPr>
          <p:cNvPr id="102" name="Google Shape;102;p2"/>
          <p:cNvSpPr txBox="1"/>
          <p:nvPr/>
        </p:nvSpPr>
        <p:spPr>
          <a:xfrm>
            <a:off x="914400" y="1280140"/>
            <a:ext cx="10362900" cy="235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Count the languages that run unmodified on your laptop: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Python, Go, Rust, Java, C, C++, Ruby, Swift, ... dozens.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Count the languages that run unmodified in every browser on earth:</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One.</a:t>
            </a:r>
            <a:r>
              <a:rPr b="0" i="0" lang="en-US" sz="2000" u="none" cap="none" strike="noStrike">
                <a:solidFill>
                  <a:srgbClr val="666677"/>
                </a:solidFill>
                <a:latin typeface="Calibri"/>
                <a:ea typeface="Calibri"/>
                <a:cs typeface="Calibri"/>
                <a:sym typeface="Calibri"/>
              </a:rPr>
              <a:t> JavaScript. About 97% of all websites ship it.</a:t>
            </a:r>
            <a:endParaRPr/>
          </a:p>
          <a:p>
            <a:pPr indent="0" lvl="1" marL="457200" marR="0" rtl="0" algn="l">
              <a:spcBef>
                <a:spcPts val="6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g3e679c205eb_0_8"/>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language you don't get to avoid</a:t>
            </a:r>
            <a:endParaRPr/>
          </a:p>
        </p:txBody>
      </p:sp>
      <p:sp>
        <p:nvSpPr>
          <p:cNvPr id="109" name="Google Shape;109;g3e679c205eb_0_8"/>
          <p:cNvSpPr txBox="1"/>
          <p:nvPr/>
        </p:nvSpPr>
        <p:spPr>
          <a:xfrm>
            <a:off x="914400" y="1280150"/>
            <a:ext cx="7524300" cy="36171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May 1995.</a:t>
            </a:r>
            <a:r>
              <a:rPr b="0" i="0" lang="en-US" sz="2400" u="none" cap="none" strike="noStrike">
                <a:solidFill>
                  <a:srgbClr val="333344"/>
                </a:solidFill>
                <a:latin typeface="Calibri"/>
                <a:ea typeface="Calibri"/>
                <a:cs typeface="Calibri"/>
                <a:sym typeface="Calibri"/>
              </a:rPr>
              <a:t> Netscape needed a scripting language for buttons and form validation, before Microsoft shipped something competing.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a:p>
          <a:p>
            <a:pPr indent="0" lvl="1" marL="0" marR="0" rtl="0" algn="l">
              <a:spcBef>
                <a:spcPts val="600"/>
              </a:spcBef>
              <a:spcAft>
                <a:spcPts val="0"/>
              </a:spcAft>
              <a:buNone/>
            </a:pPr>
            <a:r>
              <a:rPr b="0" i="0" lang="en-US" sz="2400" u="none" cap="none" strike="noStrike">
                <a:solidFill>
                  <a:schemeClr val="dk1"/>
                </a:solidFill>
                <a:latin typeface="Calibri"/>
                <a:ea typeface="Calibri"/>
                <a:cs typeface="Calibri"/>
                <a:sym typeface="Calibri"/>
              </a:rPr>
              <a:t>They hired </a:t>
            </a:r>
            <a:r>
              <a:rPr b="1" i="0" lang="en-US" sz="2400" u="none" cap="none" strike="noStrike">
                <a:solidFill>
                  <a:schemeClr val="dk1"/>
                </a:solidFill>
                <a:latin typeface="Calibri"/>
                <a:ea typeface="Calibri"/>
                <a:cs typeface="Calibri"/>
                <a:sym typeface="Calibri"/>
              </a:rPr>
              <a:t>Brendan Eich</a:t>
            </a:r>
            <a:r>
              <a:rPr lang="en-US" sz="2400">
                <a:solidFill>
                  <a:schemeClr val="dk1"/>
                </a:solidFill>
                <a:latin typeface="Calibri"/>
                <a:ea typeface="Calibri"/>
                <a:cs typeface="Calibri"/>
                <a:sym typeface="Calibri"/>
              </a:rPr>
              <a:t> and gave him</a:t>
            </a:r>
            <a:r>
              <a:rPr b="0" i="0" lang="en-US" sz="2400" u="none" cap="none" strike="noStrike">
                <a:solidFill>
                  <a:schemeClr val="dk1"/>
                </a:solidFill>
                <a:latin typeface="Calibri"/>
                <a:ea typeface="Calibri"/>
                <a:cs typeface="Calibri"/>
                <a:sym typeface="Calibri"/>
              </a:rPr>
              <a:t> ten days.</a:t>
            </a:r>
            <a:endParaRPr sz="1800">
              <a:solidFill>
                <a:schemeClr val="dk1"/>
              </a:solidFill>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 language was called Mocha, then LiveScript, then </a:t>
            </a:r>
            <a:r>
              <a:rPr b="1" i="0" lang="en-US" sz="2400" u="none" cap="none" strike="noStrike">
                <a:solidFill>
                  <a:srgbClr val="333344"/>
                </a:solidFill>
                <a:latin typeface="Calibri"/>
                <a:ea typeface="Calibri"/>
                <a:cs typeface="Calibri"/>
                <a:sym typeface="Calibri"/>
              </a:rPr>
              <a:t>JavaScript</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a:p>
        </p:txBody>
      </p:sp>
      <p:pic>
        <p:nvPicPr>
          <p:cNvPr id="110" name="Google Shape;110;g3e679c205eb_0_8"/>
          <p:cNvPicPr preferRelativeResize="0"/>
          <p:nvPr/>
        </p:nvPicPr>
        <p:blipFill>
          <a:blip r:embed="rId3">
            <a:alphaModFix/>
          </a:blip>
          <a:stretch>
            <a:fillRect/>
          </a:stretch>
        </p:blipFill>
        <p:spPr>
          <a:xfrm>
            <a:off x="8578650" y="1065110"/>
            <a:ext cx="2286000" cy="3000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g3e679c205eb_0_1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Brendan Eich's constraints, in one slide</a:t>
            </a:r>
            <a:endParaRPr/>
          </a:p>
        </p:txBody>
      </p:sp>
      <p:sp>
        <p:nvSpPr>
          <p:cNvPr id="117" name="Google Shape;117;g3e679c205eb_0_15"/>
          <p:cNvSpPr txBox="1"/>
          <p:nvPr/>
        </p:nvSpPr>
        <p:spPr>
          <a:xfrm>
            <a:off x="914400" y="1463040"/>
            <a:ext cx="10362900" cy="158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you're the one with ten days. What are you up against?</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 Ten-day timebox.</a:t>
            </a:r>
            <a:r>
              <a:rPr b="0" i="0" lang="en-US" sz="2000" u="none" cap="none" strike="noStrike">
                <a:solidFill>
                  <a:srgbClr val="666677"/>
                </a:solidFill>
                <a:latin typeface="Calibri"/>
                <a:ea typeface="Calibri"/>
                <a:cs typeface="Calibri"/>
                <a:sym typeface="Calibri"/>
              </a:rPr>
              <a:t> Ship or be fired.</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g3e679c205eb_0_2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Brendan Eich's constraints, in one slide</a:t>
            </a:r>
            <a:endParaRPr/>
          </a:p>
        </p:txBody>
      </p:sp>
      <p:sp>
        <p:nvSpPr>
          <p:cNvPr id="124" name="Google Shape;124;g3e679c205eb_0_21"/>
          <p:cNvSpPr txBox="1"/>
          <p:nvPr/>
        </p:nvSpPr>
        <p:spPr>
          <a:xfrm>
            <a:off x="914400" y="1463040"/>
            <a:ext cx="10362900" cy="167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you're the one with ten days. What are you up against?</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 Ten-day timebox.</a:t>
            </a:r>
            <a:r>
              <a:rPr b="0" i="0" lang="en-US" sz="2000" u="none" cap="none" strike="noStrike">
                <a:solidFill>
                  <a:srgbClr val="666677"/>
                </a:solidFill>
                <a:latin typeface="Calibri"/>
                <a:ea typeface="Calibri"/>
                <a:cs typeface="Calibri"/>
                <a:sym typeface="Calibri"/>
              </a:rPr>
              <a:t> Ship or be fired.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 Must look like Java.</a:t>
            </a:r>
            <a:r>
              <a:rPr b="0" i="0" lang="en-US" sz="2000" u="none" cap="none" strike="noStrike">
                <a:solidFill>
                  <a:srgbClr val="666677"/>
                </a:solidFill>
                <a:latin typeface="Calibri"/>
                <a:ea typeface="Calibri"/>
                <a:cs typeface="Calibri"/>
                <a:sym typeface="Calibri"/>
              </a:rPr>
              <a:t> Curly braces, semicolons, C-ish syntax.</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g3e679c205eb_0_27"/>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Brendan Eich's constraints, in one slide</a:t>
            </a:r>
            <a:endParaRPr/>
          </a:p>
        </p:txBody>
      </p:sp>
      <p:sp>
        <p:nvSpPr>
          <p:cNvPr id="131" name="Google Shape;131;g3e679c205eb_0_27"/>
          <p:cNvSpPr txBox="1"/>
          <p:nvPr/>
        </p:nvSpPr>
        <p:spPr>
          <a:xfrm>
            <a:off x="914400" y="1463040"/>
            <a:ext cx="10362900" cy="273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you're the one with ten days. What are you up against?</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 Ten-day timebox.</a:t>
            </a:r>
            <a:r>
              <a:rPr b="0" i="0" lang="en-US" sz="2000" u="none" cap="none" strike="noStrike">
                <a:solidFill>
                  <a:srgbClr val="666677"/>
                </a:solidFill>
                <a:latin typeface="Calibri"/>
                <a:ea typeface="Calibri"/>
                <a:cs typeface="Calibri"/>
                <a:sym typeface="Calibri"/>
              </a:rPr>
              <a:t> Ship or be fired.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 Must look like Java.</a:t>
            </a:r>
            <a:r>
              <a:rPr b="0" i="0" lang="en-US" sz="2000" u="none" cap="none" strike="noStrike">
                <a:solidFill>
                  <a:srgbClr val="666677"/>
                </a:solidFill>
                <a:latin typeface="Calibri"/>
                <a:ea typeface="Calibri"/>
                <a:cs typeface="Calibri"/>
                <a:sym typeface="Calibri"/>
              </a:rPr>
              <a:t> Curly braces, semicolons, C-ish syntax.</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 Must run in a web page.</a:t>
            </a:r>
            <a:r>
              <a:rPr b="0" i="0" lang="en-US" sz="2000" u="none" cap="none" strike="noStrike">
                <a:solidFill>
                  <a:srgbClr val="666677"/>
                </a:solidFill>
                <a:latin typeface="Calibri"/>
                <a:ea typeface="Calibri"/>
                <a:cs typeface="Calibri"/>
                <a:sym typeface="Calibri"/>
              </a:rPr>
              <a:t> Handle clicks, form input, animations.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Live in an HTML document you don't control.</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g3e679c205eb_0_3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Brendan Eich's constraints, in one slide</a:t>
            </a:r>
            <a:endParaRPr/>
          </a:p>
        </p:txBody>
      </p:sp>
      <p:sp>
        <p:nvSpPr>
          <p:cNvPr id="138" name="Google Shape;138;g3e679c205eb_0_33"/>
          <p:cNvSpPr txBox="1"/>
          <p:nvPr/>
        </p:nvSpPr>
        <p:spPr>
          <a:xfrm>
            <a:off x="914400" y="1463040"/>
            <a:ext cx="10362900" cy="350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you're the one with ten days. What are you up against?</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 Ten-day timebox.</a:t>
            </a:r>
            <a:r>
              <a:rPr b="0" i="0" lang="en-US" sz="2000" u="none" cap="none" strike="noStrike">
                <a:solidFill>
                  <a:srgbClr val="666677"/>
                </a:solidFill>
                <a:latin typeface="Calibri"/>
                <a:ea typeface="Calibri"/>
                <a:cs typeface="Calibri"/>
                <a:sym typeface="Calibri"/>
              </a:rPr>
              <a:t> Ship or be fired.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 Must look like Java.</a:t>
            </a:r>
            <a:r>
              <a:rPr b="0" i="0" lang="en-US" sz="2000" u="none" cap="none" strike="noStrike">
                <a:solidFill>
                  <a:srgbClr val="666677"/>
                </a:solidFill>
                <a:latin typeface="Calibri"/>
                <a:ea typeface="Calibri"/>
                <a:cs typeface="Calibri"/>
                <a:sym typeface="Calibri"/>
              </a:rPr>
              <a:t> Curly braces, semicolons, C-ish syntax.</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 Must run in a web page.</a:t>
            </a:r>
            <a:r>
              <a:rPr b="0" i="0" lang="en-US" sz="2000" u="none" cap="none" strike="noStrike">
                <a:solidFill>
                  <a:srgbClr val="666677"/>
                </a:solidFill>
                <a:latin typeface="Calibri"/>
                <a:ea typeface="Calibri"/>
                <a:cs typeface="Calibri"/>
                <a:sym typeface="Calibri"/>
              </a:rPr>
              <a:t> Handle clicks, form input, animations.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Live in an HTML document you don't control.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4. Target = non-programmers.</a:t>
            </a:r>
            <a:r>
              <a:rPr b="0" i="0" lang="en-US" sz="2000" u="none" cap="none" strike="noStrike">
                <a:solidFill>
                  <a:srgbClr val="666677"/>
                </a:solidFill>
                <a:latin typeface="Calibri"/>
                <a:ea typeface="Calibri"/>
                <a:cs typeface="Calibri"/>
                <a:sym typeface="Calibri"/>
              </a:rPr>
              <a:t> People marking up HTML, not people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who know compilers. Forgiving by default.</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Brendan Eich's constraints, in one slide</a:t>
            </a:r>
            <a:endParaRPr/>
          </a:p>
        </p:txBody>
      </p:sp>
      <p:sp>
        <p:nvSpPr>
          <p:cNvPr id="145" name="Google Shape;145;p3"/>
          <p:cNvSpPr txBox="1"/>
          <p:nvPr/>
        </p:nvSpPr>
        <p:spPr>
          <a:xfrm>
            <a:off x="914400" y="1463040"/>
            <a:ext cx="10362900" cy="466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Imagine you're the one with ten days. What are you up against?</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 Ten-day timebox.</a:t>
            </a:r>
            <a:r>
              <a:rPr b="0" i="0" lang="en-US" sz="2000" u="none" cap="none" strike="noStrike">
                <a:solidFill>
                  <a:srgbClr val="666677"/>
                </a:solidFill>
                <a:latin typeface="Calibri"/>
                <a:ea typeface="Calibri"/>
                <a:cs typeface="Calibri"/>
                <a:sym typeface="Calibri"/>
              </a:rPr>
              <a:t> Ship or be fired.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 Must look like Java.</a:t>
            </a:r>
            <a:r>
              <a:rPr b="0" i="0" lang="en-US" sz="2000" u="none" cap="none" strike="noStrike">
                <a:solidFill>
                  <a:srgbClr val="666677"/>
                </a:solidFill>
                <a:latin typeface="Calibri"/>
                <a:ea typeface="Calibri"/>
                <a:cs typeface="Calibri"/>
                <a:sym typeface="Calibri"/>
              </a:rPr>
              <a:t> Curly braces, semicolons, C-ish syntax.</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 Must run in a web page.</a:t>
            </a:r>
            <a:r>
              <a:rPr b="0" i="0" lang="en-US" sz="2000" u="none" cap="none" strike="noStrike">
                <a:solidFill>
                  <a:srgbClr val="666677"/>
                </a:solidFill>
                <a:latin typeface="Calibri"/>
                <a:ea typeface="Calibri"/>
                <a:cs typeface="Calibri"/>
                <a:sym typeface="Calibri"/>
              </a:rPr>
              <a:t> Handle clicks, form input, animations.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Live in an HTML document you don't control.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4. Target = non-programmers.</a:t>
            </a:r>
            <a:r>
              <a:rPr b="0" i="0" lang="en-US" sz="2000" u="none" cap="none" strike="noStrike">
                <a:solidFill>
                  <a:srgbClr val="666677"/>
                </a:solidFill>
                <a:latin typeface="Calibri"/>
                <a:ea typeface="Calibri"/>
                <a:cs typeface="Calibri"/>
                <a:sym typeface="Calibri"/>
              </a:rPr>
              <a:t> People marking up HTML, not people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who know compilers. Forgiving by default.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5. Never crash the browser.</a:t>
            </a:r>
            <a:r>
              <a:rPr b="0" i="0" lang="en-US" sz="2000" u="none" cap="none" strike="noStrike">
                <a:solidFill>
                  <a:srgbClr val="666677"/>
                </a:solidFill>
                <a:latin typeface="Calibri"/>
                <a:ea typeface="Calibri"/>
                <a:cs typeface="Calibri"/>
                <a:sym typeface="Calibri"/>
              </a:rPr>
              <a:t> A syntax error can't take down the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user's entire session.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50" name="Shape 150"/>
        <p:cNvGrpSpPr/>
        <p:nvPr/>
      </p:nvGrpSpPr>
      <p:grpSpPr>
        <a:xfrm>
          <a:off x="0" y="0"/>
          <a:ext cx="0" cy="0"/>
          <a:chOff x="0" y="0"/>
          <a:chExt cx="0" cy="0"/>
        </a:xfrm>
      </p:grpSpPr>
      <p:sp>
        <p:nvSpPr>
          <p:cNvPr id="151" name="Google Shape;151;p4"/>
          <p:cNvSpPr txBox="1"/>
          <p:nvPr/>
        </p:nvSpPr>
        <p:spPr>
          <a:xfrm>
            <a:off x="5303520" y="457200"/>
            <a:ext cx="1584655"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5B21B6"/>
                </a:solidFill>
                <a:latin typeface="Calibri"/>
                <a:ea typeface="Calibri"/>
                <a:cs typeface="Calibri"/>
                <a:sym typeface="Calibri"/>
              </a:rPr>
              <a:t>?</a:t>
            </a:r>
            <a:endParaRPr/>
          </a:p>
        </p:txBody>
      </p:sp>
      <p:sp>
        <p:nvSpPr>
          <p:cNvPr id="152" name="Google Shape;152;p4"/>
          <p:cNvSpPr txBox="1"/>
          <p:nvPr/>
        </p:nvSpPr>
        <p:spPr>
          <a:xfrm>
            <a:off x="1371600" y="2011680"/>
            <a:ext cx="9448500" cy="615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1A1A2E"/>
                </a:solidFill>
                <a:latin typeface="Calibri"/>
                <a:ea typeface="Calibri"/>
                <a:cs typeface="Calibri"/>
                <a:sym typeface="Calibri"/>
              </a:rPr>
              <a:t>You</a:t>
            </a:r>
            <a:r>
              <a:rPr b="1" lang="en-US" sz="3400">
                <a:solidFill>
                  <a:srgbClr val="1A1A2E"/>
                </a:solidFill>
                <a:latin typeface="Calibri"/>
                <a:ea typeface="Calibri"/>
                <a:cs typeface="Calibri"/>
                <a:sym typeface="Calibri"/>
              </a:rPr>
              <a:t>’re in this position</a:t>
            </a:r>
            <a:r>
              <a:rPr b="1" i="0" lang="en-US" sz="3400" u="none" cap="none" strike="noStrike">
                <a:solidFill>
                  <a:srgbClr val="1A1A2E"/>
                </a:solidFill>
                <a:latin typeface="Calibri"/>
                <a:ea typeface="Calibri"/>
                <a:cs typeface="Calibri"/>
                <a:sym typeface="Calibri"/>
              </a:rPr>
              <a:t>. What do you build?</a:t>
            </a:r>
            <a:endParaRPr/>
          </a:p>
        </p:txBody>
      </p:sp>
      <p:sp>
        <p:nvSpPr>
          <p:cNvPr id="153" name="Google Shape;153;p4"/>
          <p:cNvSpPr txBox="1"/>
          <p:nvPr/>
        </p:nvSpPr>
        <p:spPr>
          <a:xfrm>
            <a:off x="1828800" y="4572000"/>
            <a:ext cx="8534100" cy="1108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200" u="none" cap="none" strike="noStrike">
                <a:solidFill>
                  <a:srgbClr val="666677"/>
                </a:solidFill>
                <a:latin typeface="Calibri"/>
                <a:ea typeface="Calibri"/>
                <a:cs typeface="Calibri"/>
                <a:sym typeface="Calibri"/>
              </a:rPr>
              <a:t>What decisions would you make about types, errors, syntax, how forgiving the language is? Don't try to predict what JavaScript actually did - tell me what YOU would do under those constraints.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g3e69013deec_0_0"/>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Eich did, and why JS is weird</a:t>
            </a:r>
            <a:endParaRPr/>
          </a:p>
        </p:txBody>
      </p:sp>
      <p:sp>
        <p:nvSpPr>
          <p:cNvPr id="160" name="Google Shape;160;g3e69013deec_0_0"/>
          <p:cNvSpPr txBox="1"/>
          <p:nvPr/>
        </p:nvSpPr>
        <p:spPr>
          <a:xfrm>
            <a:off x="914400" y="1463040"/>
            <a:ext cx="10362900" cy="267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Eich's actual decisions: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Dynamic typing</a:t>
            </a:r>
            <a:r>
              <a:rPr b="0" i="0" lang="en-US" sz="2000" u="none" cap="none" strike="noStrike">
                <a:solidFill>
                  <a:srgbClr val="666677"/>
                </a:solidFill>
                <a:latin typeface="Calibri"/>
                <a:ea typeface="Calibri"/>
                <a:cs typeface="Calibri"/>
                <a:sym typeface="Calibri"/>
              </a:rPr>
              <a:t> - audience: non-programmers.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Event-driven, single-threaded</a:t>
            </a:r>
            <a:r>
              <a:rPr b="0" i="0" lang="en-US" sz="2000" u="none" cap="none" strike="noStrike">
                <a:solidFill>
                  <a:srgbClr val="666677"/>
                </a:solidFill>
                <a:latin typeface="Calibri"/>
                <a:ea typeface="Calibri"/>
                <a:cs typeface="Calibri"/>
                <a:sym typeface="Calibri"/>
              </a:rPr>
              <a:t> - shared with the browser UI.</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Prototype-based objects</a:t>
            </a:r>
            <a:r>
              <a:rPr b="0" i="0" lang="en-US" sz="2000" u="none" cap="none" strike="noStrike">
                <a:solidFill>
                  <a:srgbClr val="666677"/>
                </a:solidFill>
                <a:latin typeface="Calibri"/>
                <a:ea typeface="Calibri"/>
                <a:cs typeface="Calibri"/>
                <a:sym typeface="Calibri"/>
              </a:rPr>
              <a:t> - no classes (ten days, after all).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Forgiving coercion</a:t>
            </a:r>
            <a:r>
              <a:rPr b="0" i="0" lang="en-US" sz="2000" u="none" cap="none" strike="noStrike">
                <a:solidFill>
                  <a:srgbClr val="666677"/>
                </a:solidFill>
                <a:latin typeface="Calibri"/>
                <a:ea typeface="Calibri"/>
                <a:cs typeface="Calibri"/>
                <a:sym typeface="Calibri"/>
              </a:rPr>
              <a:t> - `5 + "3"` gives `"53"`, not an error.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Never crashes the page</a:t>
            </a:r>
            <a:r>
              <a:rPr b="0" i="0" lang="en-US" sz="2000" u="none" cap="none" strike="noStrike">
                <a:solidFill>
                  <a:srgbClr val="666677"/>
                </a:solidFill>
                <a:latin typeface="Calibri"/>
                <a:ea typeface="Calibri"/>
                <a:cs typeface="Calibri"/>
                <a:sym typeface="Calibri"/>
              </a:rPr>
              <a:t> - errors get caught and logged.</a:t>
            </a:r>
            <a:endParaRPr/>
          </a:p>
          <a:p>
            <a:pPr indent="0" lvl="1" marL="457200" marR="0" rtl="0" algn="l">
              <a:spcBef>
                <a:spcPts val="6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Eich did, and why JS is weird</a:t>
            </a:r>
            <a:endParaRPr/>
          </a:p>
        </p:txBody>
      </p:sp>
      <p:sp>
        <p:nvSpPr>
          <p:cNvPr id="167" name="Google Shape;167;p5"/>
          <p:cNvSpPr txBox="1"/>
          <p:nvPr/>
        </p:nvSpPr>
        <p:spPr>
          <a:xfrm>
            <a:off x="914400" y="1463040"/>
            <a:ext cx="10362900" cy="48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Eich's actual decisions: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Dynamic typing</a:t>
            </a:r>
            <a:r>
              <a:rPr b="0" i="0" lang="en-US" sz="2000" u="none" cap="none" strike="noStrike">
                <a:solidFill>
                  <a:srgbClr val="666677"/>
                </a:solidFill>
                <a:latin typeface="Calibri"/>
                <a:ea typeface="Calibri"/>
                <a:cs typeface="Calibri"/>
                <a:sym typeface="Calibri"/>
              </a:rPr>
              <a:t> - audience: non-programmers.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Event-driven, single-threaded</a:t>
            </a:r>
            <a:r>
              <a:rPr b="0" i="0" lang="en-US" sz="2000" u="none" cap="none" strike="noStrike">
                <a:solidFill>
                  <a:srgbClr val="666677"/>
                </a:solidFill>
                <a:latin typeface="Calibri"/>
                <a:ea typeface="Calibri"/>
                <a:cs typeface="Calibri"/>
                <a:sym typeface="Calibri"/>
              </a:rPr>
              <a:t> - shared with the browser UI.</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Prototype-based objects</a:t>
            </a:r>
            <a:r>
              <a:rPr b="0" i="0" lang="en-US" sz="2000" u="none" cap="none" strike="noStrike">
                <a:solidFill>
                  <a:srgbClr val="666677"/>
                </a:solidFill>
                <a:latin typeface="Calibri"/>
                <a:ea typeface="Calibri"/>
                <a:cs typeface="Calibri"/>
                <a:sym typeface="Calibri"/>
              </a:rPr>
              <a:t> - no classes (ten days, after all).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Forgiving coercion</a:t>
            </a:r>
            <a:r>
              <a:rPr b="0" i="0" lang="en-US" sz="2000" u="none" cap="none" strike="noStrike">
                <a:solidFill>
                  <a:srgbClr val="666677"/>
                </a:solidFill>
                <a:latin typeface="Calibri"/>
                <a:ea typeface="Calibri"/>
                <a:cs typeface="Calibri"/>
                <a:sym typeface="Calibri"/>
              </a:rPr>
              <a:t> - `5 + "3"` gives `"53"`, not an error.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Never crashes the page</a:t>
            </a:r>
            <a:r>
              <a:rPr b="0" i="0" lang="en-US" sz="2000" u="none" cap="none" strike="noStrike">
                <a:solidFill>
                  <a:srgbClr val="666677"/>
                </a:solidFill>
                <a:latin typeface="Calibri"/>
                <a:ea typeface="Calibri"/>
                <a:cs typeface="Calibri"/>
                <a:sym typeface="Calibri"/>
              </a:rPr>
              <a:t> - errors get caught and logged.</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Plus thirty years of "don't break old websites" produced the famous </a:t>
            </a:r>
            <a:r>
              <a:rPr lang="en-US" sz="2400">
                <a:solidFill>
                  <a:srgbClr val="333344"/>
                </a:solidFill>
                <a:latin typeface="Calibri"/>
                <a:ea typeface="Calibri"/>
                <a:cs typeface="Calibri"/>
                <a:sym typeface="Calibri"/>
              </a:rPr>
              <a:t>oddities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two nothings, two equality operators, hoisting, `[] + {}`.</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Don't memorize the quirks. </a:t>
            </a:r>
            <a:r>
              <a:rPr b="1" i="0" lang="en-US" sz="2400" u="none" cap="none" strike="noStrike">
                <a:solidFill>
                  <a:srgbClr val="333344"/>
                </a:solidFill>
                <a:latin typeface="Calibri"/>
                <a:ea typeface="Calibri"/>
                <a:cs typeface="Calibri"/>
                <a:sym typeface="Calibri"/>
              </a:rPr>
              <a:t>Use the modern way</a:t>
            </a:r>
            <a:r>
              <a:rPr b="0" i="0" lang="en-US" sz="2400" u="none" cap="none" strike="noStrike">
                <a:solidFill>
                  <a:srgbClr val="333344"/>
                </a:solidFill>
                <a:latin typeface="Calibri"/>
                <a:ea typeface="Calibri"/>
                <a:cs typeface="Calibri"/>
                <a:sym typeface="Calibri"/>
              </a:rPr>
              <a:t> - `</a:t>
            </a:r>
            <a:r>
              <a:rPr b="1" i="0" lang="en-US" sz="2400" u="none" cap="none" strike="noStrike">
                <a:solidFill>
                  <a:srgbClr val="333344"/>
                </a:solidFill>
                <a:latin typeface="Courier Prime"/>
                <a:ea typeface="Courier Prime"/>
                <a:cs typeface="Courier Prime"/>
                <a:sym typeface="Courier Prime"/>
              </a:rPr>
              <a:t>let</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ourier Prime"/>
                <a:ea typeface="Courier Prime"/>
                <a:cs typeface="Courier Prime"/>
                <a:sym typeface="Courier Prime"/>
              </a:rPr>
              <a:t>const</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a:t>
            </a:r>
            <a:r>
              <a:rPr b="0" i="0" lang="en-US" sz="2000" u="none" cap="none" strike="noStrike">
                <a:solidFill>
                  <a:srgbClr val="666677"/>
                </a:solidFill>
                <a:latin typeface="Calibri"/>
                <a:ea typeface="Calibri"/>
                <a:cs typeface="Calibri"/>
                <a:sym typeface="Calibri"/>
              </a:rPr>
              <a:t> template literals. Read JS with empathy for the box Eich was in.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Variables: let and const (never var)</a:t>
            </a:r>
            <a:endParaRPr/>
          </a:p>
        </p:txBody>
      </p:sp>
      <p:sp>
        <p:nvSpPr>
          <p:cNvPr id="174" name="Google Shape;174;p6"/>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175" name="Google Shape;175;p6"/>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6"/>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333344"/>
                </a:solidFill>
                <a:latin typeface="Courier New"/>
                <a:ea typeface="Courier New"/>
                <a:cs typeface="Courier New"/>
                <a:sym typeface="Courier New"/>
              </a:rPr>
              <a:t>// let - a variable you can reassign</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let count = 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count = count + 1;         // fine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count = "one";              // also fine (dynamic types)</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const - a binding you cannot reassign</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const PI = 3.14159;</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PI = 3;                     // TypeError: Assignment to constant</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const on an object means the BINDING is const,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not the value. You can still mutate the object.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const todo = { title: "read", done: false };</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todo.done = true;           // fine - mutating, not reassigning</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todo = { title: "x" };      // TypeError - reassigning</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var exists. It's the old way. Scar tissue. Don't use 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7"/>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six primitive types (plus 'object')</a:t>
            </a:r>
            <a:endParaRPr/>
          </a:p>
        </p:txBody>
      </p:sp>
      <p:sp>
        <p:nvSpPr>
          <p:cNvPr id="183" name="Google Shape;183;p7"/>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184" name="Google Shape;184;p7"/>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7"/>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Numbers - integers and floats, one type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n = 42;              // typeof n === "number"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x = 3.14;            // also "number"</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Strings - single, double, or backtick quotes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s = "hello";         // typeof s === "string"</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Booleans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 = true;            // typeof t === "boolean"</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Two kinds of nothing (yes, really):</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a = null;            // "I set this to nothing on purpose"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b = undefined;       // "I never set this at all"</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Everything else is an object: arrays, functions, dates, dicts,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list = [1, 2, 3];    // typeof list === "object"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fn   = () =&gt; 42;     // typeof fn   === "function" (special-case)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Strings and template literals</a:t>
            </a:r>
            <a:endParaRPr/>
          </a:p>
        </p:txBody>
      </p:sp>
      <p:sp>
        <p:nvSpPr>
          <p:cNvPr id="192" name="Google Shape;192;p8"/>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193" name="Google Shape;193;p8"/>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8"/>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Single or double quotes - interchangeable, no difference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a = 'alice';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b = "bob";</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Backticks give you TEMPLATE LITERALS: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multi-line strings without \n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interpolation with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name = "alice";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age  = 30;</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greeting = `Hello, ${name}!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You are ${age} years old.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Next year you will be ${age + 1}.`;</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Python parallel: backticks ~= f-strings.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Use backticks anytime you need interpolation.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Regular quotes are fine for short fixed strings.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g3e679c205eb_0_49"/>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Objects: JavaScript's dict</a:t>
            </a:r>
            <a:endParaRPr/>
          </a:p>
        </p:txBody>
      </p:sp>
      <p:sp>
        <p:nvSpPr>
          <p:cNvPr id="201" name="Google Shape;201;g3e679c205eb_0_49"/>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02" name="Google Shape;202;g3e679c205eb_0_49"/>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g3e679c205eb_0_49"/>
          <p:cNvSpPr txBox="1"/>
          <p:nvPr/>
        </p:nvSpPr>
        <p:spPr>
          <a:xfrm>
            <a:off x="1005840" y="1645920"/>
            <a:ext cx="10179900" cy="311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Object literal - a bag of key/value pairs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todo =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id: 1,</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title: "read the JS lecture notes",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done: false,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Access with dot or bracket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todo.title            // "read the JS lecture notes"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todo["title"]          // same thing</a:t>
            </a:r>
            <a:endParaRPr/>
          </a:p>
          <a:p>
            <a:pPr indent="0" lvl="0" marL="0" marR="0" rtl="0" algn="l">
              <a:spcBef>
                <a:spcPts val="200"/>
              </a:spcBef>
              <a:spcAft>
                <a:spcPts val="0"/>
              </a:spcAft>
              <a:buNone/>
            </a:pPr>
            <a:r>
              <a:t/>
            </a:r>
            <a:endParaRPr/>
          </a:p>
          <a:p>
            <a:pPr indent="0" lvl="0" marL="0" marR="0" rtl="0" algn="l">
              <a:spcBef>
                <a:spcPts val="2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g3e679c205eb_0_40"/>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Objects: JavaScript's dict</a:t>
            </a:r>
            <a:endParaRPr/>
          </a:p>
        </p:txBody>
      </p:sp>
      <p:sp>
        <p:nvSpPr>
          <p:cNvPr id="210" name="Google Shape;210;g3e679c205eb_0_40"/>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11" name="Google Shape;211;g3e679c205eb_0_40"/>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g3e679c205eb_0_40"/>
          <p:cNvSpPr txBox="1"/>
          <p:nvPr/>
        </p:nvSpPr>
        <p:spPr>
          <a:xfrm>
            <a:off x="1005840" y="1645920"/>
            <a:ext cx="10179900" cy="389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Object literal - a bag of key/value pairs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todo =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id: 1,</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title: "read the JS lecture notes",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done: false,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Access with dot or bracket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todo.title            // "read the JS lecture notes"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todo["title"]          // same thing</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Add or update properties freely</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todo.priority = "high";     // object is now { id, title, done, priority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todo.done = true;</a:t>
            </a:r>
            <a:endParaRPr/>
          </a:p>
          <a:p>
            <a:pPr indent="0" lvl="0" marL="0" marR="0" rtl="0" algn="l">
              <a:spcBef>
                <a:spcPts val="2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9"/>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Objects: JavaScript's dict</a:t>
            </a:r>
            <a:endParaRPr/>
          </a:p>
        </p:txBody>
      </p:sp>
      <p:sp>
        <p:nvSpPr>
          <p:cNvPr id="219" name="Google Shape;219;p9"/>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20" name="Google Shape;220;p9"/>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9"/>
          <p:cNvSpPr txBox="1"/>
          <p:nvPr/>
        </p:nvSpPr>
        <p:spPr>
          <a:xfrm>
            <a:off x="1005840" y="1645920"/>
            <a:ext cx="10179900" cy="468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Object literal - a bag of key/value pairs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todo =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id: 1,</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title: "read the JS lecture notes",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done: false,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Access with dot or bracket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todo.title            // "read the JS lecture notes"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todo["title"]          // same thing</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Add or update properties freely</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todo.priority = "high";     // object is now { id, title, done, priority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todo.done = true;</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Keys are always strings (even if you write them bare)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nums = { 1: "one", 2: "two" };    // "1" and "2"</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nums[1]                                 // "one"  (1 coerced to "1")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g3e679c205eb_0_57"/>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Arrays and the running todo list</a:t>
            </a:r>
            <a:endParaRPr/>
          </a:p>
        </p:txBody>
      </p:sp>
      <p:sp>
        <p:nvSpPr>
          <p:cNvPr id="228" name="Google Shape;228;g3e679c205eb_0_57"/>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29" name="Google Shape;229;g3e679c205eb_0_57"/>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g3e679c205eb_0_57"/>
          <p:cNvSpPr txBox="1"/>
          <p:nvPr/>
        </p:nvSpPr>
        <p:spPr>
          <a:xfrm>
            <a:off x="1005840" y="1645920"/>
            <a:ext cx="10179900" cy="287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Array literal - ordered, mutable, heterogeneous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things = [1, "two", 3.0, true, { nested: "object"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things.length             // 5</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things[0]                 // 1</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Mutating methods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stack =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stack.push("a", "b");      // ["a", "b"]</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stack.pop();                // returns "b", leaves ["a"]</a:t>
            </a:r>
            <a:endParaRPr/>
          </a:p>
          <a:p>
            <a:pPr indent="0" lvl="0" marL="0" marR="0" rtl="0" algn="l">
              <a:spcBef>
                <a:spcPts val="2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10"/>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Arrays and the running todo list</a:t>
            </a:r>
            <a:endParaRPr/>
          </a:p>
        </p:txBody>
      </p:sp>
      <p:sp>
        <p:nvSpPr>
          <p:cNvPr id="237" name="Google Shape;237;p10"/>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38" name="Google Shape;238;p10"/>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10"/>
          <p:cNvSpPr txBox="1"/>
          <p:nvPr/>
        </p:nvSpPr>
        <p:spPr>
          <a:xfrm>
            <a:off x="1005840" y="1645920"/>
            <a:ext cx="10179900" cy="468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Array literal - ordered, mutable, heterogeneous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things = [1, "two", 3.0, true, { nested: "object"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things.length             // 5</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things[0]                 // 1</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Mutating methods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stack =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stack.push("a", "b");      // ["a", "b"]</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stack.pop();                // returns "b", leaves ["a"]</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From here on, this is our running example dataset: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todos =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id: 1, title: "read the JS notes",     done: true,  priority: 2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id: 2, title: "write a fetch example", done: false, priority: 1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id: 3, title: "pick up milk",          done: false, priority: 3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id: 4, title: "call the vet",          done: true,  priority: 1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11"/>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Functions: declarations and arrows</a:t>
            </a:r>
            <a:endParaRPr/>
          </a:p>
        </p:txBody>
      </p:sp>
      <p:sp>
        <p:nvSpPr>
          <p:cNvPr id="246" name="Google Shape;246;p11"/>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47" name="Google Shape;247;p11"/>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11"/>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1. Function declaration - the classic form</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function addOne(n)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return n + 1;</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addOne(5);   // 6</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2. Arrow function - the modern, compact form</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double = (n) =&gt; n * 2;</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double(5);   // 10</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Arrow with multiple statements needs braces + explicit return:</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describe = (todo) =&gt;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status = todo.done ? "done" : "pending";</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return `${todo.title} (${status})`;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describe(todos[0]);   // "read the JS notes (done)"</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Functions are VALUES. Pass them as arguments, return them, store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them in arrays. Up next: array methods that take a function.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map, filter, reduce on the todo list</a:t>
            </a:r>
            <a:endParaRPr/>
          </a:p>
        </p:txBody>
      </p:sp>
      <p:sp>
        <p:nvSpPr>
          <p:cNvPr id="255" name="Google Shape;255;p12"/>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56" name="Google Shape;256;p12"/>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12"/>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.map(fn) - run fn on each element, collect results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.filter(fn) - keep elements where fn returns true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.reduce(fn, start) - fold the array down to a single value</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Titles of everything still to do</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pending = todos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.filter((t) =&gt; !t.done)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.map((t) =&gt; t.title);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["write a fetch example", "pick up milk"]</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Count how many are done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doneCount = todos.filter((t) =&gt; t.done).length;</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2</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Total priority points across all pending todos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openPriority = todos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.filter((t) =&gt; !t.done)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.reduce((sum, t) =&gt; sum + t.priority, 0);</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4  (priorities 1 + 3)</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g3e68e3e393f_0_8"/>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Two equality operators: === and ==</a:t>
            </a:r>
            <a:endParaRPr/>
          </a:p>
        </p:txBody>
      </p:sp>
      <p:sp>
        <p:nvSpPr>
          <p:cNvPr id="264" name="Google Shape;264;g3e68e3e393f_0_8"/>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65" name="Google Shape;265;g3e68e3e393f_0_8"/>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g3e68e3e393f_0_8"/>
          <p:cNvSpPr txBox="1"/>
          <p:nvPr/>
        </p:nvSpPr>
        <p:spPr>
          <a:xfrm>
            <a:off x="1005840" y="1645920"/>
            <a:ext cx="10179900" cy="13341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is loose equality: coerces types, then compares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1 == "1"           // true    (string coerced to number)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0 == false         // true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null == undefined  // true    (single allowed loose-equality use)</a:t>
            </a:r>
            <a:endParaRPr/>
          </a:p>
          <a:p>
            <a:pPr indent="0" lvl="0" marL="0" marR="0" rtl="0" algn="l">
              <a:spcBef>
                <a:spcPts val="2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g3e68e3e393f_0_0"/>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Two equality operators: === and ==</a:t>
            </a:r>
            <a:endParaRPr/>
          </a:p>
        </p:txBody>
      </p:sp>
      <p:sp>
        <p:nvSpPr>
          <p:cNvPr id="273" name="Google Shape;273;g3e68e3e393f_0_0"/>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74" name="Google Shape;274;g3e68e3e393f_0_0"/>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g3e68e3e393f_0_0"/>
          <p:cNvSpPr txBox="1"/>
          <p:nvPr/>
        </p:nvSpPr>
        <p:spPr>
          <a:xfrm>
            <a:off x="1005840" y="1645920"/>
            <a:ext cx="10179900" cy="26166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is loose equality: coerces types, then compares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1 == "1"           // true    (string coerced to number)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0 == false         // true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null == undefined  // true    (single allowed loose-equality use)</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Coercion rules are surprising at the edges: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0            // true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NaN == NaN         // false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"0" == false       // true (inconsistently)</a:t>
            </a:r>
            <a:endParaRPr/>
          </a:p>
          <a:p>
            <a:pPr indent="0" lvl="0" marL="0" marR="0" rtl="0" algn="l">
              <a:spcBef>
                <a:spcPts val="2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1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Two equality operators: === and ==</a:t>
            </a:r>
            <a:endParaRPr/>
          </a:p>
        </p:txBody>
      </p:sp>
      <p:sp>
        <p:nvSpPr>
          <p:cNvPr id="282" name="Google Shape;282;p13"/>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JavaScript</a:t>
            </a:r>
            <a:endParaRPr/>
          </a:p>
        </p:txBody>
      </p:sp>
      <p:sp>
        <p:nvSpPr>
          <p:cNvPr id="283" name="Google Shape;283;p13"/>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13"/>
          <p:cNvSpPr txBox="1"/>
          <p:nvPr/>
        </p:nvSpPr>
        <p:spPr>
          <a:xfrm>
            <a:off x="1005840" y="1645920"/>
            <a:ext cx="10179900" cy="46587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is loose equality: coerces types, then compares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1 == "1"           // true    (string coerced to number)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0 == false         // true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null == undefined  // true    (single allowed loose-equality use)</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Coercion rules are surprising at the edges: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0            // true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NaN == NaN         // false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"0" == false       // true (inconsistently)</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sz="1500">
              <a:solidFill>
                <a:srgbClr val="333344"/>
              </a:solidFill>
              <a:latin typeface="Courier New"/>
              <a:ea typeface="Courier New"/>
              <a:cs typeface="Courier New"/>
              <a:sym typeface="Courier New"/>
            </a:endParaRPr>
          </a:p>
          <a:p>
            <a:pPr indent="0" lvl="0" marL="0" rtl="0" algn="l">
              <a:spcBef>
                <a:spcPts val="0"/>
              </a:spcBef>
              <a:spcAft>
                <a:spcPts val="0"/>
              </a:spcAft>
              <a:buClr>
                <a:schemeClr val="dk1"/>
              </a:buClr>
              <a:buFont typeface="Arial"/>
              <a:buNone/>
            </a:pPr>
            <a:r>
              <a:rPr b="1" lang="en-US" sz="1500">
                <a:solidFill>
                  <a:srgbClr val="333344"/>
                </a:solidFill>
                <a:latin typeface="Courier New"/>
                <a:ea typeface="Courier New"/>
                <a:cs typeface="Courier New"/>
                <a:sym typeface="Courier New"/>
              </a:rPr>
              <a:t>// === is strict equality: same type AND same value</a:t>
            </a:r>
            <a:endParaRPr>
              <a:solidFill>
                <a:schemeClr val="dk1"/>
              </a:solidFill>
            </a:endParaRPr>
          </a:p>
          <a:p>
            <a:pPr indent="0" lvl="0" marL="0" rtl="0" algn="l">
              <a:spcBef>
                <a:spcPts val="200"/>
              </a:spcBef>
              <a:spcAft>
                <a:spcPts val="0"/>
              </a:spcAft>
              <a:buClr>
                <a:schemeClr val="dk1"/>
              </a:buClr>
              <a:buFont typeface="Arial"/>
              <a:buNone/>
            </a:pPr>
            <a:r>
              <a:rPr b="1" lang="en-US" sz="1500">
                <a:solidFill>
                  <a:srgbClr val="333344"/>
                </a:solidFill>
                <a:latin typeface="Courier New"/>
                <a:ea typeface="Courier New"/>
                <a:cs typeface="Courier New"/>
                <a:sym typeface="Courier New"/>
              </a:rPr>
              <a:t>1 === 1            // true</a:t>
            </a:r>
            <a:endParaRPr>
              <a:solidFill>
                <a:schemeClr val="dk1"/>
              </a:solidFill>
            </a:endParaRPr>
          </a:p>
          <a:p>
            <a:pPr indent="0" lvl="0" marL="0" rtl="0" algn="l">
              <a:spcBef>
                <a:spcPts val="200"/>
              </a:spcBef>
              <a:spcAft>
                <a:spcPts val="0"/>
              </a:spcAft>
              <a:buClr>
                <a:schemeClr val="dk1"/>
              </a:buClr>
              <a:buFont typeface="Arial"/>
              <a:buNone/>
            </a:pPr>
            <a:r>
              <a:rPr b="1" lang="en-US" sz="1500">
                <a:solidFill>
                  <a:srgbClr val="333344"/>
                </a:solidFill>
                <a:latin typeface="Courier New"/>
                <a:ea typeface="Courier New"/>
                <a:cs typeface="Courier New"/>
                <a:sym typeface="Courier New"/>
              </a:rPr>
              <a:t>1 === "1"          // false   (different types)</a:t>
            </a:r>
            <a:endParaRPr>
              <a:solidFill>
                <a:schemeClr val="dk1"/>
              </a:solidFill>
            </a:endParaRPr>
          </a:p>
          <a:p>
            <a:pPr indent="0" lvl="0" marL="0" rtl="0" algn="l">
              <a:spcBef>
                <a:spcPts val="200"/>
              </a:spcBef>
              <a:spcAft>
                <a:spcPts val="0"/>
              </a:spcAft>
              <a:buClr>
                <a:schemeClr val="dk1"/>
              </a:buClr>
              <a:buFont typeface="Arial"/>
              <a:buNone/>
            </a:pPr>
            <a:r>
              <a:rPr b="1" lang="en-US" sz="1500">
                <a:solidFill>
                  <a:srgbClr val="333344"/>
                </a:solidFill>
                <a:latin typeface="Courier New"/>
                <a:ea typeface="Courier New"/>
                <a:cs typeface="Courier New"/>
                <a:sym typeface="Courier New"/>
              </a:rPr>
              <a:t>null === undefined // false</a:t>
            </a:r>
            <a:endParaRPr>
              <a:solidFill>
                <a:schemeClr val="dk1"/>
              </a:solidFill>
            </a:endParaRPr>
          </a:p>
          <a:p>
            <a:pPr indent="0" lvl="0" marL="0" marR="0" rtl="0" algn="l">
              <a:spcBef>
                <a:spcPts val="200"/>
              </a:spcBef>
              <a:spcAft>
                <a:spcPts val="0"/>
              </a:spcAft>
              <a:buNone/>
            </a:pPr>
            <a:r>
              <a:t/>
            </a:r>
            <a:endParaRPr b="1" sz="15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ALWAYS use ===.  NEVER use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(One exception: x == null catches both null and undefined.)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Modern consensus, including Eich's: just use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289" name="Shape 289"/>
        <p:cNvGrpSpPr/>
        <p:nvPr/>
      </p:nvGrpSpPr>
      <p:grpSpPr>
        <a:xfrm>
          <a:off x="0" y="0"/>
          <a:ext cx="0" cy="0"/>
          <a:chOff x="0" y="0"/>
          <a:chExt cx="0" cy="0"/>
        </a:xfrm>
      </p:grpSpPr>
      <p:sp>
        <p:nvSpPr>
          <p:cNvPr id="290" name="Google Shape;290;p14"/>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Now Drop It Into a Browser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g3e679c205eb_0_6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Why add types now?</a:t>
            </a:r>
            <a:endParaRPr/>
          </a:p>
        </p:txBody>
      </p:sp>
      <p:sp>
        <p:nvSpPr>
          <p:cNvPr id="297" name="Google Shape;297;g3e679c205eb_0_65"/>
          <p:cNvSpPr txBox="1"/>
          <p:nvPr/>
        </p:nvSpPr>
        <p:spPr>
          <a:xfrm>
            <a:off x="914400" y="1188840"/>
            <a:ext cx="10362900" cy="152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Remember </a:t>
            </a:r>
            <a:r>
              <a:rPr lang="en-US" sz="2400">
                <a:solidFill>
                  <a:srgbClr val="333344"/>
                </a:solidFill>
                <a:latin typeface="Calibri"/>
                <a:ea typeface="Calibri"/>
                <a:cs typeface="Calibri"/>
                <a:sym typeface="Calibri"/>
              </a:rPr>
              <a:t>fastapi</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alibri"/>
                <a:ea typeface="Calibri"/>
                <a:cs typeface="Calibri"/>
                <a:sym typeface="Calibri"/>
              </a:rPr>
              <a:t>Python type hints</a:t>
            </a:r>
            <a:r>
              <a:rPr b="0" i="0" lang="en-US" sz="2400" u="none" cap="none" strike="noStrik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brought sanity.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FastAPI/Pydan</a:t>
            </a:r>
            <a:r>
              <a:rPr lang="en-US" sz="2000">
                <a:solidFill>
                  <a:srgbClr val="666677"/>
                </a:solidFill>
                <a:latin typeface="Calibri"/>
                <a:ea typeface="Calibri"/>
                <a:cs typeface="Calibri"/>
                <a:sym typeface="Calibri"/>
              </a:rPr>
              <a:t>tic could read function </a:t>
            </a:r>
            <a:r>
              <a:rPr b="0" i="0" lang="en-US" sz="2000" u="none" cap="none" strike="noStrike">
                <a:solidFill>
                  <a:srgbClr val="666677"/>
                </a:solidFill>
                <a:latin typeface="Calibri"/>
                <a:ea typeface="Calibri"/>
                <a:cs typeface="Calibri"/>
                <a:sym typeface="Calibri"/>
              </a:rPr>
              <a:t>signature</a:t>
            </a:r>
            <a:r>
              <a:rPr lang="en-US" sz="2000">
                <a:solidFill>
                  <a:srgbClr val="666677"/>
                </a:solidFill>
                <a:latin typeface="Calibri"/>
                <a:ea typeface="Calibri"/>
                <a:cs typeface="Calibri"/>
                <a:sym typeface="Calibri"/>
              </a:rPr>
              <a:t>s, validate</a:t>
            </a:r>
            <a:r>
              <a:rPr b="0" i="0" lang="en-US" sz="2000" u="none" cap="none" strike="noStrike">
                <a:solidFill>
                  <a:srgbClr val="666677"/>
                </a:solidFill>
                <a:latin typeface="Calibri"/>
                <a:ea typeface="Calibri"/>
                <a:cs typeface="Calibri"/>
                <a:sym typeface="Calibri"/>
              </a:rPr>
              <a:t> requests</a:t>
            </a:r>
            <a:r>
              <a:rPr lang="en-US" sz="2000">
                <a:solidFill>
                  <a:srgbClr val="666677"/>
                </a:solidFill>
                <a:latin typeface="Calibri"/>
                <a:ea typeface="Calibri"/>
                <a:cs typeface="Calibri"/>
                <a:sym typeface="Calibri"/>
              </a:rPr>
              <a:t>, and enforce contracts</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Also code just got more readable, IDEs could flag issues, “linters” can throw errors</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g3e679c205eb_0_7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Why add types now?</a:t>
            </a:r>
            <a:endParaRPr/>
          </a:p>
        </p:txBody>
      </p:sp>
      <p:sp>
        <p:nvSpPr>
          <p:cNvPr id="304" name="Google Shape;304;g3e679c205eb_0_71"/>
          <p:cNvSpPr txBox="1"/>
          <p:nvPr/>
        </p:nvSpPr>
        <p:spPr>
          <a:xfrm>
            <a:off x="914400" y="1188840"/>
            <a:ext cx="10362900" cy="350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Remember </a:t>
            </a:r>
            <a:r>
              <a:rPr lang="en-US" sz="2400">
                <a:solidFill>
                  <a:srgbClr val="333344"/>
                </a:solidFill>
                <a:latin typeface="Calibri"/>
                <a:ea typeface="Calibri"/>
                <a:cs typeface="Calibri"/>
                <a:sym typeface="Calibri"/>
              </a:rPr>
              <a:t>fastapi</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alibri"/>
                <a:ea typeface="Calibri"/>
                <a:cs typeface="Calibri"/>
                <a:sym typeface="Calibri"/>
              </a:rPr>
              <a:t>Python type hints</a:t>
            </a:r>
            <a:r>
              <a:rPr b="0" i="0" lang="en-US" sz="2400" u="none" cap="none" strike="noStrik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brought sanity.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FastAPI/Pydan</a:t>
            </a:r>
            <a:r>
              <a:rPr lang="en-US" sz="2000">
                <a:solidFill>
                  <a:srgbClr val="666677"/>
                </a:solidFill>
                <a:latin typeface="Calibri"/>
                <a:ea typeface="Calibri"/>
                <a:cs typeface="Calibri"/>
                <a:sym typeface="Calibri"/>
              </a:rPr>
              <a:t>tic could read function </a:t>
            </a:r>
            <a:r>
              <a:rPr b="0" i="0" lang="en-US" sz="2000" u="none" cap="none" strike="noStrike">
                <a:solidFill>
                  <a:srgbClr val="666677"/>
                </a:solidFill>
                <a:latin typeface="Calibri"/>
                <a:ea typeface="Calibri"/>
                <a:cs typeface="Calibri"/>
                <a:sym typeface="Calibri"/>
              </a:rPr>
              <a:t>signature</a:t>
            </a:r>
            <a:r>
              <a:rPr lang="en-US" sz="2000">
                <a:solidFill>
                  <a:srgbClr val="666677"/>
                </a:solidFill>
                <a:latin typeface="Calibri"/>
                <a:ea typeface="Calibri"/>
                <a:cs typeface="Calibri"/>
                <a:sym typeface="Calibri"/>
              </a:rPr>
              <a:t>s, validate</a:t>
            </a:r>
            <a:r>
              <a:rPr b="0" i="0" lang="en-US" sz="2000" u="none" cap="none" strike="noStrike">
                <a:solidFill>
                  <a:srgbClr val="666677"/>
                </a:solidFill>
                <a:latin typeface="Calibri"/>
                <a:ea typeface="Calibri"/>
                <a:cs typeface="Calibri"/>
                <a:sym typeface="Calibri"/>
              </a:rPr>
              <a:t> requests</a:t>
            </a:r>
            <a:r>
              <a:rPr lang="en-US" sz="2000">
                <a:solidFill>
                  <a:srgbClr val="666677"/>
                </a:solidFill>
                <a:latin typeface="Calibri"/>
                <a:ea typeface="Calibri"/>
                <a:cs typeface="Calibri"/>
                <a:sym typeface="Calibri"/>
              </a:rPr>
              <a:t>, and enforce contracts</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Also code just got more readable, IDEs could flag issues, “linters” can throw errors</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JavaScript has the same problem Python had before type hints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D</a:t>
            </a:r>
            <a:r>
              <a:rPr b="0" i="0" lang="en-US" sz="2000" u="none" cap="none" strike="noStrike">
                <a:solidFill>
                  <a:srgbClr val="666677"/>
                </a:solidFill>
                <a:latin typeface="Calibri"/>
                <a:ea typeface="Calibri"/>
                <a:cs typeface="Calibri"/>
                <a:sym typeface="Calibri"/>
              </a:rPr>
              <a:t>ynamic types are great when prototyping, painful at scale. Pass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string where you meant a number and watch something break seven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function calls away.</a:t>
            </a:r>
            <a:endParaRPr/>
          </a:p>
          <a:p>
            <a:pPr indent="0" lvl="1" marL="457200" marR="0" rtl="0" algn="l">
              <a:spcBef>
                <a:spcPts val="60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p1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Why add types now?</a:t>
            </a:r>
            <a:endParaRPr/>
          </a:p>
        </p:txBody>
      </p:sp>
      <p:sp>
        <p:nvSpPr>
          <p:cNvPr id="311" name="Google Shape;311;p15"/>
          <p:cNvSpPr txBox="1"/>
          <p:nvPr/>
        </p:nvSpPr>
        <p:spPr>
          <a:xfrm>
            <a:off x="914400" y="1188840"/>
            <a:ext cx="10362900" cy="520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Remember </a:t>
            </a:r>
            <a:r>
              <a:rPr lang="en-US" sz="2400">
                <a:solidFill>
                  <a:srgbClr val="333344"/>
                </a:solidFill>
                <a:latin typeface="Calibri"/>
                <a:ea typeface="Calibri"/>
                <a:cs typeface="Calibri"/>
                <a:sym typeface="Calibri"/>
              </a:rPr>
              <a:t>fastapi</a:t>
            </a:r>
            <a:r>
              <a:rPr b="0" i="0" lang="en-US" sz="2400" u="none" cap="none" strike="noStrike">
                <a:solidFill>
                  <a:srgbClr val="333344"/>
                </a:solidFill>
                <a:latin typeface="Calibri"/>
                <a:ea typeface="Calibri"/>
                <a:cs typeface="Calibri"/>
                <a:sym typeface="Calibri"/>
              </a:rPr>
              <a:t>? </a:t>
            </a:r>
            <a:r>
              <a:rPr b="1" i="0" lang="en-US" sz="2400" u="none" cap="none" strike="noStrike">
                <a:solidFill>
                  <a:srgbClr val="333344"/>
                </a:solidFill>
                <a:latin typeface="Calibri"/>
                <a:ea typeface="Calibri"/>
                <a:cs typeface="Calibri"/>
                <a:sym typeface="Calibri"/>
              </a:rPr>
              <a:t>Python type hints</a:t>
            </a:r>
            <a:r>
              <a:rPr b="0" i="0" lang="en-US" sz="2400" u="none" cap="none" strike="noStrik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brought sanity.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FastAPI/Pydan</a:t>
            </a:r>
            <a:r>
              <a:rPr lang="en-US" sz="2000">
                <a:solidFill>
                  <a:srgbClr val="666677"/>
                </a:solidFill>
                <a:latin typeface="Calibri"/>
                <a:ea typeface="Calibri"/>
                <a:cs typeface="Calibri"/>
                <a:sym typeface="Calibri"/>
              </a:rPr>
              <a:t>tic could read function </a:t>
            </a:r>
            <a:r>
              <a:rPr b="0" i="0" lang="en-US" sz="2000" u="none" cap="none" strike="noStrike">
                <a:solidFill>
                  <a:srgbClr val="666677"/>
                </a:solidFill>
                <a:latin typeface="Calibri"/>
                <a:ea typeface="Calibri"/>
                <a:cs typeface="Calibri"/>
                <a:sym typeface="Calibri"/>
              </a:rPr>
              <a:t>signature</a:t>
            </a:r>
            <a:r>
              <a:rPr lang="en-US" sz="2000">
                <a:solidFill>
                  <a:srgbClr val="666677"/>
                </a:solidFill>
                <a:latin typeface="Calibri"/>
                <a:ea typeface="Calibri"/>
                <a:cs typeface="Calibri"/>
                <a:sym typeface="Calibri"/>
              </a:rPr>
              <a:t>s, validate</a:t>
            </a:r>
            <a:r>
              <a:rPr b="0" i="0" lang="en-US" sz="2000" u="none" cap="none" strike="noStrike">
                <a:solidFill>
                  <a:srgbClr val="666677"/>
                </a:solidFill>
                <a:latin typeface="Calibri"/>
                <a:ea typeface="Calibri"/>
                <a:cs typeface="Calibri"/>
                <a:sym typeface="Calibri"/>
              </a:rPr>
              <a:t> requests</a:t>
            </a:r>
            <a:r>
              <a:rPr lang="en-US" sz="2000">
                <a:solidFill>
                  <a:srgbClr val="666677"/>
                </a:solidFill>
                <a:latin typeface="Calibri"/>
                <a:ea typeface="Calibri"/>
                <a:cs typeface="Calibri"/>
                <a:sym typeface="Calibri"/>
              </a:rPr>
              <a:t>, and enforce contracts</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Also code just got more readable, IDEs could flag issues, “linters” can throw errors</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JavaScript has the same problem Python had before type hints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D</a:t>
            </a:r>
            <a:r>
              <a:rPr b="0" i="0" lang="en-US" sz="2000" u="none" cap="none" strike="noStrike">
                <a:solidFill>
                  <a:srgbClr val="666677"/>
                </a:solidFill>
                <a:latin typeface="Calibri"/>
                <a:ea typeface="Calibri"/>
                <a:cs typeface="Calibri"/>
                <a:sym typeface="Calibri"/>
              </a:rPr>
              <a:t>ynamic types are great when prototyping, painful at scale. Pass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string where you meant a number and watch something break seven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function calls away.</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TypeScript</a:t>
            </a:r>
            <a:r>
              <a:rPr b="0" i="0" lang="en-US" sz="2400" u="none" cap="none" strike="noStrike">
                <a:solidFill>
                  <a:srgbClr val="333344"/>
                </a:solidFill>
                <a:latin typeface="Calibri"/>
                <a:ea typeface="Calibri"/>
                <a:cs typeface="Calibri"/>
                <a:sym typeface="Calibri"/>
              </a:rPr>
              <a:t> adds a type system to JavaScript. Write `.ts` files;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compiler (`tsc`) checks the types and produces plain `.js` for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browser. Types are for you and your editor, not the browser --</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they vanish during compilation.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g3e679c205eb_0_77"/>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Type annotations</a:t>
            </a:r>
            <a:endParaRPr/>
          </a:p>
        </p:txBody>
      </p:sp>
      <p:sp>
        <p:nvSpPr>
          <p:cNvPr id="318" name="Google Shape;318;g3e679c205eb_0_77"/>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19" name="Google Shape;319;g3e679c205eb_0_77"/>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g3e679c205eb_0_77"/>
          <p:cNvSpPr txBox="1"/>
          <p:nvPr/>
        </p:nvSpPr>
        <p:spPr>
          <a:xfrm>
            <a:off x="1005840" y="1645920"/>
            <a:ext cx="10179900" cy="324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Basic types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let count: number = 0;</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name: string = "alice";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done: boolean = false;</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Arrays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ids: number[] = [1, 2, 3];</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titles: string[] = ["read", "write"];</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Functions - annotate parameters and return type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function addOne(n: number): number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return n + 1;</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1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Type annotations</a:t>
            </a:r>
            <a:endParaRPr/>
          </a:p>
        </p:txBody>
      </p:sp>
      <p:sp>
        <p:nvSpPr>
          <p:cNvPr id="327" name="Google Shape;327;p16"/>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28" name="Google Shape;328;p16"/>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6"/>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Basic types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let count: number = 0;</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name: string = "alice";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done: boolean = false;</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Arrays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ids: number[] = [1, 2, 3];</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titles: string[] = ["read", "write"];</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Functions - annotate parameters and return type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function addOne(n: number): number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return n + 1;</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"null or a string" - the union type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let maybeTitle: string | null = null;</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maybeTitle = "hello";</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Arrow function with types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double = (n: number): number =&gt; n * 2;</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17"/>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Interfaces: shapes for objects</a:t>
            </a:r>
            <a:endParaRPr/>
          </a:p>
        </p:txBody>
      </p:sp>
      <p:sp>
        <p:nvSpPr>
          <p:cNvPr id="336" name="Google Shape;336;p17"/>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37" name="Google Shape;337;p17"/>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17"/>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An interface describes the shape of an object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interface Todo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id: number;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title: string;</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done: boolean;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priority?: number;   // ? means "optional"</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Annotate variables and function parameters with Todo</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first: Todo = { id: 1, title: "read notes", done: true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describe(todo: Todo): string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`${todo.title} (${todo.done ? "done" : "pending"})`;</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Misspell a field or miss a required one - tsc catches it: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bad: Todo = { id: 2, title: "oops"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Error: Property 'done' is missing in type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1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the DOM actually is</a:t>
            </a:r>
            <a:endParaRPr/>
          </a:p>
        </p:txBody>
      </p:sp>
      <p:sp>
        <p:nvSpPr>
          <p:cNvPr id="345" name="Google Shape;345;p18"/>
          <p:cNvSpPr txBox="1"/>
          <p:nvPr/>
        </p:nvSpPr>
        <p:spPr>
          <a:xfrm>
            <a:off x="914388" y="1145540"/>
            <a:ext cx="10362900" cy="552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When the browser loads an HTML page, it </a:t>
            </a:r>
            <a:r>
              <a:rPr b="1" i="0" lang="en-US" sz="2400" u="none" cap="none" strike="noStrike">
                <a:solidFill>
                  <a:srgbClr val="333344"/>
                </a:solidFill>
                <a:latin typeface="Calibri"/>
                <a:ea typeface="Calibri"/>
                <a:cs typeface="Calibri"/>
                <a:sym typeface="Calibri"/>
              </a:rPr>
              <a:t>parses</a:t>
            </a:r>
            <a:r>
              <a:rPr b="0" i="0" lang="en-US" sz="2400" u="none" cap="none" strike="noStrike">
                <a:solidFill>
                  <a:srgbClr val="333344"/>
                </a:solidFill>
                <a:latin typeface="Calibri"/>
                <a:ea typeface="Calibri"/>
                <a:cs typeface="Calibri"/>
                <a:sym typeface="Calibri"/>
              </a:rPr>
              <a:t> the HTML into</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tree of objects</a:t>
            </a:r>
            <a:r>
              <a:rPr b="0" i="0" lang="en-US" sz="2000" u="none" cap="none" strike="noStrike">
                <a:solidFill>
                  <a:srgbClr val="666677"/>
                </a:solidFill>
                <a:latin typeface="Calibri"/>
                <a:ea typeface="Calibri"/>
                <a:cs typeface="Calibri"/>
                <a:sym typeface="Calibri"/>
              </a:rPr>
              <a:t>. Every tag becomes an object. The tree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is rooted at `document`.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&lt;body&gt;                      </a:t>
            </a:r>
            <a:r>
              <a:rPr b="1" lang="en-US" sz="2000">
                <a:solidFill>
                  <a:srgbClr val="666677"/>
                </a:solidFill>
                <a:latin typeface="Courier Prime"/>
                <a:ea typeface="Courier Prime"/>
                <a:cs typeface="Courier Prime"/>
                <a:sym typeface="Courier Prime"/>
              </a:rPr>
              <a:t>- </a:t>
            </a:r>
            <a:r>
              <a:rPr b="1" i="0" lang="en-US" sz="2000" u="none" cap="none" strike="noStrike">
                <a:solidFill>
                  <a:srgbClr val="666677"/>
                </a:solidFill>
                <a:latin typeface="Courier Prime"/>
                <a:ea typeface="Courier Prime"/>
                <a:cs typeface="Courier Prime"/>
                <a:sym typeface="Courier Prime"/>
              </a:rPr>
              <a:t>document.body</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&lt;h1&gt;Todos&lt;/h1&gt;            - an h1 object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&lt;ul&gt;                      - a ul object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&lt;li&gt;read&lt;/li&gt;           - li objects inside</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&lt;/ul&gt;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&lt;/body&gt;</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Your JS gets a reference to that tree and can read and modify it.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Change an object and the browser re-renders the page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immediately. This is the </a:t>
            </a:r>
            <a:r>
              <a:rPr b="1" i="0" lang="en-US" sz="2000" u="none" cap="none" strike="noStrike">
                <a:solidFill>
                  <a:srgbClr val="666677"/>
                </a:solidFill>
                <a:latin typeface="Calibri"/>
                <a:ea typeface="Calibri"/>
                <a:cs typeface="Calibri"/>
                <a:sym typeface="Calibri"/>
              </a:rPr>
              <a:t>DOM</a:t>
            </a:r>
            <a:r>
              <a:rPr b="0" i="0" lang="en-US" sz="2000" u="none" cap="none" strike="noStrike">
                <a:solidFill>
                  <a:srgbClr val="666677"/>
                </a:solidFill>
                <a:latin typeface="Calibri"/>
                <a:ea typeface="Calibri"/>
                <a:cs typeface="Calibri"/>
                <a:sym typeface="Calibri"/>
              </a:rPr>
              <a:t> - Document Object Model.</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0" name="Shape 350"/>
        <p:cNvGrpSpPr/>
        <p:nvPr/>
      </p:nvGrpSpPr>
      <p:grpSpPr>
        <a:xfrm>
          <a:off x="0" y="0"/>
          <a:ext cx="0" cy="0"/>
          <a:chOff x="0" y="0"/>
          <a:chExt cx="0" cy="0"/>
        </a:xfrm>
      </p:grpSpPr>
      <p:sp>
        <p:nvSpPr>
          <p:cNvPr id="351" name="Google Shape;351;g3e679c205eb_0_8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HTML in two minutes</a:t>
            </a:r>
            <a:endParaRPr/>
          </a:p>
        </p:txBody>
      </p:sp>
      <p:sp>
        <p:nvSpPr>
          <p:cNvPr id="352" name="Google Shape;352;g3e679c205eb_0_85"/>
          <p:cNvSpPr txBox="1"/>
          <p:nvPr/>
        </p:nvSpPr>
        <p:spPr>
          <a:xfrm>
            <a:off x="914375" y="1116675"/>
            <a:ext cx="10362900" cy="626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HTML is </a:t>
            </a:r>
            <a:r>
              <a:rPr b="1" i="0" lang="en-US" sz="2400" u="none" cap="none" strike="noStrike">
                <a:solidFill>
                  <a:srgbClr val="333344"/>
                </a:solidFill>
                <a:latin typeface="Calibri"/>
                <a:ea typeface="Calibri"/>
                <a:cs typeface="Calibri"/>
                <a:sym typeface="Calibri"/>
              </a:rPr>
              <a:t>tags wrapping content</a:t>
            </a:r>
            <a:r>
              <a:rPr b="0" i="0" lang="en-US" sz="2400" u="none" cap="none" strike="noStrike">
                <a:solidFill>
                  <a:srgbClr val="333344"/>
                </a:solidFill>
                <a:latin typeface="Calibri"/>
                <a:ea typeface="Calibri"/>
                <a:cs typeface="Calibri"/>
                <a:sym typeface="Calibri"/>
              </a:rPr>
              <a:t>. Tags nest. The browser parses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page top-to-bottom into the object tree from the last slide.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`&lt;h1&gt;My Todos&lt;/h1&gt;`     - a heading</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`&lt;button&gt;Add&lt;/button&gt;`  - a button</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`&lt;ul&gt;&lt;li&gt;...&lt;/li&gt;&lt;/ul&gt;` - a list with items inside</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Tags carry </a:t>
            </a:r>
            <a:r>
              <a:rPr b="1" i="0" lang="en-US" sz="2400" u="none" cap="none" strike="noStrike">
                <a:solidFill>
                  <a:srgbClr val="333344"/>
                </a:solidFill>
                <a:latin typeface="Calibri"/>
                <a:ea typeface="Calibri"/>
                <a:cs typeface="Calibri"/>
                <a:sym typeface="Calibri"/>
              </a:rPr>
              <a:t>attributes</a:t>
            </a:r>
            <a:r>
              <a:rPr b="0" i="0" lang="en-US" sz="2400" u="none" cap="none" strike="noStrike">
                <a:solidFill>
                  <a:srgbClr val="333344"/>
                </a:solidFill>
                <a:latin typeface="Calibri"/>
                <a:ea typeface="Calibri"/>
                <a:cs typeface="Calibri"/>
                <a:sym typeface="Calibri"/>
              </a:rPr>
              <a:t> - name=value pairs inside the opening tag: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`id="new-todo"`</a:t>
            </a:r>
            <a:r>
              <a:rPr b="0" i="0" lang="en-US" sz="2000" u="none" cap="none" strike="noStrike">
                <a:solidFill>
                  <a:srgbClr val="666677"/>
                </a:solidFill>
                <a:latin typeface="Calibri"/>
                <a:ea typeface="Calibri"/>
                <a:cs typeface="Calibri"/>
                <a:sym typeface="Calibri"/>
              </a:rPr>
              <a:t> - a unique handle for this one element on the page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`class="done"` </a:t>
            </a:r>
            <a:r>
              <a:rPr b="0" i="0" lang="en-US" sz="2000" u="none" cap="none" strike="noStrike">
                <a:solidFill>
                  <a:srgbClr val="666677"/>
                </a:solidFill>
                <a:latin typeface="Calibri"/>
                <a:ea typeface="Calibri"/>
                <a:cs typeface="Calibri"/>
                <a:sym typeface="Calibri"/>
              </a:rPr>
              <a:t> - a group label, mainly used to hook CSS to it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`src=`, `href=`</a:t>
            </a:r>
            <a:r>
              <a:rPr b="0" i="0" lang="en-US" sz="2000" u="none" cap="none" strike="noStrike">
                <a:solidFill>
                  <a:srgbClr val="666677"/>
                </a:solidFill>
                <a:latin typeface="Calibri"/>
                <a:ea typeface="Calibri"/>
                <a:cs typeface="Calibri"/>
                <a:sym typeface="Calibri"/>
              </a:rPr>
              <a:t> - point at images, scripts, other pages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Two tags do special jobs we'll lean on: </a:t>
            </a:r>
            <a:r>
              <a:rPr b="1" i="0" lang="en-US" sz="2400" u="none" cap="none" strike="noStrike">
                <a:solidFill>
                  <a:srgbClr val="333344"/>
                </a:solidFill>
                <a:latin typeface="Calibri"/>
                <a:ea typeface="Calibri"/>
                <a:cs typeface="Calibri"/>
                <a:sym typeface="Calibri"/>
              </a:rPr>
              <a:t>`&lt;script src="..."&gt;`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loads JavaScript, </a:t>
            </a:r>
            <a:r>
              <a:rPr b="1" i="0" lang="en-US" sz="2000" u="none" cap="none" strike="noStrike">
                <a:solidFill>
                  <a:srgbClr val="666677"/>
                </a:solidFill>
                <a:latin typeface="Calibri"/>
                <a:ea typeface="Calibri"/>
                <a:cs typeface="Calibri"/>
                <a:sym typeface="Calibri"/>
              </a:rPr>
              <a:t>`&lt;link rel="stylesheet"&gt;`</a:t>
            </a:r>
            <a:r>
              <a:rPr b="0" i="0" lang="en-US" sz="2000" u="none" cap="none" strike="noStrike">
                <a:solidFill>
                  <a:srgbClr val="666677"/>
                </a:solidFill>
                <a:latin typeface="Calibri"/>
                <a:ea typeface="Calibri"/>
                <a:cs typeface="Calibri"/>
                <a:sym typeface="Calibri"/>
              </a:rPr>
              <a:t> loads CSS.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g3e679c205eb_0_9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CSS in two minutes</a:t>
            </a:r>
            <a:endParaRPr/>
          </a:p>
        </p:txBody>
      </p:sp>
      <p:sp>
        <p:nvSpPr>
          <p:cNvPr id="359" name="Google Shape;359;g3e679c205eb_0_91"/>
          <p:cNvSpPr txBox="1"/>
          <p:nvPr/>
        </p:nvSpPr>
        <p:spPr>
          <a:xfrm>
            <a:off x="914400" y="1463040"/>
            <a:ext cx="10362900" cy="549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CSS attaches </a:t>
            </a:r>
            <a:r>
              <a:rPr b="1" i="0" lang="en-US" sz="2400" u="none" cap="none" strike="noStrike">
                <a:solidFill>
                  <a:srgbClr val="333344"/>
                </a:solidFill>
                <a:latin typeface="Calibri"/>
                <a:ea typeface="Calibri"/>
                <a:cs typeface="Calibri"/>
                <a:sym typeface="Calibri"/>
              </a:rPr>
              <a:t>visual rules</a:t>
            </a:r>
            <a:r>
              <a:rPr b="0" i="0" lang="en-US" sz="2400" u="none" cap="none" strike="noStrike">
                <a:solidFill>
                  <a:srgbClr val="333344"/>
                </a:solidFill>
                <a:latin typeface="Calibri"/>
                <a:ea typeface="Calibri"/>
                <a:cs typeface="Calibri"/>
                <a:sym typeface="Calibri"/>
              </a:rPr>
              <a:t> to elements - color, spacing, font,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layout. The browser keeps a stylesheet alongside the DOM tree.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rule is </a:t>
            </a:r>
            <a:r>
              <a:rPr b="1" i="0" lang="en-US" sz="2400" u="none" cap="none" strike="noStrike">
                <a:solidFill>
                  <a:srgbClr val="333344"/>
                </a:solidFill>
                <a:latin typeface="Courier Prime"/>
                <a:ea typeface="Courier Prime"/>
                <a:cs typeface="Courier Prime"/>
                <a:sym typeface="Courier Prime"/>
              </a:rPr>
              <a:t>selector { property: value; }</a:t>
            </a:r>
            <a:r>
              <a:rPr b="0" i="0" lang="en-US" sz="2400" u="none" cap="none" strike="noStrike">
                <a:solidFill>
                  <a:srgbClr val="333344"/>
                </a:solidFill>
                <a:latin typeface="Calibri"/>
                <a:ea typeface="Calibri"/>
                <a:cs typeface="Calibri"/>
                <a:sym typeface="Calibri"/>
              </a:rPr>
              <a:t>. </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`#new-todo { width: 300px; }`                  - by id</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`.done    { text-decoration: line-through; }`  - by class</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`li       { padding: 4px; }`                   - by tag</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Three ways to attach CSS to a page: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ourier Prime"/>
                <a:ea typeface="Courier Prime"/>
                <a:cs typeface="Courier Prime"/>
                <a:sym typeface="Courier Prime"/>
              </a:rPr>
              <a:t>&lt;style&gt;</a:t>
            </a:r>
            <a:r>
              <a:rPr b="0" i="0" lang="en-US" sz="2000" u="none" cap="none" strike="noStrike">
                <a:solidFill>
                  <a:srgbClr val="666677"/>
                </a:solidFill>
                <a:latin typeface="Calibri"/>
                <a:ea typeface="Calibri"/>
                <a:cs typeface="Calibri"/>
                <a:sym typeface="Calibri"/>
              </a:rPr>
              <a:t>` block in `</a:t>
            </a:r>
            <a:r>
              <a:rPr b="1" i="0" lang="en-US" sz="2000" u="none" cap="none" strike="noStrike">
                <a:solidFill>
                  <a:srgbClr val="666677"/>
                </a:solidFill>
                <a:latin typeface="Courier Prime"/>
                <a:ea typeface="Courier Prime"/>
                <a:cs typeface="Courier Prime"/>
                <a:sym typeface="Courier Prime"/>
              </a:rPr>
              <a:t>&lt;head&gt;</a:t>
            </a:r>
            <a:r>
              <a:rPr b="0" i="0" lang="en-US" sz="2000" u="none" cap="none" strike="noStrike">
                <a:solidFill>
                  <a:srgbClr val="666677"/>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an external `.css` file via `</a:t>
            </a:r>
            <a:r>
              <a:rPr b="1" i="0" lang="en-US" sz="2000" u="none" cap="none" strike="noStrike">
                <a:solidFill>
                  <a:srgbClr val="666677"/>
                </a:solidFill>
                <a:latin typeface="Courier Prime"/>
                <a:ea typeface="Courier Prime"/>
                <a:cs typeface="Courier Prime"/>
                <a:sym typeface="Courier Prime"/>
              </a:rPr>
              <a:t>&lt;link rel="stylesheet"&gt;</a:t>
            </a:r>
            <a:r>
              <a:rPr b="0" i="0" lang="en-US" sz="2000" u="none" cap="none" strike="noStrike">
                <a:solidFill>
                  <a:srgbClr val="666677"/>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or `</a:t>
            </a:r>
            <a:r>
              <a:rPr b="1" i="0" lang="en-US" sz="2000" u="none" cap="none" strike="noStrike">
                <a:solidFill>
                  <a:srgbClr val="666677"/>
                </a:solidFill>
                <a:latin typeface="Courier Prime"/>
                <a:ea typeface="Courier Prime"/>
                <a:cs typeface="Courier Prime"/>
                <a:sym typeface="Courier Prime"/>
              </a:rPr>
              <a:t>style="..."</a:t>
            </a:r>
            <a:r>
              <a:rPr b="0" i="0" lang="en-US" sz="2000" u="none" cap="none" strike="noStrike">
                <a:solidFill>
                  <a:srgbClr val="666677"/>
                </a:solidFill>
                <a:latin typeface="Calibri"/>
                <a:ea typeface="Calibri"/>
                <a:cs typeface="Calibri"/>
                <a:sym typeface="Calibri"/>
              </a:rPr>
              <a:t>` inline on a single tag.</a:t>
            </a:r>
            <a:endParaRPr/>
          </a:p>
          <a:p>
            <a:pPr indent="0" lvl="1" marL="457200" marR="0" rtl="0" algn="l">
              <a:spcBef>
                <a:spcPts val="60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4" name="Shape 364"/>
        <p:cNvGrpSpPr/>
        <p:nvPr/>
      </p:nvGrpSpPr>
      <p:grpSpPr>
        <a:xfrm>
          <a:off x="0" y="0"/>
          <a:ext cx="0" cy="0"/>
          <a:chOff x="0" y="0"/>
          <a:chExt cx="0" cy="0"/>
        </a:xfrm>
      </p:grpSpPr>
      <p:sp>
        <p:nvSpPr>
          <p:cNvPr id="365" name="Google Shape;365;g3e679c205eb_0_17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CSS in two minutes</a:t>
            </a:r>
            <a:endParaRPr/>
          </a:p>
        </p:txBody>
      </p:sp>
      <p:sp>
        <p:nvSpPr>
          <p:cNvPr id="366" name="Google Shape;366;g3e679c205eb_0_172"/>
          <p:cNvSpPr txBox="1"/>
          <p:nvPr/>
        </p:nvSpPr>
        <p:spPr>
          <a:xfrm>
            <a:off x="914400" y="1463040"/>
            <a:ext cx="10362900" cy="511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CSS attaches </a:t>
            </a:r>
            <a:r>
              <a:rPr b="1" i="0" lang="en-US" sz="2400" u="none" cap="none" strike="noStrike">
                <a:solidFill>
                  <a:srgbClr val="333344"/>
                </a:solidFill>
                <a:latin typeface="Calibri"/>
                <a:ea typeface="Calibri"/>
                <a:cs typeface="Calibri"/>
                <a:sym typeface="Calibri"/>
              </a:rPr>
              <a:t>visual rules</a:t>
            </a:r>
            <a:r>
              <a:rPr b="0" i="0" lang="en-US" sz="2400" u="none" cap="none" strike="noStrike">
                <a:solidFill>
                  <a:srgbClr val="333344"/>
                </a:solidFill>
                <a:latin typeface="Calibri"/>
                <a:ea typeface="Calibri"/>
                <a:cs typeface="Calibri"/>
                <a:sym typeface="Calibri"/>
              </a:rPr>
              <a:t> to elements - color, spacing, font,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layout. The browser keeps a stylesheet alongside the DOM tree.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rule is </a:t>
            </a:r>
            <a:r>
              <a:rPr b="1" i="0" lang="en-US" sz="2400" u="none" cap="none" strike="noStrike">
                <a:solidFill>
                  <a:srgbClr val="333344"/>
                </a:solidFill>
                <a:latin typeface="Courier Prime"/>
                <a:ea typeface="Courier Prime"/>
                <a:cs typeface="Courier Prime"/>
                <a:sym typeface="Courier Prime"/>
              </a:rPr>
              <a:t>selector { property: value; }</a:t>
            </a:r>
            <a:r>
              <a:rPr b="0" i="0" lang="en-US" sz="2400" u="none" cap="none" strike="noStrike">
                <a:solidFill>
                  <a:srgbClr val="333344"/>
                </a:solidFill>
                <a:latin typeface="Calibri"/>
                <a:ea typeface="Calibri"/>
                <a:cs typeface="Calibri"/>
                <a:sym typeface="Calibri"/>
              </a:rPr>
              <a:t>. </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`#new-todo { width: 300px; }`                  - by id</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`.done    { text-decoration: line-through; }`  - by class</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`li       { padding: 4px; }`                   - by tag</a:t>
            </a:r>
            <a:endParaRPr b="1">
              <a:latin typeface="Courier Prime"/>
              <a:ea typeface="Courier Prime"/>
              <a:cs typeface="Courier Prime"/>
              <a:sym typeface="Courier Prime"/>
            </a:endParaRPr>
          </a:p>
          <a:p>
            <a:pPr indent="0" lvl="1" marL="457200" marR="0" rtl="0" algn="l">
              <a:spcBef>
                <a:spcPts val="600"/>
              </a:spcBef>
              <a:spcAft>
                <a:spcPts val="0"/>
              </a:spcAft>
              <a:buNone/>
            </a:pPr>
            <a:r>
              <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Change which classes an element has and the matching rules apply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or stop applying. </a:t>
            </a:r>
            <a:r>
              <a:rPr b="1" i="0" lang="en-US" sz="2000" u="none" cap="none" strike="noStrike">
                <a:solidFill>
                  <a:srgbClr val="666677"/>
                </a:solidFill>
                <a:latin typeface="Calibri"/>
                <a:ea typeface="Calibri"/>
                <a:cs typeface="Calibri"/>
                <a:sym typeface="Calibri"/>
              </a:rPr>
              <a:t>`list.classList.toggle("done")` two slides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from now is exactly that</a:t>
            </a:r>
            <a:r>
              <a:rPr b="0" i="0" lang="en-US" sz="2000" u="none" cap="none" strike="noStrike">
                <a:solidFill>
                  <a:srgbClr val="666677"/>
                </a:solidFill>
                <a:latin typeface="Calibri"/>
                <a:ea typeface="Calibri"/>
                <a:cs typeface="Calibri"/>
                <a:sym typeface="Calibri"/>
              </a:rPr>
              <a:t> - flipping which CSS rules hit.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g3e679c205eb_0_273"/>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tiny HTML file we'll work against</a:t>
            </a:r>
            <a:endParaRPr/>
          </a:p>
        </p:txBody>
      </p:sp>
      <p:sp>
        <p:nvSpPr>
          <p:cNvPr id="373" name="Google Shape;373;g3e679c205eb_0_273"/>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HTML</a:t>
            </a:r>
            <a:endParaRPr/>
          </a:p>
        </p:txBody>
      </p:sp>
      <p:sp>
        <p:nvSpPr>
          <p:cNvPr id="374" name="Google Shape;374;g3e679c205eb_0_273"/>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g3e679c205eb_0_273"/>
          <p:cNvSpPr txBox="1"/>
          <p:nvPr/>
        </p:nvSpPr>
        <p:spPr>
          <a:xfrm>
            <a:off x="1005840" y="1645920"/>
            <a:ext cx="10179900" cy="458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&lt;!DOCTYPE html&gt;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&lt;html&gt;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&lt;head&gt;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&lt;title&gt;Todos&lt;/title&gt;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&lt;link rel="stylesheet" href="app.css"&gt;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&lt;/head&gt;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&lt;body&gt;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&lt;h1&gt;My Todos&lt;/h1&gt;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&lt;input id="new-todo" type="text" placeholder="What to do?"&gt;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&lt;button id="add-button"&gt;Add&lt;/button&gt;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&lt;ul id="todo-list"&gt;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&lt;li&gt;read the JS notes&lt;/li&gt;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&lt;li&gt;write a fetch example&lt;/li&gt;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&lt;script src="app.js"&gt;&lt;/script&gt;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&lt;/body&gt;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&lt;/html&gt;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g3e679c205eb_0_281"/>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...and the CSS file it pulls in</a:t>
            </a:r>
            <a:endParaRPr/>
          </a:p>
        </p:txBody>
      </p:sp>
      <p:sp>
        <p:nvSpPr>
          <p:cNvPr id="382" name="Google Shape;382;g3e679c205eb_0_281"/>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CSS</a:t>
            </a:r>
            <a:endParaRPr/>
          </a:p>
        </p:txBody>
      </p:sp>
      <p:sp>
        <p:nvSpPr>
          <p:cNvPr id="383" name="Google Shape;383;g3e679c205eb_0_281"/>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g3e679c205eb_0_281"/>
          <p:cNvSpPr txBox="1"/>
          <p:nvPr/>
        </p:nvSpPr>
        <p:spPr>
          <a:xfrm>
            <a:off x="1005840" y="1645920"/>
            <a:ext cx="10179900" cy="470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app.css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body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font-family: sans-serif;</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max-width: 500px;</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margin: 2rem auto;</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h1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color: #222;</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li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padding: 4px 0;</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cursor: pointer;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.done {</a:t>
            </a:r>
            <a:endParaRPr b="1"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text-decoration: line-through;</a:t>
            </a:r>
            <a:endParaRPr b="1"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color: gray;</a:t>
            </a:r>
            <a:endParaRPr b="1"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b="1" sz="16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g3e679c205eb_0_490"/>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Selecting elements</a:t>
            </a:r>
            <a:endParaRPr/>
          </a:p>
        </p:txBody>
      </p:sp>
      <p:sp>
        <p:nvSpPr>
          <p:cNvPr id="391" name="Google Shape;391;g3e679c205eb_0_490"/>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92" name="Google Shape;392;g3e679c205eb_0_490"/>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g3e679c205eb_0_490"/>
          <p:cNvSpPr txBox="1"/>
          <p:nvPr/>
        </p:nvSpPr>
        <p:spPr>
          <a:xfrm>
            <a:off x="1005840" y="1645920"/>
            <a:ext cx="10179900" cy="237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document.querySelector takes a CSS selector, returns the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first matching element (or null if none match).</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heading = document.querySelector("h1");</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input   = document.querySelector("#new-todo") as HTMLInputElement;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button  = document.querySelector("#add-button") as HTMLButtonElement;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list    = document.querySelector("#todo-list") as HTMLUListElement;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selects by id, . selects by class, tag names select by tag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20"/>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Selecting elements</a:t>
            </a:r>
            <a:endParaRPr/>
          </a:p>
        </p:txBody>
      </p:sp>
      <p:sp>
        <p:nvSpPr>
          <p:cNvPr id="400" name="Google Shape;400;p20"/>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01" name="Google Shape;401;p20"/>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2" name="Google Shape;402;p20"/>
          <p:cNvSpPr txBox="1"/>
          <p:nvPr/>
        </p:nvSpPr>
        <p:spPr>
          <a:xfrm>
            <a:off x="1005840" y="1645920"/>
            <a:ext cx="10179900" cy="314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document.querySelector takes a CSS selector, returns the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first matching element (or null if none match).</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document.querySelectorAll returns a list of all matches</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the space in "#todo-list li" means "&lt;li&gt;s INSIDE #todo-list" - gets the children</a:t>
            </a:r>
            <a:endParaRPr b="1" sz="15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items = document.querySelectorAll("#todo-list li");</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items is a NodeList - like an array, iterate with forEach</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items.forEach((li) =&gt;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console.log(li.textContent);  // "read the JS notes", etc.</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 name="Shape 407"/>
        <p:cNvGrpSpPr/>
        <p:nvPr/>
      </p:nvGrpSpPr>
      <p:grpSpPr>
        <a:xfrm>
          <a:off x="0" y="0"/>
          <a:ext cx="0" cy="0"/>
          <a:chOff x="0" y="0"/>
          <a:chExt cx="0" cy="0"/>
        </a:xfrm>
      </p:grpSpPr>
      <p:sp>
        <p:nvSpPr>
          <p:cNvPr id="408" name="Google Shape;408;g3e679c205eb_0_507"/>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Modifying and creating elements</a:t>
            </a:r>
            <a:endParaRPr/>
          </a:p>
        </p:txBody>
      </p:sp>
      <p:sp>
        <p:nvSpPr>
          <p:cNvPr id="409" name="Google Shape;409;g3e679c205eb_0_507"/>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10" name="Google Shape;410;g3e679c205eb_0_507"/>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g3e679c205eb_0_507"/>
          <p:cNvSpPr txBox="1"/>
          <p:nvPr/>
        </p:nvSpPr>
        <p:spPr>
          <a:xfrm>
            <a:off x="1005840" y="1645920"/>
            <a:ext cx="10179900" cy="136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Reading and writing properties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text: string = input.value;     // what the user typed</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heading.textContent = "Updated Todos";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input.value = "";                       // clear the input</a:t>
            </a:r>
            <a:endParaRPr sz="1600"/>
          </a:p>
          <a:p>
            <a:pPr indent="0" lvl="0" marL="0" marR="0" rtl="0" algn="l">
              <a:spcBef>
                <a:spcPts val="200"/>
              </a:spcBef>
              <a:spcAft>
                <a:spcPts val="0"/>
              </a:spcAft>
              <a:buNone/>
            </a:pPr>
            <a:r>
              <a:t/>
            </a:r>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sp>
        <p:nvSpPr>
          <p:cNvPr id="417" name="Google Shape;417;g3e679c205eb_0_499"/>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Modifying and creating elements</a:t>
            </a:r>
            <a:endParaRPr/>
          </a:p>
        </p:txBody>
      </p:sp>
      <p:sp>
        <p:nvSpPr>
          <p:cNvPr id="418" name="Google Shape;418;g3e679c205eb_0_499"/>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19" name="Google Shape;419;g3e679c205eb_0_499"/>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g3e679c205eb_0_499"/>
          <p:cNvSpPr txBox="1"/>
          <p:nvPr/>
        </p:nvSpPr>
        <p:spPr>
          <a:xfrm>
            <a:off x="1005840" y="1645920"/>
            <a:ext cx="10179900" cy="264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Reading and writing properties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text: string = input.value;     // what the user typed</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heading.textContent = "Updated Todos";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input.value = "";                       // clear the input</a:t>
            </a:r>
            <a:endParaRPr sz="1600"/>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CSS classes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list.classList.add("loading");</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list.classList.remove("loading");</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list.classList.toggle("dark-mode");</a:t>
            </a:r>
            <a:endParaRPr sz="1600"/>
          </a:p>
          <a:p>
            <a:pPr indent="0" lvl="0" marL="0" marR="0" rtl="0" algn="l">
              <a:spcBef>
                <a:spcPts val="200"/>
              </a:spcBef>
              <a:spcAft>
                <a:spcPts val="0"/>
              </a:spcAft>
              <a:buNone/>
            </a:pPr>
            <a:r>
              <a:t/>
            </a:r>
            <a:endParaRPr sz="1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21"/>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Modifying and creating elements</a:t>
            </a:r>
            <a:endParaRPr/>
          </a:p>
        </p:txBody>
      </p:sp>
      <p:sp>
        <p:nvSpPr>
          <p:cNvPr id="427" name="Google Shape;427;p21"/>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28" name="Google Shape;428;p21"/>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21"/>
          <p:cNvSpPr txBox="1"/>
          <p:nvPr/>
        </p:nvSpPr>
        <p:spPr>
          <a:xfrm>
            <a:off x="1005840" y="1645920"/>
            <a:ext cx="10179900" cy="4699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Reading and writing properties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text: string = input.value;     // what the user typed</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heading.textContent = "Updated Todos";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input.value = "";                       // clear the input</a:t>
            </a:r>
            <a:endParaRPr sz="1600"/>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CSS classes</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list.classList.add("loading");</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list.classList.remove("loading");</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list.classList.toggle("dark-mode");</a:t>
            </a:r>
            <a:endParaRPr sz="1600"/>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Build a brand new &lt;li&gt; element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const newItem = document.createElement("li");</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newItem.textContent = "pick up milk";</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list.append(newItem);</a:t>
            </a:r>
            <a:endParaRPr sz="1700"/>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Remove an element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newItem.remove();</a:t>
            </a:r>
            <a:endParaRPr sz="1600"/>
          </a:p>
          <a:p>
            <a:pPr indent="0" lvl="0" marL="0" marR="0" rtl="0" algn="l">
              <a:spcBef>
                <a:spcPts val="200"/>
              </a:spcBef>
              <a:spcAft>
                <a:spcPts val="0"/>
              </a:spcAft>
              <a:buNone/>
            </a:pPr>
            <a:r>
              <a:t/>
            </a:r>
            <a:endParaRPr sz="16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g3e679c205eb_0_178"/>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How event-driven code works</a:t>
            </a:r>
            <a:endParaRPr/>
          </a:p>
        </p:txBody>
      </p:sp>
      <p:sp>
        <p:nvSpPr>
          <p:cNvPr id="436" name="Google Shape;436;g3e679c205eb_0_178"/>
          <p:cNvSpPr txBox="1"/>
          <p:nvPr/>
        </p:nvSpPr>
        <p:spPr>
          <a:xfrm>
            <a:off x="914400" y="1131115"/>
            <a:ext cx="10362900" cy="273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Most of the code you've written this semester ran top to bottom.</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Python script starts, runs every line in order, exits.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Test runs, asserts happen, test ends.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web page doesn't work that way.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a:t>
            </a:r>
            <a:r>
              <a:rPr lang="en-US" sz="2000">
                <a:solidFill>
                  <a:srgbClr val="666677"/>
                </a:solidFill>
                <a:latin typeface="Calibri"/>
                <a:ea typeface="Calibri"/>
                <a:cs typeface="Calibri"/>
                <a:sym typeface="Calibri"/>
              </a:rPr>
              <a:t>age loads, code runs </a:t>
            </a:r>
            <a:r>
              <a:rPr b="0" i="0" lang="en-US" sz="2000" u="none" cap="none" strike="noStrike">
                <a:solidFill>
                  <a:srgbClr val="666677"/>
                </a:solidFill>
                <a:latin typeface="Calibri"/>
                <a:ea typeface="Calibri"/>
                <a:cs typeface="Calibri"/>
                <a:sym typeface="Calibri"/>
              </a:rPr>
              <a:t>once to set things up, and then... </a:t>
            </a:r>
            <a:r>
              <a:rPr b="1" i="0" lang="en-US" sz="2000" u="none" cap="none" strike="noStrike">
                <a:solidFill>
                  <a:srgbClr val="666677"/>
                </a:solidFill>
                <a:latin typeface="Calibri"/>
                <a:ea typeface="Calibri"/>
                <a:cs typeface="Calibri"/>
                <a:sym typeface="Calibri"/>
              </a:rPr>
              <a:t>nothing</a:t>
            </a:r>
            <a:r>
              <a:rPr b="0" i="0" lang="en-US" sz="2000" u="none" cap="none" strike="noStrike">
                <a:solidFill>
                  <a:srgbClr val="666677"/>
                </a:solidFill>
                <a:latin typeface="Calibri"/>
                <a:ea typeface="Calibri"/>
                <a:cs typeface="Calibri"/>
                <a:sym typeface="Calibri"/>
              </a:rPr>
              <a:t>. </a:t>
            </a:r>
            <a:endParaRPr/>
          </a:p>
          <a:p>
            <a:pPr indent="0" lvl="1" marL="457200" marR="0" rtl="0" algn="l">
              <a:spcBef>
                <a:spcPts val="60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g3e679c205eb_0_184"/>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How event-driven code works</a:t>
            </a:r>
            <a:endParaRPr/>
          </a:p>
        </p:txBody>
      </p:sp>
      <p:sp>
        <p:nvSpPr>
          <p:cNvPr id="443" name="Google Shape;443;g3e679c205eb_0_184"/>
          <p:cNvSpPr txBox="1"/>
          <p:nvPr/>
        </p:nvSpPr>
        <p:spPr>
          <a:xfrm>
            <a:off x="914400" y="1131115"/>
            <a:ext cx="10362900" cy="380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Most of the code you've written this semester ran top to bottom.</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Python script starts, runs every line in order, exits.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Test runs, asserts happen, test ends.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web page doesn't work that way.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a:t>
            </a:r>
            <a:r>
              <a:rPr lang="en-US" sz="2000">
                <a:solidFill>
                  <a:srgbClr val="666677"/>
                </a:solidFill>
                <a:latin typeface="Calibri"/>
                <a:ea typeface="Calibri"/>
                <a:cs typeface="Calibri"/>
                <a:sym typeface="Calibri"/>
              </a:rPr>
              <a:t>age loads, code runs </a:t>
            </a:r>
            <a:r>
              <a:rPr b="0" i="0" lang="en-US" sz="2000" u="none" cap="none" strike="noStrike">
                <a:solidFill>
                  <a:srgbClr val="666677"/>
                </a:solidFill>
                <a:latin typeface="Calibri"/>
                <a:ea typeface="Calibri"/>
                <a:cs typeface="Calibri"/>
                <a:sym typeface="Calibri"/>
              </a:rPr>
              <a:t>once to set things up, and then... </a:t>
            </a:r>
            <a:r>
              <a:rPr b="1" i="0" lang="en-US" sz="2000" u="none" cap="none" strike="noStrike">
                <a:solidFill>
                  <a:srgbClr val="666677"/>
                </a:solidFill>
                <a:latin typeface="Calibri"/>
                <a:ea typeface="Calibri"/>
                <a:cs typeface="Calibri"/>
                <a:sym typeface="Calibri"/>
              </a:rPr>
              <a:t>nothing</a:t>
            </a:r>
            <a:r>
              <a:rPr b="0" i="0" lang="en-US" sz="2000" u="none" cap="none" strike="noStrike">
                <a:solidFill>
                  <a:srgbClr val="666677"/>
                </a:solidFill>
                <a:latin typeface="Calibri"/>
                <a:ea typeface="Calibri"/>
                <a:cs typeface="Calibri"/>
                <a:sym typeface="Calibri"/>
              </a:rPr>
              <a:t>. </a:t>
            </a:r>
            <a:endParaRPr/>
          </a:p>
          <a:p>
            <a:pPr indent="0" lvl="1" marL="0" marR="0" rtl="0" algn="l">
              <a:spcBef>
                <a:spcPts val="600"/>
              </a:spcBef>
              <a:spcAft>
                <a:spcPts val="0"/>
              </a:spcAft>
              <a:buNone/>
            </a:pPr>
            <a:r>
              <a:t/>
            </a:r>
            <a:endParaRPr/>
          </a:p>
          <a:p>
            <a:pPr indent="0" lvl="1" marL="0" marR="0" rtl="0" algn="l">
              <a:spcBef>
                <a:spcPts val="600"/>
              </a:spcBef>
              <a:spcAft>
                <a:spcPts val="0"/>
              </a:spcAft>
              <a:buNone/>
            </a:pPr>
            <a:r>
              <a:t/>
            </a:r>
            <a:endParaRPr/>
          </a:p>
          <a:p>
            <a:pPr indent="0" lvl="1" marL="0" marR="0" rtl="0" algn="l">
              <a:spcBef>
                <a:spcPts val="600"/>
              </a:spcBef>
              <a:spcAft>
                <a:spcPts val="0"/>
              </a:spcAft>
              <a:buNone/>
            </a:pPr>
            <a:r>
              <a:rPr lang="en-US" sz="2600"/>
              <a:t>The JavaScript isn't "waiting" anywhere. It just stopped running.</a:t>
            </a:r>
            <a:endParaRPr sz="2600"/>
          </a:p>
          <a:p>
            <a:pPr indent="0" lvl="1" marL="0" marR="0" rtl="0" algn="l">
              <a:spcBef>
                <a:spcPts val="60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2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How event-driven code works</a:t>
            </a:r>
            <a:endParaRPr/>
          </a:p>
        </p:txBody>
      </p:sp>
      <p:sp>
        <p:nvSpPr>
          <p:cNvPr id="450" name="Google Shape;450;p22"/>
          <p:cNvSpPr txBox="1"/>
          <p:nvPr/>
        </p:nvSpPr>
        <p:spPr>
          <a:xfrm>
            <a:off x="914400" y="1131115"/>
            <a:ext cx="10362900" cy="20625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When the user clicks a button, the browser </a:t>
            </a:r>
            <a:r>
              <a:rPr b="1" i="0" lang="en-US" sz="2400" u="none" cap="none" strike="noStrike">
                <a:solidFill>
                  <a:srgbClr val="333344"/>
                </a:solidFill>
                <a:latin typeface="Calibri"/>
                <a:ea typeface="Calibri"/>
                <a:cs typeface="Calibri"/>
                <a:sym typeface="Calibri"/>
              </a:rPr>
              <a:t>fires an event</a:t>
            </a:r>
            <a:r>
              <a:rPr b="0" i="0" lang="en-US" sz="2400" u="none" cap="none" strike="noStrike">
                <a:solidFill>
                  <a:srgbClr val="333344"/>
                </a:solidFill>
                <a:latin typeface="Calibri"/>
                <a:ea typeface="Calibri"/>
                <a:cs typeface="Calibri"/>
                <a:sym typeface="Calibri"/>
              </a:rPr>
              <a:t>. If</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previously registered a function for that event, the browser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calls your function with an event object.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 register a callback</a:t>
            </a:r>
            <a:r>
              <a:rPr lang="en-US" sz="2400">
                <a:solidFill>
                  <a:srgbClr val="333344"/>
                </a:solidFill>
                <a:latin typeface="Calibri"/>
                <a:ea typeface="Calibri"/>
                <a:cs typeface="Calibri"/>
                <a:sym typeface="Calibri"/>
              </a:rPr>
              <a:t>, t</a:t>
            </a:r>
            <a:r>
              <a:rPr b="0" i="0" lang="en-US" sz="2400" u="none" cap="none" strike="noStrike">
                <a:solidFill>
                  <a:srgbClr val="333344"/>
                </a:solidFill>
                <a:latin typeface="Calibri"/>
                <a:ea typeface="Calibri"/>
                <a:cs typeface="Calibri"/>
                <a:sym typeface="Calibri"/>
              </a:rPr>
              <a:t>he browser calls it later.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2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addEventListener: register, then react</a:t>
            </a:r>
            <a:endParaRPr/>
          </a:p>
        </p:txBody>
      </p:sp>
      <p:sp>
        <p:nvSpPr>
          <p:cNvPr id="457" name="Google Shape;457;p23"/>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58" name="Google Shape;458;p23"/>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23"/>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addEventListener(name, fn). Names: "click", "input", "submit".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"submit" reloads the page by default - call preventDefault to stay.</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input  = document.querySelector("#new-todo")  as HTMLInputElement;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button = document.querySelector("#add-button") as HTMLButtonElement;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const list   = document.querySelector("#todo-list")  as HTMLUListElement;</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button.addEventListener("click", () =&gt;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1. read what the user typed</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text: string = input.value.trim();</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if (text === "") return;</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2. build a new &lt;li&gt; and 3. append to the list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li = document.createElement("li");</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li.textContent = text;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list.append(li);</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4. clear the input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input.value =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24"/>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TRY IT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Strike through todos when clicked</a:t>
            </a:r>
            <a:endParaRPr/>
          </a:p>
        </p:txBody>
      </p:sp>
      <p:sp>
        <p:nvSpPr>
          <p:cNvPr id="466" name="Google Shape;466;p24"/>
          <p:cNvSpPr/>
          <p:nvPr/>
        </p:nvSpPr>
        <p:spPr>
          <a:xfrm>
            <a:off x="640080" y="228600"/>
            <a:ext cx="1097280" cy="365760"/>
          </a:xfrm>
          <a:prstGeom prst="roundRect">
            <a:avLst>
              <a:gd fmla="val 16667" name="adj"/>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4"/>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24"/>
          <p:cNvSpPr txBox="1"/>
          <p:nvPr/>
        </p:nvSpPr>
        <p:spPr>
          <a:xfrm>
            <a:off x="1005840" y="1554480"/>
            <a:ext cx="10179900" cy="460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333344"/>
                </a:solidFill>
                <a:latin typeface="Courier New"/>
                <a:ea typeface="Courier New"/>
                <a:cs typeface="Courier New"/>
                <a:sym typeface="Courier New"/>
              </a:rPr>
              <a:t>// Goal: when the user clicks any &lt;li&gt; in #todo-list, toggle a</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"done" class on it.</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Hints:</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 querySelectorAll returns ALL matches</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 classList.toggle flips a class on/off</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 each element needs its OWN click listener</a:t>
            </a:r>
            <a:endParaRPr/>
          </a:p>
          <a:p>
            <a:pPr indent="0" lvl="0" marL="0" marR="0" rtl="0" algn="l">
              <a:spcBef>
                <a:spcPts val="200"/>
              </a:spcBef>
              <a:spcAft>
                <a:spcPts val="0"/>
              </a:spcAft>
              <a:buNone/>
            </a:pPr>
            <a:r>
              <a:t/>
            </a:r>
            <a:endParaRPr b="1" sz="18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800">
                <a:solidFill>
                  <a:srgbClr val="B0B0C0"/>
                </a:solidFill>
                <a:latin typeface="Courier New"/>
                <a:ea typeface="Courier New"/>
                <a:cs typeface="Courier New"/>
                <a:sym typeface="Courier New"/>
              </a:rPr>
              <a:t>const items = document.________("#todo-list li");</a:t>
            </a:r>
            <a:endParaRPr/>
          </a:p>
          <a:p>
            <a:pPr indent="0" lvl="0" marL="0" marR="0" rtl="0" algn="l">
              <a:spcBef>
                <a:spcPts val="200"/>
              </a:spcBef>
              <a:spcAft>
                <a:spcPts val="0"/>
              </a:spcAft>
              <a:buNone/>
            </a:pPr>
            <a:r>
              <a:t/>
            </a:r>
            <a:endParaRPr b="1" sz="1800">
              <a:solidFill>
                <a:srgbClr val="B0B0C0"/>
              </a:solidFill>
              <a:latin typeface="Courier New"/>
              <a:ea typeface="Courier New"/>
              <a:cs typeface="Courier New"/>
              <a:sym typeface="Courier New"/>
            </a:endParaRPr>
          </a:p>
          <a:p>
            <a:pPr indent="0" lvl="0" marL="0" marR="0" rtl="0" algn="l">
              <a:spcBef>
                <a:spcPts val="200"/>
              </a:spcBef>
              <a:spcAft>
                <a:spcPts val="0"/>
              </a:spcAft>
              <a:buNone/>
            </a:pPr>
            <a:r>
              <a:rPr b="1" lang="en-US" sz="1800">
                <a:solidFill>
                  <a:srgbClr val="B0B0C0"/>
                </a:solidFill>
                <a:latin typeface="Courier New"/>
                <a:ea typeface="Courier New"/>
                <a:cs typeface="Courier New"/>
                <a:sym typeface="Courier New"/>
              </a:rPr>
              <a:t>items.________((li) =&gt; {</a:t>
            </a:r>
            <a:endParaRPr/>
          </a:p>
          <a:p>
            <a:pPr indent="0" lvl="0" marL="0" marR="0" rtl="0" algn="l">
              <a:spcBef>
                <a:spcPts val="200"/>
              </a:spcBef>
              <a:spcAft>
                <a:spcPts val="0"/>
              </a:spcAft>
              <a:buNone/>
            </a:pPr>
            <a:r>
              <a:rPr b="1" lang="en-US" sz="1800">
                <a:solidFill>
                  <a:srgbClr val="B0B0C0"/>
                </a:solidFill>
                <a:latin typeface="Courier New"/>
                <a:ea typeface="Courier New"/>
                <a:cs typeface="Courier New"/>
                <a:sym typeface="Courier New"/>
              </a:rPr>
              <a:t>    li.________("click", () =&gt; {</a:t>
            </a:r>
            <a:endParaRPr/>
          </a:p>
          <a:p>
            <a:pPr indent="0" lvl="0" marL="0" marR="0" rtl="0" algn="l">
              <a:spcBef>
                <a:spcPts val="200"/>
              </a:spcBef>
              <a:spcAft>
                <a:spcPts val="0"/>
              </a:spcAft>
              <a:buNone/>
            </a:pPr>
            <a:r>
              <a:rPr b="1" lang="en-US" sz="1800">
                <a:solidFill>
                  <a:srgbClr val="B0B0C0"/>
                </a:solidFill>
                <a:latin typeface="Courier New"/>
                <a:ea typeface="Courier New"/>
                <a:cs typeface="Courier New"/>
                <a:sym typeface="Courier New"/>
              </a:rPr>
              <a:t>        li.________.________("________");</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73" name="Shape 473"/>
        <p:cNvGrpSpPr/>
        <p:nvPr/>
      </p:nvGrpSpPr>
      <p:grpSpPr>
        <a:xfrm>
          <a:off x="0" y="0"/>
          <a:ext cx="0" cy="0"/>
          <a:chOff x="0" y="0"/>
          <a:chExt cx="0" cy="0"/>
        </a:xfrm>
      </p:grpSpPr>
      <p:sp>
        <p:nvSpPr>
          <p:cNvPr id="474" name="Google Shape;474;p25"/>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ANSWER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Strike through todos when clicked</a:t>
            </a:r>
            <a:endParaRPr/>
          </a:p>
        </p:txBody>
      </p:sp>
      <p:sp>
        <p:nvSpPr>
          <p:cNvPr id="475" name="Google Shape;475;p25"/>
          <p:cNvSpPr/>
          <p:nvPr/>
        </p:nvSpPr>
        <p:spPr>
          <a:xfrm>
            <a:off x="640080" y="228600"/>
            <a:ext cx="1188720" cy="365760"/>
          </a:xfrm>
          <a:prstGeom prst="roundRect">
            <a:avLst>
              <a:gd fmla="val 16667" name="adj"/>
            </a:avLst>
          </a:prstGeom>
          <a:solidFill>
            <a:srgbClr val="16653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25"/>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5"/>
          <p:cNvSpPr txBox="1"/>
          <p:nvPr/>
        </p:nvSpPr>
        <p:spPr>
          <a:xfrm>
            <a:off x="1005840" y="1554480"/>
            <a:ext cx="10180015" cy="4663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333344"/>
                </a:solidFill>
                <a:latin typeface="Courier New"/>
                <a:ea typeface="Courier New"/>
                <a:cs typeface="Courier New"/>
                <a:sym typeface="Courier New"/>
              </a:rPr>
              <a:t>const items = document.querySelectorAll("#todo-list li");</a:t>
            </a:r>
            <a:endParaRPr/>
          </a:p>
          <a:p>
            <a:pPr indent="0" lvl="0" marL="0" marR="0" rtl="0" algn="l">
              <a:spcBef>
                <a:spcPts val="200"/>
              </a:spcBef>
              <a:spcAft>
                <a:spcPts val="0"/>
              </a:spcAft>
              <a:buNone/>
            </a:pPr>
            <a:r>
              <a:t/>
            </a:r>
            <a:endParaRPr b="1" sz="18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items.forEach((li) =&gt; {</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li.addEventListener("click", () =&gt; {</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li.classList.toggle("done");</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sz="18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sz="18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Why a listener on each &lt;li&gt;?</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Because we want each to respond independently to its own click.</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We could attach one listener to the &lt;ul&gt; instead and check</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event.target to see which &lt;li&gt; was clicked - that's a pattern</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called "event delegation," and it matters when items are added</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and removed dynamically. For a fixed list, per-item is fine.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2" name="Shape 482"/>
        <p:cNvGrpSpPr/>
        <p:nvPr/>
      </p:nvGrpSpPr>
      <p:grpSpPr>
        <a:xfrm>
          <a:off x="0" y="0"/>
          <a:ext cx="0" cy="0"/>
          <a:chOff x="0" y="0"/>
          <a:chExt cx="0" cy="0"/>
        </a:xfrm>
      </p:grpSpPr>
      <p:sp>
        <p:nvSpPr>
          <p:cNvPr id="483" name="Google Shape;483;p2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Where this goes next</a:t>
            </a:r>
            <a:endParaRPr/>
          </a:p>
        </p:txBody>
      </p:sp>
      <p:sp>
        <p:nvSpPr>
          <p:cNvPr id="484" name="Google Shape;484;p26"/>
          <p:cNvSpPr txBox="1"/>
          <p:nvPr/>
        </p:nvSpPr>
        <p:spPr>
          <a:xfrm>
            <a:off x="914388" y="1188815"/>
            <a:ext cx="10362900" cy="514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JavaScript is a ten-day language given a browser to mutate.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Read it with empathy for the constraints; use the modern way.</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`let` and `const`. Never `var`.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 Never `==` (except `x == null`).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`.map()` / `.filter()` / `.reduce()` instead of `for` loops.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TypeScript. Annotate at boundaries; let inference do the rest.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Mutate the DOM via `textContent` and `createElement`, not `innerHTML`.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Register callbacks with `addEventListener`.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Next: the third thing - a way to talk to your </a:t>
            </a:r>
            <a:r>
              <a:rPr lang="en-US" sz="2400">
                <a:solidFill>
                  <a:srgbClr val="333344"/>
                </a:solidFill>
                <a:latin typeface="Calibri"/>
                <a:ea typeface="Calibri"/>
                <a:cs typeface="Calibri"/>
                <a:sym typeface="Calibri"/>
              </a:rPr>
              <a:t>webserver.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Calls involving </a:t>
            </a:r>
            <a:r>
              <a:rPr b="0" i="0" lang="en-US" sz="2000" u="none" cap="none" strike="noStrike">
                <a:solidFill>
                  <a:srgbClr val="666677"/>
                </a:solidFill>
                <a:latin typeface="Calibri"/>
                <a:ea typeface="Calibri"/>
                <a:cs typeface="Calibri"/>
                <a:sym typeface="Calibri"/>
              </a:rPr>
              <a:t>code that has to </a:t>
            </a:r>
            <a:r>
              <a:rPr b="1" i="0" lang="en-US" sz="2000" u="none" cap="none" strike="noStrike">
                <a:solidFill>
                  <a:srgbClr val="666677"/>
                </a:solidFill>
                <a:latin typeface="Calibri"/>
                <a:ea typeface="Calibri"/>
                <a:cs typeface="Calibri"/>
                <a:sym typeface="Calibri"/>
              </a:rPr>
              <a:t>wait</a:t>
            </a:r>
            <a:r>
              <a:rPr lang="en-US"/>
              <a:t> </a:t>
            </a:r>
            <a:r>
              <a:rPr b="0" i="0" lang="en-US" sz="2000" u="none" cap="none" strike="noStrike">
                <a:solidFill>
                  <a:srgbClr val="666677"/>
                </a:solidFill>
                <a:latin typeface="Calibri"/>
                <a:ea typeface="Calibri"/>
                <a:cs typeface="Calibri"/>
                <a:sym typeface="Calibri"/>
              </a:rPr>
              <a:t>before continuing. Promises, async/await.</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After that,</a:t>
            </a:r>
            <a:r>
              <a:rPr b="0" i="0" lang="en-US" sz="2000" u="none" cap="none" strike="noStrike">
                <a:solidFill>
                  <a:srgbClr val="666677"/>
                </a:solidFill>
                <a:latin typeface="Calibri"/>
                <a:ea typeface="Calibri"/>
                <a:cs typeface="Calibri"/>
                <a:sym typeface="Calibri"/>
              </a:rPr>
              <a:t> React.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