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i/aOyYSgi9RLwuVtP9fVoKRvWc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Demos first, then the game for the second half.</a:t>
            </a:r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Get a committed answer out loud before each reveal. Book pointers only if asked.</a:t>
            </a:r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Estimate set memory out loud first: tens of MB per server. Ask: fixed tiny budget?</a:t>
            </a:r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839494688_0_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g3e839494688_0_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~12KB, ~2% error, provable. Redis PFCOUNT. Pointer: Mining of Massive Datasets (free online).</a:t>
            </a:r>
          </a:p>
        </p:txBody>
      </p:sp>
      <p:sp>
        <p:nvSpPr>
          <p:cNvPr id="114" name="Google Shape;114;g3e839494688_0_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839494688_0_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g3e839494688_0_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~12KB, ~2% error, provable. Redis PFCOUNT. Pointer: Mining of Massive Datasets (free online).</a:t>
            </a:r>
          </a:p>
        </p:txBody>
      </p:sp>
      <p:sp>
        <p:nvSpPr>
          <p:cNvPr id="121" name="Google Shape;121;g3e839494688_0_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~12KB, ~2% error, provable. Redis PFCOUNT. Pointer: Mining of Massive Datasets (free online).</a:t>
            </a:r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Let them guess first. Answer: virtual memory, per-process addresses translated by kernel + MMU.</a:t>
            </a:r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839494688_0_8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g3e839494688_0_88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Pointer: OSTEP (free online), Wisconsin OS lectures on YouTube.</a:t>
            </a:r>
          </a:p>
        </p:txBody>
      </p:sp>
      <p:sp>
        <p:nvSpPr>
          <p:cNvPr id="143" name="Google Shape;143;g3e839494688_0_88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839494688_0_8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g3e839494688_0_8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Pointer: OSTEP (free online), Wisconsin OS lectures on YouTube.</a:t>
            </a:r>
          </a:p>
        </p:txBody>
      </p:sp>
      <p:sp>
        <p:nvSpPr>
          <p:cNvPr id="150" name="Google Shape;150;g3e839494688_0_8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839494688_0_80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g3e839494688_0_80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Pointer: OSTEP (free online), Wisconsin OS lectures on YouTube.</a:t>
            </a:r>
          </a:p>
        </p:txBody>
      </p:sp>
      <p:sp>
        <p:nvSpPr>
          <p:cNvPr id="157" name="Google Shape;157;g3e839494688_0_80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839494688_0_3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g3e839494688_0_3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Let them propose first. Answer: distributed shortest-path (Bellman-Ford / Dijkstra) recomputed live. BGP if asked.</a:t>
            </a:r>
          </a:p>
        </p:txBody>
      </p:sp>
      <p:sp>
        <p:nvSpPr>
          <p:cNvPr id="164" name="Google Shape;164;g3e839494688_0_3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839494688_0_30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e839494688_0_30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Pointer: Kurose &amp; Ross routing chapters, Beej's guide for sockets.</a:t>
            </a:r>
          </a:p>
        </p:txBody>
      </p:sp>
      <p:sp>
        <p:nvSpPr>
          <p:cNvPr id="172" name="Google Shape;172;g3e839494688_0_3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839494688_0_3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e839494688_0_3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79" name="Google Shape;179;g3e839494688_0_3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839494688_0_90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e839494688_0_9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Estimate cost out loud first. Answer: hash join, ~11M steps, picked by the query planner.</a:t>
            </a:r>
          </a:p>
        </p:txBody>
      </p:sp>
      <p:sp>
        <p:nvSpPr>
          <p:cNvPr id="186" name="Google Shape;186;g3e839494688_0_9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839494688_0_99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3e839494688_0_99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Walk left to right. Cost so far: ~1M, one row per user.</a:t>
            </a:r>
          </a:p>
        </p:txBody>
      </p:sp>
      <p:sp>
        <p:nvSpPr>
          <p:cNvPr id="195" name="Google Shape;195;g3e839494688_0_9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839494688_0_10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g3e839494688_0_100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Cost: ~10M, one lookup per message.</a:t>
            </a:r>
          </a:p>
        </p:txBody>
      </p:sp>
      <p:sp>
        <p:nvSpPr>
          <p:cNvPr id="208" name="Google Shape;208;g3e839494688_0_100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839494688_0_9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g3e839494688_0_9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EXPLAIN shows the chosen plan. Pointer: CMU 15-445, Kleppmann's Designing Data-Intensive Applications.</a:t>
            </a:r>
          </a:p>
        </p:txBody>
      </p:sp>
      <p:sp>
        <p:nvSpPr>
          <p:cNvPr id="225" name="Google Shape;225;g3e839494688_0_9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839494688_0_89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g3e839494688_0_89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Call out a word before the reveal. Answer: queen (word2vec).</a:t>
            </a:r>
          </a:p>
        </p:txBody>
      </p:sp>
      <p:sp>
        <p:nvSpPr>
          <p:cNvPr id="232" name="Google Shape;232;g3e839494688_0_89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Call out a word before the reveal. Answer: queen (word2vec).</a:t>
            </a:r>
          </a:p>
        </p:txBody>
      </p:sp>
      <p:sp>
        <p:nvSpPr>
          <p:cNvPr id="241" name="Google Shape;24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Embeddings also drive RAG. Pointer: Karpathy's Zero to Hero, 3Blue1Brown neural-net videos.</a:t>
            </a:r>
          </a:p>
        </p:txBody>
      </p:sp>
      <p:sp>
        <p:nvSpPr>
          <p:cNvPr id="250" name="Google Shape;25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Let them argue it's impossible first. Paint-mixing analogy (Diffie-Hellman): mixing easy, un-mixing impossible.</a:t>
            </a:r>
          </a:p>
        </p:txBody>
      </p:sp>
      <p:sp>
        <p:nvSpPr>
          <p:cNvPr id="257" name="Google Shape;25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839494688_0_58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e839494688_0_5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If asked for the math: N = p*q (primes), d*e = 1 mod totient(N).</a:t>
            </a:r>
          </a:p>
        </p:txBody>
      </p:sp>
      <p:sp>
        <p:nvSpPr>
          <p:cNvPr id="265" name="Google Shape;265;g3e839494688_0_5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839494688_0_59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e839494688_0_59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77" name="Google Shape;277;g3e839494688_0_5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839494688_0_60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e839494688_0_6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90" name="Google Shape;290;g3e839494688_0_6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839494688_0_6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g3e839494688_0_6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08" name="Google Shape;308;g3e839494688_0_6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839494688_0_6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e839494688_0_6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Answers the 9.2 coffee-shop WiFi question. Pointer: Computerphile paint video, cryptopals.com, Boneh's course.</a:t>
            </a:r>
          </a:p>
        </p:txBody>
      </p:sp>
      <p:sp>
        <p:nvSpPr>
          <p:cNvPr id="329" name="Google Shape;329;g3e839494688_0_6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839494688_0_1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g3e839494688_0_1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Turing, 1936. Walk both branches on the board, each answer contradicts itself.</a:t>
            </a:r>
          </a:p>
        </p:txBody>
      </p:sp>
      <p:sp>
        <p:nvSpPr>
          <p:cNvPr id="336" name="Google Shape;336;g3e839494688_0_1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839494688_0_1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g3e839494688_0_1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Turing, 1936. Walk both branches on the board, each answer contradicts itself.</a:t>
            </a:r>
          </a:p>
        </p:txBody>
      </p:sp>
      <p:sp>
        <p:nvSpPr>
          <p:cNvPr id="345" name="Google Shape;345;g3e839494688_0_1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839494688_0_1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g3e839494688_0_1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Turing, 1936. Walk both branches on the board, each answer contradicts itself.</a:t>
            </a:r>
          </a:p>
        </p:txBody>
      </p:sp>
      <p:sp>
        <p:nvSpPr>
          <p:cNvPr id="354" name="Google Shape;354;g3e839494688_0_1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839494688_0_1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g3e839494688_0_1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Pointer: Sipser, Computerphile halting video, Petzold's The Annotated Turing.</a:t>
            </a:r>
          </a:p>
        </p:txBody>
      </p:sp>
      <p:sp>
        <p:nvSpPr>
          <p:cNvPr id="363" name="Google Shape;363;g3e839494688_0_1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Close on what they did: shipped a working app end to end in ten weeks.</a:t>
            </a:r>
          </a:p>
        </p:txBody>
      </p:sp>
      <p:sp>
        <p:nvSpPr>
          <p:cNvPr id="370" name="Google Shape;37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Lecture 10.2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Future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Andy Aymeloglu - UATX Software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Six Problems From Your Own App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game</a:t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914400" y="1463040"/>
            <a:ext cx="10362895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For the rest of class I'm gonna hand you six small problems, and every one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comes straight out of the app you spent ten weeks building - a stat on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your dashboard, a single message lookup, the model you called in 10.1,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login you trust.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Each one looks like something you can already answer, and you should try...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but the answer your gut gives is usually wrong in a way you can't fix with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what you know, and that gap is the front door to a whole field of CS with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its own course and its own people who think about nothing else.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So the game is: I show you the problem, you argue it out, and then I name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field you just ran into. Six of them, and that wall you hit is kinda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whole point.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How many unique people posted today?</a:t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40080" y="228600"/>
            <a:ext cx="1097280" cy="365760"/>
          </a:xfrm>
          <a:prstGeom prst="roundRect">
            <a:avLst>
              <a:gd fmla="val 16667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1005840" y="1554480"/>
            <a:ext cx="10180015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Dashboard stat for your chat app: how many DISTINCT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users posted at least once today?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Today's posts stream past - about 50,000,000 of them.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Each one carries a user_id, with lots of repeats: the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chatty users post hundreds of times each.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seen = set()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for post in todays_posts:        # ~50 million posts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seen.add(post.user_id)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answer = len(seen)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This works. But `seen` now holds every distinct user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id for the day, in RAM, on every server doing this.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Roughly how much memory does that set need...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# and is there any way around it?   ________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839494688_0_9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 Structures &amp; Algorithms</a:t>
            </a:r>
            <a:endParaRPr/>
          </a:p>
        </p:txBody>
      </p:sp>
      <p:sp>
        <p:nvSpPr>
          <p:cNvPr id="117" name="Google Shape;117;g3e839494688_0_9"/>
          <p:cNvSpPr txBox="1"/>
          <p:nvPr/>
        </p:nvSpPr>
        <p:spPr>
          <a:xfrm>
            <a:off x="899350" y="1136475"/>
            <a:ext cx="109944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set is correct, and it's also the expensive answer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if a few million distinct people posted, that's a few million ids sitting in RAM on every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server running this, and it grows with your user base forever.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839494688_0_15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 Structures &amp; Algorithms</a:t>
            </a:r>
            <a:endParaRPr/>
          </a:p>
        </p:txBody>
      </p:sp>
      <p:sp>
        <p:nvSpPr>
          <p:cNvPr id="124" name="Google Shape;124;g3e839494688_0_15"/>
          <p:cNvSpPr txBox="1"/>
          <p:nvPr/>
        </p:nvSpPr>
        <p:spPr>
          <a:xfrm>
            <a:off x="899350" y="1136475"/>
            <a:ext cx="109944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set is correct, and it's also the expensive answer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if a few million distinct people posted, that's a few million ids sitting in RAM on every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server running this, and it grows with your user base forever.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don’t need it if you’re fine with a *little* inaccuracy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 Structures &amp; Algorithms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899350" y="1136475"/>
            <a:ext cx="10994400" cy="53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set is correct, and it's also the expensive answer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if a few million distinct people posted, that's a few million ids sitting in RAM on every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server running this, and it grows with your user base forever.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don’t need it if you’re fine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a *little* inaccuracy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HyperLogLog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rgbClr val="666677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hash each element coming in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77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take max(number of leading zeros)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77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probability of getting k leading zeros in a row is 1/2</a:t>
            </a:r>
            <a:r>
              <a:rPr baseline="30000"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77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to prevent anomalies and ensure accuracy, the dataset is split into "buckets"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77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final estimate is the harmonic mean of all the buckets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Trading a little accuracy for a result millions of times smaller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Data Structures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Algorithms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is where you learn how to prove/uncover these space/speed tradeoffs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/>
        </p:nvSpPr>
        <p:spPr>
          <a:xfrm>
            <a:off x="5303520" y="457200"/>
            <a:ext cx="15846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38" name="Google Shape;138;p8"/>
          <p:cNvSpPr txBox="1"/>
          <p:nvPr/>
        </p:nvSpPr>
        <p:spPr>
          <a:xfrm>
            <a:off x="1371600" y="2011680"/>
            <a:ext cx="94484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Two programs run at once. Both write to memory address 0x1000. Neither clobbers the other. How?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1828800" y="4572000"/>
            <a:ext cx="85340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Same numeric address, same physical RAM in the one machine - and yet neither program ever sees the other's value. What gives?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839494688_0_886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sp>
        <p:nvSpPr>
          <p:cNvPr id="146" name="Google Shape;146;g3e839494688_0_886"/>
          <p:cNvSpPr txBox="1"/>
          <p:nvPr/>
        </p:nvSpPr>
        <p:spPr>
          <a:xfrm>
            <a:off x="607600" y="1481100"/>
            <a:ext cx="10980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trick is that the address 0x1000 your program sees is a LIE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per-program fiction. When your code touches 0x1000 the hardware quietly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translates it into some completely different real spot in RAM, and it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translates the other program's 0x1000 to somewhere else entirely.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839494688_0_892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sp>
        <p:nvSpPr>
          <p:cNvPr id="153" name="Google Shape;153;g3e839494688_0_892"/>
          <p:cNvSpPr txBox="1"/>
          <p:nvPr/>
        </p:nvSpPr>
        <p:spPr>
          <a:xfrm>
            <a:off x="607600" y="1481100"/>
            <a:ext cx="109806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trick is that the address 0x1000 your program sees is a LIE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per-program fiction. When your code touches 0x1000 the hardware quietly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translates it into some completely different real spot in RAM, and it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translates the other program's 0x1000 to somewhere else entirely.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process gets its own private map of memory, the operating system and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chip called the MMU keep those maps, and your pointers never touch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physical RAM directly - they go through that translation every single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time, without you ever noticing it's happening.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839494688_0_805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sp>
        <p:nvSpPr>
          <p:cNvPr id="160" name="Google Shape;160;g3e839494688_0_805"/>
          <p:cNvSpPr txBox="1"/>
          <p:nvPr/>
        </p:nvSpPr>
        <p:spPr>
          <a:xfrm>
            <a:off x="607600" y="1481100"/>
            <a:ext cx="109806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trick is that the address 0x1000 your program sees is a LIE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per-program fiction. When your code touches 0x1000 the hardware quietly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translates it into some completely different real spot in RAM, and it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translates the other program's 0x1000 to somewhere else entirely.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process gets its own private map of memory, the operating system and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chip called the MMU keep those maps, and your pointers never touch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physical RAM directly - they go through that translation every single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time, without you ever noticing it's happening.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That same illusion is why a container can think it owns the whole machine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achinery of maps, pages, and what the kernel does</a:t>
            </a:r>
            <a:r>
              <a:rPr lang="en-US"/>
              <a:t> 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underneath your code is Operating Systems.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839494688_0_302"/>
          <p:cNvSpPr txBox="1"/>
          <p:nvPr/>
        </p:nvSpPr>
        <p:spPr>
          <a:xfrm>
            <a:off x="5303520" y="457200"/>
            <a:ext cx="1584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67" name="Google Shape;167;g3e839494688_0_302"/>
          <p:cNvSpPr txBox="1"/>
          <p:nvPr/>
        </p:nvSpPr>
        <p:spPr>
          <a:xfrm>
            <a:off x="1371600" y="2011680"/>
            <a:ext cx="94485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backhoe cuts the main fiber between you and your server - a whole path through the internet just vanished. Your next message still lands in 40ms. How?</a:t>
            </a:r>
            <a:endParaRPr/>
          </a:p>
        </p:txBody>
      </p:sp>
      <p:sp>
        <p:nvSpPr>
          <p:cNvPr id="168" name="Google Shape;168;g3e839494688_0_302"/>
          <p:cNvSpPr txBox="1"/>
          <p:nvPr/>
        </p:nvSpPr>
        <p:spPr>
          <a:xfrm>
            <a:off x="1828800" y="4572000"/>
            <a:ext cx="8534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Nobody rerouted it by hand, there's no master map of the internet, and no one is in charge of the whole thing. So how does your packet find a way around the break?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839494688_0_309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Computer Networking</a:t>
            </a:r>
            <a:endParaRPr/>
          </a:p>
        </p:txBody>
      </p:sp>
      <p:sp>
        <p:nvSpPr>
          <p:cNvPr id="175" name="Google Shape;175;g3e839494688_0_309"/>
          <p:cNvSpPr txBox="1"/>
          <p:nvPr/>
        </p:nvSpPr>
        <p:spPr>
          <a:xfrm>
            <a:off x="914400" y="1463040"/>
            <a:ext cx="10362900" cy="5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internet is a GRAPH - routers are dots, the cables between them are edges,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and your packet just needs any path through it from you to the server. There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is no master map and nobody steering traffic from above.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Instead every router constantly gossips with its neighbors about who it can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reach and how far, and from that chatter each one works out the current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shortest path to everywhere - the same shortest-path-in-a-graph problem you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could state in CS2, just running live and nonstop. Cut a cable and that edge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disappears, the news ripples outward in seconds, and every router recomputes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around the gap on its own.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Surviving pieces of the network going down was the original DESIGN GOAL, and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graph theory that makes it work is the heart of Computer Networking.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839494688_0_390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Computer Networking</a:t>
            </a:r>
            <a:endParaRPr/>
          </a:p>
        </p:txBody>
      </p:sp>
      <p:pic>
        <p:nvPicPr>
          <p:cNvPr id="182" name="Google Shape;182;g3e839494688_0_3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400" y="1144100"/>
            <a:ext cx="7906551" cy="525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839494688_0_906"/>
          <p:cNvSpPr txBox="1"/>
          <p:nvPr/>
        </p:nvSpPr>
        <p:spPr>
          <a:xfrm>
            <a:off x="731520" y="274320"/>
            <a:ext cx="1072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How does the join not take forever?</a:t>
            </a:r>
            <a:endParaRPr/>
          </a:p>
        </p:txBody>
      </p:sp>
      <p:sp>
        <p:nvSpPr>
          <p:cNvPr id="189" name="Google Shape;189;g3e839494688_0_906"/>
          <p:cNvSpPr/>
          <p:nvPr/>
        </p:nvSpPr>
        <p:spPr>
          <a:xfrm>
            <a:off x="640080" y="228600"/>
            <a:ext cx="1097400" cy="365700"/>
          </a:xfrm>
          <a:prstGeom prst="roundRect">
            <a:avLst>
              <a:gd fmla="val 16667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e839494688_0_906"/>
          <p:cNvSpPr/>
          <p:nvPr/>
        </p:nvSpPr>
        <p:spPr>
          <a:xfrm>
            <a:off x="731520" y="1371600"/>
            <a:ext cx="10728600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839494688_0_906"/>
          <p:cNvSpPr txBox="1"/>
          <p:nvPr/>
        </p:nvSpPr>
        <p:spPr>
          <a:xfrm>
            <a:off x="1005840" y="1554480"/>
            <a:ext cx="10179900" cy="4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Your chat app: show every message next to its author's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name. A 1,000,000-row users table, a 10,000,000-row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messages table.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SELECT messages.body, users.name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messages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JOIN users ON users.id = messages.user_id;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obvious way to match them: for each of the 10M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messages, scan the 1M users for the right id. That's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10,000,000 x 1,000,000 = 10 TRILLION comparisons -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on real hardware, hours.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Your database returns it in a couple of seconds, so it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# is NOT doing the obvious thing. What is it doing? ________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839494688_0_995"/>
          <p:cNvSpPr txBox="1"/>
          <p:nvPr/>
        </p:nvSpPr>
        <p:spPr>
          <a:xfrm>
            <a:off x="731520" y="27432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Hash join, step 1: build a lookup</a:t>
            </a:r>
            <a:endParaRPr/>
          </a:p>
        </p:txBody>
      </p:sp>
      <p:sp>
        <p:nvSpPr>
          <p:cNvPr id="198" name="Google Shape;198;g3e839494688_0_995"/>
          <p:cNvSpPr txBox="1"/>
          <p:nvPr/>
        </p:nvSpPr>
        <p:spPr>
          <a:xfrm>
            <a:off x="731520" y="1417320"/>
            <a:ext cx="1069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STEP 1 - BUILD: read the SMALL table once and turn it into a hash table mapping id -&gt; name.</a:t>
            </a:r>
            <a:endParaRPr/>
          </a:p>
        </p:txBody>
      </p:sp>
      <p:sp>
        <p:nvSpPr>
          <p:cNvPr id="199" name="Google Shape;199;g3e839494688_0_995"/>
          <p:cNvSpPr/>
          <p:nvPr/>
        </p:nvSpPr>
        <p:spPr>
          <a:xfrm>
            <a:off x="1097280" y="2468880"/>
            <a:ext cx="2926200" cy="2377500"/>
          </a:xfrm>
          <a:prstGeom prst="roundRect">
            <a:avLst>
              <a:gd fmla="val 16667" name="adj"/>
            </a:avLst>
          </a:prstGeom>
          <a:solidFill>
            <a:srgbClr val="EEEEF0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USERS - 1,000,000 rows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1   alice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2  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3   carol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4   dave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/>
          </a:p>
        </p:txBody>
      </p:sp>
      <p:sp>
        <p:nvSpPr>
          <p:cNvPr id="200" name="Google Shape;200;g3e839494688_0_995"/>
          <p:cNvSpPr/>
          <p:nvPr/>
        </p:nvSpPr>
        <p:spPr>
          <a:xfrm>
            <a:off x="4389120" y="3638550"/>
            <a:ext cx="1417200" cy="38100"/>
          </a:xfrm>
          <a:prstGeom prst="rect">
            <a:avLst/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e839494688_0_995"/>
          <p:cNvSpPr/>
          <p:nvPr/>
        </p:nvSpPr>
        <p:spPr>
          <a:xfrm>
            <a:off x="5760720" y="3520440"/>
            <a:ext cx="320100" cy="274200"/>
          </a:xfrm>
          <a:prstGeom prst="chevron">
            <a:avLst>
              <a:gd fmla="val 50000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e839494688_0_995"/>
          <p:cNvSpPr txBox="1"/>
          <p:nvPr/>
        </p:nvSpPr>
        <p:spPr>
          <a:xfrm>
            <a:off x="4297680" y="306324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read each row once</a:t>
            </a:r>
            <a:endParaRPr/>
          </a:p>
        </p:txBody>
      </p:sp>
      <p:sp>
        <p:nvSpPr>
          <p:cNvPr id="203" name="Google Shape;203;g3e839494688_0_995"/>
          <p:cNvSpPr/>
          <p:nvPr/>
        </p:nvSpPr>
        <p:spPr>
          <a:xfrm>
            <a:off x="6309360" y="2468880"/>
            <a:ext cx="4206300" cy="237750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HASH TABLE  (in memory)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1  -&gt;  alice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2  -&gt; 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3  -&gt;  carol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4  -&gt;  dave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/>
          </a:p>
        </p:txBody>
      </p:sp>
      <p:sp>
        <p:nvSpPr>
          <p:cNvPr id="204" name="Google Shape;204;g3e839494688_0_995"/>
          <p:cNvSpPr txBox="1"/>
          <p:nvPr/>
        </p:nvSpPr>
        <p:spPr>
          <a:xfrm>
            <a:off x="6309360" y="4983480"/>
            <a:ext cx="420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now any id -&gt; name is ONE step (O(1)).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839494688_0_1007"/>
          <p:cNvSpPr txBox="1"/>
          <p:nvPr/>
        </p:nvSpPr>
        <p:spPr>
          <a:xfrm>
            <a:off x="731520" y="27432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Hash join, step 2: probe</a:t>
            </a:r>
            <a:endParaRPr/>
          </a:p>
        </p:txBody>
      </p:sp>
      <p:sp>
        <p:nvSpPr>
          <p:cNvPr id="211" name="Google Shape;211;g3e839494688_0_1007"/>
          <p:cNvSpPr txBox="1"/>
          <p:nvPr/>
        </p:nvSpPr>
        <p:spPr>
          <a:xfrm>
            <a:off x="731520" y="1417320"/>
            <a:ext cx="10698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STEP 2 - PROBE: walk the BIG table once; each row looks up its name in the hash table in a single step.</a:t>
            </a:r>
            <a:endParaRPr/>
          </a:p>
        </p:txBody>
      </p:sp>
      <p:sp>
        <p:nvSpPr>
          <p:cNvPr id="212" name="Google Shape;212;g3e839494688_0_1007"/>
          <p:cNvSpPr/>
          <p:nvPr/>
        </p:nvSpPr>
        <p:spPr>
          <a:xfrm>
            <a:off x="548640" y="2468880"/>
            <a:ext cx="3383400" cy="2286000"/>
          </a:xfrm>
          <a:prstGeom prst="roundRect">
            <a:avLst>
              <a:gd fmla="val 16667" name="adj"/>
            </a:avLst>
          </a:prstGeom>
          <a:solidFill>
            <a:srgbClr val="EEEEF0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MESSAGES - 10,000,000 rows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hi     user_id=2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yo     user_id=1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sup    user_id=3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/>
          </a:p>
        </p:txBody>
      </p:sp>
      <p:sp>
        <p:nvSpPr>
          <p:cNvPr id="213" name="Google Shape;213;g3e839494688_0_1007"/>
          <p:cNvSpPr/>
          <p:nvPr/>
        </p:nvSpPr>
        <p:spPr>
          <a:xfrm>
            <a:off x="4114800" y="3592830"/>
            <a:ext cx="1051500" cy="38100"/>
          </a:xfrm>
          <a:prstGeom prst="rect">
            <a:avLst/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e839494688_0_1007"/>
          <p:cNvSpPr/>
          <p:nvPr/>
        </p:nvSpPr>
        <p:spPr>
          <a:xfrm>
            <a:off x="5120640" y="3474720"/>
            <a:ext cx="320100" cy="274200"/>
          </a:xfrm>
          <a:prstGeom prst="chevron">
            <a:avLst>
              <a:gd fmla="val 50000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e839494688_0_1007"/>
          <p:cNvSpPr txBox="1"/>
          <p:nvPr/>
        </p:nvSpPr>
        <p:spPr>
          <a:xfrm>
            <a:off x="3977639" y="3017520"/>
            <a:ext cx="164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hash user_id</a:t>
            </a:r>
            <a:endParaRPr/>
          </a:p>
        </p:txBody>
      </p:sp>
      <p:sp>
        <p:nvSpPr>
          <p:cNvPr id="216" name="Google Shape;216;g3e839494688_0_1007"/>
          <p:cNvSpPr/>
          <p:nvPr/>
        </p:nvSpPr>
        <p:spPr>
          <a:xfrm>
            <a:off x="5577840" y="2468880"/>
            <a:ext cx="2743200" cy="228600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HASH TABLE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1 -&gt; alice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2 -&gt;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3 -&gt; carol</a:t>
            </a:r>
            <a:endParaRPr/>
          </a:p>
        </p:txBody>
      </p:sp>
      <p:sp>
        <p:nvSpPr>
          <p:cNvPr id="217" name="Google Shape;217;g3e839494688_0_1007"/>
          <p:cNvSpPr/>
          <p:nvPr/>
        </p:nvSpPr>
        <p:spPr>
          <a:xfrm>
            <a:off x="8412480" y="3592830"/>
            <a:ext cx="685800" cy="38100"/>
          </a:xfrm>
          <a:prstGeom prst="rect">
            <a:avLst/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e839494688_0_1007"/>
          <p:cNvSpPr/>
          <p:nvPr/>
        </p:nvSpPr>
        <p:spPr>
          <a:xfrm>
            <a:off x="9052560" y="3474720"/>
            <a:ext cx="320100" cy="274200"/>
          </a:xfrm>
          <a:prstGeom prst="chevron">
            <a:avLst>
              <a:gd fmla="val 50000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e839494688_0_1007"/>
          <p:cNvSpPr txBox="1"/>
          <p:nvPr/>
        </p:nvSpPr>
        <p:spPr>
          <a:xfrm>
            <a:off x="8275320" y="3017520"/>
            <a:ext cx="118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/>
          </a:p>
        </p:txBody>
      </p:sp>
      <p:sp>
        <p:nvSpPr>
          <p:cNvPr id="220" name="Google Shape;220;g3e839494688_0_1007"/>
          <p:cNvSpPr/>
          <p:nvPr/>
        </p:nvSpPr>
        <p:spPr>
          <a:xfrm>
            <a:off x="9418320" y="2468880"/>
            <a:ext cx="2377500" cy="2286000"/>
          </a:xfrm>
          <a:prstGeom prst="roundRect">
            <a:avLst>
              <a:gd fmla="val 16667" name="adj"/>
            </a:avLst>
          </a:prstGeom>
          <a:solidFill>
            <a:srgbClr val="EEEEF0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hi   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yo    alice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sup   carol</a:t>
            </a:r>
            <a:endParaRPr/>
          </a:p>
        </p:txBody>
      </p:sp>
      <p:sp>
        <p:nvSpPr>
          <p:cNvPr id="221" name="Google Shape;221;g3e839494688_0_1007"/>
          <p:cNvSpPr txBox="1"/>
          <p:nvPr/>
        </p:nvSpPr>
        <p:spPr>
          <a:xfrm>
            <a:off x="914400" y="5212080"/>
            <a:ext cx="1033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One pass to build, one pass to probe - about 11 MILLION steps, not 10 trillion.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839494688_0_914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Database Internals</a:t>
            </a:r>
            <a:endParaRPr/>
          </a:p>
        </p:txBody>
      </p:sp>
      <p:sp>
        <p:nvSpPr>
          <p:cNvPr id="228" name="Google Shape;228;g3e839494688_0_914"/>
          <p:cNvSpPr txBox="1"/>
          <p:nvPr/>
        </p:nvSpPr>
        <p:spPr>
          <a:xfrm>
            <a:off x="914400" y="1463040"/>
            <a:ext cx="10362900" cy="5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It builds a hash table. One pass over the smaller users table turns it into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fast id-to-name lookup (a million entries), then it walks the ten million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messages once and each one does a single O(1) hash lookup to find its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author - so the whole join is about eleven MILLION steps instead of ten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trillion. That's a hash join.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And the part that surprises people: you never asked for that. Your SQL said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WHAT you wanted, not HOW, and a piece of the database called the query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planner quietly picked the hash join over a couple of other strategies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based on the table sizes and the indexes that exist - and it can pick wrong.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wrote JOINs in 2.2 and the engine has been silently choosing how to run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them ever since - that whole layer is Database Internals.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839494688_0_898"/>
          <p:cNvSpPr txBox="1"/>
          <p:nvPr/>
        </p:nvSpPr>
        <p:spPr>
          <a:xfrm>
            <a:off x="731520" y="274320"/>
            <a:ext cx="1072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word comes out?</a:t>
            </a:r>
            <a:endParaRPr/>
          </a:p>
        </p:txBody>
      </p:sp>
      <p:sp>
        <p:nvSpPr>
          <p:cNvPr id="235" name="Google Shape;235;g3e839494688_0_898"/>
          <p:cNvSpPr/>
          <p:nvPr/>
        </p:nvSpPr>
        <p:spPr>
          <a:xfrm>
            <a:off x="640080" y="228600"/>
            <a:ext cx="1097400" cy="365700"/>
          </a:xfrm>
          <a:prstGeom prst="roundRect">
            <a:avLst>
              <a:gd fmla="val 16667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839494688_0_898"/>
          <p:cNvSpPr/>
          <p:nvPr/>
        </p:nvSpPr>
        <p:spPr>
          <a:xfrm>
            <a:off x="731520" y="1371600"/>
            <a:ext cx="10728600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839494688_0_898"/>
          <p:cNvSpPr txBox="1"/>
          <p:nvPr/>
        </p:nvSpPr>
        <p:spPr>
          <a:xfrm>
            <a:off x="1005840" y="1554480"/>
            <a:ext cx="101799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In ML, every word gets turned into a long list of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numbers - a "vector", a point in space. The model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learns these by reading huge amounts of text</a:t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king  = [0.50, 0.71, ...]    # a few thousand numbers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man   = [0.66, 0.20, ...]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woman = [0.62, 0.74, ...]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Now just do arithmetic on the points: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word comes out?</a:t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640080" y="228600"/>
            <a:ext cx="1097280" cy="365760"/>
          </a:xfrm>
          <a:prstGeom prst="roundRect">
            <a:avLst>
              <a:gd fmla="val 16667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1005840" y="1554480"/>
            <a:ext cx="101799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In ML, every word gets turned into a long list of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numbers - a "vector", a point in space. The model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learns these by reading huge amounts of text</a:t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king  = [0.50, 0.71, ...]    # a few thousand numbers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man   = [0.66, 0.20, ...]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woman = [0.62, 0.74, ...]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Now just do arithmetic on the points: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result = king - man + woman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`result` lands almost exactly on the vector for 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specific English word. The model "only does math."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914400" y="1463040"/>
            <a:ext cx="10362900" cy="5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It lands on queen. Not because anyone programmed that - because the model,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from reading enough text, placed every word in a space where DIRECTION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carries meaning, and the step from 'man' to 'woman' turns out to be the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same direction as the step from 'king' to 'queen.'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So 'royal' is a direction, 'plural' is a direction, even 'past tense' is a d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irection.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eaning becomes something you can add and subtract.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lets a pile of numbers act like it understands language -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and it's also how your app could find messages about a topic that never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use the exact word.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These vectors (embeddings) are step one of what's inside the black box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he rest of that story is Machine Learning.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 txBox="1"/>
          <p:nvPr/>
        </p:nvSpPr>
        <p:spPr>
          <a:xfrm>
            <a:off x="5303520" y="457200"/>
            <a:ext cx="15846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260" name="Google Shape;260;p16"/>
          <p:cNvSpPr txBox="1"/>
          <p:nvPr/>
        </p:nvSpPr>
        <p:spPr>
          <a:xfrm>
            <a:off x="1371600" y="2011680"/>
            <a:ext cx="944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romance of Alice and Bob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1828800" y="4572000"/>
            <a:ext cx="8534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They’re exchanging love notes in </a:t>
            </a:r>
            <a:r>
              <a:rPr lang="en-US" sz="22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public. You can see all the characters they’re sending to each other…why can’t you read any of it?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839494688_0_583"/>
          <p:cNvSpPr txBox="1"/>
          <p:nvPr/>
        </p:nvSpPr>
        <p:spPr>
          <a:xfrm>
            <a:off x="731520" y="27432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way out: two keys, not one</a:t>
            </a:r>
            <a:endParaRPr/>
          </a:p>
        </p:txBody>
      </p:sp>
      <p:sp>
        <p:nvSpPr>
          <p:cNvPr id="268" name="Google Shape;268;g3e839494688_0_583"/>
          <p:cNvSpPr txBox="1"/>
          <p:nvPr/>
        </p:nvSpPr>
        <p:spPr>
          <a:xfrm>
            <a:off x="914400" y="1417320"/>
            <a:ext cx="1033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Bob makes a matched PAIR of keys at once - locking and unlocking are now DIFFERENT keys.</a:t>
            </a:r>
            <a:endParaRPr/>
          </a:p>
        </p:txBody>
      </p:sp>
      <p:sp>
        <p:nvSpPr>
          <p:cNvPr id="269" name="Google Shape;269;g3e839494688_0_583"/>
          <p:cNvSpPr/>
          <p:nvPr/>
        </p:nvSpPr>
        <p:spPr>
          <a:xfrm>
            <a:off x="1005840" y="2468880"/>
            <a:ext cx="4572000" cy="12801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BOB'S PUBLIC KEY</a:t>
            </a:r>
            <a:endParaRPr/>
          </a:p>
        </p:txBody>
      </p:sp>
      <p:sp>
        <p:nvSpPr>
          <p:cNvPr id="270" name="Google Shape;270;g3e839494688_0_583"/>
          <p:cNvSpPr txBox="1"/>
          <p:nvPr/>
        </p:nvSpPr>
        <p:spPr>
          <a:xfrm>
            <a:off x="1005840" y="3886200"/>
            <a:ext cx="457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Locks a message shut. Bob hands copies to anyone - he can post it right on his website.</a:t>
            </a:r>
            <a:endParaRPr/>
          </a:p>
        </p:txBody>
      </p:sp>
      <p:sp>
        <p:nvSpPr>
          <p:cNvPr id="271" name="Google Shape;271;g3e839494688_0_583"/>
          <p:cNvSpPr/>
          <p:nvPr/>
        </p:nvSpPr>
        <p:spPr>
          <a:xfrm>
            <a:off x="6583680" y="2468880"/>
            <a:ext cx="4572000" cy="12801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BOB'S PRIVATE KEY</a:t>
            </a:r>
            <a:endParaRPr/>
          </a:p>
        </p:txBody>
      </p:sp>
      <p:sp>
        <p:nvSpPr>
          <p:cNvPr id="272" name="Google Shape;272;g3e839494688_0_583"/>
          <p:cNvSpPr txBox="1"/>
          <p:nvPr/>
        </p:nvSpPr>
        <p:spPr>
          <a:xfrm>
            <a:off x="6583680" y="3886200"/>
            <a:ext cx="457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Opens what the public key locked. Bob shows it to no one, ever.</a:t>
            </a:r>
            <a:endParaRPr/>
          </a:p>
        </p:txBody>
      </p:sp>
      <p:sp>
        <p:nvSpPr>
          <p:cNvPr id="273" name="Google Shape;273;g3e839494688_0_583"/>
          <p:cNvSpPr txBox="1"/>
          <p:nvPr/>
        </p:nvSpPr>
        <p:spPr>
          <a:xfrm>
            <a:off x="914400" y="5303520"/>
            <a:ext cx="1033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Lock with the public key, open ONLY with the private key - never the other way around.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839494688_0_594"/>
          <p:cNvSpPr txBox="1"/>
          <p:nvPr/>
        </p:nvSpPr>
        <p:spPr>
          <a:xfrm>
            <a:off x="731520" y="27432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Sending a secret over an open wire</a:t>
            </a:r>
            <a:endParaRPr/>
          </a:p>
        </p:txBody>
      </p:sp>
      <p:sp>
        <p:nvSpPr>
          <p:cNvPr id="280" name="Google Shape;280;g3e839494688_0_594"/>
          <p:cNvSpPr txBox="1"/>
          <p:nvPr/>
        </p:nvSpPr>
        <p:spPr>
          <a:xfrm>
            <a:off x="457200" y="1783080"/>
            <a:ext cx="228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Alice's message:  "hi bob"</a:t>
            </a:r>
            <a:endParaRPr/>
          </a:p>
        </p:txBody>
      </p:sp>
      <p:sp>
        <p:nvSpPr>
          <p:cNvPr id="281" name="Google Shape;281;g3e839494688_0_594"/>
          <p:cNvSpPr/>
          <p:nvPr/>
        </p:nvSpPr>
        <p:spPr>
          <a:xfrm>
            <a:off x="457200" y="2240280"/>
            <a:ext cx="2286000" cy="1188600"/>
          </a:xfrm>
          <a:prstGeom prst="roundRect">
            <a:avLst>
              <a:gd fmla="val 16667" name="adj"/>
            </a:avLst>
          </a:prstGeom>
          <a:solidFill>
            <a:srgbClr val="EEEEF0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282" name="Google Shape;282;g3e839494688_0_594"/>
          <p:cNvSpPr/>
          <p:nvPr/>
        </p:nvSpPr>
        <p:spPr>
          <a:xfrm>
            <a:off x="2880360" y="2815590"/>
            <a:ext cx="1554600" cy="38100"/>
          </a:xfrm>
          <a:prstGeom prst="rect">
            <a:avLst/>
          </a:prstGeom>
          <a:solidFill>
            <a:srgbClr val="16653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839494688_0_594"/>
          <p:cNvSpPr/>
          <p:nvPr/>
        </p:nvSpPr>
        <p:spPr>
          <a:xfrm>
            <a:off x="4389120" y="2697480"/>
            <a:ext cx="320100" cy="274200"/>
          </a:xfrm>
          <a:prstGeom prst="chevron">
            <a:avLst>
              <a:gd fmla="val 50000" name="adj"/>
            </a:avLst>
          </a:prstGeom>
          <a:solidFill>
            <a:srgbClr val="16653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e839494688_0_594"/>
          <p:cNvSpPr txBox="1"/>
          <p:nvPr/>
        </p:nvSpPr>
        <p:spPr>
          <a:xfrm>
            <a:off x="2743200" y="2286000"/>
            <a:ext cx="205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lock w/ Bob's public key</a:t>
            </a:r>
            <a:endParaRPr/>
          </a:p>
        </p:txBody>
      </p:sp>
      <p:sp>
        <p:nvSpPr>
          <p:cNvPr id="285" name="Google Shape;285;g3e839494688_0_594"/>
          <p:cNvSpPr txBox="1"/>
          <p:nvPr/>
        </p:nvSpPr>
        <p:spPr>
          <a:xfrm>
            <a:off x="4709160" y="1783080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now just gibberish</a:t>
            </a:r>
            <a:endParaRPr/>
          </a:p>
        </p:txBody>
      </p:sp>
      <p:sp>
        <p:nvSpPr>
          <p:cNvPr id="286" name="Google Shape;286;g3e839494688_0_594"/>
          <p:cNvSpPr/>
          <p:nvPr/>
        </p:nvSpPr>
        <p:spPr>
          <a:xfrm>
            <a:off x="4709160" y="2240280"/>
            <a:ext cx="2560200" cy="1188600"/>
          </a:xfrm>
          <a:prstGeom prst="roundRect">
            <a:avLst>
              <a:gd fmla="val 16667" name="adj"/>
            </a:avLst>
          </a:prstGeom>
          <a:solidFill>
            <a:srgbClr val="EEEEF0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9F3A7C2E 5B...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839494688_0_606"/>
          <p:cNvSpPr txBox="1"/>
          <p:nvPr/>
        </p:nvSpPr>
        <p:spPr>
          <a:xfrm>
            <a:off x="731520" y="27432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Sending a secret over an open wire</a:t>
            </a:r>
            <a:endParaRPr/>
          </a:p>
        </p:txBody>
      </p:sp>
      <p:sp>
        <p:nvSpPr>
          <p:cNvPr id="293" name="Google Shape;293;g3e839494688_0_606"/>
          <p:cNvSpPr txBox="1"/>
          <p:nvPr/>
        </p:nvSpPr>
        <p:spPr>
          <a:xfrm>
            <a:off x="457200" y="1783080"/>
            <a:ext cx="228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Alice's message:  "hi bob"</a:t>
            </a:r>
            <a:endParaRPr/>
          </a:p>
        </p:txBody>
      </p:sp>
      <p:sp>
        <p:nvSpPr>
          <p:cNvPr id="294" name="Google Shape;294;g3e839494688_0_606"/>
          <p:cNvSpPr/>
          <p:nvPr/>
        </p:nvSpPr>
        <p:spPr>
          <a:xfrm>
            <a:off x="457200" y="2240280"/>
            <a:ext cx="2286000" cy="1188600"/>
          </a:xfrm>
          <a:prstGeom prst="roundRect">
            <a:avLst>
              <a:gd fmla="val 16667" name="adj"/>
            </a:avLst>
          </a:prstGeom>
          <a:solidFill>
            <a:srgbClr val="EEEEF0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295" name="Google Shape;295;g3e839494688_0_606"/>
          <p:cNvSpPr/>
          <p:nvPr/>
        </p:nvSpPr>
        <p:spPr>
          <a:xfrm>
            <a:off x="2880360" y="2815590"/>
            <a:ext cx="1554600" cy="38100"/>
          </a:xfrm>
          <a:prstGeom prst="rect">
            <a:avLst/>
          </a:prstGeom>
          <a:solidFill>
            <a:srgbClr val="16653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e839494688_0_606"/>
          <p:cNvSpPr/>
          <p:nvPr/>
        </p:nvSpPr>
        <p:spPr>
          <a:xfrm>
            <a:off x="4389120" y="2697480"/>
            <a:ext cx="320100" cy="274200"/>
          </a:xfrm>
          <a:prstGeom prst="chevron">
            <a:avLst>
              <a:gd fmla="val 50000" name="adj"/>
            </a:avLst>
          </a:prstGeom>
          <a:solidFill>
            <a:srgbClr val="16653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e839494688_0_606"/>
          <p:cNvSpPr txBox="1"/>
          <p:nvPr/>
        </p:nvSpPr>
        <p:spPr>
          <a:xfrm>
            <a:off x="2743200" y="2286000"/>
            <a:ext cx="205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lock w/ Bob's public key</a:t>
            </a:r>
            <a:endParaRPr/>
          </a:p>
        </p:txBody>
      </p:sp>
      <p:sp>
        <p:nvSpPr>
          <p:cNvPr id="298" name="Google Shape;298;g3e839494688_0_606"/>
          <p:cNvSpPr txBox="1"/>
          <p:nvPr/>
        </p:nvSpPr>
        <p:spPr>
          <a:xfrm>
            <a:off x="4709160" y="1783080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now just gibberish</a:t>
            </a:r>
            <a:endParaRPr/>
          </a:p>
        </p:txBody>
      </p:sp>
      <p:sp>
        <p:nvSpPr>
          <p:cNvPr id="299" name="Google Shape;299;g3e839494688_0_606"/>
          <p:cNvSpPr/>
          <p:nvPr/>
        </p:nvSpPr>
        <p:spPr>
          <a:xfrm>
            <a:off x="4709160" y="2240280"/>
            <a:ext cx="2560200" cy="1188600"/>
          </a:xfrm>
          <a:prstGeom prst="roundRect">
            <a:avLst>
              <a:gd fmla="val 16667" name="adj"/>
            </a:avLst>
          </a:prstGeom>
          <a:solidFill>
            <a:srgbClr val="EEEEF0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9F3A7C2E 5B...</a:t>
            </a:r>
            <a:endParaRPr/>
          </a:p>
        </p:txBody>
      </p:sp>
      <p:sp>
        <p:nvSpPr>
          <p:cNvPr id="300" name="Google Shape;300;g3e839494688_0_606"/>
          <p:cNvSpPr/>
          <p:nvPr/>
        </p:nvSpPr>
        <p:spPr>
          <a:xfrm>
            <a:off x="7360920" y="2815590"/>
            <a:ext cx="118860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e839494688_0_606"/>
          <p:cNvSpPr/>
          <p:nvPr/>
        </p:nvSpPr>
        <p:spPr>
          <a:xfrm>
            <a:off x="8503920" y="2697480"/>
            <a:ext cx="320100" cy="274200"/>
          </a:xfrm>
          <a:prstGeom prst="chevron">
            <a:avLst>
              <a:gd fmla="val 50000" name="adj"/>
            </a:avLst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e839494688_0_606"/>
          <p:cNvSpPr txBox="1"/>
          <p:nvPr/>
        </p:nvSpPr>
        <p:spPr>
          <a:xfrm>
            <a:off x="7178040" y="2286000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over open WiFi</a:t>
            </a:r>
            <a:endParaRPr/>
          </a:p>
        </p:txBody>
      </p:sp>
      <p:sp>
        <p:nvSpPr>
          <p:cNvPr id="303" name="Google Shape;303;g3e839494688_0_606"/>
          <p:cNvSpPr/>
          <p:nvPr/>
        </p:nvSpPr>
        <p:spPr>
          <a:xfrm>
            <a:off x="8869680" y="2240280"/>
            <a:ext cx="2743200" cy="1188600"/>
          </a:xfrm>
          <a:prstGeom prst="roundRect">
            <a:avLst>
              <a:gd fmla="val 16667" name="adj"/>
            </a:avLst>
          </a:prstGeom>
          <a:solidFill>
            <a:srgbClr val="EEEEF0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sp>
        <p:nvSpPr>
          <p:cNvPr id="304" name="Google Shape;304;g3e839494688_0_606"/>
          <p:cNvSpPr txBox="1"/>
          <p:nvPr/>
        </p:nvSpPr>
        <p:spPr>
          <a:xfrm>
            <a:off x="8869680" y="3520440"/>
            <a:ext cx="27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unlock w/ PRIVATE key  -&gt;  "hi bob"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839494688_0_623"/>
          <p:cNvSpPr txBox="1"/>
          <p:nvPr/>
        </p:nvSpPr>
        <p:spPr>
          <a:xfrm>
            <a:off x="731520" y="27432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Sending a secret over an open wire</a:t>
            </a:r>
            <a:endParaRPr/>
          </a:p>
        </p:txBody>
      </p:sp>
      <p:sp>
        <p:nvSpPr>
          <p:cNvPr id="311" name="Google Shape;311;g3e839494688_0_623"/>
          <p:cNvSpPr txBox="1"/>
          <p:nvPr/>
        </p:nvSpPr>
        <p:spPr>
          <a:xfrm>
            <a:off x="457200" y="1783080"/>
            <a:ext cx="228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Alice's message:  "hi bob"</a:t>
            </a:r>
            <a:endParaRPr/>
          </a:p>
        </p:txBody>
      </p:sp>
      <p:sp>
        <p:nvSpPr>
          <p:cNvPr id="312" name="Google Shape;312;g3e839494688_0_623"/>
          <p:cNvSpPr/>
          <p:nvPr/>
        </p:nvSpPr>
        <p:spPr>
          <a:xfrm>
            <a:off x="457200" y="2240280"/>
            <a:ext cx="2286000" cy="1188600"/>
          </a:xfrm>
          <a:prstGeom prst="roundRect">
            <a:avLst>
              <a:gd fmla="val 16667" name="adj"/>
            </a:avLst>
          </a:prstGeom>
          <a:solidFill>
            <a:srgbClr val="EEEEF0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313" name="Google Shape;313;g3e839494688_0_623"/>
          <p:cNvSpPr/>
          <p:nvPr/>
        </p:nvSpPr>
        <p:spPr>
          <a:xfrm>
            <a:off x="2880360" y="2815590"/>
            <a:ext cx="1554600" cy="38100"/>
          </a:xfrm>
          <a:prstGeom prst="rect">
            <a:avLst/>
          </a:prstGeom>
          <a:solidFill>
            <a:srgbClr val="16653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e839494688_0_623"/>
          <p:cNvSpPr/>
          <p:nvPr/>
        </p:nvSpPr>
        <p:spPr>
          <a:xfrm>
            <a:off x="4389120" y="2697480"/>
            <a:ext cx="320100" cy="274200"/>
          </a:xfrm>
          <a:prstGeom prst="chevron">
            <a:avLst>
              <a:gd fmla="val 50000" name="adj"/>
            </a:avLst>
          </a:prstGeom>
          <a:solidFill>
            <a:srgbClr val="16653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e839494688_0_623"/>
          <p:cNvSpPr txBox="1"/>
          <p:nvPr/>
        </p:nvSpPr>
        <p:spPr>
          <a:xfrm>
            <a:off x="2743200" y="2286000"/>
            <a:ext cx="205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lock w/ Bob's public key</a:t>
            </a:r>
            <a:endParaRPr/>
          </a:p>
        </p:txBody>
      </p:sp>
      <p:sp>
        <p:nvSpPr>
          <p:cNvPr id="316" name="Google Shape;316;g3e839494688_0_623"/>
          <p:cNvSpPr txBox="1"/>
          <p:nvPr/>
        </p:nvSpPr>
        <p:spPr>
          <a:xfrm>
            <a:off x="4709160" y="1783080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now just gibberish</a:t>
            </a:r>
            <a:endParaRPr/>
          </a:p>
        </p:txBody>
      </p:sp>
      <p:sp>
        <p:nvSpPr>
          <p:cNvPr id="317" name="Google Shape;317;g3e839494688_0_623"/>
          <p:cNvSpPr/>
          <p:nvPr/>
        </p:nvSpPr>
        <p:spPr>
          <a:xfrm>
            <a:off x="4709160" y="2240280"/>
            <a:ext cx="2560200" cy="1188600"/>
          </a:xfrm>
          <a:prstGeom prst="roundRect">
            <a:avLst>
              <a:gd fmla="val 16667" name="adj"/>
            </a:avLst>
          </a:prstGeom>
          <a:solidFill>
            <a:srgbClr val="EEEEF0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9F3A7C2E 5B...</a:t>
            </a:r>
            <a:endParaRPr/>
          </a:p>
        </p:txBody>
      </p:sp>
      <p:sp>
        <p:nvSpPr>
          <p:cNvPr id="318" name="Google Shape;318;g3e839494688_0_623"/>
          <p:cNvSpPr/>
          <p:nvPr/>
        </p:nvSpPr>
        <p:spPr>
          <a:xfrm>
            <a:off x="7360920" y="2815590"/>
            <a:ext cx="118860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e839494688_0_623"/>
          <p:cNvSpPr/>
          <p:nvPr/>
        </p:nvSpPr>
        <p:spPr>
          <a:xfrm>
            <a:off x="8503920" y="2697480"/>
            <a:ext cx="320100" cy="274200"/>
          </a:xfrm>
          <a:prstGeom prst="chevron">
            <a:avLst>
              <a:gd fmla="val 50000" name="adj"/>
            </a:avLst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e839494688_0_623"/>
          <p:cNvSpPr txBox="1"/>
          <p:nvPr/>
        </p:nvSpPr>
        <p:spPr>
          <a:xfrm>
            <a:off x="7178040" y="2286000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over open WiFi</a:t>
            </a:r>
            <a:endParaRPr/>
          </a:p>
        </p:txBody>
      </p:sp>
      <p:sp>
        <p:nvSpPr>
          <p:cNvPr id="321" name="Google Shape;321;g3e839494688_0_623"/>
          <p:cNvSpPr/>
          <p:nvPr/>
        </p:nvSpPr>
        <p:spPr>
          <a:xfrm>
            <a:off x="8869680" y="2240280"/>
            <a:ext cx="2743200" cy="1188600"/>
          </a:xfrm>
          <a:prstGeom prst="roundRect">
            <a:avLst>
              <a:gd fmla="val 16667" name="adj"/>
            </a:avLst>
          </a:prstGeom>
          <a:solidFill>
            <a:srgbClr val="EEEEF0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sp>
        <p:nvSpPr>
          <p:cNvPr id="322" name="Google Shape;322;g3e839494688_0_623"/>
          <p:cNvSpPr txBox="1"/>
          <p:nvPr/>
        </p:nvSpPr>
        <p:spPr>
          <a:xfrm>
            <a:off x="8869680" y="3520440"/>
            <a:ext cx="27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unlock w/ PRIVATE key  -&gt;  "hi bob"</a:t>
            </a:r>
            <a:endParaRPr/>
          </a:p>
        </p:txBody>
      </p:sp>
      <p:sp>
        <p:nvSpPr>
          <p:cNvPr id="323" name="Google Shape;323;g3e839494688_0_623"/>
          <p:cNvSpPr/>
          <p:nvPr/>
        </p:nvSpPr>
        <p:spPr>
          <a:xfrm rot="5400000">
            <a:off x="5394995" y="4053120"/>
            <a:ext cx="1188600" cy="318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e839494688_0_623"/>
          <p:cNvSpPr/>
          <p:nvPr/>
        </p:nvSpPr>
        <p:spPr>
          <a:xfrm>
            <a:off x="4114800" y="4663440"/>
            <a:ext cx="3931800" cy="9144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EAVESDROPPER ON THE WIFI</a:t>
            </a:r>
            <a:endParaRPr/>
          </a:p>
        </p:txBody>
      </p:sp>
      <p:sp>
        <p:nvSpPr>
          <p:cNvPr id="325" name="Google Shape;325;g3e839494688_0_623"/>
          <p:cNvSpPr txBox="1"/>
          <p:nvPr/>
        </p:nvSpPr>
        <p:spPr>
          <a:xfrm>
            <a:off x="3200400" y="5715000"/>
            <a:ext cx="576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sees the ciphertext AND Bob's public key - and still can't read it.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839494688_0_643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Cryptography &amp; Security</a:t>
            </a:r>
            <a:endParaRPr/>
          </a:p>
        </p:txBody>
      </p:sp>
      <p:sp>
        <p:nvSpPr>
          <p:cNvPr id="332" name="Google Shape;332;g3e839494688_0_643"/>
          <p:cNvSpPr txBox="1"/>
          <p:nvPr/>
        </p:nvSpPr>
        <p:spPr>
          <a:xfrm>
            <a:off x="914400" y="1463040"/>
            <a:ext cx="103629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Locking is easy and unlocking-without-the-private-key is effectively impossi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ble.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hat gap comes from one-way math: multiplying two enormous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prime numbers together is quick, but taking the result and factoring it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back into those primes would take longer than the age of the universe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Bob can publish the product as his public key and give nothing away.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When you load an https:// site your browser grabs the server's public key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uses it to safely agree on a fresh throwaway key just for this session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encrypts the rest of the conversation with that fast shared key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us, n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obody on the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UATX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WiFi can read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your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password,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despite seeing 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every byte you sent.</a:t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839494688_0_116"/>
          <p:cNvSpPr txBox="1"/>
          <p:nvPr/>
        </p:nvSpPr>
        <p:spPr>
          <a:xfrm>
            <a:off x="731520" y="274320"/>
            <a:ext cx="1072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Does this program stop?</a:t>
            </a:r>
            <a:endParaRPr/>
          </a:p>
        </p:txBody>
      </p:sp>
      <p:sp>
        <p:nvSpPr>
          <p:cNvPr id="339" name="Google Shape;339;g3e839494688_0_116"/>
          <p:cNvSpPr/>
          <p:nvPr/>
        </p:nvSpPr>
        <p:spPr>
          <a:xfrm>
            <a:off x="640080" y="228600"/>
            <a:ext cx="1097400" cy="365700"/>
          </a:xfrm>
          <a:prstGeom prst="roundRect">
            <a:avLst>
              <a:gd fmla="val 16667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e839494688_0_116"/>
          <p:cNvSpPr/>
          <p:nvPr/>
        </p:nvSpPr>
        <p:spPr>
          <a:xfrm>
            <a:off x="731520" y="1371600"/>
            <a:ext cx="10728600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e839494688_0_116"/>
          <p:cNvSpPr txBox="1"/>
          <p:nvPr/>
        </p:nvSpPr>
        <p:spPr>
          <a:xfrm>
            <a:off x="1005840" y="1554480"/>
            <a:ext cx="101799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Imagine a perfect checker: a function halts(f) that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returns True if f() eventually stops, and False if f()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runs forever. Always answers, always right. (Your CI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could finally reject any accidental infinite loop.)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839494688_0_124"/>
          <p:cNvSpPr txBox="1"/>
          <p:nvPr/>
        </p:nvSpPr>
        <p:spPr>
          <a:xfrm>
            <a:off x="731520" y="274320"/>
            <a:ext cx="1072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Does this program stop?</a:t>
            </a:r>
            <a:endParaRPr/>
          </a:p>
        </p:txBody>
      </p:sp>
      <p:sp>
        <p:nvSpPr>
          <p:cNvPr id="348" name="Google Shape;348;g3e839494688_0_124"/>
          <p:cNvSpPr/>
          <p:nvPr/>
        </p:nvSpPr>
        <p:spPr>
          <a:xfrm>
            <a:off x="640080" y="228600"/>
            <a:ext cx="1097400" cy="365700"/>
          </a:xfrm>
          <a:prstGeom prst="roundRect">
            <a:avLst>
              <a:gd fmla="val 16667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e839494688_0_124"/>
          <p:cNvSpPr/>
          <p:nvPr/>
        </p:nvSpPr>
        <p:spPr>
          <a:xfrm>
            <a:off x="731520" y="1371600"/>
            <a:ext cx="10728600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839494688_0_124"/>
          <p:cNvSpPr txBox="1"/>
          <p:nvPr/>
        </p:nvSpPr>
        <p:spPr>
          <a:xfrm>
            <a:off x="1005840" y="1554480"/>
            <a:ext cx="10179900" cy="3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Imagine a perfect checker: a function halts(f) that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returns True if f() eventually stops, and False if f()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runs forever. Always answers, always right. (Your CI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could finally reject any accidental infinite loop.)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If we had it, nothing stops us writing this: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doIHalt():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if halts(doIHalt):      # "do I, trouble, ever stop?"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while True:         #   yes? then loop forever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pass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else:                   #   no? then stop right now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839494688_0_132"/>
          <p:cNvSpPr txBox="1"/>
          <p:nvPr/>
        </p:nvSpPr>
        <p:spPr>
          <a:xfrm>
            <a:off x="731520" y="274320"/>
            <a:ext cx="1072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Does this program stop?</a:t>
            </a:r>
            <a:endParaRPr/>
          </a:p>
        </p:txBody>
      </p:sp>
      <p:sp>
        <p:nvSpPr>
          <p:cNvPr id="357" name="Google Shape;357;g3e839494688_0_132"/>
          <p:cNvSpPr/>
          <p:nvPr/>
        </p:nvSpPr>
        <p:spPr>
          <a:xfrm>
            <a:off x="640080" y="228600"/>
            <a:ext cx="1097400" cy="365700"/>
          </a:xfrm>
          <a:prstGeom prst="roundRect">
            <a:avLst>
              <a:gd fmla="val 16667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e839494688_0_132"/>
          <p:cNvSpPr/>
          <p:nvPr/>
        </p:nvSpPr>
        <p:spPr>
          <a:xfrm>
            <a:off x="731520" y="1371600"/>
            <a:ext cx="10728600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e839494688_0_132"/>
          <p:cNvSpPr txBox="1"/>
          <p:nvPr/>
        </p:nvSpPr>
        <p:spPr>
          <a:xfrm>
            <a:off x="1005840" y="1554480"/>
            <a:ext cx="10179900" cy="4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Imagine a perfect checker: a function halts(f) that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returns True if f() eventually stops, and False if f()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runs forever. Always answers, always right. (Your CI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could finally reject any accidental infinite loop.)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If we had it, nothing stops us writing this: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doIHalt():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if halts(doIHalt):      # "do I, trouble, ever stop?"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while True:         #   yes? then loop forever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pass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else:                   #   no? then stop right now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So... does doIHalt() stop?  Try it BOTH ways: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if halts(doIHalt) is True,  what does doIHalt do?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#   if halts(</a:t>
            </a: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doIHalt</a:t>
            </a:r>
            <a:r>
              <a:rPr b="1" lang="en-US" sz="16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) is False, what does </a:t>
            </a: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doIHalt</a:t>
            </a:r>
            <a:r>
              <a:rPr b="1" lang="en-US" sz="16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 do? ________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839494688_0_140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Computability</a:t>
            </a:r>
            <a:endParaRPr/>
          </a:p>
        </p:txBody>
      </p:sp>
      <p:sp>
        <p:nvSpPr>
          <p:cNvPr id="366" name="Google Shape;366;g3e839494688_0_140"/>
          <p:cNvSpPr txBox="1"/>
          <p:nvPr/>
        </p:nvSpPr>
        <p:spPr>
          <a:xfrm>
            <a:off x="914400" y="1463040"/>
            <a:ext cx="103629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only way out is that halts() can't exist in the first place. 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Not 'we haven't built it yet' or 'it'd be too slow' - it is provably impossible for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ANY program to look at any program and always say whether it stops.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So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me perfectly clear yes/no questions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can’t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be programmatically answered.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It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's why no linter or test suite can catch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every infinite loop.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Mapping out what's computable at all is Computability.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Where this goes next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