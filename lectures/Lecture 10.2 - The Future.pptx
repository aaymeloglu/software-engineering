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8" roundtripDataSignature="AMtx7mi/aOyYSgi9RLwuVtP9fVoKRvWcv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Last lecture of the semester. Two halves: project demos for the first chunk of the slot, then a game for the second half - six small problems pulled out of the app they built, each one rigged so their gut answer is wrong, and the field of CS they didn't take is what fixes it. Deliberately lighter than a normal lecture - demo day is tiring, and ending on argue-and-reveal is a good way to close out the semester.</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demos to the game. By now the demos are done and the room is in 'wrapping up' mode. The next stretch hands them six problems that look easy, lets them answer wrong, and names the field that picks up where their intuition runs out.</a:t>
            </a:r>
            <a:endParaRPr/>
          </a:p>
        </p:txBody>
      </p:sp>
      <p:sp>
        <p:nvSpPr>
          <p:cNvPr id="92" name="Google Shape;92;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it as a game, not a survey. The whole move is: get the room to commit to an answer FIRST, out loud, and only then show that the obvious answer doesn't hold and there's a field behind the gap. The wrong answer is the setup; the field is the punchline. Keep the book/course pointers in these notes and only say them out loud if a student bites.</a:t>
            </a:r>
            <a:endParaRPr/>
          </a:p>
        </p:txBody>
      </p:sp>
      <p:sp>
        <p:nvSpPr>
          <p:cNvPr id="98" name="Google Shape;98;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them estimate the set's memory out loud first - a few million distinct ids at 8 bytes each plus set overhead is tens of MB, on every server, forever growing. Then ask: could you do it in a FIXED tiny budget no matter how many users? Most will say no - you can't count distinct things without remembering which you've seen. That's the wall. Reveal HyperLogLog: ~12KB, ~2% error, provable. It's what Redis PFCOUNT and most analytics stacks actually use. Pointer: 'Mining of Massive Datasets' (Leskovec et al., free online) for the streaming/sketch material.</a:t>
            </a:r>
            <a:endParaRPr/>
          </a:p>
        </p:txBody>
      </p:sp>
      <p:sp>
        <p:nvSpPr>
          <p:cNvPr id="105" name="Google Shape;10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839494688_0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g3e839494688_0_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14" name="Google Shape;114;g3e839494688_0_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e839494688_0_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g3e839494688_0_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21" name="Google Shape;121;g3e839494688_0_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28" name="Google Shape;12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guess - 'different RAM sticks?', 'the OS copies it around?', 'one waits for the other?'. The wall: they picture an address as a real fixed location in RAM, so two writes to 0x1000 MUST collide. Reveal virtual memory: the address is per-process and fake, translated to real RAM by the kernel + the MMU on every access. This is the formal version of 9.1's 'process' and 8.1's container. Pointer: OSTEP (free online); Wisconsin lectures on YouTube.</a:t>
            </a:r>
            <a:endParaRPr/>
          </a:p>
        </p:txBody>
      </p:sp>
      <p:sp>
        <p:nvSpPr>
          <p:cNvPr id="135" name="Google Shape;135;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e839494688_0_8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2" name="Google Shape;142;g3e839494688_0_8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43" name="Google Shape;143;g3e839494688_0_88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839494688_0_8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g3e839494688_0_8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50" name="Google Shape;150;g3e839494688_0_8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39494688_0_80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g3e839494688_0_80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57" name="Google Shape;157;g3e839494688_0_80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e839494688_0_30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g3e839494688_0_30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propose - 'there's a backup line?', 'the ISP notices and fixes it?', 'it was already a fixed route?'. The wall: they picture a fixed path, or some central controller with the whole map steering traffic. Neither exists. Reveal: the internet is a graph, and routers run a distributed shortest-path algorithm (distance-vector / link-state, i.e. Bellman-Ford and Dijkstra) that constantly recomputes as links appear and die - surviving pieces going down was literally the ARPANET design goal. If a student bites, BGP is the same idea between whole networks. Pointer: Kurose &amp; Ross (the routing chapters); Beej's guide for the sockets side.</a:t>
            </a:r>
            <a:endParaRPr/>
          </a:p>
        </p:txBody>
      </p:sp>
      <p:sp>
        <p:nvSpPr>
          <p:cNvPr id="164" name="Google Shape;164;g3e839494688_0_30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839494688_0_3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g3e839494688_0_3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network is a graph with no central map, and routing is distributed shortest-path running continuously, so it heals around damage by itself. The thing that breaks intuition isn't the algorithm - it's that it's distributed, live, and self-healing with nobody in charge. That self-healing-under-failure property was the whole ARPANET design motivation.</a:t>
            </a:r>
            <a:endParaRPr/>
          </a:p>
        </p:txBody>
      </p:sp>
      <p:sp>
        <p:nvSpPr>
          <p:cNvPr id="172" name="Google Shape;172;g3e839494688_0_30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39494688_0_3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g3e839494688_0_3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cool part, front and center: the network is a graph with no central map, and routing is distributed shortest-path running continuously, so it heals around damage by itself. The thing that breaks intuition isn't the algorithm (they may know Dijkstra) - it's that it's distributed, live, and self-healing with nobody in charge. That self-healing-under-failure property was the whole ARPANET design motivation.</a:t>
            </a:r>
            <a:endParaRPr/>
          </a:p>
        </p:txBody>
      </p:sp>
      <p:sp>
        <p:nvSpPr>
          <p:cNvPr id="179" name="Google Shape;179;g3e839494688_0_39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839494688_0_9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g3e839494688_0_9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them estimate the nested-loop cost first - 10M x 1M is 10 trillion, clearly hours - then point out the DB does it in seconds, so it can't be looping like that. The wall: they assume a join is a loop inside a loop, because that's how they'd write it. Reveal the hash join: one pass over the smaller users table builds an in-memory id-&gt;name hash (~1M), then one pass over messages does an O(1) lookup each (~10M), so ~11M steps, not 10 trillion. Bigger idea: SQL is DECLARATIVE - you said what, not how - and a query planner chose the hash join over other strategies (sort-merge, nested-loop) on its own. Pointer: CMU 15-445 (query execution / optimizer lectures); Kleppmann's 'Designing Data-Intensive Applications.'</a:t>
            </a:r>
            <a:endParaRPr/>
          </a:p>
        </p:txBody>
      </p:sp>
      <p:sp>
        <p:nvSpPr>
          <p:cNvPr id="186" name="Google Shape;186;g3e839494688_0_9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e839494688_0_9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g3e839494688_0_9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one of a hash join, the BUILD. The engine reads the smaller of the two tables (users) exactly once and drops each row into an in-memory hash table keyed by the join column - here id -&gt; name. After this single pass, looking up the name for any id is one O(1) step. Cost so far: ~1M, one row per user. Walk the picture left to right.</a:t>
            </a:r>
            <a:endParaRPr/>
          </a:p>
        </p:txBody>
      </p:sp>
      <p:sp>
        <p:nvSpPr>
          <p:cNvPr id="195" name="Google Shape;195;g3e839494688_0_99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e839494688_0_10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g3e839494688_0_100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two, the PROBE. The engine walks the BIG table (messages) exactly once; for each row it hashes the user_id, finds the name in the hash table in one O(1) step, and emits the joined row. Cost: ~10M, one lookup per message. Build (~1M) plus probe (~10M) is about 11M steps total, versus 10 trillion for the nested-loop way - and nobody wrote a line of it; the planner chose it.</a:t>
            </a:r>
            <a:endParaRPr/>
          </a:p>
        </p:txBody>
      </p:sp>
      <p:sp>
        <p:nvSpPr>
          <p:cNvPr id="208" name="Google Shape;208;g3e839494688_0_100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e839494688_0_9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g3e839494688_0_9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intuition is that a join is NOT a loop-in-a-loop the way they'd hand-write it - the engine has algorithms (hash join, sort-merge) and a cost-based planner that picks among them. This is query execution / optimization, distinct from the B-trees (2.2) and transactions (2.2 + concurrency) they've already seen. EXPLAIN is the tool that shows the chosen plan.</a:t>
            </a:r>
            <a:endParaRPr/>
          </a:p>
        </p:txBody>
      </p:sp>
      <p:sp>
        <p:nvSpPr>
          <p:cNvPr id="225" name="Google Shape;225;g3e839494688_0_9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839494688_0_8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g3e839494688_0_8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Have them call out a word before the reveal. The wall: 'it only multiplies numbers, so it can't know meaning.' Reveal queen - the famous word2vec result. The model, from reading enough text, put words in a space where direction encodes meaning, so the man-&gt;woman direction equals the king-&gt;queen direction, and meaning becomes literal arithmetic. Pointer: Karpathy's Zero to Hero, and 3Blue1Brown's neural-net / 'what is a GPT' videos for the visuals.</a:t>
            </a:r>
            <a:endParaRPr/>
          </a:p>
        </p:txBody>
      </p:sp>
      <p:sp>
        <p:nvSpPr>
          <p:cNvPr id="232" name="Google Shape;232;g3e839494688_0_89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Have them call out a word before the reveal. The wall: 'it only multiplies numbers, so it can't know meaning.' Reveal queen - the famous word2vec result. The model, from reading enough text, put words in a space where direction encodes meaning, so the man-&gt;woman direction equals the king-&gt;queen direction, and meaning becomes literal arithmetic. Pointer: Karpathy's Zero to Hero, and 3Blue1Brown's neural-net / 'what is a GPT' videos for the visuals.</a:t>
            </a:r>
            <a:endParaRPr/>
          </a:p>
        </p:txBody>
      </p:sp>
      <p:sp>
        <p:nvSpPr>
          <p:cNvPr id="241" name="Google Shape;241;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9" name="Google Shape;24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surprise is that meaning becomes geometry - you can do arithmetic on concepts - which is the opposite of how they imagine a computer 'handling words.' Embeddings are also the engine behind semantic search and RAG, so this is the obvious follow-on for anyone 10.1 hooked.</a:t>
            </a:r>
            <a:endParaRPr/>
          </a:p>
        </p:txBody>
      </p:sp>
      <p:sp>
        <p:nvSpPr>
          <p:cNvPr id="250" name="Google Shape;250;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6" name="Google Shape;25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insist it's impossible - if you heard everything, you know everything they know. That's the wall, and it's the right instinct from everything they've seen. The way out is the paint-mixing picture: mixing two colors is easy, un-mixing is effectively impossible, so each keeps one private color, mixes in public, and they end up at the same blend you can't reverse. That's Diffie-Hellman / public-key crypto, built on one-way functions, and it's how every HTTPS session agrees on a key in the open - the real answer to the coffee-shop WiFi question from 9.2. Pointers: Computerphile's Diffie-Hellman paint video; cryptopals.com; Boneh's Stanford crypto course.</a:t>
            </a:r>
            <a:endParaRPr/>
          </a:p>
        </p:txBody>
      </p:sp>
      <p:sp>
        <p:nvSpPr>
          <p:cNvPr id="257" name="Google Shape;257;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e839494688_0_58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g3e839494688_0_58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core idea. A public/private key pair is generated together and mathematically linked: whatever one locks, only the OTHER opens. Because locking and unlocking are now DIFFERENT keys, Bob can publish the locking (public) key to the whole world - the eavesdropper included - without ever exposing the unlocking (private) one. That asymmetry is the entire trick, and it's why this is called asymmetric, or public-key, cryptography.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See: Euler’s totient function, N = p * q, p, q primes, d x e = 1 mod totient(N)</a:t>
            </a:r>
            <a:endParaRPr/>
          </a:p>
        </p:txBody>
      </p:sp>
      <p:sp>
        <p:nvSpPr>
          <p:cNvPr id="265" name="Google Shape;265;g3e839494688_0_58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e839494688_0_59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6" name="Google Shape;276;g3e839494688_0_59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277" name="Google Shape;277;g3e839494688_0_59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839494688_0_6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9" name="Google Shape;289;g3e839494688_0_6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290" name="Google Shape;290;g3e839494688_0_6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e839494688_0_6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7" name="Google Shape;307;g3e839494688_0_6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308" name="Google Shape;308;g3e839494688_0_6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e839494688_0_6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g3e839494688_0_6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Two things to land: (1) WHY a public key can be public - it rests on a one-way / trapdoor function (easy forward, infeasible back), the classic example being multiply-two-primes vs factor-the-product; and (2) real HTTPS uses the slow public-key step only to agree on a fast symmetric session key, then switches to that - so asymmetric to bootstrap, symmetric for the bulk. This is the full payoff to 9.2's coffee-shop-WiFi question. 'Don't roll your own crypto' stops being a slogan once you see how subtle this is.</a:t>
            </a:r>
            <a:endParaRPr/>
          </a:p>
        </p:txBody>
      </p:sp>
      <p:sp>
        <p:nvSpPr>
          <p:cNvPr id="329" name="Google Shape;329;g3e839494688_0_6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39494688_0_1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g3e839494688_0_1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def trouble():</a:t>
            </a:r>
            <a:endParaRPr/>
          </a:p>
          <a:p>
            <a:pPr indent="0" lvl="0" marL="0" rtl="0" algn="l">
              <a:spcBef>
                <a:spcPts val="0"/>
              </a:spcBef>
              <a:spcAft>
                <a:spcPts val="0"/>
              </a:spcAft>
              <a:buNone/>
            </a:pPr>
            <a:r>
              <a:rPr lang="en-US"/>
              <a:t>    if halts(trouble):      # "do I, trouble, ever stop?"</a:t>
            </a:r>
            <a:endParaRPr/>
          </a:p>
          <a:p>
            <a:pPr indent="0" lvl="0" marL="0" rtl="0" algn="l">
              <a:spcBef>
                <a:spcPts val="0"/>
              </a:spcBef>
              <a:spcAft>
                <a:spcPts val="0"/>
              </a:spcAft>
              <a:buNone/>
            </a:pPr>
            <a:r>
              <a:rPr lang="en-US"/>
              <a:t>        while True:         #   yes? then loop forever</a:t>
            </a:r>
            <a:endParaRPr/>
          </a:p>
          <a:p>
            <a:pPr indent="0" lvl="0" marL="0" rtl="0" algn="l">
              <a:spcBef>
                <a:spcPts val="0"/>
              </a:spcBef>
              <a:spcAft>
                <a:spcPts val="0"/>
              </a:spcAft>
              <a:buNone/>
            </a:pPr>
            <a:r>
              <a:rPr lang="en-US"/>
              <a:t>            pass</a:t>
            </a:r>
            <a:endParaRPr/>
          </a:p>
          <a:p>
            <a:pPr indent="0" lvl="0" marL="0" rtl="0" algn="l">
              <a:spcBef>
                <a:spcPts val="0"/>
              </a:spcBef>
              <a:spcAft>
                <a:spcPts val="0"/>
              </a:spcAft>
              <a:buNone/>
            </a:pPr>
            <a:r>
              <a:rPr lang="en-US"/>
              <a:t>    else:                   #   no? then stop right now</a:t>
            </a:r>
            <a:endParaRPr/>
          </a:p>
          <a:p>
            <a:pPr indent="0" lvl="0" marL="0" rtl="0" algn="l">
              <a:spcBef>
                <a:spcPts val="0"/>
              </a:spcBef>
              <a:spcAft>
                <a:spcPts val="0"/>
              </a:spcAft>
              <a:buNone/>
            </a:pPr>
            <a:r>
              <a:rPr lang="en-US"/>
              <a:t>        return</a:t>
            </a:r>
            <a:endParaRPr/>
          </a:p>
          <a:p>
            <a:pPr indent="0" lvl="0" marL="0" rtl="0" algn="l">
              <a:spcBef>
                <a:spcPts val="0"/>
              </a:spcBef>
              <a:spcAft>
                <a:spcPts val="0"/>
              </a:spcAft>
              <a:buNone/>
            </a:pPr>
            <a:r>
              <a:t/>
            </a:r>
            <a:endParaRPr/>
          </a:p>
        </p:txBody>
      </p:sp>
      <p:sp>
        <p:nvSpPr>
          <p:cNvPr id="336" name="Google Shape;336;g3e839494688_0_1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839494688_0_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g3e839494688_0_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 Walk it slowly on the board, both branches. If halts(trouble) returns True (it stops), trouble hits `while True` and loops forever - so it does NOT stop. If halts returns False (it loops), trouble takes the else and returns - so it DOES stop. Every possible answer is wrong, so the only thing that can be false is the assumption that halts() exists at all. The payoff: this is WHY no tool - not your linter, not your tests, not a coding agent - can ever flag every infinite loop or prove arbitrary code correct in general. Pointer: Sipser's 'Theory of Computation'; the Computerphile halting-problem video; Petzold's 'The Annotated Turing.'</a:t>
            </a:r>
            <a:endParaRPr/>
          </a:p>
        </p:txBody>
      </p:sp>
      <p:sp>
        <p:nvSpPr>
          <p:cNvPr id="345" name="Google Shape;345;g3e839494688_0_1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e839494688_0_1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3" name="Google Shape;353;g3e839494688_0_1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 Walk it slowly on the board, both branches. If halts(trouble) returns True (it stops), trouble hits `while True` and loops forever - so it does NOT stop. If halts returns False (it loops), trouble takes the else and returns - so it DOES stop. Every possible answer is wrong, so the only thing that can be false is the assumption that halts() exists at all. The payoff: this is WHY no tool - not your linter, not your tests, not a coding agent - can ever flag every infinite loop or prove arbitrary code correct in general. Pointer: Sipser's 'Theory of Computation'; the Computerphile halting-problem video; Petzold's 'The Annotated Turing.'</a:t>
            </a:r>
            <a:endParaRPr/>
          </a:p>
        </p:txBody>
      </p:sp>
      <p:sp>
        <p:nvSpPr>
          <p:cNvPr id="354" name="Google Shape;354;g3e839494688_0_1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e839494688_0_1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2" name="Google Shape;362;g3e839494688_0_1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self-reference contradiction is the whole thing - let it land slowly. The connection back to their world: they spent the semester writing tests, CI checks, and leaning on coding agents, and this is the hard ceiling on all of it - 'is this program correct / does it terminate' is undecidable in general, so no tool can ever fully replace running it and thinking. Good, slightly mind-bending note to end the tour on.</a:t>
            </a:r>
            <a:endParaRPr/>
          </a:p>
        </p:txBody>
      </p:sp>
      <p:sp>
        <p:nvSpPr>
          <p:cNvPr id="363" name="Google Shape;363;g3e839494688_0_1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9" name="Google Shape;36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closer. Wrap up the semester on what students DID rather than what they missed - they shipped a working web app, end to end, in ten weeks, and they just watched six whole fields fall out of it.</a:t>
            </a:r>
            <a:endParaRPr/>
          </a:p>
        </p:txBody>
      </p:sp>
      <p:sp>
        <p:nvSpPr>
          <p:cNvPr id="370" name="Google Shape;370;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0"/>
          <p:cNvSpPr/>
          <p:nvPr>
            <p:ph idx="2" type="pic"/>
          </p:nvPr>
        </p:nvSpPr>
        <p:spPr>
          <a:xfrm>
            <a:off x="1792288" y="612775"/>
            <a:ext cx="5486400" cy="4114800"/>
          </a:xfrm>
          <a:prstGeom prst="rect">
            <a:avLst/>
          </a:prstGeom>
          <a:noFill/>
          <a:ln>
            <a:noFill/>
          </a:ln>
        </p:spPr>
      </p:sp>
      <p:sp>
        <p:nvSpPr>
          <p:cNvPr id="64" name="Google Shape;64;p3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10.2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The Future</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93" name="Shape 93"/>
        <p:cNvGrpSpPr/>
        <p:nvPr/>
      </p:nvGrpSpPr>
      <p:grpSpPr>
        <a:xfrm>
          <a:off x="0" y="0"/>
          <a:ext cx="0" cy="0"/>
          <a:chOff x="0" y="0"/>
          <a:chExt cx="0" cy="0"/>
        </a:xfrm>
      </p:grpSpPr>
      <p:sp>
        <p:nvSpPr>
          <p:cNvPr id="94" name="Google Shape;94;p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Six Problems From Your Own App</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game</a:t>
            </a:r>
            <a:endParaRPr/>
          </a:p>
        </p:txBody>
      </p:sp>
      <p:sp>
        <p:nvSpPr>
          <p:cNvPr id="101" name="Google Shape;101;p5"/>
          <p:cNvSpPr txBox="1"/>
          <p:nvPr/>
        </p:nvSpPr>
        <p:spPr>
          <a:xfrm>
            <a:off x="914400" y="1463040"/>
            <a:ext cx="1036289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For the rest of class I'm gonna hand you six small problems, and every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comes straight out of the app you spent ten weeks building - a stat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dashboard, a single message lookup, the model you called in 10.1,</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login you trust.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Each one looks like something you can already answer, and you should try...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answer your gut gives is usually wrong in a way you can't fix with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you know, and that gap is the front door to a whole field of CS with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its own course and its own people who think about nothing else.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the game is: I show you the problem, you argue it out, and then I name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field you just ran into. Six of them, and that wall you hit is kinda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whole point.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How many unique people posted today?</a:t>
            </a:r>
            <a:endParaRPr/>
          </a:p>
        </p:txBody>
      </p:sp>
      <p:sp>
        <p:nvSpPr>
          <p:cNvPr id="108" name="Google Shape;108;p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9" name="Google Shape;109;p6"/>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0" name="Google Shape;110;p6"/>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333344"/>
                </a:solidFill>
                <a:latin typeface="Courier New"/>
                <a:ea typeface="Courier New"/>
                <a:cs typeface="Courier New"/>
                <a:sym typeface="Courier New"/>
              </a:rPr>
              <a:t># Dashboard stat for your chat app: how many DISTINCT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users posted at least once today?</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Today's posts stream past - about 50,000,000 of them.</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Each one carries a user_id, with lots of repeats: the</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chatty users post hundreds of times each.</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seen = set()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for post in todays_posts:        # ~50 million posts</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seen.add(post.user_id)</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answer = len(seen)</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This works. But `seen` now holds every distinct user</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id for the day, in RAM, on every server doing this.</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Roughly how much memory does that set need...</a:t>
            </a:r>
            <a:endParaRPr/>
          </a:p>
          <a:p>
            <a:pPr indent="0" lvl="0" marL="0" marR="0" rtl="0" algn="l">
              <a:spcBef>
                <a:spcPts val="200"/>
              </a:spcBef>
              <a:spcAft>
                <a:spcPts val="0"/>
              </a:spcAft>
              <a:buNone/>
            </a:pPr>
            <a:r>
              <a:rPr b="1" lang="en-US" sz="1500">
                <a:solidFill>
                  <a:srgbClr val="B0B0C0"/>
                </a:solidFill>
                <a:latin typeface="Courier New"/>
                <a:ea typeface="Courier New"/>
                <a:cs typeface="Courier New"/>
                <a:sym typeface="Courier New"/>
              </a:rPr>
              <a:t># and is there any way around it?   ________</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g3e839494688_0_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17" name="Google Shape;117;g3e839494688_0_9"/>
          <p:cNvSpPr txBox="1"/>
          <p:nvPr/>
        </p:nvSpPr>
        <p:spPr>
          <a:xfrm>
            <a:off x="899350" y="1136475"/>
            <a:ext cx="10994400" cy="152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1" marL="457200" marR="0" rtl="0" algn="l">
              <a:spcBef>
                <a:spcPts val="60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g3e839494688_0_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24" name="Google Shape;124;g3e839494688_0_15"/>
          <p:cNvSpPr txBox="1"/>
          <p:nvPr/>
        </p:nvSpPr>
        <p:spPr>
          <a:xfrm>
            <a:off x="899350" y="1136475"/>
            <a:ext cx="10994400" cy="206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You don’t need it if you’re fine with a *little* inaccuracy</a:t>
            </a:r>
            <a:r>
              <a:rPr b="0" lang="en-US" sz="2400">
                <a:solidFill>
                  <a:srgbClr val="333344"/>
                </a:solidFill>
                <a:latin typeface="Calibri"/>
                <a:ea typeface="Calibri"/>
                <a:cs typeface="Calibri"/>
                <a:sym typeface="Calibri"/>
              </a:rPr>
              <a:t>.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31" name="Google Shape;131;p7"/>
          <p:cNvSpPr txBox="1"/>
          <p:nvPr/>
        </p:nvSpPr>
        <p:spPr>
          <a:xfrm>
            <a:off x="899350" y="1136475"/>
            <a:ext cx="10994400" cy="5341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You don’t need it if you’re fine </a:t>
            </a:r>
            <a:r>
              <a:rPr lang="en-US" sz="2400">
                <a:solidFill>
                  <a:srgbClr val="333344"/>
                </a:solidFill>
                <a:latin typeface="Calibri"/>
                <a:ea typeface="Calibri"/>
                <a:cs typeface="Calibri"/>
                <a:sym typeface="Calibri"/>
              </a:rPr>
              <a:t>with</a:t>
            </a:r>
            <a:r>
              <a:rPr lang="en-US" sz="2400">
                <a:solidFill>
                  <a:srgbClr val="333344"/>
                </a:solidFill>
                <a:latin typeface="Calibri"/>
                <a:ea typeface="Calibri"/>
                <a:cs typeface="Calibri"/>
                <a:sym typeface="Calibri"/>
              </a:rPr>
              <a:t> a *little* inaccuracy</a:t>
            </a:r>
            <a:r>
              <a:rPr b="0" lang="en-US" sz="2400">
                <a:solidFill>
                  <a:srgbClr val="333344"/>
                </a:solidFill>
                <a:latin typeface="Calibri"/>
                <a:ea typeface="Calibri"/>
                <a:cs typeface="Calibri"/>
                <a:sym typeface="Calibri"/>
              </a:rPr>
              <a:t>. </a:t>
            </a:r>
            <a:endParaRPr sz="2400">
              <a:solidFill>
                <a:srgbClr val="333344"/>
              </a:solidFill>
              <a:latin typeface="Calibri"/>
              <a:ea typeface="Calibri"/>
              <a:cs typeface="Calibri"/>
              <a:sym typeface="Calibri"/>
            </a:endParaRPr>
          </a:p>
          <a:p>
            <a:pPr indent="0" lvl="0" marL="0" rtl="0" algn="l">
              <a:spcBef>
                <a:spcPts val="600"/>
              </a:spcBef>
              <a:spcAft>
                <a:spcPts val="0"/>
              </a:spcAft>
              <a:buNone/>
            </a:pPr>
            <a:r>
              <a:rPr lang="en-US" sz="2400">
                <a:solidFill>
                  <a:srgbClr val="333344"/>
                </a:solidFill>
                <a:latin typeface="Calibri"/>
                <a:ea typeface="Calibri"/>
                <a:cs typeface="Calibri"/>
                <a:sym typeface="Calibri"/>
              </a:rPr>
              <a:t>HyperLogLog</a:t>
            </a:r>
            <a:endParaRPr sz="2400">
              <a:solidFill>
                <a:srgbClr val="333344"/>
              </a:solidFill>
              <a:latin typeface="Calibri"/>
              <a:ea typeface="Calibri"/>
              <a:cs typeface="Calibri"/>
              <a:sym typeface="Calibri"/>
            </a:endParaRPr>
          </a:p>
          <a:p>
            <a:pPr indent="-355600" lvl="0" marL="457200" rtl="0" algn="l">
              <a:spcBef>
                <a:spcPts val="60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hash each element coming in</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take max(number of leading zeros)</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probability of getting k leading zeros in a row is 1/2</a:t>
            </a:r>
            <a:r>
              <a:rPr baseline="30000" lang="en-US" sz="2000">
                <a:solidFill>
                  <a:srgbClr val="666677"/>
                </a:solidFill>
                <a:latin typeface="Calibri"/>
                <a:ea typeface="Calibri"/>
                <a:cs typeface="Calibri"/>
                <a:sym typeface="Calibri"/>
              </a:rPr>
              <a:t>k</a:t>
            </a:r>
            <a:r>
              <a:rPr lang="en-US" sz="2000">
                <a:solidFill>
                  <a:srgbClr val="666677"/>
                </a:solidFill>
                <a:latin typeface="Calibri"/>
                <a:ea typeface="Calibri"/>
                <a:cs typeface="Calibri"/>
                <a:sym typeface="Calibri"/>
              </a:rPr>
              <a:t>.</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to prevent anomalies and ensure accuracy, the dataset is split into "buckets"</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final estimate is the harmonic mean of all the buckets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Trading a little accuracy for a result millions of times smaller</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Data Structures</a:t>
            </a:r>
            <a:r>
              <a:rPr lang="en-US" sz="2000">
                <a:solidFill>
                  <a:srgbClr val="666677"/>
                </a:solidFill>
                <a:latin typeface="Calibri"/>
                <a:ea typeface="Calibri"/>
                <a:cs typeface="Calibri"/>
                <a:sym typeface="Calibri"/>
              </a:rPr>
              <a:t>/</a:t>
            </a:r>
            <a:r>
              <a:rPr b="0" i="0" lang="en-US" sz="2000" u="none" cap="none" strike="noStrike">
                <a:solidFill>
                  <a:srgbClr val="666677"/>
                </a:solidFill>
                <a:latin typeface="Calibri"/>
                <a:ea typeface="Calibri"/>
                <a:cs typeface="Calibri"/>
                <a:sym typeface="Calibri"/>
              </a:rPr>
              <a:t>Algorithms </a:t>
            </a:r>
            <a:r>
              <a:rPr lang="en-US" sz="2000">
                <a:solidFill>
                  <a:srgbClr val="666677"/>
                </a:solidFill>
                <a:latin typeface="Calibri"/>
                <a:ea typeface="Calibri"/>
                <a:cs typeface="Calibri"/>
                <a:sym typeface="Calibri"/>
              </a:rPr>
              <a:t>is where you learn how to prove/uncover these space/speed tradeoffs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6" name="Shape 136"/>
        <p:cNvGrpSpPr/>
        <p:nvPr/>
      </p:nvGrpSpPr>
      <p:grpSpPr>
        <a:xfrm>
          <a:off x="0" y="0"/>
          <a:ext cx="0" cy="0"/>
          <a:chOff x="0" y="0"/>
          <a:chExt cx="0" cy="0"/>
        </a:xfrm>
      </p:grpSpPr>
      <p:sp>
        <p:nvSpPr>
          <p:cNvPr id="137" name="Google Shape;137;p8"/>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138" name="Google Shape;138;p8"/>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Two programs run at once. Both write to memory address 0x1000. Neither clobbers the other. How?</a:t>
            </a:r>
            <a:endParaRPr/>
          </a:p>
        </p:txBody>
      </p:sp>
      <p:sp>
        <p:nvSpPr>
          <p:cNvPr id="139" name="Google Shape;139;p8"/>
          <p:cNvSpPr txBox="1"/>
          <p:nvPr/>
        </p:nvSpPr>
        <p:spPr>
          <a:xfrm>
            <a:off x="1828800" y="4572000"/>
            <a:ext cx="853409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Same numeric address, same physical RAM in the one machine - and yet neither program ever sees the other's value. What gives?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 name="Shape 144"/>
        <p:cNvGrpSpPr/>
        <p:nvPr/>
      </p:nvGrpSpPr>
      <p:grpSpPr>
        <a:xfrm>
          <a:off x="0" y="0"/>
          <a:ext cx="0" cy="0"/>
          <a:chOff x="0" y="0"/>
          <a:chExt cx="0" cy="0"/>
        </a:xfrm>
      </p:grpSpPr>
      <p:sp>
        <p:nvSpPr>
          <p:cNvPr id="145" name="Google Shape;145;g3e839494688_0_88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46" name="Google Shape;146;g3e839494688_0_886"/>
          <p:cNvSpPr txBox="1"/>
          <p:nvPr/>
        </p:nvSpPr>
        <p:spPr>
          <a:xfrm>
            <a:off x="607600" y="1481100"/>
            <a:ext cx="109806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1" marL="457200" marR="0" rtl="0" algn="l">
              <a:spcBef>
                <a:spcPts val="60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g3e839494688_0_89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53" name="Google Shape;153;g3e839494688_0_892"/>
          <p:cNvSpPr txBox="1"/>
          <p:nvPr/>
        </p:nvSpPr>
        <p:spPr>
          <a:xfrm>
            <a:off x="607600" y="1481100"/>
            <a:ext cx="10980600" cy="3894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Every process gets its own private map of memory, the operating system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chip called the MMU keep those maps, and your pointers never touch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physical RAM directly - they go through that translation every single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time, without you ever noticing it's happening.</a:t>
            </a:r>
            <a:endParaRPr/>
          </a:p>
          <a:p>
            <a:pPr indent="0" lvl="1" marL="457200" marR="0" rtl="0" algn="l">
              <a:spcBef>
                <a:spcPts val="60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g3e839494688_0_80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60" name="Google Shape;160;g3e839494688_0_805"/>
          <p:cNvSpPr txBox="1"/>
          <p:nvPr/>
        </p:nvSpPr>
        <p:spPr>
          <a:xfrm>
            <a:off x="607600" y="1481100"/>
            <a:ext cx="109806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Every process gets its own private map of memory, the operating system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chip called the MMU keep those maps, and your pointers never touch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physical RAM directly - they go through that translation every single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time, without you ever noticing it's happening.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That same illusion is why a container can think it owns the whole machine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b="0" i="0" lang="en-US" sz="2000" u="none" cap="none" strike="noStrike">
                <a:solidFill>
                  <a:srgbClr val="666677"/>
                </a:solidFill>
                <a:latin typeface="Calibri"/>
                <a:ea typeface="Calibri"/>
                <a:cs typeface="Calibri"/>
                <a:sym typeface="Calibri"/>
              </a:rPr>
              <a:t>achinery of maps, pages, and what the kernel does</a:t>
            </a:r>
            <a:r>
              <a:rPr lang="en-US"/>
              <a:t> </a:t>
            </a:r>
            <a:r>
              <a:rPr b="0" i="0" lang="en-US" sz="2000" u="none" cap="none" strike="noStrike">
                <a:solidFill>
                  <a:srgbClr val="666677"/>
                </a:solidFill>
                <a:latin typeface="Calibri"/>
                <a:ea typeface="Calibri"/>
                <a:cs typeface="Calibri"/>
                <a:sym typeface="Calibri"/>
              </a:rPr>
              <a:t>underneath your code is Operating Systems.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65" name="Shape 165"/>
        <p:cNvGrpSpPr/>
        <p:nvPr/>
      </p:nvGrpSpPr>
      <p:grpSpPr>
        <a:xfrm>
          <a:off x="0" y="0"/>
          <a:ext cx="0" cy="0"/>
          <a:chOff x="0" y="0"/>
          <a:chExt cx="0" cy="0"/>
        </a:xfrm>
      </p:grpSpPr>
      <p:sp>
        <p:nvSpPr>
          <p:cNvPr id="166" name="Google Shape;166;g3e839494688_0_302"/>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167" name="Google Shape;167;g3e839494688_0_302"/>
          <p:cNvSpPr txBox="1"/>
          <p:nvPr/>
        </p:nvSpPr>
        <p:spPr>
          <a:xfrm>
            <a:off x="1371600" y="2011680"/>
            <a:ext cx="9448500" cy="21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A backhoe cuts the main fiber between you and your server - a whole path through the internet just vanished. Your next message still lands in 40ms. How?</a:t>
            </a:r>
            <a:endParaRPr/>
          </a:p>
        </p:txBody>
      </p:sp>
      <p:sp>
        <p:nvSpPr>
          <p:cNvPr id="168" name="Google Shape;168;g3e839494688_0_302"/>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Nobody rerouted it by hand, there's no master map of the internet, and no one is in charge of the whole thing. So how does your packet find a way around the break?</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g3e839494688_0_30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Computer Networking</a:t>
            </a:r>
            <a:endParaRPr/>
          </a:p>
        </p:txBody>
      </p:sp>
      <p:sp>
        <p:nvSpPr>
          <p:cNvPr id="175" name="Google Shape;175;g3e839494688_0_309"/>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internet is a GRAPH - routers are dots, the cables between them are edges,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your packet just needs any path through it from you to the server. There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is no master map and nobody steering traffic from above.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Instead every router constantly gossips with its neighbors about who it can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reach and how far, and from that chatter each one works out the current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shortest path to everywhere - the same shortest-path-in-a-graph problem you</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could state in CS2, just running live and nonstop. Cut a cable and that edge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disappears, the news ripples outward in seconds, and every router recomputes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around the gap on its own.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Surviving pieces of the network going down was the original DESIGN GOAL,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graph theory that makes it work is the heart of Computer Networking.</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g3e839494688_0_39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Computer Networking</a:t>
            </a:r>
            <a:endParaRPr/>
          </a:p>
        </p:txBody>
      </p:sp>
      <p:pic>
        <p:nvPicPr>
          <p:cNvPr id="182" name="Google Shape;182;g3e839494688_0_390"/>
          <p:cNvPicPr preferRelativeResize="0"/>
          <p:nvPr/>
        </p:nvPicPr>
        <p:blipFill>
          <a:blip r:embed="rId3">
            <a:alphaModFix/>
          </a:blip>
          <a:stretch>
            <a:fillRect/>
          </a:stretch>
        </p:blipFill>
        <p:spPr>
          <a:xfrm>
            <a:off x="1769400" y="1144100"/>
            <a:ext cx="7906551" cy="525992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g3e839494688_0_906"/>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How does the join not take forever?</a:t>
            </a:r>
            <a:endParaRPr/>
          </a:p>
        </p:txBody>
      </p:sp>
      <p:sp>
        <p:nvSpPr>
          <p:cNvPr id="189" name="Google Shape;189;g3e839494688_0_906"/>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g3e839494688_0_906"/>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1" name="Google Shape;191;g3e839494688_0_906"/>
          <p:cNvSpPr txBox="1"/>
          <p:nvPr/>
        </p:nvSpPr>
        <p:spPr>
          <a:xfrm>
            <a:off x="1005840" y="155448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Your chat app: show every message next to its author's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name. A 1,000,000-row users table, a 10,000,000-row</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messages table.</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SELECT messages.body, users.name</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FROM messages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JOIN users ON users.id = messages.user_id;</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The obvious way to match them: for each of the 10M</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messages, scan the 1M users for the right id. That's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10,000,000 x 1,000,000 = 10 TRILLION comparisons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on real hardware, hours.</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Your database returns it in a couple of seconds, so it</a:t>
            </a:r>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 is NOT doing the obvious thing. What is it doing? ________</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g3e839494688_0_995"/>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Hash join, step 1: build a lookup</a:t>
            </a:r>
            <a:endParaRPr/>
          </a:p>
        </p:txBody>
      </p:sp>
      <p:sp>
        <p:nvSpPr>
          <p:cNvPr id="198" name="Google Shape;198;g3e839494688_0_995"/>
          <p:cNvSpPr txBox="1"/>
          <p:nvPr/>
        </p:nvSpPr>
        <p:spPr>
          <a:xfrm>
            <a:off x="731520" y="1417320"/>
            <a:ext cx="10698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5B21B6"/>
                </a:solidFill>
                <a:latin typeface="Calibri"/>
                <a:ea typeface="Calibri"/>
                <a:cs typeface="Calibri"/>
                <a:sym typeface="Calibri"/>
              </a:rPr>
              <a:t>STEP 1 - BUILD: read the SMALL table once and turn it into a hash table mapping id -&gt; name.</a:t>
            </a:r>
            <a:endParaRPr/>
          </a:p>
        </p:txBody>
      </p:sp>
      <p:sp>
        <p:nvSpPr>
          <p:cNvPr id="199" name="Google Shape;199;g3e839494688_0_995"/>
          <p:cNvSpPr/>
          <p:nvPr/>
        </p:nvSpPr>
        <p:spPr>
          <a:xfrm>
            <a:off x="1097280" y="2468880"/>
            <a:ext cx="2926200" cy="23775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USERS - 1,000,000 rows</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carol</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4   dave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00" name="Google Shape;200;g3e839494688_0_995"/>
          <p:cNvSpPr/>
          <p:nvPr/>
        </p:nvSpPr>
        <p:spPr>
          <a:xfrm>
            <a:off x="4389120" y="3638550"/>
            <a:ext cx="14172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g3e839494688_0_995"/>
          <p:cNvSpPr/>
          <p:nvPr/>
        </p:nvSpPr>
        <p:spPr>
          <a:xfrm>
            <a:off x="5760720" y="352044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g3e839494688_0_995"/>
          <p:cNvSpPr txBox="1"/>
          <p:nvPr/>
        </p:nvSpPr>
        <p:spPr>
          <a:xfrm>
            <a:off x="4297680" y="3063240"/>
            <a:ext cx="18288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read each row once</a:t>
            </a:r>
            <a:endParaRPr/>
          </a:p>
        </p:txBody>
      </p:sp>
      <p:sp>
        <p:nvSpPr>
          <p:cNvPr id="203" name="Google Shape;203;g3e839494688_0_995"/>
          <p:cNvSpPr/>
          <p:nvPr/>
        </p:nvSpPr>
        <p:spPr>
          <a:xfrm>
            <a:off x="6309360" y="2468880"/>
            <a:ext cx="4206300" cy="2377500"/>
          </a:xfrm>
          <a:prstGeom prst="roundRect">
            <a:avLst>
              <a:gd fmla="val 16667" name="adj"/>
            </a:avLst>
          </a:prstGeom>
          <a:solidFill>
            <a:srgbClr val="EDE9FE"/>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HASH TABLE  (in memory)</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-&gt;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-&gt;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-&gt;  carol</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4  -&gt;  dave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04" name="Google Shape;204;g3e839494688_0_995"/>
          <p:cNvSpPr txBox="1"/>
          <p:nvPr/>
        </p:nvSpPr>
        <p:spPr>
          <a:xfrm>
            <a:off x="6309360" y="4983480"/>
            <a:ext cx="4206300" cy="338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now any id -&gt; name is ONE step (O(1)).</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g3e839494688_0_1007"/>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Hash join, step 2: probe</a:t>
            </a:r>
            <a:endParaRPr/>
          </a:p>
        </p:txBody>
      </p:sp>
      <p:sp>
        <p:nvSpPr>
          <p:cNvPr id="211" name="Google Shape;211;g3e839494688_0_1007"/>
          <p:cNvSpPr txBox="1"/>
          <p:nvPr/>
        </p:nvSpPr>
        <p:spPr>
          <a:xfrm>
            <a:off x="731520" y="1417320"/>
            <a:ext cx="106986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5B21B6"/>
                </a:solidFill>
                <a:latin typeface="Calibri"/>
                <a:ea typeface="Calibri"/>
                <a:cs typeface="Calibri"/>
                <a:sym typeface="Calibri"/>
              </a:rPr>
              <a:t>STEP 2 - PROBE: walk the BIG table once; each row looks up its name in the hash table in a single step.</a:t>
            </a:r>
            <a:endParaRPr/>
          </a:p>
        </p:txBody>
      </p:sp>
      <p:sp>
        <p:nvSpPr>
          <p:cNvPr id="212" name="Google Shape;212;g3e839494688_0_1007"/>
          <p:cNvSpPr/>
          <p:nvPr/>
        </p:nvSpPr>
        <p:spPr>
          <a:xfrm>
            <a:off x="548640" y="2468880"/>
            <a:ext cx="3383400" cy="22860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MESSAGES - 10,000,000 rows</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hi     user_id=2</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yo     user_id=1</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sup    user_id=3</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13" name="Google Shape;213;g3e839494688_0_1007"/>
          <p:cNvSpPr/>
          <p:nvPr/>
        </p:nvSpPr>
        <p:spPr>
          <a:xfrm>
            <a:off x="4114800" y="3592830"/>
            <a:ext cx="10515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g3e839494688_0_1007"/>
          <p:cNvSpPr/>
          <p:nvPr/>
        </p:nvSpPr>
        <p:spPr>
          <a:xfrm>
            <a:off x="5120640" y="347472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g3e839494688_0_1007"/>
          <p:cNvSpPr txBox="1"/>
          <p:nvPr/>
        </p:nvSpPr>
        <p:spPr>
          <a:xfrm>
            <a:off x="3977639" y="3017520"/>
            <a:ext cx="16458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hash user_id</a:t>
            </a:r>
            <a:endParaRPr/>
          </a:p>
        </p:txBody>
      </p:sp>
      <p:sp>
        <p:nvSpPr>
          <p:cNvPr id="216" name="Google Shape;216;g3e839494688_0_1007"/>
          <p:cNvSpPr/>
          <p:nvPr/>
        </p:nvSpPr>
        <p:spPr>
          <a:xfrm>
            <a:off x="5577840" y="2468880"/>
            <a:ext cx="2743200" cy="2286000"/>
          </a:xfrm>
          <a:prstGeom prst="roundRect">
            <a:avLst>
              <a:gd fmla="val 16667" name="adj"/>
            </a:avLst>
          </a:prstGeom>
          <a:solidFill>
            <a:srgbClr val="EDE9FE"/>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HASH TABLE</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1 -&gt;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2 -&gt;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3 -&gt; carol</a:t>
            </a:r>
            <a:endParaRPr/>
          </a:p>
        </p:txBody>
      </p:sp>
      <p:sp>
        <p:nvSpPr>
          <p:cNvPr id="217" name="Google Shape;217;g3e839494688_0_1007"/>
          <p:cNvSpPr/>
          <p:nvPr/>
        </p:nvSpPr>
        <p:spPr>
          <a:xfrm>
            <a:off x="8412480" y="3592830"/>
            <a:ext cx="6858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g3e839494688_0_1007"/>
          <p:cNvSpPr/>
          <p:nvPr/>
        </p:nvSpPr>
        <p:spPr>
          <a:xfrm>
            <a:off x="9052560" y="347472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g3e839494688_0_1007"/>
          <p:cNvSpPr txBox="1"/>
          <p:nvPr/>
        </p:nvSpPr>
        <p:spPr>
          <a:xfrm>
            <a:off x="8275320" y="3017520"/>
            <a:ext cx="11886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O(1)</a:t>
            </a:r>
            <a:endParaRPr/>
          </a:p>
        </p:txBody>
      </p:sp>
      <p:sp>
        <p:nvSpPr>
          <p:cNvPr id="220" name="Google Shape;220;g3e839494688_0_1007"/>
          <p:cNvSpPr/>
          <p:nvPr/>
        </p:nvSpPr>
        <p:spPr>
          <a:xfrm>
            <a:off x="9418320" y="2468880"/>
            <a:ext cx="2377500" cy="22860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RESULT</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hi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yo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sup   carol</a:t>
            </a:r>
            <a:endParaRPr/>
          </a:p>
        </p:txBody>
      </p:sp>
      <p:sp>
        <p:nvSpPr>
          <p:cNvPr id="221" name="Google Shape;221;g3e839494688_0_1007"/>
          <p:cNvSpPr txBox="1"/>
          <p:nvPr/>
        </p:nvSpPr>
        <p:spPr>
          <a:xfrm>
            <a:off x="914400" y="5212080"/>
            <a:ext cx="10332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200">
                <a:solidFill>
                  <a:srgbClr val="5B21B6"/>
                </a:solidFill>
                <a:latin typeface="Calibri"/>
                <a:ea typeface="Calibri"/>
                <a:cs typeface="Calibri"/>
                <a:sym typeface="Calibri"/>
              </a:rPr>
              <a:t>One pass to build, one pass to probe - about 11 MILLION steps, not 10 trillion.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26" name="Shape 226"/>
        <p:cNvGrpSpPr/>
        <p:nvPr/>
      </p:nvGrpSpPr>
      <p:grpSpPr>
        <a:xfrm>
          <a:off x="0" y="0"/>
          <a:ext cx="0" cy="0"/>
          <a:chOff x="0" y="0"/>
          <a:chExt cx="0" cy="0"/>
        </a:xfrm>
      </p:grpSpPr>
      <p:sp>
        <p:nvSpPr>
          <p:cNvPr id="227" name="Google Shape;227;g3e839494688_0_91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Database Internals</a:t>
            </a:r>
            <a:endParaRPr/>
          </a:p>
        </p:txBody>
      </p:sp>
      <p:sp>
        <p:nvSpPr>
          <p:cNvPr id="228" name="Google Shape;228;g3e839494688_0_914"/>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It builds a hash table. One pass over the smaller users table turns it into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fast id-to-name lookup (a million entries), then it walks the ten million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messages once and each one does a single O(1) hash lookup to find its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author - so the whole join is about eleven MILLION steps instead of ten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trillion. That's a hash join.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And the part that surprises people: you never asked for that. Your SQL said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you wanted, not HOW, and a piece of the database called the query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planner quietly picked the hash join over a couple of other strategies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based on the table sizes and the indexes that exist - and it can pick wrong.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wrote JOINs in 2.2 and the engine has been silently choosing how to run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them ever since - that whole layer is Database Internals.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g3e839494688_0_898"/>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What word comes out?</a:t>
            </a:r>
            <a:endParaRPr/>
          </a:p>
        </p:txBody>
      </p:sp>
      <p:sp>
        <p:nvSpPr>
          <p:cNvPr id="235" name="Google Shape;235;g3e839494688_0_898"/>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g3e839494688_0_898"/>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g3e839494688_0_898"/>
          <p:cNvSpPr txBox="1"/>
          <p:nvPr/>
        </p:nvSpPr>
        <p:spPr>
          <a:xfrm>
            <a:off x="1005840" y="1554480"/>
            <a:ext cx="10179900" cy="275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In ML, every word gets turned into a long list of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numbers - a "vector", a point in space. The model</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learns these by reading huge amounts of text</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king  = [0.50, 0.71, ...]    # a few thousand numbers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man   = [0.66, 0.20, ...]</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woman = [0.62, 0.74, ...]</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Now just do arithmetic on the points:</a:t>
            </a:r>
            <a:endParaRPr/>
          </a:p>
          <a:p>
            <a:pPr indent="0" lvl="0" marL="0" marR="0" rtl="0" algn="l">
              <a:spcBef>
                <a:spcPts val="200"/>
              </a:spcBef>
              <a:spcAft>
                <a:spcPts val="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 name="Shape 242"/>
        <p:cNvGrpSpPr/>
        <p:nvPr/>
      </p:nvGrpSpPr>
      <p:grpSpPr>
        <a:xfrm>
          <a:off x="0" y="0"/>
          <a:ext cx="0" cy="0"/>
          <a:chOff x="0" y="0"/>
          <a:chExt cx="0" cy="0"/>
        </a:xfrm>
      </p:grpSpPr>
      <p:sp>
        <p:nvSpPr>
          <p:cNvPr id="243" name="Google Shape;243;p1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What word comes out?</a:t>
            </a:r>
            <a:endParaRPr/>
          </a:p>
        </p:txBody>
      </p:sp>
      <p:sp>
        <p:nvSpPr>
          <p:cNvPr id="244" name="Google Shape;244;p1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14"/>
          <p:cNvSpPr txBox="1"/>
          <p:nvPr/>
        </p:nvSpPr>
        <p:spPr>
          <a:xfrm>
            <a:off x="1005840" y="1554480"/>
            <a:ext cx="10179900" cy="438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In ML, every word gets turned into a long list of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numbers - a "vector", a point in space. The model</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learns these by reading huge amounts of text</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king  = [0.50, 0.71, ...]    # a few thousand numbers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man   = [0.66, 0.20, ...]</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woman = [0.62, 0.74, ...]</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Now just do arithmetic on the points: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result = king - man + woman</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`result` lands almost exactly on the vector for one</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specific English word. The model "only does math."</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 name="Shape 251"/>
        <p:cNvGrpSpPr/>
        <p:nvPr/>
      </p:nvGrpSpPr>
      <p:grpSpPr>
        <a:xfrm>
          <a:off x="0" y="0"/>
          <a:ext cx="0" cy="0"/>
          <a:chOff x="0" y="0"/>
          <a:chExt cx="0" cy="0"/>
        </a:xfrm>
      </p:grpSpPr>
      <p:sp>
        <p:nvSpPr>
          <p:cNvPr id="252" name="Google Shape;252;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Machine Learning</a:t>
            </a:r>
            <a:endParaRPr/>
          </a:p>
        </p:txBody>
      </p:sp>
      <p:sp>
        <p:nvSpPr>
          <p:cNvPr id="253" name="Google Shape;253;p15"/>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It lands on queen. Not because anyone programmed that - because the model,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from reading enough text, placed every word in a space where DIRECTION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carries meaning, and the step from 'man' to 'woman' turns out to be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same direction as the step from 'king' to 'queen.'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So 'royal' is a direction, 'plural' is a direction, even 'past tense' is a d</a:t>
            </a:r>
            <a:r>
              <a:rPr lang="en-US" sz="2400">
                <a:solidFill>
                  <a:srgbClr val="333344"/>
                </a:solidFill>
                <a:latin typeface="Calibri"/>
                <a:ea typeface="Calibri"/>
                <a:cs typeface="Calibri"/>
                <a:sym typeface="Calibri"/>
              </a:rPr>
              <a:t>irection.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b="0" i="0" lang="en-US" sz="2000" u="none" cap="none" strike="noStrike">
                <a:solidFill>
                  <a:srgbClr val="666677"/>
                </a:solidFill>
                <a:latin typeface="Calibri"/>
                <a:ea typeface="Calibri"/>
                <a:cs typeface="Calibri"/>
                <a:sym typeface="Calibri"/>
              </a:rPr>
              <a:t>eaning becomes something you can add and subtract.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This</a:t>
            </a:r>
            <a:r>
              <a:rPr b="0" i="0" lang="en-US" sz="2000" u="none" cap="none" strike="noStrike">
                <a:solidFill>
                  <a:srgbClr val="666677"/>
                </a:solidFill>
                <a:latin typeface="Calibri"/>
                <a:ea typeface="Calibri"/>
                <a:cs typeface="Calibri"/>
                <a:sym typeface="Calibri"/>
              </a:rPr>
              <a:t> lets a pile of numbers act like it understands language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it's also how your app could find messages about a topic that never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the exact word.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These vectors (embeddings) are step one of what's inside the black box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b="0" i="0" lang="en-US" sz="2000" u="none" cap="none" strike="noStrike">
                <a:solidFill>
                  <a:srgbClr val="666677"/>
                </a:solidFill>
                <a:latin typeface="Calibri"/>
                <a:ea typeface="Calibri"/>
                <a:cs typeface="Calibri"/>
                <a:sym typeface="Calibri"/>
              </a:rPr>
              <a:t>he rest of that story is Machine Learning.</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58" name="Shape 258"/>
        <p:cNvGrpSpPr/>
        <p:nvPr/>
      </p:nvGrpSpPr>
      <p:grpSpPr>
        <a:xfrm>
          <a:off x="0" y="0"/>
          <a:ext cx="0" cy="0"/>
          <a:chOff x="0" y="0"/>
          <a:chExt cx="0" cy="0"/>
        </a:xfrm>
      </p:grpSpPr>
      <p:sp>
        <p:nvSpPr>
          <p:cNvPr id="259" name="Google Shape;259;p16"/>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260" name="Google Shape;260;p16"/>
          <p:cNvSpPr txBox="1"/>
          <p:nvPr/>
        </p:nvSpPr>
        <p:spPr>
          <a:xfrm>
            <a:off x="1371600" y="2011680"/>
            <a:ext cx="94485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The romance of Alice and Bob</a:t>
            </a:r>
            <a:endParaRPr/>
          </a:p>
        </p:txBody>
      </p:sp>
      <p:sp>
        <p:nvSpPr>
          <p:cNvPr id="261" name="Google Shape;261;p16"/>
          <p:cNvSpPr txBox="1"/>
          <p:nvPr/>
        </p:nvSpPr>
        <p:spPr>
          <a:xfrm>
            <a:off x="1828800" y="4572000"/>
            <a:ext cx="85341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200">
                <a:solidFill>
                  <a:srgbClr val="666677"/>
                </a:solidFill>
                <a:latin typeface="Calibri"/>
                <a:ea typeface="Calibri"/>
                <a:cs typeface="Calibri"/>
                <a:sym typeface="Calibri"/>
              </a:rPr>
              <a:t>They’re exchanging love notes in </a:t>
            </a:r>
            <a:r>
              <a:rPr lang="en-US" sz="2200">
                <a:solidFill>
                  <a:srgbClr val="666677"/>
                </a:solidFill>
                <a:latin typeface="Calibri"/>
                <a:ea typeface="Calibri"/>
                <a:cs typeface="Calibri"/>
                <a:sym typeface="Calibri"/>
              </a:rPr>
              <a:t>public. You can see all the characters they’re sending to each other…why can’t you read any of it?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g3e839494688_0_583"/>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The way out: two keys, not one</a:t>
            </a:r>
            <a:endParaRPr/>
          </a:p>
        </p:txBody>
      </p:sp>
      <p:sp>
        <p:nvSpPr>
          <p:cNvPr id="268" name="Google Shape;268;g3e839494688_0_583"/>
          <p:cNvSpPr txBox="1"/>
          <p:nvPr/>
        </p:nvSpPr>
        <p:spPr>
          <a:xfrm>
            <a:off x="914400" y="1417320"/>
            <a:ext cx="10332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000">
                <a:solidFill>
                  <a:srgbClr val="333344"/>
                </a:solidFill>
                <a:latin typeface="Calibri"/>
                <a:ea typeface="Calibri"/>
                <a:cs typeface="Calibri"/>
                <a:sym typeface="Calibri"/>
              </a:rPr>
              <a:t>Bob makes a matched PAIR of keys at once - locking and unlocking are now DIFFERENT keys.</a:t>
            </a:r>
            <a:endParaRPr/>
          </a:p>
        </p:txBody>
      </p:sp>
      <p:sp>
        <p:nvSpPr>
          <p:cNvPr id="269" name="Google Shape;269;g3e839494688_0_583"/>
          <p:cNvSpPr/>
          <p:nvPr/>
        </p:nvSpPr>
        <p:spPr>
          <a:xfrm>
            <a:off x="1005840" y="2468880"/>
            <a:ext cx="4572000" cy="1280100"/>
          </a:xfrm>
          <a:prstGeom prst="roundRect">
            <a:avLst>
              <a:gd fmla="val 16667" name="adj"/>
            </a:avLst>
          </a:prstGeom>
          <a:solidFill>
            <a:srgbClr val="DCFCE7"/>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600">
                <a:solidFill>
                  <a:srgbClr val="166534"/>
                </a:solidFill>
                <a:latin typeface="Calibri"/>
                <a:ea typeface="Calibri"/>
                <a:cs typeface="Calibri"/>
                <a:sym typeface="Calibri"/>
              </a:rPr>
              <a:t>BOB'S PUBLIC KEY</a:t>
            </a:r>
            <a:endParaRPr/>
          </a:p>
        </p:txBody>
      </p:sp>
      <p:sp>
        <p:nvSpPr>
          <p:cNvPr id="270" name="Google Shape;270;g3e839494688_0_583"/>
          <p:cNvSpPr txBox="1"/>
          <p:nvPr/>
        </p:nvSpPr>
        <p:spPr>
          <a:xfrm>
            <a:off x="1005840" y="3886200"/>
            <a:ext cx="4572000" cy="58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Locks a message shut. Bob hands copies to anyone - he can post it right on his website.</a:t>
            </a:r>
            <a:endParaRPr/>
          </a:p>
        </p:txBody>
      </p:sp>
      <p:sp>
        <p:nvSpPr>
          <p:cNvPr id="271" name="Google Shape;271;g3e839494688_0_583"/>
          <p:cNvSpPr/>
          <p:nvPr/>
        </p:nvSpPr>
        <p:spPr>
          <a:xfrm>
            <a:off x="6583680" y="2468880"/>
            <a:ext cx="4572000" cy="1280100"/>
          </a:xfrm>
          <a:prstGeom prst="roundRect">
            <a:avLst>
              <a:gd fmla="val 16667" name="adj"/>
            </a:avLst>
          </a:prstGeom>
          <a:solidFill>
            <a:srgbClr val="FEE2E2"/>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600">
                <a:solidFill>
                  <a:srgbClr val="DC2626"/>
                </a:solidFill>
                <a:latin typeface="Calibri"/>
                <a:ea typeface="Calibri"/>
                <a:cs typeface="Calibri"/>
                <a:sym typeface="Calibri"/>
              </a:rPr>
              <a:t>BOB'S PRIVATE KEY</a:t>
            </a:r>
            <a:endParaRPr/>
          </a:p>
        </p:txBody>
      </p:sp>
      <p:sp>
        <p:nvSpPr>
          <p:cNvPr id="272" name="Google Shape;272;g3e839494688_0_583"/>
          <p:cNvSpPr txBox="1"/>
          <p:nvPr/>
        </p:nvSpPr>
        <p:spPr>
          <a:xfrm>
            <a:off x="6583680" y="3886200"/>
            <a:ext cx="4572000" cy="58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Opens what the public key locked. Bob shows it to no one, ever.</a:t>
            </a:r>
            <a:endParaRPr/>
          </a:p>
        </p:txBody>
      </p:sp>
      <p:sp>
        <p:nvSpPr>
          <p:cNvPr id="273" name="Google Shape;273;g3e839494688_0_583"/>
          <p:cNvSpPr txBox="1"/>
          <p:nvPr/>
        </p:nvSpPr>
        <p:spPr>
          <a:xfrm>
            <a:off x="914400" y="5303520"/>
            <a:ext cx="10332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200">
                <a:solidFill>
                  <a:srgbClr val="5B21B6"/>
                </a:solidFill>
                <a:latin typeface="Calibri"/>
                <a:ea typeface="Calibri"/>
                <a:cs typeface="Calibri"/>
                <a:sym typeface="Calibri"/>
              </a:rPr>
              <a:t>Lock with the public key, open ONLY with the private key - never the other way around.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g3e839494688_0_594"/>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280" name="Google Shape;280;g3e839494688_0_594"/>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281" name="Google Shape;281;g3e839494688_0_594"/>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282" name="Google Shape;282;g3e839494688_0_594"/>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3" name="Google Shape;283;g3e839494688_0_594"/>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g3e839494688_0_594"/>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285" name="Google Shape;285;g3e839494688_0_594"/>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286" name="Google Shape;286;g3e839494688_0_594"/>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g3e839494688_0_606"/>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293" name="Google Shape;293;g3e839494688_0_606"/>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294" name="Google Shape;294;g3e839494688_0_606"/>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295" name="Google Shape;295;g3e839494688_0_606"/>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g3e839494688_0_606"/>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7" name="Google Shape;297;g3e839494688_0_606"/>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298" name="Google Shape;298;g3e839494688_0_606"/>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299" name="Google Shape;299;g3e839494688_0_606"/>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
        <p:nvSpPr>
          <p:cNvPr id="300" name="Google Shape;300;g3e839494688_0_606"/>
          <p:cNvSpPr/>
          <p:nvPr/>
        </p:nvSpPr>
        <p:spPr>
          <a:xfrm>
            <a:off x="7360920" y="2815590"/>
            <a:ext cx="1188600" cy="38100"/>
          </a:xfrm>
          <a:prstGeom prst="rect">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1" name="Google Shape;301;g3e839494688_0_606"/>
          <p:cNvSpPr/>
          <p:nvPr/>
        </p:nvSpPr>
        <p:spPr>
          <a:xfrm>
            <a:off x="8503920" y="2697480"/>
            <a:ext cx="320100" cy="274200"/>
          </a:xfrm>
          <a:prstGeom prst="chevron">
            <a:avLst>
              <a:gd fmla="val 50000" name="adj"/>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2" name="Google Shape;302;g3e839494688_0_606"/>
          <p:cNvSpPr txBox="1"/>
          <p:nvPr/>
        </p:nvSpPr>
        <p:spPr>
          <a:xfrm>
            <a:off x="7178040" y="2286000"/>
            <a:ext cx="16458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666677"/>
                </a:solidFill>
                <a:latin typeface="Calibri"/>
                <a:ea typeface="Calibri"/>
                <a:cs typeface="Calibri"/>
                <a:sym typeface="Calibri"/>
              </a:rPr>
              <a:t>over open WiFi</a:t>
            </a:r>
            <a:endParaRPr/>
          </a:p>
        </p:txBody>
      </p:sp>
      <p:sp>
        <p:nvSpPr>
          <p:cNvPr id="303" name="Google Shape;303;g3e839494688_0_606"/>
          <p:cNvSpPr/>
          <p:nvPr/>
        </p:nvSpPr>
        <p:spPr>
          <a:xfrm>
            <a:off x="8869680" y="2240280"/>
            <a:ext cx="2743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BOB</a:t>
            </a:r>
            <a:endParaRPr/>
          </a:p>
        </p:txBody>
      </p:sp>
      <p:sp>
        <p:nvSpPr>
          <p:cNvPr id="304" name="Google Shape;304;g3e839494688_0_606"/>
          <p:cNvSpPr txBox="1"/>
          <p:nvPr/>
        </p:nvSpPr>
        <p:spPr>
          <a:xfrm>
            <a:off x="8869680" y="3520440"/>
            <a:ext cx="2743200" cy="554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166534"/>
                </a:solidFill>
                <a:latin typeface="Calibri"/>
                <a:ea typeface="Calibri"/>
                <a:cs typeface="Calibri"/>
                <a:sym typeface="Calibri"/>
              </a:rPr>
              <a:t>unlock w/ PRIVATE key  -&gt;  "hi bob"</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9" name="Shape 309"/>
        <p:cNvGrpSpPr/>
        <p:nvPr/>
      </p:nvGrpSpPr>
      <p:grpSpPr>
        <a:xfrm>
          <a:off x="0" y="0"/>
          <a:ext cx="0" cy="0"/>
          <a:chOff x="0" y="0"/>
          <a:chExt cx="0" cy="0"/>
        </a:xfrm>
      </p:grpSpPr>
      <p:sp>
        <p:nvSpPr>
          <p:cNvPr id="310" name="Google Shape;310;g3e839494688_0_623"/>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311" name="Google Shape;311;g3e839494688_0_623"/>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312" name="Google Shape;312;g3e839494688_0_623"/>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313" name="Google Shape;313;g3e839494688_0_623"/>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4" name="Google Shape;314;g3e839494688_0_623"/>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5" name="Google Shape;315;g3e839494688_0_623"/>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316" name="Google Shape;316;g3e839494688_0_623"/>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317" name="Google Shape;317;g3e839494688_0_623"/>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
        <p:nvSpPr>
          <p:cNvPr id="318" name="Google Shape;318;g3e839494688_0_623"/>
          <p:cNvSpPr/>
          <p:nvPr/>
        </p:nvSpPr>
        <p:spPr>
          <a:xfrm>
            <a:off x="7360920" y="2815590"/>
            <a:ext cx="1188600" cy="38100"/>
          </a:xfrm>
          <a:prstGeom prst="rect">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9" name="Google Shape;319;g3e839494688_0_623"/>
          <p:cNvSpPr/>
          <p:nvPr/>
        </p:nvSpPr>
        <p:spPr>
          <a:xfrm>
            <a:off x="8503920" y="2697480"/>
            <a:ext cx="320100" cy="274200"/>
          </a:xfrm>
          <a:prstGeom prst="chevron">
            <a:avLst>
              <a:gd fmla="val 50000" name="adj"/>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g3e839494688_0_623"/>
          <p:cNvSpPr txBox="1"/>
          <p:nvPr/>
        </p:nvSpPr>
        <p:spPr>
          <a:xfrm>
            <a:off x="7178040" y="2286000"/>
            <a:ext cx="16458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666677"/>
                </a:solidFill>
                <a:latin typeface="Calibri"/>
                <a:ea typeface="Calibri"/>
                <a:cs typeface="Calibri"/>
                <a:sym typeface="Calibri"/>
              </a:rPr>
              <a:t>over open WiFi</a:t>
            </a:r>
            <a:endParaRPr/>
          </a:p>
        </p:txBody>
      </p:sp>
      <p:sp>
        <p:nvSpPr>
          <p:cNvPr id="321" name="Google Shape;321;g3e839494688_0_623"/>
          <p:cNvSpPr/>
          <p:nvPr/>
        </p:nvSpPr>
        <p:spPr>
          <a:xfrm>
            <a:off x="8869680" y="2240280"/>
            <a:ext cx="2743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BOB</a:t>
            </a:r>
            <a:endParaRPr/>
          </a:p>
        </p:txBody>
      </p:sp>
      <p:sp>
        <p:nvSpPr>
          <p:cNvPr id="322" name="Google Shape;322;g3e839494688_0_623"/>
          <p:cNvSpPr txBox="1"/>
          <p:nvPr/>
        </p:nvSpPr>
        <p:spPr>
          <a:xfrm>
            <a:off x="8869680" y="3520440"/>
            <a:ext cx="2743200" cy="554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166534"/>
                </a:solidFill>
                <a:latin typeface="Calibri"/>
                <a:ea typeface="Calibri"/>
                <a:cs typeface="Calibri"/>
                <a:sym typeface="Calibri"/>
              </a:rPr>
              <a:t>unlock w/ PRIVATE key  -&gt;  "hi bob"</a:t>
            </a:r>
            <a:endParaRPr/>
          </a:p>
        </p:txBody>
      </p:sp>
      <p:sp>
        <p:nvSpPr>
          <p:cNvPr id="323" name="Google Shape;323;g3e839494688_0_623"/>
          <p:cNvSpPr/>
          <p:nvPr/>
        </p:nvSpPr>
        <p:spPr>
          <a:xfrm rot="5400000">
            <a:off x="5394995" y="4053120"/>
            <a:ext cx="1188600" cy="31800"/>
          </a:xfrm>
          <a:prstGeom prst="rect">
            <a:avLst/>
          </a:prstGeom>
          <a:solidFill>
            <a:srgbClr val="DC262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g3e839494688_0_623"/>
          <p:cNvSpPr/>
          <p:nvPr/>
        </p:nvSpPr>
        <p:spPr>
          <a:xfrm>
            <a:off x="4114800" y="4663440"/>
            <a:ext cx="3931800" cy="914400"/>
          </a:xfrm>
          <a:prstGeom prst="roundRect">
            <a:avLst>
              <a:gd fmla="val 16667" name="adj"/>
            </a:avLst>
          </a:prstGeom>
          <a:solidFill>
            <a:srgbClr val="FEE2E2"/>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rgbClr val="DC2626"/>
                </a:solidFill>
                <a:latin typeface="Calibri"/>
                <a:ea typeface="Calibri"/>
                <a:cs typeface="Calibri"/>
                <a:sym typeface="Calibri"/>
              </a:rPr>
              <a:t>EAVESDROPPER ON THE WIFI</a:t>
            </a:r>
            <a:endParaRPr/>
          </a:p>
        </p:txBody>
      </p:sp>
      <p:sp>
        <p:nvSpPr>
          <p:cNvPr id="325" name="Google Shape;325;g3e839494688_0_623"/>
          <p:cNvSpPr txBox="1"/>
          <p:nvPr/>
        </p:nvSpPr>
        <p:spPr>
          <a:xfrm>
            <a:off x="3200400" y="5715000"/>
            <a:ext cx="5760600" cy="338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sees the ciphertext AND Bob's public key - and still can't read it.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g3e839494688_0_6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Cryptography &amp; Security</a:t>
            </a:r>
            <a:endParaRPr/>
          </a:p>
        </p:txBody>
      </p:sp>
      <p:sp>
        <p:nvSpPr>
          <p:cNvPr id="332" name="Google Shape;332;g3e839494688_0_643"/>
          <p:cNvSpPr txBox="1"/>
          <p:nvPr/>
        </p:nvSpPr>
        <p:spPr>
          <a:xfrm>
            <a:off x="914400" y="1463040"/>
            <a:ext cx="10362900" cy="4278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Locking is easy and unlocking-without-the-private-key is effectively impossi</a:t>
            </a:r>
            <a:r>
              <a:rPr lang="en-US" sz="2400">
                <a:solidFill>
                  <a:srgbClr val="333344"/>
                </a:solidFill>
                <a:latin typeface="Calibri"/>
                <a:ea typeface="Calibri"/>
                <a:cs typeface="Calibri"/>
                <a:sym typeface="Calibri"/>
              </a:rPr>
              <a:t>ble.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b="0" i="0" lang="en-US" sz="2000" u="none" cap="none" strike="noStrike">
                <a:solidFill>
                  <a:srgbClr val="666677"/>
                </a:solidFill>
                <a:latin typeface="Calibri"/>
                <a:ea typeface="Calibri"/>
                <a:cs typeface="Calibri"/>
                <a:sym typeface="Calibri"/>
              </a:rPr>
              <a:t>hat gap comes from one-way math: multiplying two enormous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prime numbers together is quick, but taking the result and factoring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back into those primes would take longer than the age of the universe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Bob can publish the product as his public key and give nothing away.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When you load an https:// site your browser grabs the server's public key</a:t>
            </a:r>
            <a:r>
              <a:rPr lang="en-US" sz="2400">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uses it to safely agree on a fresh throwaway key just for this session</a:t>
            </a:r>
            <a:r>
              <a:rPr lang="en-US" sz="2000">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encrypts the rest of the conversation with that fast shared key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a:t>
            </a:r>
            <a:r>
              <a:rPr lang="en-US" sz="2000">
                <a:solidFill>
                  <a:srgbClr val="666677"/>
                </a:solidFill>
                <a:latin typeface="Calibri"/>
                <a:ea typeface="Calibri"/>
                <a:cs typeface="Calibri"/>
                <a:sym typeface="Calibri"/>
              </a:rPr>
              <a:t>us, n</a:t>
            </a:r>
            <a:r>
              <a:rPr b="0" i="0" lang="en-US" sz="2000" u="none" cap="none" strike="noStrike">
                <a:solidFill>
                  <a:srgbClr val="666677"/>
                </a:solidFill>
                <a:latin typeface="Calibri"/>
                <a:ea typeface="Calibri"/>
                <a:cs typeface="Calibri"/>
                <a:sym typeface="Calibri"/>
              </a:rPr>
              <a:t>obody on the </a:t>
            </a:r>
            <a:r>
              <a:rPr lang="en-US" sz="2000">
                <a:solidFill>
                  <a:srgbClr val="666677"/>
                </a:solidFill>
                <a:latin typeface="Calibri"/>
                <a:ea typeface="Calibri"/>
                <a:cs typeface="Calibri"/>
                <a:sym typeface="Calibri"/>
              </a:rPr>
              <a:t>UATX</a:t>
            </a:r>
            <a:r>
              <a:rPr b="0" i="0" lang="en-US" sz="2000" u="none" cap="none" strike="noStrike">
                <a:solidFill>
                  <a:srgbClr val="666677"/>
                </a:solidFill>
                <a:latin typeface="Calibri"/>
                <a:ea typeface="Calibri"/>
                <a:cs typeface="Calibri"/>
                <a:sym typeface="Calibri"/>
              </a:rPr>
              <a:t> WiFi can read </a:t>
            </a:r>
            <a:r>
              <a:rPr lang="en-US" sz="2000">
                <a:solidFill>
                  <a:srgbClr val="666677"/>
                </a:solidFill>
                <a:latin typeface="Calibri"/>
                <a:ea typeface="Calibri"/>
                <a:cs typeface="Calibri"/>
                <a:sym typeface="Calibri"/>
              </a:rPr>
              <a:t>your</a:t>
            </a:r>
            <a:r>
              <a:rPr b="0" i="0" lang="en-US" sz="2000" u="none" cap="none" strike="noStrike">
                <a:solidFill>
                  <a:srgbClr val="666677"/>
                </a:solidFill>
                <a:latin typeface="Calibri"/>
                <a:ea typeface="Calibri"/>
                <a:cs typeface="Calibri"/>
                <a:sym typeface="Calibri"/>
              </a:rPr>
              <a:t> password, </a:t>
            </a:r>
            <a:r>
              <a:rPr lang="en-US" sz="2000">
                <a:solidFill>
                  <a:srgbClr val="666677"/>
                </a:solidFill>
                <a:latin typeface="Calibri"/>
                <a:ea typeface="Calibri"/>
                <a:cs typeface="Calibri"/>
                <a:sym typeface="Calibri"/>
              </a:rPr>
              <a:t>despite seeing </a:t>
            </a:r>
            <a:r>
              <a:rPr b="0" i="0" lang="en-US" sz="2000" u="none" cap="none" strike="noStrike">
                <a:solidFill>
                  <a:srgbClr val="666677"/>
                </a:solidFill>
                <a:latin typeface="Calibri"/>
                <a:ea typeface="Calibri"/>
                <a:cs typeface="Calibri"/>
                <a:sym typeface="Calibri"/>
              </a:rPr>
              <a:t>every byte you sent.</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g3e839494688_0_116"/>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39" name="Google Shape;339;g3e839494688_0_116"/>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g3e839494688_0_116"/>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g3e839494688_0_116"/>
          <p:cNvSpPr txBox="1"/>
          <p:nvPr/>
        </p:nvSpPr>
        <p:spPr>
          <a:xfrm>
            <a:off x="1005840" y="1554480"/>
            <a:ext cx="10179900" cy="1426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g3e839494688_0_124"/>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48" name="Google Shape;348;g3e839494688_0_124"/>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9" name="Google Shape;349;g3e839494688_0_124"/>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g3e839494688_0_124"/>
          <p:cNvSpPr txBox="1"/>
          <p:nvPr/>
        </p:nvSpPr>
        <p:spPr>
          <a:xfrm>
            <a:off x="1005840" y="1554480"/>
            <a:ext cx="10179900" cy="3843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we had it, nothing stops us writing this: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def doIHalt():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 "do I, trouble, ever stop?"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while True:         #   yes? then loop forever</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pass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else:                   #   no? then stop right now</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a:t>
            </a:r>
            <a:endParaRPr/>
          </a:p>
          <a:p>
            <a:pPr indent="0" lvl="0" marL="0" marR="0" rtl="0" algn="l">
              <a:spcBef>
                <a:spcPts val="20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g3e839494688_0_132"/>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57" name="Google Shape;357;g3e839494688_0_132"/>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8" name="Google Shape;358;g3e839494688_0_132"/>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9" name="Google Shape;359;g3e839494688_0_132"/>
          <p:cNvSpPr txBox="1"/>
          <p:nvPr/>
        </p:nvSpPr>
        <p:spPr>
          <a:xfrm>
            <a:off x="1005840" y="1554480"/>
            <a:ext cx="10179900" cy="4689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we had it, nothing stops us writing this: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def doIHalt():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 "do I, trouble, ever stop?"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while True:         #   yes? then loop forever</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pass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else:                   #   no? then stop right now</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So... does doIHalt() stop?  Try it BOTH ways: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is True,  what does doIHalt do?</a:t>
            </a:r>
            <a:endParaRPr/>
          </a:p>
          <a:p>
            <a:pPr indent="0" lvl="0" marL="0" marR="0" rtl="0" algn="l">
              <a:spcBef>
                <a:spcPts val="200"/>
              </a:spcBef>
              <a:spcAft>
                <a:spcPts val="0"/>
              </a:spcAft>
              <a:buNone/>
            </a:pPr>
            <a:r>
              <a:rPr b="1" lang="en-US" sz="1600">
                <a:solidFill>
                  <a:srgbClr val="B0B0C0"/>
                </a:solidFill>
                <a:latin typeface="Courier New"/>
                <a:ea typeface="Courier New"/>
                <a:cs typeface="Courier New"/>
                <a:sym typeface="Courier New"/>
              </a:rPr>
              <a:t>#   if halts(</a:t>
            </a:r>
            <a:r>
              <a:rPr b="1" lang="en-US" sz="1600">
                <a:solidFill>
                  <a:srgbClr val="333344"/>
                </a:solidFill>
                <a:latin typeface="Courier New"/>
                <a:ea typeface="Courier New"/>
                <a:cs typeface="Courier New"/>
                <a:sym typeface="Courier New"/>
              </a:rPr>
              <a:t>doIHalt</a:t>
            </a:r>
            <a:r>
              <a:rPr b="1" lang="en-US" sz="1600">
                <a:solidFill>
                  <a:srgbClr val="B0B0C0"/>
                </a:solidFill>
                <a:latin typeface="Courier New"/>
                <a:ea typeface="Courier New"/>
                <a:cs typeface="Courier New"/>
                <a:sym typeface="Courier New"/>
              </a:rPr>
              <a:t>) is False, what does </a:t>
            </a:r>
            <a:r>
              <a:rPr b="1" lang="en-US" sz="1600">
                <a:solidFill>
                  <a:srgbClr val="333344"/>
                </a:solidFill>
                <a:latin typeface="Courier New"/>
                <a:ea typeface="Courier New"/>
                <a:cs typeface="Courier New"/>
                <a:sym typeface="Courier New"/>
              </a:rPr>
              <a:t>doIHalt</a:t>
            </a:r>
            <a:r>
              <a:rPr b="1" lang="en-US" sz="1600">
                <a:solidFill>
                  <a:srgbClr val="B0B0C0"/>
                </a:solidFill>
                <a:latin typeface="Courier New"/>
                <a:ea typeface="Courier New"/>
                <a:cs typeface="Courier New"/>
                <a:sym typeface="Courier New"/>
              </a:rPr>
              <a:t> do? ________</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g3e839494688_0_14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Computability</a:t>
            </a:r>
            <a:endParaRPr/>
          </a:p>
        </p:txBody>
      </p:sp>
      <p:sp>
        <p:nvSpPr>
          <p:cNvPr id="366" name="Google Shape;366;g3e839494688_0_140"/>
          <p:cNvSpPr txBox="1"/>
          <p:nvPr/>
        </p:nvSpPr>
        <p:spPr>
          <a:xfrm>
            <a:off x="914400" y="1463040"/>
            <a:ext cx="10362900" cy="2832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lang="en-US" sz="2400">
                <a:solidFill>
                  <a:srgbClr val="333344"/>
                </a:solidFill>
                <a:latin typeface="Calibri"/>
                <a:ea typeface="Calibri"/>
                <a:cs typeface="Calibri"/>
                <a:sym typeface="Calibri"/>
              </a:rPr>
              <a:t>The only way out is that halts() can't exist in the first place.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Not 'we haven't built it yet' or 'it'd be too slow' - it is provably impossible 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ANY program to look at any program and always say whether it stops.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So</a:t>
            </a:r>
            <a:r>
              <a:rPr b="0" lang="en-US" sz="2400">
                <a:solidFill>
                  <a:srgbClr val="333344"/>
                </a:solidFill>
                <a:latin typeface="Calibri"/>
                <a:ea typeface="Calibri"/>
                <a:cs typeface="Calibri"/>
                <a:sym typeface="Calibri"/>
              </a:rPr>
              <a:t>me perfectly clear yes/no questions </a:t>
            </a:r>
            <a:r>
              <a:rPr lang="en-US" sz="2400">
                <a:solidFill>
                  <a:srgbClr val="333344"/>
                </a:solidFill>
                <a:latin typeface="Calibri"/>
                <a:ea typeface="Calibri"/>
                <a:cs typeface="Calibri"/>
                <a:sym typeface="Calibri"/>
              </a:rPr>
              <a:t>can’t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be programmatically answered.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It</a:t>
            </a:r>
            <a:r>
              <a:rPr b="0" i="0" lang="en-US" sz="2000" u="none" cap="none" strike="noStrike">
                <a:solidFill>
                  <a:srgbClr val="666677"/>
                </a:solidFill>
                <a:latin typeface="Calibri"/>
                <a:ea typeface="Calibri"/>
                <a:cs typeface="Calibri"/>
                <a:sym typeface="Calibri"/>
              </a:rPr>
              <a:t>'s why no linter or test suite can catch </a:t>
            </a:r>
            <a:r>
              <a:rPr lang="en-US" sz="2000">
                <a:solidFill>
                  <a:srgbClr val="666677"/>
                </a:solidFill>
                <a:latin typeface="Calibri"/>
                <a:ea typeface="Calibri"/>
                <a:cs typeface="Calibri"/>
                <a:sym typeface="Calibri"/>
              </a:rPr>
              <a:t>every infinite loop.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Mapping out what's computable at all is Computability.</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71" name="Shape 371"/>
        <p:cNvGrpSpPr/>
        <p:nvPr/>
      </p:nvGrpSpPr>
      <p:grpSpPr>
        <a:xfrm>
          <a:off x="0" y="0"/>
          <a:ext cx="0" cy="0"/>
          <a:chOff x="0" y="0"/>
          <a:chExt cx="0" cy="0"/>
        </a:xfrm>
      </p:grpSpPr>
      <p:sp>
        <p:nvSpPr>
          <p:cNvPr id="372" name="Google Shape;372;p18"/>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400">
                <a:solidFill>
                  <a:srgbClr val="5B21B6"/>
                </a:solidFill>
                <a:latin typeface="Calibri"/>
                <a:ea typeface="Calibri"/>
                <a:cs typeface="Calibri"/>
                <a:sym typeface="Calibri"/>
              </a:rPr>
              <a:t>Where this goes next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