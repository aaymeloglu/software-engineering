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core.xml" ContentType="application/vnd.openxmlformats-package.core-properties+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48"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 id="282" r:id="rId32"/>
    <p:sldId id="283" r:id="rId33"/>
    <p:sldId id="284" r:id="rId34"/>
    <p:sldId id="285" r:id="rId35"/>
    <p:sldId id="286" r:id="rId36"/>
    <p:sldId id="287" r:id="rId37"/>
  </p:sldIdLst>
  <p:sldSz cy="6858000" cx="12191675"/>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160">
          <p15:clr>
            <a:srgbClr val="000000"/>
          </p15:clr>
        </p15:guide>
        <p15:guide id="2" pos="2880">
          <p15:clr>
            <a:srgbClr val="000000"/>
          </p15:clr>
        </p15:guide>
      </p15:sldGuideLst>
    </p:ext>
    <p:ext uri="GoogleSlidesCustomDataVersion2">
      <go:slidesCustomData xmlns:go="http://customooxmlschemas.google.com/" r:id="rId38" roundtripDataSignature="AMtx7mi/aOyYSgi9RLwuVtP9fVoKRvWcvg=="/>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16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 Id="rId25" Type="http://schemas.openxmlformats.org/officeDocument/2006/relationships/slide" Target="slides/slide20.xml"/><Relationship Id="rId26" Type="http://schemas.openxmlformats.org/officeDocument/2006/relationships/slide" Target="slides/slide21.xml"/><Relationship Id="rId27" Type="http://schemas.openxmlformats.org/officeDocument/2006/relationships/slide" Target="slides/slide22.xml"/><Relationship Id="rId28" Type="http://schemas.openxmlformats.org/officeDocument/2006/relationships/slide" Target="slides/slide23.xml"/><Relationship Id="rId29" Type="http://schemas.openxmlformats.org/officeDocument/2006/relationships/slide" Target="slides/slide24.xml"/><Relationship Id="rId30" Type="http://schemas.openxmlformats.org/officeDocument/2006/relationships/slide" Target="slides/slide25.xml"/><Relationship Id="rId31" Type="http://schemas.openxmlformats.org/officeDocument/2006/relationships/slide" Target="slides/slide26.xml"/><Relationship Id="rId32" Type="http://schemas.openxmlformats.org/officeDocument/2006/relationships/slide" Target="slides/slide27.xml"/><Relationship Id="rId33" Type="http://schemas.openxmlformats.org/officeDocument/2006/relationships/slide" Target="slides/slide28.xml"/><Relationship Id="rId34" Type="http://schemas.openxmlformats.org/officeDocument/2006/relationships/slide" Target="slides/slide29.xml"/><Relationship Id="rId35" Type="http://schemas.openxmlformats.org/officeDocument/2006/relationships/slide" Target="slides/slide30.xml"/><Relationship Id="rId36" Type="http://schemas.openxmlformats.org/officeDocument/2006/relationships/slide" Target="slides/slide31.xml"/><Relationship Id="rId37" Type="http://schemas.openxmlformats.org/officeDocument/2006/relationships/slide" Target="slides/slide32.xml"/><Relationship Id="rId38" Type="http://customschemas.google.com/relationships/presentationmetadata" Target="meta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 name="Shape 80"/>
        <p:cNvGrpSpPr/>
        <p:nvPr/>
      </p:nvGrpSpPr>
      <p:grpSpPr>
        <a:xfrm>
          <a:off x="0" y="0"/>
          <a:ext cx="0" cy="0"/>
          <a:chOff x="0" y="0"/>
          <a:chExt cx="0" cy="0"/>
        </a:xfrm>
      </p:grpSpPr>
      <p:sp>
        <p:nvSpPr>
          <p:cNvPr id="81" name="Google Shape;81;p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2" name="Google Shape;82;p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Last lecture of the semester. Two halves: project demos for the first chunk of the slot, then a game for the second half - six small problems pulled out of the app they built, each one rigged so their gut answer is wrong, and the field of CS they didn't take is what fixes it. Deliberately lighter than a normal lecture - demo day is tiring, and ending on argue-and-reveal is a good way to close out the semester.</a:t>
            </a:r>
            <a:endParaRPr/>
          </a:p>
        </p:txBody>
      </p:sp>
      <p:sp>
        <p:nvSpPr>
          <p:cNvPr id="83" name="Google Shape;83;p1: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9" name="Shape 89"/>
        <p:cNvGrpSpPr/>
        <p:nvPr/>
      </p:nvGrpSpPr>
      <p:grpSpPr>
        <a:xfrm>
          <a:off x="0" y="0"/>
          <a:ext cx="0" cy="0"/>
          <a:chOff x="0" y="0"/>
          <a:chExt cx="0" cy="0"/>
        </a:xfrm>
      </p:grpSpPr>
      <p:sp>
        <p:nvSpPr>
          <p:cNvPr id="90" name="Google Shape;90;p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91" name="Google Shape;91;p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Pivot from demos to the game. By now the demos are done and the room is in 'wrapping up' mode. The next stretch hands them six problems that look easy, lets them answer wrong, and names the field that picks up where their intuition runs out.</a:t>
            </a:r>
            <a:endParaRPr/>
          </a:p>
        </p:txBody>
      </p:sp>
      <p:sp>
        <p:nvSpPr>
          <p:cNvPr id="92" name="Google Shape;92;p4: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5" name="Shape 95"/>
        <p:cNvGrpSpPr/>
        <p:nvPr/>
      </p:nvGrpSpPr>
      <p:grpSpPr>
        <a:xfrm>
          <a:off x="0" y="0"/>
          <a:ext cx="0" cy="0"/>
          <a:chOff x="0" y="0"/>
          <a:chExt cx="0" cy="0"/>
        </a:xfrm>
      </p:grpSpPr>
      <p:sp>
        <p:nvSpPr>
          <p:cNvPr id="96" name="Google Shape;96;p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97" name="Google Shape;97;p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Frame it as a game, not a survey. The whole move is getting the room to commit to an answer FIRST, out loud, and only then showing that the obvious answer doesn't hold up and there's a whole field sitting behind the gap. Their wrong answer is doing the setup work for you. Keep the book/course pointers in these notes and only say them out loud if a student bites.</a:t>
            </a:r>
            <a:endParaRPr/>
          </a:p>
        </p:txBody>
      </p:sp>
      <p:sp>
        <p:nvSpPr>
          <p:cNvPr id="98" name="Google Shape;98;p5: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 name="Shape 102"/>
        <p:cNvGrpSpPr/>
        <p:nvPr/>
      </p:nvGrpSpPr>
      <p:grpSpPr>
        <a:xfrm>
          <a:off x="0" y="0"/>
          <a:ext cx="0" cy="0"/>
          <a:chOff x="0" y="0"/>
          <a:chExt cx="0" cy="0"/>
        </a:xfrm>
      </p:grpSpPr>
      <p:sp>
        <p:nvSpPr>
          <p:cNvPr id="103" name="Google Shape;103;p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04" name="Google Shape;104;p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Make them estimate the set's memory out loud first - a few million distinct ids at 8 bytes each plus set overhead is tens of MB, on every server, forever growing. Then ask: could you do it in a FIXED tiny budget no matter how many users? Most will say no - you can't count distinct things without remembering which you've seen. That's the wall. Reveal HyperLogLog: ~12KB, ~2% error, provable. It's what Redis PFCOUNT and most analytics stacks actually use. Pointer: 'Mining of Massive Datasets' (Leskovec et al., free online) for the streaming/sketch material.</a:t>
            </a:r>
            <a:endParaRPr/>
          </a:p>
        </p:txBody>
      </p:sp>
      <p:sp>
        <p:nvSpPr>
          <p:cNvPr id="105" name="Google Shape;105;p6: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1" name="Shape 111"/>
        <p:cNvGrpSpPr/>
        <p:nvPr/>
      </p:nvGrpSpPr>
      <p:grpSpPr>
        <a:xfrm>
          <a:off x="0" y="0"/>
          <a:ext cx="0" cy="0"/>
          <a:chOff x="0" y="0"/>
          <a:chExt cx="0" cy="0"/>
        </a:xfrm>
      </p:grpSpPr>
      <p:sp>
        <p:nvSpPr>
          <p:cNvPr id="112" name="Google Shape;112;g3e839494688_0_9: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13" name="Google Shape;113;g3e839494688_0_9: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reveal. The thing that breaks their intuition is that you can count distinct items WITHOUT storing them - the CS1/2 reflex is 'use a set,' and the field's answer is a probabilistic sketch with a proof attached. This is the deep end: randomized and streaming algorithms, approximation with guarantees.</a:t>
            </a:r>
            <a:endParaRPr/>
          </a:p>
        </p:txBody>
      </p:sp>
      <p:sp>
        <p:nvSpPr>
          <p:cNvPr id="114" name="Google Shape;114;g3e839494688_0_9: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8" name="Shape 118"/>
        <p:cNvGrpSpPr/>
        <p:nvPr/>
      </p:nvGrpSpPr>
      <p:grpSpPr>
        <a:xfrm>
          <a:off x="0" y="0"/>
          <a:ext cx="0" cy="0"/>
          <a:chOff x="0" y="0"/>
          <a:chExt cx="0" cy="0"/>
        </a:xfrm>
      </p:grpSpPr>
      <p:sp>
        <p:nvSpPr>
          <p:cNvPr id="119" name="Google Shape;119;g3e839494688_0_1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20" name="Google Shape;120;g3e839494688_0_1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reveal. The thing that breaks their intuition is that you can count distinct items WITHOUT storing them - the CS1/2 reflex is 'use a set,' and the field's answer is a probabilistic sketch with a proof attached. This is the deep end: randomized and streaming algorithms, approximation with guarantees.</a:t>
            </a:r>
            <a:endParaRPr/>
          </a:p>
        </p:txBody>
      </p:sp>
      <p:sp>
        <p:nvSpPr>
          <p:cNvPr id="121" name="Google Shape;121;g3e839494688_0_15: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5" name="Shape 125"/>
        <p:cNvGrpSpPr/>
        <p:nvPr/>
      </p:nvGrpSpPr>
      <p:grpSpPr>
        <a:xfrm>
          <a:off x="0" y="0"/>
          <a:ext cx="0" cy="0"/>
          <a:chOff x="0" y="0"/>
          <a:chExt cx="0" cy="0"/>
        </a:xfrm>
      </p:grpSpPr>
      <p:sp>
        <p:nvSpPr>
          <p:cNvPr id="126" name="Google Shape;126;p7: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27" name="Google Shape;127;p7: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reveal. The thing that breaks their intuition is that you can count distinct items WITHOUT storing them - the CS1/2 reflex is 'use a set,' and the field's answer is a probabilistic sketch with a proof attached. This is the deep end: randomized and streaming algorithms, approximation with guarantees.</a:t>
            </a:r>
            <a:endParaRPr/>
          </a:p>
        </p:txBody>
      </p:sp>
      <p:sp>
        <p:nvSpPr>
          <p:cNvPr id="128" name="Google Shape;128;p7: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2" name="Shape 132"/>
        <p:cNvGrpSpPr/>
        <p:nvPr/>
      </p:nvGrpSpPr>
      <p:grpSpPr>
        <a:xfrm>
          <a:off x="0" y="0"/>
          <a:ext cx="0" cy="0"/>
          <a:chOff x="0" y="0"/>
          <a:chExt cx="0" cy="0"/>
        </a:xfrm>
      </p:grpSpPr>
      <p:sp>
        <p:nvSpPr>
          <p:cNvPr id="133" name="Google Shape;133;p8: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34" name="Google Shape;134;p8: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Let them guess - 'different RAM sticks?', 'the OS copies it around?', 'one waits for the other?'. The wall: they picture an address as a real fixed location in RAM, so two writes to 0x1000 MUST collide. Reveal virtual memory: the address is per-process and fake, translated to real RAM by the kernel + the MMU on every access. This is the formal version of 9.1's 'process' and 8.1's container. Pointer: OSTEP (free online); Wisconsin lectures on YouTube.</a:t>
            </a:r>
            <a:endParaRPr/>
          </a:p>
        </p:txBody>
      </p:sp>
      <p:sp>
        <p:nvSpPr>
          <p:cNvPr id="135" name="Google Shape;135;p8: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 name="Shape 140"/>
        <p:cNvGrpSpPr/>
        <p:nvPr/>
      </p:nvGrpSpPr>
      <p:grpSpPr>
        <a:xfrm>
          <a:off x="0" y="0"/>
          <a:ext cx="0" cy="0"/>
          <a:chOff x="0" y="0"/>
          <a:chExt cx="0" cy="0"/>
        </a:xfrm>
      </p:grpSpPr>
      <p:sp>
        <p:nvSpPr>
          <p:cNvPr id="141" name="Google Shape;141;g3e839494688_0_88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42" name="Google Shape;142;g3e839494688_0_88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 pointer doesn't point at real memory - virtual addressing is invisible from inside your program, which is exactly why it never came up all semester. Strong pick for anyone who wants to understand what's really inside a process or a container.</a:t>
            </a:r>
            <a:endParaRPr/>
          </a:p>
        </p:txBody>
      </p:sp>
      <p:sp>
        <p:nvSpPr>
          <p:cNvPr id="143" name="Google Shape;143;g3e839494688_0_886: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7" name="Shape 147"/>
        <p:cNvGrpSpPr/>
        <p:nvPr/>
      </p:nvGrpSpPr>
      <p:grpSpPr>
        <a:xfrm>
          <a:off x="0" y="0"/>
          <a:ext cx="0" cy="0"/>
          <a:chOff x="0" y="0"/>
          <a:chExt cx="0" cy="0"/>
        </a:xfrm>
      </p:grpSpPr>
      <p:sp>
        <p:nvSpPr>
          <p:cNvPr id="148" name="Google Shape;148;g3e839494688_0_89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49" name="Google Shape;149;g3e839494688_0_89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 pointer doesn't point at real memory - virtual addressing is invisible from inside your program, which is exactly why it never came up all semester. Strong pick for anyone who wants to understand what's really inside a process or a container.</a:t>
            </a:r>
            <a:endParaRPr/>
          </a:p>
        </p:txBody>
      </p:sp>
      <p:sp>
        <p:nvSpPr>
          <p:cNvPr id="150" name="Google Shape;150;g3e839494688_0_892: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4" name="Shape 154"/>
        <p:cNvGrpSpPr/>
        <p:nvPr/>
      </p:nvGrpSpPr>
      <p:grpSpPr>
        <a:xfrm>
          <a:off x="0" y="0"/>
          <a:ext cx="0" cy="0"/>
          <a:chOff x="0" y="0"/>
          <a:chExt cx="0" cy="0"/>
        </a:xfrm>
      </p:grpSpPr>
      <p:sp>
        <p:nvSpPr>
          <p:cNvPr id="155" name="Google Shape;155;g3e839494688_0_80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56" name="Google Shape;156;g3e839494688_0_80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 pointer doesn't point at real memory - virtual addressing is invisible from inside your program, which is exactly why it never came up all semester. Strong pick for anyone who wants to understand what's really inside a process or a container.</a:t>
            </a:r>
            <a:endParaRPr/>
          </a:p>
        </p:txBody>
      </p:sp>
      <p:sp>
        <p:nvSpPr>
          <p:cNvPr id="157" name="Google Shape;157;g3e839494688_0_805: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1" name="Shape 161"/>
        <p:cNvGrpSpPr/>
        <p:nvPr/>
      </p:nvGrpSpPr>
      <p:grpSpPr>
        <a:xfrm>
          <a:off x="0" y="0"/>
          <a:ext cx="0" cy="0"/>
          <a:chOff x="0" y="0"/>
          <a:chExt cx="0" cy="0"/>
        </a:xfrm>
      </p:grpSpPr>
      <p:sp>
        <p:nvSpPr>
          <p:cNvPr id="162" name="Google Shape;162;g3e839494688_0_30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63" name="Google Shape;163;g3e839494688_0_30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Let them propose - 'there's a backup line?', 'the ISP notices and fixes it?', 'it was already a fixed route?'. The wall: they picture a fixed path, or some central controller with the whole map steering traffic. Neither exists. Reveal: the internet is a graph, and routers run a distributed shortest-path algorithm (distance-vector / link-state, i.e. Bellman-Ford and Dijkstra) that constantly recomputes as links appear and die - surviving pieces going down was literally the ARPANET design goal. If a student bites, BGP is the same idea between whole networks. Pointer: Kurose &amp; Ross (the routing chapters); Beej's guide for the sockets side.</a:t>
            </a:r>
            <a:endParaRPr/>
          </a:p>
        </p:txBody>
      </p:sp>
      <p:sp>
        <p:nvSpPr>
          <p:cNvPr id="164" name="Google Shape;164;g3e839494688_0_302: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9" name="Shape 169"/>
        <p:cNvGrpSpPr/>
        <p:nvPr/>
      </p:nvGrpSpPr>
      <p:grpSpPr>
        <a:xfrm>
          <a:off x="0" y="0"/>
          <a:ext cx="0" cy="0"/>
          <a:chOff x="0" y="0"/>
          <a:chExt cx="0" cy="0"/>
        </a:xfrm>
      </p:grpSpPr>
      <p:sp>
        <p:nvSpPr>
          <p:cNvPr id="170" name="Google Shape;170;g3e839494688_0_309: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71" name="Google Shape;171;g3e839494688_0_309: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network is a graph with no central map, and routing is distributed shortest-path running continuously, so it heals around damage by itself. What breaks intuition here is that the whole thing runs distributed and live and self-healing, with nobody in charge of any of it. That self-healing-under-failure property was the whole ARPANET design motivation.</a:t>
            </a:r>
            <a:endParaRPr/>
          </a:p>
        </p:txBody>
      </p:sp>
      <p:sp>
        <p:nvSpPr>
          <p:cNvPr id="172" name="Google Shape;172;g3e839494688_0_309: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 name="Shape 176"/>
        <p:cNvGrpSpPr/>
        <p:nvPr/>
      </p:nvGrpSpPr>
      <p:grpSpPr>
        <a:xfrm>
          <a:off x="0" y="0"/>
          <a:ext cx="0" cy="0"/>
          <a:chOff x="0" y="0"/>
          <a:chExt cx="0" cy="0"/>
        </a:xfrm>
      </p:grpSpPr>
      <p:sp>
        <p:nvSpPr>
          <p:cNvPr id="177" name="Google Shape;177;g3e839494688_0_390: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78" name="Google Shape;178;g3e839494688_0_390: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reveal. The cool part, front and center: the network is a graph with no central map, and routing is distributed shortest-path running continuously, so it heals around damage by itself. They may well know Dijkstra already, so what breaks intuition here is that the whole thing runs distributed and live and self-healing, with nobody in charge of any of it. That self-healing-under-failure property was the whole ARPANET design motivation.</a:t>
            </a:r>
            <a:endParaRPr/>
          </a:p>
        </p:txBody>
      </p:sp>
      <p:sp>
        <p:nvSpPr>
          <p:cNvPr id="179" name="Google Shape;179;g3e839494688_0_390: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3" name="Shape 183"/>
        <p:cNvGrpSpPr/>
        <p:nvPr/>
      </p:nvGrpSpPr>
      <p:grpSpPr>
        <a:xfrm>
          <a:off x="0" y="0"/>
          <a:ext cx="0" cy="0"/>
          <a:chOff x="0" y="0"/>
          <a:chExt cx="0" cy="0"/>
        </a:xfrm>
      </p:grpSpPr>
      <p:sp>
        <p:nvSpPr>
          <p:cNvPr id="184" name="Google Shape;184;g3e839494688_0_90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85" name="Google Shape;185;g3e839494688_0_90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Make them estimate the nested-loop cost first - 10M x 1M is 10 trillion, clearly hours - then point out the DB does it in seconds, so it can't be looping like that. The wall: they assume a join is a loop inside a loop, because that's how they'd write it. Reveal the hash join: one pass over the smaller users table builds an in-memory id-&gt;name hash (~1M), then one pass over messages does an O(1) lookup each (~10M), so ~11M steps, not 10 trillion. Bigger idea: SQL is DECLARATIVE - you said what, not how - and a query planner chose the hash join over other strategies (sort-merge, nested-loop) on its own. Pointer: CMU 15-445 (query execution / optimizer lectures); Kleppmann's 'Designing Data-Intensive Applications.'</a:t>
            </a:r>
            <a:endParaRPr/>
          </a:p>
        </p:txBody>
      </p:sp>
      <p:sp>
        <p:nvSpPr>
          <p:cNvPr id="186" name="Google Shape;186;g3e839494688_0_906: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2" name="Shape 192"/>
        <p:cNvGrpSpPr/>
        <p:nvPr/>
      </p:nvGrpSpPr>
      <p:grpSpPr>
        <a:xfrm>
          <a:off x="0" y="0"/>
          <a:ext cx="0" cy="0"/>
          <a:chOff x="0" y="0"/>
          <a:chExt cx="0" cy="0"/>
        </a:xfrm>
      </p:grpSpPr>
      <p:sp>
        <p:nvSpPr>
          <p:cNvPr id="193" name="Google Shape;193;g3e839494688_0_99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94" name="Google Shape;194;g3e839494688_0_99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Step one of a hash join, the BUILD. The engine reads the smaller of the two tables (users) exactly once and drops each row into an in-memory hash table keyed by the join column - here id -&gt; name. After this single pass, looking up the name for any id is one O(1) step. Cost so far: ~1M, one row per user. Walk the picture left to right.</a:t>
            </a:r>
            <a:endParaRPr/>
          </a:p>
        </p:txBody>
      </p:sp>
      <p:sp>
        <p:nvSpPr>
          <p:cNvPr id="195" name="Google Shape;195;g3e839494688_0_995: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5" name="Shape 205"/>
        <p:cNvGrpSpPr/>
        <p:nvPr/>
      </p:nvGrpSpPr>
      <p:grpSpPr>
        <a:xfrm>
          <a:off x="0" y="0"/>
          <a:ext cx="0" cy="0"/>
          <a:chOff x="0" y="0"/>
          <a:chExt cx="0" cy="0"/>
        </a:xfrm>
      </p:grpSpPr>
      <p:sp>
        <p:nvSpPr>
          <p:cNvPr id="206" name="Google Shape;206;g3e839494688_0_1007: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07" name="Google Shape;207;g3e839494688_0_1007: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Step two, the PROBE. The engine walks the BIG table (messages) exactly once; for each row it hashes the user_id, finds the name in the hash table in one O(1) step, and emits the joined row. Cost: ~10M, one lookup per message. Build (~1M) plus probe (~10M) is about 11M steps total, against 10 trillion for the nested-loop way, and nobody wrote a line of that - the planner picked it on its own.</a:t>
            </a:r>
            <a:endParaRPr/>
          </a:p>
        </p:txBody>
      </p:sp>
      <p:sp>
        <p:nvSpPr>
          <p:cNvPr id="208" name="Google Shape;208;g3e839494688_0_1007: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2" name="Shape 222"/>
        <p:cNvGrpSpPr/>
        <p:nvPr/>
      </p:nvGrpSpPr>
      <p:grpSpPr>
        <a:xfrm>
          <a:off x="0" y="0"/>
          <a:ext cx="0" cy="0"/>
          <a:chOff x="0" y="0"/>
          <a:chExt cx="0" cy="0"/>
        </a:xfrm>
      </p:grpSpPr>
      <p:sp>
        <p:nvSpPr>
          <p:cNvPr id="223" name="Google Shape;223;g3e839494688_0_91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24" name="Google Shape;224;g3e839494688_0_91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reveal. The thing that breaks intuition is that a join is NOT a loop-in-a-loop the way they'd hand-write it - the engine has algorithms (hash join, sort-merge) and a cost-based planner that picks among them. This is query execution / optimization, distinct from the B-trees (2.2) and transactions (2.2 + concurrency) they've already seen. EXPLAIN is the tool that shows the chosen plan.</a:t>
            </a:r>
            <a:endParaRPr/>
          </a:p>
        </p:txBody>
      </p:sp>
      <p:sp>
        <p:nvSpPr>
          <p:cNvPr id="225" name="Google Shape;225;g3e839494688_0_914: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g3e839494688_0_898: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31" name="Google Shape;231;g3e839494688_0_898: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Have them call out a word before the reveal. The wall: 'it only multiplies numbers, so it can't know meaning.' Reveal queen - the famous word2vec result. The model, from reading enough text, put words in a space where direction encodes meaning, so the man-&gt;woman direction equals the king-&gt;queen direction, and meaning becomes literal arithmetic. Pointer: Karpathy's Zero to Hero, and 3Blue1Brown's neural-net / 'what is a GPT' videos for the visuals.</a:t>
            </a:r>
            <a:endParaRPr/>
          </a:p>
        </p:txBody>
      </p:sp>
      <p:sp>
        <p:nvSpPr>
          <p:cNvPr id="232" name="Google Shape;232;g3e839494688_0_898: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8" name="Shape 238"/>
        <p:cNvGrpSpPr/>
        <p:nvPr/>
      </p:nvGrpSpPr>
      <p:grpSpPr>
        <a:xfrm>
          <a:off x="0" y="0"/>
          <a:ext cx="0" cy="0"/>
          <a:chOff x="0" y="0"/>
          <a:chExt cx="0" cy="0"/>
        </a:xfrm>
      </p:grpSpPr>
      <p:sp>
        <p:nvSpPr>
          <p:cNvPr id="239" name="Google Shape;239;p1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40" name="Google Shape;240;p1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Have them call out a word before the reveal. The wall: 'it only multiplies numbers, so it can't know meaning.' Reveal queen - the famous word2vec result. The model, from reading enough text, put words in a space where direction encodes meaning, so the man-&gt;woman direction equals the king-&gt;queen direction, and meaning becomes literal arithmetic. Pointer: Karpathy's Zero to Hero, and 3Blue1Brown's neural-net / 'what is a GPT' videos for the visuals.</a:t>
            </a:r>
            <a:endParaRPr/>
          </a:p>
        </p:txBody>
      </p:sp>
      <p:sp>
        <p:nvSpPr>
          <p:cNvPr id="241" name="Google Shape;241;p14: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7" name="Shape 247"/>
        <p:cNvGrpSpPr/>
        <p:nvPr/>
      </p:nvGrpSpPr>
      <p:grpSpPr>
        <a:xfrm>
          <a:off x="0" y="0"/>
          <a:ext cx="0" cy="0"/>
          <a:chOff x="0" y="0"/>
          <a:chExt cx="0" cy="0"/>
        </a:xfrm>
      </p:grpSpPr>
      <p:sp>
        <p:nvSpPr>
          <p:cNvPr id="248" name="Google Shape;248;p1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49" name="Google Shape;249;p1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reveal. The surprise is that meaning becomes geometry - you can do arithmetic on concepts - which is the opposite of how they imagine a computer 'handling words.' Embeddings are also the engine behind semantic search and RAG, so this is the obvious follow-on for anyone 10.1 hooked.</a:t>
            </a:r>
            <a:endParaRPr/>
          </a:p>
        </p:txBody>
      </p:sp>
      <p:sp>
        <p:nvSpPr>
          <p:cNvPr id="250" name="Google Shape;250;p15: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4" name="Shape 254"/>
        <p:cNvGrpSpPr/>
        <p:nvPr/>
      </p:nvGrpSpPr>
      <p:grpSpPr>
        <a:xfrm>
          <a:off x="0" y="0"/>
          <a:ext cx="0" cy="0"/>
          <a:chOff x="0" y="0"/>
          <a:chExt cx="0" cy="0"/>
        </a:xfrm>
      </p:grpSpPr>
      <p:sp>
        <p:nvSpPr>
          <p:cNvPr id="255" name="Google Shape;255;p1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56" name="Google Shape;256;p1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Let them insist it's impossible - if you heard everything, you know everything they know. That's the wall, and it's the right instinct from everything they've seen. The way out is the paint-mixing picture: mixing two colors is easy, un-mixing is effectively impossible, so each keeps one private color, mixes in public, and they end up at the same blend you can't reverse. That's Diffie-Hellman / public-key crypto, built on one-way functions, and it's how every HTTPS session agrees on a key in the open - the real answer to the coffee-shop WiFi question from 9.2. Pointers: Computerphile's Diffie-Hellman paint video; cryptopals.com; Boneh's Stanford crypto course.</a:t>
            </a:r>
            <a:endParaRPr/>
          </a:p>
        </p:txBody>
      </p:sp>
      <p:sp>
        <p:nvSpPr>
          <p:cNvPr id="257" name="Google Shape;257;p16: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2" name="Shape 262"/>
        <p:cNvGrpSpPr/>
        <p:nvPr/>
      </p:nvGrpSpPr>
      <p:grpSpPr>
        <a:xfrm>
          <a:off x="0" y="0"/>
          <a:ext cx="0" cy="0"/>
          <a:chOff x="0" y="0"/>
          <a:chExt cx="0" cy="0"/>
        </a:xfrm>
      </p:grpSpPr>
      <p:sp>
        <p:nvSpPr>
          <p:cNvPr id="263" name="Google Shape;263;g3e839494688_0_583: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64" name="Google Shape;264;g3e839494688_0_583: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core idea. A public/private key pair is generated together and mathematically linked: whatever one locks, only the OTHER opens. Because locking and unlocking are now DIFFERENT keys, Bob can publish the locking (public) key to the whole world - the eavesdropper included - without ever exposing the unlocking (private) one. That asymmetry is the whole thing, and it's where the name comes from - asymmetric, or public-key, cryptography.</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See: Euler’s totient function, N = p * q, p, q primes, d x e = 1 mod totient(N)</a:t>
            </a:r>
            <a:endParaRPr/>
          </a:p>
        </p:txBody>
      </p:sp>
      <p:sp>
        <p:nvSpPr>
          <p:cNvPr id="265" name="Google Shape;265;g3e839494688_0_583: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4" name="Shape 274"/>
        <p:cNvGrpSpPr/>
        <p:nvPr/>
      </p:nvGrpSpPr>
      <p:grpSpPr>
        <a:xfrm>
          <a:off x="0" y="0"/>
          <a:ext cx="0" cy="0"/>
          <a:chOff x="0" y="0"/>
          <a:chExt cx="0" cy="0"/>
        </a:xfrm>
      </p:grpSpPr>
      <p:sp>
        <p:nvSpPr>
          <p:cNvPr id="275" name="Google Shape;275;g3e839494688_0_59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76" name="Google Shape;276;g3e839494688_0_59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flow. Alice grabs Bob's PUBLIC key (which is public - the attacker has it too), uses it to lock her message, and sends the ciphertext across the open WiFi. Only Bob's PRIVATE key can unlock it. The eavesdropper ends up holding the scrambled bytes AND the public key and still can't read a thing, because the public key only LOCKS - it can't unlock what it locked. In real HTTPS this is how the browser and server bootstrap a private channel with no prior contact.</a:t>
            </a:r>
            <a:endParaRPr/>
          </a:p>
        </p:txBody>
      </p:sp>
      <p:sp>
        <p:nvSpPr>
          <p:cNvPr id="277" name="Google Shape;277;g3e839494688_0_594: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7" name="Shape 287"/>
        <p:cNvGrpSpPr/>
        <p:nvPr/>
      </p:nvGrpSpPr>
      <p:grpSpPr>
        <a:xfrm>
          <a:off x="0" y="0"/>
          <a:ext cx="0" cy="0"/>
          <a:chOff x="0" y="0"/>
          <a:chExt cx="0" cy="0"/>
        </a:xfrm>
      </p:grpSpPr>
      <p:sp>
        <p:nvSpPr>
          <p:cNvPr id="288" name="Google Shape;288;g3e839494688_0_60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89" name="Google Shape;289;g3e839494688_0_60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flow. Alice grabs Bob's PUBLIC key (which is public - the attacker has it too), uses it to lock her message, and sends the ciphertext across the open WiFi. Only Bob's PRIVATE key can unlock it. The eavesdropper ends up holding the scrambled bytes AND the public key and still can't read a thing, because the public key only LOCKS - it can't unlock what it locked. In real HTTPS this is how the browser and server bootstrap a private channel with no prior contact.</a:t>
            </a:r>
            <a:endParaRPr/>
          </a:p>
        </p:txBody>
      </p:sp>
      <p:sp>
        <p:nvSpPr>
          <p:cNvPr id="290" name="Google Shape;290;g3e839494688_0_606: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5" name="Shape 305"/>
        <p:cNvGrpSpPr/>
        <p:nvPr/>
      </p:nvGrpSpPr>
      <p:grpSpPr>
        <a:xfrm>
          <a:off x="0" y="0"/>
          <a:ext cx="0" cy="0"/>
          <a:chOff x="0" y="0"/>
          <a:chExt cx="0" cy="0"/>
        </a:xfrm>
      </p:grpSpPr>
      <p:sp>
        <p:nvSpPr>
          <p:cNvPr id="306" name="Google Shape;306;g3e839494688_0_623: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07" name="Google Shape;307;g3e839494688_0_623: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flow. Alice grabs Bob's PUBLIC key (which is public - the attacker has it too), uses it to lock her message, and sends the ciphertext across the open WiFi. Only Bob's PRIVATE key can unlock it. The eavesdropper ends up holding the scrambled bytes AND the public key and still can't read a thing, because the public key only LOCKS - it can't unlock what it locked. In real HTTPS this is how the browser and server bootstrap a private channel with no prior contact.</a:t>
            </a:r>
            <a:endParaRPr/>
          </a:p>
        </p:txBody>
      </p:sp>
      <p:sp>
        <p:nvSpPr>
          <p:cNvPr id="308" name="Google Shape;308;g3e839494688_0_623: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6" name="Shape 326"/>
        <p:cNvGrpSpPr/>
        <p:nvPr/>
      </p:nvGrpSpPr>
      <p:grpSpPr>
        <a:xfrm>
          <a:off x="0" y="0"/>
          <a:ext cx="0" cy="0"/>
          <a:chOff x="0" y="0"/>
          <a:chExt cx="0" cy="0"/>
        </a:xfrm>
      </p:grpSpPr>
      <p:sp>
        <p:nvSpPr>
          <p:cNvPr id="327" name="Google Shape;327;g3e839494688_0_643: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28" name="Google Shape;328;g3e839494688_0_643: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reveal. Two things to land: (1) WHY a public key can be public - it rests on a one-way / trapdoor function (easy forward, infeasible back), the classic example being multiply-two-primes vs factor-the-product; and (2) real HTTPS uses the slow public-key step only to agree on a fast symmetric session key, then switches to that - so the asymmetric part bootstraps it and the symmetric part carries the bulk. This is where 9.2's coffee-shop-WiFi question finally gets its answer. 'Don't roll your own crypto' stops being a slogan once you see how subtle this is.</a:t>
            </a:r>
            <a:endParaRPr/>
          </a:p>
        </p:txBody>
      </p:sp>
      <p:sp>
        <p:nvSpPr>
          <p:cNvPr id="329" name="Google Shape;329;g3e839494688_0_643: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3" name="Shape 333"/>
        <p:cNvGrpSpPr/>
        <p:nvPr/>
      </p:nvGrpSpPr>
      <p:grpSpPr>
        <a:xfrm>
          <a:off x="0" y="0"/>
          <a:ext cx="0" cy="0"/>
          <a:chOff x="0" y="0"/>
          <a:chExt cx="0" cy="0"/>
        </a:xfrm>
      </p:grpSpPr>
      <p:sp>
        <p:nvSpPr>
          <p:cNvPr id="334" name="Google Shape;334;g3e839494688_0_11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35" name="Google Shape;335;g3e839494688_0_11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Turing, 1936.</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def trouble():</a:t>
            </a:r>
            <a:endParaRPr/>
          </a:p>
          <a:p>
            <a:pPr indent="0" lvl="0" marL="0" rtl="0" algn="l">
              <a:spcBef>
                <a:spcPts val="0"/>
              </a:spcBef>
              <a:spcAft>
                <a:spcPts val="0"/>
              </a:spcAft>
              <a:buNone/>
            </a:pPr>
            <a:r>
              <a:rPr lang="en-US"/>
              <a:t>    if halts(trouble):      # "do I, trouble, ever stop?"</a:t>
            </a:r>
            <a:endParaRPr/>
          </a:p>
          <a:p>
            <a:pPr indent="0" lvl="0" marL="0" rtl="0" algn="l">
              <a:spcBef>
                <a:spcPts val="0"/>
              </a:spcBef>
              <a:spcAft>
                <a:spcPts val="0"/>
              </a:spcAft>
              <a:buNone/>
            </a:pPr>
            <a:r>
              <a:rPr lang="en-US"/>
              <a:t>        while True:         #   yes? then loop forever</a:t>
            </a:r>
            <a:endParaRPr/>
          </a:p>
          <a:p>
            <a:pPr indent="0" lvl="0" marL="0" rtl="0" algn="l">
              <a:spcBef>
                <a:spcPts val="0"/>
              </a:spcBef>
              <a:spcAft>
                <a:spcPts val="0"/>
              </a:spcAft>
              <a:buNone/>
            </a:pPr>
            <a:r>
              <a:rPr lang="en-US"/>
              <a:t>            pass</a:t>
            </a:r>
            <a:endParaRPr/>
          </a:p>
          <a:p>
            <a:pPr indent="0" lvl="0" marL="0" rtl="0" algn="l">
              <a:spcBef>
                <a:spcPts val="0"/>
              </a:spcBef>
              <a:spcAft>
                <a:spcPts val="0"/>
              </a:spcAft>
              <a:buNone/>
            </a:pPr>
            <a:r>
              <a:rPr lang="en-US"/>
              <a:t>    else:                   #   no? then stop right now</a:t>
            </a:r>
            <a:endParaRPr/>
          </a:p>
          <a:p>
            <a:pPr indent="0" lvl="0" marL="0" rtl="0" algn="l">
              <a:spcBef>
                <a:spcPts val="0"/>
              </a:spcBef>
              <a:spcAft>
                <a:spcPts val="0"/>
              </a:spcAft>
              <a:buNone/>
            </a:pPr>
            <a:r>
              <a:rPr lang="en-US"/>
              <a:t>        return</a:t>
            </a:r>
            <a:endParaRPr/>
          </a:p>
          <a:p>
            <a:pPr indent="0" lvl="0" marL="0" rtl="0" algn="l">
              <a:spcBef>
                <a:spcPts val="0"/>
              </a:spcBef>
              <a:spcAft>
                <a:spcPts val="0"/>
              </a:spcAft>
              <a:buNone/>
            </a:pPr>
            <a:r>
              <a:t/>
            </a:r>
            <a:endParaRPr/>
          </a:p>
        </p:txBody>
      </p:sp>
      <p:sp>
        <p:nvSpPr>
          <p:cNvPr id="336" name="Google Shape;336;g3e839494688_0_116: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2" name="Shape 342"/>
        <p:cNvGrpSpPr/>
        <p:nvPr/>
      </p:nvGrpSpPr>
      <p:grpSpPr>
        <a:xfrm>
          <a:off x="0" y="0"/>
          <a:ext cx="0" cy="0"/>
          <a:chOff x="0" y="0"/>
          <a:chExt cx="0" cy="0"/>
        </a:xfrm>
      </p:grpSpPr>
      <p:sp>
        <p:nvSpPr>
          <p:cNvPr id="343" name="Google Shape;343;g3e839494688_0_12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44" name="Google Shape;344;g3e839494688_0_12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Turing, 1936. Walk it slowly on the board, both branches. If halts(trouble) returns True (it stops), trouble hits `while True` and loops forever - so it does NOT stop. If halts returns False (it loops), trouble takes the else and returns - so it DOES stop. Every possible answer is wrong, so the only thing that can be false is the assumption that halts() exists at all. The payoff: this is WHY no tool - not your linter, not your tests, not a coding agent - can ever flag every infinite loop or prove arbitrary code correct in general. Pointer: Sipser's 'Theory of Computation'; the Computerphile halting-problem video; Petzold's 'The Annotated Turing.'</a:t>
            </a:r>
            <a:endParaRPr/>
          </a:p>
        </p:txBody>
      </p:sp>
      <p:sp>
        <p:nvSpPr>
          <p:cNvPr id="345" name="Google Shape;345;g3e839494688_0_124: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1" name="Shape 351"/>
        <p:cNvGrpSpPr/>
        <p:nvPr/>
      </p:nvGrpSpPr>
      <p:grpSpPr>
        <a:xfrm>
          <a:off x="0" y="0"/>
          <a:ext cx="0" cy="0"/>
          <a:chOff x="0" y="0"/>
          <a:chExt cx="0" cy="0"/>
        </a:xfrm>
      </p:grpSpPr>
      <p:sp>
        <p:nvSpPr>
          <p:cNvPr id="352" name="Google Shape;352;g3e839494688_0_13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53" name="Google Shape;353;g3e839494688_0_13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Turing, 1936. Walk it slowly on the board, both branches. If halts(trouble) returns True (it stops), trouble hits `while True` and loops forever - so it does NOT stop. If halts returns False (it loops), trouble takes the else and returns - so it DOES stop. Every possible answer is wrong, so the only thing that can be false is the assumption that halts() exists at all. The payoff: this is WHY no tool - not your linter, not your tests, not a coding agent - can ever flag every infinite loop or prove arbitrary code correct in general. Pointer: Sipser's 'Theory of Computation'; the Computerphile halting-problem video; Petzold's 'The Annotated Turing.'</a:t>
            </a:r>
            <a:endParaRPr/>
          </a:p>
        </p:txBody>
      </p:sp>
      <p:sp>
        <p:nvSpPr>
          <p:cNvPr id="354" name="Google Shape;354;g3e839494688_0_132: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0" name="Shape 360"/>
        <p:cNvGrpSpPr/>
        <p:nvPr/>
      </p:nvGrpSpPr>
      <p:grpSpPr>
        <a:xfrm>
          <a:off x="0" y="0"/>
          <a:ext cx="0" cy="0"/>
          <a:chOff x="0" y="0"/>
          <a:chExt cx="0" cy="0"/>
        </a:xfrm>
      </p:grpSpPr>
      <p:sp>
        <p:nvSpPr>
          <p:cNvPr id="361" name="Google Shape;361;g3e839494688_0_140: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62" name="Google Shape;362;g3e839494688_0_140: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reveal. The self-reference contradiction is the whole thing - let it land slowly. The connection back to their world: they spent the semester writing tests, CI checks, and leaning on coding agents, and this is the hard ceiling on all of it - 'is this program correct / does it terminate' is undecidable in general, so no tool can ever fully replace running it and thinking. Good, slightly mind-bending note to end the tour on.</a:t>
            </a:r>
            <a:endParaRPr/>
          </a:p>
        </p:txBody>
      </p:sp>
      <p:sp>
        <p:nvSpPr>
          <p:cNvPr id="363" name="Google Shape;363;g3e839494688_0_140: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7" name="Shape 367"/>
        <p:cNvGrpSpPr/>
        <p:nvPr/>
      </p:nvGrpSpPr>
      <p:grpSpPr>
        <a:xfrm>
          <a:off x="0" y="0"/>
          <a:ext cx="0" cy="0"/>
          <a:chOff x="0" y="0"/>
          <a:chExt cx="0" cy="0"/>
        </a:xfrm>
      </p:grpSpPr>
      <p:sp>
        <p:nvSpPr>
          <p:cNvPr id="368" name="Google Shape;368;p18: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69" name="Google Shape;369;p18: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closer. Wrap up the semester on what students DID rather than what they missed - they shipped a working web app, end to end, in ten weeks, and they just watched six whole fields fall out of it.</a:t>
            </a:r>
            <a:endParaRPr/>
          </a:p>
        </p:txBody>
      </p:sp>
      <p:sp>
        <p:nvSpPr>
          <p:cNvPr id="370" name="Google Shape;370;p18: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1" name="Shape 11"/>
        <p:cNvGrpSpPr/>
        <p:nvPr/>
      </p:nvGrpSpPr>
      <p:grpSpPr>
        <a:xfrm>
          <a:off x="0" y="0"/>
          <a:ext cx="0" cy="0"/>
          <a:chOff x="0" y="0"/>
          <a:chExt cx="0" cy="0"/>
        </a:xfrm>
      </p:grpSpPr>
      <p:sp>
        <p:nvSpPr>
          <p:cNvPr id="12" name="Google Shape;12;p22"/>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3" name="Google Shape;13;p22"/>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4" name="Google Shape;14;p22"/>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15" name="Shape 15"/>
        <p:cNvGrpSpPr/>
        <p:nvPr/>
      </p:nvGrpSpPr>
      <p:grpSpPr>
        <a:xfrm>
          <a:off x="0" y="0"/>
          <a:ext cx="0" cy="0"/>
          <a:chOff x="0" y="0"/>
          <a:chExt cx="0" cy="0"/>
        </a:xfrm>
      </p:grpSpPr>
      <p:sp>
        <p:nvSpPr>
          <p:cNvPr id="16" name="Google Shape;16;p23"/>
          <p:cNvSpPr txBox="1"/>
          <p:nvPr>
            <p:ph type="ctrTitle"/>
          </p:nvPr>
        </p:nvSpPr>
        <p:spPr>
          <a:xfrm>
            <a:off x="685800" y="2130425"/>
            <a:ext cx="7772400" cy="1470025"/>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7" name="Google Shape;17;p23"/>
          <p:cNvSpPr txBox="1"/>
          <p:nvPr>
            <p:ph idx="1" type="subTitle"/>
          </p:nvPr>
        </p:nvSpPr>
        <p:spPr>
          <a:xfrm>
            <a:off x="1371600" y="3886200"/>
            <a:ext cx="6400800" cy="1752600"/>
          </a:xfrm>
          <a:prstGeom prst="rect">
            <a:avLst/>
          </a:prstGeom>
          <a:noFill/>
          <a:ln>
            <a:noFill/>
          </a:ln>
        </p:spPr>
        <p:txBody>
          <a:bodyPr anchorCtr="0" anchor="t" bIns="45700" lIns="91425" spcFirstLastPara="1" rIns="91425" wrap="square" tIns="45700">
            <a:normAutofit/>
          </a:bodyPr>
          <a:lstStyle>
            <a:lvl1pPr lvl="0" algn="ctr">
              <a:spcBef>
                <a:spcPts val="640"/>
              </a:spcBef>
              <a:spcAft>
                <a:spcPts val="0"/>
              </a:spcAft>
              <a:buClr>
                <a:srgbClr val="888888"/>
              </a:buClr>
              <a:buSzPts val="3200"/>
              <a:buNone/>
              <a:defRPr>
                <a:solidFill>
                  <a:srgbClr val="888888"/>
                </a:solidFill>
              </a:defRPr>
            </a:lvl1pPr>
            <a:lvl2pPr lvl="1" algn="ctr">
              <a:spcBef>
                <a:spcPts val="560"/>
              </a:spcBef>
              <a:spcAft>
                <a:spcPts val="0"/>
              </a:spcAft>
              <a:buClr>
                <a:srgbClr val="888888"/>
              </a:buClr>
              <a:buSzPts val="2800"/>
              <a:buNone/>
              <a:defRPr>
                <a:solidFill>
                  <a:srgbClr val="888888"/>
                </a:solidFill>
              </a:defRPr>
            </a:lvl2pPr>
            <a:lvl3pPr lvl="2" algn="ctr">
              <a:spcBef>
                <a:spcPts val="480"/>
              </a:spcBef>
              <a:spcAft>
                <a:spcPts val="0"/>
              </a:spcAft>
              <a:buClr>
                <a:srgbClr val="888888"/>
              </a:buClr>
              <a:buSzPts val="2400"/>
              <a:buNone/>
              <a:defRPr>
                <a:solidFill>
                  <a:srgbClr val="888888"/>
                </a:solidFill>
              </a:defRPr>
            </a:lvl3pPr>
            <a:lvl4pPr lvl="3" algn="ctr">
              <a:spcBef>
                <a:spcPts val="400"/>
              </a:spcBef>
              <a:spcAft>
                <a:spcPts val="0"/>
              </a:spcAft>
              <a:buClr>
                <a:srgbClr val="888888"/>
              </a:buClr>
              <a:buSzPts val="2000"/>
              <a:buNone/>
              <a:defRPr>
                <a:solidFill>
                  <a:srgbClr val="888888"/>
                </a:solidFill>
              </a:defRPr>
            </a:lvl4pPr>
            <a:lvl5pPr lvl="4" algn="ctr">
              <a:spcBef>
                <a:spcPts val="400"/>
              </a:spcBef>
              <a:spcAft>
                <a:spcPts val="0"/>
              </a:spcAft>
              <a:buClr>
                <a:srgbClr val="888888"/>
              </a:buClr>
              <a:buSzPts val="2000"/>
              <a:buNone/>
              <a:defRPr>
                <a:solidFill>
                  <a:srgbClr val="888888"/>
                </a:solidFill>
              </a:defRPr>
            </a:lvl5pPr>
            <a:lvl6pPr lvl="5" algn="ctr">
              <a:spcBef>
                <a:spcPts val="400"/>
              </a:spcBef>
              <a:spcAft>
                <a:spcPts val="0"/>
              </a:spcAft>
              <a:buClr>
                <a:srgbClr val="888888"/>
              </a:buClr>
              <a:buSzPts val="2000"/>
              <a:buNone/>
              <a:defRPr>
                <a:solidFill>
                  <a:srgbClr val="888888"/>
                </a:solidFill>
              </a:defRPr>
            </a:lvl6pPr>
            <a:lvl7pPr lvl="6" algn="ctr">
              <a:spcBef>
                <a:spcPts val="400"/>
              </a:spcBef>
              <a:spcAft>
                <a:spcPts val="0"/>
              </a:spcAft>
              <a:buClr>
                <a:srgbClr val="888888"/>
              </a:buClr>
              <a:buSzPts val="2000"/>
              <a:buNone/>
              <a:defRPr>
                <a:solidFill>
                  <a:srgbClr val="888888"/>
                </a:solidFill>
              </a:defRPr>
            </a:lvl7pPr>
            <a:lvl8pPr lvl="7" algn="ctr">
              <a:spcBef>
                <a:spcPts val="400"/>
              </a:spcBef>
              <a:spcAft>
                <a:spcPts val="0"/>
              </a:spcAft>
              <a:buClr>
                <a:srgbClr val="888888"/>
              </a:buClr>
              <a:buSzPts val="2000"/>
              <a:buNone/>
              <a:defRPr>
                <a:solidFill>
                  <a:srgbClr val="888888"/>
                </a:solidFill>
              </a:defRPr>
            </a:lvl8pPr>
            <a:lvl9pPr lvl="8" algn="ctr">
              <a:spcBef>
                <a:spcPts val="400"/>
              </a:spcBef>
              <a:spcAft>
                <a:spcPts val="0"/>
              </a:spcAft>
              <a:buClr>
                <a:srgbClr val="888888"/>
              </a:buClr>
              <a:buSzPts val="2000"/>
              <a:buNone/>
              <a:defRPr>
                <a:solidFill>
                  <a:srgbClr val="888888"/>
                </a:solidFill>
              </a:defRPr>
            </a:lvl9pPr>
          </a:lstStyle>
          <a:p/>
        </p:txBody>
      </p:sp>
      <p:sp>
        <p:nvSpPr>
          <p:cNvPr id="18" name="Google Shape;18;p23"/>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9" name="Google Shape;19;p23"/>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3"/>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1" name="Shape 21"/>
        <p:cNvGrpSpPr/>
        <p:nvPr/>
      </p:nvGrpSpPr>
      <p:grpSpPr>
        <a:xfrm>
          <a:off x="0" y="0"/>
          <a:ext cx="0" cy="0"/>
          <a:chOff x="0" y="0"/>
          <a:chExt cx="0" cy="0"/>
        </a:xfrm>
      </p:grpSpPr>
      <p:sp>
        <p:nvSpPr>
          <p:cNvPr id="22" name="Google Shape;22;p24"/>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3" name="Google Shape;23;p24"/>
          <p:cNvSpPr txBox="1"/>
          <p:nvPr>
            <p:ph idx="1" type="body"/>
          </p:nvPr>
        </p:nvSpPr>
        <p:spPr>
          <a:xfrm>
            <a:off x="457200" y="1600200"/>
            <a:ext cx="8229600" cy="4525963"/>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24" name="Google Shape;24;p24"/>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5" name="Google Shape;25;p24"/>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6" name="Google Shape;26;p24"/>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27" name="Shape 27"/>
        <p:cNvGrpSpPr/>
        <p:nvPr/>
      </p:nvGrpSpPr>
      <p:grpSpPr>
        <a:xfrm>
          <a:off x="0" y="0"/>
          <a:ext cx="0" cy="0"/>
          <a:chOff x="0" y="0"/>
          <a:chExt cx="0" cy="0"/>
        </a:xfrm>
      </p:grpSpPr>
      <p:sp>
        <p:nvSpPr>
          <p:cNvPr id="28" name="Google Shape;28;p25"/>
          <p:cNvSpPr txBox="1"/>
          <p:nvPr>
            <p:ph type="title"/>
          </p:nvPr>
        </p:nvSpPr>
        <p:spPr>
          <a:xfrm>
            <a:off x="722313" y="4406900"/>
            <a:ext cx="7772400" cy="1362075"/>
          </a:xfrm>
          <a:prstGeom prst="rect">
            <a:avLst/>
          </a:prstGeom>
          <a:noFill/>
          <a:ln>
            <a:noFill/>
          </a:ln>
        </p:spPr>
        <p:txBody>
          <a:bodyPr anchorCtr="0" anchor="t" bIns="45700" lIns="91425" spcFirstLastPara="1" rIns="91425" wrap="square" tIns="45700">
            <a:normAutofit/>
          </a:bodyPr>
          <a:lstStyle>
            <a:lvl1pPr lvl="0" algn="l">
              <a:spcBef>
                <a:spcPts val="0"/>
              </a:spcBef>
              <a:spcAft>
                <a:spcPts val="0"/>
              </a:spcAft>
              <a:buClr>
                <a:schemeClr val="dk1"/>
              </a:buClr>
              <a:buSzPts val="4000"/>
              <a:buFont typeface="Calibri"/>
              <a:buNone/>
              <a:defRPr b="1" sz="4000" cap="none"/>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9" name="Google Shape;29;p25"/>
          <p:cNvSpPr txBox="1"/>
          <p:nvPr>
            <p:ph idx="1" type="body"/>
          </p:nvPr>
        </p:nvSpPr>
        <p:spPr>
          <a:xfrm>
            <a:off x="722313" y="2906713"/>
            <a:ext cx="7772400" cy="1500187"/>
          </a:xfrm>
          <a:prstGeom prst="rect">
            <a:avLst/>
          </a:prstGeom>
          <a:noFill/>
          <a:ln>
            <a:noFill/>
          </a:ln>
        </p:spPr>
        <p:txBody>
          <a:bodyPr anchorCtr="0" anchor="b" bIns="45700" lIns="91425" spcFirstLastPara="1" rIns="91425" wrap="square" tIns="45700">
            <a:normAutofit/>
          </a:bodyPr>
          <a:lstStyle>
            <a:lvl1pPr indent="-228600" lvl="0" marL="457200" algn="l">
              <a:spcBef>
                <a:spcPts val="400"/>
              </a:spcBef>
              <a:spcAft>
                <a:spcPts val="0"/>
              </a:spcAft>
              <a:buClr>
                <a:srgbClr val="888888"/>
              </a:buClr>
              <a:buSzPts val="2000"/>
              <a:buNone/>
              <a:defRPr sz="2000">
                <a:solidFill>
                  <a:srgbClr val="888888"/>
                </a:solidFill>
              </a:defRPr>
            </a:lvl1pPr>
            <a:lvl2pPr indent="-228600" lvl="1" marL="914400" algn="l">
              <a:spcBef>
                <a:spcPts val="360"/>
              </a:spcBef>
              <a:spcAft>
                <a:spcPts val="0"/>
              </a:spcAft>
              <a:buClr>
                <a:srgbClr val="888888"/>
              </a:buClr>
              <a:buSzPts val="1800"/>
              <a:buNone/>
              <a:defRPr sz="1800">
                <a:solidFill>
                  <a:srgbClr val="888888"/>
                </a:solidFill>
              </a:defRPr>
            </a:lvl2pPr>
            <a:lvl3pPr indent="-228600" lvl="2" marL="1371600" algn="l">
              <a:spcBef>
                <a:spcPts val="320"/>
              </a:spcBef>
              <a:spcAft>
                <a:spcPts val="0"/>
              </a:spcAft>
              <a:buClr>
                <a:srgbClr val="888888"/>
              </a:buClr>
              <a:buSzPts val="1600"/>
              <a:buNone/>
              <a:defRPr sz="1600">
                <a:solidFill>
                  <a:srgbClr val="888888"/>
                </a:solidFill>
              </a:defRPr>
            </a:lvl3pPr>
            <a:lvl4pPr indent="-228600" lvl="3" marL="1828800" algn="l">
              <a:spcBef>
                <a:spcPts val="280"/>
              </a:spcBef>
              <a:spcAft>
                <a:spcPts val="0"/>
              </a:spcAft>
              <a:buClr>
                <a:srgbClr val="888888"/>
              </a:buClr>
              <a:buSzPts val="1400"/>
              <a:buNone/>
              <a:defRPr sz="1400">
                <a:solidFill>
                  <a:srgbClr val="888888"/>
                </a:solidFill>
              </a:defRPr>
            </a:lvl4pPr>
            <a:lvl5pPr indent="-228600" lvl="4" marL="2286000" algn="l">
              <a:spcBef>
                <a:spcPts val="280"/>
              </a:spcBef>
              <a:spcAft>
                <a:spcPts val="0"/>
              </a:spcAft>
              <a:buClr>
                <a:srgbClr val="888888"/>
              </a:buClr>
              <a:buSzPts val="1400"/>
              <a:buNone/>
              <a:defRPr sz="1400">
                <a:solidFill>
                  <a:srgbClr val="888888"/>
                </a:solidFill>
              </a:defRPr>
            </a:lvl5pPr>
            <a:lvl6pPr indent="-228600" lvl="5" marL="2743200" algn="l">
              <a:spcBef>
                <a:spcPts val="280"/>
              </a:spcBef>
              <a:spcAft>
                <a:spcPts val="0"/>
              </a:spcAft>
              <a:buClr>
                <a:srgbClr val="888888"/>
              </a:buClr>
              <a:buSzPts val="1400"/>
              <a:buNone/>
              <a:defRPr sz="1400">
                <a:solidFill>
                  <a:srgbClr val="888888"/>
                </a:solidFill>
              </a:defRPr>
            </a:lvl6pPr>
            <a:lvl7pPr indent="-228600" lvl="6" marL="3200400" algn="l">
              <a:spcBef>
                <a:spcPts val="280"/>
              </a:spcBef>
              <a:spcAft>
                <a:spcPts val="0"/>
              </a:spcAft>
              <a:buClr>
                <a:srgbClr val="888888"/>
              </a:buClr>
              <a:buSzPts val="1400"/>
              <a:buNone/>
              <a:defRPr sz="1400">
                <a:solidFill>
                  <a:srgbClr val="888888"/>
                </a:solidFill>
              </a:defRPr>
            </a:lvl7pPr>
            <a:lvl8pPr indent="-228600" lvl="7" marL="3657600" algn="l">
              <a:spcBef>
                <a:spcPts val="280"/>
              </a:spcBef>
              <a:spcAft>
                <a:spcPts val="0"/>
              </a:spcAft>
              <a:buClr>
                <a:srgbClr val="888888"/>
              </a:buClr>
              <a:buSzPts val="1400"/>
              <a:buNone/>
              <a:defRPr sz="1400">
                <a:solidFill>
                  <a:srgbClr val="888888"/>
                </a:solidFill>
              </a:defRPr>
            </a:lvl8pPr>
            <a:lvl9pPr indent="-228600" lvl="8" marL="4114800" algn="l">
              <a:spcBef>
                <a:spcPts val="280"/>
              </a:spcBef>
              <a:spcAft>
                <a:spcPts val="0"/>
              </a:spcAft>
              <a:buClr>
                <a:srgbClr val="888888"/>
              </a:buClr>
              <a:buSzPts val="1400"/>
              <a:buNone/>
              <a:defRPr sz="1400">
                <a:solidFill>
                  <a:srgbClr val="888888"/>
                </a:solidFill>
              </a:defRPr>
            </a:lvl9pPr>
          </a:lstStyle>
          <a:p/>
        </p:txBody>
      </p:sp>
      <p:sp>
        <p:nvSpPr>
          <p:cNvPr id="30" name="Google Shape;30;p25"/>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1" name="Google Shape;31;p25"/>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2" name="Google Shape;32;p25"/>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3" name="Shape 33"/>
        <p:cNvGrpSpPr/>
        <p:nvPr/>
      </p:nvGrpSpPr>
      <p:grpSpPr>
        <a:xfrm>
          <a:off x="0" y="0"/>
          <a:ext cx="0" cy="0"/>
          <a:chOff x="0" y="0"/>
          <a:chExt cx="0" cy="0"/>
        </a:xfrm>
      </p:grpSpPr>
      <p:sp>
        <p:nvSpPr>
          <p:cNvPr id="34" name="Google Shape;34;p26"/>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5" name="Google Shape;35;p26"/>
          <p:cNvSpPr txBox="1"/>
          <p:nvPr>
            <p:ph idx="1" type="body"/>
          </p:nvPr>
        </p:nvSpPr>
        <p:spPr>
          <a:xfrm>
            <a:off x="457200" y="1600200"/>
            <a:ext cx="4038600" cy="4525963"/>
          </a:xfrm>
          <a:prstGeom prst="rect">
            <a:avLst/>
          </a:prstGeom>
          <a:noFill/>
          <a:ln>
            <a:noFill/>
          </a:ln>
        </p:spPr>
        <p:txBody>
          <a:bodyPr anchorCtr="0" anchor="t" bIns="45700" lIns="91425" spcFirstLastPara="1" rIns="91425" wrap="square" tIns="45700">
            <a:normAutofit/>
          </a:bodyPr>
          <a:lstStyle>
            <a:lvl1pPr indent="-406400" lvl="0" marL="457200" algn="l">
              <a:spcBef>
                <a:spcPts val="560"/>
              </a:spcBef>
              <a:spcAft>
                <a:spcPts val="0"/>
              </a:spcAft>
              <a:buClr>
                <a:schemeClr val="dk1"/>
              </a:buClr>
              <a:buSzPts val="2800"/>
              <a:buChar char="•"/>
              <a:defRPr sz="2800"/>
            </a:lvl1pPr>
            <a:lvl2pPr indent="-381000" lvl="1" marL="914400" algn="l">
              <a:spcBef>
                <a:spcPts val="480"/>
              </a:spcBef>
              <a:spcAft>
                <a:spcPts val="0"/>
              </a:spcAft>
              <a:buClr>
                <a:schemeClr val="dk1"/>
              </a:buClr>
              <a:buSzPts val="2400"/>
              <a:buChar char="–"/>
              <a:defRPr sz="2400"/>
            </a:lvl2pPr>
            <a:lvl3pPr indent="-355600" lvl="2" marL="1371600" algn="l">
              <a:spcBef>
                <a:spcPts val="400"/>
              </a:spcBef>
              <a:spcAft>
                <a:spcPts val="0"/>
              </a:spcAft>
              <a:buClr>
                <a:schemeClr val="dk1"/>
              </a:buClr>
              <a:buSzPts val="2000"/>
              <a:buChar char="•"/>
              <a:defRPr sz="2000"/>
            </a:lvl3pPr>
            <a:lvl4pPr indent="-342900" lvl="3" marL="1828800" algn="l">
              <a:spcBef>
                <a:spcPts val="360"/>
              </a:spcBef>
              <a:spcAft>
                <a:spcPts val="0"/>
              </a:spcAft>
              <a:buClr>
                <a:schemeClr val="dk1"/>
              </a:buClr>
              <a:buSzPts val="1800"/>
              <a:buChar char="–"/>
              <a:defRPr sz="1800"/>
            </a:lvl4pPr>
            <a:lvl5pPr indent="-342900" lvl="4" marL="2286000" algn="l">
              <a:spcBef>
                <a:spcPts val="360"/>
              </a:spcBef>
              <a:spcAft>
                <a:spcPts val="0"/>
              </a:spcAft>
              <a:buClr>
                <a:schemeClr val="dk1"/>
              </a:buClr>
              <a:buSzPts val="1800"/>
              <a:buChar char="»"/>
              <a:defRPr sz="1800"/>
            </a:lvl5pPr>
            <a:lvl6pPr indent="-342900" lvl="5" marL="2743200" algn="l">
              <a:spcBef>
                <a:spcPts val="360"/>
              </a:spcBef>
              <a:spcAft>
                <a:spcPts val="0"/>
              </a:spcAft>
              <a:buClr>
                <a:schemeClr val="dk1"/>
              </a:buClr>
              <a:buSzPts val="1800"/>
              <a:buChar char="•"/>
              <a:defRPr sz="1800"/>
            </a:lvl6pPr>
            <a:lvl7pPr indent="-342900" lvl="6" marL="3200400" algn="l">
              <a:spcBef>
                <a:spcPts val="360"/>
              </a:spcBef>
              <a:spcAft>
                <a:spcPts val="0"/>
              </a:spcAft>
              <a:buClr>
                <a:schemeClr val="dk1"/>
              </a:buClr>
              <a:buSzPts val="1800"/>
              <a:buChar char="•"/>
              <a:defRPr sz="1800"/>
            </a:lvl7pPr>
            <a:lvl8pPr indent="-342900" lvl="7" marL="3657600" algn="l">
              <a:spcBef>
                <a:spcPts val="360"/>
              </a:spcBef>
              <a:spcAft>
                <a:spcPts val="0"/>
              </a:spcAft>
              <a:buClr>
                <a:schemeClr val="dk1"/>
              </a:buClr>
              <a:buSzPts val="1800"/>
              <a:buChar char="•"/>
              <a:defRPr sz="1800"/>
            </a:lvl8pPr>
            <a:lvl9pPr indent="-342900" lvl="8" marL="4114800" algn="l">
              <a:spcBef>
                <a:spcPts val="360"/>
              </a:spcBef>
              <a:spcAft>
                <a:spcPts val="0"/>
              </a:spcAft>
              <a:buClr>
                <a:schemeClr val="dk1"/>
              </a:buClr>
              <a:buSzPts val="1800"/>
              <a:buChar char="•"/>
              <a:defRPr sz="1800"/>
            </a:lvl9pPr>
          </a:lstStyle>
          <a:p/>
        </p:txBody>
      </p:sp>
      <p:sp>
        <p:nvSpPr>
          <p:cNvPr id="36" name="Google Shape;36;p26"/>
          <p:cNvSpPr txBox="1"/>
          <p:nvPr>
            <p:ph idx="2" type="body"/>
          </p:nvPr>
        </p:nvSpPr>
        <p:spPr>
          <a:xfrm>
            <a:off x="4648200" y="1600200"/>
            <a:ext cx="4038600" cy="4525963"/>
          </a:xfrm>
          <a:prstGeom prst="rect">
            <a:avLst/>
          </a:prstGeom>
          <a:noFill/>
          <a:ln>
            <a:noFill/>
          </a:ln>
        </p:spPr>
        <p:txBody>
          <a:bodyPr anchorCtr="0" anchor="t" bIns="45700" lIns="91425" spcFirstLastPara="1" rIns="91425" wrap="square" tIns="45700">
            <a:normAutofit/>
          </a:bodyPr>
          <a:lstStyle>
            <a:lvl1pPr indent="-406400" lvl="0" marL="457200" algn="l">
              <a:spcBef>
                <a:spcPts val="560"/>
              </a:spcBef>
              <a:spcAft>
                <a:spcPts val="0"/>
              </a:spcAft>
              <a:buClr>
                <a:schemeClr val="dk1"/>
              </a:buClr>
              <a:buSzPts val="2800"/>
              <a:buChar char="•"/>
              <a:defRPr sz="2800"/>
            </a:lvl1pPr>
            <a:lvl2pPr indent="-381000" lvl="1" marL="914400" algn="l">
              <a:spcBef>
                <a:spcPts val="480"/>
              </a:spcBef>
              <a:spcAft>
                <a:spcPts val="0"/>
              </a:spcAft>
              <a:buClr>
                <a:schemeClr val="dk1"/>
              </a:buClr>
              <a:buSzPts val="2400"/>
              <a:buChar char="–"/>
              <a:defRPr sz="2400"/>
            </a:lvl2pPr>
            <a:lvl3pPr indent="-355600" lvl="2" marL="1371600" algn="l">
              <a:spcBef>
                <a:spcPts val="400"/>
              </a:spcBef>
              <a:spcAft>
                <a:spcPts val="0"/>
              </a:spcAft>
              <a:buClr>
                <a:schemeClr val="dk1"/>
              </a:buClr>
              <a:buSzPts val="2000"/>
              <a:buChar char="•"/>
              <a:defRPr sz="2000"/>
            </a:lvl3pPr>
            <a:lvl4pPr indent="-342900" lvl="3" marL="1828800" algn="l">
              <a:spcBef>
                <a:spcPts val="360"/>
              </a:spcBef>
              <a:spcAft>
                <a:spcPts val="0"/>
              </a:spcAft>
              <a:buClr>
                <a:schemeClr val="dk1"/>
              </a:buClr>
              <a:buSzPts val="1800"/>
              <a:buChar char="–"/>
              <a:defRPr sz="1800"/>
            </a:lvl4pPr>
            <a:lvl5pPr indent="-342900" lvl="4" marL="2286000" algn="l">
              <a:spcBef>
                <a:spcPts val="360"/>
              </a:spcBef>
              <a:spcAft>
                <a:spcPts val="0"/>
              </a:spcAft>
              <a:buClr>
                <a:schemeClr val="dk1"/>
              </a:buClr>
              <a:buSzPts val="1800"/>
              <a:buChar char="»"/>
              <a:defRPr sz="1800"/>
            </a:lvl5pPr>
            <a:lvl6pPr indent="-342900" lvl="5" marL="2743200" algn="l">
              <a:spcBef>
                <a:spcPts val="360"/>
              </a:spcBef>
              <a:spcAft>
                <a:spcPts val="0"/>
              </a:spcAft>
              <a:buClr>
                <a:schemeClr val="dk1"/>
              </a:buClr>
              <a:buSzPts val="1800"/>
              <a:buChar char="•"/>
              <a:defRPr sz="1800"/>
            </a:lvl6pPr>
            <a:lvl7pPr indent="-342900" lvl="6" marL="3200400" algn="l">
              <a:spcBef>
                <a:spcPts val="360"/>
              </a:spcBef>
              <a:spcAft>
                <a:spcPts val="0"/>
              </a:spcAft>
              <a:buClr>
                <a:schemeClr val="dk1"/>
              </a:buClr>
              <a:buSzPts val="1800"/>
              <a:buChar char="•"/>
              <a:defRPr sz="1800"/>
            </a:lvl7pPr>
            <a:lvl8pPr indent="-342900" lvl="7" marL="3657600" algn="l">
              <a:spcBef>
                <a:spcPts val="360"/>
              </a:spcBef>
              <a:spcAft>
                <a:spcPts val="0"/>
              </a:spcAft>
              <a:buClr>
                <a:schemeClr val="dk1"/>
              </a:buClr>
              <a:buSzPts val="1800"/>
              <a:buChar char="•"/>
              <a:defRPr sz="1800"/>
            </a:lvl8pPr>
            <a:lvl9pPr indent="-342900" lvl="8" marL="4114800" algn="l">
              <a:spcBef>
                <a:spcPts val="360"/>
              </a:spcBef>
              <a:spcAft>
                <a:spcPts val="0"/>
              </a:spcAft>
              <a:buClr>
                <a:schemeClr val="dk1"/>
              </a:buClr>
              <a:buSzPts val="1800"/>
              <a:buChar char="•"/>
              <a:defRPr sz="1800"/>
            </a:lvl9pPr>
          </a:lstStyle>
          <a:p/>
        </p:txBody>
      </p:sp>
      <p:sp>
        <p:nvSpPr>
          <p:cNvPr id="37" name="Google Shape;37;p26"/>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8" name="Google Shape;38;p26"/>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9" name="Google Shape;39;p26"/>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0" name="Shape 40"/>
        <p:cNvGrpSpPr/>
        <p:nvPr/>
      </p:nvGrpSpPr>
      <p:grpSpPr>
        <a:xfrm>
          <a:off x="0" y="0"/>
          <a:ext cx="0" cy="0"/>
          <a:chOff x="0" y="0"/>
          <a:chExt cx="0" cy="0"/>
        </a:xfrm>
      </p:grpSpPr>
      <p:sp>
        <p:nvSpPr>
          <p:cNvPr id="41" name="Google Shape;41;p27"/>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4400"/>
              <a:buFont typeface="Calibri"/>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2" name="Google Shape;42;p27"/>
          <p:cNvSpPr txBox="1"/>
          <p:nvPr>
            <p:ph idx="1" type="body"/>
          </p:nvPr>
        </p:nvSpPr>
        <p:spPr>
          <a:xfrm>
            <a:off x="457200" y="1535113"/>
            <a:ext cx="4040188" cy="639762"/>
          </a:xfrm>
          <a:prstGeom prst="rect">
            <a:avLst/>
          </a:prstGeom>
          <a:noFill/>
          <a:ln>
            <a:noFill/>
          </a:ln>
        </p:spPr>
        <p:txBody>
          <a:bodyPr anchorCtr="0" anchor="b" bIns="45700" lIns="91425" spcFirstLastPara="1" rIns="91425" wrap="square" tIns="45700">
            <a:normAutofit/>
          </a:bodyPr>
          <a:lstStyle>
            <a:lvl1pPr indent="-228600" lvl="0" marL="457200" algn="l">
              <a:spcBef>
                <a:spcPts val="480"/>
              </a:spcBef>
              <a:spcAft>
                <a:spcPts val="0"/>
              </a:spcAft>
              <a:buClr>
                <a:schemeClr val="dk1"/>
              </a:buClr>
              <a:buSzPts val="2400"/>
              <a:buNone/>
              <a:defRPr b="1" sz="2400"/>
            </a:lvl1pPr>
            <a:lvl2pPr indent="-228600" lvl="1" marL="914400" algn="l">
              <a:spcBef>
                <a:spcPts val="400"/>
              </a:spcBef>
              <a:spcAft>
                <a:spcPts val="0"/>
              </a:spcAft>
              <a:buClr>
                <a:schemeClr val="dk1"/>
              </a:buClr>
              <a:buSzPts val="2000"/>
              <a:buNone/>
              <a:defRPr b="1" sz="2000"/>
            </a:lvl2pPr>
            <a:lvl3pPr indent="-228600" lvl="2" marL="1371600" algn="l">
              <a:spcBef>
                <a:spcPts val="360"/>
              </a:spcBef>
              <a:spcAft>
                <a:spcPts val="0"/>
              </a:spcAft>
              <a:buClr>
                <a:schemeClr val="dk1"/>
              </a:buClr>
              <a:buSzPts val="1800"/>
              <a:buNone/>
              <a:defRPr b="1" sz="1800"/>
            </a:lvl3pPr>
            <a:lvl4pPr indent="-228600" lvl="3" marL="1828800" algn="l">
              <a:spcBef>
                <a:spcPts val="320"/>
              </a:spcBef>
              <a:spcAft>
                <a:spcPts val="0"/>
              </a:spcAft>
              <a:buClr>
                <a:schemeClr val="dk1"/>
              </a:buClr>
              <a:buSzPts val="1600"/>
              <a:buNone/>
              <a:defRPr b="1" sz="1600"/>
            </a:lvl4pPr>
            <a:lvl5pPr indent="-228600" lvl="4" marL="2286000" algn="l">
              <a:spcBef>
                <a:spcPts val="320"/>
              </a:spcBef>
              <a:spcAft>
                <a:spcPts val="0"/>
              </a:spcAft>
              <a:buClr>
                <a:schemeClr val="dk1"/>
              </a:buClr>
              <a:buSzPts val="1600"/>
              <a:buNone/>
              <a:defRPr b="1" sz="1600"/>
            </a:lvl5pPr>
            <a:lvl6pPr indent="-228600" lvl="5" marL="2743200" algn="l">
              <a:spcBef>
                <a:spcPts val="320"/>
              </a:spcBef>
              <a:spcAft>
                <a:spcPts val="0"/>
              </a:spcAft>
              <a:buClr>
                <a:schemeClr val="dk1"/>
              </a:buClr>
              <a:buSzPts val="1600"/>
              <a:buNone/>
              <a:defRPr b="1" sz="1600"/>
            </a:lvl6pPr>
            <a:lvl7pPr indent="-228600" lvl="6" marL="3200400" algn="l">
              <a:spcBef>
                <a:spcPts val="320"/>
              </a:spcBef>
              <a:spcAft>
                <a:spcPts val="0"/>
              </a:spcAft>
              <a:buClr>
                <a:schemeClr val="dk1"/>
              </a:buClr>
              <a:buSzPts val="1600"/>
              <a:buNone/>
              <a:defRPr b="1" sz="1600"/>
            </a:lvl7pPr>
            <a:lvl8pPr indent="-228600" lvl="7" marL="3657600" algn="l">
              <a:spcBef>
                <a:spcPts val="320"/>
              </a:spcBef>
              <a:spcAft>
                <a:spcPts val="0"/>
              </a:spcAft>
              <a:buClr>
                <a:schemeClr val="dk1"/>
              </a:buClr>
              <a:buSzPts val="1600"/>
              <a:buNone/>
              <a:defRPr b="1" sz="1600"/>
            </a:lvl8pPr>
            <a:lvl9pPr indent="-228600" lvl="8" marL="4114800" algn="l">
              <a:spcBef>
                <a:spcPts val="320"/>
              </a:spcBef>
              <a:spcAft>
                <a:spcPts val="0"/>
              </a:spcAft>
              <a:buClr>
                <a:schemeClr val="dk1"/>
              </a:buClr>
              <a:buSzPts val="1600"/>
              <a:buNone/>
              <a:defRPr b="1" sz="1600"/>
            </a:lvl9pPr>
          </a:lstStyle>
          <a:p/>
        </p:txBody>
      </p:sp>
      <p:sp>
        <p:nvSpPr>
          <p:cNvPr id="43" name="Google Shape;43;p27"/>
          <p:cNvSpPr txBox="1"/>
          <p:nvPr>
            <p:ph idx="2" type="body"/>
          </p:nvPr>
        </p:nvSpPr>
        <p:spPr>
          <a:xfrm>
            <a:off x="457200" y="2174875"/>
            <a:ext cx="4040188" cy="3951288"/>
          </a:xfrm>
          <a:prstGeom prst="rect">
            <a:avLst/>
          </a:prstGeom>
          <a:noFill/>
          <a:ln>
            <a:noFill/>
          </a:ln>
        </p:spPr>
        <p:txBody>
          <a:bodyPr anchorCtr="0" anchor="t" bIns="45700" lIns="91425" spcFirstLastPara="1" rIns="91425" wrap="square" tIns="45700">
            <a:normAutofit/>
          </a:bodyPr>
          <a:lstStyle>
            <a:lvl1pPr indent="-381000" lvl="0" marL="457200" algn="l">
              <a:spcBef>
                <a:spcPts val="480"/>
              </a:spcBef>
              <a:spcAft>
                <a:spcPts val="0"/>
              </a:spcAft>
              <a:buClr>
                <a:schemeClr val="dk1"/>
              </a:buClr>
              <a:buSzPts val="2400"/>
              <a:buChar char="•"/>
              <a:defRPr sz="2400"/>
            </a:lvl1pPr>
            <a:lvl2pPr indent="-355600" lvl="1" marL="914400" algn="l">
              <a:spcBef>
                <a:spcPts val="400"/>
              </a:spcBef>
              <a:spcAft>
                <a:spcPts val="0"/>
              </a:spcAft>
              <a:buClr>
                <a:schemeClr val="dk1"/>
              </a:buClr>
              <a:buSzPts val="2000"/>
              <a:buChar char="–"/>
              <a:defRPr sz="2000"/>
            </a:lvl2pPr>
            <a:lvl3pPr indent="-342900" lvl="2" marL="1371600" algn="l">
              <a:spcBef>
                <a:spcPts val="360"/>
              </a:spcBef>
              <a:spcAft>
                <a:spcPts val="0"/>
              </a:spcAft>
              <a:buClr>
                <a:schemeClr val="dk1"/>
              </a:buClr>
              <a:buSzPts val="1800"/>
              <a:buChar char="•"/>
              <a:defRPr sz="1800"/>
            </a:lvl3pPr>
            <a:lvl4pPr indent="-330200" lvl="3" marL="1828800" algn="l">
              <a:spcBef>
                <a:spcPts val="320"/>
              </a:spcBef>
              <a:spcAft>
                <a:spcPts val="0"/>
              </a:spcAft>
              <a:buClr>
                <a:schemeClr val="dk1"/>
              </a:buClr>
              <a:buSzPts val="1600"/>
              <a:buChar char="–"/>
              <a:defRPr sz="1600"/>
            </a:lvl4pPr>
            <a:lvl5pPr indent="-330200" lvl="4" marL="2286000" algn="l">
              <a:spcBef>
                <a:spcPts val="320"/>
              </a:spcBef>
              <a:spcAft>
                <a:spcPts val="0"/>
              </a:spcAft>
              <a:buClr>
                <a:schemeClr val="dk1"/>
              </a:buClr>
              <a:buSzPts val="1600"/>
              <a:buChar char="»"/>
              <a:defRPr sz="1600"/>
            </a:lvl5pPr>
            <a:lvl6pPr indent="-330200" lvl="5" marL="2743200" algn="l">
              <a:spcBef>
                <a:spcPts val="320"/>
              </a:spcBef>
              <a:spcAft>
                <a:spcPts val="0"/>
              </a:spcAft>
              <a:buClr>
                <a:schemeClr val="dk1"/>
              </a:buClr>
              <a:buSzPts val="1600"/>
              <a:buChar char="•"/>
              <a:defRPr sz="1600"/>
            </a:lvl6pPr>
            <a:lvl7pPr indent="-330200" lvl="6" marL="3200400" algn="l">
              <a:spcBef>
                <a:spcPts val="320"/>
              </a:spcBef>
              <a:spcAft>
                <a:spcPts val="0"/>
              </a:spcAft>
              <a:buClr>
                <a:schemeClr val="dk1"/>
              </a:buClr>
              <a:buSzPts val="1600"/>
              <a:buChar char="•"/>
              <a:defRPr sz="1600"/>
            </a:lvl7pPr>
            <a:lvl8pPr indent="-330200" lvl="7" marL="3657600" algn="l">
              <a:spcBef>
                <a:spcPts val="320"/>
              </a:spcBef>
              <a:spcAft>
                <a:spcPts val="0"/>
              </a:spcAft>
              <a:buClr>
                <a:schemeClr val="dk1"/>
              </a:buClr>
              <a:buSzPts val="1600"/>
              <a:buChar char="•"/>
              <a:defRPr sz="1600"/>
            </a:lvl8pPr>
            <a:lvl9pPr indent="-330200" lvl="8" marL="4114800" algn="l">
              <a:spcBef>
                <a:spcPts val="320"/>
              </a:spcBef>
              <a:spcAft>
                <a:spcPts val="0"/>
              </a:spcAft>
              <a:buClr>
                <a:schemeClr val="dk1"/>
              </a:buClr>
              <a:buSzPts val="1600"/>
              <a:buChar char="•"/>
              <a:defRPr sz="1600"/>
            </a:lvl9pPr>
          </a:lstStyle>
          <a:p/>
        </p:txBody>
      </p:sp>
      <p:sp>
        <p:nvSpPr>
          <p:cNvPr id="44" name="Google Shape;44;p27"/>
          <p:cNvSpPr txBox="1"/>
          <p:nvPr>
            <p:ph idx="3" type="body"/>
          </p:nvPr>
        </p:nvSpPr>
        <p:spPr>
          <a:xfrm>
            <a:off x="4645025" y="1535113"/>
            <a:ext cx="4041775" cy="639762"/>
          </a:xfrm>
          <a:prstGeom prst="rect">
            <a:avLst/>
          </a:prstGeom>
          <a:noFill/>
          <a:ln>
            <a:noFill/>
          </a:ln>
        </p:spPr>
        <p:txBody>
          <a:bodyPr anchorCtr="0" anchor="b" bIns="45700" lIns="91425" spcFirstLastPara="1" rIns="91425" wrap="square" tIns="45700">
            <a:normAutofit/>
          </a:bodyPr>
          <a:lstStyle>
            <a:lvl1pPr indent="-228600" lvl="0" marL="457200" algn="l">
              <a:spcBef>
                <a:spcPts val="480"/>
              </a:spcBef>
              <a:spcAft>
                <a:spcPts val="0"/>
              </a:spcAft>
              <a:buClr>
                <a:schemeClr val="dk1"/>
              </a:buClr>
              <a:buSzPts val="2400"/>
              <a:buNone/>
              <a:defRPr b="1" sz="2400"/>
            </a:lvl1pPr>
            <a:lvl2pPr indent="-228600" lvl="1" marL="914400" algn="l">
              <a:spcBef>
                <a:spcPts val="400"/>
              </a:spcBef>
              <a:spcAft>
                <a:spcPts val="0"/>
              </a:spcAft>
              <a:buClr>
                <a:schemeClr val="dk1"/>
              </a:buClr>
              <a:buSzPts val="2000"/>
              <a:buNone/>
              <a:defRPr b="1" sz="2000"/>
            </a:lvl2pPr>
            <a:lvl3pPr indent="-228600" lvl="2" marL="1371600" algn="l">
              <a:spcBef>
                <a:spcPts val="360"/>
              </a:spcBef>
              <a:spcAft>
                <a:spcPts val="0"/>
              </a:spcAft>
              <a:buClr>
                <a:schemeClr val="dk1"/>
              </a:buClr>
              <a:buSzPts val="1800"/>
              <a:buNone/>
              <a:defRPr b="1" sz="1800"/>
            </a:lvl3pPr>
            <a:lvl4pPr indent="-228600" lvl="3" marL="1828800" algn="l">
              <a:spcBef>
                <a:spcPts val="320"/>
              </a:spcBef>
              <a:spcAft>
                <a:spcPts val="0"/>
              </a:spcAft>
              <a:buClr>
                <a:schemeClr val="dk1"/>
              </a:buClr>
              <a:buSzPts val="1600"/>
              <a:buNone/>
              <a:defRPr b="1" sz="1600"/>
            </a:lvl4pPr>
            <a:lvl5pPr indent="-228600" lvl="4" marL="2286000" algn="l">
              <a:spcBef>
                <a:spcPts val="320"/>
              </a:spcBef>
              <a:spcAft>
                <a:spcPts val="0"/>
              </a:spcAft>
              <a:buClr>
                <a:schemeClr val="dk1"/>
              </a:buClr>
              <a:buSzPts val="1600"/>
              <a:buNone/>
              <a:defRPr b="1" sz="1600"/>
            </a:lvl5pPr>
            <a:lvl6pPr indent="-228600" lvl="5" marL="2743200" algn="l">
              <a:spcBef>
                <a:spcPts val="320"/>
              </a:spcBef>
              <a:spcAft>
                <a:spcPts val="0"/>
              </a:spcAft>
              <a:buClr>
                <a:schemeClr val="dk1"/>
              </a:buClr>
              <a:buSzPts val="1600"/>
              <a:buNone/>
              <a:defRPr b="1" sz="1600"/>
            </a:lvl6pPr>
            <a:lvl7pPr indent="-228600" lvl="6" marL="3200400" algn="l">
              <a:spcBef>
                <a:spcPts val="320"/>
              </a:spcBef>
              <a:spcAft>
                <a:spcPts val="0"/>
              </a:spcAft>
              <a:buClr>
                <a:schemeClr val="dk1"/>
              </a:buClr>
              <a:buSzPts val="1600"/>
              <a:buNone/>
              <a:defRPr b="1" sz="1600"/>
            </a:lvl7pPr>
            <a:lvl8pPr indent="-228600" lvl="7" marL="3657600" algn="l">
              <a:spcBef>
                <a:spcPts val="320"/>
              </a:spcBef>
              <a:spcAft>
                <a:spcPts val="0"/>
              </a:spcAft>
              <a:buClr>
                <a:schemeClr val="dk1"/>
              </a:buClr>
              <a:buSzPts val="1600"/>
              <a:buNone/>
              <a:defRPr b="1" sz="1600"/>
            </a:lvl8pPr>
            <a:lvl9pPr indent="-228600" lvl="8" marL="4114800" algn="l">
              <a:spcBef>
                <a:spcPts val="320"/>
              </a:spcBef>
              <a:spcAft>
                <a:spcPts val="0"/>
              </a:spcAft>
              <a:buClr>
                <a:schemeClr val="dk1"/>
              </a:buClr>
              <a:buSzPts val="1600"/>
              <a:buNone/>
              <a:defRPr b="1" sz="1600"/>
            </a:lvl9pPr>
          </a:lstStyle>
          <a:p/>
        </p:txBody>
      </p:sp>
      <p:sp>
        <p:nvSpPr>
          <p:cNvPr id="45" name="Google Shape;45;p27"/>
          <p:cNvSpPr txBox="1"/>
          <p:nvPr>
            <p:ph idx="4" type="body"/>
          </p:nvPr>
        </p:nvSpPr>
        <p:spPr>
          <a:xfrm>
            <a:off x="4645025" y="2174875"/>
            <a:ext cx="4041775" cy="3951288"/>
          </a:xfrm>
          <a:prstGeom prst="rect">
            <a:avLst/>
          </a:prstGeom>
          <a:noFill/>
          <a:ln>
            <a:noFill/>
          </a:ln>
        </p:spPr>
        <p:txBody>
          <a:bodyPr anchorCtr="0" anchor="t" bIns="45700" lIns="91425" spcFirstLastPara="1" rIns="91425" wrap="square" tIns="45700">
            <a:normAutofit/>
          </a:bodyPr>
          <a:lstStyle>
            <a:lvl1pPr indent="-381000" lvl="0" marL="457200" algn="l">
              <a:spcBef>
                <a:spcPts val="480"/>
              </a:spcBef>
              <a:spcAft>
                <a:spcPts val="0"/>
              </a:spcAft>
              <a:buClr>
                <a:schemeClr val="dk1"/>
              </a:buClr>
              <a:buSzPts val="2400"/>
              <a:buChar char="•"/>
              <a:defRPr sz="2400"/>
            </a:lvl1pPr>
            <a:lvl2pPr indent="-355600" lvl="1" marL="914400" algn="l">
              <a:spcBef>
                <a:spcPts val="400"/>
              </a:spcBef>
              <a:spcAft>
                <a:spcPts val="0"/>
              </a:spcAft>
              <a:buClr>
                <a:schemeClr val="dk1"/>
              </a:buClr>
              <a:buSzPts val="2000"/>
              <a:buChar char="–"/>
              <a:defRPr sz="2000"/>
            </a:lvl2pPr>
            <a:lvl3pPr indent="-342900" lvl="2" marL="1371600" algn="l">
              <a:spcBef>
                <a:spcPts val="360"/>
              </a:spcBef>
              <a:spcAft>
                <a:spcPts val="0"/>
              </a:spcAft>
              <a:buClr>
                <a:schemeClr val="dk1"/>
              </a:buClr>
              <a:buSzPts val="1800"/>
              <a:buChar char="•"/>
              <a:defRPr sz="1800"/>
            </a:lvl3pPr>
            <a:lvl4pPr indent="-330200" lvl="3" marL="1828800" algn="l">
              <a:spcBef>
                <a:spcPts val="320"/>
              </a:spcBef>
              <a:spcAft>
                <a:spcPts val="0"/>
              </a:spcAft>
              <a:buClr>
                <a:schemeClr val="dk1"/>
              </a:buClr>
              <a:buSzPts val="1600"/>
              <a:buChar char="–"/>
              <a:defRPr sz="1600"/>
            </a:lvl4pPr>
            <a:lvl5pPr indent="-330200" lvl="4" marL="2286000" algn="l">
              <a:spcBef>
                <a:spcPts val="320"/>
              </a:spcBef>
              <a:spcAft>
                <a:spcPts val="0"/>
              </a:spcAft>
              <a:buClr>
                <a:schemeClr val="dk1"/>
              </a:buClr>
              <a:buSzPts val="1600"/>
              <a:buChar char="»"/>
              <a:defRPr sz="1600"/>
            </a:lvl5pPr>
            <a:lvl6pPr indent="-330200" lvl="5" marL="2743200" algn="l">
              <a:spcBef>
                <a:spcPts val="320"/>
              </a:spcBef>
              <a:spcAft>
                <a:spcPts val="0"/>
              </a:spcAft>
              <a:buClr>
                <a:schemeClr val="dk1"/>
              </a:buClr>
              <a:buSzPts val="1600"/>
              <a:buChar char="•"/>
              <a:defRPr sz="1600"/>
            </a:lvl6pPr>
            <a:lvl7pPr indent="-330200" lvl="6" marL="3200400" algn="l">
              <a:spcBef>
                <a:spcPts val="320"/>
              </a:spcBef>
              <a:spcAft>
                <a:spcPts val="0"/>
              </a:spcAft>
              <a:buClr>
                <a:schemeClr val="dk1"/>
              </a:buClr>
              <a:buSzPts val="1600"/>
              <a:buChar char="•"/>
              <a:defRPr sz="1600"/>
            </a:lvl7pPr>
            <a:lvl8pPr indent="-330200" lvl="7" marL="3657600" algn="l">
              <a:spcBef>
                <a:spcPts val="320"/>
              </a:spcBef>
              <a:spcAft>
                <a:spcPts val="0"/>
              </a:spcAft>
              <a:buClr>
                <a:schemeClr val="dk1"/>
              </a:buClr>
              <a:buSzPts val="1600"/>
              <a:buChar char="•"/>
              <a:defRPr sz="1600"/>
            </a:lvl8pPr>
            <a:lvl9pPr indent="-330200" lvl="8" marL="4114800" algn="l">
              <a:spcBef>
                <a:spcPts val="320"/>
              </a:spcBef>
              <a:spcAft>
                <a:spcPts val="0"/>
              </a:spcAft>
              <a:buClr>
                <a:schemeClr val="dk1"/>
              </a:buClr>
              <a:buSzPts val="1600"/>
              <a:buChar char="•"/>
              <a:defRPr sz="1600"/>
            </a:lvl9pPr>
          </a:lstStyle>
          <a:p/>
        </p:txBody>
      </p:sp>
      <p:sp>
        <p:nvSpPr>
          <p:cNvPr id="46" name="Google Shape;46;p27"/>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7" name="Google Shape;47;p27"/>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8" name="Google Shape;48;p27"/>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49" name="Shape 49"/>
        <p:cNvGrpSpPr/>
        <p:nvPr/>
      </p:nvGrpSpPr>
      <p:grpSpPr>
        <a:xfrm>
          <a:off x="0" y="0"/>
          <a:ext cx="0" cy="0"/>
          <a:chOff x="0" y="0"/>
          <a:chExt cx="0" cy="0"/>
        </a:xfrm>
      </p:grpSpPr>
      <p:sp>
        <p:nvSpPr>
          <p:cNvPr id="50" name="Google Shape;50;p28"/>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1" name="Google Shape;51;p28"/>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28"/>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28"/>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54" name="Shape 54"/>
        <p:cNvGrpSpPr/>
        <p:nvPr/>
      </p:nvGrpSpPr>
      <p:grpSpPr>
        <a:xfrm>
          <a:off x="0" y="0"/>
          <a:ext cx="0" cy="0"/>
          <a:chOff x="0" y="0"/>
          <a:chExt cx="0" cy="0"/>
        </a:xfrm>
      </p:grpSpPr>
      <p:sp>
        <p:nvSpPr>
          <p:cNvPr id="55" name="Google Shape;55;p29"/>
          <p:cNvSpPr txBox="1"/>
          <p:nvPr>
            <p:ph type="title"/>
          </p:nvPr>
        </p:nvSpPr>
        <p:spPr>
          <a:xfrm>
            <a:off x="457200" y="273050"/>
            <a:ext cx="3008313" cy="1162050"/>
          </a:xfrm>
          <a:prstGeom prst="rect">
            <a:avLst/>
          </a:prstGeom>
          <a:noFill/>
          <a:ln>
            <a:noFill/>
          </a:ln>
        </p:spPr>
        <p:txBody>
          <a:bodyPr anchorCtr="0" anchor="b" bIns="45700" lIns="91425" spcFirstLastPara="1" rIns="91425" wrap="square" tIns="45700">
            <a:normAutofit/>
          </a:bodyPr>
          <a:lstStyle>
            <a:lvl1pPr lvl="0" algn="l">
              <a:spcBef>
                <a:spcPts val="0"/>
              </a:spcBef>
              <a:spcAft>
                <a:spcPts val="0"/>
              </a:spcAft>
              <a:buClr>
                <a:schemeClr val="dk1"/>
              </a:buClr>
              <a:buSzPts val="2000"/>
              <a:buFont typeface="Calibri"/>
              <a:buNone/>
              <a:defRPr b="1" sz="2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29"/>
          <p:cNvSpPr txBox="1"/>
          <p:nvPr>
            <p:ph idx="1" type="body"/>
          </p:nvPr>
        </p:nvSpPr>
        <p:spPr>
          <a:xfrm>
            <a:off x="3575050" y="273050"/>
            <a:ext cx="5111750" cy="5853113"/>
          </a:xfrm>
          <a:prstGeom prst="rect">
            <a:avLst/>
          </a:prstGeom>
          <a:noFill/>
          <a:ln>
            <a:noFill/>
          </a:ln>
        </p:spPr>
        <p:txBody>
          <a:bodyPr anchorCtr="0" anchor="t" bIns="45700" lIns="91425" spcFirstLastPara="1" rIns="91425" wrap="square" tIns="45700">
            <a:normAutofit/>
          </a:bodyPr>
          <a:lstStyle>
            <a:lvl1pPr indent="-431800" lvl="0" marL="457200" algn="l">
              <a:spcBef>
                <a:spcPts val="640"/>
              </a:spcBef>
              <a:spcAft>
                <a:spcPts val="0"/>
              </a:spcAft>
              <a:buClr>
                <a:schemeClr val="dk1"/>
              </a:buClr>
              <a:buSzPts val="3200"/>
              <a:buChar char="•"/>
              <a:defRPr sz="3200"/>
            </a:lvl1pPr>
            <a:lvl2pPr indent="-406400" lvl="1" marL="914400" algn="l">
              <a:spcBef>
                <a:spcPts val="560"/>
              </a:spcBef>
              <a:spcAft>
                <a:spcPts val="0"/>
              </a:spcAft>
              <a:buClr>
                <a:schemeClr val="dk1"/>
              </a:buClr>
              <a:buSzPts val="2800"/>
              <a:buChar char="–"/>
              <a:defRPr sz="2800"/>
            </a:lvl2pPr>
            <a:lvl3pPr indent="-381000" lvl="2" marL="1371600" algn="l">
              <a:spcBef>
                <a:spcPts val="480"/>
              </a:spcBef>
              <a:spcAft>
                <a:spcPts val="0"/>
              </a:spcAft>
              <a:buClr>
                <a:schemeClr val="dk1"/>
              </a:buClr>
              <a:buSzPts val="2400"/>
              <a:buChar char="•"/>
              <a:defRPr sz="2400"/>
            </a:lvl3pPr>
            <a:lvl4pPr indent="-355600" lvl="3" marL="1828800" algn="l">
              <a:spcBef>
                <a:spcPts val="400"/>
              </a:spcBef>
              <a:spcAft>
                <a:spcPts val="0"/>
              </a:spcAft>
              <a:buClr>
                <a:schemeClr val="dk1"/>
              </a:buClr>
              <a:buSzPts val="2000"/>
              <a:buChar char="–"/>
              <a:defRPr sz="2000"/>
            </a:lvl4pPr>
            <a:lvl5pPr indent="-355600" lvl="4" marL="2286000" algn="l">
              <a:spcBef>
                <a:spcPts val="400"/>
              </a:spcBef>
              <a:spcAft>
                <a:spcPts val="0"/>
              </a:spcAft>
              <a:buClr>
                <a:schemeClr val="dk1"/>
              </a:buClr>
              <a:buSzPts val="2000"/>
              <a:buChar char="»"/>
              <a:defRPr sz="2000"/>
            </a:lvl5pPr>
            <a:lvl6pPr indent="-355600" lvl="5" marL="2743200" algn="l">
              <a:spcBef>
                <a:spcPts val="400"/>
              </a:spcBef>
              <a:spcAft>
                <a:spcPts val="0"/>
              </a:spcAft>
              <a:buClr>
                <a:schemeClr val="dk1"/>
              </a:buClr>
              <a:buSzPts val="2000"/>
              <a:buChar char="•"/>
              <a:defRPr sz="2000"/>
            </a:lvl6pPr>
            <a:lvl7pPr indent="-355600" lvl="6" marL="3200400" algn="l">
              <a:spcBef>
                <a:spcPts val="400"/>
              </a:spcBef>
              <a:spcAft>
                <a:spcPts val="0"/>
              </a:spcAft>
              <a:buClr>
                <a:schemeClr val="dk1"/>
              </a:buClr>
              <a:buSzPts val="2000"/>
              <a:buChar char="•"/>
              <a:defRPr sz="2000"/>
            </a:lvl7pPr>
            <a:lvl8pPr indent="-355600" lvl="7" marL="3657600" algn="l">
              <a:spcBef>
                <a:spcPts val="400"/>
              </a:spcBef>
              <a:spcAft>
                <a:spcPts val="0"/>
              </a:spcAft>
              <a:buClr>
                <a:schemeClr val="dk1"/>
              </a:buClr>
              <a:buSzPts val="2000"/>
              <a:buChar char="•"/>
              <a:defRPr sz="2000"/>
            </a:lvl8pPr>
            <a:lvl9pPr indent="-355600" lvl="8" marL="4114800" algn="l">
              <a:spcBef>
                <a:spcPts val="400"/>
              </a:spcBef>
              <a:spcAft>
                <a:spcPts val="0"/>
              </a:spcAft>
              <a:buClr>
                <a:schemeClr val="dk1"/>
              </a:buClr>
              <a:buSzPts val="2000"/>
              <a:buChar char="•"/>
              <a:defRPr sz="2000"/>
            </a:lvl9pPr>
          </a:lstStyle>
          <a:p/>
        </p:txBody>
      </p:sp>
      <p:sp>
        <p:nvSpPr>
          <p:cNvPr id="57" name="Google Shape;57;p29"/>
          <p:cNvSpPr txBox="1"/>
          <p:nvPr>
            <p:ph idx="2" type="body"/>
          </p:nvPr>
        </p:nvSpPr>
        <p:spPr>
          <a:xfrm>
            <a:off x="457200" y="1435100"/>
            <a:ext cx="3008313" cy="4691063"/>
          </a:xfrm>
          <a:prstGeom prst="rect">
            <a:avLst/>
          </a:prstGeom>
          <a:noFill/>
          <a:ln>
            <a:noFill/>
          </a:ln>
        </p:spPr>
        <p:txBody>
          <a:bodyPr anchorCtr="0" anchor="t" bIns="45700" lIns="91425" spcFirstLastPara="1" rIns="91425" wrap="square" tIns="45700">
            <a:normAutofit/>
          </a:bodyPr>
          <a:lstStyle>
            <a:lvl1pPr indent="-228600" lvl="0" marL="457200" algn="l">
              <a:spcBef>
                <a:spcPts val="280"/>
              </a:spcBef>
              <a:spcAft>
                <a:spcPts val="0"/>
              </a:spcAft>
              <a:buClr>
                <a:schemeClr val="dk1"/>
              </a:buClr>
              <a:buSzPts val="1400"/>
              <a:buNone/>
              <a:defRPr sz="1400"/>
            </a:lvl1pPr>
            <a:lvl2pPr indent="-228600" lvl="1" marL="914400" algn="l">
              <a:spcBef>
                <a:spcPts val="240"/>
              </a:spcBef>
              <a:spcAft>
                <a:spcPts val="0"/>
              </a:spcAft>
              <a:buClr>
                <a:schemeClr val="dk1"/>
              </a:buClr>
              <a:buSzPts val="1200"/>
              <a:buNone/>
              <a:defRPr sz="1200"/>
            </a:lvl2pPr>
            <a:lvl3pPr indent="-228600" lvl="2" marL="1371600" algn="l">
              <a:spcBef>
                <a:spcPts val="200"/>
              </a:spcBef>
              <a:spcAft>
                <a:spcPts val="0"/>
              </a:spcAft>
              <a:buClr>
                <a:schemeClr val="dk1"/>
              </a:buClr>
              <a:buSzPts val="1000"/>
              <a:buNone/>
              <a:defRPr sz="1000"/>
            </a:lvl3pPr>
            <a:lvl4pPr indent="-228600" lvl="3" marL="1828800" algn="l">
              <a:spcBef>
                <a:spcPts val="180"/>
              </a:spcBef>
              <a:spcAft>
                <a:spcPts val="0"/>
              </a:spcAft>
              <a:buClr>
                <a:schemeClr val="dk1"/>
              </a:buClr>
              <a:buSzPts val="900"/>
              <a:buNone/>
              <a:defRPr sz="900"/>
            </a:lvl4pPr>
            <a:lvl5pPr indent="-228600" lvl="4" marL="2286000" algn="l">
              <a:spcBef>
                <a:spcPts val="180"/>
              </a:spcBef>
              <a:spcAft>
                <a:spcPts val="0"/>
              </a:spcAft>
              <a:buClr>
                <a:schemeClr val="dk1"/>
              </a:buClr>
              <a:buSzPts val="900"/>
              <a:buNone/>
              <a:defRPr sz="900"/>
            </a:lvl5pPr>
            <a:lvl6pPr indent="-228600" lvl="5" marL="2743200" algn="l">
              <a:spcBef>
                <a:spcPts val="180"/>
              </a:spcBef>
              <a:spcAft>
                <a:spcPts val="0"/>
              </a:spcAft>
              <a:buClr>
                <a:schemeClr val="dk1"/>
              </a:buClr>
              <a:buSzPts val="900"/>
              <a:buNone/>
              <a:defRPr sz="900"/>
            </a:lvl6pPr>
            <a:lvl7pPr indent="-228600" lvl="6" marL="3200400" algn="l">
              <a:spcBef>
                <a:spcPts val="180"/>
              </a:spcBef>
              <a:spcAft>
                <a:spcPts val="0"/>
              </a:spcAft>
              <a:buClr>
                <a:schemeClr val="dk1"/>
              </a:buClr>
              <a:buSzPts val="900"/>
              <a:buNone/>
              <a:defRPr sz="900"/>
            </a:lvl7pPr>
            <a:lvl8pPr indent="-228600" lvl="7" marL="3657600" algn="l">
              <a:spcBef>
                <a:spcPts val="180"/>
              </a:spcBef>
              <a:spcAft>
                <a:spcPts val="0"/>
              </a:spcAft>
              <a:buClr>
                <a:schemeClr val="dk1"/>
              </a:buClr>
              <a:buSzPts val="900"/>
              <a:buNone/>
              <a:defRPr sz="900"/>
            </a:lvl8pPr>
            <a:lvl9pPr indent="-228600" lvl="8" marL="4114800" algn="l">
              <a:spcBef>
                <a:spcPts val="180"/>
              </a:spcBef>
              <a:spcAft>
                <a:spcPts val="0"/>
              </a:spcAft>
              <a:buClr>
                <a:schemeClr val="dk1"/>
              </a:buClr>
              <a:buSzPts val="900"/>
              <a:buNone/>
              <a:defRPr sz="900"/>
            </a:lvl9pPr>
          </a:lstStyle>
          <a:p/>
        </p:txBody>
      </p:sp>
      <p:sp>
        <p:nvSpPr>
          <p:cNvPr id="58" name="Google Shape;58;p29"/>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9" name="Google Shape;59;p29"/>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0" name="Google Shape;60;p29"/>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type="picTx">
  <p:cSld name="PICTURE_WITH_CAPTION_TEXT">
    <p:spTree>
      <p:nvGrpSpPr>
        <p:cNvPr id="61" name="Shape 61"/>
        <p:cNvGrpSpPr/>
        <p:nvPr/>
      </p:nvGrpSpPr>
      <p:grpSpPr>
        <a:xfrm>
          <a:off x="0" y="0"/>
          <a:ext cx="0" cy="0"/>
          <a:chOff x="0" y="0"/>
          <a:chExt cx="0" cy="0"/>
        </a:xfrm>
      </p:grpSpPr>
      <p:sp>
        <p:nvSpPr>
          <p:cNvPr id="62" name="Google Shape;62;p30"/>
          <p:cNvSpPr txBox="1"/>
          <p:nvPr>
            <p:ph type="title"/>
          </p:nvPr>
        </p:nvSpPr>
        <p:spPr>
          <a:xfrm>
            <a:off x="1792288" y="4800600"/>
            <a:ext cx="5486400" cy="566738"/>
          </a:xfrm>
          <a:prstGeom prst="rect">
            <a:avLst/>
          </a:prstGeom>
          <a:noFill/>
          <a:ln>
            <a:noFill/>
          </a:ln>
        </p:spPr>
        <p:txBody>
          <a:bodyPr anchorCtr="0" anchor="b" bIns="45700" lIns="91425" spcFirstLastPara="1" rIns="91425" wrap="square" tIns="45700">
            <a:normAutofit/>
          </a:bodyPr>
          <a:lstStyle>
            <a:lvl1pPr lvl="0" algn="l">
              <a:spcBef>
                <a:spcPts val="0"/>
              </a:spcBef>
              <a:spcAft>
                <a:spcPts val="0"/>
              </a:spcAft>
              <a:buClr>
                <a:schemeClr val="dk1"/>
              </a:buClr>
              <a:buSzPts val="2000"/>
              <a:buFont typeface="Calibri"/>
              <a:buNone/>
              <a:defRPr b="1" sz="2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3" name="Google Shape;63;p30"/>
          <p:cNvSpPr/>
          <p:nvPr>
            <p:ph idx="2" type="pic"/>
          </p:nvPr>
        </p:nvSpPr>
        <p:spPr>
          <a:xfrm>
            <a:off x="1792288" y="612775"/>
            <a:ext cx="5486400" cy="4114800"/>
          </a:xfrm>
          <a:prstGeom prst="rect">
            <a:avLst/>
          </a:prstGeom>
          <a:noFill/>
          <a:ln>
            <a:noFill/>
          </a:ln>
        </p:spPr>
      </p:sp>
      <p:sp>
        <p:nvSpPr>
          <p:cNvPr id="64" name="Google Shape;64;p30"/>
          <p:cNvSpPr txBox="1"/>
          <p:nvPr>
            <p:ph idx="1" type="body"/>
          </p:nvPr>
        </p:nvSpPr>
        <p:spPr>
          <a:xfrm>
            <a:off x="1792288" y="5367338"/>
            <a:ext cx="5486400" cy="804862"/>
          </a:xfrm>
          <a:prstGeom prst="rect">
            <a:avLst/>
          </a:prstGeom>
          <a:noFill/>
          <a:ln>
            <a:noFill/>
          </a:ln>
        </p:spPr>
        <p:txBody>
          <a:bodyPr anchorCtr="0" anchor="t" bIns="45700" lIns="91425" spcFirstLastPara="1" rIns="91425" wrap="square" tIns="45700">
            <a:normAutofit/>
          </a:bodyPr>
          <a:lstStyle>
            <a:lvl1pPr indent="-228600" lvl="0" marL="457200" algn="l">
              <a:spcBef>
                <a:spcPts val="280"/>
              </a:spcBef>
              <a:spcAft>
                <a:spcPts val="0"/>
              </a:spcAft>
              <a:buClr>
                <a:schemeClr val="dk1"/>
              </a:buClr>
              <a:buSzPts val="1400"/>
              <a:buNone/>
              <a:defRPr sz="1400"/>
            </a:lvl1pPr>
            <a:lvl2pPr indent="-228600" lvl="1" marL="914400" algn="l">
              <a:spcBef>
                <a:spcPts val="240"/>
              </a:spcBef>
              <a:spcAft>
                <a:spcPts val="0"/>
              </a:spcAft>
              <a:buClr>
                <a:schemeClr val="dk1"/>
              </a:buClr>
              <a:buSzPts val="1200"/>
              <a:buNone/>
              <a:defRPr sz="1200"/>
            </a:lvl2pPr>
            <a:lvl3pPr indent="-228600" lvl="2" marL="1371600" algn="l">
              <a:spcBef>
                <a:spcPts val="200"/>
              </a:spcBef>
              <a:spcAft>
                <a:spcPts val="0"/>
              </a:spcAft>
              <a:buClr>
                <a:schemeClr val="dk1"/>
              </a:buClr>
              <a:buSzPts val="1000"/>
              <a:buNone/>
              <a:defRPr sz="1000"/>
            </a:lvl3pPr>
            <a:lvl4pPr indent="-228600" lvl="3" marL="1828800" algn="l">
              <a:spcBef>
                <a:spcPts val="180"/>
              </a:spcBef>
              <a:spcAft>
                <a:spcPts val="0"/>
              </a:spcAft>
              <a:buClr>
                <a:schemeClr val="dk1"/>
              </a:buClr>
              <a:buSzPts val="900"/>
              <a:buNone/>
              <a:defRPr sz="900"/>
            </a:lvl4pPr>
            <a:lvl5pPr indent="-228600" lvl="4" marL="2286000" algn="l">
              <a:spcBef>
                <a:spcPts val="180"/>
              </a:spcBef>
              <a:spcAft>
                <a:spcPts val="0"/>
              </a:spcAft>
              <a:buClr>
                <a:schemeClr val="dk1"/>
              </a:buClr>
              <a:buSzPts val="900"/>
              <a:buNone/>
              <a:defRPr sz="900"/>
            </a:lvl5pPr>
            <a:lvl6pPr indent="-228600" lvl="5" marL="2743200" algn="l">
              <a:spcBef>
                <a:spcPts val="180"/>
              </a:spcBef>
              <a:spcAft>
                <a:spcPts val="0"/>
              </a:spcAft>
              <a:buClr>
                <a:schemeClr val="dk1"/>
              </a:buClr>
              <a:buSzPts val="900"/>
              <a:buNone/>
              <a:defRPr sz="900"/>
            </a:lvl6pPr>
            <a:lvl7pPr indent="-228600" lvl="6" marL="3200400" algn="l">
              <a:spcBef>
                <a:spcPts val="180"/>
              </a:spcBef>
              <a:spcAft>
                <a:spcPts val="0"/>
              </a:spcAft>
              <a:buClr>
                <a:schemeClr val="dk1"/>
              </a:buClr>
              <a:buSzPts val="900"/>
              <a:buNone/>
              <a:defRPr sz="900"/>
            </a:lvl7pPr>
            <a:lvl8pPr indent="-228600" lvl="7" marL="3657600" algn="l">
              <a:spcBef>
                <a:spcPts val="180"/>
              </a:spcBef>
              <a:spcAft>
                <a:spcPts val="0"/>
              </a:spcAft>
              <a:buClr>
                <a:schemeClr val="dk1"/>
              </a:buClr>
              <a:buSzPts val="900"/>
              <a:buNone/>
              <a:defRPr sz="900"/>
            </a:lvl8pPr>
            <a:lvl9pPr indent="-228600" lvl="8" marL="4114800" algn="l">
              <a:spcBef>
                <a:spcPts val="180"/>
              </a:spcBef>
              <a:spcAft>
                <a:spcPts val="0"/>
              </a:spcAft>
              <a:buClr>
                <a:schemeClr val="dk1"/>
              </a:buClr>
              <a:buSzPts val="900"/>
              <a:buNone/>
              <a:defRPr sz="900"/>
            </a:lvl9pPr>
          </a:lstStyle>
          <a:p/>
        </p:txBody>
      </p:sp>
      <p:sp>
        <p:nvSpPr>
          <p:cNvPr id="65" name="Google Shape;65;p30"/>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6" name="Google Shape;66;p30"/>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7" name="Google Shape;67;p30"/>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68" name="Shape 68"/>
        <p:cNvGrpSpPr/>
        <p:nvPr/>
      </p:nvGrpSpPr>
      <p:grpSpPr>
        <a:xfrm>
          <a:off x="0" y="0"/>
          <a:ext cx="0" cy="0"/>
          <a:chOff x="0" y="0"/>
          <a:chExt cx="0" cy="0"/>
        </a:xfrm>
      </p:grpSpPr>
      <p:sp>
        <p:nvSpPr>
          <p:cNvPr id="69" name="Google Shape;69;p31"/>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0" name="Google Shape;70;p31"/>
          <p:cNvSpPr txBox="1"/>
          <p:nvPr>
            <p:ph idx="1" type="body"/>
          </p:nvPr>
        </p:nvSpPr>
        <p:spPr>
          <a:xfrm rot="5400000">
            <a:off x="2309019" y="-251618"/>
            <a:ext cx="4525963" cy="8229600"/>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71" name="Google Shape;71;p31"/>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2" name="Google Shape;72;p31"/>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3" name="Google Shape;73;p31"/>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type="vertTitleAndTx">
  <p:cSld name="VERTICAL_TITLE_AND_VERTICAL_TEXT">
    <p:spTree>
      <p:nvGrpSpPr>
        <p:cNvPr id="74" name="Shape 74"/>
        <p:cNvGrpSpPr/>
        <p:nvPr/>
      </p:nvGrpSpPr>
      <p:grpSpPr>
        <a:xfrm>
          <a:off x="0" y="0"/>
          <a:ext cx="0" cy="0"/>
          <a:chOff x="0" y="0"/>
          <a:chExt cx="0" cy="0"/>
        </a:xfrm>
      </p:grpSpPr>
      <p:sp>
        <p:nvSpPr>
          <p:cNvPr id="75" name="Google Shape;75;p32"/>
          <p:cNvSpPr txBox="1"/>
          <p:nvPr>
            <p:ph type="title"/>
          </p:nvPr>
        </p:nvSpPr>
        <p:spPr>
          <a:xfrm rot="5400000">
            <a:off x="4732338" y="2171701"/>
            <a:ext cx="5851525" cy="20574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6" name="Google Shape;76;p32"/>
          <p:cNvSpPr txBox="1"/>
          <p:nvPr>
            <p:ph idx="1" type="body"/>
          </p:nvPr>
        </p:nvSpPr>
        <p:spPr>
          <a:xfrm rot="5400000">
            <a:off x="541338" y="190500"/>
            <a:ext cx="5851525" cy="6019800"/>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77" name="Google Shape;77;p32"/>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8" name="Google Shape;78;p32"/>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9" name="Google Shape;79;p32"/>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21"/>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marR="0" rtl="0" algn="ctr">
              <a:spcBef>
                <a:spcPts val="0"/>
              </a:spcBef>
              <a:spcAft>
                <a:spcPts val="0"/>
              </a:spcAft>
              <a:buClr>
                <a:schemeClr val="dk1"/>
              </a:buClr>
              <a:buSzPts val="4400"/>
              <a:buFont typeface="Calibri"/>
              <a:buNone/>
              <a:defRPr b="0" i="0" sz="4400" u="none" cap="none" strike="noStrik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7" name="Google Shape;7;p21"/>
          <p:cNvSpPr txBox="1"/>
          <p:nvPr>
            <p:ph idx="1" type="body"/>
          </p:nvPr>
        </p:nvSpPr>
        <p:spPr>
          <a:xfrm>
            <a:off x="457200" y="1600200"/>
            <a:ext cx="8229600" cy="4525963"/>
          </a:xfrm>
          <a:prstGeom prst="rect">
            <a:avLst/>
          </a:prstGeom>
          <a:noFill/>
          <a:ln>
            <a:noFill/>
          </a:ln>
        </p:spPr>
        <p:txBody>
          <a:bodyPr anchorCtr="0" anchor="t" bIns="45700" lIns="91425" spcFirstLastPara="1" rIns="91425" wrap="square" tIns="45700">
            <a:normAutofit/>
          </a:bodyPr>
          <a:lstStyle>
            <a:lvl1pPr indent="-431800" lvl="0" marL="457200" marR="0" rtl="0" algn="l">
              <a:spcBef>
                <a:spcPts val="640"/>
              </a:spcBef>
              <a:spcAft>
                <a:spcPts val="0"/>
              </a:spcAft>
              <a:buClr>
                <a:schemeClr val="dk1"/>
              </a:buClr>
              <a:buSzPts val="3200"/>
              <a:buFont typeface="Arial"/>
              <a:buChar char="•"/>
              <a:defRPr b="0" i="0" sz="3200" u="none" cap="none" strike="noStrike">
                <a:solidFill>
                  <a:schemeClr val="dk1"/>
                </a:solidFill>
                <a:latin typeface="Calibri"/>
                <a:ea typeface="Calibri"/>
                <a:cs typeface="Calibri"/>
                <a:sym typeface="Calibri"/>
              </a:defRPr>
            </a:lvl1pPr>
            <a:lvl2pPr indent="-406400" lvl="1" marL="914400" marR="0" rtl="0" algn="l">
              <a:spcBef>
                <a:spcPts val="560"/>
              </a:spcBef>
              <a:spcAft>
                <a:spcPts val="0"/>
              </a:spcAft>
              <a:buClr>
                <a:schemeClr val="dk1"/>
              </a:buClr>
              <a:buSzPts val="2800"/>
              <a:buFont typeface="Arial"/>
              <a:buChar char="–"/>
              <a:defRPr b="0" i="0" sz="2800" u="none" cap="none" strike="noStrike">
                <a:solidFill>
                  <a:schemeClr val="dk1"/>
                </a:solidFill>
                <a:latin typeface="Calibri"/>
                <a:ea typeface="Calibri"/>
                <a:cs typeface="Calibri"/>
                <a:sym typeface="Calibri"/>
              </a:defRPr>
            </a:lvl2pPr>
            <a:lvl3pPr indent="-381000" lvl="2" marL="1371600" marR="0" rtl="0" algn="l">
              <a:spcBef>
                <a:spcPts val="48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3pPr>
            <a:lvl4pPr indent="-355600" lvl="3" marL="1828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4pPr>
            <a:lvl5pPr indent="-355600" lvl="4" marL="22860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8" name="Google Shape;8;p21"/>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9" name="Google Shape;9;p21"/>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marR="0" rtl="0" algn="ctr">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10" name="Google Shape;10;p21"/>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rtl="0" algn="r">
              <a:spcBef>
                <a:spcPts val="0"/>
              </a:spcBef>
              <a:buNone/>
              <a:defRPr b="0" i="0" sz="1200" u="none" cap="none" strike="noStrike">
                <a:solidFill>
                  <a:srgbClr val="888888"/>
                </a:solidFill>
                <a:latin typeface="Calibri"/>
                <a:ea typeface="Calibri"/>
                <a:cs typeface="Calibri"/>
                <a:sym typeface="Calibri"/>
              </a:defRPr>
            </a:lvl1pPr>
            <a:lvl2pPr indent="0" lvl="1" marL="0" marR="0" rtl="0" algn="r">
              <a:spcBef>
                <a:spcPts val="0"/>
              </a:spcBef>
              <a:buNone/>
              <a:defRPr b="0" i="0" sz="1200" u="none" cap="none" strike="noStrike">
                <a:solidFill>
                  <a:srgbClr val="888888"/>
                </a:solidFill>
                <a:latin typeface="Calibri"/>
                <a:ea typeface="Calibri"/>
                <a:cs typeface="Calibri"/>
                <a:sym typeface="Calibri"/>
              </a:defRPr>
            </a:lvl2pPr>
            <a:lvl3pPr indent="0" lvl="2" marL="0" marR="0" rtl="0" algn="r">
              <a:spcBef>
                <a:spcPts val="0"/>
              </a:spcBef>
              <a:buNone/>
              <a:defRPr b="0" i="0" sz="1200" u="none" cap="none" strike="noStrike">
                <a:solidFill>
                  <a:srgbClr val="888888"/>
                </a:solidFill>
                <a:latin typeface="Calibri"/>
                <a:ea typeface="Calibri"/>
                <a:cs typeface="Calibri"/>
                <a:sym typeface="Calibri"/>
              </a:defRPr>
            </a:lvl3pPr>
            <a:lvl4pPr indent="0" lvl="3" marL="0" marR="0" rtl="0" algn="r">
              <a:spcBef>
                <a:spcPts val="0"/>
              </a:spcBef>
              <a:buNone/>
              <a:defRPr b="0" i="0" sz="1200" u="none" cap="none" strike="noStrike">
                <a:solidFill>
                  <a:srgbClr val="888888"/>
                </a:solidFill>
                <a:latin typeface="Calibri"/>
                <a:ea typeface="Calibri"/>
                <a:cs typeface="Calibri"/>
                <a:sym typeface="Calibri"/>
              </a:defRPr>
            </a:lvl4pPr>
            <a:lvl5pPr indent="0" lvl="4" marL="0" marR="0" rtl="0" algn="r">
              <a:spcBef>
                <a:spcPts val="0"/>
              </a:spcBef>
              <a:buNone/>
              <a:defRPr b="0" i="0" sz="1200" u="none" cap="none" strike="noStrike">
                <a:solidFill>
                  <a:srgbClr val="888888"/>
                </a:solidFill>
                <a:latin typeface="Calibri"/>
                <a:ea typeface="Calibri"/>
                <a:cs typeface="Calibri"/>
                <a:sym typeface="Calibri"/>
              </a:defRPr>
            </a:lvl5pPr>
            <a:lvl6pPr indent="0" lvl="5" marL="0" marR="0" rtl="0" algn="r">
              <a:spcBef>
                <a:spcPts val="0"/>
              </a:spcBef>
              <a:buNone/>
              <a:defRPr b="0" i="0" sz="1200" u="none" cap="none" strike="noStrike">
                <a:solidFill>
                  <a:srgbClr val="888888"/>
                </a:solidFill>
                <a:latin typeface="Calibri"/>
                <a:ea typeface="Calibri"/>
                <a:cs typeface="Calibri"/>
                <a:sym typeface="Calibri"/>
              </a:defRPr>
            </a:lvl6pPr>
            <a:lvl7pPr indent="0" lvl="6" marL="0" marR="0" rtl="0" algn="r">
              <a:spcBef>
                <a:spcPts val="0"/>
              </a:spcBef>
              <a:buNone/>
              <a:defRPr b="0" i="0" sz="1200" u="none" cap="none" strike="noStrike">
                <a:solidFill>
                  <a:srgbClr val="888888"/>
                </a:solidFill>
                <a:latin typeface="Calibri"/>
                <a:ea typeface="Calibri"/>
                <a:cs typeface="Calibri"/>
                <a:sym typeface="Calibri"/>
              </a:defRPr>
            </a:lvl7pPr>
            <a:lvl8pPr indent="0" lvl="7" marL="0" marR="0" rtl="0" algn="r">
              <a:spcBef>
                <a:spcPts val="0"/>
              </a:spcBef>
              <a:buNone/>
              <a:defRPr b="0" i="0" sz="1200" u="none" cap="none" strike="noStrike">
                <a:solidFill>
                  <a:srgbClr val="888888"/>
                </a:solidFill>
                <a:latin typeface="Calibri"/>
                <a:ea typeface="Calibri"/>
                <a:cs typeface="Calibri"/>
                <a:sym typeface="Calibri"/>
              </a:defRPr>
            </a:lvl8pPr>
            <a:lvl9pPr indent="0" lvl="8" marL="0" marR="0" rtl="0" algn="r">
              <a:spcBef>
                <a:spcPts val="0"/>
              </a:spcBef>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4" name="Shape 84"/>
        <p:cNvGrpSpPr/>
        <p:nvPr/>
      </p:nvGrpSpPr>
      <p:grpSpPr>
        <a:xfrm>
          <a:off x="0" y="0"/>
          <a:ext cx="0" cy="0"/>
          <a:chOff x="0" y="0"/>
          <a:chExt cx="0" cy="0"/>
        </a:xfrm>
      </p:grpSpPr>
      <p:sp>
        <p:nvSpPr>
          <p:cNvPr id="85" name="Google Shape;85;p1"/>
          <p:cNvSpPr/>
          <p:nvPr/>
        </p:nvSpPr>
        <p:spPr>
          <a:xfrm>
            <a:off x="0" y="0"/>
            <a:ext cx="12191695" cy="137160"/>
          </a:xfrm>
          <a:prstGeom prst="rect">
            <a:avLst/>
          </a:prstGeom>
          <a:solidFill>
            <a:srgbClr val="5B21B6"/>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86" name="Google Shape;86;p1"/>
          <p:cNvSpPr txBox="1"/>
          <p:nvPr/>
        </p:nvSpPr>
        <p:spPr>
          <a:xfrm>
            <a:off x="914400" y="1645920"/>
            <a:ext cx="10362895" cy="7315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2400" u="none" cap="none" strike="noStrike">
                <a:solidFill>
                  <a:srgbClr val="5B21B6"/>
                </a:solidFill>
                <a:latin typeface="Calibri"/>
                <a:ea typeface="Calibri"/>
                <a:cs typeface="Calibri"/>
                <a:sym typeface="Calibri"/>
              </a:rPr>
              <a:t>Lecture 10.2</a:t>
            </a:r>
            <a:endParaRPr/>
          </a:p>
        </p:txBody>
      </p:sp>
      <p:sp>
        <p:nvSpPr>
          <p:cNvPr id="87" name="Google Shape;87;p1"/>
          <p:cNvSpPr txBox="1"/>
          <p:nvPr/>
        </p:nvSpPr>
        <p:spPr>
          <a:xfrm>
            <a:off x="914400" y="2468880"/>
            <a:ext cx="10362895" cy="18288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4800" u="none" cap="none" strike="noStrike">
                <a:solidFill>
                  <a:srgbClr val="1A1A2E"/>
                </a:solidFill>
                <a:latin typeface="Calibri"/>
                <a:ea typeface="Calibri"/>
                <a:cs typeface="Calibri"/>
                <a:sym typeface="Calibri"/>
              </a:rPr>
              <a:t>The Future</a:t>
            </a:r>
            <a:endParaRPr/>
          </a:p>
        </p:txBody>
      </p:sp>
      <p:sp>
        <p:nvSpPr>
          <p:cNvPr id="88" name="Google Shape;88;p1"/>
          <p:cNvSpPr txBox="1"/>
          <p:nvPr/>
        </p:nvSpPr>
        <p:spPr>
          <a:xfrm>
            <a:off x="914400" y="4754880"/>
            <a:ext cx="10362895" cy="9144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2000" u="none" cap="none" strike="noStrike">
                <a:solidFill>
                  <a:srgbClr val="666677"/>
                </a:solidFill>
                <a:latin typeface="Calibri"/>
                <a:ea typeface="Calibri"/>
                <a:cs typeface="Calibri"/>
                <a:sym typeface="Calibri"/>
              </a:rPr>
              <a:t>Andy Aymeloglu - UATX Software Engineering</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DE9FE"/>
        </a:solidFill>
      </p:bgPr>
    </p:bg>
    <p:spTree>
      <p:nvGrpSpPr>
        <p:cNvPr id="93" name="Shape 93"/>
        <p:cNvGrpSpPr/>
        <p:nvPr/>
      </p:nvGrpSpPr>
      <p:grpSpPr>
        <a:xfrm>
          <a:off x="0" y="0"/>
          <a:ext cx="0" cy="0"/>
          <a:chOff x="0" y="0"/>
          <a:chExt cx="0" cy="0"/>
        </a:xfrm>
      </p:grpSpPr>
      <p:sp>
        <p:nvSpPr>
          <p:cNvPr id="94" name="Google Shape;94;p4"/>
          <p:cNvSpPr txBox="1"/>
          <p:nvPr/>
        </p:nvSpPr>
        <p:spPr>
          <a:xfrm>
            <a:off x="914400" y="2286000"/>
            <a:ext cx="10362895" cy="22860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4400" u="none" cap="none" strike="noStrike">
                <a:solidFill>
                  <a:srgbClr val="5B21B6"/>
                </a:solidFill>
                <a:latin typeface="Calibri"/>
                <a:ea typeface="Calibri"/>
                <a:cs typeface="Calibri"/>
                <a:sym typeface="Calibri"/>
              </a:rPr>
              <a:t>Six Problems From Your Own App</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9" name="Shape 99"/>
        <p:cNvGrpSpPr/>
        <p:nvPr/>
      </p:nvGrpSpPr>
      <p:grpSpPr>
        <a:xfrm>
          <a:off x="0" y="0"/>
          <a:ext cx="0" cy="0"/>
          <a:chOff x="0" y="0"/>
          <a:chExt cx="0" cy="0"/>
        </a:xfrm>
      </p:grpSpPr>
      <p:sp>
        <p:nvSpPr>
          <p:cNvPr id="100" name="Google Shape;100;p5"/>
          <p:cNvSpPr txBox="1"/>
          <p:nvPr/>
        </p:nvSpPr>
        <p:spPr>
          <a:xfrm>
            <a:off x="731520" y="365760"/>
            <a:ext cx="10728655" cy="9144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3600" u="none" cap="none" strike="noStrike">
                <a:solidFill>
                  <a:srgbClr val="1A1A2E"/>
                </a:solidFill>
                <a:latin typeface="Calibri"/>
                <a:ea typeface="Calibri"/>
                <a:cs typeface="Calibri"/>
                <a:sym typeface="Calibri"/>
              </a:rPr>
              <a:t>The game</a:t>
            </a:r>
            <a:endParaRPr/>
          </a:p>
        </p:txBody>
      </p:sp>
      <p:sp>
        <p:nvSpPr>
          <p:cNvPr id="101" name="Google Shape;101;p5"/>
          <p:cNvSpPr txBox="1"/>
          <p:nvPr/>
        </p:nvSpPr>
        <p:spPr>
          <a:xfrm>
            <a:off x="914400" y="1463040"/>
            <a:ext cx="10362895" cy="493776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2400" u="none" cap="none" strike="noStrike">
                <a:solidFill>
                  <a:srgbClr val="333344"/>
                </a:solidFill>
                <a:latin typeface="Calibri"/>
                <a:ea typeface="Calibri"/>
                <a:cs typeface="Calibri"/>
                <a:sym typeface="Calibri"/>
              </a:rPr>
              <a:t>For the rest of class I'm gonna hand you six small problems, and every one</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comes straight out of the app you spent ten weeks building - a stat on</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your dashboard, a single message lookup, the model you called in 10.1,</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the login you trust.</a:t>
            </a:r>
            <a:endParaRPr/>
          </a:p>
          <a:p>
            <a:pPr indent="0" lvl="0" marL="0" marR="0" rtl="0" algn="l">
              <a:spcBef>
                <a:spcPts val="600"/>
              </a:spcBef>
              <a:spcAft>
                <a:spcPts val="0"/>
              </a:spcAft>
              <a:buNone/>
            </a:pPr>
            <a:r>
              <a:t/>
            </a:r>
            <a:endParaRPr b="0" i="0" sz="2000" u="none" cap="none" strike="noStrike">
              <a:solidFill>
                <a:srgbClr val="666677"/>
              </a:solidFill>
              <a:latin typeface="Calibri"/>
              <a:ea typeface="Calibri"/>
              <a:cs typeface="Calibri"/>
              <a:sym typeface="Calibri"/>
            </a:endParaRPr>
          </a:p>
          <a:p>
            <a:pPr indent="0" lvl="0" marL="0" marR="0" rtl="0" algn="l">
              <a:spcBef>
                <a:spcPts val="600"/>
              </a:spcBef>
              <a:spcAft>
                <a:spcPts val="0"/>
              </a:spcAft>
              <a:buNone/>
            </a:pPr>
            <a:r>
              <a:rPr b="0" i="0" lang="en-US" sz="2400" u="none" cap="none" strike="noStrike">
                <a:solidFill>
                  <a:srgbClr val="333344"/>
                </a:solidFill>
                <a:latin typeface="Calibri"/>
                <a:ea typeface="Calibri"/>
                <a:cs typeface="Calibri"/>
                <a:sym typeface="Calibri"/>
              </a:rPr>
              <a:t>Each one looks like something you can already answer, and you should try...</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but the answer your gut gives is usually wrong in a way you can't fix with</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what you know, and that gap is the front door to a whole field of CS with</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its own course and its own people who think about nothing else.</a:t>
            </a:r>
            <a:endParaRPr/>
          </a:p>
          <a:p>
            <a:pPr indent="0" lvl="0" marL="0" marR="0" rtl="0" algn="l">
              <a:spcBef>
                <a:spcPts val="600"/>
              </a:spcBef>
              <a:spcAft>
                <a:spcPts val="0"/>
              </a:spcAft>
              <a:buNone/>
            </a:pPr>
            <a:r>
              <a:t/>
            </a:r>
            <a:endParaRPr b="0" i="0" sz="2000" u="none" cap="none" strike="noStrike">
              <a:solidFill>
                <a:srgbClr val="666677"/>
              </a:solidFill>
              <a:latin typeface="Calibri"/>
              <a:ea typeface="Calibri"/>
              <a:cs typeface="Calibri"/>
              <a:sym typeface="Calibri"/>
            </a:endParaRPr>
          </a:p>
          <a:p>
            <a:pPr indent="0" lvl="0" marL="0" marR="0" rtl="0" algn="l">
              <a:spcBef>
                <a:spcPts val="600"/>
              </a:spcBef>
              <a:spcAft>
                <a:spcPts val="0"/>
              </a:spcAft>
              <a:buNone/>
            </a:pPr>
            <a:r>
              <a:rPr b="0" i="0" lang="en-US" sz="2400" u="none" cap="none" strike="noStrike">
                <a:solidFill>
                  <a:srgbClr val="333344"/>
                </a:solidFill>
                <a:latin typeface="Calibri"/>
                <a:ea typeface="Calibri"/>
                <a:cs typeface="Calibri"/>
                <a:sym typeface="Calibri"/>
              </a:rPr>
              <a:t>So the game is: I show you the problem, you argue it out, and then I name</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the field you just ran into. Six of them, and that wall you hit is kinda</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the whole point.</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6" name="Shape 106"/>
        <p:cNvGrpSpPr/>
        <p:nvPr/>
      </p:nvGrpSpPr>
      <p:grpSpPr>
        <a:xfrm>
          <a:off x="0" y="0"/>
          <a:ext cx="0" cy="0"/>
          <a:chOff x="0" y="0"/>
          <a:chExt cx="0" cy="0"/>
        </a:xfrm>
      </p:grpSpPr>
      <p:sp>
        <p:nvSpPr>
          <p:cNvPr id="107" name="Google Shape;107;p6"/>
          <p:cNvSpPr txBox="1"/>
          <p:nvPr/>
        </p:nvSpPr>
        <p:spPr>
          <a:xfrm>
            <a:off x="731520" y="274320"/>
            <a:ext cx="10728655" cy="9144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600" u="none" cap="none" strike="noStrike">
                <a:solidFill>
                  <a:srgbClr val="FFFFFF"/>
                </a:solidFill>
                <a:latin typeface="Calibri"/>
                <a:ea typeface="Calibri"/>
                <a:cs typeface="Calibri"/>
                <a:sym typeface="Calibri"/>
              </a:rPr>
              <a:t>TRY IT  </a:t>
            </a:r>
            <a:endParaRPr/>
          </a:p>
          <a:p>
            <a:pPr indent="0" lvl="0" marL="0" marR="0" rtl="0" algn="l">
              <a:spcBef>
                <a:spcPts val="0"/>
              </a:spcBef>
              <a:spcAft>
                <a:spcPts val="0"/>
              </a:spcAft>
              <a:buNone/>
            </a:pPr>
            <a:r>
              <a:rPr b="1" lang="en-US" sz="3000">
                <a:solidFill>
                  <a:srgbClr val="1A1A2E"/>
                </a:solidFill>
                <a:latin typeface="Calibri"/>
                <a:ea typeface="Calibri"/>
                <a:cs typeface="Calibri"/>
                <a:sym typeface="Calibri"/>
              </a:rPr>
              <a:t>How many unique people posted today?</a:t>
            </a:r>
            <a:endParaRPr/>
          </a:p>
        </p:txBody>
      </p:sp>
      <p:sp>
        <p:nvSpPr>
          <p:cNvPr id="108" name="Google Shape;108;p6"/>
          <p:cNvSpPr/>
          <p:nvPr/>
        </p:nvSpPr>
        <p:spPr>
          <a:xfrm>
            <a:off x="640080" y="228600"/>
            <a:ext cx="1097280" cy="365760"/>
          </a:xfrm>
          <a:prstGeom prst="roundRect">
            <a:avLst>
              <a:gd fmla="val 16667" name="adj"/>
            </a:avLst>
          </a:prstGeom>
          <a:solidFill>
            <a:srgbClr val="5B21B6"/>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09" name="Google Shape;109;p6"/>
          <p:cNvSpPr/>
          <p:nvPr/>
        </p:nvSpPr>
        <p:spPr>
          <a:xfrm>
            <a:off x="731520" y="1371600"/>
            <a:ext cx="10728655" cy="5029200"/>
          </a:xfrm>
          <a:prstGeom prst="roundRect">
            <a:avLst>
              <a:gd fmla="val 16667" name="adj"/>
            </a:avLst>
          </a:prstGeom>
          <a:solidFill>
            <a:srgbClr val="F0F0F4"/>
          </a:solidFill>
          <a:ln cap="flat" cmpd="sng" w="12700">
            <a:solidFill>
              <a:srgbClr val="EEEEF0"/>
            </a:solidFill>
            <a:prstDash val="solid"/>
            <a:round/>
            <a:headEnd len="sm" w="sm" type="none"/>
            <a:tailEnd len="sm" w="sm" type="none"/>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10" name="Google Shape;110;p6"/>
          <p:cNvSpPr txBox="1"/>
          <p:nvPr/>
        </p:nvSpPr>
        <p:spPr>
          <a:xfrm>
            <a:off x="1005840" y="1554480"/>
            <a:ext cx="10180015" cy="466344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1500">
                <a:solidFill>
                  <a:srgbClr val="333344"/>
                </a:solidFill>
                <a:latin typeface="Courier New"/>
                <a:ea typeface="Courier New"/>
                <a:cs typeface="Courier New"/>
                <a:sym typeface="Courier New"/>
              </a:rPr>
              <a:t># Dashboard stat for your chat app: how many DISTINCT</a:t>
            </a:r>
            <a:endParaRPr/>
          </a:p>
          <a:p>
            <a:pPr indent="0" lvl="0" marL="0" marR="0" rtl="0" algn="l">
              <a:spcBef>
                <a:spcPts val="200"/>
              </a:spcBef>
              <a:spcAft>
                <a:spcPts val="0"/>
              </a:spcAft>
              <a:buNone/>
            </a:pPr>
            <a:r>
              <a:rPr b="1" lang="en-US" sz="1500">
                <a:solidFill>
                  <a:srgbClr val="333344"/>
                </a:solidFill>
                <a:latin typeface="Courier New"/>
                <a:ea typeface="Courier New"/>
                <a:cs typeface="Courier New"/>
                <a:sym typeface="Courier New"/>
              </a:rPr>
              <a:t># users posted at least once today?</a:t>
            </a:r>
            <a:endParaRPr/>
          </a:p>
          <a:p>
            <a:pPr indent="0" lvl="0" marL="0" marR="0" rtl="0" algn="l">
              <a:spcBef>
                <a:spcPts val="200"/>
              </a:spcBef>
              <a:spcAft>
                <a:spcPts val="0"/>
              </a:spcAft>
              <a:buNone/>
            </a:pPr>
            <a:r>
              <a:rPr b="1" lang="en-US" sz="1500">
                <a:solidFill>
                  <a:srgbClr val="333344"/>
                </a:solidFill>
                <a:latin typeface="Courier New"/>
                <a:ea typeface="Courier New"/>
                <a:cs typeface="Courier New"/>
                <a:sym typeface="Courier New"/>
              </a:rPr>
              <a:t>#</a:t>
            </a:r>
            <a:endParaRPr/>
          </a:p>
          <a:p>
            <a:pPr indent="0" lvl="0" marL="0" marR="0" rtl="0" algn="l">
              <a:spcBef>
                <a:spcPts val="200"/>
              </a:spcBef>
              <a:spcAft>
                <a:spcPts val="0"/>
              </a:spcAft>
              <a:buNone/>
            </a:pPr>
            <a:r>
              <a:rPr b="1" lang="en-US" sz="1500">
                <a:solidFill>
                  <a:srgbClr val="333344"/>
                </a:solidFill>
                <a:latin typeface="Courier New"/>
                <a:ea typeface="Courier New"/>
                <a:cs typeface="Courier New"/>
                <a:sym typeface="Courier New"/>
              </a:rPr>
              <a:t># Today's posts stream past - about 50,000,000 of them.</a:t>
            </a:r>
            <a:endParaRPr/>
          </a:p>
          <a:p>
            <a:pPr indent="0" lvl="0" marL="0" marR="0" rtl="0" algn="l">
              <a:spcBef>
                <a:spcPts val="200"/>
              </a:spcBef>
              <a:spcAft>
                <a:spcPts val="0"/>
              </a:spcAft>
              <a:buNone/>
            </a:pPr>
            <a:r>
              <a:rPr b="1" lang="en-US" sz="1500">
                <a:solidFill>
                  <a:srgbClr val="333344"/>
                </a:solidFill>
                <a:latin typeface="Courier New"/>
                <a:ea typeface="Courier New"/>
                <a:cs typeface="Courier New"/>
                <a:sym typeface="Courier New"/>
              </a:rPr>
              <a:t># Each one carries a user_id, with lots of repeats: the</a:t>
            </a:r>
            <a:endParaRPr/>
          </a:p>
          <a:p>
            <a:pPr indent="0" lvl="0" marL="0" marR="0" rtl="0" algn="l">
              <a:spcBef>
                <a:spcPts val="200"/>
              </a:spcBef>
              <a:spcAft>
                <a:spcPts val="0"/>
              </a:spcAft>
              <a:buNone/>
            </a:pPr>
            <a:r>
              <a:rPr b="1" lang="en-US" sz="1500">
                <a:solidFill>
                  <a:srgbClr val="333344"/>
                </a:solidFill>
                <a:latin typeface="Courier New"/>
                <a:ea typeface="Courier New"/>
                <a:cs typeface="Courier New"/>
                <a:sym typeface="Courier New"/>
              </a:rPr>
              <a:t># chatty users post hundreds of times each.</a:t>
            </a:r>
            <a:endParaRPr/>
          </a:p>
          <a:p>
            <a:pPr indent="0" lvl="0" marL="0" marR="0" rtl="0" algn="l">
              <a:spcBef>
                <a:spcPts val="200"/>
              </a:spcBef>
              <a:spcAft>
                <a:spcPts val="0"/>
              </a:spcAft>
              <a:buNone/>
            </a:pPr>
            <a:r>
              <a:t/>
            </a:r>
            <a:endParaRPr b="1" sz="1500">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lang="en-US" sz="1500">
                <a:solidFill>
                  <a:srgbClr val="333344"/>
                </a:solidFill>
                <a:latin typeface="Courier New"/>
                <a:ea typeface="Courier New"/>
                <a:cs typeface="Courier New"/>
                <a:sym typeface="Courier New"/>
              </a:rPr>
              <a:t>seen = set()</a:t>
            </a:r>
            <a:endParaRPr/>
          </a:p>
          <a:p>
            <a:pPr indent="0" lvl="0" marL="0" marR="0" rtl="0" algn="l">
              <a:spcBef>
                <a:spcPts val="200"/>
              </a:spcBef>
              <a:spcAft>
                <a:spcPts val="0"/>
              </a:spcAft>
              <a:buNone/>
            </a:pPr>
            <a:r>
              <a:rPr b="1" lang="en-US" sz="1500">
                <a:solidFill>
                  <a:srgbClr val="333344"/>
                </a:solidFill>
                <a:latin typeface="Courier New"/>
                <a:ea typeface="Courier New"/>
                <a:cs typeface="Courier New"/>
                <a:sym typeface="Courier New"/>
              </a:rPr>
              <a:t>for post in todays_posts:        # ~50 million posts</a:t>
            </a:r>
            <a:endParaRPr/>
          </a:p>
          <a:p>
            <a:pPr indent="0" lvl="0" marL="0" marR="0" rtl="0" algn="l">
              <a:spcBef>
                <a:spcPts val="200"/>
              </a:spcBef>
              <a:spcAft>
                <a:spcPts val="0"/>
              </a:spcAft>
              <a:buNone/>
            </a:pPr>
            <a:r>
              <a:rPr b="1" lang="en-US" sz="1500">
                <a:solidFill>
                  <a:srgbClr val="333344"/>
                </a:solidFill>
                <a:latin typeface="Courier New"/>
                <a:ea typeface="Courier New"/>
                <a:cs typeface="Courier New"/>
                <a:sym typeface="Courier New"/>
              </a:rPr>
              <a:t>    seen.add(post.user_id)</a:t>
            </a:r>
            <a:endParaRPr/>
          </a:p>
          <a:p>
            <a:pPr indent="0" lvl="0" marL="0" marR="0" rtl="0" algn="l">
              <a:spcBef>
                <a:spcPts val="200"/>
              </a:spcBef>
              <a:spcAft>
                <a:spcPts val="0"/>
              </a:spcAft>
              <a:buNone/>
            </a:pPr>
            <a:r>
              <a:t/>
            </a:r>
            <a:endParaRPr b="1" sz="1500">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lang="en-US" sz="1500">
                <a:solidFill>
                  <a:srgbClr val="333344"/>
                </a:solidFill>
                <a:latin typeface="Courier New"/>
                <a:ea typeface="Courier New"/>
                <a:cs typeface="Courier New"/>
                <a:sym typeface="Courier New"/>
              </a:rPr>
              <a:t>answer = len(seen)</a:t>
            </a:r>
            <a:endParaRPr/>
          </a:p>
          <a:p>
            <a:pPr indent="0" lvl="0" marL="0" marR="0" rtl="0" algn="l">
              <a:spcBef>
                <a:spcPts val="200"/>
              </a:spcBef>
              <a:spcAft>
                <a:spcPts val="0"/>
              </a:spcAft>
              <a:buNone/>
            </a:pPr>
            <a:r>
              <a:t/>
            </a:r>
            <a:endParaRPr b="1" sz="1500">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lang="en-US" sz="1500">
                <a:solidFill>
                  <a:srgbClr val="333344"/>
                </a:solidFill>
                <a:latin typeface="Courier New"/>
                <a:ea typeface="Courier New"/>
                <a:cs typeface="Courier New"/>
                <a:sym typeface="Courier New"/>
              </a:rPr>
              <a:t># This works. But `seen` now holds every distinct user</a:t>
            </a:r>
            <a:endParaRPr/>
          </a:p>
          <a:p>
            <a:pPr indent="0" lvl="0" marL="0" marR="0" rtl="0" algn="l">
              <a:spcBef>
                <a:spcPts val="200"/>
              </a:spcBef>
              <a:spcAft>
                <a:spcPts val="0"/>
              </a:spcAft>
              <a:buNone/>
            </a:pPr>
            <a:r>
              <a:rPr b="1" lang="en-US" sz="1500">
                <a:solidFill>
                  <a:srgbClr val="333344"/>
                </a:solidFill>
                <a:latin typeface="Courier New"/>
                <a:ea typeface="Courier New"/>
                <a:cs typeface="Courier New"/>
                <a:sym typeface="Courier New"/>
              </a:rPr>
              <a:t># id for the day, in RAM, on every server doing this.</a:t>
            </a:r>
            <a:endParaRPr/>
          </a:p>
          <a:p>
            <a:pPr indent="0" lvl="0" marL="0" marR="0" rtl="0" algn="l">
              <a:spcBef>
                <a:spcPts val="200"/>
              </a:spcBef>
              <a:spcAft>
                <a:spcPts val="0"/>
              </a:spcAft>
              <a:buNone/>
            </a:pPr>
            <a:r>
              <a:rPr b="1" lang="en-US" sz="1500">
                <a:solidFill>
                  <a:srgbClr val="333344"/>
                </a:solidFill>
                <a:latin typeface="Courier New"/>
                <a:ea typeface="Courier New"/>
                <a:cs typeface="Courier New"/>
                <a:sym typeface="Courier New"/>
              </a:rPr>
              <a:t>#</a:t>
            </a:r>
            <a:endParaRPr/>
          </a:p>
          <a:p>
            <a:pPr indent="0" lvl="0" marL="0" marR="0" rtl="0" algn="l">
              <a:spcBef>
                <a:spcPts val="200"/>
              </a:spcBef>
              <a:spcAft>
                <a:spcPts val="0"/>
              </a:spcAft>
              <a:buNone/>
            </a:pPr>
            <a:r>
              <a:rPr b="1" lang="en-US" sz="1500">
                <a:solidFill>
                  <a:srgbClr val="333344"/>
                </a:solidFill>
                <a:latin typeface="Courier New"/>
                <a:ea typeface="Courier New"/>
                <a:cs typeface="Courier New"/>
                <a:sym typeface="Courier New"/>
              </a:rPr>
              <a:t># Roughly how much memory does that set need...</a:t>
            </a:r>
            <a:endParaRPr/>
          </a:p>
          <a:p>
            <a:pPr indent="0" lvl="0" marL="0" marR="0" rtl="0" algn="l">
              <a:spcBef>
                <a:spcPts val="200"/>
              </a:spcBef>
              <a:spcAft>
                <a:spcPts val="0"/>
              </a:spcAft>
              <a:buNone/>
            </a:pPr>
            <a:r>
              <a:rPr b="1" lang="en-US" sz="1500">
                <a:solidFill>
                  <a:srgbClr val="B0B0C0"/>
                </a:solidFill>
                <a:latin typeface="Courier New"/>
                <a:ea typeface="Courier New"/>
                <a:cs typeface="Courier New"/>
                <a:sym typeface="Courier New"/>
              </a:rPr>
              <a:t># and is there any way around it?   ________</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5" name="Shape 115"/>
        <p:cNvGrpSpPr/>
        <p:nvPr/>
      </p:nvGrpSpPr>
      <p:grpSpPr>
        <a:xfrm>
          <a:off x="0" y="0"/>
          <a:ext cx="0" cy="0"/>
          <a:chOff x="0" y="0"/>
          <a:chExt cx="0" cy="0"/>
        </a:xfrm>
      </p:grpSpPr>
      <p:sp>
        <p:nvSpPr>
          <p:cNvPr id="116" name="Google Shape;116;g3e839494688_0_9"/>
          <p:cNvSpPr txBox="1"/>
          <p:nvPr/>
        </p:nvSpPr>
        <p:spPr>
          <a:xfrm>
            <a:off x="731520" y="365760"/>
            <a:ext cx="10728600" cy="6465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3600">
                <a:solidFill>
                  <a:srgbClr val="1A1A2E"/>
                </a:solidFill>
                <a:latin typeface="Calibri"/>
                <a:ea typeface="Calibri"/>
                <a:cs typeface="Calibri"/>
                <a:sym typeface="Calibri"/>
              </a:rPr>
              <a:t>Data Structures &amp; Algorithms</a:t>
            </a:r>
            <a:endParaRPr/>
          </a:p>
        </p:txBody>
      </p:sp>
      <p:sp>
        <p:nvSpPr>
          <p:cNvPr id="117" name="Google Shape;117;g3e839494688_0_9"/>
          <p:cNvSpPr txBox="1"/>
          <p:nvPr/>
        </p:nvSpPr>
        <p:spPr>
          <a:xfrm>
            <a:off x="899350" y="1136475"/>
            <a:ext cx="10994400" cy="15237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lang="en-US" sz="2400">
                <a:solidFill>
                  <a:srgbClr val="333344"/>
                </a:solidFill>
                <a:latin typeface="Calibri"/>
                <a:ea typeface="Calibri"/>
                <a:cs typeface="Calibri"/>
                <a:sym typeface="Calibri"/>
              </a:rPr>
              <a:t>The set is correct, and it's also the expensive answer</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if a few million distinct people posted, that's a few million ids sitting in RAM on every</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server running this, and it grows with your user base forever.</a:t>
            </a:r>
            <a:endParaRPr/>
          </a:p>
          <a:p>
            <a:pPr indent="0" lvl="1" marL="457200" marR="0" rtl="0" algn="l">
              <a:spcBef>
                <a:spcPts val="600"/>
              </a:spcBef>
              <a:spcAft>
                <a:spcPts val="0"/>
              </a:spcAft>
              <a:buNone/>
            </a:pPr>
            <a:r>
              <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2" name="Shape 122"/>
        <p:cNvGrpSpPr/>
        <p:nvPr/>
      </p:nvGrpSpPr>
      <p:grpSpPr>
        <a:xfrm>
          <a:off x="0" y="0"/>
          <a:ext cx="0" cy="0"/>
          <a:chOff x="0" y="0"/>
          <a:chExt cx="0" cy="0"/>
        </a:xfrm>
      </p:grpSpPr>
      <p:sp>
        <p:nvSpPr>
          <p:cNvPr id="123" name="Google Shape;123;g3e839494688_0_15"/>
          <p:cNvSpPr txBox="1"/>
          <p:nvPr/>
        </p:nvSpPr>
        <p:spPr>
          <a:xfrm>
            <a:off x="731520" y="365760"/>
            <a:ext cx="10728600" cy="6465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3600">
                <a:solidFill>
                  <a:srgbClr val="1A1A2E"/>
                </a:solidFill>
                <a:latin typeface="Calibri"/>
                <a:ea typeface="Calibri"/>
                <a:cs typeface="Calibri"/>
                <a:sym typeface="Calibri"/>
              </a:rPr>
              <a:t>Data Structures &amp; Algorithms</a:t>
            </a:r>
            <a:endParaRPr/>
          </a:p>
        </p:txBody>
      </p:sp>
      <p:sp>
        <p:nvSpPr>
          <p:cNvPr id="124" name="Google Shape;124;g3e839494688_0_15"/>
          <p:cNvSpPr txBox="1"/>
          <p:nvPr/>
        </p:nvSpPr>
        <p:spPr>
          <a:xfrm>
            <a:off x="899350" y="1136475"/>
            <a:ext cx="10994400" cy="20625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lang="en-US" sz="2400">
                <a:solidFill>
                  <a:srgbClr val="333344"/>
                </a:solidFill>
                <a:latin typeface="Calibri"/>
                <a:ea typeface="Calibri"/>
                <a:cs typeface="Calibri"/>
                <a:sym typeface="Calibri"/>
              </a:rPr>
              <a:t>The set is correct, and it's also the expensive answer</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if a few million distinct people posted, that's a few million ids sitting in RAM on every</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server running this, and it grows with your user base forever.</a:t>
            </a:r>
            <a:endParaRPr/>
          </a:p>
          <a:p>
            <a:pPr indent="0" lvl="0" marL="0" marR="0" rtl="0" algn="l">
              <a:spcBef>
                <a:spcPts val="600"/>
              </a:spcBef>
              <a:spcAft>
                <a:spcPts val="0"/>
              </a:spcAft>
              <a:buNone/>
            </a:pPr>
            <a:r>
              <a:t/>
            </a:r>
            <a:endParaRPr b="0" i="0" sz="2000" u="none" cap="none" strike="noStrike">
              <a:solidFill>
                <a:srgbClr val="666677"/>
              </a:solidFill>
              <a:latin typeface="Calibri"/>
              <a:ea typeface="Calibri"/>
              <a:cs typeface="Calibri"/>
              <a:sym typeface="Calibri"/>
            </a:endParaRPr>
          </a:p>
          <a:p>
            <a:pPr indent="0" lvl="0" marL="0" marR="0" rtl="0" algn="l">
              <a:spcBef>
                <a:spcPts val="600"/>
              </a:spcBef>
              <a:spcAft>
                <a:spcPts val="0"/>
              </a:spcAft>
              <a:buNone/>
            </a:pPr>
            <a:r>
              <a:rPr lang="en-US" sz="2400">
                <a:solidFill>
                  <a:srgbClr val="333344"/>
                </a:solidFill>
                <a:latin typeface="Calibri"/>
                <a:ea typeface="Calibri"/>
                <a:cs typeface="Calibri"/>
                <a:sym typeface="Calibri"/>
              </a:rPr>
              <a:t>You don’t need it if you’re fine with a *little* inaccuracy</a:t>
            </a:r>
            <a:r>
              <a:rPr b="0" lang="en-US" sz="2400">
                <a:solidFill>
                  <a:srgbClr val="333344"/>
                </a:solidFill>
                <a:latin typeface="Calibri"/>
                <a:ea typeface="Calibri"/>
                <a:cs typeface="Calibri"/>
                <a:sym typeface="Calibri"/>
              </a:rPr>
              <a:t>. </a:t>
            </a:r>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9" name="Shape 129"/>
        <p:cNvGrpSpPr/>
        <p:nvPr/>
      </p:nvGrpSpPr>
      <p:grpSpPr>
        <a:xfrm>
          <a:off x="0" y="0"/>
          <a:ext cx="0" cy="0"/>
          <a:chOff x="0" y="0"/>
          <a:chExt cx="0" cy="0"/>
        </a:xfrm>
      </p:grpSpPr>
      <p:sp>
        <p:nvSpPr>
          <p:cNvPr id="130" name="Google Shape;130;p7"/>
          <p:cNvSpPr txBox="1"/>
          <p:nvPr/>
        </p:nvSpPr>
        <p:spPr>
          <a:xfrm>
            <a:off x="731520" y="365760"/>
            <a:ext cx="10728655" cy="9144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3600">
                <a:solidFill>
                  <a:srgbClr val="1A1A2E"/>
                </a:solidFill>
                <a:latin typeface="Calibri"/>
                <a:ea typeface="Calibri"/>
                <a:cs typeface="Calibri"/>
                <a:sym typeface="Calibri"/>
              </a:rPr>
              <a:t>Data Structures &amp; Algorithms</a:t>
            </a:r>
            <a:endParaRPr/>
          </a:p>
        </p:txBody>
      </p:sp>
      <p:sp>
        <p:nvSpPr>
          <p:cNvPr id="131" name="Google Shape;131;p7"/>
          <p:cNvSpPr txBox="1"/>
          <p:nvPr/>
        </p:nvSpPr>
        <p:spPr>
          <a:xfrm>
            <a:off x="899350" y="1136475"/>
            <a:ext cx="10994400" cy="53412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lang="en-US" sz="2400">
                <a:solidFill>
                  <a:srgbClr val="333344"/>
                </a:solidFill>
                <a:latin typeface="Calibri"/>
                <a:ea typeface="Calibri"/>
                <a:cs typeface="Calibri"/>
                <a:sym typeface="Calibri"/>
              </a:rPr>
              <a:t>The set is correct, and it's also the expensive answer</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if a few million distinct people posted, that's a few million ids sitting in RAM on every</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server running this, and it grows with your user base forever.</a:t>
            </a:r>
            <a:endParaRPr/>
          </a:p>
          <a:p>
            <a:pPr indent="0" lvl="0" marL="0" marR="0" rtl="0" algn="l">
              <a:spcBef>
                <a:spcPts val="600"/>
              </a:spcBef>
              <a:spcAft>
                <a:spcPts val="0"/>
              </a:spcAft>
              <a:buNone/>
            </a:pPr>
            <a:r>
              <a:t/>
            </a:r>
            <a:endParaRPr b="0" i="0" sz="2000" u="none" cap="none" strike="noStrike">
              <a:solidFill>
                <a:srgbClr val="666677"/>
              </a:solidFill>
              <a:latin typeface="Calibri"/>
              <a:ea typeface="Calibri"/>
              <a:cs typeface="Calibri"/>
              <a:sym typeface="Calibri"/>
            </a:endParaRPr>
          </a:p>
          <a:p>
            <a:pPr indent="0" lvl="0" marL="0" marR="0" rtl="0" algn="l">
              <a:spcBef>
                <a:spcPts val="600"/>
              </a:spcBef>
              <a:spcAft>
                <a:spcPts val="0"/>
              </a:spcAft>
              <a:buNone/>
            </a:pPr>
            <a:r>
              <a:rPr lang="en-US" sz="2400">
                <a:solidFill>
                  <a:srgbClr val="333344"/>
                </a:solidFill>
                <a:latin typeface="Calibri"/>
                <a:ea typeface="Calibri"/>
                <a:cs typeface="Calibri"/>
                <a:sym typeface="Calibri"/>
              </a:rPr>
              <a:t>You don’t need it if you’re fine </a:t>
            </a:r>
            <a:r>
              <a:rPr lang="en-US" sz="2400">
                <a:solidFill>
                  <a:srgbClr val="333344"/>
                </a:solidFill>
                <a:latin typeface="Calibri"/>
                <a:ea typeface="Calibri"/>
                <a:cs typeface="Calibri"/>
                <a:sym typeface="Calibri"/>
              </a:rPr>
              <a:t>with</a:t>
            </a:r>
            <a:r>
              <a:rPr lang="en-US" sz="2400">
                <a:solidFill>
                  <a:srgbClr val="333344"/>
                </a:solidFill>
                <a:latin typeface="Calibri"/>
                <a:ea typeface="Calibri"/>
                <a:cs typeface="Calibri"/>
                <a:sym typeface="Calibri"/>
              </a:rPr>
              <a:t> a *little* inaccuracy</a:t>
            </a:r>
            <a:r>
              <a:rPr b="0" lang="en-US" sz="2400">
                <a:solidFill>
                  <a:srgbClr val="333344"/>
                </a:solidFill>
                <a:latin typeface="Calibri"/>
                <a:ea typeface="Calibri"/>
                <a:cs typeface="Calibri"/>
                <a:sym typeface="Calibri"/>
              </a:rPr>
              <a:t>. </a:t>
            </a:r>
            <a:endParaRPr sz="2400">
              <a:solidFill>
                <a:srgbClr val="333344"/>
              </a:solidFill>
              <a:latin typeface="Calibri"/>
              <a:ea typeface="Calibri"/>
              <a:cs typeface="Calibri"/>
              <a:sym typeface="Calibri"/>
            </a:endParaRPr>
          </a:p>
          <a:p>
            <a:pPr indent="0" lvl="0" marL="0" rtl="0" algn="l">
              <a:spcBef>
                <a:spcPts val="600"/>
              </a:spcBef>
              <a:spcAft>
                <a:spcPts val="0"/>
              </a:spcAft>
              <a:buNone/>
            </a:pPr>
            <a:r>
              <a:rPr lang="en-US" sz="2400">
                <a:solidFill>
                  <a:srgbClr val="333344"/>
                </a:solidFill>
                <a:latin typeface="Calibri"/>
                <a:ea typeface="Calibri"/>
                <a:cs typeface="Calibri"/>
                <a:sym typeface="Calibri"/>
              </a:rPr>
              <a:t>HyperLogLog</a:t>
            </a:r>
            <a:endParaRPr sz="2400">
              <a:solidFill>
                <a:srgbClr val="333344"/>
              </a:solidFill>
              <a:latin typeface="Calibri"/>
              <a:ea typeface="Calibri"/>
              <a:cs typeface="Calibri"/>
              <a:sym typeface="Calibri"/>
            </a:endParaRPr>
          </a:p>
          <a:p>
            <a:pPr indent="-355600" lvl="0" marL="457200" rtl="0" algn="l">
              <a:spcBef>
                <a:spcPts val="600"/>
              </a:spcBef>
              <a:spcAft>
                <a:spcPts val="0"/>
              </a:spcAft>
              <a:buClr>
                <a:srgbClr val="666677"/>
              </a:buClr>
              <a:buSzPts val="2000"/>
              <a:buFont typeface="Calibri"/>
              <a:buChar char="●"/>
            </a:pPr>
            <a:r>
              <a:rPr lang="en-US" sz="2000">
                <a:solidFill>
                  <a:srgbClr val="666677"/>
                </a:solidFill>
                <a:latin typeface="Calibri"/>
                <a:ea typeface="Calibri"/>
                <a:cs typeface="Calibri"/>
                <a:sym typeface="Calibri"/>
              </a:rPr>
              <a:t>hash each element coming in</a:t>
            </a:r>
            <a:endParaRPr sz="2000">
              <a:solidFill>
                <a:srgbClr val="666677"/>
              </a:solidFill>
              <a:latin typeface="Calibri"/>
              <a:ea typeface="Calibri"/>
              <a:cs typeface="Calibri"/>
              <a:sym typeface="Calibri"/>
            </a:endParaRPr>
          </a:p>
          <a:p>
            <a:pPr indent="-355600" lvl="0" marL="457200" rtl="0" algn="l">
              <a:spcBef>
                <a:spcPts val="0"/>
              </a:spcBef>
              <a:spcAft>
                <a:spcPts val="0"/>
              </a:spcAft>
              <a:buClr>
                <a:srgbClr val="666677"/>
              </a:buClr>
              <a:buSzPts val="2000"/>
              <a:buFont typeface="Calibri"/>
              <a:buChar char="●"/>
            </a:pPr>
            <a:r>
              <a:rPr lang="en-US" sz="2000">
                <a:solidFill>
                  <a:srgbClr val="666677"/>
                </a:solidFill>
                <a:latin typeface="Calibri"/>
                <a:ea typeface="Calibri"/>
                <a:cs typeface="Calibri"/>
                <a:sym typeface="Calibri"/>
              </a:rPr>
              <a:t>take max(number of leading zeros)</a:t>
            </a:r>
            <a:endParaRPr sz="2000">
              <a:solidFill>
                <a:srgbClr val="666677"/>
              </a:solidFill>
              <a:latin typeface="Calibri"/>
              <a:ea typeface="Calibri"/>
              <a:cs typeface="Calibri"/>
              <a:sym typeface="Calibri"/>
            </a:endParaRPr>
          </a:p>
          <a:p>
            <a:pPr indent="-355600" lvl="0" marL="457200" rtl="0" algn="l">
              <a:spcBef>
                <a:spcPts val="0"/>
              </a:spcBef>
              <a:spcAft>
                <a:spcPts val="0"/>
              </a:spcAft>
              <a:buClr>
                <a:srgbClr val="666677"/>
              </a:buClr>
              <a:buSzPts val="2000"/>
              <a:buFont typeface="Calibri"/>
              <a:buChar char="●"/>
            </a:pPr>
            <a:r>
              <a:rPr lang="en-US" sz="2000">
                <a:solidFill>
                  <a:srgbClr val="666677"/>
                </a:solidFill>
                <a:latin typeface="Calibri"/>
                <a:ea typeface="Calibri"/>
                <a:cs typeface="Calibri"/>
                <a:sym typeface="Calibri"/>
              </a:rPr>
              <a:t>probability of getting k leading zeros in a row is 1/2</a:t>
            </a:r>
            <a:r>
              <a:rPr baseline="30000" lang="en-US" sz="2000">
                <a:solidFill>
                  <a:srgbClr val="666677"/>
                </a:solidFill>
                <a:latin typeface="Calibri"/>
                <a:ea typeface="Calibri"/>
                <a:cs typeface="Calibri"/>
                <a:sym typeface="Calibri"/>
              </a:rPr>
              <a:t>k</a:t>
            </a:r>
            <a:r>
              <a:rPr lang="en-US" sz="2000">
                <a:solidFill>
                  <a:srgbClr val="666677"/>
                </a:solidFill>
                <a:latin typeface="Calibri"/>
                <a:ea typeface="Calibri"/>
                <a:cs typeface="Calibri"/>
                <a:sym typeface="Calibri"/>
              </a:rPr>
              <a:t>.</a:t>
            </a:r>
            <a:endParaRPr sz="2000">
              <a:solidFill>
                <a:srgbClr val="666677"/>
              </a:solidFill>
              <a:latin typeface="Calibri"/>
              <a:ea typeface="Calibri"/>
              <a:cs typeface="Calibri"/>
              <a:sym typeface="Calibri"/>
            </a:endParaRPr>
          </a:p>
          <a:p>
            <a:pPr indent="-355600" lvl="0" marL="457200" rtl="0" algn="l">
              <a:spcBef>
                <a:spcPts val="0"/>
              </a:spcBef>
              <a:spcAft>
                <a:spcPts val="0"/>
              </a:spcAft>
              <a:buClr>
                <a:srgbClr val="666677"/>
              </a:buClr>
              <a:buSzPts val="2000"/>
              <a:buFont typeface="Calibri"/>
              <a:buChar char="●"/>
            </a:pPr>
            <a:r>
              <a:rPr lang="en-US" sz="2000">
                <a:solidFill>
                  <a:srgbClr val="666677"/>
                </a:solidFill>
                <a:latin typeface="Calibri"/>
                <a:ea typeface="Calibri"/>
                <a:cs typeface="Calibri"/>
                <a:sym typeface="Calibri"/>
              </a:rPr>
              <a:t>to prevent anomalies and ensure accuracy, the dataset is split into "buckets"</a:t>
            </a:r>
            <a:endParaRPr sz="2000">
              <a:solidFill>
                <a:srgbClr val="666677"/>
              </a:solidFill>
              <a:latin typeface="Calibri"/>
              <a:ea typeface="Calibri"/>
              <a:cs typeface="Calibri"/>
              <a:sym typeface="Calibri"/>
            </a:endParaRPr>
          </a:p>
          <a:p>
            <a:pPr indent="-355600" lvl="0" marL="457200" rtl="0" algn="l">
              <a:spcBef>
                <a:spcPts val="0"/>
              </a:spcBef>
              <a:spcAft>
                <a:spcPts val="0"/>
              </a:spcAft>
              <a:buClr>
                <a:srgbClr val="666677"/>
              </a:buClr>
              <a:buSzPts val="2000"/>
              <a:buFont typeface="Calibri"/>
              <a:buChar char="●"/>
            </a:pPr>
            <a:r>
              <a:rPr lang="en-US" sz="2000">
                <a:solidFill>
                  <a:srgbClr val="666677"/>
                </a:solidFill>
                <a:latin typeface="Calibri"/>
                <a:ea typeface="Calibri"/>
                <a:cs typeface="Calibri"/>
                <a:sym typeface="Calibri"/>
              </a:rPr>
              <a:t>final estimate is the harmonic mean of all the buckets</a:t>
            </a:r>
            <a:endParaRPr/>
          </a:p>
          <a:p>
            <a:pPr indent="0" lvl="0" marL="0" marR="0" rtl="0" algn="l">
              <a:spcBef>
                <a:spcPts val="600"/>
              </a:spcBef>
              <a:spcAft>
                <a:spcPts val="0"/>
              </a:spcAft>
              <a:buNone/>
            </a:pPr>
            <a:r>
              <a:t/>
            </a:r>
            <a:endParaRPr b="0" i="0" sz="2000" u="none" cap="none" strike="noStrike">
              <a:solidFill>
                <a:srgbClr val="666677"/>
              </a:solidFill>
              <a:latin typeface="Calibri"/>
              <a:ea typeface="Calibri"/>
              <a:cs typeface="Calibri"/>
              <a:sym typeface="Calibri"/>
            </a:endParaRPr>
          </a:p>
          <a:p>
            <a:pPr indent="0" lvl="0" marL="0" marR="0" rtl="0" algn="l">
              <a:spcBef>
                <a:spcPts val="600"/>
              </a:spcBef>
              <a:spcAft>
                <a:spcPts val="0"/>
              </a:spcAft>
              <a:buNone/>
            </a:pPr>
            <a:r>
              <a:rPr b="0" lang="en-US" sz="2400">
                <a:solidFill>
                  <a:srgbClr val="333344"/>
                </a:solidFill>
                <a:latin typeface="Calibri"/>
                <a:ea typeface="Calibri"/>
                <a:cs typeface="Calibri"/>
                <a:sym typeface="Calibri"/>
              </a:rPr>
              <a:t>Trading a little accuracy for a result millions of times smaller</a:t>
            </a:r>
            <a:r>
              <a:rPr lang="en-US" sz="2400">
                <a:solidFill>
                  <a:srgbClr val="333344"/>
                </a:solidFill>
                <a:latin typeface="Calibri"/>
                <a:ea typeface="Calibri"/>
                <a:cs typeface="Calibri"/>
                <a:sym typeface="Calibri"/>
              </a:rPr>
              <a:t>.</a:t>
            </a:r>
            <a:r>
              <a:rPr b="0" lang="en-US" sz="2400">
                <a:solidFill>
                  <a:srgbClr val="333344"/>
                </a:solidFill>
                <a:latin typeface="Calibri"/>
                <a:ea typeface="Calibri"/>
                <a:cs typeface="Calibri"/>
                <a:sym typeface="Calibri"/>
              </a:rPr>
              <a:t> and</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Data Structures</a:t>
            </a:r>
            <a:r>
              <a:rPr lang="en-US" sz="2000">
                <a:solidFill>
                  <a:srgbClr val="666677"/>
                </a:solidFill>
                <a:latin typeface="Calibri"/>
                <a:ea typeface="Calibri"/>
                <a:cs typeface="Calibri"/>
                <a:sym typeface="Calibri"/>
              </a:rPr>
              <a:t>/</a:t>
            </a:r>
            <a:r>
              <a:rPr b="0" i="0" lang="en-US" sz="2000" u="none" cap="none" strike="noStrike">
                <a:solidFill>
                  <a:srgbClr val="666677"/>
                </a:solidFill>
                <a:latin typeface="Calibri"/>
                <a:ea typeface="Calibri"/>
                <a:cs typeface="Calibri"/>
                <a:sym typeface="Calibri"/>
              </a:rPr>
              <a:t>Algorithms </a:t>
            </a:r>
            <a:r>
              <a:rPr lang="en-US" sz="2000">
                <a:solidFill>
                  <a:srgbClr val="666677"/>
                </a:solidFill>
                <a:latin typeface="Calibri"/>
                <a:ea typeface="Calibri"/>
                <a:cs typeface="Calibri"/>
                <a:sym typeface="Calibri"/>
              </a:rPr>
              <a:t>is where you learn how to prove/uncover these space/speed tradeoffs</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DE9FE"/>
        </a:solidFill>
      </p:bgPr>
    </p:bg>
    <p:spTree>
      <p:nvGrpSpPr>
        <p:cNvPr id="136" name="Shape 136"/>
        <p:cNvGrpSpPr/>
        <p:nvPr/>
      </p:nvGrpSpPr>
      <p:grpSpPr>
        <a:xfrm>
          <a:off x="0" y="0"/>
          <a:ext cx="0" cy="0"/>
          <a:chOff x="0" y="0"/>
          <a:chExt cx="0" cy="0"/>
        </a:xfrm>
      </p:grpSpPr>
      <p:sp>
        <p:nvSpPr>
          <p:cNvPr id="137" name="Google Shape;137;p8"/>
          <p:cNvSpPr txBox="1"/>
          <p:nvPr/>
        </p:nvSpPr>
        <p:spPr>
          <a:xfrm>
            <a:off x="5303520" y="457200"/>
            <a:ext cx="1584655" cy="13716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lang="en-US" sz="7200">
                <a:solidFill>
                  <a:srgbClr val="5B21B6"/>
                </a:solidFill>
                <a:latin typeface="Calibri"/>
                <a:ea typeface="Calibri"/>
                <a:cs typeface="Calibri"/>
                <a:sym typeface="Calibri"/>
              </a:rPr>
              <a:t>?</a:t>
            </a:r>
            <a:endParaRPr/>
          </a:p>
        </p:txBody>
      </p:sp>
      <p:sp>
        <p:nvSpPr>
          <p:cNvPr id="138" name="Google Shape;138;p8"/>
          <p:cNvSpPr txBox="1"/>
          <p:nvPr/>
        </p:nvSpPr>
        <p:spPr>
          <a:xfrm>
            <a:off x="1371600" y="2011680"/>
            <a:ext cx="9448495" cy="22860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lang="en-US" sz="3400">
                <a:solidFill>
                  <a:srgbClr val="1A1A2E"/>
                </a:solidFill>
                <a:latin typeface="Calibri"/>
                <a:ea typeface="Calibri"/>
                <a:cs typeface="Calibri"/>
                <a:sym typeface="Calibri"/>
              </a:rPr>
              <a:t>Two programs run at once. Both write to memory address 0x1000. Neither clobbers the other. How?</a:t>
            </a:r>
            <a:endParaRPr/>
          </a:p>
        </p:txBody>
      </p:sp>
      <p:sp>
        <p:nvSpPr>
          <p:cNvPr id="139" name="Google Shape;139;p8"/>
          <p:cNvSpPr txBox="1"/>
          <p:nvPr/>
        </p:nvSpPr>
        <p:spPr>
          <a:xfrm>
            <a:off x="1828800" y="4572000"/>
            <a:ext cx="8534095" cy="13716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lang="en-US" sz="2200">
                <a:solidFill>
                  <a:srgbClr val="666677"/>
                </a:solidFill>
                <a:latin typeface="Calibri"/>
                <a:ea typeface="Calibri"/>
                <a:cs typeface="Calibri"/>
                <a:sym typeface="Calibri"/>
              </a:rPr>
              <a:t>Same numeric address, same physical RAM in the one machine - and yet neither program ever sees the other's value. What gives?</a:t>
            </a:r>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4" name="Shape 144"/>
        <p:cNvGrpSpPr/>
        <p:nvPr/>
      </p:nvGrpSpPr>
      <p:grpSpPr>
        <a:xfrm>
          <a:off x="0" y="0"/>
          <a:ext cx="0" cy="0"/>
          <a:chOff x="0" y="0"/>
          <a:chExt cx="0" cy="0"/>
        </a:xfrm>
      </p:grpSpPr>
      <p:sp>
        <p:nvSpPr>
          <p:cNvPr id="145" name="Google Shape;145;g3e839494688_0_886"/>
          <p:cNvSpPr txBox="1"/>
          <p:nvPr/>
        </p:nvSpPr>
        <p:spPr>
          <a:xfrm>
            <a:off x="731520" y="365760"/>
            <a:ext cx="10728600" cy="6465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3600">
                <a:solidFill>
                  <a:srgbClr val="1A1A2E"/>
                </a:solidFill>
                <a:latin typeface="Calibri"/>
                <a:ea typeface="Calibri"/>
                <a:cs typeface="Calibri"/>
                <a:sym typeface="Calibri"/>
              </a:rPr>
              <a:t>Operating Systems</a:t>
            </a:r>
            <a:endParaRPr/>
          </a:p>
        </p:txBody>
      </p:sp>
      <p:sp>
        <p:nvSpPr>
          <p:cNvPr id="146" name="Google Shape;146;g3e839494688_0_886"/>
          <p:cNvSpPr txBox="1"/>
          <p:nvPr/>
        </p:nvSpPr>
        <p:spPr>
          <a:xfrm>
            <a:off x="607600" y="1481100"/>
            <a:ext cx="10980600" cy="19086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lang="en-US" sz="2400">
                <a:solidFill>
                  <a:srgbClr val="333344"/>
                </a:solidFill>
                <a:latin typeface="Calibri"/>
                <a:ea typeface="Calibri"/>
                <a:cs typeface="Calibri"/>
                <a:sym typeface="Calibri"/>
              </a:rPr>
              <a:t>The trick is that the address 0x1000 your program sees is a LIE</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A per-program fiction. When your code touches 0x1000 the hardware quietly</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translates it into some completely different real spot in RAM, and it</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translates the other program's 0x1000 to somewhere else entirely.</a:t>
            </a:r>
            <a:endParaRPr/>
          </a:p>
          <a:p>
            <a:pPr indent="0" lvl="1" marL="457200" marR="0" rtl="0" algn="l">
              <a:spcBef>
                <a:spcPts val="600"/>
              </a:spcBef>
              <a:spcAft>
                <a:spcPts val="0"/>
              </a:spcAft>
              <a:buNone/>
            </a:pPr>
            <a:r>
              <a:t/>
            </a:r>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1" name="Shape 151"/>
        <p:cNvGrpSpPr/>
        <p:nvPr/>
      </p:nvGrpSpPr>
      <p:grpSpPr>
        <a:xfrm>
          <a:off x="0" y="0"/>
          <a:ext cx="0" cy="0"/>
          <a:chOff x="0" y="0"/>
          <a:chExt cx="0" cy="0"/>
        </a:xfrm>
      </p:grpSpPr>
      <p:sp>
        <p:nvSpPr>
          <p:cNvPr id="152" name="Google Shape;152;g3e839494688_0_892"/>
          <p:cNvSpPr txBox="1"/>
          <p:nvPr/>
        </p:nvSpPr>
        <p:spPr>
          <a:xfrm>
            <a:off x="731520" y="365760"/>
            <a:ext cx="10728600" cy="6465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3600">
                <a:solidFill>
                  <a:srgbClr val="1A1A2E"/>
                </a:solidFill>
                <a:latin typeface="Calibri"/>
                <a:ea typeface="Calibri"/>
                <a:cs typeface="Calibri"/>
                <a:sym typeface="Calibri"/>
              </a:rPr>
              <a:t>Operating Systems</a:t>
            </a:r>
            <a:endParaRPr/>
          </a:p>
        </p:txBody>
      </p:sp>
      <p:sp>
        <p:nvSpPr>
          <p:cNvPr id="153" name="Google Shape;153;g3e839494688_0_892"/>
          <p:cNvSpPr txBox="1"/>
          <p:nvPr/>
        </p:nvSpPr>
        <p:spPr>
          <a:xfrm>
            <a:off x="607600" y="1481100"/>
            <a:ext cx="10980600" cy="38943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lang="en-US" sz="2400">
                <a:solidFill>
                  <a:srgbClr val="333344"/>
                </a:solidFill>
                <a:latin typeface="Calibri"/>
                <a:ea typeface="Calibri"/>
                <a:cs typeface="Calibri"/>
                <a:sym typeface="Calibri"/>
              </a:rPr>
              <a:t>The trick is that the address 0x1000 your program sees is a LIE</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A per-program fiction. When your code touches 0x1000 the hardware quietly</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translates it into some completely different real spot in RAM, and it</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translates the other program's 0x1000 to somewhere else entirely.</a:t>
            </a:r>
            <a:endParaRPr/>
          </a:p>
          <a:p>
            <a:pPr indent="0" lvl="0" marL="0" marR="0" rtl="0" algn="l">
              <a:spcBef>
                <a:spcPts val="600"/>
              </a:spcBef>
              <a:spcAft>
                <a:spcPts val="0"/>
              </a:spcAft>
              <a:buNone/>
            </a:pPr>
            <a:r>
              <a:t/>
            </a:r>
            <a:endParaRPr b="0" i="0" sz="2000" u="none" cap="none" strike="noStrike">
              <a:solidFill>
                <a:srgbClr val="666677"/>
              </a:solidFill>
              <a:latin typeface="Calibri"/>
              <a:ea typeface="Calibri"/>
              <a:cs typeface="Calibri"/>
              <a:sym typeface="Calibri"/>
            </a:endParaRPr>
          </a:p>
          <a:p>
            <a:pPr indent="0" lvl="0" marL="0" marR="0" rtl="0" algn="l">
              <a:spcBef>
                <a:spcPts val="600"/>
              </a:spcBef>
              <a:spcAft>
                <a:spcPts val="0"/>
              </a:spcAft>
              <a:buNone/>
            </a:pPr>
            <a:r>
              <a:rPr b="0" lang="en-US" sz="2400">
                <a:solidFill>
                  <a:srgbClr val="333344"/>
                </a:solidFill>
                <a:latin typeface="Calibri"/>
                <a:ea typeface="Calibri"/>
                <a:cs typeface="Calibri"/>
                <a:sym typeface="Calibri"/>
              </a:rPr>
              <a:t>Every process gets its own private map of memory, the operating system and</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a chip called the MMU keep those maps, and your pointers never touch</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physical RAM directly - they go through that translation every single</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time, without you ever noticing it's happening.</a:t>
            </a:r>
            <a:endParaRPr/>
          </a:p>
          <a:p>
            <a:pPr indent="0" lvl="1" marL="457200" marR="0" rtl="0" algn="l">
              <a:spcBef>
                <a:spcPts val="600"/>
              </a:spcBef>
              <a:spcAft>
                <a:spcPts val="0"/>
              </a:spcAft>
              <a:buNone/>
            </a:pPr>
            <a:r>
              <a:t/>
            </a:r>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8" name="Shape 158"/>
        <p:cNvGrpSpPr/>
        <p:nvPr/>
      </p:nvGrpSpPr>
      <p:grpSpPr>
        <a:xfrm>
          <a:off x="0" y="0"/>
          <a:ext cx="0" cy="0"/>
          <a:chOff x="0" y="0"/>
          <a:chExt cx="0" cy="0"/>
        </a:xfrm>
      </p:grpSpPr>
      <p:sp>
        <p:nvSpPr>
          <p:cNvPr id="159" name="Google Shape;159;g3e839494688_0_805"/>
          <p:cNvSpPr txBox="1"/>
          <p:nvPr/>
        </p:nvSpPr>
        <p:spPr>
          <a:xfrm>
            <a:off x="731520" y="365760"/>
            <a:ext cx="10728600" cy="6465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3600">
                <a:solidFill>
                  <a:srgbClr val="1A1A2E"/>
                </a:solidFill>
                <a:latin typeface="Calibri"/>
                <a:ea typeface="Calibri"/>
                <a:cs typeface="Calibri"/>
                <a:sym typeface="Calibri"/>
              </a:rPr>
              <a:t>Operating Systems</a:t>
            </a:r>
            <a:endParaRPr/>
          </a:p>
        </p:txBody>
      </p:sp>
      <p:sp>
        <p:nvSpPr>
          <p:cNvPr id="160" name="Google Shape;160;g3e839494688_0_805"/>
          <p:cNvSpPr txBox="1"/>
          <p:nvPr/>
        </p:nvSpPr>
        <p:spPr>
          <a:xfrm>
            <a:off x="607600" y="1481100"/>
            <a:ext cx="10980600" cy="48177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lang="en-US" sz="2400">
                <a:solidFill>
                  <a:srgbClr val="333344"/>
                </a:solidFill>
                <a:latin typeface="Calibri"/>
                <a:ea typeface="Calibri"/>
                <a:cs typeface="Calibri"/>
                <a:sym typeface="Calibri"/>
              </a:rPr>
              <a:t>The trick is that the address 0x1000 your program sees is a LIE</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A per-program fiction. When your code touches 0x1000 the hardware quietly</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translates it into some completely different real spot in RAM, and it</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translates the other program's 0x1000 to somewhere else entirely.</a:t>
            </a:r>
            <a:endParaRPr/>
          </a:p>
          <a:p>
            <a:pPr indent="0" lvl="0" marL="0" marR="0" rtl="0" algn="l">
              <a:spcBef>
                <a:spcPts val="600"/>
              </a:spcBef>
              <a:spcAft>
                <a:spcPts val="0"/>
              </a:spcAft>
              <a:buNone/>
            </a:pPr>
            <a:r>
              <a:t/>
            </a:r>
            <a:endParaRPr b="0" i="0" sz="2000" u="none" cap="none" strike="noStrike">
              <a:solidFill>
                <a:srgbClr val="666677"/>
              </a:solidFill>
              <a:latin typeface="Calibri"/>
              <a:ea typeface="Calibri"/>
              <a:cs typeface="Calibri"/>
              <a:sym typeface="Calibri"/>
            </a:endParaRPr>
          </a:p>
          <a:p>
            <a:pPr indent="0" lvl="0" marL="0" marR="0" rtl="0" algn="l">
              <a:spcBef>
                <a:spcPts val="600"/>
              </a:spcBef>
              <a:spcAft>
                <a:spcPts val="0"/>
              </a:spcAft>
              <a:buNone/>
            </a:pPr>
            <a:r>
              <a:rPr b="0" lang="en-US" sz="2400">
                <a:solidFill>
                  <a:srgbClr val="333344"/>
                </a:solidFill>
                <a:latin typeface="Calibri"/>
                <a:ea typeface="Calibri"/>
                <a:cs typeface="Calibri"/>
                <a:sym typeface="Calibri"/>
              </a:rPr>
              <a:t>Every process gets its own private map of memory, the operating system and</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a chip called the MMU keep those maps, and your pointers never touch</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physical RAM directly - they go through that translation every single</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time, without you ever noticing it's happening.</a:t>
            </a:r>
            <a:endParaRPr/>
          </a:p>
          <a:p>
            <a:pPr indent="0" lvl="0" marL="0" marR="0" rtl="0" algn="l">
              <a:spcBef>
                <a:spcPts val="600"/>
              </a:spcBef>
              <a:spcAft>
                <a:spcPts val="0"/>
              </a:spcAft>
              <a:buNone/>
            </a:pPr>
            <a:r>
              <a:t/>
            </a:r>
            <a:endParaRPr b="0" i="0" sz="2000" u="none" cap="none" strike="noStrike">
              <a:solidFill>
                <a:srgbClr val="666677"/>
              </a:solidFill>
              <a:latin typeface="Calibri"/>
              <a:ea typeface="Calibri"/>
              <a:cs typeface="Calibri"/>
              <a:sym typeface="Calibri"/>
            </a:endParaRPr>
          </a:p>
          <a:p>
            <a:pPr indent="0" lvl="0" marL="0" marR="0" rtl="0" algn="l">
              <a:spcBef>
                <a:spcPts val="600"/>
              </a:spcBef>
              <a:spcAft>
                <a:spcPts val="0"/>
              </a:spcAft>
              <a:buNone/>
            </a:pPr>
            <a:r>
              <a:rPr b="0" lang="en-US" sz="2400">
                <a:solidFill>
                  <a:srgbClr val="333344"/>
                </a:solidFill>
                <a:latin typeface="Calibri"/>
                <a:ea typeface="Calibri"/>
                <a:cs typeface="Calibri"/>
                <a:sym typeface="Calibri"/>
              </a:rPr>
              <a:t>That same illusion is why a container can think it owns the whole machine</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a:t>
            </a:r>
            <a:r>
              <a:rPr lang="en-US" sz="2000">
                <a:solidFill>
                  <a:srgbClr val="666677"/>
                </a:solidFill>
                <a:latin typeface="Calibri"/>
                <a:ea typeface="Calibri"/>
                <a:cs typeface="Calibri"/>
                <a:sym typeface="Calibri"/>
              </a:rPr>
              <a:t>M</a:t>
            </a:r>
            <a:r>
              <a:rPr b="0" i="0" lang="en-US" sz="2000" u="none" cap="none" strike="noStrike">
                <a:solidFill>
                  <a:srgbClr val="666677"/>
                </a:solidFill>
                <a:latin typeface="Calibri"/>
                <a:ea typeface="Calibri"/>
                <a:cs typeface="Calibri"/>
                <a:sym typeface="Calibri"/>
              </a:rPr>
              <a:t>achinery of maps, pages, and what the kernel does</a:t>
            </a:r>
            <a:r>
              <a:rPr lang="en-US"/>
              <a:t> </a:t>
            </a:r>
            <a:r>
              <a:rPr b="0" i="0" lang="en-US" sz="2000" u="none" cap="none" strike="noStrike">
                <a:solidFill>
                  <a:srgbClr val="666677"/>
                </a:solidFill>
                <a:latin typeface="Calibri"/>
                <a:ea typeface="Calibri"/>
                <a:cs typeface="Calibri"/>
                <a:sym typeface="Calibri"/>
              </a:rPr>
              <a:t>underneath your code is Operating Systems.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DE9FE"/>
        </a:solidFill>
      </p:bgPr>
    </p:bg>
    <p:spTree>
      <p:nvGrpSpPr>
        <p:cNvPr id="165" name="Shape 165"/>
        <p:cNvGrpSpPr/>
        <p:nvPr/>
      </p:nvGrpSpPr>
      <p:grpSpPr>
        <a:xfrm>
          <a:off x="0" y="0"/>
          <a:ext cx="0" cy="0"/>
          <a:chOff x="0" y="0"/>
          <a:chExt cx="0" cy="0"/>
        </a:xfrm>
      </p:grpSpPr>
      <p:sp>
        <p:nvSpPr>
          <p:cNvPr id="166" name="Google Shape;166;g3e839494688_0_302"/>
          <p:cNvSpPr txBox="1"/>
          <p:nvPr/>
        </p:nvSpPr>
        <p:spPr>
          <a:xfrm>
            <a:off x="5303520" y="457200"/>
            <a:ext cx="1584600" cy="12006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lang="en-US" sz="7200">
                <a:solidFill>
                  <a:srgbClr val="5B21B6"/>
                </a:solidFill>
                <a:latin typeface="Calibri"/>
                <a:ea typeface="Calibri"/>
                <a:cs typeface="Calibri"/>
                <a:sym typeface="Calibri"/>
              </a:rPr>
              <a:t>?</a:t>
            </a:r>
            <a:endParaRPr/>
          </a:p>
        </p:txBody>
      </p:sp>
      <p:sp>
        <p:nvSpPr>
          <p:cNvPr id="167" name="Google Shape;167;g3e839494688_0_302"/>
          <p:cNvSpPr txBox="1"/>
          <p:nvPr/>
        </p:nvSpPr>
        <p:spPr>
          <a:xfrm>
            <a:off x="1371600" y="2011680"/>
            <a:ext cx="9448500" cy="21858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lang="en-US" sz="3400">
                <a:solidFill>
                  <a:srgbClr val="1A1A2E"/>
                </a:solidFill>
                <a:latin typeface="Calibri"/>
                <a:ea typeface="Calibri"/>
                <a:cs typeface="Calibri"/>
                <a:sym typeface="Calibri"/>
              </a:rPr>
              <a:t>A backhoe cuts the main fiber between you and your server - a whole path through the internet just vanished. Your next message still lands in 40ms. How?</a:t>
            </a:r>
            <a:endParaRPr/>
          </a:p>
        </p:txBody>
      </p:sp>
      <p:sp>
        <p:nvSpPr>
          <p:cNvPr id="168" name="Google Shape;168;g3e839494688_0_302"/>
          <p:cNvSpPr txBox="1"/>
          <p:nvPr/>
        </p:nvSpPr>
        <p:spPr>
          <a:xfrm>
            <a:off x="1828800" y="4572000"/>
            <a:ext cx="8534100" cy="11082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lang="en-US" sz="2200">
                <a:solidFill>
                  <a:srgbClr val="666677"/>
                </a:solidFill>
                <a:latin typeface="Calibri"/>
                <a:ea typeface="Calibri"/>
                <a:cs typeface="Calibri"/>
                <a:sym typeface="Calibri"/>
              </a:rPr>
              <a:t>Nobody rerouted it by hand, there's no master map of the internet, and no one is in charge of the whole thing. So how does your packet find a way around the break?</a:t>
            </a:r>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3" name="Shape 173"/>
        <p:cNvGrpSpPr/>
        <p:nvPr/>
      </p:nvGrpSpPr>
      <p:grpSpPr>
        <a:xfrm>
          <a:off x="0" y="0"/>
          <a:ext cx="0" cy="0"/>
          <a:chOff x="0" y="0"/>
          <a:chExt cx="0" cy="0"/>
        </a:xfrm>
      </p:grpSpPr>
      <p:sp>
        <p:nvSpPr>
          <p:cNvPr id="174" name="Google Shape;174;g3e839494688_0_309"/>
          <p:cNvSpPr txBox="1"/>
          <p:nvPr/>
        </p:nvSpPr>
        <p:spPr>
          <a:xfrm>
            <a:off x="731520" y="365760"/>
            <a:ext cx="10728600" cy="6465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3600">
                <a:solidFill>
                  <a:srgbClr val="1A1A2E"/>
                </a:solidFill>
                <a:latin typeface="Calibri"/>
                <a:ea typeface="Calibri"/>
                <a:cs typeface="Calibri"/>
                <a:sym typeface="Calibri"/>
              </a:rPr>
              <a:t>Computer Networking</a:t>
            </a:r>
            <a:endParaRPr/>
          </a:p>
        </p:txBody>
      </p:sp>
      <p:sp>
        <p:nvSpPr>
          <p:cNvPr id="175" name="Google Shape;175;g3e839494688_0_309"/>
          <p:cNvSpPr txBox="1"/>
          <p:nvPr/>
        </p:nvSpPr>
        <p:spPr>
          <a:xfrm>
            <a:off x="914400" y="1463040"/>
            <a:ext cx="10362900" cy="52026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lang="en-US" sz="2400">
                <a:solidFill>
                  <a:srgbClr val="333344"/>
                </a:solidFill>
                <a:latin typeface="Calibri"/>
                <a:ea typeface="Calibri"/>
                <a:cs typeface="Calibri"/>
                <a:sym typeface="Calibri"/>
              </a:rPr>
              <a:t>The internet is a GRAPH - routers are dots, the cables between them are edges,</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and your packet just needs any path through it from you to the server. There</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is no master map and nobody steering traffic from above.</a:t>
            </a:r>
            <a:endParaRPr/>
          </a:p>
          <a:p>
            <a:pPr indent="0" lvl="0" marL="0" marR="0" rtl="0" algn="l">
              <a:spcBef>
                <a:spcPts val="600"/>
              </a:spcBef>
              <a:spcAft>
                <a:spcPts val="0"/>
              </a:spcAft>
              <a:buNone/>
            </a:pPr>
            <a:r>
              <a:t/>
            </a:r>
            <a:endParaRPr b="0" i="0" sz="2000" u="none" cap="none" strike="noStrike">
              <a:solidFill>
                <a:srgbClr val="666677"/>
              </a:solidFill>
              <a:latin typeface="Calibri"/>
              <a:ea typeface="Calibri"/>
              <a:cs typeface="Calibri"/>
              <a:sym typeface="Calibri"/>
            </a:endParaRPr>
          </a:p>
          <a:p>
            <a:pPr indent="0" lvl="0" marL="0" marR="0" rtl="0" algn="l">
              <a:spcBef>
                <a:spcPts val="600"/>
              </a:spcBef>
              <a:spcAft>
                <a:spcPts val="0"/>
              </a:spcAft>
              <a:buNone/>
            </a:pPr>
            <a:r>
              <a:rPr b="0" lang="en-US" sz="2400">
                <a:solidFill>
                  <a:srgbClr val="333344"/>
                </a:solidFill>
                <a:latin typeface="Calibri"/>
                <a:ea typeface="Calibri"/>
                <a:cs typeface="Calibri"/>
                <a:sym typeface="Calibri"/>
              </a:rPr>
              <a:t>Instead every router constantly gossips with its neighbors about who it can</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reach and how far, and from that chatter each one works out the current</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shortest path to everywhere - the same shortest-path-in-a-graph problem you</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could state in CS2, just running live and nonstop. Cut a cable and that edge</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disappears, the news ripples outward in seconds, and every router recomputes</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around the gap on its own.</a:t>
            </a:r>
            <a:endParaRPr/>
          </a:p>
          <a:p>
            <a:pPr indent="0" lvl="0" marL="0" marR="0" rtl="0" algn="l">
              <a:spcBef>
                <a:spcPts val="600"/>
              </a:spcBef>
              <a:spcAft>
                <a:spcPts val="0"/>
              </a:spcAft>
              <a:buNone/>
            </a:pPr>
            <a:r>
              <a:t/>
            </a:r>
            <a:endParaRPr b="0" i="0" sz="2000" u="none" cap="none" strike="noStrike">
              <a:solidFill>
                <a:srgbClr val="666677"/>
              </a:solidFill>
              <a:latin typeface="Calibri"/>
              <a:ea typeface="Calibri"/>
              <a:cs typeface="Calibri"/>
              <a:sym typeface="Calibri"/>
            </a:endParaRPr>
          </a:p>
          <a:p>
            <a:pPr indent="0" lvl="0" marL="0" marR="0" rtl="0" algn="l">
              <a:spcBef>
                <a:spcPts val="600"/>
              </a:spcBef>
              <a:spcAft>
                <a:spcPts val="0"/>
              </a:spcAft>
              <a:buNone/>
            </a:pPr>
            <a:r>
              <a:rPr b="0" lang="en-US" sz="2400">
                <a:solidFill>
                  <a:srgbClr val="333344"/>
                </a:solidFill>
                <a:latin typeface="Calibri"/>
                <a:ea typeface="Calibri"/>
                <a:cs typeface="Calibri"/>
                <a:sym typeface="Calibri"/>
              </a:rPr>
              <a:t>Surviving pieces of the network going down was the original DESIGN GOAL, and</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the graph theory that makes it work is the heart of Computer Networking.</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0" name="Shape 180"/>
        <p:cNvGrpSpPr/>
        <p:nvPr/>
      </p:nvGrpSpPr>
      <p:grpSpPr>
        <a:xfrm>
          <a:off x="0" y="0"/>
          <a:ext cx="0" cy="0"/>
          <a:chOff x="0" y="0"/>
          <a:chExt cx="0" cy="0"/>
        </a:xfrm>
      </p:grpSpPr>
      <p:sp>
        <p:nvSpPr>
          <p:cNvPr id="181" name="Google Shape;181;g3e839494688_0_390"/>
          <p:cNvSpPr txBox="1"/>
          <p:nvPr/>
        </p:nvSpPr>
        <p:spPr>
          <a:xfrm>
            <a:off x="731520" y="365760"/>
            <a:ext cx="10728600" cy="6465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3600">
                <a:solidFill>
                  <a:srgbClr val="1A1A2E"/>
                </a:solidFill>
                <a:latin typeface="Calibri"/>
                <a:ea typeface="Calibri"/>
                <a:cs typeface="Calibri"/>
                <a:sym typeface="Calibri"/>
              </a:rPr>
              <a:t>Computer Networking</a:t>
            </a:r>
            <a:endParaRPr/>
          </a:p>
        </p:txBody>
      </p:sp>
      <p:pic>
        <p:nvPicPr>
          <p:cNvPr id="182" name="Google Shape;182;g3e839494688_0_390"/>
          <p:cNvPicPr preferRelativeResize="0"/>
          <p:nvPr/>
        </p:nvPicPr>
        <p:blipFill>
          <a:blip r:embed="rId3">
            <a:alphaModFix/>
          </a:blip>
          <a:stretch>
            <a:fillRect/>
          </a:stretch>
        </p:blipFill>
        <p:spPr>
          <a:xfrm>
            <a:off x="1769400" y="1144100"/>
            <a:ext cx="7906551" cy="5259924"/>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7" name="Shape 187"/>
        <p:cNvGrpSpPr/>
        <p:nvPr/>
      </p:nvGrpSpPr>
      <p:grpSpPr>
        <a:xfrm>
          <a:off x="0" y="0"/>
          <a:ext cx="0" cy="0"/>
          <a:chOff x="0" y="0"/>
          <a:chExt cx="0" cy="0"/>
        </a:xfrm>
      </p:grpSpPr>
      <p:sp>
        <p:nvSpPr>
          <p:cNvPr id="188" name="Google Shape;188;g3e839494688_0_906"/>
          <p:cNvSpPr txBox="1"/>
          <p:nvPr/>
        </p:nvSpPr>
        <p:spPr>
          <a:xfrm>
            <a:off x="731520" y="274320"/>
            <a:ext cx="10728600" cy="8004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1600">
                <a:solidFill>
                  <a:srgbClr val="FFFFFF"/>
                </a:solidFill>
                <a:latin typeface="Calibri"/>
                <a:ea typeface="Calibri"/>
                <a:cs typeface="Calibri"/>
                <a:sym typeface="Calibri"/>
              </a:rPr>
              <a:t>TRY IT  </a:t>
            </a:r>
            <a:endParaRPr/>
          </a:p>
          <a:p>
            <a:pPr indent="0" lvl="0" marL="0" marR="0" rtl="0" algn="l">
              <a:spcBef>
                <a:spcPts val="0"/>
              </a:spcBef>
              <a:spcAft>
                <a:spcPts val="0"/>
              </a:spcAft>
              <a:buNone/>
            </a:pPr>
            <a:r>
              <a:rPr b="1" lang="en-US" sz="3000">
                <a:solidFill>
                  <a:srgbClr val="1A1A2E"/>
                </a:solidFill>
                <a:latin typeface="Calibri"/>
                <a:ea typeface="Calibri"/>
                <a:cs typeface="Calibri"/>
                <a:sym typeface="Calibri"/>
              </a:rPr>
              <a:t>How does the join not take forever?</a:t>
            </a:r>
            <a:endParaRPr/>
          </a:p>
        </p:txBody>
      </p:sp>
      <p:sp>
        <p:nvSpPr>
          <p:cNvPr id="189" name="Google Shape;189;g3e839494688_0_906"/>
          <p:cNvSpPr/>
          <p:nvPr/>
        </p:nvSpPr>
        <p:spPr>
          <a:xfrm>
            <a:off x="640080" y="228600"/>
            <a:ext cx="1097400" cy="365700"/>
          </a:xfrm>
          <a:prstGeom prst="roundRect">
            <a:avLst>
              <a:gd fmla="val 16667" name="adj"/>
            </a:avLst>
          </a:prstGeom>
          <a:solidFill>
            <a:srgbClr val="5B21B6"/>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90" name="Google Shape;190;g3e839494688_0_906"/>
          <p:cNvSpPr/>
          <p:nvPr/>
        </p:nvSpPr>
        <p:spPr>
          <a:xfrm>
            <a:off x="731520" y="1371600"/>
            <a:ext cx="10728600" cy="5029200"/>
          </a:xfrm>
          <a:prstGeom prst="roundRect">
            <a:avLst>
              <a:gd fmla="val 16667" name="adj"/>
            </a:avLst>
          </a:prstGeom>
          <a:solidFill>
            <a:srgbClr val="F0F0F4"/>
          </a:solidFill>
          <a:ln cap="flat" cmpd="sng" w="12700">
            <a:solidFill>
              <a:srgbClr val="EEEEF0"/>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91" name="Google Shape;191;g3e839494688_0_906"/>
          <p:cNvSpPr txBox="1"/>
          <p:nvPr/>
        </p:nvSpPr>
        <p:spPr>
          <a:xfrm>
            <a:off x="1005840" y="1554480"/>
            <a:ext cx="10179900" cy="46074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1800">
                <a:solidFill>
                  <a:srgbClr val="333344"/>
                </a:solidFill>
                <a:latin typeface="Courier New"/>
                <a:ea typeface="Courier New"/>
                <a:cs typeface="Courier New"/>
                <a:sym typeface="Courier New"/>
              </a:rPr>
              <a:t># Your chat app: show every message next to its author's</a:t>
            </a:r>
            <a:endParaRPr/>
          </a:p>
          <a:p>
            <a:pPr indent="0" lvl="0" marL="0" marR="0" rtl="0" algn="l">
              <a:spcBef>
                <a:spcPts val="200"/>
              </a:spcBef>
              <a:spcAft>
                <a:spcPts val="0"/>
              </a:spcAft>
              <a:buNone/>
            </a:pPr>
            <a:r>
              <a:rPr b="1" lang="en-US" sz="1800">
                <a:solidFill>
                  <a:srgbClr val="333344"/>
                </a:solidFill>
                <a:latin typeface="Courier New"/>
                <a:ea typeface="Courier New"/>
                <a:cs typeface="Courier New"/>
                <a:sym typeface="Courier New"/>
              </a:rPr>
              <a:t># name. A 1,000,000-row users table, a 10,000,000-row</a:t>
            </a:r>
            <a:endParaRPr/>
          </a:p>
          <a:p>
            <a:pPr indent="0" lvl="0" marL="0" marR="0" rtl="0" algn="l">
              <a:spcBef>
                <a:spcPts val="200"/>
              </a:spcBef>
              <a:spcAft>
                <a:spcPts val="0"/>
              </a:spcAft>
              <a:buNone/>
            </a:pPr>
            <a:r>
              <a:rPr b="1" lang="en-US" sz="1800">
                <a:solidFill>
                  <a:srgbClr val="333344"/>
                </a:solidFill>
                <a:latin typeface="Courier New"/>
                <a:ea typeface="Courier New"/>
                <a:cs typeface="Courier New"/>
                <a:sym typeface="Courier New"/>
              </a:rPr>
              <a:t># messages table.</a:t>
            </a:r>
            <a:endParaRPr/>
          </a:p>
          <a:p>
            <a:pPr indent="0" lvl="0" marL="0" marR="0" rtl="0" algn="l">
              <a:spcBef>
                <a:spcPts val="200"/>
              </a:spcBef>
              <a:spcAft>
                <a:spcPts val="0"/>
              </a:spcAft>
              <a:buNone/>
            </a:pPr>
            <a:r>
              <a:t/>
            </a:r>
            <a:endParaRPr b="1" sz="1800">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lang="en-US" sz="1800">
                <a:solidFill>
                  <a:srgbClr val="333344"/>
                </a:solidFill>
                <a:latin typeface="Courier New"/>
                <a:ea typeface="Courier New"/>
                <a:cs typeface="Courier New"/>
                <a:sym typeface="Courier New"/>
              </a:rPr>
              <a:t>SELECT messages.body, users.name</a:t>
            </a:r>
            <a:endParaRPr/>
          </a:p>
          <a:p>
            <a:pPr indent="0" lvl="0" marL="0" marR="0" rtl="0" algn="l">
              <a:spcBef>
                <a:spcPts val="200"/>
              </a:spcBef>
              <a:spcAft>
                <a:spcPts val="0"/>
              </a:spcAft>
              <a:buNone/>
            </a:pPr>
            <a:r>
              <a:rPr b="1" lang="en-US" sz="1800">
                <a:solidFill>
                  <a:srgbClr val="333344"/>
                </a:solidFill>
                <a:latin typeface="Courier New"/>
                <a:ea typeface="Courier New"/>
                <a:cs typeface="Courier New"/>
                <a:sym typeface="Courier New"/>
              </a:rPr>
              <a:t>FROM messages</a:t>
            </a:r>
            <a:endParaRPr/>
          </a:p>
          <a:p>
            <a:pPr indent="0" lvl="0" marL="0" marR="0" rtl="0" algn="l">
              <a:spcBef>
                <a:spcPts val="200"/>
              </a:spcBef>
              <a:spcAft>
                <a:spcPts val="0"/>
              </a:spcAft>
              <a:buNone/>
            </a:pPr>
            <a:r>
              <a:rPr b="1" lang="en-US" sz="1800">
                <a:solidFill>
                  <a:srgbClr val="333344"/>
                </a:solidFill>
                <a:latin typeface="Courier New"/>
                <a:ea typeface="Courier New"/>
                <a:cs typeface="Courier New"/>
                <a:sym typeface="Courier New"/>
              </a:rPr>
              <a:t>JOIN users ON users.id = messages.user_id;</a:t>
            </a:r>
            <a:endParaRPr/>
          </a:p>
          <a:p>
            <a:pPr indent="0" lvl="0" marL="0" marR="0" rtl="0" algn="l">
              <a:spcBef>
                <a:spcPts val="200"/>
              </a:spcBef>
              <a:spcAft>
                <a:spcPts val="0"/>
              </a:spcAft>
              <a:buNone/>
            </a:pPr>
            <a:r>
              <a:t/>
            </a:r>
            <a:endParaRPr b="1" sz="1800">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lang="en-US" sz="1800">
                <a:solidFill>
                  <a:srgbClr val="333344"/>
                </a:solidFill>
                <a:latin typeface="Courier New"/>
                <a:ea typeface="Courier New"/>
                <a:cs typeface="Courier New"/>
                <a:sym typeface="Courier New"/>
              </a:rPr>
              <a:t># The obvious way to match them: for each of the 10M</a:t>
            </a:r>
            <a:endParaRPr/>
          </a:p>
          <a:p>
            <a:pPr indent="0" lvl="0" marL="0" marR="0" rtl="0" algn="l">
              <a:spcBef>
                <a:spcPts val="200"/>
              </a:spcBef>
              <a:spcAft>
                <a:spcPts val="0"/>
              </a:spcAft>
              <a:buNone/>
            </a:pPr>
            <a:r>
              <a:rPr b="1" lang="en-US" sz="1800">
                <a:solidFill>
                  <a:srgbClr val="333344"/>
                </a:solidFill>
                <a:latin typeface="Courier New"/>
                <a:ea typeface="Courier New"/>
                <a:cs typeface="Courier New"/>
                <a:sym typeface="Courier New"/>
              </a:rPr>
              <a:t># messages, scan the 1M users for the right id. That's</a:t>
            </a:r>
            <a:endParaRPr/>
          </a:p>
          <a:p>
            <a:pPr indent="0" lvl="0" marL="0" marR="0" rtl="0" algn="l">
              <a:spcBef>
                <a:spcPts val="200"/>
              </a:spcBef>
              <a:spcAft>
                <a:spcPts val="0"/>
              </a:spcAft>
              <a:buNone/>
            </a:pPr>
            <a:r>
              <a:rPr b="1" lang="en-US" sz="1800">
                <a:solidFill>
                  <a:srgbClr val="333344"/>
                </a:solidFill>
                <a:latin typeface="Courier New"/>
                <a:ea typeface="Courier New"/>
                <a:cs typeface="Courier New"/>
                <a:sym typeface="Courier New"/>
              </a:rPr>
              <a:t># 10,000,000 x 1,000,000 = 10 TRILLION comparisons -</a:t>
            </a:r>
            <a:endParaRPr/>
          </a:p>
          <a:p>
            <a:pPr indent="0" lvl="0" marL="0" marR="0" rtl="0" algn="l">
              <a:spcBef>
                <a:spcPts val="200"/>
              </a:spcBef>
              <a:spcAft>
                <a:spcPts val="0"/>
              </a:spcAft>
              <a:buNone/>
            </a:pPr>
            <a:r>
              <a:rPr b="1" lang="en-US" sz="1800">
                <a:solidFill>
                  <a:srgbClr val="333344"/>
                </a:solidFill>
                <a:latin typeface="Courier New"/>
                <a:ea typeface="Courier New"/>
                <a:cs typeface="Courier New"/>
                <a:sym typeface="Courier New"/>
              </a:rPr>
              <a:t># on real hardware, hours.</a:t>
            </a:r>
            <a:endParaRPr/>
          </a:p>
          <a:p>
            <a:pPr indent="0" lvl="0" marL="0" marR="0" rtl="0" algn="l">
              <a:spcBef>
                <a:spcPts val="200"/>
              </a:spcBef>
              <a:spcAft>
                <a:spcPts val="0"/>
              </a:spcAft>
              <a:buNone/>
            </a:pPr>
            <a:r>
              <a:t/>
            </a:r>
            <a:endParaRPr b="1" sz="1800">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lang="en-US" sz="1800">
                <a:solidFill>
                  <a:srgbClr val="333344"/>
                </a:solidFill>
                <a:latin typeface="Courier New"/>
                <a:ea typeface="Courier New"/>
                <a:cs typeface="Courier New"/>
                <a:sym typeface="Courier New"/>
              </a:rPr>
              <a:t># Your database returns it in a couple of seconds, so it</a:t>
            </a:r>
            <a:endParaRPr/>
          </a:p>
          <a:p>
            <a:pPr indent="0" lvl="0" marL="0" marR="0" rtl="0" algn="l">
              <a:spcBef>
                <a:spcPts val="200"/>
              </a:spcBef>
              <a:spcAft>
                <a:spcPts val="0"/>
              </a:spcAft>
              <a:buNone/>
            </a:pPr>
            <a:r>
              <a:rPr b="1" lang="en-US" sz="1800">
                <a:solidFill>
                  <a:srgbClr val="B0B0C0"/>
                </a:solidFill>
                <a:latin typeface="Courier New"/>
                <a:ea typeface="Courier New"/>
                <a:cs typeface="Courier New"/>
                <a:sym typeface="Courier New"/>
              </a:rPr>
              <a:t># is NOT doing the obvious thing. What is it doing? ________</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6" name="Shape 196"/>
        <p:cNvGrpSpPr/>
        <p:nvPr/>
      </p:nvGrpSpPr>
      <p:grpSpPr>
        <a:xfrm>
          <a:off x="0" y="0"/>
          <a:ext cx="0" cy="0"/>
          <a:chOff x="0" y="0"/>
          <a:chExt cx="0" cy="0"/>
        </a:xfrm>
      </p:grpSpPr>
      <p:sp>
        <p:nvSpPr>
          <p:cNvPr id="197" name="Google Shape;197;g3e839494688_0_995"/>
          <p:cNvSpPr txBox="1"/>
          <p:nvPr/>
        </p:nvSpPr>
        <p:spPr>
          <a:xfrm>
            <a:off x="731520" y="274320"/>
            <a:ext cx="10728600" cy="5850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3200">
                <a:solidFill>
                  <a:srgbClr val="1A1A2E"/>
                </a:solidFill>
                <a:latin typeface="Calibri"/>
                <a:ea typeface="Calibri"/>
                <a:cs typeface="Calibri"/>
                <a:sym typeface="Calibri"/>
              </a:rPr>
              <a:t>Hash join, step 1: build a lookup</a:t>
            </a:r>
            <a:endParaRPr/>
          </a:p>
        </p:txBody>
      </p:sp>
      <p:sp>
        <p:nvSpPr>
          <p:cNvPr id="198" name="Google Shape;198;g3e839494688_0_995"/>
          <p:cNvSpPr txBox="1"/>
          <p:nvPr/>
        </p:nvSpPr>
        <p:spPr>
          <a:xfrm>
            <a:off x="731520" y="1417320"/>
            <a:ext cx="10698600" cy="4002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lang="en-US" sz="2000">
                <a:solidFill>
                  <a:srgbClr val="5B21B6"/>
                </a:solidFill>
                <a:latin typeface="Calibri"/>
                <a:ea typeface="Calibri"/>
                <a:cs typeface="Calibri"/>
                <a:sym typeface="Calibri"/>
              </a:rPr>
              <a:t>STEP 1 - BUILD: read the SMALL table once and turn it into a hash table mapping id -&gt; name.</a:t>
            </a:r>
            <a:endParaRPr/>
          </a:p>
        </p:txBody>
      </p:sp>
      <p:sp>
        <p:nvSpPr>
          <p:cNvPr id="199" name="Google Shape;199;g3e839494688_0_995"/>
          <p:cNvSpPr/>
          <p:nvPr/>
        </p:nvSpPr>
        <p:spPr>
          <a:xfrm>
            <a:off x="1097280" y="2468880"/>
            <a:ext cx="2926200" cy="2377500"/>
          </a:xfrm>
          <a:prstGeom prst="roundRect">
            <a:avLst>
              <a:gd fmla="val 16667" name="adj"/>
            </a:avLst>
          </a:prstGeom>
          <a:solidFill>
            <a:srgbClr val="EEEEF0"/>
          </a:solidFill>
          <a:ln cap="flat" cmpd="sng" w="12700">
            <a:solidFill>
              <a:srgbClr val="666677"/>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rPr b="1" lang="en-US" sz="1600">
                <a:solidFill>
                  <a:srgbClr val="1A1A2E"/>
                </a:solidFill>
                <a:latin typeface="Calibri"/>
                <a:ea typeface="Calibri"/>
                <a:cs typeface="Calibri"/>
                <a:sym typeface="Calibri"/>
              </a:rPr>
              <a:t>USERS - 1,000,000 rows</a:t>
            </a:r>
            <a:endParaRPr/>
          </a:p>
          <a:p>
            <a:pPr indent="0" lvl="0" marL="0" marR="0" rtl="0" algn="l">
              <a:spcBef>
                <a:spcPts val="600"/>
              </a:spcBef>
              <a:spcAft>
                <a:spcPts val="0"/>
              </a:spcAft>
              <a:buNone/>
            </a:pPr>
            <a:r>
              <a:rPr lang="en-US" sz="1500">
                <a:solidFill>
                  <a:srgbClr val="333344"/>
                </a:solidFill>
                <a:latin typeface="Courier New"/>
                <a:ea typeface="Courier New"/>
                <a:cs typeface="Courier New"/>
                <a:sym typeface="Courier New"/>
              </a:rPr>
              <a:t>1   alice</a:t>
            </a:r>
            <a:endParaRPr/>
          </a:p>
          <a:p>
            <a:pPr indent="0" lvl="0" marL="0" marR="0" rtl="0" algn="l">
              <a:spcBef>
                <a:spcPts val="0"/>
              </a:spcBef>
              <a:spcAft>
                <a:spcPts val="0"/>
              </a:spcAft>
              <a:buNone/>
            </a:pPr>
            <a:r>
              <a:rPr lang="en-US" sz="1500">
                <a:solidFill>
                  <a:srgbClr val="333344"/>
                </a:solidFill>
                <a:latin typeface="Courier New"/>
                <a:ea typeface="Courier New"/>
                <a:cs typeface="Courier New"/>
                <a:sym typeface="Courier New"/>
              </a:rPr>
              <a:t>2   bob</a:t>
            </a:r>
            <a:endParaRPr/>
          </a:p>
          <a:p>
            <a:pPr indent="0" lvl="0" marL="0" marR="0" rtl="0" algn="l">
              <a:spcBef>
                <a:spcPts val="0"/>
              </a:spcBef>
              <a:spcAft>
                <a:spcPts val="0"/>
              </a:spcAft>
              <a:buNone/>
            </a:pPr>
            <a:r>
              <a:rPr lang="en-US" sz="1500">
                <a:solidFill>
                  <a:srgbClr val="333344"/>
                </a:solidFill>
                <a:latin typeface="Courier New"/>
                <a:ea typeface="Courier New"/>
                <a:cs typeface="Courier New"/>
                <a:sym typeface="Courier New"/>
              </a:rPr>
              <a:t>3   carol</a:t>
            </a:r>
            <a:endParaRPr/>
          </a:p>
          <a:p>
            <a:pPr indent="0" lvl="0" marL="0" marR="0" rtl="0" algn="l">
              <a:spcBef>
                <a:spcPts val="0"/>
              </a:spcBef>
              <a:spcAft>
                <a:spcPts val="0"/>
              </a:spcAft>
              <a:buNone/>
            </a:pPr>
            <a:r>
              <a:rPr lang="en-US" sz="1500">
                <a:solidFill>
                  <a:srgbClr val="333344"/>
                </a:solidFill>
                <a:latin typeface="Courier New"/>
                <a:ea typeface="Courier New"/>
                <a:cs typeface="Courier New"/>
                <a:sym typeface="Courier New"/>
              </a:rPr>
              <a:t>4   dave</a:t>
            </a:r>
            <a:endParaRPr/>
          </a:p>
          <a:p>
            <a:pPr indent="0" lvl="0" marL="0" marR="0" rtl="0" algn="l">
              <a:spcBef>
                <a:spcPts val="0"/>
              </a:spcBef>
              <a:spcAft>
                <a:spcPts val="0"/>
              </a:spcAft>
              <a:buNone/>
            </a:pPr>
            <a:r>
              <a:rPr lang="en-US" sz="1500">
                <a:solidFill>
                  <a:srgbClr val="333344"/>
                </a:solidFill>
                <a:latin typeface="Courier New"/>
                <a:ea typeface="Courier New"/>
                <a:cs typeface="Courier New"/>
                <a:sym typeface="Courier New"/>
              </a:rPr>
              <a:t>...</a:t>
            </a:r>
            <a:endParaRPr/>
          </a:p>
        </p:txBody>
      </p:sp>
      <p:sp>
        <p:nvSpPr>
          <p:cNvPr id="200" name="Google Shape;200;g3e839494688_0_995"/>
          <p:cNvSpPr/>
          <p:nvPr/>
        </p:nvSpPr>
        <p:spPr>
          <a:xfrm>
            <a:off x="4389120" y="3638550"/>
            <a:ext cx="1417200" cy="38100"/>
          </a:xfrm>
          <a:prstGeom prst="rect">
            <a:avLst/>
          </a:prstGeom>
          <a:solidFill>
            <a:srgbClr val="5B21B6"/>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01" name="Google Shape;201;g3e839494688_0_995"/>
          <p:cNvSpPr/>
          <p:nvPr/>
        </p:nvSpPr>
        <p:spPr>
          <a:xfrm>
            <a:off x="5760720" y="3520440"/>
            <a:ext cx="320100" cy="274200"/>
          </a:xfrm>
          <a:prstGeom prst="chevron">
            <a:avLst>
              <a:gd fmla="val 50000" name="adj"/>
            </a:avLst>
          </a:prstGeom>
          <a:solidFill>
            <a:srgbClr val="5B21B6"/>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02" name="Google Shape;202;g3e839494688_0_995"/>
          <p:cNvSpPr txBox="1"/>
          <p:nvPr/>
        </p:nvSpPr>
        <p:spPr>
          <a:xfrm>
            <a:off x="4297680" y="3063240"/>
            <a:ext cx="1828800" cy="3078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lang="en-US" sz="1400">
                <a:solidFill>
                  <a:srgbClr val="666677"/>
                </a:solidFill>
                <a:latin typeface="Calibri"/>
                <a:ea typeface="Calibri"/>
                <a:cs typeface="Calibri"/>
                <a:sym typeface="Calibri"/>
              </a:rPr>
              <a:t>read each row once</a:t>
            </a:r>
            <a:endParaRPr/>
          </a:p>
        </p:txBody>
      </p:sp>
      <p:sp>
        <p:nvSpPr>
          <p:cNvPr id="203" name="Google Shape;203;g3e839494688_0_995"/>
          <p:cNvSpPr/>
          <p:nvPr/>
        </p:nvSpPr>
        <p:spPr>
          <a:xfrm>
            <a:off x="6309360" y="2468880"/>
            <a:ext cx="4206300" cy="2377500"/>
          </a:xfrm>
          <a:prstGeom prst="roundRect">
            <a:avLst>
              <a:gd fmla="val 16667" name="adj"/>
            </a:avLst>
          </a:prstGeom>
          <a:solidFill>
            <a:srgbClr val="EDE9FE"/>
          </a:solidFill>
          <a:ln cap="flat" cmpd="sng" w="12700">
            <a:solidFill>
              <a:srgbClr val="666677"/>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rPr b="1" lang="en-US" sz="1600">
                <a:solidFill>
                  <a:srgbClr val="1A1A2E"/>
                </a:solidFill>
                <a:latin typeface="Calibri"/>
                <a:ea typeface="Calibri"/>
                <a:cs typeface="Calibri"/>
                <a:sym typeface="Calibri"/>
              </a:rPr>
              <a:t>HASH TABLE  (in memory)</a:t>
            </a:r>
            <a:endParaRPr/>
          </a:p>
          <a:p>
            <a:pPr indent="0" lvl="0" marL="0" marR="0" rtl="0" algn="l">
              <a:spcBef>
                <a:spcPts val="600"/>
              </a:spcBef>
              <a:spcAft>
                <a:spcPts val="0"/>
              </a:spcAft>
              <a:buNone/>
            </a:pPr>
            <a:r>
              <a:rPr lang="en-US" sz="1500">
                <a:solidFill>
                  <a:srgbClr val="333344"/>
                </a:solidFill>
                <a:latin typeface="Courier New"/>
                <a:ea typeface="Courier New"/>
                <a:cs typeface="Courier New"/>
                <a:sym typeface="Courier New"/>
              </a:rPr>
              <a:t>1  -&gt;  alice</a:t>
            </a:r>
            <a:endParaRPr/>
          </a:p>
          <a:p>
            <a:pPr indent="0" lvl="0" marL="0" marR="0" rtl="0" algn="l">
              <a:spcBef>
                <a:spcPts val="0"/>
              </a:spcBef>
              <a:spcAft>
                <a:spcPts val="0"/>
              </a:spcAft>
              <a:buNone/>
            </a:pPr>
            <a:r>
              <a:rPr lang="en-US" sz="1500">
                <a:solidFill>
                  <a:srgbClr val="333344"/>
                </a:solidFill>
                <a:latin typeface="Courier New"/>
                <a:ea typeface="Courier New"/>
                <a:cs typeface="Courier New"/>
                <a:sym typeface="Courier New"/>
              </a:rPr>
              <a:t>2  -&gt;  bob</a:t>
            </a:r>
            <a:endParaRPr/>
          </a:p>
          <a:p>
            <a:pPr indent="0" lvl="0" marL="0" marR="0" rtl="0" algn="l">
              <a:spcBef>
                <a:spcPts val="0"/>
              </a:spcBef>
              <a:spcAft>
                <a:spcPts val="0"/>
              </a:spcAft>
              <a:buNone/>
            </a:pPr>
            <a:r>
              <a:rPr lang="en-US" sz="1500">
                <a:solidFill>
                  <a:srgbClr val="333344"/>
                </a:solidFill>
                <a:latin typeface="Courier New"/>
                <a:ea typeface="Courier New"/>
                <a:cs typeface="Courier New"/>
                <a:sym typeface="Courier New"/>
              </a:rPr>
              <a:t>3  -&gt;  carol</a:t>
            </a:r>
            <a:endParaRPr/>
          </a:p>
          <a:p>
            <a:pPr indent="0" lvl="0" marL="0" marR="0" rtl="0" algn="l">
              <a:spcBef>
                <a:spcPts val="0"/>
              </a:spcBef>
              <a:spcAft>
                <a:spcPts val="0"/>
              </a:spcAft>
              <a:buNone/>
            </a:pPr>
            <a:r>
              <a:rPr lang="en-US" sz="1500">
                <a:solidFill>
                  <a:srgbClr val="333344"/>
                </a:solidFill>
                <a:latin typeface="Courier New"/>
                <a:ea typeface="Courier New"/>
                <a:cs typeface="Courier New"/>
                <a:sym typeface="Courier New"/>
              </a:rPr>
              <a:t>4  -&gt;  dave</a:t>
            </a:r>
            <a:endParaRPr/>
          </a:p>
          <a:p>
            <a:pPr indent="0" lvl="0" marL="0" marR="0" rtl="0" algn="l">
              <a:spcBef>
                <a:spcPts val="0"/>
              </a:spcBef>
              <a:spcAft>
                <a:spcPts val="0"/>
              </a:spcAft>
              <a:buNone/>
            </a:pPr>
            <a:r>
              <a:rPr lang="en-US" sz="1500">
                <a:solidFill>
                  <a:srgbClr val="333344"/>
                </a:solidFill>
                <a:latin typeface="Courier New"/>
                <a:ea typeface="Courier New"/>
                <a:cs typeface="Courier New"/>
                <a:sym typeface="Courier New"/>
              </a:rPr>
              <a:t>...</a:t>
            </a:r>
            <a:endParaRPr/>
          </a:p>
        </p:txBody>
      </p:sp>
      <p:sp>
        <p:nvSpPr>
          <p:cNvPr id="204" name="Google Shape;204;g3e839494688_0_995"/>
          <p:cNvSpPr txBox="1"/>
          <p:nvPr/>
        </p:nvSpPr>
        <p:spPr>
          <a:xfrm>
            <a:off x="6309360" y="4983480"/>
            <a:ext cx="4206300" cy="3387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lang="en-US" sz="1600">
                <a:solidFill>
                  <a:srgbClr val="666677"/>
                </a:solidFill>
                <a:latin typeface="Calibri"/>
                <a:ea typeface="Calibri"/>
                <a:cs typeface="Calibri"/>
                <a:sym typeface="Calibri"/>
              </a:rPr>
              <a:t>now any id -&gt; name is ONE step (O(1)).</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9" name="Shape 209"/>
        <p:cNvGrpSpPr/>
        <p:nvPr/>
      </p:nvGrpSpPr>
      <p:grpSpPr>
        <a:xfrm>
          <a:off x="0" y="0"/>
          <a:ext cx="0" cy="0"/>
          <a:chOff x="0" y="0"/>
          <a:chExt cx="0" cy="0"/>
        </a:xfrm>
      </p:grpSpPr>
      <p:sp>
        <p:nvSpPr>
          <p:cNvPr id="210" name="Google Shape;210;g3e839494688_0_1007"/>
          <p:cNvSpPr txBox="1"/>
          <p:nvPr/>
        </p:nvSpPr>
        <p:spPr>
          <a:xfrm>
            <a:off x="731520" y="274320"/>
            <a:ext cx="10728600" cy="5850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3200">
                <a:solidFill>
                  <a:srgbClr val="1A1A2E"/>
                </a:solidFill>
                <a:latin typeface="Calibri"/>
                <a:ea typeface="Calibri"/>
                <a:cs typeface="Calibri"/>
                <a:sym typeface="Calibri"/>
              </a:rPr>
              <a:t>Hash join, step 2: probe</a:t>
            </a:r>
            <a:endParaRPr/>
          </a:p>
        </p:txBody>
      </p:sp>
      <p:sp>
        <p:nvSpPr>
          <p:cNvPr id="211" name="Google Shape;211;g3e839494688_0_1007"/>
          <p:cNvSpPr txBox="1"/>
          <p:nvPr/>
        </p:nvSpPr>
        <p:spPr>
          <a:xfrm>
            <a:off x="731520" y="1417320"/>
            <a:ext cx="10698600" cy="7080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lang="en-US" sz="2000">
                <a:solidFill>
                  <a:srgbClr val="5B21B6"/>
                </a:solidFill>
                <a:latin typeface="Calibri"/>
                <a:ea typeface="Calibri"/>
                <a:cs typeface="Calibri"/>
                <a:sym typeface="Calibri"/>
              </a:rPr>
              <a:t>STEP 2 - PROBE: walk the BIG table once; each row looks up its name in the hash table in a single step.</a:t>
            </a:r>
            <a:endParaRPr/>
          </a:p>
        </p:txBody>
      </p:sp>
      <p:sp>
        <p:nvSpPr>
          <p:cNvPr id="212" name="Google Shape;212;g3e839494688_0_1007"/>
          <p:cNvSpPr/>
          <p:nvPr/>
        </p:nvSpPr>
        <p:spPr>
          <a:xfrm>
            <a:off x="548640" y="2468880"/>
            <a:ext cx="3383400" cy="2286000"/>
          </a:xfrm>
          <a:prstGeom prst="roundRect">
            <a:avLst>
              <a:gd fmla="val 16667" name="adj"/>
            </a:avLst>
          </a:prstGeom>
          <a:solidFill>
            <a:srgbClr val="EEEEF0"/>
          </a:solidFill>
          <a:ln cap="flat" cmpd="sng" w="12700">
            <a:solidFill>
              <a:srgbClr val="666677"/>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rPr b="1" lang="en-US" sz="1600">
                <a:solidFill>
                  <a:srgbClr val="1A1A2E"/>
                </a:solidFill>
                <a:latin typeface="Calibri"/>
                <a:ea typeface="Calibri"/>
                <a:cs typeface="Calibri"/>
                <a:sym typeface="Calibri"/>
              </a:rPr>
              <a:t>MESSAGES - 10,000,000 rows</a:t>
            </a:r>
            <a:endParaRPr/>
          </a:p>
          <a:p>
            <a:pPr indent="0" lvl="0" marL="0" marR="0" rtl="0" algn="l">
              <a:spcBef>
                <a:spcPts val="600"/>
              </a:spcBef>
              <a:spcAft>
                <a:spcPts val="0"/>
              </a:spcAft>
              <a:buNone/>
            </a:pPr>
            <a:r>
              <a:rPr lang="en-US" sz="1500">
                <a:solidFill>
                  <a:srgbClr val="333344"/>
                </a:solidFill>
                <a:latin typeface="Courier New"/>
                <a:ea typeface="Courier New"/>
                <a:cs typeface="Courier New"/>
                <a:sym typeface="Courier New"/>
              </a:rPr>
              <a:t>hi     user_id=2</a:t>
            </a:r>
            <a:endParaRPr/>
          </a:p>
          <a:p>
            <a:pPr indent="0" lvl="0" marL="0" marR="0" rtl="0" algn="l">
              <a:spcBef>
                <a:spcPts val="0"/>
              </a:spcBef>
              <a:spcAft>
                <a:spcPts val="0"/>
              </a:spcAft>
              <a:buNone/>
            </a:pPr>
            <a:r>
              <a:rPr lang="en-US" sz="1500">
                <a:solidFill>
                  <a:srgbClr val="333344"/>
                </a:solidFill>
                <a:latin typeface="Courier New"/>
                <a:ea typeface="Courier New"/>
                <a:cs typeface="Courier New"/>
                <a:sym typeface="Courier New"/>
              </a:rPr>
              <a:t>yo     user_id=1</a:t>
            </a:r>
            <a:endParaRPr/>
          </a:p>
          <a:p>
            <a:pPr indent="0" lvl="0" marL="0" marR="0" rtl="0" algn="l">
              <a:spcBef>
                <a:spcPts val="0"/>
              </a:spcBef>
              <a:spcAft>
                <a:spcPts val="0"/>
              </a:spcAft>
              <a:buNone/>
            </a:pPr>
            <a:r>
              <a:rPr lang="en-US" sz="1500">
                <a:solidFill>
                  <a:srgbClr val="333344"/>
                </a:solidFill>
                <a:latin typeface="Courier New"/>
                <a:ea typeface="Courier New"/>
                <a:cs typeface="Courier New"/>
                <a:sym typeface="Courier New"/>
              </a:rPr>
              <a:t>sup    user_id=3</a:t>
            </a:r>
            <a:endParaRPr/>
          </a:p>
          <a:p>
            <a:pPr indent="0" lvl="0" marL="0" marR="0" rtl="0" algn="l">
              <a:spcBef>
                <a:spcPts val="0"/>
              </a:spcBef>
              <a:spcAft>
                <a:spcPts val="0"/>
              </a:spcAft>
              <a:buNone/>
            </a:pPr>
            <a:r>
              <a:rPr lang="en-US" sz="1500">
                <a:solidFill>
                  <a:srgbClr val="333344"/>
                </a:solidFill>
                <a:latin typeface="Courier New"/>
                <a:ea typeface="Courier New"/>
                <a:cs typeface="Courier New"/>
                <a:sym typeface="Courier New"/>
              </a:rPr>
              <a:t>...</a:t>
            </a:r>
            <a:endParaRPr/>
          </a:p>
        </p:txBody>
      </p:sp>
      <p:sp>
        <p:nvSpPr>
          <p:cNvPr id="213" name="Google Shape;213;g3e839494688_0_1007"/>
          <p:cNvSpPr/>
          <p:nvPr/>
        </p:nvSpPr>
        <p:spPr>
          <a:xfrm>
            <a:off x="4114800" y="3592830"/>
            <a:ext cx="1051500" cy="38100"/>
          </a:xfrm>
          <a:prstGeom prst="rect">
            <a:avLst/>
          </a:prstGeom>
          <a:solidFill>
            <a:srgbClr val="5B21B6"/>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14" name="Google Shape;214;g3e839494688_0_1007"/>
          <p:cNvSpPr/>
          <p:nvPr/>
        </p:nvSpPr>
        <p:spPr>
          <a:xfrm>
            <a:off x="5120640" y="3474720"/>
            <a:ext cx="320100" cy="274200"/>
          </a:xfrm>
          <a:prstGeom prst="chevron">
            <a:avLst>
              <a:gd fmla="val 50000" name="adj"/>
            </a:avLst>
          </a:prstGeom>
          <a:solidFill>
            <a:srgbClr val="5B21B6"/>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15" name="Google Shape;215;g3e839494688_0_1007"/>
          <p:cNvSpPr txBox="1"/>
          <p:nvPr/>
        </p:nvSpPr>
        <p:spPr>
          <a:xfrm>
            <a:off x="3977639" y="3017520"/>
            <a:ext cx="1645800" cy="3078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lang="en-US" sz="1400">
                <a:solidFill>
                  <a:srgbClr val="666677"/>
                </a:solidFill>
                <a:latin typeface="Calibri"/>
                <a:ea typeface="Calibri"/>
                <a:cs typeface="Calibri"/>
                <a:sym typeface="Calibri"/>
              </a:rPr>
              <a:t>hash user_id</a:t>
            </a:r>
            <a:endParaRPr/>
          </a:p>
        </p:txBody>
      </p:sp>
      <p:sp>
        <p:nvSpPr>
          <p:cNvPr id="216" name="Google Shape;216;g3e839494688_0_1007"/>
          <p:cNvSpPr/>
          <p:nvPr/>
        </p:nvSpPr>
        <p:spPr>
          <a:xfrm>
            <a:off x="5577840" y="2468880"/>
            <a:ext cx="2743200" cy="2286000"/>
          </a:xfrm>
          <a:prstGeom prst="roundRect">
            <a:avLst>
              <a:gd fmla="val 16667" name="adj"/>
            </a:avLst>
          </a:prstGeom>
          <a:solidFill>
            <a:srgbClr val="EDE9FE"/>
          </a:solidFill>
          <a:ln cap="flat" cmpd="sng" w="12700">
            <a:solidFill>
              <a:srgbClr val="666677"/>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rPr b="1" lang="en-US" sz="1600">
                <a:solidFill>
                  <a:srgbClr val="1A1A2E"/>
                </a:solidFill>
                <a:latin typeface="Calibri"/>
                <a:ea typeface="Calibri"/>
                <a:cs typeface="Calibri"/>
                <a:sym typeface="Calibri"/>
              </a:rPr>
              <a:t>HASH TABLE</a:t>
            </a:r>
            <a:endParaRPr/>
          </a:p>
          <a:p>
            <a:pPr indent="0" lvl="0" marL="0" marR="0" rtl="0" algn="l">
              <a:spcBef>
                <a:spcPts val="600"/>
              </a:spcBef>
              <a:spcAft>
                <a:spcPts val="0"/>
              </a:spcAft>
              <a:buNone/>
            </a:pPr>
            <a:r>
              <a:rPr lang="en-US" sz="1500">
                <a:solidFill>
                  <a:srgbClr val="333344"/>
                </a:solidFill>
                <a:latin typeface="Courier New"/>
                <a:ea typeface="Courier New"/>
                <a:cs typeface="Courier New"/>
                <a:sym typeface="Courier New"/>
              </a:rPr>
              <a:t>1 -&gt; alice</a:t>
            </a:r>
            <a:endParaRPr/>
          </a:p>
          <a:p>
            <a:pPr indent="0" lvl="0" marL="0" marR="0" rtl="0" algn="l">
              <a:spcBef>
                <a:spcPts val="0"/>
              </a:spcBef>
              <a:spcAft>
                <a:spcPts val="0"/>
              </a:spcAft>
              <a:buNone/>
            </a:pPr>
            <a:r>
              <a:rPr lang="en-US" sz="1500">
                <a:solidFill>
                  <a:srgbClr val="333344"/>
                </a:solidFill>
                <a:latin typeface="Courier New"/>
                <a:ea typeface="Courier New"/>
                <a:cs typeface="Courier New"/>
                <a:sym typeface="Courier New"/>
              </a:rPr>
              <a:t>2 -&gt; bob</a:t>
            </a:r>
            <a:endParaRPr/>
          </a:p>
          <a:p>
            <a:pPr indent="0" lvl="0" marL="0" marR="0" rtl="0" algn="l">
              <a:spcBef>
                <a:spcPts val="0"/>
              </a:spcBef>
              <a:spcAft>
                <a:spcPts val="0"/>
              </a:spcAft>
              <a:buNone/>
            </a:pPr>
            <a:r>
              <a:rPr lang="en-US" sz="1500">
                <a:solidFill>
                  <a:srgbClr val="333344"/>
                </a:solidFill>
                <a:latin typeface="Courier New"/>
                <a:ea typeface="Courier New"/>
                <a:cs typeface="Courier New"/>
                <a:sym typeface="Courier New"/>
              </a:rPr>
              <a:t>3 -&gt; carol</a:t>
            </a:r>
            <a:endParaRPr/>
          </a:p>
        </p:txBody>
      </p:sp>
      <p:sp>
        <p:nvSpPr>
          <p:cNvPr id="217" name="Google Shape;217;g3e839494688_0_1007"/>
          <p:cNvSpPr/>
          <p:nvPr/>
        </p:nvSpPr>
        <p:spPr>
          <a:xfrm>
            <a:off x="8412480" y="3592830"/>
            <a:ext cx="685800" cy="38100"/>
          </a:xfrm>
          <a:prstGeom prst="rect">
            <a:avLst/>
          </a:prstGeom>
          <a:solidFill>
            <a:srgbClr val="5B21B6"/>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18" name="Google Shape;218;g3e839494688_0_1007"/>
          <p:cNvSpPr/>
          <p:nvPr/>
        </p:nvSpPr>
        <p:spPr>
          <a:xfrm>
            <a:off x="9052560" y="3474720"/>
            <a:ext cx="320100" cy="274200"/>
          </a:xfrm>
          <a:prstGeom prst="chevron">
            <a:avLst>
              <a:gd fmla="val 50000" name="adj"/>
            </a:avLst>
          </a:prstGeom>
          <a:solidFill>
            <a:srgbClr val="5B21B6"/>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19" name="Google Shape;219;g3e839494688_0_1007"/>
          <p:cNvSpPr txBox="1"/>
          <p:nvPr/>
        </p:nvSpPr>
        <p:spPr>
          <a:xfrm>
            <a:off x="8275320" y="3017520"/>
            <a:ext cx="1188600" cy="3078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lang="en-US" sz="1400">
                <a:solidFill>
                  <a:srgbClr val="666677"/>
                </a:solidFill>
                <a:latin typeface="Calibri"/>
                <a:ea typeface="Calibri"/>
                <a:cs typeface="Calibri"/>
                <a:sym typeface="Calibri"/>
              </a:rPr>
              <a:t>O(1)</a:t>
            </a:r>
            <a:endParaRPr/>
          </a:p>
        </p:txBody>
      </p:sp>
      <p:sp>
        <p:nvSpPr>
          <p:cNvPr id="220" name="Google Shape;220;g3e839494688_0_1007"/>
          <p:cNvSpPr/>
          <p:nvPr/>
        </p:nvSpPr>
        <p:spPr>
          <a:xfrm>
            <a:off x="9418320" y="2468880"/>
            <a:ext cx="2377500" cy="2286000"/>
          </a:xfrm>
          <a:prstGeom prst="roundRect">
            <a:avLst>
              <a:gd fmla="val 16667" name="adj"/>
            </a:avLst>
          </a:prstGeom>
          <a:solidFill>
            <a:srgbClr val="EEEEF0"/>
          </a:solidFill>
          <a:ln cap="flat" cmpd="sng" w="12700">
            <a:solidFill>
              <a:srgbClr val="666677"/>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rPr b="1" lang="en-US" sz="1600">
                <a:solidFill>
                  <a:srgbClr val="1A1A2E"/>
                </a:solidFill>
                <a:latin typeface="Calibri"/>
                <a:ea typeface="Calibri"/>
                <a:cs typeface="Calibri"/>
                <a:sym typeface="Calibri"/>
              </a:rPr>
              <a:t>RESULT</a:t>
            </a:r>
            <a:endParaRPr/>
          </a:p>
          <a:p>
            <a:pPr indent="0" lvl="0" marL="0" marR="0" rtl="0" algn="l">
              <a:spcBef>
                <a:spcPts val="600"/>
              </a:spcBef>
              <a:spcAft>
                <a:spcPts val="0"/>
              </a:spcAft>
              <a:buNone/>
            </a:pPr>
            <a:r>
              <a:rPr lang="en-US" sz="1500">
                <a:solidFill>
                  <a:srgbClr val="333344"/>
                </a:solidFill>
                <a:latin typeface="Courier New"/>
                <a:ea typeface="Courier New"/>
                <a:cs typeface="Courier New"/>
                <a:sym typeface="Courier New"/>
              </a:rPr>
              <a:t>hi    bob</a:t>
            </a:r>
            <a:endParaRPr/>
          </a:p>
          <a:p>
            <a:pPr indent="0" lvl="0" marL="0" marR="0" rtl="0" algn="l">
              <a:spcBef>
                <a:spcPts val="0"/>
              </a:spcBef>
              <a:spcAft>
                <a:spcPts val="0"/>
              </a:spcAft>
              <a:buNone/>
            </a:pPr>
            <a:r>
              <a:rPr lang="en-US" sz="1500">
                <a:solidFill>
                  <a:srgbClr val="333344"/>
                </a:solidFill>
                <a:latin typeface="Courier New"/>
                <a:ea typeface="Courier New"/>
                <a:cs typeface="Courier New"/>
                <a:sym typeface="Courier New"/>
              </a:rPr>
              <a:t>yo    alice</a:t>
            </a:r>
            <a:endParaRPr/>
          </a:p>
          <a:p>
            <a:pPr indent="0" lvl="0" marL="0" marR="0" rtl="0" algn="l">
              <a:spcBef>
                <a:spcPts val="0"/>
              </a:spcBef>
              <a:spcAft>
                <a:spcPts val="0"/>
              </a:spcAft>
              <a:buNone/>
            </a:pPr>
            <a:r>
              <a:rPr lang="en-US" sz="1500">
                <a:solidFill>
                  <a:srgbClr val="333344"/>
                </a:solidFill>
                <a:latin typeface="Courier New"/>
                <a:ea typeface="Courier New"/>
                <a:cs typeface="Courier New"/>
                <a:sym typeface="Courier New"/>
              </a:rPr>
              <a:t>sup   carol</a:t>
            </a:r>
            <a:endParaRPr/>
          </a:p>
        </p:txBody>
      </p:sp>
      <p:sp>
        <p:nvSpPr>
          <p:cNvPr id="221" name="Google Shape;221;g3e839494688_0_1007"/>
          <p:cNvSpPr txBox="1"/>
          <p:nvPr/>
        </p:nvSpPr>
        <p:spPr>
          <a:xfrm>
            <a:off x="914400" y="5212080"/>
            <a:ext cx="10332600" cy="4308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lang="en-US" sz="2200">
                <a:solidFill>
                  <a:srgbClr val="5B21B6"/>
                </a:solidFill>
                <a:latin typeface="Calibri"/>
                <a:ea typeface="Calibri"/>
                <a:cs typeface="Calibri"/>
                <a:sym typeface="Calibri"/>
              </a:rPr>
              <a:t>One pass to build, one pass to probe - about 11 MILLION steps, not 10 trillion.</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bg>
      <p:bgPr>
        <a:solidFill>
          <a:srgbClr val="FFFFFF"/>
        </a:solidFill>
      </p:bgPr>
    </p:bg>
    <p:spTree>
      <p:nvGrpSpPr>
        <p:cNvPr id="226" name="Shape 226"/>
        <p:cNvGrpSpPr/>
        <p:nvPr/>
      </p:nvGrpSpPr>
      <p:grpSpPr>
        <a:xfrm>
          <a:off x="0" y="0"/>
          <a:ext cx="0" cy="0"/>
          <a:chOff x="0" y="0"/>
          <a:chExt cx="0" cy="0"/>
        </a:xfrm>
      </p:grpSpPr>
      <p:sp>
        <p:nvSpPr>
          <p:cNvPr id="227" name="Google Shape;227;g3e839494688_0_914"/>
          <p:cNvSpPr txBox="1"/>
          <p:nvPr/>
        </p:nvSpPr>
        <p:spPr>
          <a:xfrm>
            <a:off x="731520" y="365760"/>
            <a:ext cx="10728600" cy="6465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3600">
                <a:solidFill>
                  <a:srgbClr val="1A1A2E"/>
                </a:solidFill>
                <a:latin typeface="Calibri"/>
                <a:ea typeface="Calibri"/>
                <a:cs typeface="Calibri"/>
                <a:sym typeface="Calibri"/>
              </a:rPr>
              <a:t>Database Internals</a:t>
            </a:r>
            <a:endParaRPr/>
          </a:p>
        </p:txBody>
      </p:sp>
      <p:sp>
        <p:nvSpPr>
          <p:cNvPr id="228" name="Google Shape;228;g3e839494688_0_914"/>
          <p:cNvSpPr txBox="1"/>
          <p:nvPr/>
        </p:nvSpPr>
        <p:spPr>
          <a:xfrm>
            <a:off x="914400" y="1463040"/>
            <a:ext cx="10362900" cy="52026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lang="en-US" sz="2400">
                <a:solidFill>
                  <a:srgbClr val="333344"/>
                </a:solidFill>
                <a:latin typeface="Calibri"/>
                <a:ea typeface="Calibri"/>
                <a:cs typeface="Calibri"/>
                <a:sym typeface="Calibri"/>
              </a:rPr>
              <a:t>It builds a hash table. One pass over the smaller users table turns it into</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a fast id-to-name lookup (a million entries), then it walks the ten million</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messages once and each one does a single O(1) hash lookup to find its</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author - so the whole join is about eleven MILLION steps instead of ten</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trillion. That's a hash join.</a:t>
            </a:r>
            <a:endParaRPr/>
          </a:p>
          <a:p>
            <a:pPr indent="0" lvl="0" marL="0" marR="0" rtl="0" algn="l">
              <a:spcBef>
                <a:spcPts val="600"/>
              </a:spcBef>
              <a:spcAft>
                <a:spcPts val="0"/>
              </a:spcAft>
              <a:buNone/>
            </a:pPr>
            <a:r>
              <a:t/>
            </a:r>
            <a:endParaRPr b="0" i="0" sz="2000" u="none" cap="none" strike="noStrike">
              <a:solidFill>
                <a:srgbClr val="666677"/>
              </a:solidFill>
              <a:latin typeface="Calibri"/>
              <a:ea typeface="Calibri"/>
              <a:cs typeface="Calibri"/>
              <a:sym typeface="Calibri"/>
            </a:endParaRPr>
          </a:p>
          <a:p>
            <a:pPr indent="0" lvl="0" marL="0" marR="0" rtl="0" algn="l">
              <a:spcBef>
                <a:spcPts val="600"/>
              </a:spcBef>
              <a:spcAft>
                <a:spcPts val="0"/>
              </a:spcAft>
              <a:buNone/>
            </a:pPr>
            <a:r>
              <a:rPr b="0" lang="en-US" sz="2400">
                <a:solidFill>
                  <a:srgbClr val="333344"/>
                </a:solidFill>
                <a:latin typeface="Calibri"/>
                <a:ea typeface="Calibri"/>
                <a:cs typeface="Calibri"/>
                <a:sym typeface="Calibri"/>
              </a:rPr>
              <a:t>And the part that surprises people: you never asked for that. Your SQL said</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WHAT you wanted, not HOW, and a piece of the database called the query</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planner quietly picked the hash join over a couple of other strategies</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based on the table sizes and the indexes that exist - and it can pick wrong.</a:t>
            </a:r>
            <a:endParaRPr/>
          </a:p>
          <a:p>
            <a:pPr indent="0" lvl="0" marL="0" marR="0" rtl="0" algn="l">
              <a:spcBef>
                <a:spcPts val="600"/>
              </a:spcBef>
              <a:spcAft>
                <a:spcPts val="0"/>
              </a:spcAft>
              <a:buNone/>
            </a:pPr>
            <a:r>
              <a:t/>
            </a:r>
            <a:endParaRPr b="0" i="0" sz="2000" u="none" cap="none" strike="noStrike">
              <a:solidFill>
                <a:srgbClr val="666677"/>
              </a:solidFill>
              <a:latin typeface="Calibri"/>
              <a:ea typeface="Calibri"/>
              <a:cs typeface="Calibri"/>
              <a:sym typeface="Calibri"/>
            </a:endParaRPr>
          </a:p>
          <a:p>
            <a:pPr indent="0" lvl="0" marL="0" marR="0" rtl="0" algn="l">
              <a:spcBef>
                <a:spcPts val="600"/>
              </a:spcBef>
              <a:spcAft>
                <a:spcPts val="0"/>
              </a:spcAft>
              <a:buNone/>
            </a:pPr>
            <a:r>
              <a:rPr b="0" lang="en-US" sz="2400">
                <a:solidFill>
                  <a:srgbClr val="333344"/>
                </a:solidFill>
                <a:latin typeface="Calibri"/>
                <a:ea typeface="Calibri"/>
                <a:cs typeface="Calibri"/>
                <a:sym typeface="Calibri"/>
              </a:rPr>
              <a:t>You wrote JOINs in 2.2 and the engine has been silently choosing how to run</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them ever since - that whole layer is Database Internals.</a:t>
            </a:r>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3" name="Shape 233"/>
        <p:cNvGrpSpPr/>
        <p:nvPr/>
      </p:nvGrpSpPr>
      <p:grpSpPr>
        <a:xfrm>
          <a:off x="0" y="0"/>
          <a:ext cx="0" cy="0"/>
          <a:chOff x="0" y="0"/>
          <a:chExt cx="0" cy="0"/>
        </a:xfrm>
      </p:grpSpPr>
      <p:sp>
        <p:nvSpPr>
          <p:cNvPr id="234" name="Google Shape;234;g3e839494688_0_898"/>
          <p:cNvSpPr txBox="1"/>
          <p:nvPr/>
        </p:nvSpPr>
        <p:spPr>
          <a:xfrm>
            <a:off x="731520" y="274320"/>
            <a:ext cx="10728600" cy="8004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1600">
                <a:solidFill>
                  <a:srgbClr val="FFFFFF"/>
                </a:solidFill>
                <a:latin typeface="Calibri"/>
                <a:ea typeface="Calibri"/>
                <a:cs typeface="Calibri"/>
                <a:sym typeface="Calibri"/>
              </a:rPr>
              <a:t>TRY IT  </a:t>
            </a:r>
            <a:endParaRPr/>
          </a:p>
          <a:p>
            <a:pPr indent="0" lvl="0" marL="0" marR="0" rtl="0" algn="l">
              <a:spcBef>
                <a:spcPts val="0"/>
              </a:spcBef>
              <a:spcAft>
                <a:spcPts val="0"/>
              </a:spcAft>
              <a:buNone/>
            </a:pPr>
            <a:r>
              <a:rPr b="1" lang="en-US" sz="3000">
                <a:solidFill>
                  <a:srgbClr val="1A1A2E"/>
                </a:solidFill>
                <a:latin typeface="Calibri"/>
                <a:ea typeface="Calibri"/>
                <a:cs typeface="Calibri"/>
                <a:sym typeface="Calibri"/>
              </a:rPr>
              <a:t>What word comes out?</a:t>
            </a:r>
            <a:endParaRPr/>
          </a:p>
        </p:txBody>
      </p:sp>
      <p:sp>
        <p:nvSpPr>
          <p:cNvPr id="235" name="Google Shape;235;g3e839494688_0_898"/>
          <p:cNvSpPr/>
          <p:nvPr/>
        </p:nvSpPr>
        <p:spPr>
          <a:xfrm>
            <a:off x="640080" y="228600"/>
            <a:ext cx="1097400" cy="365700"/>
          </a:xfrm>
          <a:prstGeom prst="roundRect">
            <a:avLst>
              <a:gd fmla="val 16667" name="adj"/>
            </a:avLst>
          </a:prstGeom>
          <a:solidFill>
            <a:srgbClr val="5B21B6"/>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36" name="Google Shape;236;g3e839494688_0_898"/>
          <p:cNvSpPr/>
          <p:nvPr/>
        </p:nvSpPr>
        <p:spPr>
          <a:xfrm>
            <a:off x="731520" y="1371600"/>
            <a:ext cx="10728600" cy="5029200"/>
          </a:xfrm>
          <a:prstGeom prst="roundRect">
            <a:avLst>
              <a:gd fmla="val 16667" name="adj"/>
            </a:avLst>
          </a:prstGeom>
          <a:solidFill>
            <a:srgbClr val="F0F0F4"/>
          </a:solidFill>
          <a:ln cap="flat" cmpd="sng" w="12700">
            <a:solidFill>
              <a:srgbClr val="EEEEF0"/>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37" name="Google Shape;237;g3e839494688_0_898"/>
          <p:cNvSpPr txBox="1"/>
          <p:nvPr/>
        </p:nvSpPr>
        <p:spPr>
          <a:xfrm>
            <a:off x="1005840" y="1554480"/>
            <a:ext cx="10179900" cy="27552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1600">
                <a:solidFill>
                  <a:srgbClr val="333344"/>
                </a:solidFill>
                <a:latin typeface="Courier New"/>
                <a:ea typeface="Courier New"/>
                <a:cs typeface="Courier New"/>
                <a:sym typeface="Courier New"/>
              </a:rPr>
              <a:t># In ML, every word gets turned into a long list of</a:t>
            </a:r>
            <a:endParaRPr/>
          </a:p>
          <a:p>
            <a:pPr indent="0" lvl="0" marL="0" marR="0" rtl="0" algn="l">
              <a:spcBef>
                <a:spcPts val="200"/>
              </a:spcBef>
              <a:spcAft>
                <a:spcPts val="0"/>
              </a:spcAft>
              <a:buNone/>
            </a:pPr>
            <a:r>
              <a:rPr b="1" lang="en-US" sz="1600">
                <a:solidFill>
                  <a:srgbClr val="333344"/>
                </a:solidFill>
                <a:latin typeface="Courier New"/>
                <a:ea typeface="Courier New"/>
                <a:cs typeface="Courier New"/>
                <a:sym typeface="Courier New"/>
              </a:rPr>
              <a:t># numbers - a "vector", a point in space. The model</a:t>
            </a:r>
            <a:endParaRPr/>
          </a:p>
          <a:p>
            <a:pPr indent="0" lvl="0" marL="0" marR="0" rtl="0" algn="l">
              <a:spcBef>
                <a:spcPts val="200"/>
              </a:spcBef>
              <a:spcAft>
                <a:spcPts val="0"/>
              </a:spcAft>
              <a:buNone/>
            </a:pPr>
            <a:r>
              <a:rPr b="1" lang="en-US" sz="1600">
                <a:solidFill>
                  <a:srgbClr val="333344"/>
                </a:solidFill>
                <a:latin typeface="Courier New"/>
                <a:ea typeface="Courier New"/>
                <a:cs typeface="Courier New"/>
                <a:sym typeface="Courier New"/>
              </a:rPr>
              <a:t># learns these by reading huge amounts of text</a:t>
            </a:r>
            <a:endParaRPr b="1" sz="1600">
              <a:solidFill>
                <a:srgbClr val="333344"/>
              </a:solidFill>
              <a:latin typeface="Courier New"/>
              <a:ea typeface="Courier New"/>
              <a:cs typeface="Courier New"/>
              <a:sym typeface="Courier New"/>
            </a:endParaRPr>
          </a:p>
          <a:p>
            <a:pPr indent="0" lvl="0" marL="0" marR="0" rtl="0" algn="l">
              <a:spcBef>
                <a:spcPts val="200"/>
              </a:spcBef>
              <a:spcAft>
                <a:spcPts val="0"/>
              </a:spcAft>
              <a:buNone/>
            </a:pPr>
            <a:r>
              <a:t/>
            </a:r>
            <a:endParaRPr b="1" sz="1600">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lang="en-US" sz="1600">
                <a:solidFill>
                  <a:srgbClr val="333344"/>
                </a:solidFill>
                <a:latin typeface="Courier New"/>
                <a:ea typeface="Courier New"/>
                <a:cs typeface="Courier New"/>
                <a:sym typeface="Courier New"/>
              </a:rPr>
              <a:t>king  = [0.50, 0.71, ...]    # a few thousand numbers</a:t>
            </a:r>
            <a:endParaRPr/>
          </a:p>
          <a:p>
            <a:pPr indent="0" lvl="0" marL="0" marR="0" rtl="0" algn="l">
              <a:spcBef>
                <a:spcPts val="200"/>
              </a:spcBef>
              <a:spcAft>
                <a:spcPts val="0"/>
              </a:spcAft>
              <a:buNone/>
            </a:pPr>
            <a:r>
              <a:rPr b="1" lang="en-US" sz="1600">
                <a:solidFill>
                  <a:srgbClr val="333344"/>
                </a:solidFill>
                <a:latin typeface="Courier New"/>
                <a:ea typeface="Courier New"/>
                <a:cs typeface="Courier New"/>
                <a:sym typeface="Courier New"/>
              </a:rPr>
              <a:t>man   = [0.66, 0.20, ...]</a:t>
            </a:r>
            <a:endParaRPr/>
          </a:p>
          <a:p>
            <a:pPr indent="0" lvl="0" marL="0" marR="0" rtl="0" algn="l">
              <a:spcBef>
                <a:spcPts val="200"/>
              </a:spcBef>
              <a:spcAft>
                <a:spcPts val="0"/>
              </a:spcAft>
              <a:buNone/>
            </a:pPr>
            <a:r>
              <a:rPr b="1" lang="en-US" sz="1600">
                <a:solidFill>
                  <a:srgbClr val="333344"/>
                </a:solidFill>
                <a:latin typeface="Courier New"/>
                <a:ea typeface="Courier New"/>
                <a:cs typeface="Courier New"/>
                <a:sym typeface="Courier New"/>
              </a:rPr>
              <a:t>woman = [0.62, 0.74, ...]</a:t>
            </a:r>
            <a:endParaRPr/>
          </a:p>
          <a:p>
            <a:pPr indent="0" lvl="0" marL="0" marR="0" rtl="0" algn="l">
              <a:spcBef>
                <a:spcPts val="200"/>
              </a:spcBef>
              <a:spcAft>
                <a:spcPts val="0"/>
              </a:spcAft>
              <a:buNone/>
            </a:pPr>
            <a:r>
              <a:t/>
            </a:r>
            <a:endParaRPr b="1" sz="1600">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lang="en-US" sz="1600">
                <a:solidFill>
                  <a:srgbClr val="333344"/>
                </a:solidFill>
                <a:latin typeface="Courier New"/>
                <a:ea typeface="Courier New"/>
                <a:cs typeface="Courier New"/>
                <a:sym typeface="Courier New"/>
              </a:rPr>
              <a:t># Now just do arithmetic on the points:</a:t>
            </a:r>
            <a:endParaRPr/>
          </a:p>
          <a:p>
            <a:pPr indent="0" lvl="0" marL="0" marR="0" rtl="0" algn="l">
              <a:spcBef>
                <a:spcPts val="200"/>
              </a:spcBef>
              <a:spcAft>
                <a:spcPts val="0"/>
              </a:spcAft>
              <a:buNone/>
            </a:pPr>
            <a:r>
              <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2" name="Shape 242"/>
        <p:cNvGrpSpPr/>
        <p:nvPr/>
      </p:nvGrpSpPr>
      <p:grpSpPr>
        <a:xfrm>
          <a:off x="0" y="0"/>
          <a:ext cx="0" cy="0"/>
          <a:chOff x="0" y="0"/>
          <a:chExt cx="0" cy="0"/>
        </a:xfrm>
      </p:grpSpPr>
      <p:sp>
        <p:nvSpPr>
          <p:cNvPr id="243" name="Google Shape;243;p14"/>
          <p:cNvSpPr txBox="1"/>
          <p:nvPr/>
        </p:nvSpPr>
        <p:spPr>
          <a:xfrm>
            <a:off x="731520" y="274320"/>
            <a:ext cx="10728655" cy="9144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1600">
                <a:solidFill>
                  <a:srgbClr val="FFFFFF"/>
                </a:solidFill>
                <a:latin typeface="Calibri"/>
                <a:ea typeface="Calibri"/>
                <a:cs typeface="Calibri"/>
                <a:sym typeface="Calibri"/>
              </a:rPr>
              <a:t>TRY IT  </a:t>
            </a:r>
            <a:endParaRPr/>
          </a:p>
          <a:p>
            <a:pPr indent="0" lvl="0" marL="0" marR="0" rtl="0" algn="l">
              <a:spcBef>
                <a:spcPts val="0"/>
              </a:spcBef>
              <a:spcAft>
                <a:spcPts val="0"/>
              </a:spcAft>
              <a:buNone/>
            </a:pPr>
            <a:r>
              <a:rPr b="1" lang="en-US" sz="3000">
                <a:solidFill>
                  <a:srgbClr val="1A1A2E"/>
                </a:solidFill>
                <a:latin typeface="Calibri"/>
                <a:ea typeface="Calibri"/>
                <a:cs typeface="Calibri"/>
                <a:sym typeface="Calibri"/>
              </a:rPr>
              <a:t>What word comes out?</a:t>
            </a:r>
            <a:endParaRPr/>
          </a:p>
        </p:txBody>
      </p:sp>
      <p:sp>
        <p:nvSpPr>
          <p:cNvPr id="244" name="Google Shape;244;p14"/>
          <p:cNvSpPr/>
          <p:nvPr/>
        </p:nvSpPr>
        <p:spPr>
          <a:xfrm>
            <a:off x="640080" y="228600"/>
            <a:ext cx="1097280" cy="365760"/>
          </a:xfrm>
          <a:prstGeom prst="roundRect">
            <a:avLst>
              <a:gd fmla="val 16667" name="adj"/>
            </a:avLst>
          </a:prstGeom>
          <a:solidFill>
            <a:srgbClr val="5B21B6"/>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45" name="Google Shape;245;p14"/>
          <p:cNvSpPr/>
          <p:nvPr/>
        </p:nvSpPr>
        <p:spPr>
          <a:xfrm>
            <a:off x="731520" y="1371600"/>
            <a:ext cx="10728655" cy="5029200"/>
          </a:xfrm>
          <a:prstGeom prst="roundRect">
            <a:avLst>
              <a:gd fmla="val 16667" name="adj"/>
            </a:avLst>
          </a:prstGeom>
          <a:solidFill>
            <a:srgbClr val="F0F0F4"/>
          </a:solidFill>
          <a:ln cap="flat" cmpd="sng" w="12700">
            <a:solidFill>
              <a:srgbClr val="EEEEF0"/>
            </a:solidFill>
            <a:prstDash val="solid"/>
            <a:round/>
            <a:headEnd len="sm" w="sm" type="none"/>
            <a:tailEnd len="sm" w="sm" type="none"/>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46" name="Google Shape;246;p14"/>
          <p:cNvSpPr txBox="1"/>
          <p:nvPr/>
        </p:nvSpPr>
        <p:spPr>
          <a:xfrm>
            <a:off x="1005840" y="1554480"/>
            <a:ext cx="10179900" cy="43869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1600">
                <a:solidFill>
                  <a:srgbClr val="333344"/>
                </a:solidFill>
                <a:latin typeface="Courier New"/>
                <a:ea typeface="Courier New"/>
                <a:cs typeface="Courier New"/>
                <a:sym typeface="Courier New"/>
              </a:rPr>
              <a:t># In ML, every word gets turned into a long list of</a:t>
            </a:r>
            <a:endParaRPr/>
          </a:p>
          <a:p>
            <a:pPr indent="0" lvl="0" marL="0" marR="0" rtl="0" algn="l">
              <a:spcBef>
                <a:spcPts val="200"/>
              </a:spcBef>
              <a:spcAft>
                <a:spcPts val="0"/>
              </a:spcAft>
              <a:buNone/>
            </a:pPr>
            <a:r>
              <a:rPr b="1" lang="en-US" sz="1600">
                <a:solidFill>
                  <a:srgbClr val="333344"/>
                </a:solidFill>
                <a:latin typeface="Courier New"/>
                <a:ea typeface="Courier New"/>
                <a:cs typeface="Courier New"/>
                <a:sym typeface="Courier New"/>
              </a:rPr>
              <a:t># numbers - a "vector", a point in space. The model</a:t>
            </a:r>
            <a:endParaRPr/>
          </a:p>
          <a:p>
            <a:pPr indent="0" lvl="0" marL="0" marR="0" rtl="0" algn="l">
              <a:spcBef>
                <a:spcPts val="200"/>
              </a:spcBef>
              <a:spcAft>
                <a:spcPts val="0"/>
              </a:spcAft>
              <a:buNone/>
            </a:pPr>
            <a:r>
              <a:rPr b="1" lang="en-US" sz="1600">
                <a:solidFill>
                  <a:srgbClr val="333344"/>
                </a:solidFill>
                <a:latin typeface="Courier New"/>
                <a:ea typeface="Courier New"/>
                <a:cs typeface="Courier New"/>
                <a:sym typeface="Courier New"/>
              </a:rPr>
              <a:t># learns these by reading huge amounts of text</a:t>
            </a:r>
            <a:endParaRPr b="1" sz="1600">
              <a:solidFill>
                <a:srgbClr val="333344"/>
              </a:solidFill>
              <a:latin typeface="Courier New"/>
              <a:ea typeface="Courier New"/>
              <a:cs typeface="Courier New"/>
              <a:sym typeface="Courier New"/>
            </a:endParaRPr>
          </a:p>
          <a:p>
            <a:pPr indent="0" lvl="0" marL="0" marR="0" rtl="0" algn="l">
              <a:spcBef>
                <a:spcPts val="200"/>
              </a:spcBef>
              <a:spcAft>
                <a:spcPts val="0"/>
              </a:spcAft>
              <a:buNone/>
            </a:pPr>
            <a:r>
              <a:t/>
            </a:r>
            <a:endParaRPr b="1" sz="1600">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lang="en-US" sz="1600">
                <a:solidFill>
                  <a:srgbClr val="333344"/>
                </a:solidFill>
                <a:latin typeface="Courier New"/>
                <a:ea typeface="Courier New"/>
                <a:cs typeface="Courier New"/>
                <a:sym typeface="Courier New"/>
              </a:rPr>
              <a:t>king  = [0.50, 0.71, ...]    # a few thousand numbers</a:t>
            </a:r>
            <a:endParaRPr/>
          </a:p>
          <a:p>
            <a:pPr indent="0" lvl="0" marL="0" marR="0" rtl="0" algn="l">
              <a:spcBef>
                <a:spcPts val="200"/>
              </a:spcBef>
              <a:spcAft>
                <a:spcPts val="0"/>
              </a:spcAft>
              <a:buNone/>
            </a:pPr>
            <a:r>
              <a:rPr b="1" lang="en-US" sz="1600">
                <a:solidFill>
                  <a:srgbClr val="333344"/>
                </a:solidFill>
                <a:latin typeface="Courier New"/>
                <a:ea typeface="Courier New"/>
                <a:cs typeface="Courier New"/>
                <a:sym typeface="Courier New"/>
              </a:rPr>
              <a:t>man   = [0.66, 0.20, ...]</a:t>
            </a:r>
            <a:endParaRPr/>
          </a:p>
          <a:p>
            <a:pPr indent="0" lvl="0" marL="0" marR="0" rtl="0" algn="l">
              <a:spcBef>
                <a:spcPts val="200"/>
              </a:spcBef>
              <a:spcAft>
                <a:spcPts val="0"/>
              </a:spcAft>
              <a:buNone/>
            </a:pPr>
            <a:r>
              <a:rPr b="1" lang="en-US" sz="1600">
                <a:solidFill>
                  <a:srgbClr val="333344"/>
                </a:solidFill>
                <a:latin typeface="Courier New"/>
                <a:ea typeface="Courier New"/>
                <a:cs typeface="Courier New"/>
                <a:sym typeface="Courier New"/>
              </a:rPr>
              <a:t>woman = [0.62, 0.74, ...]</a:t>
            </a:r>
            <a:endParaRPr/>
          </a:p>
          <a:p>
            <a:pPr indent="0" lvl="0" marL="0" marR="0" rtl="0" algn="l">
              <a:spcBef>
                <a:spcPts val="200"/>
              </a:spcBef>
              <a:spcAft>
                <a:spcPts val="0"/>
              </a:spcAft>
              <a:buNone/>
            </a:pPr>
            <a:r>
              <a:t/>
            </a:r>
            <a:endParaRPr b="1" sz="1600">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lang="en-US" sz="1600">
                <a:solidFill>
                  <a:srgbClr val="333344"/>
                </a:solidFill>
                <a:latin typeface="Courier New"/>
                <a:ea typeface="Courier New"/>
                <a:cs typeface="Courier New"/>
                <a:sym typeface="Courier New"/>
              </a:rPr>
              <a:t># Now just do arithmetic on the points:</a:t>
            </a:r>
            <a:endParaRPr/>
          </a:p>
          <a:p>
            <a:pPr indent="0" lvl="0" marL="0" marR="0" rtl="0" algn="l">
              <a:spcBef>
                <a:spcPts val="200"/>
              </a:spcBef>
              <a:spcAft>
                <a:spcPts val="0"/>
              </a:spcAft>
              <a:buNone/>
            </a:pPr>
            <a:r>
              <a:t/>
            </a:r>
            <a:endParaRPr b="1" sz="1600">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lang="en-US" sz="1600">
                <a:solidFill>
                  <a:srgbClr val="333344"/>
                </a:solidFill>
                <a:latin typeface="Courier New"/>
                <a:ea typeface="Courier New"/>
                <a:cs typeface="Courier New"/>
                <a:sym typeface="Courier New"/>
              </a:rPr>
              <a:t>result = king - man + woman</a:t>
            </a:r>
            <a:endParaRPr/>
          </a:p>
          <a:p>
            <a:pPr indent="0" lvl="0" marL="0" marR="0" rtl="0" algn="l">
              <a:spcBef>
                <a:spcPts val="200"/>
              </a:spcBef>
              <a:spcAft>
                <a:spcPts val="0"/>
              </a:spcAft>
              <a:buNone/>
            </a:pPr>
            <a:r>
              <a:t/>
            </a:r>
            <a:endParaRPr b="1" sz="1600">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lang="en-US" sz="1600">
                <a:solidFill>
                  <a:srgbClr val="333344"/>
                </a:solidFill>
                <a:latin typeface="Courier New"/>
                <a:ea typeface="Courier New"/>
                <a:cs typeface="Courier New"/>
                <a:sym typeface="Courier New"/>
              </a:rPr>
              <a:t># `result` lands almost exactly on the vector for one</a:t>
            </a:r>
            <a:endParaRPr/>
          </a:p>
          <a:p>
            <a:pPr indent="0" lvl="0" marL="0" marR="0" rtl="0" algn="l">
              <a:spcBef>
                <a:spcPts val="200"/>
              </a:spcBef>
              <a:spcAft>
                <a:spcPts val="0"/>
              </a:spcAft>
              <a:buNone/>
            </a:pPr>
            <a:r>
              <a:rPr b="1" lang="en-US" sz="1600">
                <a:solidFill>
                  <a:srgbClr val="333344"/>
                </a:solidFill>
                <a:latin typeface="Courier New"/>
                <a:ea typeface="Courier New"/>
                <a:cs typeface="Courier New"/>
                <a:sym typeface="Courier New"/>
              </a:rPr>
              <a:t># specific English word. The model "only does math."</a:t>
            </a:r>
            <a:endParaRPr/>
          </a:p>
          <a:p>
            <a:pPr indent="0" lvl="0" marL="0" marR="0" rtl="0" algn="l">
              <a:spcBef>
                <a:spcPts val="200"/>
              </a:spcBef>
              <a:spcAft>
                <a:spcPts val="0"/>
              </a:spcAft>
              <a:buNone/>
            </a:pPr>
            <a:r>
              <a:rPr b="1" lang="en-US" sz="1600">
                <a:solidFill>
                  <a:srgbClr val="333344"/>
                </a:solidFill>
                <a:latin typeface="Courier New"/>
                <a:ea typeface="Courier New"/>
                <a:cs typeface="Courier New"/>
                <a:sym typeface="Courier New"/>
              </a:rPr>
              <a:t>#</a:t>
            </a:r>
            <a:endParaRPr/>
          </a:p>
          <a:p>
            <a:pPr indent="0" lvl="0" marL="0" marR="0" rtl="0" algn="l">
              <a:spcBef>
                <a:spcPts val="200"/>
              </a:spcBef>
              <a:spcAft>
                <a:spcPts val="0"/>
              </a:spcAft>
              <a:buNone/>
            </a:pPr>
            <a:r>
              <a:t/>
            </a:r>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1" name="Shape 251"/>
        <p:cNvGrpSpPr/>
        <p:nvPr/>
      </p:nvGrpSpPr>
      <p:grpSpPr>
        <a:xfrm>
          <a:off x="0" y="0"/>
          <a:ext cx="0" cy="0"/>
          <a:chOff x="0" y="0"/>
          <a:chExt cx="0" cy="0"/>
        </a:xfrm>
      </p:grpSpPr>
      <p:sp>
        <p:nvSpPr>
          <p:cNvPr id="252" name="Google Shape;252;p15"/>
          <p:cNvSpPr txBox="1"/>
          <p:nvPr/>
        </p:nvSpPr>
        <p:spPr>
          <a:xfrm>
            <a:off x="731520" y="365760"/>
            <a:ext cx="10728655" cy="9144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3600">
                <a:solidFill>
                  <a:srgbClr val="1A1A2E"/>
                </a:solidFill>
                <a:latin typeface="Calibri"/>
                <a:ea typeface="Calibri"/>
                <a:cs typeface="Calibri"/>
                <a:sym typeface="Calibri"/>
              </a:rPr>
              <a:t>Machine Learning</a:t>
            </a:r>
            <a:endParaRPr/>
          </a:p>
        </p:txBody>
      </p:sp>
      <p:sp>
        <p:nvSpPr>
          <p:cNvPr id="253" name="Google Shape;253;p15"/>
          <p:cNvSpPr txBox="1"/>
          <p:nvPr/>
        </p:nvSpPr>
        <p:spPr>
          <a:xfrm>
            <a:off x="914400" y="1463040"/>
            <a:ext cx="10362900" cy="52026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lang="en-US" sz="2400">
                <a:solidFill>
                  <a:srgbClr val="333344"/>
                </a:solidFill>
                <a:latin typeface="Calibri"/>
                <a:ea typeface="Calibri"/>
                <a:cs typeface="Calibri"/>
                <a:sym typeface="Calibri"/>
              </a:rPr>
              <a:t>It lands on queen. Not because anyone programmed that - because the model,</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from reading enough text, placed every word in a space where DIRECTION</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carries meaning, and the step from 'man' to 'woman' turns out to be the</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same direction as the step from 'king' to 'queen.'</a:t>
            </a:r>
            <a:endParaRPr/>
          </a:p>
          <a:p>
            <a:pPr indent="0" lvl="0" marL="0" marR="0" rtl="0" algn="l">
              <a:spcBef>
                <a:spcPts val="600"/>
              </a:spcBef>
              <a:spcAft>
                <a:spcPts val="0"/>
              </a:spcAft>
              <a:buNone/>
            </a:pPr>
            <a:r>
              <a:t/>
            </a:r>
            <a:endParaRPr b="0" i="0" sz="2000" u="none" cap="none" strike="noStrike">
              <a:solidFill>
                <a:srgbClr val="666677"/>
              </a:solidFill>
              <a:latin typeface="Calibri"/>
              <a:ea typeface="Calibri"/>
              <a:cs typeface="Calibri"/>
              <a:sym typeface="Calibri"/>
            </a:endParaRPr>
          </a:p>
          <a:p>
            <a:pPr indent="0" lvl="0" marL="0" marR="0" rtl="0" algn="l">
              <a:spcBef>
                <a:spcPts val="600"/>
              </a:spcBef>
              <a:spcAft>
                <a:spcPts val="0"/>
              </a:spcAft>
              <a:buNone/>
            </a:pPr>
            <a:r>
              <a:rPr b="0" lang="en-US" sz="2400">
                <a:solidFill>
                  <a:srgbClr val="333344"/>
                </a:solidFill>
                <a:latin typeface="Calibri"/>
                <a:ea typeface="Calibri"/>
                <a:cs typeface="Calibri"/>
                <a:sym typeface="Calibri"/>
              </a:rPr>
              <a:t>So 'royal' is a direction, 'plural' is a direction, even 'past tense' is a d</a:t>
            </a:r>
            <a:r>
              <a:rPr lang="en-US" sz="2400">
                <a:solidFill>
                  <a:srgbClr val="333344"/>
                </a:solidFill>
                <a:latin typeface="Calibri"/>
                <a:ea typeface="Calibri"/>
                <a:cs typeface="Calibri"/>
                <a:sym typeface="Calibri"/>
              </a:rPr>
              <a:t>irection.</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a:t>
            </a:r>
            <a:r>
              <a:rPr lang="en-US" sz="2000">
                <a:solidFill>
                  <a:srgbClr val="666677"/>
                </a:solidFill>
                <a:latin typeface="Calibri"/>
                <a:ea typeface="Calibri"/>
                <a:cs typeface="Calibri"/>
                <a:sym typeface="Calibri"/>
              </a:rPr>
              <a:t>M</a:t>
            </a:r>
            <a:r>
              <a:rPr b="0" i="0" lang="en-US" sz="2000" u="none" cap="none" strike="noStrike">
                <a:solidFill>
                  <a:srgbClr val="666677"/>
                </a:solidFill>
                <a:latin typeface="Calibri"/>
                <a:ea typeface="Calibri"/>
                <a:cs typeface="Calibri"/>
                <a:sym typeface="Calibri"/>
              </a:rPr>
              <a:t>eaning becomes something you can add and subtract.</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a:t>
            </a:r>
            <a:r>
              <a:rPr lang="en-US" sz="2000">
                <a:solidFill>
                  <a:srgbClr val="666677"/>
                </a:solidFill>
                <a:latin typeface="Calibri"/>
                <a:ea typeface="Calibri"/>
                <a:cs typeface="Calibri"/>
                <a:sym typeface="Calibri"/>
              </a:rPr>
              <a:t>This</a:t>
            </a:r>
            <a:r>
              <a:rPr b="0" i="0" lang="en-US" sz="2000" u="none" cap="none" strike="noStrike">
                <a:solidFill>
                  <a:srgbClr val="666677"/>
                </a:solidFill>
                <a:latin typeface="Calibri"/>
                <a:ea typeface="Calibri"/>
                <a:cs typeface="Calibri"/>
                <a:sym typeface="Calibri"/>
              </a:rPr>
              <a:t> lets a pile of numbers act like it understands language -</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and it's also how your app could find messages about a topic that never</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use the exact word.</a:t>
            </a:r>
            <a:endParaRPr/>
          </a:p>
          <a:p>
            <a:pPr indent="0" lvl="0" marL="0" marR="0" rtl="0" algn="l">
              <a:spcBef>
                <a:spcPts val="600"/>
              </a:spcBef>
              <a:spcAft>
                <a:spcPts val="0"/>
              </a:spcAft>
              <a:buNone/>
            </a:pPr>
            <a:r>
              <a:t/>
            </a:r>
            <a:endParaRPr b="0" i="0" sz="2000" u="none" cap="none" strike="noStrike">
              <a:solidFill>
                <a:srgbClr val="666677"/>
              </a:solidFill>
              <a:latin typeface="Calibri"/>
              <a:ea typeface="Calibri"/>
              <a:cs typeface="Calibri"/>
              <a:sym typeface="Calibri"/>
            </a:endParaRPr>
          </a:p>
          <a:p>
            <a:pPr indent="0" lvl="0" marL="0" marR="0" rtl="0" algn="l">
              <a:spcBef>
                <a:spcPts val="600"/>
              </a:spcBef>
              <a:spcAft>
                <a:spcPts val="0"/>
              </a:spcAft>
              <a:buNone/>
            </a:pPr>
            <a:r>
              <a:rPr b="0" lang="en-US" sz="2400">
                <a:solidFill>
                  <a:srgbClr val="333344"/>
                </a:solidFill>
                <a:latin typeface="Calibri"/>
                <a:ea typeface="Calibri"/>
                <a:cs typeface="Calibri"/>
                <a:sym typeface="Calibri"/>
              </a:rPr>
              <a:t>These vectors (embeddings) are step one of what's inside the black box</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a:t>
            </a:r>
            <a:r>
              <a:rPr lang="en-US" sz="2000">
                <a:solidFill>
                  <a:srgbClr val="666677"/>
                </a:solidFill>
                <a:latin typeface="Calibri"/>
                <a:ea typeface="Calibri"/>
                <a:cs typeface="Calibri"/>
                <a:sym typeface="Calibri"/>
              </a:rPr>
              <a:t>T</a:t>
            </a:r>
            <a:r>
              <a:rPr b="0" i="0" lang="en-US" sz="2000" u="none" cap="none" strike="noStrike">
                <a:solidFill>
                  <a:srgbClr val="666677"/>
                </a:solidFill>
                <a:latin typeface="Calibri"/>
                <a:ea typeface="Calibri"/>
                <a:cs typeface="Calibri"/>
                <a:sym typeface="Calibri"/>
              </a:rPr>
              <a:t>he rest of that story is Machine Learning.</a:t>
            </a:r>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DE9FE"/>
        </a:solidFill>
      </p:bgPr>
    </p:bg>
    <p:spTree>
      <p:nvGrpSpPr>
        <p:cNvPr id="258" name="Shape 258"/>
        <p:cNvGrpSpPr/>
        <p:nvPr/>
      </p:nvGrpSpPr>
      <p:grpSpPr>
        <a:xfrm>
          <a:off x="0" y="0"/>
          <a:ext cx="0" cy="0"/>
          <a:chOff x="0" y="0"/>
          <a:chExt cx="0" cy="0"/>
        </a:xfrm>
      </p:grpSpPr>
      <p:sp>
        <p:nvSpPr>
          <p:cNvPr id="259" name="Google Shape;259;p16"/>
          <p:cNvSpPr txBox="1"/>
          <p:nvPr/>
        </p:nvSpPr>
        <p:spPr>
          <a:xfrm>
            <a:off x="5303520" y="457200"/>
            <a:ext cx="1584655" cy="13716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lang="en-US" sz="7200">
                <a:solidFill>
                  <a:srgbClr val="5B21B6"/>
                </a:solidFill>
                <a:latin typeface="Calibri"/>
                <a:ea typeface="Calibri"/>
                <a:cs typeface="Calibri"/>
                <a:sym typeface="Calibri"/>
              </a:rPr>
              <a:t>?</a:t>
            </a:r>
            <a:endParaRPr/>
          </a:p>
        </p:txBody>
      </p:sp>
      <p:sp>
        <p:nvSpPr>
          <p:cNvPr id="260" name="Google Shape;260;p16"/>
          <p:cNvSpPr txBox="1"/>
          <p:nvPr/>
        </p:nvSpPr>
        <p:spPr>
          <a:xfrm>
            <a:off x="1371600" y="2011680"/>
            <a:ext cx="9448500" cy="6156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lang="en-US" sz="3400">
                <a:solidFill>
                  <a:srgbClr val="1A1A2E"/>
                </a:solidFill>
                <a:latin typeface="Calibri"/>
                <a:ea typeface="Calibri"/>
                <a:cs typeface="Calibri"/>
                <a:sym typeface="Calibri"/>
              </a:rPr>
              <a:t>The romance of Alice and Bob</a:t>
            </a:r>
            <a:endParaRPr/>
          </a:p>
        </p:txBody>
      </p:sp>
      <p:sp>
        <p:nvSpPr>
          <p:cNvPr id="261" name="Google Shape;261;p16"/>
          <p:cNvSpPr txBox="1"/>
          <p:nvPr/>
        </p:nvSpPr>
        <p:spPr>
          <a:xfrm>
            <a:off x="1828800" y="4572000"/>
            <a:ext cx="8534100" cy="7695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lang="en-US" sz="2200">
                <a:solidFill>
                  <a:srgbClr val="666677"/>
                </a:solidFill>
                <a:latin typeface="Calibri"/>
                <a:ea typeface="Calibri"/>
                <a:cs typeface="Calibri"/>
                <a:sym typeface="Calibri"/>
              </a:rPr>
              <a:t>They’re exchanging love notes in </a:t>
            </a:r>
            <a:r>
              <a:rPr lang="en-US" sz="2200">
                <a:solidFill>
                  <a:srgbClr val="666677"/>
                </a:solidFill>
                <a:latin typeface="Calibri"/>
                <a:ea typeface="Calibri"/>
                <a:cs typeface="Calibri"/>
                <a:sym typeface="Calibri"/>
              </a:rPr>
              <a:t>public. You can see all the characters they’re sending to each other…why can’t you read any of it?</a:t>
            </a:r>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6" name="Shape 266"/>
        <p:cNvGrpSpPr/>
        <p:nvPr/>
      </p:nvGrpSpPr>
      <p:grpSpPr>
        <a:xfrm>
          <a:off x="0" y="0"/>
          <a:ext cx="0" cy="0"/>
          <a:chOff x="0" y="0"/>
          <a:chExt cx="0" cy="0"/>
        </a:xfrm>
      </p:grpSpPr>
      <p:sp>
        <p:nvSpPr>
          <p:cNvPr id="267" name="Google Shape;267;g3e839494688_0_583"/>
          <p:cNvSpPr txBox="1"/>
          <p:nvPr/>
        </p:nvSpPr>
        <p:spPr>
          <a:xfrm>
            <a:off x="731520" y="274320"/>
            <a:ext cx="10728600" cy="5850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3200">
                <a:solidFill>
                  <a:srgbClr val="1A1A2E"/>
                </a:solidFill>
                <a:latin typeface="Calibri"/>
                <a:ea typeface="Calibri"/>
                <a:cs typeface="Calibri"/>
                <a:sym typeface="Calibri"/>
              </a:rPr>
              <a:t>The way out: two keys, not one</a:t>
            </a:r>
            <a:endParaRPr/>
          </a:p>
        </p:txBody>
      </p:sp>
      <p:sp>
        <p:nvSpPr>
          <p:cNvPr id="268" name="Google Shape;268;g3e839494688_0_583"/>
          <p:cNvSpPr txBox="1"/>
          <p:nvPr/>
        </p:nvSpPr>
        <p:spPr>
          <a:xfrm>
            <a:off x="914400" y="1417320"/>
            <a:ext cx="10332600" cy="4002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lang="en-US" sz="2000">
                <a:solidFill>
                  <a:srgbClr val="333344"/>
                </a:solidFill>
                <a:latin typeface="Calibri"/>
                <a:ea typeface="Calibri"/>
                <a:cs typeface="Calibri"/>
                <a:sym typeface="Calibri"/>
              </a:rPr>
              <a:t>Bob makes a matched PAIR of keys at once - locking and unlocking are now DIFFERENT keys.</a:t>
            </a:r>
            <a:endParaRPr/>
          </a:p>
        </p:txBody>
      </p:sp>
      <p:sp>
        <p:nvSpPr>
          <p:cNvPr id="269" name="Google Shape;269;g3e839494688_0_583"/>
          <p:cNvSpPr/>
          <p:nvPr/>
        </p:nvSpPr>
        <p:spPr>
          <a:xfrm>
            <a:off x="1005840" y="2468880"/>
            <a:ext cx="4572000" cy="1280100"/>
          </a:xfrm>
          <a:prstGeom prst="roundRect">
            <a:avLst>
              <a:gd fmla="val 16667" name="adj"/>
            </a:avLst>
          </a:prstGeom>
          <a:solidFill>
            <a:srgbClr val="DCFCE7"/>
          </a:solidFill>
          <a:ln cap="flat" cmpd="sng" w="12700">
            <a:solidFill>
              <a:srgbClr val="666677"/>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rPr b="1" lang="en-US" sz="2600">
                <a:solidFill>
                  <a:srgbClr val="166534"/>
                </a:solidFill>
                <a:latin typeface="Calibri"/>
                <a:ea typeface="Calibri"/>
                <a:cs typeface="Calibri"/>
                <a:sym typeface="Calibri"/>
              </a:rPr>
              <a:t>BOB'S PUBLIC KEY</a:t>
            </a:r>
            <a:endParaRPr/>
          </a:p>
        </p:txBody>
      </p:sp>
      <p:sp>
        <p:nvSpPr>
          <p:cNvPr id="270" name="Google Shape;270;g3e839494688_0_583"/>
          <p:cNvSpPr txBox="1"/>
          <p:nvPr/>
        </p:nvSpPr>
        <p:spPr>
          <a:xfrm>
            <a:off x="1005840" y="3886200"/>
            <a:ext cx="4572000" cy="5850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lang="en-US" sz="1600">
                <a:solidFill>
                  <a:srgbClr val="666677"/>
                </a:solidFill>
                <a:latin typeface="Calibri"/>
                <a:ea typeface="Calibri"/>
                <a:cs typeface="Calibri"/>
                <a:sym typeface="Calibri"/>
              </a:rPr>
              <a:t>Locks a message shut. Bob hands copies to anyone - he can post it right on his website.</a:t>
            </a:r>
            <a:endParaRPr/>
          </a:p>
        </p:txBody>
      </p:sp>
      <p:sp>
        <p:nvSpPr>
          <p:cNvPr id="271" name="Google Shape;271;g3e839494688_0_583"/>
          <p:cNvSpPr/>
          <p:nvPr/>
        </p:nvSpPr>
        <p:spPr>
          <a:xfrm>
            <a:off x="6583680" y="2468880"/>
            <a:ext cx="4572000" cy="1280100"/>
          </a:xfrm>
          <a:prstGeom prst="roundRect">
            <a:avLst>
              <a:gd fmla="val 16667" name="adj"/>
            </a:avLst>
          </a:prstGeom>
          <a:solidFill>
            <a:srgbClr val="FEE2E2"/>
          </a:solidFill>
          <a:ln cap="flat" cmpd="sng" w="12700">
            <a:solidFill>
              <a:srgbClr val="666677"/>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rPr b="1" lang="en-US" sz="2600">
                <a:solidFill>
                  <a:srgbClr val="DC2626"/>
                </a:solidFill>
                <a:latin typeface="Calibri"/>
                <a:ea typeface="Calibri"/>
                <a:cs typeface="Calibri"/>
                <a:sym typeface="Calibri"/>
              </a:rPr>
              <a:t>BOB'S PRIVATE KEY</a:t>
            </a:r>
            <a:endParaRPr/>
          </a:p>
        </p:txBody>
      </p:sp>
      <p:sp>
        <p:nvSpPr>
          <p:cNvPr id="272" name="Google Shape;272;g3e839494688_0_583"/>
          <p:cNvSpPr txBox="1"/>
          <p:nvPr/>
        </p:nvSpPr>
        <p:spPr>
          <a:xfrm>
            <a:off x="6583680" y="3886200"/>
            <a:ext cx="4572000" cy="5850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lang="en-US" sz="1600">
                <a:solidFill>
                  <a:srgbClr val="666677"/>
                </a:solidFill>
                <a:latin typeface="Calibri"/>
                <a:ea typeface="Calibri"/>
                <a:cs typeface="Calibri"/>
                <a:sym typeface="Calibri"/>
              </a:rPr>
              <a:t>Opens what the public key locked. Bob shows it to no one, ever.</a:t>
            </a:r>
            <a:endParaRPr/>
          </a:p>
        </p:txBody>
      </p:sp>
      <p:sp>
        <p:nvSpPr>
          <p:cNvPr id="273" name="Google Shape;273;g3e839494688_0_583"/>
          <p:cNvSpPr txBox="1"/>
          <p:nvPr/>
        </p:nvSpPr>
        <p:spPr>
          <a:xfrm>
            <a:off x="914400" y="5303520"/>
            <a:ext cx="10332600" cy="4308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lang="en-US" sz="2200">
                <a:solidFill>
                  <a:srgbClr val="5B21B6"/>
                </a:solidFill>
                <a:latin typeface="Calibri"/>
                <a:ea typeface="Calibri"/>
                <a:cs typeface="Calibri"/>
                <a:sym typeface="Calibri"/>
              </a:rPr>
              <a:t>Lock with the public key, open ONLY with the private key - never the other way around.</a:t>
            </a:r>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78" name="Shape 278"/>
        <p:cNvGrpSpPr/>
        <p:nvPr/>
      </p:nvGrpSpPr>
      <p:grpSpPr>
        <a:xfrm>
          <a:off x="0" y="0"/>
          <a:ext cx="0" cy="0"/>
          <a:chOff x="0" y="0"/>
          <a:chExt cx="0" cy="0"/>
        </a:xfrm>
      </p:grpSpPr>
      <p:sp>
        <p:nvSpPr>
          <p:cNvPr id="279" name="Google Shape;279;g3e839494688_0_594"/>
          <p:cNvSpPr txBox="1"/>
          <p:nvPr/>
        </p:nvSpPr>
        <p:spPr>
          <a:xfrm>
            <a:off x="731520" y="274320"/>
            <a:ext cx="10728600" cy="5850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3200">
                <a:solidFill>
                  <a:srgbClr val="1A1A2E"/>
                </a:solidFill>
                <a:latin typeface="Calibri"/>
                <a:ea typeface="Calibri"/>
                <a:cs typeface="Calibri"/>
                <a:sym typeface="Calibri"/>
              </a:rPr>
              <a:t>Sending a secret over an open wire</a:t>
            </a:r>
            <a:endParaRPr/>
          </a:p>
        </p:txBody>
      </p:sp>
      <p:sp>
        <p:nvSpPr>
          <p:cNvPr id="280" name="Google Shape;280;g3e839494688_0_594"/>
          <p:cNvSpPr txBox="1"/>
          <p:nvPr/>
        </p:nvSpPr>
        <p:spPr>
          <a:xfrm>
            <a:off x="457200" y="1783080"/>
            <a:ext cx="2286000" cy="3231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lang="en-US" sz="1500">
                <a:solidFill>
                  <a:srgbClr val="666677"/>
                </a:solidFill>
                <a:latin typeface="Calibri"/>
                <a:ea typeface="Calibri"/>
                <a:cs typeface="Calibri"/>
                <a:sym typeface="Calibri"/>
              </a:rPr>
              <a:t>Alice's message:  "hi bob"</a:t>
            </a:r>
            <a:endParaRPr/>
          </a:p>
        </p:txBody>
      </p:sp>
      <p:sp>
        <p:nvSpPr>
          <p:cNvPr id="281" name="Google Shape;281;g3e839494688_0_594"/>
          <p:cNvSpPr/>
          <p:nvPr/>
        </p:nvSpPr>
        <p:spPr>
          <a:xfrm>
            <a:off x="457200" y="2240280"/>
            <a:ext cx="2286000" cy="1188600"/>
          </a:xfrm>
          <a:prstGeom prst="roundRect">
            <a:avLst>
              <a:gd fmla="val 16667" name="adj"/>
            </a:avLst>
          </a:prstGeom>
          <a:solidFill>
            <a:srgbClr val="EEEEF0"/>
          </a:solidFill>
          <a:ln cap="flat" cmpd="sng" w="12700">
            <a:solidFill>
              <a:srgbClr val="666677"/>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rPr b="1" lang="en-US" sz="2200">
                <a:solidFill>
                  <a:srgbClr val="333344"/>
                </a:solidFill>
                <a:latin typeface="Calibri"/>
                <a:ea typeface="Calibri"/>
                <a:cs typeface="Calibri"/>
                <a:sym typeface="Calibri"/>
              </a:rPr>
              <a:t>ALICE</a:t>
            </a:r>
            <a:endParaRPr/>
          </a:p>
        </p:txBody>
      </p:sp>
      <p:sp>
        <p:nvSpPr>
          <p:cNvPr id="282" name="Google Shape;282;g3e839494688_0_594"/>
          <p:cNvSpPr/>
          <p:nvPr/>
        </p:nvSpPr>
        <p:spPr>
          <a:xfrm>
            <a:off x="2880360" y="2815590"/>
            <a:ext cx="1554600" cy="38100"/>
          </a:xfrm>
          <a:prstGeom prst="rect">
            <a:avLst/>
          </a:prstGeom>
          <a:solidFill>
            <a:srgbClr val="166534"/>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83" name="Google Shape;283;g3e839494688_0_594"/>
          <p:cNvSpPr/>
          <p:nvPr/>
        </p:nvSpPr>
        <p:spPr>
          <a:xfrm>
            <a:off x="4389120" y="2697480"/>
            <a:ext cx="320100" cy="274200"/>
          </a:xfrm>
          <a:prstGeom prst="chevron">
            <a:avLst>
              <a:gd fmla="val 50000" name="adj"/>
            </a:avLst>
          </a:prstGeom>
          <a:solidFill>
            <a:srgbClr val="166534"/>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84" name="Google Shape;284;g3e839494688_0_594"/>
          <p:cNvSpPr txBox="1"/>
          <p:nvPr/>
        </p:nvSpPr>
        <p:spPr>
          <a:xfrm>
            <a:off x="2743200" y="2286000"/>
            <a:ext cx="2057400" cy="2925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lang="en-US" sz="1300">
                <a:solidFill>
                  <a:srgbClr val="166534"/>
                </a:solidFill>
                <a:latin typeface="Calibri"/>
                <a:ea typeface="Calibri"/>
                <a:cs typeface="Calibri"/>
                <a:sym typeface="Calibri"/>
              </a:rPr>
              <a:t>lock w/ Bob's public key</a:t>
            </a:r>
            <a:endParaRPr/>
          </a:p>
        </p:txBody>
      </p:sp>
      <p:sp>
        <p:nvSpPr>
          <p:cNvPr id="285" name="Google Shape;285;g3e839494688_0_594"/>
          <p:cNvSpPr txBox="1"/>
          <p:nvPr/>
        </p:nvSpPr>
        <p:spPr>
          <a:xfrm>
            <a:off x="4709160" y="1783080"/>
            <a:ext cx="2560200" cy="3231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lang="en-US" sz="1500">
                <a:solidFill>
                  <a:srgbClr val="666677"/>
                </a:solidFill>
                <a:latin typeface="Calibri"/>
                <a:ea typeface="Calibri"/>
                <a:cs typeface="Calibri"/>
                <a:sym typeface="Calibri"/>
              </a:rPr>
              <a:t>now just gibberish</a:t>
            </a:r>
            <a:endParaRPr/>
          </a:p>
        </p:txBody>
      </p:sp>
      <p:sp>
        <p:nvSpPr>
          <p:cNvPr id="286" name="Google Shape;286;g3e839494688_0_594"/>
          <p:cNvSpPr/>
          <p:nvPr/>
        </p:nvSpPr>
        <p:spPr>
          <a:xfrm>
            <a:off x="4709160" y="2240280"/>
            <a:ext cx="2560200" cy="1188600"/>
          </a:xfrm>
          <a:prstGeom prst="roundRect">
            <a:avLst>
              <a:gd fmla="val 16667" name="adj"/>
            </a:avLst>
          </a:prstGeom>
          <a:solidFill>
            <a:srgbClr val="EEEEF0"/>
          </a:solidFill>
          <a:ln cap="flat" cmpd="sng" w="12700">
            <a:solidFill>
              <a:srgbClr val="666677"/>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rPr b="1" lang="en-US" sz="2000">
                <a:solidFill>
                  <a:srgbClr val="333344"/>
                </a:solidFill>
                <a:latin typeface="Calibri"/>
                <a:ea typeface="Calibri"/>
                <a:cs typeface="Calibri"/>
                <a:sym typeface="Calibri"/>
              </a:rPr>
              <a:t>9F3A7C2E 5B...</a:t>
            </a:r>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91" name="Shape 291"/>
        <p:cNvGrpSpPr/>
        <p:nvPr/>
      </p:nvGrpSpPr>
      <p:grpSpPr>
        <a:xfrm>
          <a:off x="0" y="0"/>
          <a:ext cx="0" cy="0"/>
          <a:chOff x="0" y="0"/>
          <a:chExt cx="0" cy="0"/>
        </a:xfrm>
      </p:grpSpPr>
      <p:sp>
        <p:nvSpPr>
          <p:cNvPr id="292" name="Google Shape;292;g3e839494688_0_606"/>
          <p:cNvSpPr txBox="1"/>
          <p:nvPr/>
        </p:nvSpPr>
        <p:spPr>
          <a:xfrm>
            <a:off x="731520" y="274320"/>
            <a:ext cx="10728600" cy="5850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3200">
                <a:solidFill>
                  <a:srgbClr val="1A1A2E"/>
                </a:solidFill>
                <a:latin typeface="Calibri"/>
                <a:ea typeface="Calibri"/>
                <a:cs typeface="Calibri"/>
                <a:sym typeface="Calibri"/>
              </a:rPr>
              <a:t>Sending a secret over an open wire</a:t>
            </a:r>
            <a:endParaRPr/>
          </a:p>
        </p:txBody>
      </p:sp>
      <p:sp>
        <p:nvSpPr>
          <p:cNvPr id="293" name="Google Shape;293;g3e839494688_0_606"/>
          <p:cNvSpPr txBox="1"/>
          <p:nvPr/>
        </p:nvSpPr>
        <p:spPr>
          <a:xfrm>
            <a:off x="457200" y="1783080"/>
            <a:ext cx="2286000" cy="3231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lang="en-US" sz="1500">
                <a:solidFill>
                  <a:srgbClr val="666677"/>
                </a:solidFill>
                <a:latin typeface="Calibri"/>
                <a:ea typeface="Calibri"/>
                <a:cs typeface="Calibri"/>
                <a:sym typeface="Calibri"/>
              </a:rPr>
              <a:t>Alice's message:  "hi bob"</a:t>
            </a:r>
            <a:endParaRPr/>
          </a:p>
        </p:txBody>
      </p:sp>
      <p:sp>
        <p:nvSpPr>
          <p:cNvPr id="294" name="Google Shape;294;g3e839494688_0_606"/>
          <p:cNvSpPr/>
          <p:nvPr/>
        </p:nvSpPr>
        <p:spPr>
          <a:xfrm>
            <a:off x="457200" y="2240280"/>
            <a:ext cx="2286000" cy="1188600"/>
          </a:xfrm>
          <a:prstGeom prst="roundRect">
            <a:avLst>
              <a:gd fmla="val 16667" name="adj"/>
            </a:avLst>
          </a:prstGeom>
          <a:solidFill>
            <a:srgbClr val="EEEEF0"/>
          </a:solidFill>
          <a:ln cap="flat" cmpd="sng" w="12700">
            <a:solidFill>
              <a:srgbClr val="666677"/>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rPr b="1" lang="en-US" sz="2200">
                <a:solidFill>
                  <a:srgbClr val="333344"/>
                </a:solidFill>
                <a:latin typeface="Calibri"/>
                <a:ea typeface="Calibri"/>
                <a:cs typeface="Calibri"/>
                <a:sym typeface="Calibri"/>
              </a:rPr>
              <a:t>ALICE</a:t>
            </a:r>
            <a:endParaRPr/>
          </a:p>
        </p:txBody>
      </p:sp>
      <p:sp>
        <p:nvSpPr>
          <p:cNvPr id="295" name="Google Shape;295;g3e839494688_0_606"/>
          <p:cNvSpPr/>
          <p:nvPr/>
        </p:nvSpPr>
        <p:spPr>
          <a:xfrm>
            <a:off x="2880360" y="2815590"/>
            <a:ext cx="1554600" cy="38100"/>
          </a:xfrm>
          <a:prstGeom prst="rect">
            <a:avLst/>
          </a:prstGeom>
          <a:solidFill>
            <a:srgbClr val="166534"/>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96" name="Google Shape;296;g3e839494688_0_606"/>
          <p:cNvSpPr/>
          <p:nvPr/>
        </p:nvSpPr>
        <p:spPr>
          <a:xfrm>
            <a:off x="4389120" y="2697480"/>
            <a:ext cx="320100" cy="274200"/>
          </a:xfrm>
          <a:prstGeom prst="chevron">
            <a:avLst>
              <a:gd fmla="val 50000" name="adj"/>
            </a:avLst>
          </a:prstGeom>
          <a:solidFill>
            <a:srgbClr val="166534"/>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97" name="Google Shape;297;g3e839494688_0_606"/>
          <p:cNvSpPr txBox="1"/>
          <p:nvPr/>
        </p:nvSpPr>
        <p:spPr>
          <a:xfrm>
            <a:off x="2743200" y="2286000"/>
            <a:ext cx="2057400" cy="2925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lang="en-US" sz="1300">
                <a:solidFill>
                  <a:srgbClr val="166534"/>
                </a:solidFill>
                <a:latin typeface="Calibri"/>
                <a:ea typeface="Calibri"/>
                <a:cs typeface="Calibri"/>
                <a:sym typeface="Calibri"/>
              </a:rPr>
              <a:t>lock w/ Bob's public key</a:t>
            </a:r>
            <a:endParaRPr/>
          </a:p>
        </p:txBody>
      </p:sp>
      <p:sp>
        <p:nvSpPr>
          <p:cNvPr id="298" name="Google Shape;298;g3e839494688_0_606"/>
          <p:cNvSpPr txBox="1"/>
          <p:nvPr/>
        </p:nvSpPr>
        <p:spPr>
          <a:xfrm>
            <a:off x="4709160" y="1783080"/>
            <a:ext cx="2560200" cy="3231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lang="en-US" sz="1500">
                <a:solidFill>
                  <a:srgbClr val="666677"/>
                </a:solidFill>
                <a:latin typeface="Calibri"/>
                <a:ea typeface="Calibri"/>
                <a:cs typeface="Calibri"/>
                <a:sym typeface="Calibri"/>
              </a:rPr>
              <a:t>now just gibberish</a:t>
            </a:r>
            <a:endParaRPr/>
          </a:p>
        </p:txBody>
      </p:sp>
      <p:sp>
        <p:nvSpPr>
          <p:cNvPr id="299" name="Google Shape;299;g3e839494688_0_606"/>
          <p:cNvSpPr/>
          <p:nvPr/>
        </p:nvSpPr>
        <p:spPr>
          <a:xfrm>
            <a:off x="4709160" y="2240280"/>
            <a:ext cx="2560200" cy="1188600"/>
          </a:xfrm>
          <a:prstGeom prst="roundRect">
            <a:avLst>
              <a:gd fmla="val 16667" name="adj"/>
            </a:avLst>
          </a:prstGeom>
          <a:solidFill>
            <a:srgbClr val="EEEEF0"/>
          </a:solidFill>
          <a:ln cap="flat" cmpd="sng" w="12700">
            <a:solidFill>
              <a:srgbClr val="666677"/>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rPr b="1" lang="en-US" sz="2000">
                <a:solidFill>
                  <a:srgbClr val="333344"/>
                </a:solidFill>
                <a:latin typeface="Calibri"/>
                <a:ea typeface="Calibri"/>
                <a:cs typeface="Calibri"/>
                <a:sym typeface="Calibri"/>
              </a:rPr>
              <a:t>9F3A7C2E 5B...</a:t>
            </a:r>
            <a:endParaRPr/>
          </a:p>
        </p:txBody>
      </p:sp>
      <p:sp>
        <p:nvSpPr>
          <p:cNvPr id="300" name="Google Shape;300;g3e839494688_0_606"/>
          <p:cNvSpPr/>
          <p:nvPr/>
        </p:nvSpPr>
        <p:spPr>
          <a:xfrm>
            <a:off x="7360920" y="2815590"/>
            <a:ext cx="1188600" cy="38100"/>
          </a:xfrm>
          <a:prstGeom prst="rect">
            <a:avLst/>
          </a:prstGeom>
          <a:solidFill>
            <a:srgbClr val="666677"/>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301" name="Google Shape;301;g3e839494688_0_606"/>
          <p:cNvSpPr/>
          <p:nvPr/>
        </p:nvSpPr>
        <p:spPr>
          <a:xfrm>
            <a:off x="8503920" y="2697480"/>
            <a:ext cx="320100" cy="274200"/>
          </a:xfrm>
          <a:prstGeom prst="chevron">
            <a:avLst>
              <a:gd fmla="val 50000" name="adj"/>
            </a:avLst>
          </a:prstGeom>
          <a:solidFill>
            <a:srgbClr val="666677"/>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302" name="Google Shape;302;g3e839494688_0_606"/>
          <p:cNvSpPr txBox="1"/>
          <p:nvPr/>
        </p:nvSpPr>
        <p:spPr>
          <a:xfrm>
            <a:off x="7178040" y="2286000"/>
            <a:ext cx="1645800" cy="2925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lang="en-US" sz="1300">
                <a:solidFill>
                  <a:srgbClr val="666677"/>
                </a:solidFill>
                <a:latin typeface="Calibri"/>
                <a:ea typeface="Calibri"/>
                <a:cs typeface="Calibri"/>
                <a:sym typeface="Calibri"/>
              </a:rPr>
              <a:t>over open WiFi</a:t>
            </a:r>
            <a:endParaRPr/>
          </a:p>
        </p:txBody>
      </p:sp>
      <p:sp>
        <p:nvSpPr>
          <p:cNvPr id="303" name="Google Shape;303;g3e839494688_0_606"/>
          <p:cNvSpPr/>
          <p:nvPr/>
        </p:nvSpPr>
        <p:spPr>
          <a:xfrm>
            <a:off x="8869680" y="2240280"/>
            <a:ext cx="2743200" cy="1188600"/>
          </a:xfrm>
          <a:prstGeom prst="roundRect">
            <a:avLst>
              <a:gd fmla="val 16667" name="adj"/>
            </a:avLst>
          </a:prstGeom>
          <a:solidFill>
            <a:srgbClr val="EEEEF0"/>
          </a:solidFill>
          <a:ln cap="flat" cmpd="sng" w="12700">
            <a:solidFill>
              <a:srgbClr val="666677"/>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rPr b="1" lang="en-US" sz="2200">
                <a:solidFill>
                  <a:srgbClr val="333344"/>
                </a:solidFill>
                <a:latin typeface="Calibri"/>
                <a:ea typeface="Calibri"/>
                <a:cs typeface="Calibri"/>
                <a:sym typeface="Calibri"/>
              </a:rPr>
              <a:t>BOB</a:t>
            </a:r>
            <a:endParaRPr/>
          </a:p>
        </p:txBody>
      </p:sp>
      <p:sp>
        <p:nvSpPr>
          <p:cNvPr id="304" name="Google Shape;304;g3e839494688_0_606"/>
          <p:cNvSpPr txBox="1"/>
          <p:nvPr/>
        </p:nvSpPr>
        <p:spPr>
          <a:xfrm>
            <a:off x="8869680" y="3520440"/>
            <a:ext cx="2743200" cy="5541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lang="en-US" sz="1500">
                <a:solidFill>
                  <a:srgbClr val="166534"/>
                </a:solidFill>
                <a:latin typeface="Calibri"/>
                <a:ea typeface="Calibri"/>
                <a:cs typeface="Calibri"/>
                <a:sym typeface="Calibri"/>
              </a:rPr>
              <a:t>unlock w/ PRIVATE key  -&gt;  "hi bob"</a:t>
            </a:r>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09" name="Shape 309"/>
        <p:cNvGrpSpPr/>
        <p:nvPr/>
      </p:nvGrpSpPr>
      <p:grpSpPr>
        <a:xfrm>
          <a:off x="0" y="0"/>
          <a:ext cx="0" cy="0"/>
          <a:chOff x="0" y="0"/>
          <a:chExt cx="0" cy="0"/>
        </a:xfrm>
      </p:grpSpPr>
      <p:sp>
        <p:nvSpPr>
          <p:cNvPr id="310" name="Google Shape;310;g3e839494688_0_623"/>
          <p:cNvSpPr txBox="1"/>
          <p:nvPr/>
        </p:nvSpPr>
        <p:spPr>
          <a:xfrm>
            <a:off x="731520" y="274320"/>
            <a:ext cx="10728600" cy="5850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3200">
                <a:solidFill>
                  <a:srgbClr val="1A1A2E"/>
                </a:solidFill>
                <a:latin typeface="Calibri"/>
                <a:ea typeface="Calibri"/>
                <a:cs typeface="Calibri"/>
                <a:sym typeface="Calibri"/>
              </a:rPr>
              <a:t>Sending a secret over an open wire</a:t>
            </a:r>
            <a:endParaRPr/>
          </a:p>
        </p:txBody>
      </p:sp>
      <p:sp>
        <p:nvSpPr>
          <p:cNvPr id="311" name="Google Shape;311;g3e839494688_0_623"/>
          <p:cNvSpPr txBox="1"/>
          <p:nvPr/>
        </p:nvSpPr>
        <p:spPr>
          <a:xfrm>
            <a:off x="457200" y="1783080"/>
            <a:ext cx="2286000" cy="3231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lang="en-US" sz="1500">
                <a:solidFill>
                  <a:srgbClr val="666677"/>
                </a:solidFill>
                <a:latin typeface="Calibri"/>
                <a:ea typeface="Calibri"/>
                <a:cs typeface="Calibri"/>
                <a:sym typeface="Calibri"/>
              </a:rPr>
              <a:t>Alice's message:  "hi bob"</a:t>
            </a:r>
            <a:endParaRPr/>
          </a:p>
        </p:txBody>
      </p:sp>
      <p:sp>
        <p:nvSpPr>
          <p:cNvPr id="312" name="Google Shape;312;g3e839494688_0_623"/>
          <p:cNvSpPr/>
          <p:nvPr/>
        </p:nvSpPr>
        <p:spPr>
          <a:xfrm>
            <a:off x="457200" y="2240280"/>
            <a:ext cx="2286000" cy="1188600"/>
          </a:xfrm>
          <a:prstGeom prst="roundRect">
            <a:avLst>
              <a:gd fmla="val 16667" name="adj"/>
            </a:avLst>
          </a:prstGeom>
          <a:solidFill>
            <a:srgbClr val="EEEEF0"/>
          </a:solidFill>
          <a:ln cap="flat" cmpd="sng" w="12700">
            <a:solidFill>
              <a:srgbClr val="666677"/>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rPr b="1" lang="en-US" sz="2200">
                <a:solidFill>
                  <a:srgbClr val="333344"/>
                </a:solidFill>
                <a:latin typeface="Calibri"/>
                <a:ea typeface="Calibri"/>
                <a:cs typeface="Calibri"/>
                <a:sym typeface="Calibri"/>
              </a:rPr>
              <a:t>ALICE</a:t>
            </a:r>
            <a:endParaRPr/>
          </a:p>
        </p:txBody>
      </p:sp>
      <p:sp>
        <p:nvSpPr>
          <p:cNvPr id="313" name="Google Shape;313;g3e839494688_0_623"/>
          <p:cNvSpPr/>
          <p:nvPr/>
        </p:nvSpPr>
        <p:spPr>
          <a:xfrm>
            <a:off x="2880360" y="2815590"/>
            <a:ext cx="1554600" cy="38100"/>
          </a:xfrm>
          <a:prstGeom prst="rect">
            <a:avLst/>
          </a:prstGeom>
          <a:solidFill>
            <a:srgbClr val="166534"/>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314" name="Google Shape;314;g3e839494688_0_623"/>
          <p:cNvSpPr/>
          <p:nvPr/>
        </p:nvSpPr>
        <p:spPr>
          <a:xfrm>
            <a:off x="4389120" y="2697480"/>
            <a:ext cx="320100" cy="274200"/>
          </a:xfrm>
          <a:prstGeom prst="chevron">
            <a:avLst>
              <a:gd fmla="val 50000" name="adj"/>
            </a:avLst>
          </a:prstGeom>
          <a:solidFill>
            <a:srgbClr val="166534"/>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315" name="Google Shape;315;g3e839494688_0_623"/>
          <p:cNvSpPr txBox="1"/>
          <p:nvPr/>
        </p:nvSpPr>
        <p:spPr>
          <a:xfrm>
            <a:off x="2743200" y="2286000"/>
            <a:ext cx="2057400" cy="2925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lang="en-US" sz="1300">
                <a:solidFill>
                  <a:srgbClr val="166534"/>
                </a:solidFill>
                <a:latin typeface="Calibri"/>
                <a:ea typeface="Calibri"/>
                <a:cs typeface="Calibri"/>
                <a:sym typeface="Calibri"/>
              </a:rPr>
              <a:t>lock w/ Bob's public key</a:t>
            </a:r>
            <a:endParaRPr/>
          </a:p>
        </p:txBody>
      </p:sp>
      <p:sp>
        <p:nvSpPr>
          <p:cNvPr id="316" name="Google Shape;316;g3e839494688_0_623"/>
          <p:cNvSpPr txBox="1"/>
          <p:nvPr/>
        </p:nvSpPr>
        <p:spPr>
          <a:xfrm>
            <a:off x="4709160" y="1783080"/>
            <a:ext cx="2560200" cy="3231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lang="en-US" sz="1500">
                <a:solidFill>
                  <a:srgbClr val="666677"/>
                </a:solidFill>
                <a:latin typeface="Calibri"/>
                <a:ea typeface="Calibri"/>
                <a:cs typeface="Calibri"/>
                <a:sym typeface="Calibri"/>
              </a:rPr>
              <a:t>now just gibberish</a:t>
            </a:r>
            <a:endParaRPr/>
          </a:p>
        </p:txBody>
      </p:sp>
      <p:sp>
        <p:nvSpPr>
          <p:cNvPr id="317" name="Google Shape;317;g3e839494688_0_623"/>
          <p:cNvSpPr/>
          <p:nvPr/>
        </p:nvSpPr>
        <p:spPr>
          <a:xfrm>
            <a:off x="4709160" y="2240280"/>
            <a:ext cx="2560200" cy="1188600"/>
          </a:xfrm>
          <a:prstGeom prst="roundRect">
            <a:avLst>
              <a:gd fmla="val 16667" name="adj"/>
            </a:avLst>
          </a:prstGeom>
          <a:solidFill>
            <a:srgbClr val="EEEEF0"/>
          </a:solidFill>
          <a:ln cap="flat" cmpd="sng" w="12700">
            <a:solidFill>
              <a:srgbClr val="666677"/>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rPr b="1" lang="en-US" sz="2000">
                <a:solidFill>
                  <a:srgbClr val="333344"/>
                </a:solidFill>
                <a:latin typeface="Calibri"/>
                <a:ea typeface="Calibri"/>
                <a:cs typeface="Calibri"/>
                <a:sym typeface="Calibri"/>
              </a:rPr>
              <a:t>9F3A7C2E 5B...</a:t>
            </a:r>
            <a:endParaRPr/>
          </a:p>
        </p:txBody>
      </p:sp>
      <p:sp>
        <p:nvSpPr>
          <p:cNvPr id="318" name="Google Shape;318;g3e839494688_0_623"/>
          <p:cNvSpPr/>
          <p:nvPr/>
        </p:nvSpPr>
        <p:spPr>
          <a:xfrm>
            <a:off x="7360920" y="2815590"/>
            <a:ext cx="1188600" cy="38100"/>
          </a:xfrm>
          <a:prstGeom prst="rect">
            <a:avLst/>
          </a:prstGeom>
          <a:solidFill>
            <a:srgbClr val="666677"/>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319" name="Google Shape;319;g3e839494688_0_623"/>
          <p:cNvSpPr/>
          <p:nvPr/>
        </p:nvSpPr>
        <p:spPr>
          <a:xfrm>
            <a:off x="8503920" y="2697480"/>
            <a:ext cx="320100" cy="274200"/>
          </a:xfrm>
          <a:prstGeom prst="chevron">
            <a:avLst>
              <a:gd fmla="val 50000" name="adj"/>
            </a:avLst>
          </a:prstGeom>
          <a:solidFill>
            <a:srgbClr val="666677"/>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320" name="Google Shape;320;g3e839494688_0_623"/>
          <p:cNvSpPr txBox="1"/>
          <p:nvPr/>
        </p:nvSpPr>
        <p:spPr>
          <a:xfrm>
            <a:off x="7178040" y="2286000"/>
            <a:ext cx="1645800" cy="2925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lang="en-US" sz="1300">
                <a:solidFill>
                  <a:srgbClr val="666677"/>
                </a:solidFill>
                <a:latin typeface="Calibri"/>
                <a:ea typeface="Calibri"/>
                <a:cs typeface="Calibri"/>
                <a:sym typeface="Calibri"/>
              </a:rPr>
              <a:t>over open WiFi</a:t>
            </a:r>
            <a:endParaRPr/>
          </a:p>
        </p:txBody>
      </p:sp>
      <p:sp>
        <p:nvSpPr>
          <p:cNvPr id="321" name="Google Shape;321;g3e839494688_0_623"/>
          <p:cNvSpPr/>
          <p:nvPr/>
        </p:nvSpPr>
        <p:spPr>
          <a:xfrm>
            <a:off x="8869680" y="2240280"/>
            <a:ext cx="2743200" cy="1188600"/>
          </a:xfrm>
          <a:prstGeom prst="roundRect">
            <a:avLst>
              <a:gd fmla="val 16667" name="adj"/>
            </a:avLst>
          </a:prstGeom>
          <a:solidFill>
            <a:srgbClr val="EEEEF0"/>
          </a:solidFill>
          <a:ln cap="flat" cmpd="sng" w="12700">
            <a:solidFill>
              <a:srgbClr val="666677"/>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rPr b="1" lang="en-US" sz="2200">
                <a:solidFill>
                  <a:srgbClr val="333344"/>
                </a:solidFill>
                <a:latin typeface="Calibri"/>
                <a:ea typeface="Calibri"/>
                <a:cs typeface="Calibri"/>
                <a:sym typeface="Calibri"/>
              </a:rPr>
              <a:t>BOB</a:t>
            </a:r>
            <a:endParaRPr/>
          </a:p>
        </p:txBody>
      </p:sp>
      <p:sp>
        <p:nvSpPr>
          <p:cNvPr id="322" name="Google Shape;322;g3e839494688_0_623"/>
          <p:cNvSpPr txBox="1"/>
          <p:nvPr/>
        </p:nvSpPr>
        <p:spPr>
          <a:xfrm>
            <a:off x="8869680" y="3520440"/>
            <a:ext cx="2743200" cy="5541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lang="en-US" sz="1500">
                <a:solidFill>
                  <a:srgbClr val="166534"/>
                </a:solidFill>
                <a:latin typeface="Calibri"/>
                <a:ea typeface="Calibri"/>
                <a:cs typeface="Calibri"/>
                <a:sym typeface="Calibri"/>
              </a:rPr>
              <a:t>unlock w/ PRIVATE key  -&gt;  "hi bob"</a:t>
            </a:r>
            <a:endParaRPr/>
          </a:p>
        </p:txBody>
      </p:sp>
      <p:sp>
        <p:nvSpPr>
          <p:cNvPr id="323" name="Google Shape;323;g3e839494688_0_623"/>
          <p:cNvSpPr/>
          <p:nvPr/>
        </p:nvSpPr>
        <p:spPr>
          <a:xfrm rot="5400000">
            <a:off x="5394995" y="4053120"/>
            <a:ext cx="1188600" cy="31800"/>
          </a:xfrm>
          <a:prstGeom prst="rect">
            <a:avLst/>
          </a:prstGeom>
          <a:solidFill>
            <a:srgbClr val="DC2626"/>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324" name="Google Shape;324;g3e839494688_0_623"/>
          <p:cNvSpPr/>
          <p:nvPr/>
        </p:nvSpPr>
        <p:spPr>
          <a:xfrm>
            <a:off x="4114800" y="4663440"/>
            <a:ext cx="3931800" cy="914400"/>
          </a:xfrm>
          <a:prstGeom prst="roundRect">
            <a:avLst>
              <a:gd fmla="val 16667" name="adj"/>
            </a:avLst>
          </a:prstGeom>
          <a:solidFill>
            <a:srgbClr val="FEE2E2"/>
          </a:solidFill>
          <a:ln cap="flat" cmpd="sng" w="12700">
            <a:solidFill>
              <a:srgbClr val="666677"/>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rPr b="1" lang="en-US" sz="1800">
                <a:solidFill>
                  <a:srgbClr val="DC2626"/>
                </a:solidFill>
                <a:latin typeface="Calibri"/>
                <a:ea typeface="Calibri"/>
                <a:cs typeface="Calibri"/>
                <a:sym typeface="Calibri"/>
              </a:rPr>
              <a:t>EAVESDROPPER ON THE WIFI</a:t>
            </a:r>
            <a:endParaRPr/>
          </a:p>
        </p:txBody>
      </p:sp>
      <p:sp>
        <p:nvSpPr>
          <p:cNvPr id="325" name="Google Shape;325;g3e839494688_0_623"/>
          <p:cNvSpPr txBox="1"/>
          <p:nvPr/>
        </p:nvSpPr>
        <p:spPr>
          <a:xfrm>
            <a:off x="3200400" y="5715000"/>
            <a:ext cx="5760600" cy="3387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lang="en-US" sz="1600">
                <a:solidFill>
                  <a:srgbClr val="666677"/>
                </a:solidFill>
                <a:latin typeface="Calibri"/>
                <a:ea typeface="Calibri"/>
                <a:cs typeface="Calibri"/>
                <a:sym typeface="Calibri"/>
              </a:rPr>
              <a:t>sees the ciphertext AND Bob's public key - and still can't read it.</a:t>
            </a:r>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30" name="Shape 330"/>
        <p:cNvGrpSpPr/>
        <p:nvPr/>
      </p:nvGrpSpPr>
      <p:grpSpPr>
        <a:xfrm>
          <a:off x="0" y="0"/>
          <a:ext cx="0" cy="0"/>
          <a:chOff x="0" y="0"/>
          <a:chExt cx="0" cy="0"/>
        </a:xfrm>
      </p:grpSpPr>
      <p:sp>
        <p:nvSpPr>
          <p:cNvPr id="331" name="Google Shape;331;g3e839494688_0_643"/>
          <p:cNvSpPr txBox="1"/>
          <p:nvPr/>
        </p:nvSpPr>
        <p:spPr>
          <a:xfrm>
            <a:off x="731520" y="365760"/>
            <a:ext cx="10728600" cy="6465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3600">
                <a:solidFill>
                  <a:srgbClr val="1A1A2E"/>
                </a:solidFill>
                <a:latin typeface="Calibri"/>
                <a:ea typeface="Calibri"/>
                <a:cs typeface="Calibri"/>
                <a:sym typeface="Calibri"/>
              </a:rPr>
              <a:t>Cryptography &amp; Security</a:t>
            </a:r>
            <a:endParaRPr/>
          </a:p>
        </p:txBody>
      </p:sp>
      <p:sp>
        <p:nvSpPr>
          <p:cNvPr id="332" name="Google Shape;332;g3e839494688_0_643"/>
          <p:cNvSpPr txBox="1"/>
          <p:nvPr/>
        </p:nvSpPr>
        <p:spPr>
          <a:xfrm>
            <a:off x="914400" y="1463040"/>
            <a:ext cx="10362900" cy="42789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lang="en-US" sz="2400">
                <a:solidFill>
                  <a:srgbClr val="333344"/>
                </a:solidFill>
                <a:latin typeface="Calibri"/>
                <a:ea typeface="Calibri"/>
                <a:cs typeface="Calibri"/>
                <a:sym typeface="Calibri"/>
              </a:rPr>
              <a:t>Locking is easy and unlocking-without-the-private-key is effectively impossi</a:t>
            </a:r>
            <a:r>
              <a:rPr lang="en-US" sz="2400">
                <a:solidFill>
                  <a:srgbClr val="333344"/>
                </a:solidFill>
                <a:latin typeface="Calibri"/>
                <a:ea typeface="Calibri"/>
                <a:cs typeface="Calibri"/>
                <a:sym typeface="Calibri"/>
              </a:rPr>
              <a:t>ble.</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a:t>
            </a:r>
            <a:r>
              <a:rPr lang="en-US" sz="2000">
                <a:solidFill>
                  <a:srgbClr val="666677"/>
                </a:solidFill>
                <a:latin typeface="Calibri"/>
                <a:ea typeface="Calibri"/>
                <a:cs typeface="Calibri"/>
                <a:sym typeface="Calibri"/>
              </a:rPr>
              <a:t>T</a:t>
            </a:r>
            <a:r>
              <a:rPr b="0" i="0" lang="en-US" sz="2000" u="none" cap="none" strike="noStrike">
                <a:solidFill>
                  <a:srgbClr val="666677"/>
                </a:solidFill>
                <a:latin typeface="Calibri"/>
                <a:ea typeface="Calibri"/>
                <a:cs typeface="Calibri"/>
                <a:sym typeface="Calibri"/>
              </a:rPr>
              <a:t>hat gap comes from one-way math: multiplying two enormous</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prime numbers together is quick, but taking the result and factoring it</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back into those primes would take longer than the age of the universe</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Bob can publish the product as his public key and give nothing away.</a:t>
            </a:r>
            <a:endParaRPr/>
          </a:p>
          <a:p>
            <a:pPr indent="0" lvl="0" marL="0" marR="0" rtl="0" algn="l">
              <a:spcBef>
                <a:spcPts val="600"/>
              </a:spcBef>
              <a:spcAft>
                <a:spcPts val="0"/>
              </a:spcAft>
              <a:buNone/>
            </a:pPr>
            <a:r>
              <a:t/>
            </a:r>
            <a:endParaRPr b="0" i="0" sz="2000" u="none" cap="none" strike="noStrike">
              <a:solidFill>
                <a:srgbClr val="666677"/>
              </a:solidFill>
              <a:latin typeface="Calibri"/>
              <a:ea typeface="Calibri"/>
              <a:cs typeface="Calibri"/>
              <a:sym typeface="Calibri"/>
            </a:endParaRPr>
          </a:p>
          <a:p>
            <a:pPr indent="0" lvl="0" marL="0" marR="0" rtl="0" algn="l">
              <a:spcBef>
                <a:spcPts val="600"/>
              </a:spcBef>
              <a:spcAft>
                <a:spcPts val="0"/>
              </a:spcAft>
              <a:buNone/>
            </a:pPr>
            <a:r>
              <a:rPr b="0" lang="en-US" sz="2400">
                <a:solidFill>
                  <a:srgbClr val="333344"/>
                </a:solidFill>
                <a:latin typeface="Calibri"/>
                <a:ea typeface="Calibri"/>
                <a:cs typeface="Calibri"/>
                <a:sym typeface="Calibri"/>
              </a:rPr>
              <a:t>When you load an https:// site your browser grabs the server's public key</a:t>
            </a:r>
            <a:r>
              <a:rPr lang="en-US" sz="2400">
                <a:solidFill>
                  <a:srgbClr val="333344"/>
                </a:solidFill>
                <a:latin typeface="Calibri"/>
                <a:ea typeface="Calibri"/>
                <a:cs typeface="Calibri"/>
                <a:sym typeface="Calibri"/>
              </a:rPr>
              <a:t>.</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It uses it to safely agree on a fresh throwaway key just for this session</a:t>
            </a:r>
            <a:r>
              <a:rPr lang="en-US" sz="2000">
                <a:solidFill>
                  <a:srgbClr val="666677"/>
                </a:solidFill>
                <a:latin typeface="Calibri"/>
                <a:ea typeface="Calibri"/>
                <a:cs typeface="Calibri"/>
                <a:sym typeface="Calibri"/>
              </a:rPr>
              <a:t>.</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It encrypts the rest of the conversation with that fast shared key</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Th</a:t>
            </a:r>
            <a:r>
              <a:rPr lang="en-US" sz="2000">
                <a:solidFill>
                  <a:srgbClr val="666677"/>
                </a:solidFill>
                <a:latin typeface="Calibri"/>
                <a:ea typeface="Calibri"/>
                <a:cs typeface="Calibri"/>
                <a:sym typeface="Calibri"/>
              </a:rPr>
              <a:t>us, n</a:t>
            </a:r>
            <a:r>
              <a:rPr b="0" i="0" lang="en-US" sz="2000" u="none" cap="none" strike="noStrike">
                <a:solidFill>
                  <a:srgbClr val="666677"/>
                </a:solidFill>
                <a:latin typeface="Calibri"/>
                <a:ea typeface="Calibri"/>
                <a:cs typeface="Calibri"/>
                <a:sym typeface="Calibri"/>
              </a:rPr>
              <a:t>obody on the </a:t>
            </a:r>
            <a:r>
              <a:rPr lang="en-US" sz="2000">
                <a:solidFill>
                  <a:srgbClr val="666677"/>
                </a:solidFill>
                <a:latin typeface="Calibri"/>
                <a:ea typeface="Calibri"/>
                <a:cs typeface="Calibri"/>
                <a:sym typeface="Calibri"/>
              </a:rPr>
              <a:t>UATX</a:t>
            </a:r>
            <a:r>
              <a:rPr b="0" i="0" lang="en-US" sz="2000" u="none" cap="none" strike="noStrike">
                <a:solidFill>
                  <a:srgbClr val="666677"/>
                </a:solidFill>
                <a:latin typeface="Calibri"/>
                <a:ea typeface="Calibri"/>
                <a:cs typeface="Calibri"/>
                <a:sym typeface="Calibri"/>
              </a:rPr>
              <a:t> WiFi can read </a:t>
            </a:r>
            <a:r>
              <a:rPr lang="en-US" sz="2000">
                <a:solidFill>
                  <a:srgbClr val="666677"/>
                </a:solidFill>
                <a:latin typeface="Calibri"/>
                <a:ea typeface="Calibri"/>
                <a:cs typeface="Calibri"/>
                <a:sym typeface="Calibri"/>
              </a:rPr>
              <a:t>your</a:t>
            </a:r>
            <a:r>
              <a:rPr b="0" i="0" lang="en-US" sz="2000" u="none" cap="none" strike="noStrike">
                <a:solidFill>
                  <a:srgbClr val="666677"/>
                </a:solidFill>
                <a:latin typeface="Calibri"/>
                <a:ea typeface="Calibri"/>
                <a:cs typeface="Calibri"/>
                <a:sym typeface="Calibri"/>
              </a:rPr>
              <a:t> password, </a:t>
            </a:r>
            <a:r>
              <a:rPr lang="en-US" sz="2000">
                <a:solidFill>
                  <a:srgbClr val="666677"/>
                </a:solidFill>
                <a:latin typeface="Calibri"/>
                <a:ea typeface="Calibri"/>
                <a:cs typeface="Calibri"/>
                <a:sym typeface="Calibri"/>
              </a:rPr>
              <a:t>despite seeing </a:t>
            </a:r>
            <a:r>
              <a:rPr b="0" i="0" lang="en-US" sz="2000" u="none" cap="none" strike="noStrike">
                <a:solidFill>
                  <a:srgbClr val="666677"/>
                </a:solidFill>
                <a:latin typeface="Calibri"/>
                <a:ea typeface="Calibri"/>
                <a:cs typeface="Calibri"/>
                <a:sym typeface="Calibri"/>
              </a:rPr>
              <a:t>every byte you sent.</a:t>
            </a:r>
            <a:endParaRPr b="0" i="0" sz="2000" u="none" cap="none" strike="noStrike">
              <a:solidFill>
                <a:srgbClr val="666677"/>
              </a:solidFill>
              <a:latin typeface="Calibri"/>
              <a:ea typeface="Calibri"/>
              <a:cs typeface="Calibri"/>
              <a:sym typeface="Calibri"/>
            </a:endParaRPr>
          </a:p>
          <a:p>
            <a:pPr indent="0" lvl="0" marL="0" marR="0" rtl="0" algn="l">
              <a:spcBef>
                <a:spcPts val="600"/>
              </a:spcBef>
              <a:spcAft>
                <a:spcPts val="0"/>
              </a:spcAft>
              <a:buNone/>
            </a:pPr>
            <a:r>
              <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37" name="Shape 337"/>
        <p:cNvGrpSpPr/>
        <p:nvPr/>
      </p:nvGrpSpPr>
      <p:grpSpPr>
        <a:xfrm>
          <a:off x="0" y="0"/>
          <a:ext cx="0" cy="0"/>
          <a:chOff x="0" y="0"/>
          <a:chExt cx="0" cy="0"/>
        </a:xfrm>
      </p:grpSpPr>
      <p:sp>
        <p:nvSpPr>
          <p:cNvPr id="338" name="Google Shape;338;g3e839494688_0_116"/>
          <p:cNvSpPr txBox="1"/>
          <p:nvPr/>
        </p:nvSpPr>
        <p:spPr>
          <a:xfrm>
            <a:off x="731520" y="274320"/>
            <a:ext cx="10728600" cy="8004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1600">
                <a:solidFill>
                  <a:srgbClr val="FFFFFF"/>
                </a:solidFill>
                <a:latin typeface="Calibri"/>
                <a:ea typeface="Calibri"/>
                <a:cs typeface="Calibri"/>
                <a:sym typeface="Calibri"/>
              </a:rPr>
              <a:t>TRY IT  </a:t>
            </a:r>
            <a:endParaRPr/>
          </a:p>
          <a:p>
            <a:pPr indent="0" lvl="0" marL="0" marR="0" rtl="0" algn="l">
              <a:spcBef>
                <a:spcPts val="0"/>
              </a:spcBef>
              <a:spcAft>
                <a:spcPts val="0"/>
              </a:spcAft>
              <a:buNone/>
            </a:pPr>
            <a:r>
              <a:rPr b="1" lang="en-US" sz="3000">
                <a:solidFill>
                  <a:srgbClr val="1A1A2E"/>
                </a:solidFill>
                <a:latin typeface="Calibri"/>
                <a:ea typeface="Calibri"/>
                <a:cs typeface="Calibri"/>
                <a:sym typeface="Calibri"/>
              </a:rPr>
              <a:t>Does this program stop?</a:t>
            </a:r>
            <a:endParaRPr/>
          </a:p>
        </p:txBody>
      </p:sp>
      <p:sp>
        <p:nvSpPr>
          <p:cNvPr id="339" name="Google Shape;339;g3e839494688_0_116"/>
          <p:cNvSpPr/>
          <p:nvPr/>
        </p:nvSpPr>
        <p:spPr>
          <a:xfrm>
            <a:off x="640080" y="228600"/>
            <a:ext cx="1097400" cy="365700"/>
          </a:xfrm>
          <a:prstGeom prst="roundRect">
            <a:avLst>
              <a:gd fmla="val 16667" name="adj"/>
            </a:avLst>
          </a:prstGeom>
          <a:solidFill>
            <a:srgbClr val="5B21B6"/>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340" name="Google Shape;340;g3e839494688_0_116"/>
          <p:cNvSpPr/>
          <p:nvPr/>
        </p:nvSpPr>
        <p:spPr>
          <a:xfrm>
            <a:off x="731520" y="1371600"/>
            <a:ext cx="10728600" cy="5029200"/>
          </a:xfrm>
          <a:prstGeom prst="roundRect">
            <a:avLst>
              <a:gd fmla="val 16667" name="adj"/>
            </a:avLst>
          </a:prstGeom>
          <a:solidFill>
            <a:srgbClr val="F0F0F4"/>
          </a:solidFill>
          <a:ln cap="flat" cmpd="sng" w="12700">
            <a:solidFill>
              <a:srgbClr val="EEEEF0"/>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341" name="Google Shape;341;g3e839494688_0_116"/>
          <p:cNvSpPr txBox="1"/>
          <p:nvPr/>
        </p:nvSpPr>
        <p:spPr>
          <a:xfrm>
            <a:off x="1005840" y="1554480"/>
            <a:ext cx="10179900" cy="14262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1600">
                <a:solidFill>
                  <a:srgbClr val="333344"/>
                </a:solidFill>
                <a:latin typeface="Courier New"/>
                <a:ea typeface="Courier New"/>
                <a:cs typeface="Courier New"/>
                <a:sym typeface="Courier New"/>
              </a:rPr>
              <a:t># Imagine a perfect checker: a function halts(f) that</a:t>
            </a:r>
            <a:endParaRPr/>
          </a:p>
          <a:p>
            <a:pPr indent="0" lvl="0" marL="0" marR="0" rtl="0" algn="l">
              <a:spcBef>
                <a:spcPts val="200"/>
              </a:spcBef>
              <a:spcAft>
                <a:spcPts val="0"/>
              </a:spcAft>
              <a:buNone/>
            </a:pPr>
            <a:r>
              <a:rPr b="1" lang="en-US" sz="1600">
                <a:solidFill>
                  <a:srgbClr val="333344"/>
                </a:solidFill>
                <a:latin typeface="Courier New"/>
                <a:ea typeface="Courier New"/>
                <a:cs typeface="Courier New"/>
                <a:sym typeface="Courier New"/>
              </a:rPr>
              <a:t># returns True if f() eventually stops, and False if f()</a:t>
            </a:r>
            <a:endParaRPr/>
          </a:p>
          <a:p>
            <a:pPr indent="0" lvl="0" marL="0" marR="0" rtl="0" algn="l">
              <a:spcBef>
                <a:spcPts val="200"/>
              </a:spcBef>
              <a:spcAft>
                <a:spcPts val="0"/>
              </a:spcAft>
              <a:buNone/>
            </a:pPr>
            <a:r>
              <a:rPr b="1" lang="en-US" sz="1600">
                <a:solidFill>
                  <a:srgbClr val="333344"/>
                </a:solidFill>
                <a:latin typeface="Courier New"/>
                <a:ea typeface="Courier New"/>
                <a:cs typeface="Courier New"/>
                <a:sym typeface="Courier New"/>
              </a:rPr>
              <a:t># runs forever. Always answers, always right. (Your CI</a:t>
            </a:r>
            <a:endParaRPr/>
          </a:p>
          <a:p>
            <a:pPr indent="0" lvl="0" marL="0" marR="0" rtl="0" algn="l">
              <a:spcBef>
                <a:spcPts val="200"/>
              </a:spcBef>
              <a:spcAft>
                <a:spcPts val="0"/>
              </a:spcAft>
              <a:buNone/>
            </a:pPr>
            <a:r>
              <a:rPr b="1" lang="en-US" sz="1600">
                <a:solidFill>
                  <a:srgbClr val="333344"/>
                </a:solidFill>
                <a:latin typeface="Courier New"/>
                <a:ea typeface="Courier New"/>
                <a:cs typeface="Courier New"/>
                <a:sym typeface="Courier New"/>
              </a:rPr>
              <a:t># could finally reject any accidental infinite loop.)</a:t>
            </a:r>
            <a:endParaRPr/>
          </a:p>
          <a:p>
            <a:pPr indent="0" lvl="0" marL="0" marR="0" rtl="0" algn="l">
              <a:spcBef>
                <a:spcPts val="200"/>
              </a:spcBef>
              <a:spcAft>
                <a:spcPts val="0"/>
              </a:spcAft>
              <a:buNone/>
            </a:pPr>
            <a:r>
              <a:rPr b="1" lang="en-US" sz="1600">
                <a:solidFill>
                  <a:srgbClr val="333344"/>
                </a:solidFill>
                <a:latin typeface="Courier New"/>
                <a:ea typeface="Courier New"/>
                <a:cs typeface="Courier New"/>
                <a:sym typeface="Courier New"/>
              </a:rPr>
              <a:t>#</a:t>
            </a:r>
            <a:endParaRP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46" name="Shape 346"/>
        <p:cNvGrpSpPr/>
        <p:nvPr/>
      </p:nvGrpSpPr>
      <p:grpSpPr>
        <a:xfrm>
          <a:off x="0" y="0"/>
          <a:ext cx="0" cy="0"/>
          <a:chOff x="0" y="0"/>
          <a:chExt cx="0" cy="0"/>
        </a:xfrm>
      </p:grpSpPr>
      <p:sp>
        <p:nvSpPr>
          <p:cNvPr id="347" name="Google Shape;347;g3e839494688_0_124"/>
          <p:cNvSpPr txBox="1"/>
          <p:nvPr/>
        </p:nvSpPr>
        <p:spPr>
          <a:xfrm>
            <a:off x="731520" y="274320"/>
            <a:ext cx="10728600" cy="8004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1600">
                <a:solidFill>
                  <a:srgbClr val="FFFFFF"/>
                </a:solidFill>
                <a:latin typeface="Calibri"/>
                <a:ea typeface="Calibri"/>
                <a:cs typeface="Calibri"/>
                <a:sym typeface="Calibri"/>
              </a:rPr>
              <a:t>TRY IT  </a:t>
            </a:r>
            <a:endParaRPr/>
          </a:p>
          <a:p>
            <a:pPr indent="0" lvl="0" marL="0" marR="0" rtl="0" algn="l">
              <a:spcBef>
                <a:spcPts val="0"/>
              </a:spcBef>
              <a:spcAft>
                <a:spcPts val="0"/>
              </a:spcAft>
              <a:buNone/>
            </a:pPr>
            <a:r>
              <a:rPr b="1" lang="en-US" sz="3000">
                <a:solidFill>
                  <a:srgbClr val="1A1A2E"/>
                </a:solidFill>
                <a:latin typeface="Calibri"/>
                <a:ea typeface="Calibri"/>
                <a:cs typeface="Calibri"/>
                <a:sym typeface="Calibri"/>
              </a:rPr>
              <a:t>Does this program stop?</a:t>
            </a:r>
            <a:endParaRPr/>
          </a:p>
        </p:txBody>
      </p:sp>
      <p:sp>
        <p:nvSpPr>
          <p:cNvPr id="348" name="Google Shape;348;g3e839494688_0_124"/>
          <p:cNvSpPr/>
          <p:nvPr/>
        </p:nvSpPr>
        <p:spPr>
          <a:xfrm>
            <a:off x="640080" y="228600"/>
            <a:ext cx="1097400" cy="365700"/>
          </a:xfrm>
          <a:prstGeom prst="roundRect">
            <a:avLst>
              <a:gd fmla="val 16667" name="adj"/>
            </a:avLst>
          </a:prstGeom>
          <a:solidFill>
            <a:srgbClr val="5B21B6"/>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349" name="Google Shape;349;g3e839494688_0_124"/>
          <p:cNvSpPr/>
          <p:nvPr/>
        </p:nvSpPr>
        <p:spPr>
          <a:xfrm>
            <a:off x="731520" y="1371600"/>
            <a:ext cx="10728600" cy="5029200"/>
          </a:xfrm>
          <a:prstGeom prst="roundRect">
            <a:avLst>
              <a:gd fmla="val 16667" name="adj"/>
            </a:avLst>
          </a:prstGeom>
          <a:solidFill>
            <a:srgbClr val="F0F0F4"/>
          </a:solidFill>
          <a:ln cap="flat" cmpd="sng" w="12700">
            <a:solidFill>
              <a:srgbClr val="EEEEF0"/>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350" name="Google Shape;350;g3e839494688_0_124"/>
          <p:cNvSpPr txBox="1"/>
          <p:nvPr/>
        </p:nvSpPr>
        <p:spPr>
          <a:xfrm>
            <a:off x="1005840" y="1554480"/>
            <a:ext cx="10179900" cy="38430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1600">
                <a:solidFill>
                  <a:srgbClr val="333344"/>
                </a:solidFill>
                <a:latin typeface="Courier New"/>
                <a:ea typeface="Courier New"/>
                <a:cs typeface="Courier New"/>
                <a:sym typeface="Courier New"/>
              </a:rPr>
              <a:t># Imagine a perfect checker: a function halts(f) that</a:t>
            </a:r>
            <a:endParaRPr/>
          </a:p>
          <a:p>
            <a:pPr indent="0" lvl="0" marL="0" marR="0" rtl="0" algn="l">
              <a:spcBef>
                <a:spcPts val="200"/>
              </a:spcBef>
              <a:spcAft>
                <a:spcPts val="0"/>
              </a:spcAft>
              <a:buNone/>
            </a:pPr>
            <a:r>
              <a:rPr b="1" lang="en-US" sz="1600">
                <a:solidFill>
                  <a:srgbClr val="333344"/>
                </a:solidFill>
                <a:latin typeface="Courier New"/>
                <a:ea typeface="Courier New"/>
                <a:cs typeface="Courier New"/>
                <a:sym typeface="Courier New"/>
              </a:rPr>
              <a:t># returns True if f() eventually stops, and False if f()</a:t>
            </a:r>
            <a:endParaRPr/>
          </a:p>
          <a:p>
            <a:pPr indent="0" lvl="0" marL="0" marR="0" rtl="0" algn="l">
              <a:spcBef>
                <a:spcPts val="200"/>
              </a:spcBef>
              <a:spcAft>
                <a:spcPts val="0"/>
              </a:spcAft>
              <a:buNone/>
            </a:pPr>
            <a:r>
              <a:rPr b="1" lang="en-US" sz="1600">
                <a:solidFill>
                  <a:srgbClr val="333344"/>
                </a:solidFill>
                <a:latin typeface="Courier New"/>
                <a:ea typeface="Courier New"/>
                <a:cs typeface="Courier New"/>
                <a:sym typeface="Courier New"/>
              </a:rPr>
              <a:t># runs forever. Always answers, always right. (Your CI</a:t>
            </a:r>
            <a:endParaRPr/>
          </a:p>
          <a:p>
            <a:pPr indent="0" lvl="0" marL="0" marR="0" rtl="0" algn="l">
              <a:spcBef>
                <a:spcPts val="200"/>
              </a:spcBef>
              <a:spcAft>
                <a:spcPts val="0"/>
              </a:spcAft>
              <a:buNone/>
            </a:pPr>
            <a:r>
              <a:rPr b="1" lang="en-US" sz="1600">
                <a:solidFill>
                  <a:srgbClr val="333344"/>
                </a:solidFill>
                <a:latin typeface="Courier New"/>
                <a:ea typeface="Courier New"/>
                <a:cs typeface="Courier New"/>
                <a:sym typeface="Courier New"/>
              </a:rPr>
              <a:t># could finally reject any accidental infinite loop.)</a:t>
            </a:r>
            <a:endParaRPr/>
          </a:p>
          <a:p>
            <a:pPr indent="0" lvl="0" marL="0" marR="0" rtl="0" algn="l">
              <a:spcBef>
                <a:spcPts val="200"/>
              </a:spcBef>
              <a:spcAft>
                <a:spcPts val="0"/>
              </a:spcAft>
              <a:buNone/>
            </a:pPr>
            <a:r>
              <a:rPr b="1" lang="en-US" sz="1600">
                <a:solidFill>
                  <a:srgbClr val="333344"/>
                </a:solidFill>
                <a:latin typeface="Courier New"/>
                <a:ea typeface="Courier New"/>
                <a:cs typeface="Courier New"/>
                <a:sym typeface="Courier New"/>
              </a:rPr>
              <a:t>#</a:t>
            </a:r>
            <a:endParaRPr/>
          </a:p>
          <a:p>
            <a:pPr indent="0" lvl="0" marL="0" marR="0" rtl="0" algn="l">
              <a:spcBef>
                <a:spcPts val="200"/>
              </a:spcBef>
              <a:spcAft>
                <a:spcPts val="0"/>
              </a:spcAft>
              <a:buNone/>
            </a:pPr>
            <a:r>
              <a:rPr b="1" lang="en-US" sz="1600">
                <a:solidFill>
                  <a:srgbClr val="333344"/>
                </a:solidFill>
                <a:latin typeface="Courier New"/>
                <a:ea typeface="Courier New"/>
                <a:cs typeface="Courier New"/>
                <a:sym typeface="Courier New"/>
              </a:rPr>
              <a:t># If we had it, nothing stops us writing this:</a:t>
            </a:r>
            <a:endParaRPr/>
          </a:p>
          <a:p>
            <a:pPr indent="0" lvl="0" marL="0" marR="0" rtl="0" algn="l">
              <a:spcBef>
                <a:spcPts val="200"/>
              </a:spcBef>
              <a:spcAft>
                <a:spcPts val="0"/>
              </a:spcAft>
              <a:buNone/>
            </a:pPr>
            <a:r>
              <a:t/>
            </a:r>
            <a:endParaRPr b="1" sz="1600">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lang="en-US" sz="1600">
                <a:solidFill>
                  <a:srgbClr val="333344"/>
                </a:solidFill>
                <a:latin typeface="Courier New"/>
                <a:ea typeface="Courier New"/>
                <a:cs typeface="Courier New"/>
                <a:sym typeface="Courier New"/>
              </a:rPr>
              <a:t>def doIHalt():</a:t>
            </a:r>
            <a:endParaRPr/>
          </a:p>
          <a:p>
            <a:pPr indent="0" lvl="0" marL="0" marR="0" rtl="0" algn="l">
              <a:spcBef>
                <a:spcPts val="200"/>
              </a:spcBef>
              <a:spcAft>
                <a:spcPts val="0"/>
              </a:spcAft>
              <a:buNone/>
            </a:pPr>
            <a:r>
              <a:rPr b="1" lang="en-US" sz="1600">
                <a:solidFill>
                  <a:srgbClr val="333344"/>
                </a:solidFill>
                <a:latin typeface="Courier New"/>
                <a:ea typeface="Courier New"/>
                <a:cs typeface="Courier New"/>
                <a:sym typeface="Courier New"/>
              </a:rPr>
              <a:t>    if halts(doIHalt):      # "do I, trouble, ever stop?"</a:t>
            </a:r>
            <a:endParaRPr/>
          </a:p>
          <a:p>
            <a:pPr indent="0" lvl="0" marL="0" marR="0" rtl="0" algn="l">
              <a:spcBef>
                <a:spcPts val="200"/>
              </a:spcBef>
              <a:spcAft>
                <a:spcPts val="0"/>
              </a:spcAft>
              <a:buNone/>
            </a:pPr>
            <a:r>
              <a:rPr b="1" lang="en-US" sz="1600">
                <a:solidFill>
                  <a:srgbClr val="333344"/>
                </a:solidFill>
                <a:latin typeface="Courier New"/>
                <a:ea typeface="Courier New"/>
                <a:cs typeface="Courier New"/>
                <a:sym typeface="Courier New"/>
              </a:rPr>
              <a:t>        while True:         #   yes? then loop forever</a:t>
            </a:r>
            <a:endParaRPr/>
          </a:p>
          <a:p>
            <a:pPr indent="0" lvl="0" marL="0" marR="0" rtl="0" algn="l">
              <a:spcBef>
                <a:spcPts val="200"/>
              </a:spcBef>
              <a:spcAft>
                <a:spcPts val="0"/>
              </a:spcAft>
              <a:buNone/>
            </a:pPr>
            <a:r>
              <a:rPr b="1" lang="en-US" sz="1600">
                <a:solidFill>
                  <a:srgbClr val="333344"/>
                </a:solidFill>
                <a:latin typeface="Courier New"/>
                <a:ea typeface="Courier New"/>
                <a:cs typeface="Courier New"/>
                <a:sym typeface="Courier New"/>
              </a:rPr>
              <a:t>            pass</a:t>
            </a:r>
            <a:endParaRPr/>
          </a:p>
          <a:p>
            <a:pPr indent="0" lvl="0" marL="0" marR="0" rtl="0" algn="l">
              <a:spcBef>
                <a:spcPts val="200"/>
              </a:spcBef>
              <a:spcAft>
                <a:spcPts val="0"/>
              </a:spcAft>
              <a:buNone/>
            </a:pPr>
            <a:r>
              <a:rPr b="1" lang="en-US" sz="1600">
                <a:solidFill>
                  <a:srgbClr val="333344"/>
                </a:solidFill>
                <a:latin typeface="Courier New"/>
                <a:ea typeface="Courier New"/>
                <a:cs typeface="Courier New"/>
                <a:sym typeface="Courier New"/>
              </a:rPr>
              <a:t>    else:                   #   no? then stop right now</a:t>
            </a:r>
            <a:endParaRPr/>
          </a:p>
          <a:p>
            <a:pPr indent="0" lvl="0" marL="0" marR="0" rtl="0" algn="l">
              <a:spcBef>
                <a:spcPts val="200"/>
              </a:spcBef>
              <a:spcAft>
                <a:spcPts val="0"/>
              </a:spcAft>
              <a:buNone/>
            </a:pPr>
            <a:r>
              <a:rPr b="1" lang="en-US" sz="1600">
                <a:solidFill>
                  <a:srgbClr val="333344"/>
                </a:solidFill>
                <a:latin typeface="Courier New"/>
                <a:ea typeface="Courier New"/>
                <a:cs typeface="Courier New"/>
                <a:sym typeface="Courier New"/>
              </a:rPr>
              <a:t>        return</a:t>
            </a:r>
            <a:endParaRPr/>
          </a:p>
          <a:p>
            <a:pPr indent="0" lvl="0" marL="0" marR="0" rtl="0" algn="l">
              <a:spcBef>
                <a:spcPts val="200"/>
              </a:spcBef>
              <a:spcAft>
                <a:spcPts val="0"/>
              </a:spcAft>
              <a:buNone/>
            </a:pPr>
            <a:r>
              <a:t/>
            </a:r>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55" name="Shape 355"/>
        <p:cNvGrpSpPr/>
        <p:nvPr/>
      </p:nvGrpSpPr>
      <p:grpSpPr>
        <a:xfrm>
          <a:off x="0" y="0"/>
          <a:ext cx="0" cy="0"/>
          <a:chOff x="0" y="0"/>
          <a:chExt cx="0" cy="0"/>
        </a:xfrm>
      </p:grpSpPr>
      <p:sp>
        <p:nvSpPr>
          <p:cNvPr id="356" name="Google Shape;356;g3e839494688_0_132"/>
          <p:cNvSpPr txBox="1"/>
          <p:nvPr/>
        </p:nvSpPr>
        <p:spPr>
          <a:xfrm>
            <a:off x="731520" y="274320"/>
            <a:ext cx="10728600" cy="8004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1600">
                <a:solidFill>
                  <a:srgbClr val="FFFFFF"/>
                </a:solidFill>
                <a:latin typeface="Calibri"/>
                <a:ea typeface="Calibri"/>
                <a:cs typeface="Calibri"/>
                <a:sym typeface="Calibri"/>
              </a:rPr>
              <a:t>TRY IT  </a:t>
            </a:r>
            <a:endParaRPr/>
          </a:p>
          <a:p>
            <a:pPr indent="0" lvl="0" marL="0" marR="0" rtl="0" algn="l">
              <a:spcBef>
                <a:spcPts val="0"/>
              </a:spcBef>
              <a:spcAft>
                <a:spcPts val="0"/>
              </a:spcAft>
              <a:buNone/>
            </a:pPr>
            <a:r>
              <a:rPr b="1" lang="en-US" sz="3000">
                <a:solidFill>
                  <a:srgbClr val="1A1A2E"/>
                </a:solidFill>
                <a:latin typeface="Calibri"/>
                <a:ea typeface="Calibri"/>
                <a:cs typeface="Calibri"/>
                <a:sym typeface="Calibri"/>
              </a:rPr>
              <a:t>Does this program stop?</a:t>
            </a:r>
            <a:endParaRPr/>
          </a:p>
        </p:txBody>
      </p:sp>
      <p:sp>
        <p:nvSpPr>
          <p:cNvPr id="357" name="Google Shape;357;g3e839494688_0_132"/>
          <p:cNvSpPr/>
          <p:nvPr/>
        </p:nvSpPr>
        <p:spPr>
          <a:xfrm>
            <a:off x="640080" y="228600"/>
            <a:ext cx="1097400" cy="365700"/>
          </a:xfrm>
          <a:prstGeom prst="roundRect">
            <a:avLst>
              <a:gd fmla="val 16667" name="adj"/>
            </a:avLst>
          </a:prstGeom>
          <a:solidFill>
            <a:srgbClr val="5B21B6"/>
          </a:solidFill>
          <a:ln>
            <a:noFill/>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358" name="Google Shape;358;g3e839494688_0_132"/>
          <p:cNvSpPr/>
          <p:nvPr/>
        </p:nvSpPr>
        <p:spPr>
          <a:xfrm>
            <a:off x="731520" y="1371600"/>
            <a:ext cx="10728600" cy="5029200"/>
          </a:xfrm>
          <a:prstGeom prst="roundRect">
            <a:avLst>
              <a:gd fmla="val 16667" name="adj"/>
            </a:avLst>
          </a:prstGeom>
          <a:solidFill>
            <a:srgbClr val="F0F0F4"/>
          </a:solidFill>
          <a:ln cap="flat" cmpd="sng" w="12700">
            <a:solidFill>
              <a:srgbClr val="EEEEF0"/>
            </a:solidFill>
            <a:prstDash val="solid"/>
            <a:round/>
            <a:headEnd len="sm" w="sm" type="none"/>
            <a:tailEnd len="sm" w="sm" type="none"/>
          </a:ln>
          <a:effectLst>
            <a:outerShdw blurRad="40000" rotWithShape="0" dir="5400000" dist="23000">
              <a:srgbClr val="000000">
                <a:alpha val="349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359" name="Google Shape;359;g3e839494688_0_132"/>
          <p:cNvSpPr txBox="1"/>
          <p:nvPr/>
        </p:nvSpPr>
        <p:spPr>
          <a:xfrm>
            <a:off x="1005840" y="1554480"/>
            <a:ext cx="10179900" cy="46896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1600">
                <a:solidFill>
                  <a:srgbClr val="333344"/>
                </a:solidFill>
                <a:latin typeface="Courier New"/>
                <a:ea typeface="Courier New"/>
                <a:cs typeface="Courier New"/>
                <a:sym typeface="Courier New"/>
              </a:rPr>
              <a:t># Imagine a perfect checker: a function halts(f) that</a:t>
            </a:r>
            <a:endParaRPr/>
          </a:p>
          <a:p>
            <a:pPr indent="0" lvl="0" marL="0" marR="0" rtl="0" algn="l">
              <a:spcBef>
                <a:spcPts val="200"/>
              </a:spcBef>
              <a:spcAft>
                <a:spcPts val="0"/>
              </a:spcAft>
              <a:buNone/>
            </a:pPr>
            <a:r>
              <a:rPr b="1" lang="en-US" sz="1600">
                <a:solidFill>
                  <a:srgbClr val="333344"/>
                </a:solidFill>
                <a:latin typeface="Courier New"/>
                <a:ea typeface="Courier New"/>
                <a:cs typeface="Courier New"/>
                <a:sym typeface="Courier New"/>
              </a:rPr>
              <a:t># returns True if f() eventually stops, and False if f()</a:t>
            </a:r>
            <a:endParaRPr/>
          </a:p>
          <a:p>
            <a:pPr indent="0" lvl="0" marL="0" marR="0" rtl="0" algn="l">
              <a:spcBef>
                <a:spcPts val="200"/>
              </a:spcBef>
              <a:spcAft>
                <a:spcPts val="0"/>
              </a:spcAft>
              <a:buNone/>
            </a:pPr>
            <a:r>
              <a:rPr b="1" lang="en-US" sz="1600">
                <a:solidFill>
                  <a:srgbClr val="333344"/>
                </a:solidFill>
                <a:latin typeface="Courier New"/>
                <a:ea typeface="Courier New"/>
                <a:cs typeface="Courier New"/>
                <a:sym typeface="Courier New"/>
              </a:rPr>
              <a:t># runs forever. Always answers, always right. (Your CI</a:t>
            </a:r>
            <a:endParaRPr/>
          </a:p>
          <a:p>
            <a:pPr indent="0" lvl="0" marL="0" marR="0" rtl="0" algn="l">
              <a:spcBef>
                <a:spcPts val="200"/>
              </a:spcBef>
              <a:spcAft>
                <a:spcPts val="0"/>
              </a:spcAft>
              <a:buNone/>
            </a:pPr>
            <a:r>
              <a:rPr b="1" lang="en-US" sz="1600">
                <a:solidFill>
                  <a:srgbClr val="333344"/>
                </a:solidFill>
                <a:latin typeface="Courier New"/>
                <a:ea typeface="Courier New"/>
                <a:cs typeface="Courier New"/>
                <a:sym typeface="Courier New"/>
              </a:rPr>
              <a:t># could finally reject any accidental infinite loop.)</a:t>
            </a:r>
            <a:endParaRPr/>
          </a:p>
          <a:p>
            <a:pPr indent="0" lvl="0" marL="0" marR="0" rtl="0" algn="l">
              <a:spcBef>
                <a:spcPts val="200"/>
              </a:spcBef>
              <a:spcAft>
                <a:spcPts val="0"/>
              </a:spcAft>
              <a:buNone/>
            </a:pPr>
            <a:r>
              <a:rPr b="1" lang="en-US" sz="1600">
                <a:solidFill>
                  <a:srgbClr val="333344"/>
                </a:solidFill>
                <a:latin typeface="Courier New"/>
                <a:ea typeface="Courier New"/>
                <a:cs typeface="Courier New"/>
                <a:sym typeface="Courier New"/>
              </a:rPr>
              <a:t>#</a:t>
            </a:r>
            <a:endParaRPr/>
          </a:p>
          <a:p>
            <a:pPr indent="0" lvl="0" marL="0" marR="0" rtl="0" algn="l">
              <a:spcBef>
                <a:spcPts val="200"/>
              </a:spcBef>
              <a:spcAft>
                <a:spcPts val="0"/>
              </a:spcAft>
              <a:buNone/>
            </a:pPr>
            <a:r>
              <a:rPr b="1" lang="en-US" sz="1600">
                <a:solidFill>
                  <a:srgbClr val="333344"/>
                </a:solidFill>
                <a:latin typeface="Courier New"/>
                <a:ea typeface="Courier New"/>
                <a:cs typeface="Courier New"/>
                <a:sym typeface="Courier New"/>
              </a:rPr>
              <a:t># If we had it, nothing stops us writing this:</a:t>
            </a:r>
            <a:endParaRPr/>
          </a:p>
          <a:p>
            <a:pPr indent="0" lvl="0" marL="0" marR="0" rtl="0" algn="l">
              <a:spcBef>
                <a:spcPts val="200"/>
              </a:spcBef>
              <a:spcAft>
                <a:spcPts val="0"/>
              </a:spcAft>
              <a:buNone/>
            </a:pPr>
            <a:r>
              <a:t/>
            </a:r>
            <a:endParaRPr b="1" sz="1600">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lang="en-US" sz="1600">
                <a:solidFill>
                  <a:srgbClr val="333344"/>
                </a:solidFill>
                <a:latin typeface="Courier New"/>
                <a:ea typeface="Courier New"/>
                <a:cs typeface="Courier New"/>
                <a:sym typeface="Courier New"/>
              </a:rPr>
              <a:t>def doIHalt():</a:t>
            </a:r>
            <a:endParaRPr/>
          </a:p>
          <a:p>
            <a:pPr indent="0" lvl="0" marL="0" marR="0" rtl="0" algn="l">
              <a:spcBef>
                <a:spcPts val="200"/>
              </a:spcBef>
              <a:spcAft>
                <a:spcPts val="0"/>
              </a:spcAft>
              <a:buNone/>
            </a:pPr>
            <a:r>
              <a:rPr b="1" lang="en-US" sz="1600">
                <a:solidFill>
                  <a:srgbClr val="333344"/>
                </a:solidFill>
                <a:latin typeface="Courier New"/>
                <a:ea typeface="Courier New"/>
                <a:cs typeface="Courier New"/>
                <a:sym typeface="Courier New"/>
              </a:rPr>
              <a:t>    if halts(doIHalt):      # "do I, trouble, ever stop?"</a:t>
            </a:r>
            <a:endParaRPr/>
          </a:p>
          <a:p>
            <a:pPr indent="0" lvl="0" marL="0" marR="0" rtl="0" algn="l">
              <a:spcBef>
                <a:spcPts val="200"/>
              </a:spcBef>
              <a:spcAft>
                <a:spcPts val="0"/>
              </a:spcAft>
              <a:buNone/>
            </a:pPr>
            <a:r>
              <a:rPr b="1" lang="en-US" sz="1600">
                <a:solidFill>
                  <a:srgbClr val="333344"/>
                </a:solidFill>
                <a:latin typeface="Courier New"/>
                <a:ea typeface="Courier New"/>
                <a:cs typeface="Courier New"/>
                <a:sym typeface="Courier New"/>
              </a:rPr>
              <a:t>        while True:         #   yes? then loop forever</a:t>
            </a:r>
            <a:endParaRPr/>
          </a:p>
          <a:p>
            <a:pPr indent="0" lvl="0" marL="0" marR="0" rtl="0" algn="l">
              <a:spcBef>
                <a:spcPts val="200"/>
              </a:spcBef>
              <a:spcAft>
                <a:spcPts val="0"/>
              </a:spcAft>
              <a:buNone/>
            </a:pPr>
            <a:r>
              <a:rPr b="1" lang="en-US" sz="1600">
                <a:solidFill>
                  <a:srgbClr val="333344"/>
                </a:solidFill>
                <a:latin typeface="Courier New"/>
                <a:ea typeface="Courier New"/>
                <a:cs typeface="Courier New"/>
                <a:sym typeface="Courier New"/>
              </a:rPr>
              <a:t>            pass</a:t>
            </a:r>
            <a:endParaRPr/>
          </a:p>
          <a:p>
            <a:pPr indent="0" lvl="0" marL="0" marR="0" rtl="0" algn="l">
              <a:spcBef>
                <a:spcPts val="200"/>
              </a:spcBef>
              <a:spcAft>
                <a:spcPts val="0"/>
              </a:spcAft>
              <a:buNone/>
            </a:pPr>
            <a:r>
              <a:rPr b="1" lang="en-US" sz="1600">
                <a:solidFill>
                  <a:srgbClr val="333344"/>
                </a:solidFill>
                <a:latin typeface="Courier New"/>
                <a:ea typeface="Courier New"/>
                <a:cs typeface="Courier New"/>
                <a:sym typeface="Courier New"/>
              </a:rPr>
              <a:t>    else:                   #   no? then stop right now</a:t>
            </a:r>
            <a:endParaRPr/>
          </a:p>
          <a:p>
            <a:pPr indent="0" lvl="0" marL="0" marR="0" rtl="0" algn="l">
              <a:spcBef>
                <a:spcPts val="200"/>
              </a:spcBef>
              <a:spcAft>
                <a:spcPts val="0"/>
              </a:spcAft>
              <a:buNone/>
            </a:pPr>
            <a:r>
              <a:rPr b="1" lang="en-US" sz="1600">
                <a:solidFill>
                  <a:srgbClr val="333344"/>
                </a:solidFill>
                <a:latin typeface="Courier New"/>
                <a:ea typeface="Courier New"/>
                <a:cs typeface="Courier New"/>
                <a:sym typeface="Courier New"/>
              </a:rPr>
              <a:t>        return</a:t>
            </a:r>
            <a:endParaRPr/>
          </a:p>
          <a:p>
            <a:pPr indent="0" lvl="0" marL="0" marR="0" rtl="0" algn="l">
              <a:spcBef>
                <a:spcPts val="200"/>
              </a:spcBef>
              <a:spcAft>
                <a:spcPts val="0"/>
              </a:spcAft>
              <a:buNone/>
            </a:pPr>
            <a:r>
              <a:t/>
            </a:r>
            <a:endParaRPr b="1" sz="1600">
              <a:solidFill>
                <a:srgbClr val="333344"/>
              </a:solidFill>
              <a:latin typeface="Courier New"/>
              <a:ea typeface="Courier New"/>
              <a:cs typeface="Courier New"/>
              <a:sym typeface="Courier New"/>
            </a:endParaRPr>
          </a:p>
          <a:p>
            <a:pPr indent="0" lvl="0" marL="0" marR="0" rtl="0" algn="l">
              <a:spcBef>
                <a:spcPts val="200"/>
              </a:spcBef>
              <a:spcAft>
                <a:spcPts val="0"/>
              </a:spcAft>
              <a:buNone/>
            </a:pPr>
            <a:r>
              <a:rPr b="1" lang="en-US" sz="1600">
                <a:solidFill>
                  <a:srgbClr val="333344"/>
                </a:solidFill>
                <a:latin typeface="Courier New"/>
                <a:ea typeface="Courier New"/>
                <a:cs typeface="Courier New"/>
                <a:sym typeface="Courier New"/>
              </a:rPr>
              <a:t># So... does doIHalt() stop?  Try it BOTH ways:</a:t>
            </a:r>
            <a:endParaRPr/>
          </a:p>
          <a:p>
            <a:pPr indent="0" lvl="0" marL="0" marR="0" rtl="0" algn="l">
              <a:spcBef>
                <a:spcPts val="200"/>
              </a:spcBef>
              <a:spcAft>
                <a:spcPts val="0"/>
              </a:spcAft>
              <a:buNone/>
            </a:pPr>
            <a:r>
              <a:rPr b="1" lang="en-US" sz="1600">
                <a:solidFill>
                  <a:srgbClr val="333344"/>
                </a:solidFill>
                <a:latin typeface="Courier New"/>
                <a:ea typeface="Courier New"/>
                <a:cs typeface="Courier New"/>
                <a:sym typeface="Courier New"/>
              </a:rPr>
              <a:t>#   if halts(doIHalt) is True,  what does doIHalt do?</a:t>
            </a:r>
            <a:endParaRPr/>
          </a:p>
          <a:p>
            <a:pPr indent="0" lvl="0" marL="0" marR="0" rtl="0" algn="l">
              <a:spcBef>
                <a:spcPts val="200"/>
              </a:spcBef>
              <a:spcAft>
                <a:spcPts val="0"/>
              </a:spcAft>
              <a:buNone/>
            </a:pPr>
            <a:r>
              <a:rPr b="1" lang="en-US" sz="1600">
                <a:solidFill>
                  <a:srgbClr val="B0B0C0"/>
                </a:solidFill>
                <a:latin typeface="Courier New"/>
                <a:ea typeface="Courier New"/>
                <a:cs typeface="Courier New"/>
                <a:sym typeface="Courier New"/>
              </a:rPr>
              <a:t>#   if halts(</a:t>
            </a:r>
            <a:r>
              <a:rPr b="1" lang="en-US" sz="1600">
                <a:solidFill>
                  <a:srgbClr val="333344"/>
                </a:solidFill>
                <a:latin typeface="Courier New"/>
                <a:ea typeface="Courier New"/>
                <a:cs typeface="Courier New"/>
                <a:sym typeface="Courier New"/>
              </a:rPr>
              <a:t>doIHalt</a:t>
            </a:r>
            <a:r>
              <a:rPr b="1" lang="en-US" sz="1600">
                <a:solidFill>
                  <a:srgbClr val="B0B0C0"/>
                </a:solidFill>
                <a:latin typeface="Courier New"/>
                <a:ea typeface="Courier New"/>
                <a:cs typeface="Courier New"/>
                <a:sym typeface="Courier New"/>
              </a:rPr>
              <a:t>) is False, what does </a:t>
            </a:r>
            <a:r>
              <a:rPr b="1" lang="en-US" sz="1600">
                <a:solidFill>
                  <a:srgbClr val="333344"/>
                </a:solidFill>
                <a:latin typeface="Courier New"/>
                <a:ea typeface="Courier New"/>
                <a:cs typeface="Courier New"/>
                <a:sym typeface="Courier New"/>
              </a:rPr>
              <a:t>doIHalt</a:t>
            </a:r>
            <a:r>
              <a:rPr b="1" lang="en-US" sz="1600">
                <a:solidFill>
                  <a:srgbClr val="B0B0C0"/>
                </a:solidFill>
                <a:latin typeface="Courier New"/>
                <a:ea typeface="Courier New"/>
                <a:cs typeface="Courier New"/>
                <a:sym typeface="Courier New"/>
              </a:rPr>
              <a:t> do? ________</a:t>
            </a:r>
            <a:endParaRPr/>
          </a:p>
        </p:txBody>
      </p:sp>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64" name="Shape 364"/>
        <p:cNvGrpSpPr/>
        <p:nvPr/>
      </p:nvGrpSpPr>
      <p:grpSpPr>
        <a:xfrm>
          <a:off x="0" y="0"/>
          <a:ext cx="0" cy="0"/>
          <a:chOff x="0" y="0"/>
          <a:chExt cx="0" cy="0"/>
        </a:xfrm>
      </p:grpSpPr>
      <p:sp>
        <p:nvSpPr>
          <p:cNvPr id="365" name="Google Shape;365;g3e839494688_0_140"/>
          <p:cNvSpPr txBox="1"/>
          <p:nvPr/>
        </p:nvSpPr>
        <p:spPr>
          <a:xfrm>
            <a:off x="731520" y="365760"/>
            <a:ext cx="10728600" cy="6465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3600">
                <a:solidFill>
                  <a:srgbClr val="1A1A2E"/>
                </a:solidFill>
                <a:latin typeface="Calibri"/>
                <a:ea typeface="Calibri"/>
                <a:cs typeface="Calibri"/>
                <a:sym typeface="Calibri"/>
              </a:rPr>
              <a:t>Computability</a:t>
            </a:r>
            <a:endParaRPr/>
          </a:p>
        </p:txBody>
      </p:sp>
      <p:sp>
        <p:nvSpPr>
          <p:cNvPr id="366" name="Google Shape;366;g3e839494688_0_140"/>
          <p:cNvSpPr txBox="1"/>
          <p:nvPr/>
        </p:nvSpPr>
        <p:spPr>
          <a:xfrm>
            <a:off x="914400" y="1463040"/>
            <a:ext cx="10362900" cy="2832300"/>
          </a:xfrm>
          <a:prstGeom prst="rect">
            <a:avLst/>
          </a:prstGeom>
          <a:noFill/>
          <a:ln>
            <a:noFill/>
          </a:ln>
        </p:spPr>
        <p:txBody>
          <a:bodyPr anchorCtr="0" anchor="t" bIns="45700" lIns="91425" spcFirstLastPara="1" rIns="91425" wrap="square" tIns="45700">
            <a:spAutoFit/>
          </a:bodyPr>
          <a:lstStyle/>
          <a:p>
            <a:pPr indent="0" lvl="0" marL="0" marR="0" rtl="0" algn="l">
              <a:spcBef>
                <a:spcPts val="600"/>
              </a:spcBef>
              <a:spcAft>
                <a:spcPts val="0"/>
              </a:spcAft>
              <a:buNone/>
            </a:pPr>
            <a:r>
              <a:rPr b="0" lang="en-US" sz="2400">
                <a:solidFill>
                  <a:srgbClr val="333344"/>
                </a:solidFill>
                <a:latin typeface="Calibri"/>
                <a:ea typeface="Calibri"/>
                <a:cs typeface="Calibri"/>
                <a:sym typeface="Calibri"/>
              </a:rPr>
              <a:t>The only way out is that halts() can't exist in the first place. </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Not 'we haven't built it yet' or 'it'd be too slow' - it is provably impossible for</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ANY program to look at any program and always say whether it stops.</a:t>
            </a:r>
            <a:endParaRPr/>
          </a:p>
          <a:p>
            <a:pPr indent="0" lvl="0" marL="0" marR="0" rtl="0" algn="l">
              <a:spcBef>
                <a:spcPts val="600"/>
              </a:spcBef>
              <a:spcAft>
                <a:spcPts val="0"/>
              </a:spcAft>
              <a:buNone/>
            </a:pPr>
            <a:r>
              <a:t/>
            </a:r>
            <a:endParaRPr b="0" i="0" sz="2000" u="none" cap="none" strike="noStrike">
              <a:solidFill>
                <a:srgbClr val="666677"/>
              </a:solidFill>
              <a:latin typeface="Calibri"/>
              <a:ea typeface="Calibri"/>
              <a:cs typeface="Calibri"/>
              <a:sym typeface="Calibri"/>
            </a:endParaRPr>
          </a:p>
          <a:p>
            <a:pPr indent="0" lvl="0" marL="0" marR="0" rtl="0" algn="l">
              <a:spcBef>
                <a:spcPts val="600"/>
              </a:spcBef>
              <a:spcAft>
                <a:spcPts val="0"/>
              </a:spcAft>
              <a:buNone/>
            </a:pPr>
            <a:r>
              <a:rPr lang="en-US" sz="2400">
                <a:solidFill>
                  <a:srgbClr val="333344"/>
                </a:solidFill>
                <a:latin typeface="Calibri"/>
                <a:ea typeface="Calibri"/>
                <a:cs typeface="Calibri"/>
                <a:sym typeface="Calibri"/>
              </a:rPr>
              <a:t>So</a:t>
            </a:r>
            <a:r>
              <a:rPr b="0" lang="en-US" sz="2400">
                <a:solidFill>
                  <a:srgbClr val="333344"/>
                </a:solidFill>
                <a:latin typeface="Calibri"/>
                <a:ea typeface="Calibri"/>
                <a:cs typeface="Calibri"/>
                <a:sym typeface="Calibri"/>
              </a:rPr>
              <a:t>me perfectly clear yes/no questions </a:t>
            </a:r>
            <a:r>
              <a:rPr lang="en-US" sz="2400">
                <a:solidFill>
                  <a:srgbClr val="333344"/>
                </a:solidFill>
                <a:latin typeface="Calibri"/>
                <a:ea typeface="Calibri"/>
                <a:cs typeface="Calibri"/>
                <a:sym typeface="Calibri"/>
              </a:rPr>
              <a:t>can’t</a:t>
            </a:r>
            <a:r>
              <a:rPr b="0" lang="en-US" sz="2400">
                <a:solidFill>
                  <a:srgbClr val="333344"/>
                </a:solidFill>
                <a:latin typeface="Calibri"/>
                <a:ea typeface="Calibri"/>
                <a:cs typeface="Calibri"/>
                <a:sym typeface="Calibri"/>
              </a:rPr>
              <a:t> </a:t>
            </a:r>
            <a:r>
              <a:rPr lang="en-US" sz="2400">
                <a:solidFill>
                  <a:srgbClr val="333344"/>
                </a:solidFill>
                <a:latin typeface="Calibri"/>
                <a:ea typeface="Calibri"/>
                <a:cs typeface="Calibri"/>
                <a:sym typeface="Calibri"/>
              </a:rPr>
              <a:t>be programmatically answered.</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a:t>
            </a:r>
            <a:r>
              <a:rPr lang="en-US" sz="2000">
                <a:solidFill>
                  <a:srgbClr val="666677"/>
                </a:solidFill>
                <a:latin typeface="Calibri"/>
                <a:ea typeface="Calibri"/>
                <a:cs typeface="Calibri"/>
                <a:sym typeface="Calibri"/>
              </a:rPr>
              <a:t>It</a:t>
            </a:r>
            <a:r>
              <a:rPr b="0" i="0" lang="en-US" sz="2000" u="none" cap="none" strike="noStrike">
                <a:solidFill>
                  <a:srgbClr val="666677"/>
                </a:solidFill>
                <a:latin typeface="Calibri"/>
                <a:ea typeface="Calibri"/>
                <a:cs typeface="Calibri"/>
                <a:sym typeface="Calibri"/>
              </a:rPr>
              <a:t>'s why no linter or test suite can catch </a:t>
            </a:r>
            <a:r>
              <a:rPr lang="en-US" sz="2000">
                <a:solidFill>
                  <a:srgbClr val="666677"/>
                </a:solidFill>
                <a:latin typeface="Calibri"/>
                <a:ea typeface="Calibri"/>
                <a:cs typeface="Calibri"/>
                <a:sym typeface="Calibri"/>
              </a:rPr>
              <a:t>every infinite loop.</a:t>
            </a:r>
            <a:endParaRPr/>
          </a:p>
          <a:p>
            <a:pPr indent="0" lvl="1" marL="457200" marR="0" rtl="0" algn="l">
              <a:spcBef>
                <a:spcPts val="600"/>
              </a:spcBef>
              <a:spcAft>
                <a:spcPts val="0"/>
              </a:spcAft>
              <a:buNone/>
            </a:pPr>
            <a:r>
              <a:rPr b="0" i="0" lang="en-US" sz="2000" u="none" cap="none" strike="noStrike">
                <a:solidFill>
                  <a:srgbClr val="666677"/>
                </a:solidFill>
                <a:latin typeface="Calibri"/>
                <a:ea typeface="Calibri"/>
                <a:cs typeface="Calibri"/>
                <a:sym typeface="Calibri"/>
              </a:rPr>
              <a:t>  Mapping out what's computable at all is Computability.</a:t>
            </a:r>
            <a:endParaRPr/>
          </a:p>
        </p:txBody>
      </p:sp>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DE9FE"/>
        </a:solidFill>
      </p:bgPr>
    </p:bg>
    <p:spTree>
      <p:nvGrpSpPr>
        <p:cNvPr id="371" name="Shape 371"/>
        <p:cNvGrpSpPr/>
        <p:nvPr/>
      </p:nvGrpSpPr>
      <p:grpSpPr>
        <a:xfrm>
          <a:off x="0" y="0"/>
          <a:ext cx="0" cy="0"/>
          <a:chOff x="0" y="0"/>
          <a:chExt cx="0" cy="0"/>
        </a:xfrm>
      </p:grpSpPr>
      <p:sp>
        <p:nvSpPr>
          <p:cNvPr id="372" name="Google Shape;372;p18"/>
          <p:cNvSpPr txBox="1"/>
          <p:nvPr/>
        </p:nvSpPr>
        <p:spPr>
          <a:xfrm>
            <a:off x="914400" y="2286000"/>
            <a:ext cx="10362895" cy="22860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lang="en-US" sz="4400">
                <a:solidFill>
                  <a:srgbClr val="5B21B6"/>
                </a:solidFill>
                <a:latin typeface="Calibri"/>
                <a:ea typeface="Calibri"/>
                <a:cs typeface="Calibri"/>
                <a:sym typeface="Calibri"/>
              </a:rPr>
              <a:t>Where this goes next</a:t>
            </a:r>
            <a:endParaRP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2013-01-27T09:14:16Z</dcterms:created>
</cp:coreProperties>
</file>