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embeddedFontLst>
    <p:embeddedFont>
      <p:font typeface="Courier Prime" pitchFamily="49" charset="77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hGUBe5AB3Vl2WYChXQFl8xPcQq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font" Target="fonts/font1.fntdata"/><Relationship Id="rId30" Type="http://schemas.openxmlformats.org/officeDocument/2006/relationships/font" Target="fonts/font2.fntdata"/><Relationship Id="rId31" Type="http://schemas.openxmlformats.org/officeDocument/2006/relationships/font" Target="fonts/font3.fntdata"/><Relationship Id="rId32" Type="http://schemas.openxmlformats.org/officeDocument/2006/relationships/font" Target="fonts/font4.fntdata"/><Relationship Id="rId36" Type="http://customschemas.google.com/relationships/presentationmetadata" Target="metadata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83" name="Google Shape;83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Two reasons not on slide: git lives here, your coding agent runs these commands.</a:t>
            </a:r>
          </a:p>
        </p:txBody>
      </p:sp>
      <p:sp>
        <p:nvSpPr>
          <p:cNvPr id="92" name="Google Shape;92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grep|sort|uniq replaces a script. Downside: 20 lines bash costs more than 20 Python.</a:t>
            </a:r>
          </a:p>
        </p:txBody>
      </p:sp>
      <p:sp>
        <p:nvSpPr>
          <p:cNvPr id="99" name="Google Shape;99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Show of hands: who has used a terminal?</a:t>
            </a:r>
          </a:p>
        </p:txBody>
      </p:sp>
      <p:sp>
        <p:nvSpPr>
          <p:cNvPr id="106" name="Google Shape;106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113" name="Google Shape;113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Point: you're always standing somewhere in the tree.</a:t>
            </a:r>
          </a:p>
        </p:txBody>
      </p:sp>
      <p:sp>
        <p:nvSpPr>
          <p:cNvPr id="121" name="Google Shape;121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137" name="Google Shape;137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Habit: `ls` before `rm`.</a:t>
            </a:r>
          </a:p>
        </p:txBody>
      </p:sp>
      <p:sp>
        <p:nvSpPr>
          <p:cNvPr id="146" name="Google Shape;146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Answer: walks from root and deletes everything; modern systems require `--no-preserve-root`.</a:t>
            </a:r>
          </a:p>
        </p:txBody>
      </p:sp>
      <p:sp>
        <p:nvSpPr>
          <p:cNvPr id="153" name="Google Shape;153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`tail -f`: they'll use this on their own web server in a few weeks.</a:t>
            </a:r>
          </a:p>
        </p:txBody>
      </p:sp>
      <p:sp>
        <p:nvSpPr>
          <p:cNvPr id="161" name="Google Shape;161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168" name="Google Shape;168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175" name="Google Shape;175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Skeleton of the semester-long chat app.</a:t>
            </a:r>
          </a:p>
        </p:txBody>
      </p:sp>
      <p:sp>
        <p:nvSpPr>
          <p:cNvPr id="182" name="Google Shape;182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191" name="Google Shape;191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38b15cab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g3d38b15cab4_0_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200" name="Google Shape;200;g3d38b15cab4_0_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208" name="Google Shape;208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38b15cab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g3d38b15cab4_0_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216" name="Google Shape;216;g3d38b15cab4_0_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224" name="Google Shape;224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2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Anything typed twice gets scripted. Week 8: GitHub Actions are shell scripts in YAML.</a:t>
            </a:r>
          </a:p>
        </p:txBody>
      </p:sp>
      <p:sp>
        <p:nvSpPr>
          <p:cNvPr id="232" name="Google Shape;232;p2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`2&gt;/dev/null` hides permission errors; `-S` sorts by size; 6 because line 1 is `total`.</a:t>
            </a:r>
          </a:p>
        </p:txBody>
      </p:sp>
      <p:sp>
        <p:nvSpPr>
          <p:cNvPr id="249" name="Google Shape;249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Skip octal. 'Permission denied' usually means chmod.</a:t>
            </a:r>
          </a:p>
        </p:txBody>
      </p:sp>
      <p:sp>
        <p:nvSpPr>
          <p:cNvPr id="258" name="Google Shape;258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FastAPI reads SECRET_KEY and DATABASE_URL from env. Show `$PATH`: how the shell finds commands.</a:t>
            </a:r>
          </a:p>
        </p:txBody>
      </p:sp>
      <p:sp>
        <p:nvSpPr>
          <p:cNvPr id="265" name="Google Shape;265;p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Take suggestions. Answer: `grep -r 'password' --include='*.py' .` (or find | xargs grep -l).</a:t>
            </a:r>
          </a:p>
        </p:txBody>
      </p:sp>
      <p:sp>
        <p:nvSpPr>
          <p:cNvPr id="273" name="Google Shape;273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Assignment: navigate, build the chat-app tree, do the pipe exercises.</a:t>
            </a:r>
          </a:p>
        </p:txBody>
      </p:sp>
      <p:sp>
        <p:nvSpPr>
          <p:cNvPr id="281" name="Google Shape;281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1645920"/>
            <a:ext cx="10362895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Lecture 1.2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2468880"/>
            <a:ext cx="10362895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Unix + Command Line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914400" y="4754880"/>
            <a:ext cx="1036289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Andy Aymeloglu - UATX Software Engineering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Why Unix/Linux?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914400" y="1463040"/>
            <a:ext cx="10362900" cy="21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Created at Bell Labs in 1969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still the foundation of modern computing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Runs virtually every server on the internet (AWS, Google, etc.)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macOS is built on Unix; Android is built on Linux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Core design philosophy: small, composable tools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"Do one thing well"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then combine them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Unix philosophy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914400" y="1463040"/>
            <a:ext cx="10362900" cy="26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1. Write programs that do one thing and do it well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2. Write programs to work together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3. Write programs to handle text streams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This is also good software engineering in general.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Small tools + composition = powerful systems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Why learn the CLI?</a:t>
            </a:r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914400" y="1463040"/>
            <a:ext cx="10362900" cy="22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Servers don't have GUIs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you SSH in and type commands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Automation: one script replaces 50 clicks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Git, Docker, cloud tools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all CLI-first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Speed: experienced devs are faster in a terminal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Reproducibility: a command can be shared, scripted, version-controlled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Anatomy of a command</a:t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1005840" y="1645920"/>
            <a:ext cx="10179900" cy="2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command  -flags  argument1  argument2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Example: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ls       -la     /home/user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^^^       ^^     ^^^^^^^^^^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verb    options   what to act on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The $ is the prompt - you don't type it.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navigation trio</a:t>
            </a:r>
            <a:endParaRPr/>
          </a:p>
        </p:txBody>
      </p:sp>
      <p:sp>
        <p:nvSpPr>
          <p:cNvPr id="124" name="Google Shape;124;p6"/>
          <p:cNvSpPr txBox="1"/>
          <p:nvPr/>
        </p:nvSpPr>
        <p:spPr>
          <a:xfrm>
            <a:off x="914400" y="1463040"/>
            <a:ext cx="10362900" cy="3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pwd</a:t>
            </a: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"where am I?" (print working directory)</a:t>
            </a:r>
            <a:endParaRPr dirty="0"/>
          </a:p>
          <a:p>
            <a:pPr lvl="0">
              <a:spcBef>
                <a:spcPts val="600"/>
              </a:spcBef>
            </a:pPr>
            <a:r>
              <a:rPr lang="en-US" sz="2400" b="1" i="0" u="none" strike="noStrike" cap="none" dirty="0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ls</a:t>
            </a: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"what's </a:t>
            </a: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here</a:t>
            </a:r>
            <a:r>
              <a:rPr lang="en-US" sz="2400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?" </a:t>
            </a: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(list directory contents)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ls -l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long format (permissions, size, date)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ls -a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show hidden files (dotfiles)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ls -la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both</a:t>
            </a:r>
            <a:endParaRPr dirty="0"/>
          </a:p>
          <a:p>
            <a:pPr lvl="0">
              <a:spcBef>
                <a:spcPts val="600"/>
              </a:spcBef>
            </a:pPr>
            <a:r>
              <a:rPr lang="en-US" sz="2400" b="1" i="0" u="none" strike="noStrike" cap="none" dirty="0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cd</a:t>
            </a: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"go somewhere" </a:t>
            </a: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(change directory)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Special paths:  .  (here)   ..  (parent)   ~  (home)   /  (root)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TRY IT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Navigate the filesystem</a:t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40080" y="228600"/>
            <a:ext cx="1097280" cy="365760"/>
          </a:xfrm>
          <a:prstGeom prst="roundRect">
            <a:avLst>
              <a:gd name="adj" fmla="val 16667"/>
            </a:avLst>
          </a:prstGeom>
          <a:solidFill>
            <a:srgbClr val="5B21B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731520" y="1371600"/>
            <a:ext cx="10728655" cy="50292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1005840" y="1554480"/>
            <a:ext cx="10179900" cy="46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pwd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________________________________________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B0B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ls -la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________________________________________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B0B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cd /tmp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pwd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________________________________________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B0B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cd ~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mkdir se-course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cd se-course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pwd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________________________________________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Navigate the filesystem</a:t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640080" y="228600"/>
            <a:ext cx="1188720" cy="365760"/>
          </a:xfrm>
          <a:prstGeom prst="roundRect">
            <a:avLst>
              <a:gd name="adj" fmla="val 16667"/>
            </a:avLst>
          </a:prstGeom>
          <a:solidFill>
            <a:srgbClr val="16653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731520" y="1371600"/>
            <a:ext cx="10728655" cy="50292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1005840" y="1554480"/>
            <a:ext cx="10179900" cy="46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pwd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/Users/andy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ls -la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drwxr-xr-x  12 andy  staff   384 Sep  1 10:00 .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-rw-r--r--   1 andy  staff    42 Sep  1 09:55 .bashrc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drwxr-xr-x   3 andy  staff    96 Sep  1 10:00 Documents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cd /tmp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pwd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/tmp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cd ~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mkdir se-course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cd se-course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pwd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/Users/andy/se-course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Creating &amp; removing things</a:t>
            </a:r>
            <a:endParaRPr/>
          </a:p>
        </p:txBody>
      </p:sp>
      <p:sp>
        <p:nvSpPr>
          <p:cNvPr id="149" name="Google Shape;149;p9"/>
          <p:cNvSpPr txBox="1"/>
          <p:nvPr/>
        </p:nvSpPr>
        <p:spPr>
          <a:xfrm>
            <a:off x="914400" y="1463040"/>
            <a:ext cx="103629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touch &lt;file&gt;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create empty file (or update timestamp)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mkdir &lt;dir&gt;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create directory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mkdir -p a/b/c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create nested dirs in one shot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rm &lt;file&gt;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delete a file (permanent! no trash can!)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rm -r &lt;dir&gt;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delete directory + everything inside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rmdir &lt;dir&gt;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delete empty directory only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FE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/>
        </p:nvSpPr>
        <p:spPr>
          <a:xfrm>
            <a:off x="5303520" y="457200"/>
            <a:ext cx="158465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156" name="Google Shape;156;p10"/>
          <p:cNvSpPr txBox="1"/>
          <p:nvPr/>
        </p:nvSpPr>
        <p:spPr>
          <a:xfrm>
            <a:off x="1371600" y="2011680"/>
            <a:ext cx="944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 would happen if you ran:  </a:t>
            </a:r>
            <a:r>
              <a:rPr lang="en-US" sz="3400" b="1">
                <a:solidFill>
                  <a:srgbClr val="1A1A2E"/>
                </a:solidFill>
                <a:latin typeface="Courier Prime"/>
                <a:ea typeface="Courier Prime"/>
                <a:cs typeface="Courier Prime"/>
                <a:sym typeface="Courier Prime"/>
              </a:rPr>
              <a:t>rm -rf /</a:t>
            </a:r>
            <a:r>
              <a:rPr lang="en-US" sz="34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?</a:t>
            </a:r>
            <a:endParaRPr/>
          </a:p>
        </p:txBody>
      </p:sp>
      <p:sp>
        <p:nvSpPr>
          <p:cNvPr id="157" name="Google Shape;157;p10"/>
          <p:cNvSpPr txBox="1"/>
          <p:nvPr/>
        </p:nvSpPr>
        <p:spPr>
          <a:xfrm>
            <a:off x="1828800" y="4572000"/>
            <a:ext cx="853409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(Don't try this.  But think about what it would attempt to do.)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Viewing file contents</a:t>
            </a:r>
            <a:endParaRPr/>
          </a:p>
        </p:txBody>
      </p:sp>
      <p:sp>
        <p:nvSpPr>
          <p:cNvPr id="164" name="Google Shape;164;p11"/>
          <p:cNvSpPr txBox="1"/>
          <p:nvPr/>
        </p:nvSpPr>
        <p:spPr>
          <a:xfrm>
            <a:off x="914400" y="1463040"/>
            <a:ext cx="10362900" cy="22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cat &lt;file&gt;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dump entire file to screen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less &lt;file&gt;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scroll through (q to quit, / to search)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head -n 5 &lt;file&gt;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first 5 lines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tail -n 5 &lt;file&gt;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last 5 lines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tail -f &lt;file&gt;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follow a log file in real time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Copying and moving files</a:t>
            </a:r>
            <a:endParaRPr/>
          </a:p>
        </p:txBody>
      </p:sp>
      <p:sp>
        <p:nvSpPr>
          <p:cNvPr id="171" name="Google Shape;171;p12"/>
          <p:cNvSpPr txBox="1"/>
          <p:nvPr/>
        </p:nvSpPr>
        <p:spPr>
          <a:xfrm>
            <a:off x="914400" y="1463040"/>
            <a:ext cx="10362900" cy="3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cp &lt;source&gt; &lt;dest&gt;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copy a file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cp -r &lt;dir&gt; &lt;dest&gt;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copy a directory (recursive)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mv &lt;source&gt; &lt;dest&gt;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move or rename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cp report.txt report_backup.txt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mv old_name.py new_name.py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mv data.csv project/data/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Redirection: controlling where output goes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914400" y="1463040"/>
            <a:ext cx="10362895" cy="3524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33344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&gt;</a:t>
            </a:r>
            <a:r>
              <a:rPr lang="en-US" sz="2400" b="0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  redirect </a:t>
            </a:r>
            <a:r>
              <a:rPr lang="en-US" sz="2400" b="0" dirty="0" err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stdout</a:t>
            </a:r>
            <a:r>
              <a:rPr lang="en-US" sz="2400" b="0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to a file (overwrites!)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33344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&gt;&gt;</a:t>
            </a:r>
            <a:r>
              <a:rPr lang="en-US" sz="2400" b="0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 append </a:t>
            </a:r>
            <a:r>
              <a:rPr lang="en-US" sz="2400" b="0" dirty="0" err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stdout</a:t>
            </a:r>
            <a:r>
              <a:rPr lang="en-US" sz="2400" b="0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to a file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33344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&lt;</a:t>
            </a:r>
            <a:r>
              <a:rPr lang="en-US" sz="2400" b="0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  read stdin from a file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33344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2&gt;</a:t>
            </a:r>
            <a:r>
              <a:rPr lang="en-US" sz="2400" b="0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 redirect stderr to a file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33344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2&gt;&amp;1 </a:t>
            </a:r>
            <a:r>
              <a:rPr lang="en-US" sz="2400" b="0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merge stderr into </a:t>
            </a:r>
            <a:r>
              <a:rPr lang="en-US" sz="2400" b="0" dirty="0" err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stdout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 dirty="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Every command has three streams: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stdin (0) - </a:t>
            </a:r>
            <a:r>
              <a:rPr lang="en-US" sz="2000" b="0" i="0" u="none" strike="noStrike" cap="none" dirty="0" err="1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stdout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(1) - stderr (2)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TRY IT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Set up the chat-app project</a:t>
            </a:r>
            <a:endParaRPr/>
          </a:p>
        </p:txBody>
      </p:sp>
      <p:sp>
        <p:nvSpPr>
          <p:cNvPr id="185" name="Google Shape;185;p13"/>
          <p:cNvSpPr/>
          <p:nvPr/>
        </p:nvSpPr>
        <p:spPr>
          <a:xfrm>
            <a:off x="640080" y="228600"/>
            <a:ext cx="1097280" cy="365760"/>
          </a:xfrm>
          <a:prstGeom prst="roundRect">
            <a:avLst>
              <a:gd name="adj" fmla="val 16667"/>
            </a:avLst>
          </a:prstGeom>
          <a:solidFill>
            <a:srgbClr val="5B21B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731520" y="1371600"/>
            <a:ext cx="10728655" cy="50292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"/>
          <p:cNvSpPr txBox="1"/>
          <p:nvPr/>
        </p:nvSpPr>
        <p:spPr>
          <a:xfrm>
            <a:off x="1005840" y="1554480"/>
            <a:ext cx="10179900" cy="3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mkdir -p chat-app/src chat-app/tests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cd chat-app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touch src/app.py src/models.py tests/test_app.py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echo '# Chat App' &gt; README.md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Verify the structure: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ls -R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________________________________________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________________________________________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________________________________________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________________________________________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Set up the chat-app project</a:t>
            </a:r>
            <a:endParaRPr/>
          </a:p>
        </p:txBody>
      </p:sp>
      <p:sp>
        <p:nvSpPr>
          <p:cNvPr id="194" name="Google Shape;194;p14"/>
          <p:cNvSpPr/>
          <p:nvPr/>
        </p:nvSpPr>
        <p:spPr>
          <a:xfrm>
            <a:off x="640080" y="228600"/>
            <a:ext cx="1188720" cy="365760"/>
          </a:xfrm>
          <a:prstGeom prst="roundRect">
            <a:avLst>
              <a:gd name="adj" fmla="val 16667"/>
            </a:avLst>
          </a:prstGeom>
          <a:solidFill>
            <a:srgbClr val="16653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731520" y="1371600"/>
            <a:ext cx="10728655" cy="50292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4"/>
          <p:cNvSpPr txBox="1"/>
          <p:nvPr/>
        </p:nvSpPr>
        <p:spPr>
          <a:xfrm>
            <a:off x="1005840" y="1554480"/>
            <a:ext cx="10179900" cy="43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mkdir -p chat-app/src chat-app/tests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cd chat-app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touch src/app.py src/models.py tests/test_app.py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echo '# Chat App' &gt; README.md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ls -R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.: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README.md   src   tests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./src: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app.py   models.py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./tests: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test_app.py</a:t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38b15cab4_0_3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Pipes: connecting commands together</a:t>
            </a:r>
            <a:endParaRPr/>
          </a:p>
        </p:txBody>
      </p:sp>
      <p:sp>
        <p:nvSpPr>
          <p:cNvPr id="203" name="Google Shape;203;g3d38b15cab4_0_3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d38b15cab4_0_3"/>
          <p:cNvSpPr txBox="1"/>
          <p:nvPr/>
        </p:nvSpPr>
        <p:spPr>
          <a:xfrm>
            <a:off x="1005840" y="1645920"/>
            <a:ext cx="101799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The pipe | sends one command's stdout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into the next command's stdin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cat server.log | grep "error" | wc -l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Pipes: connecting commands together</a:t>
            </a:r>
            <a:endParaRPr/>
          </a:p>
        </p:txBody>
      </p:sp>
      <p:sp>
        <p:nvSpPr>
          <p:cNvPr id="211" name="Google Shape;211;p16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6"/>
          <p:cNvSpPr txBox="1"/>
          <p:nvPr/>
        </p:nvSpPr>
        <p:spPr>
          <a:xfrm>
            <a:off x="1005840" y="1645920"/>
            <a:ext cx="10179900" cy="3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The pipe | sends one command's stdout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into the next command's stdin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cat server.log | grep "error" | wc -l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Read left to right: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1. Read the log file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2. Keep only lines containing "error"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3. Count those lines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This is the Unix philosophy in action: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small tools, chained together</a:t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38b15cab4_0_10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grep: searching inside files</a:t>
            </a:r>
            <a:endParaRPr/>
          </a:p>
        </p:txBody>
      </p:sp>
      <p:sp>
        <p:nvSpPr>
          <p:cNvPr id="219" name="Google Shape;219;g3d38b15cab4_0_10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d38b15cab4_0_10"/>
          <p:cNvSpPr txBox="1"/>
          <p:nvPr/>
        </p:nvSpPr>
        <p:spPr>
          <a:xfrm>
            <a:off x="1005840" y="1645920"/>
            <a:ext cx="10179900" cy="9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Find lines matching a pattern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grep "def " src/app.py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grep: searching inside files</a:t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1005840" y="1645920"/>
            <a:ext cx="10179900" cy="43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Find lines matching a pattern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grep "def " src/app.py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Recursive: search all files in a directory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grep -r "import" src/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Case insensitive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grep -i "error" server.log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Show line numbers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grep -n "TODO" src/*.py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Invert: show lines that DON'T match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grep -v "DEBUG" server.log</a:t>
            </a:r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Shell scripts: automating workflows</a:t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1005840" y="1645920"/>
            <a:ext cx="10179900" cy="3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setup.sh - set up our project from scratch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mkdir -p chat-app/{src,tests,static}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cd chat-app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python3 -m venv venv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source venv/bin/activate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pip install flask sqlalchemy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echo "Ready to go!"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Make it executable and run: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chmod +x setup.sh &amp;&amp; ./setup.sh</a:t>
            </a:r>
            <a:endParaRPr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TRY IT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Pipe chains</a:t>
            </a:r>
            <a:endParaRPr/>
          </a:p>
        </p:txBody>
      </p:sp>
      <p:sp>
        <p:nvSpPr>
          <p:cNvPr id="243" name="Google Shape;243;p17"/>
          <p:cNvSpPr/>
          <p:nvPr/>
        </p:nvSpPr>
        <p:spPr>
          <a:xfrm>
            <a:off x="640080" y="228600"/>
            <a:ext cx="1097280" cy="365760"/>
          </a:xfrm>
          <a:prstGeom prst="roundRect">
            <a:avLst>
              <a:gd name="adj" fmla="val 16667"/>
            </a:avLst>
          </a:prstGeom>
          <a:solidFill>
            <a:srgbClr val="5B21B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731520" y="1371600"/>
            <a:ext cx="10728655" cy="50292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7"/>
          <p:cNvSpPr txBox="1"/>
          <p:nvPr/>
        </p:nvSpPr>
        <p:spPr>
          <a:xfrm>
            <a:off x="1005840" y="1554480"/>
            <a:ext cx="10179900" cy="43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How many .py files exist under /usr ?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find /usr -name "*.py" 2&gt;/dev/null | wc -l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________________________________________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B0B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What are the 5 largest files in current dir?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ls -lS | head -n 6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________________________________________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B0B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B0B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B0B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B0B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Search your command history for 'mkdir'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history | grep mkdir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______________________________</a:t>
            </a:r>
            <a:r>
              <a:rPr lang="en-US" sz="1800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__________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Pipe chains</a:t>
            </a: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640080" y="228600"/>
            <a:ext cx="1188720" cy="365760"/>
          </a:xfrm>
          <a:prstGeom prst="roundRect">
            <a:avLst>
              <a:gd name="adj" fmla="val 16667"/>
            </a:avLst>
          </a:prstGeom>
          <a:solidFill>
            <a:srgbClr val="16653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731520" y="1371600"/>
            <a:ext cx="10728655" cy="50292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1005840" y="1554480"/>
            <a:ext cx="10179900" cy="46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How many .py files exist under /usr ?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find /usr -name "*.py" 2&gt;/dev/null | wc -l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1247  (number will vary)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What are the 5 largest files in current dir?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ls -lS | head -n 6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total 128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-rw-r--r--  1 andy staff 45056 Sep 1 data.db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-rw-r--r--  1 andy staff  8192 Sep 1 app.py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Search your command history for 'mkdir'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history | grep mkdir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142  mkdir -p chat-app/src chat-app/tests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...  </a:t>
            </a:r>
            <a:endParaRPr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File permissions (quick version)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914400" y="1463040"/>
            <a:ext cx="10362900" cy="39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Every file has permissions for: owner, group, others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Each gets some combination of: read (r), write (w), execute (x)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$ ls -l script.py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-rw-r--r--   means: owner rw, group r, others r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chmod +x script.py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make it executable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You'll need this when: running scripts, deploying to servers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Environment variables</a:t>
            </a:r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1005840" y="1645920"/>
            <a:ext cx="10179900" cy="3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See a specific one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echo $PATH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echo $HOME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Set one (current session only)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export DATABASE_URL="sqlite:///chat.db"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echo $DATABASE_URL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sqlite:///chat.db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Why this matters: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Your app reads config from env vars, not hardcoded strings.</a:t>
            </a:r>
            <a:endParaRPr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We'll use this pattern all semester.</a:t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FE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"/>
          <p:cNvSpPr txBox="1"/>
          <p:nvPr/>
        </p:nvSpPr>
        <p:spPr>
          <a:xfrm>
            <a:off x="5303520" y="457200"/>
            <a:ext cx="158465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1371600" y="2011680"/>
            <a:ext cx="944849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You need to find all .py files containing the word 'password' in your project. How?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1828800" y="4572000"/>
            <a:ext cx="853409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Combine what you've learned: find, grep, pipes.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Wrapping up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914400" y="1463040"/>
            <a:ext cx="103629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Unix/Linux is the foundation of modern infrastructure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Navigate: pwd, ls, cd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Create/destroy: mkdir, touch, rm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Inspect: cat, less, head, tail, grep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Compose: pipes (|) and redirection (&gt;, &gt;&gt;)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Next time: Git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version control for everything we build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2228</Words>
  <Application>Microsoft Macintosh PowerPoint</Application>
  <PresentationFormat>Widescreen</PresentationFormat>
  <Paragraphs>285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Calibri</vt:lpstr>
      <vt:lpstr>Arial</vt:lpstr>
      <vt:lpstr>Courier New</vt:lpstr>
      <vt:lpstr>Courier Prime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Andrew Aymeloglu</cp:lastModifiedBy>
  <cp:revision>1</cp:revision>
  <dcterms:created xsi:type="dcterms:W3CDTF">2013-01-27T09:14:16Z</dcterms:created>
  <dcterms:modified xsi:type="dcterms:W3CDTF">2026-08-02T19:02:18Z</dcterms:modified>
</cp:coreProperties>
</file>