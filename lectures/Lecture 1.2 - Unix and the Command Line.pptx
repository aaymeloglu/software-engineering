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y="6858000" cx="12191675"/>
  <p:notesSz cx="6858000" cy="9144000"/>
  <p:embeddedFontLst>
    <p:embeddedFont>
      <p:font typeface="Courier Prime"/>
      <p:regular r:id="rId32"/>
      <p:bold r:id="rId33"/>
      <p:italic r:id="rId34"/>
      <p:boldItalic r:id="rId3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36" roundtripDataSignature="AMtx7mhGUBe5AB3Vl2WYChXQFl8xPcQqe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font" Target="fonts/CourierPrime-regular.fntdata"/><Relationship Id="rId33" Type="http://schemas.openxmlformats.org/officeDocument/2006/relationships/font" Target="fonts/CourierPrime-bold.fntdata"/><Relationship Id="rId34" Type="http://schemas.openxmlformats.org/officeDocument/2006/relationships/font" Target="fonts/CourierPrime-italic.fntdata"/><Relationship Id="rId35" Type="http://schemas.openxmlformats.org/officeDocument/2006/relationships/font" Target="fonts/CourierPrime-boldItalic.fntdata"/><Relationship Id="rId36"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Today we get hands dirty with the terminal. Everything we build this semester runs through the command line.</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reasons we’re gonna talk about this:</a:t>
            </a:r>
            <a:br>
              <a:rPr lang="en-US"/>
            </a:br>
            <a:r>
              <a:rPr lang="en-US"/>
              <a:t>1) It’s the </a:t>
            </a:r>
            <a:r>
              <a:rPr lang="en-US"/>
              <a:t>bedrock of everything</a:t>
            </a:r>
            <a:br>
              <a:rPr lang="en-US"/>
            </a:br>
            <a:r>
              <a:rPr lang="en-US"/>
              <a:t>2) it’s in this context that you’ll be using git</a:t>
            </a:r>
            <a:br>
              <a:rPr lang="en-US"/>
            </a:br>
            <a:r>
              <a:rPr lang="en-US"/>
              <a:t>3) you’ll see your coding agent running unix commands and you should understand what it’s doing</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8" name="Google Shape;98;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grep + sort + uniq can replace a whole data processing script.</a:t>
            </a:r>
            <a:br>
              <a:rPr lang="en-US"/>
            </a:br>
            <a:r>
              <a:rPr lang="en-US"/>
              <a:t>+’s and -’s of this: The plus is it’s very terse and efficient, less code is better. The minus is you’ll probably have less familiarity with it and 20 lines of bash is more conceptual overhead than 20 lines of python</a:t>
            </a:r>
            <a:endParaRPr/>
          </a:p>
        </p:txBody>
      </p:sp>
      <p:sp>
        <p:nvSpPr>
          <p:cNvPr id="99" name="Google Shape;99;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5" name="Google Shape;105;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Ask: 'Who here has used a terminal before?'</a:t>
            </a:r>
            <a:endParaRPr/>
          </a:p>
        </p:txBody>
      </p:sp>
      <p:sp>
        <p:nvSpPr>
          <p:cNvPr id="106" name="Google Shape;106;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 name="Google Shape;112;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command follows this pattern: verb, optional flags, arguments. Flags modify behavior. Arguments say what to act on.</a:t>
            </a:r>
            <a:endParaRPr/>
          </a:p>
        </p:txBody>
      </p:sp>
      <p:sp>
        <p:nvSpPr>
          <p:cNvPr id="113" name="Google Shape;113;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three commands are 80% of navigation. Mental model: you're always 'standing' in a directory.</a:t>
            </a:r>
            <a:endParaRPr/>
          </a:p>
        </p:txBody>
      </p:sp>
      <p:sp>
        <p:nvSpPr>
          <p:cNvPr id="121" name="Google Shape;121;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 name="Google Shape;127;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
            <a:endParaRPr/>
          </a:p>
        </p:txBody>
      </p:sp>
      <p:sp>
        <p:nvSpPr>
          <p:cNvPr id="128" name="Google Shape;128;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6" name="Google Shape;136;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Point out: -l shows permissions, owner, size, date. -a reveals hidden files like .bashrc. ~ always takes you home.</a:t>
            </a:r>
            <a:endParaRPr/>
          </a:p>
        </p:txBody>
      </p:sp>
      <p:sp>
        <p:nvSpPr>
          <p:cNvPr id="137" name="Google Shape;137;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5" name="Google Shape;14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WARN students: rm is permanent. There is no recycle bin. Good habit: use 'ls' before 'rm' to double-check.</a:t>
            </a:r>
            <a:endParaRPr/>
          </a:p>
        </p:txBody>
      </p:sp>
      <p:sp>
        <p:nvSpPr>
          <p:cNvPr id="146" name="Google Shape;146;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2" name="Google Shape;152;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rm -rf / would recursively delete everything on the system from root. Modern systems have a safeguard (--no-preserve-root required). Lesson: the CLI gives you power with no safety net. Measure twice, cut once.</a:t>
            </a:r>
            <a:endParaRPr/>
          </a:p>
        </p:txBody>
      </p:sp>
      <p:sp>
        <p:nvSpPr>
          <p:cNvPr id="153" name="Google Shape;153;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cat is fine for small files. less is better for anything long. tail -f is great for watching server logs - they'll use this when debugging their web server later.</a:t>
            </a:r>
            <a:endParaRPr/>
          </a:p>
        </p:txBody>
      </p:sp>
      <p:sp>
        <p:nvSpPr>
          <p:cNvPr id="161" name="Google Shape;161;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mv does double duty: it renames if dest is in the same directory, moves if dest is a different directory.</a:t>
            </a:r>
            <a:endParaRPr/>
          </a:p>
        </p:txBody>
      </p:sp>
      <p:sp>
        <p:nvSpPr>
          <p:cNvPr id="168" name="Google Shape;168;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4" name="Google Shape;174;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Mental model: every program has an input pipe and two output pipes (normal output + errors). Redirection lets you rewire them.</a:t>
            </a:r>
            <a:endParaRPr/>
          </a:p>
        </p:txBody>
      </p:sp>
      <p:sp>
        <p:nvSpPr>
          <p:cNvPr id="175" name="Google Shape;175;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1" name="Google Shape;181;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We're building the skeleton of the chat app they'll work on all semester.</a:t>
            </a:r>
            <a:endParaRPr/>
          </a:p>
        </p:txBody>
      </p:sp>
      <p:sp>
        <p:nvSpPr>
          <p:cNvPr id="182" name="Google Shape;182;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skeleton of the chat app. 'mkdir -p' creates nested dirs. 'ls -R' lists recursively.</a:t>
            </a:r>
            <a:endParaRPr/>
          </a:p>
        </p:txBody>
      </p:sp>
      <p:sp>
        <p:nvSpPr>
          <p:cNvPr id="191" name="Google Shape;191;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d38b15cab4_0_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g3d38b15cab4_0_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Pipes are the Unix superpower. This is where 'do one thing well' pays off. Each tool is simple; the pipe makes them powerful together.</a:t>
            </a:r>
            <a:endParaRPr/>
          </a:p>
        </p:txBody>
      </p:sp>
      <p:sp>
        <p:nvSpPr>
          <p:cNvPr id="200" name="Google Shape;200;g3d38b15cab4_0_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7" name="Google Shape;207;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Pipes are the Unix superpower. This is where 'do one thing well' pays off. Each tool is simple; the pipe makes them powerful together.</a:t>
            </a:r>
            <a:endParaRPr/>
          </a:p>
        </p:txBody>
      </p:sp>
      <p:sp>
        <p:nvSpPr>
          <p:cNvPr id="208" name="Google Shape;208;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d38b15cab4_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g3d38b15cab4_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grep is one of the most-used commands in all of Unix. -r recursive, -i case-insensitive, -n line numbers, -v invert.</a:t>
            </a:r>
            <a:endParaRPr/>
          </a:p>
        </p:txBody>
      </p:sp>
      <p:sp>
        <p:nvSpPr>
          <p:cNvPr id="216" name="Google Shape;216;g3d38b15cab4_0_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grep is one of the most-used commands in all of Unix. -r recursive, -i case-insensitive, -n line numbers, -v invert.</a:t>
            </a:r>
            <a:endParaRPr/>
          </a:p>
        </p:txBody>
      </p:sp>
      <p:sp>
        <p:nvSpPr>
          <p:cNvPr id="224" name="Google Shape;224;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Just a taste. The point: any sequence of commands you repeat can be scripted. Connects to CI/CD later (GitHub Actions = shell scripts in YAML).</a:t>
            </a:r>
            <a:endParaRPr/>
          </a:p>
        </p:txBody>
      </p:sp>
      <p:sp>
        <p:nvSpPr>
          <p:cNvPr id="232" name="Google Shape;232;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
            <a:endParaRPr/>
          </a:p>
        </p:txBody>
      </p:sp>
      <p:sp>
        <p:nvSpPr>
          <p:cNvPr id="240" name="Google Shape;240;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2&gt;/dev/null suppresses permission errors. ls -lS sorts by size (capital S). head -n 6 because first line is 'total'.</a:t>
            </a:r>
            <a:endParaRPr/>
          </a:p>
        </p:txBody>
      </p:sp>
      <p:sp>
        <p:nvSpPr>
          <p:cNvPr id="249" name="Google Shape;249;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7" name="Google Shape;257;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Don't go deep on octal. Just enough so they can make a script executable. 'Permission denied' errors often mean you need chmod.</a:t>
            </a:r>
            <a:endParaRPr/>
          </a:p>
        </p:txBody>
      </p:sp>
      <p:sp>
        <p:nvSpPr>
          <p:cNvPr id="258" name="Google Shape;258;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4" name="Google Shape;264;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Setup for later: Flask reads SECRET_KEY, DATABASE_URL, etc. from env vars. Show $PATH and explain it's how the shell finds commands.</a:t>
            </a:r>
            <a:endParaRPr/>
          </a:p>
        </p:txBody>
      </p:sp>
      <p:sp>
        <p:nvSpPr>
          <p:cNvPr id="265" name="Google Shape;265;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Several valid approaches:</a:t>
            </a:r>
            <a:endParaRPr/>
          </a:p>
          <a:p>
            <a:pPr indent="0" lvl="0" marL="0" rtl="0" algn="l">
              <a:spcBef>
                <a:spcPts val="0"/>
              </a:spcBef>
              <a:spcAft>
                <a:spcPts val="0"/>
              </a:spcAft>
              <a:buNone/>
            </a:pPr>
            <a:r>
              <a:rPr lang="en-US"/>
              <a:t>  grep -r 'password' --include='*.py' .</a:t>
            </a:r>
            <a:endParaRPr/>
          </a:p>
          <a:p>
            <a:pPr indent="0" lvl="0" marL="0" rtl="0" algn="l">
              <a:spcBef>
                <a:spcPts val="0"/>
              </a:spcBef>
              <a:spcAft>
                <a:spcPts val="0"/>
              </a:spcAft>
              <a:buNone/>
            </a:pPr>
            <a:r>
              <a:rPr lang="en-US"/>
              <a:t>  find . -name '*.py' | xargs grep -l 'password'</a:t>
            </a:r>
            <a:endParaRPr/>
          </a:p>
          <a:p>
            <a:pPr indent="0" lvl="0" marL="0" rtl="0" algn="l">
              <a:spcBef>
                <a:spcPts val="0"/>
              </a:spcBef>
              <a:spcAft>
                <a:spcPts val="0"/>
              </a:spcAft>
              <a:buNone/>
            </a:pPr>
            <a:r>
              <a:rPr lang="en-US"/>
              <a:t>Let students suggest. Praise any working approach.</a:t>
            </a:r>
            <a:endParaRPr/>
          </a:p>
        </p:txBody>
      </p:sp>
      <p:sp>
        <p:nvSpPr>
          <p:cNvPr id="273" name="Google Shape;273;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0" name="Google Shape;280;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Assignment: practice navigating the filesystem, create the chat-app directory structure, try the pipe exercises.</a:t>
            </a:r>
            <a:endParaRPr/>
          </a:p>
        </p:txBody>
      </p:sp>
      <p:sp>
        <p:nvSpPr>
          <p:cNvPr id="281" name="Google Shape;281;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8"/>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8"/>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0"/>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0"/>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1"/>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31"/>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2"/>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2"/>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2"/>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2"/>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4"/>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4"/>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4"/>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5"/>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5"/>
          <p:cNvSpPr/>
          <p:nvPr>
            <p:ph idx="2" type="pic"/>
          </p:nvPr>
        </p:nvSpPr>
        <p:spPr>
          <a:xfrm>
            <a:off x="1792288" y="612775"/>
            <a:ext cx="5486400" cy="4114800"/>
          </a:xfrm>
          <a:prstGeom prst="rect">
            <a:avLst/>
          </a:prstGeom>
          <a:noFill/>
          <a:ln>
            <a:noFill/>
          </a:ln>
        </p:spPr>
      </p:sp>
      <p:sp>
        <p:nvSpPr>
          <p:cNvPr id="64" name="Google Shape;64;p35"/>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6"/>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7"/>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7"/>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5B21B6"/>
                </a:solidFill>
                <a:latin typeface="Calibri"/>
                <a:ea typeface="Calibri"/>
                <a:cs typeface="Calibri"/>
                <a:sym typeface="Calibri"/>
              </a:rPr>
              <a:t>Lecture 1.2</a:t>
            </a:r>
            <a:endParaRPr/>
          </a:p>
        </p:txBody>
      </p:sp>
      <p:sp>
        <p:nvSpPr>
          <p:cNvPr id="87" name="Google Shape;87;p1"/>
          <p:cNvSpPr txBox="1"/>
          <p:nvPr/>
        </p:nvSpPr>
        <p:spPr>
          <a:xfrm>
            <a:off x="914400" y="2468880"/>
            <a:ext cx="10362895" cy="182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1A1A2E"/>
                </a:solidFill>
                <a:latin typeface="Calibri"/>
                <a:ea typeface="Calibri"/>
                <a:cs typeface="Calibri"/>
                <a:sym typeface="Calibri"/>
              </a:rPr>
              <a:t>Unix + Command Line</a:t>
            </a:r>
            <a:endParaRPr/>
          </a:p>
        </p:txBody>
      </p:sp>
      <p:sp>
        <p:nvSpPr>
          <p:cNvPr id="88" name="Google Shape;88;p1"/>
          <p:cNvSpPr txBox="1"/>
          <p:nvPr/>
        </p:nvSpPr>
        <p:spPr>
          <a:xfrm>
            <a:off x="914400" y="4754880"/>
            <a:ext cx="1036289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u="none" cap="none" strike="noStrik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p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Unix/Linux?</a:t>
            </a:r>
            <a:endParaRPr/>
          </a:p>
        </p:txBody>
      </p:sp>
      <p:sp>
        <p:nvSpPr>
          <p:cNvPr id="95" name="Google Shape;95;p2"/>
          <p:cNvSpPr txBox="1"/>
          <p:nvPr/>
        </p:nvSpPr>
        <p:spPr>
          <a:xfrm>
            <a:off x="914400" y="1463040"/>
            <a:ext cx="10362900" cy="21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Created at Bell Labs in 1969</a:t>
            </a:r>
            <a:r>
              <a:rPr lang="en-US" sz="2400">
                <a:solidFill>
                  <a:srgbClr val="333344"/>
                </a:solidFill>
                <a:latin typeface="Calibri"/>
                <a:ea typeface="Calibri"/>
                <a:cs typeface="Calibri"/>
                <a:sym typeface="Calibri"/>
              </a:rPr>
              <a:t>,</a:t>
            </a:r>
            <a:r>
              <a:rPr b="0" i="0" lang="en-US" sz="2400" u="none" cap="none" strike="noStrike">
                <a:solidFill>
                  <a:srgbClr val="333344"/>
                </a:solidFill>
                <a:latin typeface="Calibri"/>
                <a:ea typeface="Calibri"/>
                <a:cs typeface="Calibri"/>
                <a:sym typeface="Calibri"/>
              </a:rPr>
              <a:t> still the foundation of modern computing</a:t>
            </a:r>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Runs virtually every server on the internet (AWS, Google, etc.)</a:t>
            </a:r>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macOS is built on Unix; Android is built on Linux</a:t>
            </a:r>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Core design philosophy: small, composable tools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"Do one thing well"</a:t>
            </a:r>
            <a:r>
              <a:rPr lang="en-US" sz="2000">
                <a:solidFill>
                  <a:srgbClr val="666677"/>
                </a:solidFill>
                <a:latin typeface="Calibri"/>
                <a:ea typeface="Calibri"/>
                <a:cs typeface="Calibri"/>
                <a:sym typeface="Calibri"/>
              </a:rPr>
              <a:t>,</a:t>
            </a:r>
            <a:r>
              <a:rPr b="0" i="0" lang="en-US" sz="2000" u="none" cap="none" strike="noStrike">
                <a:solidFill>
                  <a:srgbClr val="666677"/>
                </a:solidFill>
                <a:latin typeface="Calibri"/>
                <a:ea typeface="Calibri"/>
                <a:cs typeface="Calibri"/>
                <a:sym typeface="Calibri"/>
              </a:rPr>
              <a:t> then combine them</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 name="Shape 100"/>
        <p:cNvGrpSpPr/>
        <p:nvPr/>
      </p:nvGrpSpPr>
      <p:grpSpPr>
        <a:xfrm>
          <a:off x="0" y="0"/>
          <a:ext cx="0" cy="0"/>
          <a:chOff x="0" y="0"/>
          <a:chExt cx="0" cy="0"/>
        </a:xfrm>
      </p:grpSpPr>
      <p:sp>
        <p:nvSpPr>
          <p:cNvPr id="101" name="Google Shape;101;p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Unix philosophy</a:t>
            </a:r>
            <a:endParaRPr/>
          </a:p>
        </p:txBody>
      </p:sp>
      <p:sp>
        <p:nvSpPr>
          <p:cNvPr id="102" name="Google Shape;102;p3"/>
          <p:cNvSpPr txBox="1"/>
          <p:nvPr/>
        </p:nvSpPr>
        <p:spPr>
          <a:xfrm>
            <a:off x="914400" y="1463040"/>
            <a:ext cx="10362900" cy="2693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1. Write programs that do one thing and do it well</a:t>
            </a:r>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2. Write programs to work together</a:t>
            </a:r>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3. Write programs to handle text streams</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This is also good software engineering in general.</a:t>
            </a:r>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Small tools + composition = powerful systems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 name="Shape 107"/>
        <p:cNvGrpSpPr/>
        <p:nvPr/>
      </p:nvGrpSpPr>
      <p:grpSpPr>
        <a:xfrm>
          <a:off x="0" y="0"/>
          <a:ext cx="0" cy="0"/>
          <a:chOff x="0" y="0"/>
          <a:chExt cx="0" cy="0"/>
        </a:xfrm>
      </p:grpSpPr>
      <p:sp>
        <p:nvSpPr>
          <p:cNvPr id="108" name="Google Shape;108;p4"/>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learn the CLI?</a:t>
            </a:r>
            <a:endParaRPr/>
          </a:p>
        </p:txBody>
      </p:sp>
      <p:sp>
        <p:nvSpPr>
          <p:cNvPr id="109" name="Google Shape;109;p4"/>
          <p:cNvSpPr txBox="1"/>
          <p:nvPr/>
        </p:nvSpPr>
        <p:spPr>
          <a:xfrm>
            <a:off x="914400" y="1463040"/>
            <a:ext cx="10362900" cy="224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Servers don't have GUIs </a:t>
            </a:r>
            <a:r>
              <a:rPr lang="en-US" sz="2400">
                <a:solidFill>
                  <a:srgbClr val="333344"/>
                </a:solidFill>
                <a:latin typeface="Calibri"/>
                <a:ea typeface="Calibri"/>
                <a:cs typeface="Calibri"/>
                <a:sym typeface="Calibri"/>
              </a:rPr>
              <a:t>-</a:t>
            </a:r>
            <a:r>
              <a:rPr b="0" i="0" lang="en-US" sz="2400" u="none" cap="none" strike="noStrike">
                <a:solidFill>
                  <a:srgbClr val="333344"/>
                </a:solidFill>
                <a:latin typeface="Calibri"/>
                <a:ea typeface="Calibri"/>
                <a:cs typeface="Calibri"/>
                <a:sym typeface="Calibri"/>
              </a:rPr>
              <a:t> you SSH in and type commands</a:t>
            </a:r>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Automation: one script replaces 50 clicks</a:t>
            </a:r>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Git, Docker, cloud tools </a:t>
            </a:r>
            <a:r>
              <a:rPr lang="en-US" sz="2400">
                <a:solidFill>
                  <a:srgbClr val="333344"/>
                </a:solidFill>
                <a:latin typeface="Calibri"/>
                <a:ea typeface="Calibri"/>
                <a:cs typeface="Calibri"/>
                <a:sym typeface="Calibri"/>
              </a:rPr>
              <a:t>-</a:t>
            </a:r>
            <a:r>
              <a:rPr b="0" i="0" lang="en-US" sz="2400" u="none" cap="none" strike="noStrike">
                <a:solidFill>
                  <a:srgbClr val="333344"/>
                </a:solidFill>
                <a:latin typeface="Calibri"/>
                <a:ea typeface="Calibri"/>
                <a:cs typeface="Calibri"/>
                <a:sym typeface="Calibri"/>
              </a:rPr>
              <a:t> all CLI-first</a:t>
            </a:r>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Speed: experienced devs are faster in a terminal</a:t>
            </a:r>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Reproducibility: a command can be shared, scripted, version-controlled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 name="Shape 114"/>
        <p:cNvGrpSpPr/>
        <p:nvPr/>
      </p:nvGrpSpPr>
      <p:grpSpPr>
        <a:xfrm>
          <a:off x="0" y="0"/>
          <a:ext cx="0" cy="0"/>
          <a:chOff x="0" y="0"/>
          <a:chExt cx="0" cy="0"/>
        </a:xfrm>
      </p:grpSpPr>
      <p:sp>
        <p:nvSpPr>
          <p:cNvPr id="115" name="Google Shape;115;p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Anatomy of a command</a:t>
            </a:r>
            <a:endParaRPr/>
          </a:p>
        </p:txBody>
      </p:sp>
      <p:sp>
        <p:nvSpPr>
          <p:cNvPr id="116" name="Google Shape;116;p5"/>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 name="Google Shape;117;p5"/>
          <p:cNvSpPr txBox="1"/>
          <p:nvPr/>
        </p:nvSpPr>
        <p:spPr>
          <a:xfrm>
            <a:off x="1005840" y="1645920"/>
            <a:ext cx="10179900" cy="2791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333344"/>
                </a:solidFill>
                <a:latin typeface="Courier New"/>
                <a:ea typeface="Courier New"/>
                <a:cs typeface="Courier New"/>
                <a:sym typeface="Courier New"/>
              </a:rPr>
              <a:t>$ command  -flags  argument1  argument2</a:t>
            </a:r>
            <a:endParaRPr b="1"/>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Example:</a:t>
            </a:r>
            <a:endParaRPr b="1"/>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ls       -la     /home/user</a:t>
            </a:r>
            <a:endParaRPr b="1"/>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       ^^     ^^^^^^^^^^</a:t>
            </a:r>
            <a:endParaRPr b="1"/>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verb    options   what to act on</a:t>
            </a:r>
            <a:endParaRPr b="1"/>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The $ is the prompt - you don't type it.</a:t>
            </a:r>
            <a:endParaRPr b="1"/>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navigation trio</a:t>
            </a:r>
            <a:endParaRPr/>
          </a:p>
        </p:txBody>
      </p:sp>
      <p:sp>
        <p:nvSpPr>
          <p:cNvPr id="124" name="Google Shape;124;p6"/>
          <p:cNvSpPr txBox="1"/>
          <p:nvPr/>
        </p:nvSpPr>
        <p:spPr>
          <a:xfrm>
            <a:off x="914400" y="1463040"/>
            <a:ext cx="10362900" cy="340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ourier Prime"/>
                <a:ea typeface="Courier Prime"/>
                <a:cs typeface="Courier Prime"/>
                <a:sym typeface="Courier Prime"/>
              </a:rPr>
              <a:t>pwd</a:t>
            </a:r>
            <a:r>
              <a:rPr b="0" i="0" lang="en-US" sz="2400" u="none" cap="none" strike="noStrik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i="0" lang="en-US" sz="2400" u="none" cap="none" strike="noStrike">
                <a:solidFill>
                  <a:srgbClr val="333344"/>
                </a:solidFill>
                <a:latin typeface="Calibri"/>
                <a:ea typeface="Calibri"/>
                <a:cs typeface="Calibri"/>
                <a:sym typeface="Calibri"/>
              </a:rPr>
              <a:t> 'where am I?' (print working directory)</a:t>
            </a:r>
            <a:endParaRPr/>
          </a:p>
          <a:p>
            <a:pPr indent="0" lvl="0" marL="0" marR="0" rtl="0" algn="l">
              <a:spcBef>
                <a:spcPts val="600"/>
              </a:spcBef>
              <a:spcAft>
                <a:spcPts val="0"/>
              </a:spcAft>
              <a:buNone/>
            </a:pPr>
            <a:r>
              <a:rPr b="1" i="0" lang="en-US" sz="2400" u="none" cap="none" strike="noStrike">
                <a:solidFill>
                  <a:srgbClr val="333344"/>
                </a:solidFill>
                <a:latin typeface="Courier Prime"/>
                <a:ea typeface="Courier Prime"/>
                <a:cs typeface="Courier Prime"/>
                <a:sym typeface="Courier Prime"/>
              </a:rPr>
              <a:t>ls</a:t>
            </a:r>
            <a:r>
              <a:rPr b="0" i="0" lang="en-US" sz="2400" u="none" cap="none" strike="noStrik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i="0" lang="en-US" sz="2400" u="none" cap="none" strike="noStrike">
                <a:solidFill>
                  <a:srgbClr val="333344"/>
                </a:solidFill>
                <a:latin typeface="Calibri"/>
                <a:ea typeface="Calibri"/>
                <a:cs typeface="Calibri"/>
                <a:sym typeface="Calibri"/>
              </a:rPr>
              <a:t> 'what's here?' (list directory contents)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ls -l</a:t>
            </a:r>
            <a:r>
              <a:rPr b="0" i="0" lang="en-US" sz="2000" u="none" cap="none" strike="noStrike">
                <a:solidFill>
                  <a:srgbClr val="666677"/>
                </a:solidFill>
                <a:latin typeface="Calibri"/>
                <a:ea typeface="Calibri"/>
                <a:cs typeface="Calibri"/>
                <a:sym typeface="Calibri"/>
              </a:rPr>
              <a:t>  long format (permissions, size, date)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ls -a</a:t>
            </a:r>
            <a:r>
              <a:rPr b="0" i="0" lang="en-US" sz="2000" u="none" cap="none" strike="noStrike">
                <a:solidFill>
                  <a:srgbClr val="666677"/>
                </a:solidFill>
                <a:latin typeface="Calibri"/>
                <a:ea typeface="Calibri"/>
                <a:cs typeface="Calibri"/>
                <a:sym typeface="Calibri"/>
              </a:rPr>
              <a:t>  show hidden files (dotfiles)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ls -la</a:t>
            </a:r>
            <a:r>
              <a:rPr b="0" i="0" lang="en-US" sz="2000" u="none" cap="none" strike="noStrike">
                <a:solidFill>
                  <a:srgbClr val="666677"/>
                </a:solidFill>
                <a:latin typeface="Calibri"/>
                <a:ea typeface="Calibri"/>
                <a:cs typeface="Calibri"/>
                <a:sym typeface="Calibri"/>
              </a:rPr>
              <a:t>  both</a:t>
            </a:r>
            <a:endParaRPr/>
          </a:p>
          <a:p>
            <a:pPr indent="0" lvl="0" marL="0" marR="0" rtl="0" algn="l">
              <a:spcBef>
                <a:spcPts val="600"/>
              </a:spcBef>
              <a:spcAft>
                <a:spcPts val="0"/>
              </a:spcAft>
              <a:buNone/>
            </a:pPr>
            <a:r>
              <a:rPr b="1" i="0" lang="en-US" sz="2400" u="none" cap="none" strike="noStrike">
                <a:solidFill>
                  <a:srgbClr val="333344"/>
                </a:solidFill>
                <a:latin typeface="Courier Prime"/>
                <a:ea typeface="Courier Prime"/>
                <a:cs typeface="Courier Prime"/>
                <a:sym typeface="Courier Prime"/>
              </a:rPr>
              <a:t>cd</a:t>
            </a:r>
            <a:r>
              <a:rPr b="0" i="0" lang="en-US" sz="2400" u="none" cap="none" strike="noStrik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i="0" lang="en-US" sz="2400" u="none" cap="none" strike="noStrike">
                <a:solidFill>
                  <a:srgbClr val="333344"/>
                </a:solidFill>
                <a:latin typeface="Calibri"/>
                <a:ea typeface="Calibri"/>
                <a:cs typeface="Calibri"/>
                <a:sym typeface="Calibri"/>
              </a:rPr>
              <a:t> 'go somewhere' (change directory)</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Special paths:  .  (here)   ..  (parent)   ~  (home)   /  (root)</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7"/>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Navigate the filesystem</a:t>
            </a:r>
            <a:endParaRPr/>
          </a:p>
        </p:txBody>
      </p:sp>
      <p:sp>
        <p:nvSpPr>
          <p:cNvPr id="131" name="Google Shape;131;p7"/>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2" name="Google Shape;132;p7"/>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3" name="Google Shape;133;p7"/>
          <p:cNvSpPr txBox="1"/>
          <p:nvPr/>
        </p:nvSpPr>
        <p:spPr>
          <a:xfrm>
            <a:off x="1005840" y="1554480"/>
            <a:ext cx="10179900" cy="4607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 pwd</a:t>
            </a:r>
            <a:endParaRPr b="1"/>
          </a:p>
          <a:p>
            <a:pPr indent="0" lvl="0" marL="0" marR="0" rtl="0" algn="l">
              <a:spcBef>
                <a:spcPts val="200"/>
              </a:spcBef>
              <a:spcAft>
                <a:spcPts val="0"/>
              </a:spcAft>
              <a:buNone/>
            </a:pPr>
            <a:r>
              <a:rPr b="1" lang="en-US" sz="1800">
                <a:solidFill>
                  <a:srgbClr val="B0B0C0"/>
                </a:solidFill>
                <a:latin typeface="Courier New"/>
                <a:ea typeface="Courier New"/>
                <a:cs typeface="Courier New"/>
                <a:sym typeface="Courier New"/>
              </a:rPr>
              <a:t>________________________________________</a:t>
            </a:r>
            <a:endParaRPr b="1"/>
          </a:p>
          <a:p>
            <a:pPr indent="0" lvl="0" marL="0" marR="0" rtl="0" algn="l">
              <a:spcBef>
                <a:spcPts val="200"/>
              </a:spcBef>
              <a:spcAft>
                <a:spcPts val="0"/>
              </a:spcAft>
              <a:buNone/>
            </a:pPr>
            <a:r>
              <a:t/>
            </a:r>
            <a:endParaRPr b="1" sz="18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ls -la</a:t>
            </a:r>
            <a:endParaRPr b="1"/>
          </a:p>
          <a:p>
            <a:pPr indent="0" lvl="0" marL="0" marR="0" rtl="0" algn="l">
              <a:spcBef>
                <a:spcPts val="200"/>
              </a:spcBef>
              <a:spcAft>
                <a:spcPts val="0"/>
              </a:spcAft>
              <a:buNone/>
            </a:pPr>
            <a:r>
              <a:rPr b="1" lang="en-US" sz="1800">
                <a:solidFill>
                  <a:srgbClr val="B0B0C0"/>
                </a:solidFill>
                <a:latin typeface="Courier New"/>
                <a:ea typeface="Courier New"/>
                <a:cs typeface="Courier New"/>
                <a:sym typeface="Courier New"/>
              </a:rPr>
              <a:t>________________________________________</a:t>
            </a:r>
            <a:endParaRPr b="1"/>
          </a:p>
          <a:p>
            <a:pPr indent="0" lvl="0" marL="0" marR="0" rtl="0" algn="l">
              <a:spcBef>
                <a:spcPts val="200"/>
              </a:spcBef>
              <a:spcAft>
                <a:spcPts val="0"/>
              </a:spcAft>
              <a:buNone/>
            </a:pPr>
            <a:r>
              <a:t/>
            </a:r>
            <a:endParaRPr b="1" sz="18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cd /tmp</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pwd</a:t>
            </a:r>
            <a:endParaRPr b="1"/>
          </a:p>
          <a:p>
            <a:pPr indent="0" lvl="0" marL="0" marR="0" rtl="0" algn="l">
              <a:spcBef>
                <a:spcPts val="200"/>
              </a:spcBef>
              <a:spcAft>
                <a:spcPts val="0"/>
              </a:spcAft>
              <a:buNone/>
            </a:pPr>
            <a:r>
              <a:rPr b="1" lang="en-US" sz="1800">
                <a:solidFill>
                  <a:srgbClr val="B0B0C0"/>
                </a:solidFill>
                <a:latin typeface="Courier New"/>
                <a:ea typeface="Courier New"/>
                <a:cs typeface="Courier New"/>
                <a:sym typeface="Courier New"/>
              </a:rPr>
              <a:t>________________________________________</a:t>
            </a:r>
            <a:endParaRPr b="1"/>
          </a:p>
          <a:p>
            <a:pPr indent="0" lvl="0" marL="0" marR="0" rtl="0" algn="l">
              <a:spcBef>
                <a:spcPts val="200"/>
              </a:spcBef>
              <a:spcAft>
                <a:spcPts val="0"/>
              </a:spcAft>
              <a:buNone/>
            </a:pPr>
            <a:r>
              <a:t/>
            </a:r>
            <a:endParaRPr b="1" sz="18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cd ~</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mkdir se-course</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cd se-course</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pwd</a:t>
            </a:r>
            <a:endParaRPr b="1"/>
          </a:p>
          <a:p>
            <a:pPr indent="0" lvl="0" marL="0" marR="0" rtl="0" algn="l">
              <a:spcBef>
                <a:spcPts val="200"/>
              </a:spcBef>
              <a:spcAft>
                <a:spcPts val="0"/>
              </a:spcAft>
              <a:buNone/>
            </a:pPr>
            <a:r>
              <a:rPr b="1" lang="en-US" sz="1800">
                <a:solidFill>
                  <a:srgbClr val="B0B0C0"/>
                </a:solidFill>
                <a:latin typeface="Courier New"/>
                <a:ea typeface="Courier New"/>
                <a:cs typeface="Courier New"/>
                <a:sym typeface="Courier New"/>
              </a:rPr>
              <a:t>________________________________________</a:t>
            </a:r>
            <a:endParaRPr b="1"/>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 name="Shape 138"/>
        <p:cNvGrpSpPr/>
        <p:nvPr/>
      </p:nvGrpSpPr>
      <p:grpSpPr>
        <a:xfrm>
          <a:off x="0" y="0"/>
          <a:ext cx="0" cy="0"/>
          <a:chOff x="0" y="0"/>
          <a:chExt cx="0" cy="0"/>
        </a:xfrm>
      </p:grpSpPr>
      <p:sp>
        <p:nvSpPr>
          <p:cNvPr id="139" name="Google Shape;139;p8"/>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ANSWER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Navigate the filesystem</a:t>
            </a:r>
            <a:endParaRPr/>
          </a:p>
        </p:txBody>
      </p:sp>
      <p:sp>
        <p:nvSpPr>
          <p:cNvPr id="140" name="Google Shape;140;p8"/>
          <p:cNvSpPr/>
          <p:nvPr/>
        </p:nvSpPr>
        <p:spPr>
          <a:xfrm>
            <a:off x="640080" y="228600"/>
            <a:ext cx="1188720" cy="365760"/>
          </a:xfrm>
          <a:prstGeom prst="roundRect">
            <a:avLst>
              <a:gd fmla="val 16667" name="adj"/>
            </a:avLst>
          </a:prstGeom>
          <a:solidFill>
            <a:srgbClr val="16653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1" name="Google Shape;141;p8"/>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8"/>
          <p:cNvSpPr txBox="1"/>
          <p:nvPr/>
        </p:nvSpPr>
        <p:spPr>
          <a:xfrm>
            <a:off x="1005840" y="1554480"/>
            <a:ext cx="10179900" cy="4684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333344"/>
                </a:solidFill>
                <a:latin typeface="Courier New"/>
                <a:ea typeface="Courier New"/>
                <a:cs typeface="Courier New"/>
                <a:sym typeface="Courier New"/>
              </a:rPr>
              <a:t>$ pwd</a:t>
            </a:r>
            <a:endParaRPr b="1"/>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/Users/andy</a:t>
            </a:r>
            <a:endParaRPr b="1"/>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ls -la</a:t>
            </a:r>
            <a:endParaRPr b="1"/>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drwxr-xr-x  12 andy  staff   384 Sep  1 10:00 .</a:t>
            </a:r>
            <a:endParaRPr b="1"/>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-rw-r--r--   1 andy  staff    42 Sep  1 09:55 .bashrc</a:t>
            </a:r>
            <a:endParaRPr b="1"/>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drwxr-xr-x   3 andy  staff    96 Sep  1 10:00 Documents</a:t>
            </a:r>
            <a:endParaRPr b="1"/>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a:t>
            </a:r>
            <a:endParaRPr b="1"/>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cd /tmp</a:t>
            </a:r>
            <a:endParaRPr b="1"/>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pwd</a:t>
            </a:r>
            <a:endParaRPr b="1"/>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/tmp</a:t>
            </a:r>
            <a:endParaRPr b="1"/>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cd ~</a:t>
            </a:r>
            <a:endParaRPr b="1"/>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mkdir se-course</a:t>
            </a:r>
            <a:endParaRPr b="1"/>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cd se-course</a:t>
            </a:r>
            <a:endParaRPr b="1"/>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pwd</a:t>
            </a:r>
            <a:endParaRPr b="1"/>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/Users/andy/se-course</a:t>
            </a:r>
            <a:endParaRPr b="1"/>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 name="Shape 147"/>
        <p:cNvGrpSpPr/>
        <p:nvPr/>
      </p:nvGrpSpPr>
      <p:grpSpPr>
        <a:xfrm>
          <a:off x="0" y="0"/>
          <a:ext cx="0" cy="0"/>
          <a:chOff x="0" y="0"/>
          <a:chExt cx="0" cy="0"/>
        </a:xfrm>
      </p:grpSpPr>
      <p:sp>
        <p:nvSpPr>
          <p:cNvPr id="148" name="Google Shape;148;p9"/>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Creating &amp; removing things</a:t>
            </a:r>
            <a:endParaRPr/>
          </a:p>
        </p:txBody>
      </p:sp>
      <p:sp>
        <p:nvSpPr>
          <p:cNvPr id="149" name="Google Shape;149;p9"/>
          <p:cNvSpPr txBox="1"/>
          <p:nvPr/>
        </p:nvSpPr>
        <p:spPr>
          <a:xfrm>
            <a:off x="914400" y="1463040"/>
            <a:ext cx="10362900" cy="3140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44"/>
                </a:solidFill>
                <a:latin typeface="Courier Prime"/>
                <a:ea typeface="Courier Prime"/>
                <a:cs typeface="Courier Prime"/>
                <a:sym typeface="Courier Prime"/>
              </a:rPr>
              <a:t>touch &lt;file&gt;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create empty file (or update timestamp)</a:t>
            </a:r>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mkdir &lt;dir&gt;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create directory</a:t>
            </a:r>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mkdir -p a/b/c</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create nested dirs in one shot</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rm &lt;file&gt;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delete a file (permanent! no trash can!)</a:t>
            </a:r>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rm -r &lt;dir&gt;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delete directory + everything inside</a:t>
            </a:r>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rmdir &lt;dir&gt;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delete empty directory only</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54" name="Shape 154"/>
        <p:cNvGrpSpPr/>
        <p:nvPr/>
      </p:nvGrpSpPr>
      <p:grpSpPr>
        <a:xfrm>
          <a:off x="0" y="0"/>
          <a:ext cx="0" cy="0"/>
          <a:chOff x="0" y="0"/>
          <a:chExt cx="0" cy="0"/>
        </a:xfrm>
      </p:grpSpPr>
      <p:sp>
        <p:nvSpPr>
          <p:cNvPr id="155" name="Google Shape;155;p10"/>
          <p:cNvSpPr txBox="1"/>
          <p:nvPr/>
        </p:nvSpPr>
        <p:spPr>
          <a:xfrm>
            <a:off x="5303520" y="457200"/>
            <a:ext cx="158465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7200">
                <a:solidFill>
                  <a:srgbClr val="5B21B6"/>
                </a:solidFill>
                <a:latin typeface="Calibri"/>
                <a:ea typeface="Calibri"/>
                <a:cs typeface="Calibri"/>
                <a:sym typeface="Calibri"/>
              </a:rPr>
              <a:t>?</a:t>
            </a:r>
            <a:endParaRPr/>
          </a:p>
        </p:txBody>
      </p:sp>
      <p:sp>
        <p:nvSpPr>
          <p:cNvPr id="156" name="Google Shape;156;p10"/>
          <p:cNvSpPr txBox="1"/>
          <p:nvPr/>
        </p:nvSpPr>
        <p:spPr>
          <a:xfrm>
            <a:off x="1371600" y="2011680"/>
            <a:ext cx="9448500" cy="615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400">
                <a:solidFill>
                  <a:srgbClr val="1A1A2E"/>
                </a:solidFill>
                <a:latin typeface="Calibri"/>
                <a:ea typeface="Calibri"/>
                <a:cs typeface="Calibri"/>
                <a:sym typeface="Calibri"/>
              </a:rPr>
              <a:t>What would happen if you ran:  </a:t>
            </a:r>
            <a:r>
              <a:rPr b="1" lang="en-US" sz="3400">
                <a:solidFill>
                  <a:srgbClr val="1A1A2E"/>
                </a:solidFill>
                <a:latin typeface="Courier Prime"/>
                <a:ea typeface="Courier Prime"/>
                <a:cs typeface="Courier Prime"/>
                <a:sym typeface="Courier Prime"/>
              </a:rPr>
              <a:t>rm -rf /</a:t>
            </a:r>
            <a:r>
              <a:rPr b="1" lang="en-US" sz="3400">
                <a:solidFill>
                  <a:srgbClr val="1A1A2E"/>
                </a:solidFill>
                <a:latin typeface="Calibri"/>
                <a:ea typeface="Calibri"/>
                <a:cs typeface="Calibri"/>
                <a:sym typeface="Calibri"/>
              </a:rPr>
              <a:t>  ?</a:t>
            </a:r>
            <a:endParaRPr/>
          </a:p>
        </p:txBody>
      </p:sp>
      <p:sp>
        <p:nvSpPr>
          <p:cNvPr id="157" name="Google Shape;157;p10"/>
          <p:cNvSpPr txBox="1"/>
          <p:nvPr/>
        </p:nvSpPr>
        <p:spPr>
          <a:xfrm>
            <a:off x="1828800" y="4572000"/>
            <a:ext cx="853409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2200">
                <a:solidFill>
                  <a:srgbClr val="666677"/>
                </a:solidFill>
                <a:latin typeface="Calibri"/>
                <a:ea typeface="Calibri"/>
                <a:cs typeface="Calibri"/>
                <a:sym typeface="Calibri"/>
              </a:rPr>
              <a:t>(Don't try this.  But think about what it would attempt to do.)</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11"/>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Viewing file contents</a:t>
            </a:r>
            <a:endParaRPr/>
          </a:p>
        </p:txBody>
      </p:sp>
      <p:sp>
        <p:nvSpPr>
          <p:cNvPr id="164" name="Google Shape;164;p11"/>
          <p:cNvSpPr txBox="1"/>
          <p:nvPr/>
        </p:nvSpPr>
        <p:spPr>
          <a:xfrm>
            <a:off x="914400" y="1463040"/>
            <a:ext cx="10362900" cy="224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44"/>
                </a:solidFill>
                <a:latin typeface="Courier Prime"/>
                <a:ea typeface="Courier Prime"/>
                <a:cs typeface="Courier Prime"/>
                <a:sym typeface="Courier Prime"/>
              </a:rPr>
              <a:t>cat &lt;file&gt;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dump entire file to screen</a:t>
            </a:r>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less &lt;file&gt;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scroll through (q to quit, / to search)</a:t>
            </a:r>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head -n 5 &lt;file&gt;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first 5 lines</a:t>
            </a:r>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tail -n 5 &lt;file&gt;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last 5 lines</a:t>
            </a:r>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tail -f &lt;file&gt;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follow a log file in real time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1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Copying and moving files</a:t>
            </a:r>
            <a:endParaRPr/>
          </a:p>
        </p:txBody>
      </p:sp>
      <p:sp>
        <p:nvSpPr>
          <p:cNvPr id="171" name="Google Shape;171;p12"/>
          <p:cNvSpPr txBox="1"/>
          <p:nvPr/>
        </p:nvSpPr>
        <p:spPr>
          <a:xfrm>
            <a:off x="914400" y="1463040"/>
            <a:ext cx="10362900" cy="340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44"/>
                </a:solidFill>
                <a:latin typeface="Courier Prime"/>
                <a:ea typeface="Courier Prime"/>
                <a:cs typeface="Courier Prime"/>
                <a:sym typeface="Courier Prime"/>
              </a:rPr>
              <a:t>cp &lt;source&gt; &lt;dest&gt;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copy a file</a:t>
            </a:r>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cp -r &lt;dir&gt; &lt;dest&gt;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copy a directory (recursive)</a:t>
            </a:r>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mv &lt;source&gt; &lt;dest&gt;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move or rename</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Examples: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cp report.txt report_backup.txt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mv old_name.py new_name.py</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mv data.csv project/data/</a:t>
            </a:r>
            <a:endParaRPr b="1">
              <a:latin typeface="Courier Prime"/>
              <a:ea typeface="Courier Prime"/>
              <a:cs typeface="Courier Prime"/>
              <a:sym typeface="Courier Prime"/>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 name="Shape 176"/>
        <p:cNvGrpSpPr/>
        <p:nvPr/>
      </p:nvGrpSpPr>
      <p:grpSpPr>
        <a:xfrm>
          <a:off x="0" y="0"/>
          <a:ext cx="0" cy="0"/>
          <a:chOff x="0" y="0"/>
          <a:chExt cx="0" cy="0"/>
        </a:xfrm>
      </p:grpSpPr>
      <p:sp>
        <p:nvSpPr>
          <p:cNvPr id="177" name="Google Shape;177;p1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Redirection: controlling where output goes</a:t>
            </a:r>
            <a:endParaRPr/>
          </a:p>
        </p:txBody>
      </p:sp>
      <p:sp>
        <p:nvSpPr>
          <p:cNvPr id="178" name="Google Shape;178;p15"/>
          <p:cNvSpPr txBox="1"/>
          <p:nvPr/>
        </p:nvSpPr>
        <p:spPr>
          <a:xfrm>
            <a:off x="914400" y="1463040"/>
            <a:ext cx="10362895" cy="4937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&gt;   redirect stdout to a file (overwrites!)</a:t>
            </a:r>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&gt;&gt;  append stdout to a file</a:t>
            </a:r>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&lt;   read stdin from a file</a:t>
            </a:r>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2&gt;  redirect stderr to a file</a:t>
            </a:r>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2&gt;&amp;1  merge stderr into stdout</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Every command has three streams: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stdin (0) - stdout (1) - stderr (2)</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 name="Shape 183"/>
        <p:cNvGrpSpPr/>
        <p:nvPr/>
      </p:nvGrpSpPr>
      <p:grpSpPr>
        <a:xfrm>
          <a:off x="0" y="0"/>
          <a:ext cx="0" cy="0"/>
          <a:chOff x="0" y="0"/>
          <a:chExt cx="0" cy="0"/>
        </a:xfrm>
      </p:grpSpPr>
      <p:sp>
        <p:nvSpPr>
          <p:cNvPr id="184" name="Google Shape;184;p13"/>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Set up the chat-app project</a:t>
            </a:r>
            <a:endParaRPr/>
          </a:p>
        </p:txBody>
      </p:sp>
      <p:sp>
        <p:nvSpPr>
          <p:cNvPr id="185" name="Google Shape;185;p13"/>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7" name="Google Shape;187;p13"/>
          <p:cNvSpPr txBox="1"/>
          <p:nvPr/>
        </p:nvSpPr>
        <p:spPr>
          <a:xfrm>
            <a:off x="1005840" y="1554480"/>
            <a:ext cx="10179900" cy="3396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 mkdir -p chat-app/src chat-app/tests</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cd chat-app</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touch src/app.py src/models.py tests/test_app.py</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echo '# Chat App' &gt; README.md</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Verify the structure:</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ls -R</a:t>
            </a:r>
            <a:endParaRPr b="1"/>
          </a:p>
          <a:p>
            <a:pPr indent="0" lvl="0" marL="0" marR="0" rtl="0" algn="l">
              <a:spcBef>
                <a:spcPts val="200"/>
              </a:spcBef>
              <a:spcAft>
                <a:spcPts val="0"/>
              </a:spcAft>
              <a:buNone/>
            </a:pPr>
            <a:r>
              <a:rPr lang="en-US" sz="1800">
                <a:solidFill>
                  <a:srgbClr val="B0B0C0"/>
                </a:solidFill>
                <a:latin typeface="Courier New"/>
                <a:ea typeface="Courier New"/>
                <a:cs typeface="Courier New"/>
                <a:sym typeface="Courier New"/>
              </a:rPr>
              <a:t>________________________________________</a:t>
            </a:r>
            <a:endParaRPr/>
          </a:p>
          <a:p>
            <a:pPr indent="0" lvl="0" marL="0" marR="0" rtl="0" algn="l">
              <a:spcBef>
                <a:spcPts val="200"/>
              </a:spcBef>
              <a:spcAft>
                <a:spcPts val="0"/>
              </a:spcAft>
              <a:buNone/>
            </a:pPr>
            <a:r>
              <a:rPr lang="en-US" sz="1800">
                <a:solidFill>
                  <a:srgbClr val="B0B0C0"/>
                </a:solidFill>
                <a:latin typeface="Courier New"/>
                <a:ea typeface="Courier New"/>
                <a:cs typeface="Courier New"/>
                <a:sym typeface="Courier New"/>
              </a:rPr>
              <a:t>________________________________________</a:t>
            </a:r>
            <a:endParaRPr/>
          </a:p>
          <a:p>
            <a:pPr indent="0" lvl="0" marL="0" marR="0" rtl="0" algn="l">
              <a:spcBef>
                <a:spcPts val="200"/>
              </a:spcBef>
              <a:spcAft>
                <a:spcPts val="0"/>
              </a:spcAft>
              <a:buNone/>
            </a:pPr>
            <a:r>
              <a:rPr lang="en-US" sz="1800">
                <a:solidFill>
                  <a:srgbClr val="B0B0C0"/>
                </a:solidFill>
                <a:latin typeface="Courier New"/>
                <a:ea typeface="Courier New"/>
                <a:cs typeface="Courier New"/>
                <a:sym typeface="Courier New"/>
              </a:rPr>
              <a:t>________________________________________</a:t>
            </a:r>
            <a:endParaRPr/>
          </a:p>
          <a:p>
            <a:pPr indent="0" lvl="0" marL="0" marR="0" rtl="0" algn="l">
              <a:spcBef>
                <a:spcPts val="200"/>
              </a:spcBef>
              <a:spcAft>
                <a:spcPts val="0"/>
              </a:spcAft>
              <a:buNone/>
            </a:pPr>
            <a:r>
              <a:rPr lang="en-US" sz="1800">
                <a:solidFill>
                  <a:srgbClr val="B0B0C0"/>
                </a:solidFill>
                <a:latin typeface="Courier New"/>
                <a:ea typeface="Courier New"/>
                <a:cs typeface="Courier New"/>
                <a:sym typeface="Courier New"/>
              </a:rPr>
              <a:t>________________________________________</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 name="Shape 192"/>
        <p:cNvGrpSpPr/>
        <p:nvPr/>
      </p:nvGrpSpPr>
      <p:grpSpPr>
        <a:xfrm>
          <a:off x="0" y="0"/>
          <a:ext cx="0" cy="0"/>
          <a:chOff x="0" y="0"/>
          <a:chExt cx="0" cy="0"/>
        </a:xfrm>
      </p:grpSpPr>
      <p:sp>
        <p:nvSpPr>
          <p:cNvPr id="193" name="Google Shape;193;p14"/>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ANSWER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Set up the chat-app project</a:t>
            </a:r>
            <a:endParaRPr/>
          </a:p>
        </p:txBody>
      </p:sp>
      <p:sp>
        <p:nvSpPr>
          <p:cNvPr id="194" name="Google Shape;194;p14"/>
          <p:cNvSpPr/>
          <p:nvPr/>
        </p:nvSpPr>
        <p:spPr>
          <a:xfrm>
            <a:off x="640080" y="228600"/>
            <a:ext cx="1188720" cy="365760"/>
          </a:xfrm>
          <a:prstGeom prst="roundRect">
            <a:avLst>
              <a:gd fmla="val 16667" name="adj"/>
            </a:avLst>
          </a:prstGeom>
          <a:solidFill>
            <a:srgbClr val="16653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5" name="Google Shape;195;p14"/>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14"/>
          <p:cNvSpPr txBox="1"/>
          <p:nvPr/>
        </p:nvSpPr>
        <p:spPr>
          <a:xfrm>
            <a:off x="1005840" y="1554480"/>
            <a:ext cx="10179900" cy="4304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 mkdir -p chat-app/src chat-app/tests</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cd chat-app</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touch src/app.py src/models.py tests/test_app.py</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echo '# Chat App' &gt; README.md</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ls -R</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README.md   src   tests</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./src:</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app.py   models.py</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./tests:</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test_app.py</a:t>
            </a:r>
            <a:endParaRPr b="1"/>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 name="Shape 201"/>
        <p:cNvGrpSpPr/>
        <p:nvPr/>
      </p:nvGrpSpPr>
      <p:grpSpPr>
        <a:xfrm>
          <a:off x="0" y="0"/>
          <a:ext cx="0" cy="0"/>
          <a:chOff x="0" y="0"/>
          <a:chExt cx="0" cy="0"/>
        </a:xfrm>
      </p:grpSpPr>
      <p:sp>
        <p:nvSpPr>
          <p:cNvPr id="202" name="Google Shape;202;g3d38b15cab4_0_3"/>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Pipes: connecting commands together</a:t>
            </a:r>
            <a:endParaRPr/>
          </a:p>
        </p:txBody>
      </p:sp>
      <p:sp>
        <p:nvSpPr>
          <p:cNvPr id="203" name="Google Shape;203;g3d38b15cab4_0_3"/>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g3d38b15cab4_0_3"/>
          <p:cNvSpPr txBox="1"/>
          <p:nvPr/>
        </p:nvSpPr>
        <p:spPr>
          <a:xfrm>
            <a:off x="1005840" y="1645920"/>
            <a:ext cx="10179900" cy="151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 The pipe | sends one command's stdout</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into the next command's stdin</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cat server.log | grep "error" | wc -l</a:t>
            </a:r>
            <a:endParaRPr b="1"/>
          </a:p>
          <a:p>
            <a:pPr indent="0" lvl="0" marL="0" marR="0" rtl="0" algn="l">
              <a:spcBef>
                <a:spcPts val="200"/>
              </a:spcBef>
              <a:spcAft>
                <a:spcPts val="0"/>
              </a:spcAft>
              <a:buNone/>
            </a:pPr>
            <a:r>
              <a:t/>
            </a:r>
            <a:endParaRPr b="1"/>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1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Pipes: connecting commands together</a:t>
            </a:r>
            <a:endParaRPr/>
          </a:p>
        </p:txBody>
      </p:sp>
      <p:sp>
        <p:nvSpPr>
          <p:cNvPr id="211" name="Google Shape;211;p16"/>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6"/>
          <p:cNvSpPr txBox="1"/>
          <p:nvPr/>
        </p:nvSpPr>
        <p:spPr>
          <a:xfrm>
            <a:off x="1005840" y="1645920"/>
            <a:ext cx="10179900" cy="369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 The pipe | sends one command's stdout</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into the next command's stdin</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cat server.log | grep "error" | wc -l</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Read left to right:</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1. Read the log file</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2. Keep only lines containing "error"</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3. Count those lines</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This is the Unix philosophy in action:</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small tools, chained together</a:t>
            </a:r>
            <a:endParaRPr b="1"/>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g3d38b15cab4_0_10"/>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grep: searching inside files</a:t>
            </a:r>
            <a:endParaRPr/>
          </a:p>
        </p:txBody>
      </p:sp>
      <p:sp>
        <p:nvSpPr>
          <p:cNvPr id="219" name="Google Shape;219;g3d38b15cab4_0_10"/>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0" name="Google Shape;220;g3d38b15cab4_0_10"/>
          <p:cNvSpPr txBox="1"/>
          <p:nvPr/>
        </p:nvSpPr>
        <p:spPr>
          <a:xfrm>
            <a:off x="1005840" y="1645920"/>
            <a:ext cx="10179900" cy="91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 Find lines matching a pattern</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grep "def " src/app.py</a:t>
            </a:r>
            <a:endParaRPr b="1"/>
          </a:p>
          <a:p>
            <a:pPr indent="0" lvl="0" marL="0" marR="0" rtl="0" algn="l">
              <a:spcBef>
                <a:spcPts val="200"/>
              </a:spcBef>
              <a:spcAft>
                <a:spcPts val="0"/>
              </a:spcAft>
              <a:buNone/>
            </a:pPr>
            <a:r>
              <a:t/>
            </a:r>
            <a:endParaRPr b="1"/>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 name="Shape 225"/>
        <p:cNvGrpSpPr/>
        <p:nvPr/>
      </p:nvGrpSpPr>
      <p:grpSpPr>
        <a:xfrm>
          <a:off x="0" y="0"/>
          <a:ext cx="0" cy="0"/>
          <a:chOff x="0" y="0"/>
          <a:chExt cx="0" cy="0"/>
        </a:xfrm>
      </p:grpSpPr>
      <p:sp>
        <p:nvSpPr>
          <p:cNvPr id="226" name="Google Shape;226;p19"/>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grep: searching inside files</a:t>
            </a:r>
            <a:endParaRPr/>
          </a:p>
        </p:txBody>
      </p:sp>
      <p:sp>
        <p:nvSpPr>
          <p:cNvPr id="227" name="Google Shape;227;p19"/>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19"/>
          <p:cNvSpPr txBox="1"/>
          <p:nvPr/>
        </p:nvSpPr>
        <p:spPr>
          <a:xfrm>
            <a:off x="1005840" y="1645920"/>
            <a:ext cx="10179900" cy="4304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 Find lines matching a pattern</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grep "def " src/app.py</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Recursive: search all files in a directory</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grep -r "import" src/</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Case insensitive</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grep -i "error" server.log</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Show line numbers</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grep -n "TODO" src/*.py</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Invert: show lines that DON'T match</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grep -v "DEBUG" server.log</a:t>
            </a:r>
            <a:endParaRPr b="1"/>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Shell scripts: automating workflows</a:t>
            </a:r>
            <a:endParaRPr/>
          </a:p>
        </p:txBody>
      </p:sp>
      <p:sp>
        <p:nvSpPr>
          <p:cNvPr id="235" name="Google Shape;235;p22"/>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6" name="Google Shape;236;p22"/>
          <p:cNvSpPr txBox="1"/>
          <p:nvPr/>
        </p:nvSpPr>
        <p:spPr>
          <a:xfrm>
            <a:off x="1005840" y="1645920"/>
            <a:ext cx="10179900" cy="369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#!/bin/bash</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setup.sh - set up our project from scratch</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mkdir -p chat-app/{src,tests,static}</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cd chat-app</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python3 -m venv venv</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source venv/bin/activate</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pip install flask sqlalchemy</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echo "Ready to go!"</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Make it executable and run:</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chmod +x setup.sh &amp;&amp; ./setup.sh</a:t>
            </a:r>
            <a:endParaRPr b="1"/>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17"/>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Pipe chains</a:t>
            </a:r>
            <a:endParaRPr/>
          </a:p>
        </p:txBody>
      </p:sp>
      <p:sp>
        <p:nvSpPr>
          <p:cNvPr id="243" name="Google Shape;243;p17"/>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4" name="Google Shape;244;p17"/>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17"/>
          <p:cNvSpPr txBox="1"/>
          <p:nvPr/>
        </p:nvSpPr>
        <p:spPr>
          <a:xfrm>
            <a:off x="1005840" y="1554480"/>
            <a:ext cx="10179900" cy="4304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 How many .py files exist under /usr ?</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find /usr -name "*.py" 2&gt;/dev/null | wc -l</a:t>
            </a:r>
            <a:endParaRPr b="1"/>
          </a:p>
          <a:p>
            <a:pPr indent="0" lvl="0" marL="0" marR="0" rtl="0" algn="l">
              <a:spcBef>
                <a:spcPts val="200"/>
              </a:spcBef>
              <a:spcAft>
                <a:spcPts val="0"/>
              </a:spcAft>
              <a:buNone/>
            </a:pPr>
            <a:r>
              <a:rPr b="1" lang="en-US" sz="1800">
                <a:solidFill>
                  <a:srgbClr val="B0B0C0"/>
                </a:solidFill>
                <a:latin typeface="Courier New"/>
                <a:ea typeface="Courier New"/>
                <a:cs typeface="Courier New"/>
                <a:sym typeface="Courier New"/>
              </a:rPr>
              <a:t>________________________________________</a:t>
            </a:r>
            <a:endParaRPr b="1"/>
          </a:p>
          <a:p>
            <a:pPr indent="0" lvl="0" marL="0" marR="0" rtl="0" algn="l">
              <a:spcBef>
                <a:spcPts val="200"/>
              </a:spcBef>
              <a:spcAft>
                <a:spcPts val="0"/>
              </a:spcAft>
              <a:buNone/>
            </a:pPr>
            <a:r>
              <a:t/>
            </a:r>
            <a:endParaRPr b="1" sz="18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What are the 5 largest files in current dir?</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ls -lS | head -n 6</a:t>
            </a:r>
            <a:endParaRPr b="1"/>
          </a:p>
          <a:p>
            <a:pPr indent="0" lvl="0" marL="0" marR="0" rtl="0" algn="l">
              <a:spcBef>
                <a:spcPts val="200"/>
              </a:spcBef>
              <a:spcAft>
                <a:spcPts val="0"/>
              </a:spcAft>
              <a:buNone/>
            </a:pPr>
            <a:r>
              <a:rPr b="1" lang="en-US" sz="1800">
                <a:solidFill>
                  <a:srgbClr val="B0B0C0"/>
                </a:solidFill>
                <a:latin typeface="Courier New"/>
                <a:ea typeface="Courier New"/>
                <a:cs typeface="Courier New"/>
                <a:sym typeface="Courier New"/>
              </a:rPr>
              <a:t>________________________________________</a:t>
            </a:r>
            <a:endParaRPr b="1"/>
          </a:p>
          <a:p>
            <a:pPr indent="0" lvl="0" marL="0" marR="0" rtl="0" algn="l">
              <a:spcBef>
                <a:spcPts val="200"/>
              </a:spcBef>
              <a:spcAft>
                <a:spcPts val="0"/>
              </a:spcAft>
              <a:buNone/>
            </a:pPr>
            <a:r>
              <a:t/>
            </a:r>
            <a:endParaRPr b="1" sz="18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t/>
            </a:r>
            <a:endParaRPr b="1" sz="18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t/>
            </a:r>
            <a:endParaRPr b="1" sz="18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t/>
            </a:r>
            <a:endParaRPr b="1" sz="18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Search your command history for 'mkdir'</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history | grep mkdir</a:t>
            </a:r>
            <a:endParaRPr b="1"/>
          </a:p>
          <a:p>
            <a:pPr indent="0" lvl="0" marL="0" marR="0" rtl="0" algn="l">
              <a:spcBef>
                <a:spcPts val="200"/>
              </a:spcBef>
              <a:spcAft>
                <a:spcPts val="0"/>
              </a:spcAft>
              <a:buNone/>
            </a:pPr>
            <a:r>
              <a:rPr b="1" lang="en-US" sz="1800">
                <a:solidFill>
                  <a:srgbClr val="B0B0C0"/>
                </a:solidFill>
                <a:latin typeface="Courier New"/>
                <a:ea typeface="Courier New"/>
                <a:cs typeface="Courier New"/>
                <a:sym typeface="Courier New"/>
              </a:rPr>
              <a:t>______________________________</a:t>
            </a:r>
            <a:r>
              <a:rPr lang="en-US" sz="1800">
                <a:solidFill>
                  <a:srgbClr val="B0B0C0"/>
                </a:solidFill>
                <a:latin typeface="Courier New"/>
                <a:ea typeface="Courier New"/>
                <a:cs typeface="Courier New"/>
                <a:sym typeface="Courier New"/>
              </a:rPr>
              <a:t>__________</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0" name="Shape 250"/>
        <p:cNvGrpSpPr/>
        <p:nvPr/>
      </p:nvGrpSpPr>
      <p:grpSpPr>
        <a:xfrm>
          <a:off x="0" y="0"/>
          <a:ext cx="0" cy="0"/>
          <a:chOff x="0" y="0"/>
          <a:chExt cx="0" cy="0"/>
        </a:xfrm>
      </p:grpSpPr>
      <p:sp>
        <p:nvSpPr>
          <p:cNvPr id="251" name="Google Shape;251;p18"/>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ANSWER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Pipe chains</a:t>
            </a:r>
            <a:endParaRPr/>
          </a:p>
        </p:txBody>
      </p:sp>
      <p:sp>
        <p:nvSpPr>
          <p:cNvPr id="252" name="Google Shape;252;p18"/>
          <p:cNvSpPr/>
          <p:nvPr/>
        </p:nvSpPr>
        <p:spPr>
          <a:xfrm>
            <a:off x="640080" y="228600"/>
            <a:ext cx="1188720" cy="365760"/>
          </a:xfrm>
          <a:prstGeom prst="roundRect">
            <a:avLst>
              <a:gd fmla="val 16667" name="adj"/>
            </a:avLst>
          </a:prstGeom>
          <a:solidFill>
            <a:srgbClr val="16653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8"/>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4" name="Google Shape;254;p18"/>
          <p:cNvSpPr txBox="1"/>
          <p:nvPr/>
        </p:nvSpPr>
        <p:spPr>
          <a:xfrm>
            <a:off x="1005840" y="1554480"/>
            <a:ext cx="10179900" cy="4607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 How many .py files exist under /usr ?</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find /usr -name "*.py" 2&gt;/dev/null | wc -l</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1247  (number will vary)</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What are the 5 largest files in current dir?</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ls -lS | head -n 6</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total 128</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-rw-r--r--  1 andy staff 45056 Sep 1 data.db</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-rw-r--r--  1 andy staff  8192 Sep 1 app.py</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Search your command history for 'mkdir'</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history | grep mkdir</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142  mkdir -p chat-app/src chat-app/tests</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  </a:t>
            </a:r>
            <a:endParaRPr b="1"/>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 name="Shape 259"/>
        <p:cNvGrpSpPr/>
        <p:nvPr/>
      </p:nvGrpSpPr>
      <p:grpSpPr>
        <a:xfrm>
          <a:off x="0" y="0"/>
          <a:ext cx="0" cy="0"/>
          <a:chOff x="0" y="0"/>
          <a:chExt cx="0" cy="0"/>
        </a:xfrm>
      </p:grpSpPr>
      <p:sp>
        <p:nvSpPr>
          <p:cNvPr id="260" name="Google Shape;260;p20"/>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File permissions (quick version)</a:t>
            </a:r>
            <a:endParaRPr/>
          </a:p>
        </p:txBody>
      </p:sp>
      <p:sp>
        <p:nvSpPr>
          <p:cNvPr id="261" name="Google Shape;261;p20"/>
          <p:cNvSpPr txBox="1"/>
          <p:nvPr/>
        </p:nvSpPr>
        <p:spPr>
          <a:xfrm>
            <a:off x="914400" y="1463040"/>
            <a:ext cx="10362900" cy="3909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Every file has permissions for: owner, group, others</a:t>
            </a:r>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Each gets some combination of: read (r), write (w), execute (x)</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 ls -l script.py</a:t>
            </a:r>
            <a:endParaRPr b="1">
              <a:latin typeface="Courier Prime"/>
              <a:ea typeface="Courier Prime"/>
              <a:cs typeface="Courier Prime"/>
              <a:sym typeface="Courier Prime"/>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-rw-r--r--   means: owner rw, group r, others 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chmod +x script.py</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make it executable</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You'll need this when: running scripts, deploying to servers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 name="Shape 266"/>
        <p:cNvGrpSpPr/>
        <p:nvPr/>
      </p:nvGrpSpPr>
      <p:grpSpPr>
        <a:xfrm>
          <a:off x="0" y="0"/>
          <a:ext cx="0" cy="0"/>
          <a:chOff x="0" y="0"/>
          <a:chExt cx="0" cy="0"/>
        </a:xfrm>
      </p:grpSpPr>
      <p:sp>
        <p:nvSpPr>
          <p:cNvPr id="267" name="Google Shape;267;p21"/>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Environment variables</a:t>
            </a:r>
            <a:endParaRPr/>
          </a:p>
        </p:txBody>
      </p:sp>
      <p:sp>
        <p:nvSpPr>
          <p:cNvPr id="268" name="Google Shape;268;p21"/>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21"/>
          <p:cNvSpPr txBox="1"/>
          <p:nvPr/>
        </p:nvSpPr>
        <p:spPr>
          <a:xfrm>
            <a:off x="1005840" y="1645920"/>
            <a:ext cx="10179900" cy="369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 See a specific one</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echo $PATH</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echo $HOME</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Set one (current session only)</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export DATABASE_URL="sqlite:///chat.db"</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echo $DATABASE_URL</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sqlite:///chat.db</a:t>
            </a:r>
            <a:endParaRPr b="1"/>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Why this matters:</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Your app reads config from env vars, not hardcoded strings.</a:t>
            </a:r>
            <a:endParaRPr b="1"/>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We'll use this pattern all semester.</a:t>
            </a:r>
            <a:endParaRPr b="1"/>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274" name="Shape 274"/>
        <p:cNvGrpSpPr/>
        <p:nvPr/>
      </p:nvGrpSpPr>
      <p:grpSpPr>
        <a:xfrm>
          <a:off x="0" y="0"/>
          <a:ext cx="0" cy="0"/>
          <a:chOff x="0" y="0"/>
          <a:chExt cx="0" cy="0"/>
        </a:xfrm>
      </p:grpSpPr>
      <p:sp>
        <p:nvSpPr>
          <p:cNvPr id="275" name="Google Shape;275;p24"/>
          <p:cNvSpPr txBox="1"/>
          <p:nvPr/>
        </p:nvSpPr>
        <p:spPr>
          <a:xfrm>
            <a:off x="5303520" y="457200"/>
            <a:ext cx="158465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7200">
                <a:solidFill>
                  <a:srgbClr val="5B21B6"/>
                </a:solidFill>
                <a:latin typeface="Calibri"/>
                <a:ea typeface="Calibri"/>
                <a:cs typeface="Calibri"/>
                <a:sym typeface="Calibri"/>
              </a:rPr>
              <a:t>?</a:t>
            </a:r>
            <a:endParaRPr/>
          </a:p>
        </p:txBody>
      </p:sp>
      <p:sp>
        <p:nvSpPr>
          <p:cNvPr id="276" name="Google Shape;276;p24"/>
          <p:cNvSpPr txBox="1"/>
          <p:nvPr/>
        </p:nvSpPr>
        <p:spPr>
          <a:xfrm>
            <a:off x="1371600" y="2011680"/>
            <a:ext cx="94484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400">
                <a:solidFill>
                  <a:srgbClr val="1A1A2E"/>
                </a:solidFill>
                <a:latin typeface="Calibri"/>
                <a:ea typeface="Calibri"/>
                <a:cs typeface="Calibri"/>
                <a:sym typeface="Calibri"/>
              </a:rPr>
              <a:t>You need to find all .py files containing the word 'password' in your project. How?</a:t>
            </a:r>
            <a:endParaRPr/>
          </a:p>
        </p:txBody>
      </p:sp>
      <p:sp>
        <p:nvSpPr>
          <p:cNvPr id="277" name="Google Shape;277;p24"/>
          <p:cNvSpPr txBox="1"/>
          <p:nvPr/>
        </p:nvSpPr>
        <p:spPr>
          <a:xfrm>
            <a:off x="1828800" y="4572000"/>
            <a:ext cx="853409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2200">
                <a:solidFill>
                  <a:srgbClr val="666677"/>
                </a:solidFill>
                <a:latin typeface="Calibri"/>
                <a:ea typeface="Calibri"/>
                <a:cs typeface="Calibri"/>
                <a:sym typeface="Calibri"/>
              </a:rPr>
              <a:t>Combine what you've learned: find, grep, pipes.</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 name="Shape 282"/>
        <p:cNvGrpSpPr/>
        <p:nvPr/>
      </p:nvGrpSpPr>
      <p:grpSpPr>
        <a:xfrm>
          <a:off x="0" y="0"/>
          <a:ext cx="0" cy="0"/>
          <a:chOff x="0" y="0"/>
          <a:chExt cx="0" cy="0"/>
        </a:xfrm>
      </p:grpSpPr>
      <p:sp>
        <p:nvSpPr>
          <p:cNvPr id="283" name="Google Shape;283;p2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Wrapping up</a:t>
            </a:r>
            <a:endParaRPr/>
          </a:p>
        </p:txBody>
      </p:sp>
      <p:sp>
        <p:nvSpPr>
          <p:cNvPr id="284" name="Google Shape;284;p25"/>
          <p:cNvSpPr txBox="1"/>
          <p:nvPr/>
        </p:nvSpPr>
        <p:spPr>
          <a:xfrm>
            <a:off x="914400" y="1463040"/>
            <a:ext cx="10362900" cy="3140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Unix/Linux is the foundation of modern infrastructure</a:t>
            </a:r>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Navigate: pwd, ls, cd</a:t>
            </a:r>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Create/destroy: mkdir, touch, rm</a:t>
            </a:r>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Inspect: cat, less, head, tail, grep</a:t>
            </a:r>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Compose: pipes (|) and redirection (&gt;, &gt;&gt;)</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Next time: Git </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version control for everything we build</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