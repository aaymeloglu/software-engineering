
<file path=[Content_Types].xml><?xml version="1.0" encoding="utf-8"?>
<Types xmlns="http://schemas.openxmlformats.org/package/2006/content-types">
  <Default Extension="fntdata" ContentType="application/x-fontdata"/>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9144000"/>
  <p:embeddedFontLst>
    <p:embeddedFont>
      <p:font typeface="Courier Prime" pitchFamily="49" charset="77"/>
      <p:regular r:id="rId29"/>
      <p:bold r:id="rId30"/>
      <p:italic r:id="rId31"/>
      <p:boldItalic r:id="rId32"/>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2160">
          <p15:clr>
            <a:srgbClr val="000000"/>
          </p15:clr>
        </p15:guide>
        <p15:guide id="2" pos="2880">
          <p15:clr>
            <a:srgbClr val="000000"/>
          </p15:clr>
        </p15:guide>
      </p15:sldGuideLst>
    </p:ext>
    <p:ext uri="GoogleSlidesCustomDataVersion2">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36" roundtripDataSignature="AMtx7mhGUBe5AB3Vl2WYChXQFl8xPcQqew=="/>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58"/>
  </p:normalViewPr>
  <p:slideViewPr>
    <p:cSldViewPr snapToGrid="0">
      <p:cViewPr varScale="1">
        <p:scale>
          <a:sx n="120" d="100"/>
          <a:sy n="120" d="100"/>
        </p:scale>
        <p:origin x="800" y="184"/>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font" Target="fonts/font1.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4.fntdata"/><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36" Type="http://customschemas.google.com/relationships/presentationmetadata" Target="metadata"/><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font" Target="fonts/font2.fntdata"/><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0"/>
        <p:cNvGrpSpPr/>
        <p:nvPr/>
      </p:nvGrpSpPr>
      <p:grpSpPr>
        <a:xfrm>
          <a:off x="0" y="0"/>
          <a:ext cx="0" cy="0"/>
          <a:chOff x="0" y="0"/>
          <a:chExt cx="0" cy="0"/>
        </a:xfrm>
      </p:grpSpPr>
      <p:sp>
        <p:nvSpPr>
          <p:cNvPr id="81" name="Google Shape;81;p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2" name="Google Shape;82;p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Today we get hands dirty with the terminal. Everything we build this semester runs through the command line.</a:t>
            </a:r>
            <a:endParaRPr/>
          </a:p>
        </p:txBody>
      </p:sp>
      <p:sp>
        <p:nvSpPr>
          <p:cNvPr id="83" name="Google Shape;83;p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9"/>
        <p:cNvGrpSpPr/>
        <p:nvPr/>
      </p:nvGrpSpPr>
      <p:grpSpPr>
        <a:xfrm>
          <a:off x="0" y="0"/>
          <a:ext cx="0" cy="0"/>
          <a:chOff x="0" y="0"/>
          <a:chExt cx="0" cy="0"/>
        </a:xfrm>
      </p:grpSpPr>
      <p:sp>
        <p:nvSpPr>
          <p:cNvPr id="90" name="Google Shape;90;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1" name="Google Shape;91;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Three reasons we’re gonna talk about this:</a:t>
            </a:r>
            <a:br>
              <a:rPr lang="en-US"/>
            </a:br>
            <a:r>
              <a:rPr lang="en-US"/>
              <a:t>1) It’s the bedrock of everything</a:t>
            </a:r>
            <a:br>
              <a:rPr lang="en-US"/>
            </a:br>
            <a:r>
              <a:rPr lang="en-US"/>
              <a:t>2) it’s in this context that you’ll be using git</a:t>
            </a:r>
            <a:br>
              <a:rPr lang="en-US"/>
            </a:br>
            <a:r>
              <a:rPr lang="en-US"/>
              <a:t>3) you’ll see your coding agent running unix commands and you should understand what it’s doing</a:t>
            </a:r>
            <a:endParaRPr/>
          </a:p>
        </p:txBody>
      </p:sp>
      <p:sp>
        <p:nvSpPr>
          <p:cNvPr id="92" name="Google Shape;92;p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96"/>
        <p:cNvGrpSpPr/>
        <p:nvPr/>
      </p:nvGrpSpPr>
      <p:grpSpPr>
        <a:xfrm>
          <a:off x="0" y="0"/>
          <a:ext cx="0" cy="0"/>
          <a:chOff x="0" y="0"/>
          <a:chExt cx="0" cy="0"/>
        </a:xfrm>
      </p:grpSpPr>
      <p:sp>
        <p:nvSpPr>
          <p:cNvPr id="97" name="Google Shape;97;p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98" name="Google Shape;98;p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 sort + uniq can replace a whole data processing script.</a:t>
            </a:r>
            <a:br>
              <a:rPr lang="en-US"/>
            </a:br>
            <a:r>
              <a:rPr lang="en-US"/>
              <a:t>+’s and -’s of this: The plus is it’s very terse and efficient, less code is better. The minus is you’ll probably have less familiarity with it and 20 lines of bash is more conceptual overhead than 20 lines of python</a:t>
            </a:r>
            <a:endParaRPr/>
          </a:p>
        </p:txBody>
      </p:sp>
      <p:sp>
        <p:nvSpPr>
          <p:cNvPr id="99" name="Google Shape;99;p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3"/>
        <p:cNvGrpSpPr/>
        <p:nvPr/>
      </p:nvGrpSpPr>
      <p:grpSpPr>
        <a:xfrm>
          <a:off x="0" y="0"/>
          <a:ext cx="0" cy="0"/>
          <a:chOff x="0" y="0"/>
          <a:chExt cx="0" cy="0"/>
        </a:xfrm>
      </p:grpSpPr>
      <p:sp>
        <p:nvSpPr>
          <p:cNvPr id="104" name="Google Shape;104;p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05" name="Google Shape;105;p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Ask: 'Who here has used a terminal before?'</a:t>
            </a:r>
            <a:endParaRPr/>
          </a:p>
        </p:txBody>
      </p:sp>
      <p:sp>
        <p:nvSpPr>
          <p:cNvPr id="106" name="Google Shape;106;p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0"/>
        <p:cNvGrpSpPr/>
        <p:nvPr/>
      </p:nvGrpSpPr>
      <p:grpSpPr>
        <a:xfrm>
          <a:off x="0" y="0"/>
          <a:ext cx="0" cy="0"/>
          <a:chOff x="0" y="0"/>
          <a:chExt cx="0" cy="0"/>
        </a:xfrm>
      </p:grpSpPr>
      <p:sp>
        <p:nvSpPr>
          <p:cNvPr id="111" name="Google Shape;111;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12" name="Google Shape;112;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Every command follows this pattern: verb, optional flags, arguments. Flags modify behavior. Arguments say what to act on.</a:t>
            </a:r>
            <a:endParaRPr/>
          </a:p>
        </p:txBody>
      </p:sp>
      <p:sp>
        <p:nvSpPr>
          <p:cNvPr id="113" name="Google Shape;113;p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8"/>
        <p:cNvGrpSpPr/>
        <p:nvPr/>
      </p:nvGrpSpPr>
      <p:grpSpPr>
        <a:xfrm>
          <a:off x="0" y="0"/>
          <a:ext cx="0" cy="0"/>
          <a:chOff x="0" y="0"/>
          <a:chExt cx="0" cy="0"/>
        </a:xfrm>
      </p:grpSpPr>
      <p:sp>
        <p:nvSpPr>
          <p:cNvPr id="119" name="Google Shape;119;p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0" name="Google Shape;120;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These three commands are 80% of navigation. Mental model: you're always 'standing' in a directory.</a:t>
            </a:r>
            <a:endParaRPr/>
          </a:p>
        </p:txBody>
      </p:sp>
      <p:sp>
        <p:nvSpPr>
          <p:cNvPr id="121" name="Google Shape;121;p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5"/>
        <p:cNvGrpSpPr/>
        <p:nvPr/>
      </p:nvGrpSpPr>
      <p:grpSpPr>
        <a:xfrm>
          <a:off x="0" y="0"/>
          <a:ext cx="0" cy="0"/>
          <a:chOff x="0" y="0"/>
          <a:chExt cx="0" cy="0"/>
        </a:xfrm>
      </p:grpSpPr>
      <p:sp>
        <p:nvSpPr>
          <p:cNvPr id="126" name="Google Shape;126;p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7" name="Google Shape;127;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8" name="Google Shape;128;p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4"/>
        <p:cNvGrpSpPr/>
        <p:nvPr/>
      </p:nvGrpSpPr>
      <p:grpSpPr>
        <a:xfrm>
          <a:off x="0" y="0"/>
          <a:ext cx="0" cy="0"/>
          <a:chOff x="0" y="0"/>
          <a:chExt cx="0" cy="0"/>
        </a:xfrm>
      </p:grpSpPr>
      <p:sp>
        <p:nvSpPr>
          <p:cNvPr id="135" name="Google Shape;135;p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36" name="Google Shape;136;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Point out: -l shows permissions, owner, size, date. -a reveals hidden files like .bashrc. ~ always takes you home.</a:t>
            </a:r>
            <a:endParaRPr/>
          </a:p>
        </p:txBody>
      </p:sp>
      <p:sp>
        <p:nvSpPr>
          <p:cNvPr id="137" name="Google Shape;137;p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3"/>
        <p:cNvGrpSpPr/>
        <p:nvPr/>
      </p:nvGrpSpPr>
      <p:grpSpPr>
        <a:xfrm>
          <a:off x="0" y="0"/>
          <a:ext cx="0" cy="0"/>
          <a:chOff x="0" y="0"/>
          <a:chExt cx="0" cy="0"/>
        </a:xfrm>
      </p:grpSpPr>
      <p:sp>
        <p:nvSpPr>
          <p:cNvPr id="144" name="Google Shape;144;p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45" name="Google Shape;145;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WARN students: rm is permanent. There is no recycle bin. Good habit: use 'ls' before 'rm' to double-check.</a:t>
            </a:r>
            <a:endParaRPr/>
          </a:p>
        </p:txBody>
      </p:sp>
      <p:sp>
        <p:nvSpPr>
          <p:cNvPr id="146" name="Google Shape;146;p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0"/>
        <p:cNvGrpSpPr/>
        <p:nvPr/>
      </p:nvGrpSpPr>
      <p:grpSpPr>
        <a:xfrm>
          <a:off x="0" y="0"/>
          <a:ext cx="0" cy="0"/>
          <a:chOff x="0" y="0"/>
          <a:chExt cx="0" cy="0"/>
        </a:xfrm>
      </p:grpSpPr>
      <p:sp>
        <p:nvSpPr>
          <p:cNvPr id="151" name="Google Shape;151;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2" name="Google Shape;152;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rm -rf / would recursively delete everything on the system from root. Modern systems have a safeguard (--no-preserve-root required). The CLI gives you power with no safety net.</a:t>
            </a:r>
            <a:endParaRPr dirty="0"/>
          </a:p>
        </p:txBody>
      </p:sp>
      <p:sp>
        <p:nvSpPr>
          <p:cNvPr id="153" name="Google Shape;153;p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8"/>
        <p:cNvGrpSpPr/>
        <p:nvPr/>
      </p:nvGrpSpPr>
      <p:grpSpPr>
        <a:xfrm>
          <a:off x="0" y="0"/>
          <a:ext cx="0" cy="0"/>
          <a:chOff x="0" y="0"/>
          <a:chExt cx="0" cy="0"/>
        </a:xfrm>
      </p:grpSpPr>
      <p:sp>
        <p:nvSpPr>
          <p:cNvPr id="159" name="Google Shape;159;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0" name="Google Shape;160;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cat is fine for small files. less is better for anything long. tail -f is great for watching server logs - they'll use this when debugging their web server later.</a:t>
            </a:r>
            <a:endParaRPr/>
          </a:p>
        </p:txBody>
      </p:sp>
      <p:sp>
        <p:nvSpPr>
          <p:cNvPr id="161" name="Google Shape;161;p1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5"/>
        <p:cNvGrpSpPr/>
        <p:nvPr/>
      </p:nvGrpSpPr>
      <p:grpSpPr>
        <a:xfrm>
          <a:off x="0" y="0"/>
          <a:ext cx="0" cy="0"/>
          <a:chOff x="0" y="0"/>
          <a:chExt cx="0" cy="0"/>
        </a:xfrm>
      </p:grpSpPr>
      <p:sp>
        <p:nvSpPr>
          <p:cNvPr id="166" name="Google Shape;166;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67" name="Google Shape;167;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mv does double duty: it renames if dest is in the same directory, moves if dest is a different directory.</a:t>
            </a:r>
            <a:endParaRPr/>
          </a:p>
        </p:txBody>
      </p:sp>
      <p:sp>
        <p:nvSpPr>
          <p:cNvPr id="168" name="Google Shape;168;p1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2"/>
        <p:cNvGrpSpPr/>
        <p:nvPr/>
      </p:nvGrpSpPr>
      <p:grpSpPr>
        <a:xfrm>
          <a:off x="0" y="0"/>
          <a:ext cx="0" cy="0"/>
          <a:chOff x="0" y="0"/>
          <a:chExt cx="0" cy="0"/>
        </a:xfrm>
      </p:grpSpPr>
      <p:sp>
        <p:nvSpPr>
          <p:cNvPr id="173" name="Google Shape;173;p1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74" name="Google Shape;174;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Mental model: every program has an input pipe and two output pipes (normal output + errors). Redirection lets you rewire them.</a:t>
            </a:r>
            <a:endParaRPr/>
          </a:p>
        </p:txBody>
      </p:sp>
      <p:sp>
        <p:nvSpPr>
          <p:cNvPr id="175" name="Google Shape;175;p1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1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We're building the skeleton of the chat app they'll work on all semester.</a:t>
            </a:r>
            <a:endParaRPr/>
          </a:p>
        </p:txBody>
      </p:sp>
      <p:sp>
        <p:nvSpPr>
          <p:cNvPr id="182" name="Google Shape;182;p1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88"/>
        <p:cNvGrpSpPr/>
        <p:nvPr/>
      </p:nvGrpSpPr>
      <p:grpSpPr>
        <a:xfrm>
          <a:off x="0" y="0"/>
          <a:ext cx="0" cy="0"/>
          <a:chOff x="0" y="0"/>
          <a:chExt cx="0" cy="0"/>
        </a:xfrm>
      </p:grpSpPr>
      <p:sp>
        <p:nvSpPr>
          <p:cNvPr id="189" name="Google Shape;189;p1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0" name="Google Shape;190;p1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This is the skeleton of the chat app. 'mkdir -p' creates nested dirs. 'ls -R' lists recursively.</a:t>
            </a:r>
            <a:endParaRPr/>
          </a:p>
        </p:txBody>
      </p:sp>
      <p:sp>
        <p:nvSpPr>
          <p:cNvPr id="191" name="Google Shape;191;p1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97"/>
        <p:cNvGrpSpPr/>
        <p:nvPr/>
      </p:nvGrpSpPr>
      <p:grpSpPr>
        <a:xfrm>
          <a:off x="0" y="0"/>
          <a:ext cx="0" cy="0"/>
          <a:chOff x="0" y="0"/>
          <a:chExt cx="0" cy="0"/>
        </a:xfrm>
      </p:grpSpPr>
      <p:sp>
        <p:nvSpPr>
          <p:cNvPr id="198" name="Google Shape;198;g3d38b15cab4_0_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99" name="Google Shape;199;g3d38b15cab4_0_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Pipes are the Unix superpower. This is where 'do one thing well' pays off. Each tool is simple; the pipe makes them powerful together.</a:t>
            </a:r>
            <a:endParaRPr/>
          </a:p>
        </p:txBody>
      </p:sp>
      <p:sp>
        <p:nvSpPr>
          <p:cNvPr id="200" name="Google Shape;200;g3d38b15cab4_0_3: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5"/>
        <p:cNvGrpSpPr/>
        <p:nvPr/>
      </p:nvGrpSpPr>
      <p:grpSpPr>
        <a:xfrm>
          <a:off x="0" y="0"/>
          <a:ext cx="0" cy="0"/>
          <a:chOff x="0" y="0"/>
          <a:chExt cx="0" cy="0"/>
        </a:xfrm>
      </p:grpSpPr>
      <p:sp>
        <p:nvSpPr>
          <p:cNvPr id="206" name="Google Shape;206;p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7" name="Google Shape;207;p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Pipes are the Unix superpower. This is where 'do one thing well' pays off. Each tool is simple; the pipe makes them powerful together.</a:t>
            </a:r>
            <a:endParaRPr/>
          </a:p>
        </p:txBody>
      </p:sp>
      <p:sp>
        <p:nvSpPr>
          <p:cNvPr id="208" name="Google Shape;208;p16: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13"/>
        <p:cNvGrpSpPr/>
        <p:nvPr/>
      </p:nvGrpSpPr>
      <p:grpSpPr>
        <a:xfrm>
          <a:off x="0" y="0"/>
          <a:ext cx="0" cy="0"/>
          <a:chOff x="0" y="0"/>
          <a:chExt cx="0" cy="0"/>
        </a:xfrm>
      </p:grpSpPr>
      <p:sp>
        <p:nvSpPr>
          <p:cNvPr id="214" name="Google Shape;214;g3d38b15cab4_0_1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15" name="Google Shape;215;g3d38b15cab4_0_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is one of the most-used commands in all of Unix. -r recursive, -i case-insensitive, -n line numbers, -v invert.</a:t>
            </a:r>
            <a:endParaRPr/>
          </a:p>
        </p:txBody>
      </p:sp>
      <p:sp>
        <p:nvSpPr>
          <p:cNvPr id="216" name="Google Shape;216;g3d38b15cab4_0_1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1"/>
        <p:cNvGrpSpPr/>
        <p:nvPr/>
      </p:nvGrpSpPr>
      <p:grpSpPr>
        <a:xfrm>
          <a:off x="0" y="0"/>
          <a:ext cx="0" cy="0"/>
          <a:chOff x="0" y="0"/>
          <a:chExt cx="0" cy="0"/>
        </a:xfrm>
      </p:grpSpPr>
      <p:sp>
        <p:nvSpPr>
          <p:cNvPr id="222" name="Google Shape;222;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3" name="Google Shape;223;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grep is one of the most-used commands in all of Unix. -r recursive, -i case-insensitive, -n line numbers, -v invert.</a:t>
            </a:r>
            <a:endParaRPr/>
          </a:p>
        </p:txBody>
      </p:sp>
      <p:sp>
        <p:nvSpPr>
          <p:cNvPr id="224" name="Google Shape;224;p19: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9"/>
        <p:cNvGrpSpPr/>
        <p:nvPr/>
      </p:nvGrpSpPr>
      <p:grpSpPr>
        <a:xfrm>
          <a:off x="0" y="0"/>
          <a:ext cx="0" cy="0"/>
          <a:chOff x="0" y="0"/>
          <a:chExt cx="0" cy="0"/>
        </a:xfrm>
      </p:grpSpPr>
      <p:sp>
        <p:nvSpPr>
          <p:cNvPr id="230" name="Google Shape;230;p2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1" name="Google Shape;231;p2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Just a taste. The point: any sequence of commands you repeat can be scripted. Connects to CI/CD later (GitHub Actions = shell scripts in YAML).</a:t>
            </a:r>
            <a:endParaRPr/>
          </a:p>
        </p:txBody>
      </p:sp>
      <p:sp>
        <p:nvSpPr>
          <p:cNvPr id="232" name="Google Shape;232;p22: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37"/>
        <p:cNvGrpSpPr/>
        <p:nvPr/>
      </p:nvGrpSpPr>
      <p:grpSpPr>
        <a:xfrm>
          <a:off x="0" y="0"/>
          <a:ext cx="0" cy="0"/>
          <a:chOff x="0" y="0"/>
          <a:chExt cx="0" cy="0"/>
        </a:xfrm>
      </p:grpSpPr>
      <p:sp>
        <p:nvSpPr>
          <p:cNvPr id="238" name="Google Shape;238;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39" name="Google Shape;239;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40" name="Google Shape;240;p17: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6"/>
        <p:cNvGrpSpPr/>
        <p:nvPr/>
      </p:nvGrpSpPr>
      <p:grpSpPr>
        <a:xfrm>
          <a:off x="0" y="0"/>
          <a:ext cx="0" cy="0"/>
          <a:chOff x="0" y="0"/>
          <a:chExt cx="0" cy="0"/>
        </a:xfrm>
      </p:grpSpPr>
      <p:sp>
        <p:nvSpPr>
          <p:cNvPr id="247" name="Google Shape;247;p1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8" name="Google Shape;248;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2&gt;/dev/null suppresses permission errors. ls -lS sorts by size (capital S). head -n 6 because first line is 'total'.</a:t>
            </a:r>
            <a:endParaRPr/>
          </a:p>
        </p:txBody>
      </p:sp>
      <p:sp>
        <p:nvSpPr>
          <p:cNvPr id="249" name="Google Shape;249;p18: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57" name="Google Shape;257;p2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Don't go deep on octal. Just enough so they can make a script executable. 'Permission denied' errors often mean you need chmod.</a:t>
            </a:r>
            <a:endParaRPr/>
          </a:p>
        </p:txBody>
      </p:sp>
      <p:sp>
        <p:nvSpPr>
          <p:cNvPr id="258" name="Google Shape;258;p20: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64" name="Google Shape;264;p2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Setup for later: Flask reads SECRET_KEY, DATABASE_URL, etc. from env vars. Show $PATH and explain it's how the shell finds commands.</a:t>
            </a:r>
            <a:endParaRPr/>
          </a:p>
        </p:txBody>
      </p:sp>
      <p:sp>
        <p:nvSpPr>
          <p:cNvPr id="265" name="Google Shape;265;p21: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0"/>
        <p:cNvGrpSpPr/>
        <p:nvPr/>
      </p:nvGrpSpPr>
      <p:grpSpPr>
        <a:xfrm>
          <a:off x="0" y="0"/>
          <a:ext cx="0" cy="0"/>
          <a:chOff x="0" y="0"/>
          <a:chExt cx="0" cy="0"/>
        </a:xfrm>
      </p:grpSpPr>
      <p:sp>
        <p:nvSpPr>
          <p:cNvPr id="271" name="Google Shape;271;p24: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2" name="Google Shape;272;p2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dirty="0"/>
              <a:t>Several valid approaches:</a:t>
            </a:r>
            <a:endParaRPr dirty="0"/>
          </a:p>
          <a:p>
            <a:pPr marL="0" lvl="0" indent="0" algn="l" rtl="0">
              <a:spcBef>
                <a:spcPts val="0"/>
              </a:spcBef>
              <a:spcAft>
                <a:spcPts val="0"/>
              </a:spcAft>
              <a:buNone/>
            </a:pPr>
            <a:r>
              <a:rPr lang="en-US" dirty="0"/>
              <a:t>  grep -r 'password' --include='*.</a:t>
            </a:r>
            <a:r>
              <a:rPr lang="en-US" dirty="0" err="1"/>
              <a:t>py</a:t>
            </a:r>
            <a:r>
              <a:rPr lang="en-US" dirty="0"/>
              <a:t>' .</a:t>
            </a:r>
            <a:endParaRPr dirty="0"/>
          </a:p>
          <a:p>
            <a:pPr marL="0" lvl="0" indent="0" algn="l" rtl="0">
              <a:spcBef>
                <a:spcPts val="0"/>
              </a:spcBef>
              <a:spcAft>
                <a:spcPts val="0"/>
              </a:spcAft>
              <a:buNone/>
            </a:pPr>
            <a:r>
              <a:rPr lang="en-US" dirty="0"/>
              <a:t>  find . -name '*.</a:t>
            </a:r>
            <a:r>
              <a:rPr lang="en-US" dirty="0" err="1"/>
              <a:t>py</a:t>
            </a:r>
            <a:r>
              <a:rPr lang="en-US" dirty="0"/>
              <a:t>' | </a:t>
            </a:r>
            <a:r>
              <a:rPr lang="en-US" dirty="0" err="1"/>
              <a:t>xargs</a:t>
            </a:r>
            <a:r>
              <a:rPr lang="en-US" dirty="0"/>
              <a:t> grep -l 'password'</a:t>
            </a:r>
            <a:endParaRPr dirty="0"/>
          </a:p>
          <a:p>
            <a:pPr marL="0" lvl="0" indent="0" algn="l" rtl="0">
              <a:spcBef>
                <a:spcPts val="0"/>
              </a:spcBef>
              <a:spcAft>
                <a:spcPts val="0"/>
              </a:spcAft>
              <a:buNone/>
            </a:pPr>
            <a:r>
              <a:rPr lang="en-US" dirty="0"/>
              <a:t>Let students suggest.</a:t>
            </a:r>
            <a:endParaRPr dirty="0"/>
          </a:p>
        </p:txBody>
      </p:sp>
      <p:sp>
        <p:nvSpPr>
          <p:cNvPr id="273" name="Google Shape;273;p24: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8"/>
        <p:cNvGrpSpPr/>
        <p:nvPr/>
      </p:nvGrpSpPr>
      <p:grpSpPr>
        <a:xfrm>
          <a:off x="0" y="0"/>
          <a:ext cx="0" cy="0"/>
          <a:chOff x="0" y="0"/>
          <a:chExt cx="0" cy="0"/>
        </a:xfrm>
      </p:grpSpPr>
      <p:sp>
        <p:nvSpPr>
          <p:cNvPr id="279" name="Google Shape;279;p2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80" name="Google Shape;280;p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lvl="0" indent="0" algn="l" rtl="0">
              <a:spcBef>
                <a:spcPts val="0"/>
              </a:spcBef>
              <a:spcAft>
                <a:spcPts val="0"/>
              </a:spcAft>
              <a:buNone/>
            </a:pPr>
            <a:r>
              <a:rPr lang="en-US"/>
              <a:t>Assignment: practice navigating the filesystem, create the chat-app directory structure, try the pipe exercises.</a:t>
            </a:r>
            <a:endParaRPr/>
          </a:p>
        </p:txBody>
      </p:sp>
      <p:sp>
        <p:nvSpPr>
          <p:cNvPr id="281" name="Google Shape;281;p25:notes"/>
          <p:cNvSpPr txBox="1">
            <a:spLocks noGrp="1"/>
          </p:cNvSpPr>
          <p:nvPr>
            <p:ph type="sldNum" idx="12"/>
          </p:nvPr>
        </p:nvSpPr>
        <p:spPr>
          <a:xfrm>
            <a:off x="0" y="0"/>
            <a:ext cx="3000000" cy="3000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1"/>
        <p:cNvGrpSpPr/>
        <p:nvPr/>
      </p:nvGrpSpPr>
      <p:grpSpPr>
        <a:xfrm>
          <a:off x="0" y="0"/>
          <a:ext cx="0" cy="0"/>
          <a:chOff x="0" y="0"/>
          <a:chExt cx="0" cy="0"/>
        </a:xfrm>
      </p:grpSpPr>
      <p:sp>
        <p:nvSpPr>
          <p:cNvPr id="12" name="Google Shape;12;p2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3" name="Google Shape;13;p2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4" name="Google Shape;14;p2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8"/>
          <p:cNvSpPr txBox="1">
            <a:spLocks noGrp="1"/>
          </p:cNvSpPr>
          <p:nvPr>
            <p:ph type="ctrTitle"/>
          </p:nvPr>
        </p:nvSpPr>
        <p:spPr>
          <a:xfrm>
            <a:off x="685800" y="2130425"/>
            <a:ext cx="7772400" cy="1470025"/>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8"/>
          <p:cNvSpPr txBox="1">
            <a:spLocks noGrp="1"/>
          </p:cNvSpPr>
          <p:nvPr>
            <p:ph type="subTitle" idx="1"/>
          </p:nvPr>
        </p:nvSpPr>
        <p:spPr>
          <a:xfrm>
            <a:off x="1371600" y="3886200"/>
            <a:ext cx="6400800" cy="1752600"/>
          </a:xfrm>
          <a:prstGeom prst="rect">
            <a:avLst/>
          </a:prstGeom>
          <a:noFill/>
          <a:ln>
            <a:noFill/>
          </a:ln>
        </p:spPr>
        <p:txBody>
          <a:bodyPr spcFirstLastPara="1" wrap="square" lIns="91425" tIns="45700" rIns="91425" bIns="45700" anchor="t" anchorCtr="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a:endParaRPr/>
          </a:p>
        </p:txBody>
      </p:sp>
      <p:sp>
        <p:nvSpPr>
          <p:cNvPr id="18" name="Google Shape;18;p28"/>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8"/>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8"/>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29"/>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29"/>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24" name="Google Shape;24;p29"/>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29"/>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29"/>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7"/>
        <p:cNvGrpSpPr/>
        <p:nvPr/>
      </p:nvGrpSpPr>
      <p:grpSpPr>
        <a:xfrm>
          <a:off x="0" y="0"/>
          <a:ext cx="0" cy="0"/>
          <a:chOff x="0" y="0"/>
          <a:chExt cx="0" cy="0"/>
        </a:xfrm>
      </p:grpSpPr>
      <p:sp>
        <p:nvSpPr>
          <p:cNvPr id="28" name="Google Shape;28;p30"/>
          <p:cNvSpPr txBox="1">
            <a:spLocks noGrp="1"/>
          </p:cNvSpPr>
          <p:nvPr>
            <p:ph type="title"/>
          </p:nvPr>
        </p:nvSpPr>
        <p:spPr>
          <a:xfrm>
            <a:off x="722313" y="4406900"/>
            <a:ext cx="7772400" cy="1362075"/>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9" name="Google Shape;29;p30"/>
          <p:cNvSpPr txBox="1">
            <a:spLocks noGrp="1"/>
          </p:cNvSpPr>
          <p:nvPr>
            <p:ph type="body" idx="1"/>
          </p:nvPr>
        </p:nvSpPr>
        <p:spPr>
          <a:xfrm>
            <a:off x="722313" y="2906713"/>
            <a:ext cx="7772400" cy="1500187"/>
          </a:xfrm>
          <a:prstGeom prst="rect">
            <a:avLst/>
          </a:prstGeom>
          <a:noFill/>
          <a:ln>
            <a:noFill/>
          </a:ln>
        </p:spPr>
        <p:txBody>
          <a:bodyPr spcFirstLastPara="1" wrap="square" lIns="91425" tIns="45700" rIns="91425" bIns="45700" anchor="b" anchorCtr="0">
            <a:normAutofit/>
          </a:bodyPr>
          <a:lstStyle>
            <a:lvl1pPr marL="457200" lvl="0" indent="-228600" algn="l">
              <a:spcBef>
                <a:spcPts val="400"/>
              </a:spcBef>
              <a:spcAft>
                <a:spcPts val="0"/>
              </a:spcAft>
              <a:buClr>
                <a:srgbClr val="888888"/>
              </a:buClr>
              <a:buSzPts val="2000"/>
              <a:buNone/>
              <a:defRPr sz="2000">
                <a:solidFill>
                  <a:srgbClr val="888888"/>
                </a:solidFill>
              </a:defRPr>
            </a:lvl1pPr>
            <a:lvl2pPr marL="914400" lvl="1" indent="-228600" algn="l">
              <a:spcBef>
                <a:spcPts val="360"/>
              </a:spcBef>
              <a:spcAft>
                <a:spcPts val="0"/>
              </a:spcAft>
              <a:buClr>
                <a:srgbClr val="888888"/>
              </a:buClr>
              <a:buSzPts val="1800"/>
              <a:buNone/>
              <a:defRPr sz="1800">
                <a:solidFill>
                  <a:srgbClr val="888888"/>
                </a:solidFill>
              </a:defRPr>
            </a:lvl2pPr>
            <a:lvl3pPr marL="1371600" lvl="2" indent="-228600" algn="l">
              <a:spcBef>
                <a:spcPts val="320"/>
              </a:spcBef>
              <a:spcAft>
                <a:spcPts val="0"/>
              </a:spcAft>
              <a:buClr>
                <a:srgbClr val="888888"/>
              </a:buClr>
              <a:buSzPts val="1600"/>
              <a:buNone/>
              <a:defRPr sz="1600">
                <a:solidFill>
                  <a:srgbClr val="888888"/>
                </a:solidFill>
              </a:defRPr>
            </a:lvl3pPr>
            <a:lvl4pPr marL="1828800" lvl="3" indent="-228600" algn="l">
              <a:spcBef>
                <a:spcPts val="280"/>
              </a:spcBef>
              <a:spcAft>
                <a:spcPts val="0"/>
              </a:spcAft>
              <a:buClr>
                <a:srgbClr val="888888"/>
              </a:buClr>
              <a:buSzPts val="1400"/>
              <a:buNone/>
              <a:defRPr sz="1400">
                <a:solidFill>
                  <a:srgbClr val="888888"/>
                </a:solidFill>
              </a:defRPr>
            </a:lvl4pPr>
            <a:lvl5pPr marL="2286000" lvl="4" indent="-228600" algn="l">
              <a:spcBef>
                <a:spcPts val="280"/>
              </a:spcBef>
              <a:spcAft>
                <a:spcPts val="0"/>
              </a:spcAft>
              <a:buClr>
                <a:srgbClr val="888888"/>
              </a:buClr>
              <a:buSzPts val="1400"/>
              <a:buNone/>
              <a:defRPr sz="1400">
                <a:solidFill>
                  <a:srgbClr val="888888"/>
                </a:solidFill>
              </a:defRPr>
            </a:lvl5pPr>
            <a:lvl6pPr marL="2743200" lvl="5" indent="-228600" algn="l">
              <a:spcBef>
                <a:spcPts val="280"/>
              </a:spcBef>
              <a:spcAft>
                <a:spcPts val="0"/>
              </a:spcAft>
              <a:buClr>
                <a:srgbClr val="888888"/>
              </a:buClr>
              <a:buSzPts val="1400"/>
              <a:buNone/>
              <a:defRPr sz="1400">
                <a:solidFill>
                  <a:srgbClr val="888888"/>
                </a:solidFill>
              </a:defRPr>
            </a:lvl6pPr>
            <a:lvl7pPr marL="3200400" lvl="6" indent="-228600" algn="l">
              <a:spcBef>
                <a:spcPts val="280"/>
              </a:spcBef>
              <a:spcAft>
                <a:spcPts val="0"/>
              </a:spcAft>
              <a:buClr>
                <a:srgbClr val="888888"/>
              </a:buClr>
              <a:buSzPts val="1400"/>
              <a:buNone/>
              <a:defRPr sz="1400">
                <a:solidFill>
                  <a:srgbClr val="888888"/>
                </a:solidFill>
              </a:defRPr>
            </a:lvl7pPr>
            <a:lvl8pPr marL="3657600" lvl="7" indent="-228600" algn="l">
              <a:spcBef>
                <a:spcPts val="280"/>
              </a:spcBef>
              <a:spcAft>
                <a:spcPts val="0"/>
              </a:spcAft>
              <a:buClr>
                <a:srgbClr val="888888"/>
              </a:buClr>
              <a:buSzPts val="1400"/>
              <a:buNone/>
              <a:defRPr sz="1400">
                <a:solidFill>
                  <a:srgbClr val="888888"/>
                </a:solidFill>
              </a:defRPr>
            </a:lvl8pPr>
            <a:lvl9pPr marL="4114800" lvl="8" indent="-228600" algn="l">
              <a:spcBef>
                <a:spcPts val="280"/>
              </a:spcBef>
              <a:spcAft>
                <a:spcPts val="0"/>
              </a:spcAft>
              <a:buClr>
                <a:srgbClr val="888888"/>
              </a:buClr>
              <a:buSzPts val="1400"/>
              <a:buNone/>
              <a:defRPr sz="1400">
                <a:solidFill>
                  <a:srgbClr val="888888"/>
                </a:solidFill>
              </a:defRPr>
            </a:lvl9pPr>
          </a:lstStyle>
          <a:p>
            <a:endParaRPr/>
          </a:p>
        </p:txBody>
      </p:sp>
      <p:sp>
        <p:nvSpPr>
          <p:cNvPr id="30" name="Google Shape;30;p30"/>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1" name="Google Shape;31;p30"/>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2" name="Google Shape;32;p30"/>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3"/>
        <p:cNvGrpSpPr/>
        <p:nvPr/>
      </p:nvGrpSpPr>
      <p:grpSpPr>
        <a:xfrm>
          <a:off x="0" y="0"/>
          <a:ext cx="0" cy="0"/>
          <a:chOff x="0" y="0"/>
          <a:chExt cx="0" cy="0"/>
        </a:xfrm>
      </p:grpSpPr>
      <p:sp>
        <p:nvSpPr>
          <p:cNvPr id="34" name="Google Shape;34;p31"/>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5" name="Google Shape;35;p31"/>
          <p:cNvSpPr txBox="1">
            <a:spLocks noGrp="1"/>
          </p:cNvSpPr>
          <p:nvPr>
            <p:ph type="body" idx="1"/>
          </p:nvPr>
        </p:nvSpPr>
        <p:spPr>
          <a:xfrm>
            <a:off x="457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6" name="Google Shape;36;p31"/>
          <p:cNvSpPr txBox="1">
            <a:spLocks noGrp="1"/>
          </p:cNvSpPr>
          <p:nvPr>
            <p:ph type="body" idx="2"/>
          </p:nvPr>
        </p:nvSpPr>
        <p:spPr>
          <a:xfrm>
            <a:off x="4648200" y="1600200"/>
            <a:ext cx="4038600" cy="4525963"/>
          </a:xfrm>
          <a:prstGeom prst="rect">
            <a:avLst/>
          </a:prstGeom>
          <a:noFill/>
          <a:ln>
            <a:noFill/>
          </a:ln>
        </p:spPr>
        <p:txBody>
          <a:bodyPr spcFirstLastPara="1" wrap="square" lIns="91425" tIns="45700" rIns="91425" bIns="45700" anchor="t" anchorCtr="0">
            <a:normAutofit/>
          </a:bodyPr>
          <a:lstStyle>
            <a:lvl1pPr marL="457200" lvl="0" indent="-406400" algn="l">
              <a:spcBef>
                <a:spcPts val="560"/>
              </a:spcBef>
              <a:spcAft>
                <a:spcPts val="0"/>
              </a:spcAft>
              <a:buClr>
                <a:schemeClr val="dk1"/>
              </a:buClr>
              <a:buSzPts val="2800"/>
              <a:buChar char="•"/>
              <a:defRPr sz="2800"/>
            </a:lvl1pPr>
            <a:lvl2pPr marL="914400" lvl="1" indent="-381000" algn="l">
              <a:spcBef>
                <a:spcPts val="480"/>
              </a:spcBef>
              <a:spcAft>
                <a:spcPts val="0"/>
              </a:spcAft>
              <a:buClr>
                <a:schemeClr val="dk1"/>
              </a:buClr>
              <a:buSzPts val="2400"/>
              <a:buChar char="–"/>
              <a:defRPr sz="2400"/>
            </a:lvl2pPr>
            <a:lvl3pPr marL="1371600" lvl="2" indent="-355600" algn="l">
              <a:spcBef>
                <a:spcPts val="400"/>
              </a:spcBef>
              <a:spcAft>
                <a:spcPts val="0"/>
              </a:spcAft>
              <a:buClr>
                <a:schemeClr val="dk1"/>
              </a:buClr>
              <a:buSzPts val="2000"/>
              <a:buChar char="•"/>
              <a:defRPr sz="2000"/>
            </a:lvl3pPr>
            <a:lvl4pPr marL="1828800" lvl="3" indent="-342900" algn="l">
              <a:spcBef>
                <a:spcPts val="360"/>
              </a:spcBef>
              <a:spcAft>
                <a:spcPts val="0"/>
              </a:spcAft>
              <a:buClr>
                <a:schemeClr val="dk1"/>
              </a:buClr>
              <a:buSzPts val="1800"/>
              <a:buChar char="–"/>
              <a:defRPr sz="1800"/>
            </a:lvl4pPr>
            <a:lvl5pPr marL="2286000" lvl="4" indent="-342900" algn="l">
              <a:spcBef>
                <a:spcPts val="360"/>
              </a:spcBef>
              <a:spcAft>
                <a:spcPts val="0"/>
              </a:spcAft>
              <a:buClr>
                <a:schemeClr val="dk1"/>
              </a:buClr>
              <a:buSzPts val="1800"/>
              <a:buChar char="»"/>
              <a:defRPr sz="1800"/>
            </a:lvl5pPr>
            <a:lvl6pPr marL="2743200" lvl="5" indent="-342900" algn="l">
              <a:spcBef>
                <a:spcPts val="360"/>
              </a:spcBef>
              <a:spcAft>
                <a:spcPts val="0"/>
              </a:spcAft>
              <a:buClr>
                <a:schemeClr val="dk1"/>
              </a:buClr>
              <a:buSzPts val="1800"/>
              <a:buChar char="•"/>
              <a:defRPr sz="1800"/>
            </a:lvl6pPr>
            <a:lvl7pPr marL="3200400" lvl="6" indent="-342900" algn="l">
              <a:spcBef>
                <a:spcPts val="360"/>
              </a:spcBef>
              <a:spcAft>
                <a:spcPts val="0"/>
              </a:spcAft>
              <a:buClr>
                <a:schemeClr val="dk1"/>
              </a:buClr>
              <a:buSzPts val="1800"/>
              <a:buChar char="•"/>
              <a:defRPr sz="1800"/>
            </a:lvl7pPr>
            <a:lvl8pPr marL="3657600" lvl="7" indent="-342900" algn="l">
              <a:spcBef>
                <a:spcPts val="360"/>
              </a:spcBef>
              <a:spcAft>
                <a:spcPts val="0"/>
              </a:spcAft>
              <a:buClr>
                <a:schemeClr val="dk1"/>
              </a:buClr>
              <a:buSzPts val="1800"/>
              <a:buChar char="•"/>
              <a:defRPr sz="1800"/>
            </a:lvl8pPr>
            <a:lvl9pPr marL="4114800" lvl="8" indent="-342900" algn="l">
              <a:spcBef>
                <a:spcPts val="360"/>
              </a:spcBef>
              <a:spcAft>
                <a:spcPts val="0"/>
              </a:spcAft>
              <a:buClr>
                <a:schemeClr val="dk1"/>
              </a:buClr>
              <a:buSzPts val="1800"/>
              <a:buChar char="•"/>
              <a:defRPr sz="1800"/>
            </a:lvl9pPr>
          </a:lstStyle>
          <a:p>
            <a:endParaRPr/>
          </a:p>
        </p:txBody>
      </p:sp>
      <p:sp>
        <p:nvSpPr>
          <p:cNvPr id="37" name="Google Shape;37;p31"/>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8" name="Google Shape;38;p31"/>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9" name="Google Shape;39;p31"/>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0"/>
        <p:cNvGrpSpPr/>
        <p:nvPr/>
      </p:nvGrpSpPr>
      <p:grpSpPr>
        <a:xfrm>
          <a:off x="0" y="0"/>
          <a:ext cx="0" cy="0"/>
          <a:chOff x="0" y="0"/>
          <a:chExt cx="0" cy="0"/>
        </a:xfrm>
      </p:grpSpPr>
      <p:sp>
        <p:nvSpPr>
          <p:cNvPr id="41" name="Google Shape;41;p32"/>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2" name="Google Shape;42;p32"/>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3" name="Google Shape;43;p32"/>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4" name="Google Shape;44;p32"/>
          <p:cNvSpPr txBox="1">
            <a:spLocks noGrp="1"/>
          </p:cNvSpPr>
          <p:nvPr>
            <p:ph type="body" idx="3"/>
          </p:nvPr>
        </p:nvSpPr>
        <p:spPr>
          <a:xfrm>
            <a:off x="4645025" y="1535113"/>
            <a:ext cx="4041775" cy="639762"/>
          </a:xfrm>
          <a:prstGeom prst="rect">
            <a:avLst/>
          </a:prstGeom>
          <a:noFill/>
          <a:ln>
            <a:noFill/>
          </a:ln>
        </p:spPr>
        <p:txBody>
          <a:bodyPr spcFirstLastPara="1" wrap="square" lIns="91425" tIns="45700" rIns="91425" bIns="45700" anchor="b" anchorCtr="0">
            <a:normAutofit/>
          </a:bodyPr>
          <a:lstStyle>
            <a:lvl1pPr marL="457200" lvl="0" indent="-228600" algn="l">
              <a:spcBef>
                <a:spcPts val="480"/>
              </a:spcBef>
              <a:spcAft>
                <a:spcPts val="0"/>
              </a:spcAft>
              <a:buClr>
                <a:schemeClr val="dk1"/>
              </a:buClr>
              <a:buSzPts val="2400"/>
              <a:buNone/>
              <a:defRPr sz="2400" b="1"/>
            </a:lvl1pPr>
            <a:lvl2pPr marL="914400" lvl="1" indent="-228600" algn="l">
              <a:spcBef>
                <a:spcPts val="400"/>
              </a:spcBef>
              <a:spcAft>
                <a:spcPts val="0"/>
              </a:spcAft>
              <a:buClr>
                <a:schemeClr val="dk1"/>
              </a:buClr>
              <a:buSzPts val="2000"/>
              <a:buNone/>
              <a:defRPr sz="2000" b="1"/>
            </a:lvl2pPr>
            <a:lvl3pPr marL="1371600" lvl="2" indent="-228600" algn="l">
              <a:spcBef>
                <a:spcPts val="360"/>
              </a:spcBef>
              <a:spcAft>
                <a:spcPts val="0"/>
              </a:spcAft>
              <a:buClr>
                <a:schemeClr val="dk1"/>
              </a:buClr>
              <a:buSzPts val="1800"/>
              <a:buNone/>
              <a:defRPr sz="1800" b="1"/>
            </a:lvl3pPr>
            <a:lvl4pPr marL="1828800" lvl="3" indent="-228600" algn="l">
              <a:spcBef>
                <a:spcPts val="320"/>
              </a:spcBef>
              <a:spcAft>
                <a:spcPts val="0"/>
              </a:spcAft>
              <a:buClr>
                <a:schemeClr val="dk1"/>
              </a:buClr>
              <a:buSzPts val="1600"/>
              <a:buNone/>
              <a:defRPr sz="1600" b="1"/>
            </a:lvl4pPr>
            <a:lvl5pPr marL="2286000" lvl="4" indent="-228600" algn="l">
              <a:spcBef>
                <a:spcPts val="320"/>
              </a:spcBef>
              <a:spcAft>
                <a:spcPts val="0"/>
              </a:spcAft>
              <a:buClr>
                <a:schemeClr val="dk1"/>
              </a:buClr>
              <a:buSzPts val="1600"/>
              <a:buNone/>
              <a:defRPr sz="1600" b="1"/>
            </a:lvl5pPr>
            <a:lvl6pPr marL="2743200" lvl="5" indent="-228600" algn="l">
              <a:spcBef>
                <a:spcPts val="320"/>
              </a:spcBef>
              <a:spcAft>
                <a:spcPts val="0"/>
              </a:spcAft>
              <a:buClr>
                <a:schemeClr val="dk1"/>
              </a:buClr>
              <a:buSzPts val="1600"/>
              <a:buNone/>
              <a:defRPr sz="1600" b="1"/>
            </a:lvl6pPr>
            <a:lvl7pPr marL="3200400" lvl="6" indent="-228600" algn="l">
              <a:spcBef>
                <a:spcPts val="320"/>
              </a:spcBef>
              <a:spcAft>
                <a:spcPts val="0"/>
              </a:spcAft>
              <a:buClr>
                <a:schemeClr val="dk1"/>
              </a:buClr>
              <a:buSzPts val="1600"/>
              <a:buNone/>
              <a:defRPr sz="1600" b="1"/>
            </a:lvl7pPr>
            <a:lvl8pPr marL="3657600" lvl="7" indent="-228600" algn="l">
              <a:spcBef>
                <a:spcPts val="320"/>
              </a:spcBef>
              <a:spcAft>
                <a:spcPts val="0"/>
              </a:spcAft>
              <a:buClr>
                <a:schemeClr val="dk1"/>
              </a:buClr>
              <a:buSzPts val="1600"/>
              <a:buNone/>
              <a:defRPr sz="1600" b="1"/>
            </a:lvl8pPr>
            <a:lvl9pPr marL="4114800" lvl="8" indent="-228600" algn="l">
              <a:spcBef>
                <a:spcPts val="320"/>
              </a:spcBef>
              <a:spcAft>
                <a:spcPts val="0"/>
              </a:spcAft>
              <a:buClr>
                <a:schemeClr val="dk1"/>
              </a:buClr>
              <a:buSzPts val="1600"/>
              <a:buNone/>
              <a:defRPr sz="1600" b="1"/>
            </a:lvl9pPr>
          </a:lstStyle>
          <a:p>
            <a:endParaRPr/>
          </a:p>
        </p:txBody>
      </p:sp>
      <p:sp>
        <p:nvSpPr>
          <p:cNvPr id="45" name="Google Shape;45;p32"/>
          <p:cNvSpPr txBox="1">
            <a:spLocks noGrp="1"/>
          </p:cNvSpPr>
          <p:nvPr>
            <p:ph type="body" idx="4"/>
          </p:nvPr>
        </p:nvSpPr>
        <p:spPr>
          <a:xfrm>
            <a:off x="4645025" y="2174875"/>
            <a:ext cx="4041775" cy="3951288"/>
          </a:xfrm>
          <a:prstGeom prst="rect">
            <a:avLst/>
          </a:prstGeom>
          <a:noFill/>
          <a:ln>
            <a:noFill/>
          </a:ln>
        </p:spPr>
        <p:txBody>
          <a:bodyPr spcFirstLastPara="1" wrap="square" lIns="91425" tIns="45700" rIns="91425" bIns="45700" anchor="t" anchorCtr="0">
            <a:normAutofit/>
          </a:bodyPr>
          <a:lstStyle>
            <a:lvl1pPr marL="457200" lvl="0" indent="-381000" algn="l">
              <a:spcBef>
                <a:spcPts val="480"/>
              </a:spcBef>
              <a:spcAft>
                <a:spcPts val="0"/>
              </a:spcAft>
              <a:buClr>
                <a:schemeClr val="dk1"/>
              </a:buClr>
              <a:buSzPts val="2400"/>
              <a:buChar char="•"/>
              <a:defRPr sz="2400"/>
            </a:lvl1pPr>
            <a:lvl2pPr marL="914400" lvl="1" indent="-355600" algn="l">
              <a:spcBef>
                <a:spcPts val="400"/>
              </a:spcBef>
              <a:spcAft>
                <a:spcPts val="0"/>
              </a:spcAft>
              <a:buClr>
                <a:schemeClr val="dk1"/>
              </a:buClr>
              <a:buSzPts val="2000"/>
              <a:buChar char="–"/>
              <a:defRPr sz="2000"/>
            </a:lvl2pPr>
            <a:lvl3pPr marL="1371600" lvl="2" indent="-342900" algn="l">
              <a:spcBef>
                <a:spcPts val="360"/>
              </a:spcBef>
              <a:spcAft>
                <a:spcPts val="0"/>
              </a:spcAft>
              <a:buClr>
                <a:schemeClr val="dk1"/>
              </a:buClr>
              <a:buSzPts val="1800"/>
              <a:buChar char="•"/>
              <a:defRPr sz="1800"/>
            </a:lvl3pPr>
            <a:lvl4pPr marL="1828800" lvl="3" indent="-330200" algn="l">
              <a:spcBef>
                <a:spcPts val="320"/>
              </a:spcBef>
              <a:spcAft>
                <a:spcPts val="0"/>
              </a:spcAft>
              <a:buClr>
                <a:schemeClr val="dk1"/>
              </a:buClr>
              <a:buSzPts val="1600"/>
              <a:buChar char="–"/>
              <a:defRPr sz="1600"/>
            </a:lvl4pPr>
            <a:lvl5pPr marL="2286000" lvl="4" indent="-330200" algn="l">
              <a:spcBef>
                <a:spcPts val="320"/>
              </a:spcBef>
              <a:spcAft>
                <a:spcPts val="0"/>
              </a:spcAft>
              <a:buClr>
                <a:schemeClr val="dk1"/>
              </a:buClr>
              <a:buSzPts val="1600"/>
              <a:buChar char="»"/>
              <a:defRPr sz="1600"/>
            </a:lvl5pPr>
            <a:lvl6pPr marL="2743200" lvl="5" indent="-330200" algn="l">
              <a:spcBef>
                <a:spcPts val="320"/>
              </a:spcBef>
              <a:spcAft>
                <a:spcPts val="0"/>
              </a:spcAft>
              <a:buClr>
                <a:schemeClr val="dk1"/>
              </a:buClr>
              <a:buSzPts val="1600"/>
              <a:buChar char="•"/>
              <a:defRPr sz="1600"/>
            </a:lvl6pPr>
            <a:lvl7pPr marL="3200400" lvl="6" indent="-330200" algn="l">
              <a:spcBef>
                <a:spcPts val="320"/>
              </a:spcBef>
              <a:spcAft>
                <a:spcPts val="0"/>
              </a:spcAft>
              <a:buClr>
                <a:schemeClr val="dk1"/>
              </a:buClr>
              <a:buSzPts val="1600"/>
              <a:buChar char="•"/>
              <a:defRPr sz="1600"/>
            </a:lvl7pPr>
            <a:lvl8pPr marL="3657600" lvl="7" indent="-330200" algn="l">
              <a:spcBef>
                <a:spcPts val="320"/>
              </a:spcBef>
              <a:spcAft>
                <a:spcPts val="0"/>
              </a:spcAft>
              <a:buClr>
                <a:schemeClr val="dk1"/>
              </a:buClr>
              <a:buSzPts val="1600"/>
              <a:buChar char="•"/>
              <a:defRPr sz="1600"/>
            </a:lvl8pPr>
            <a:lvl9pPr marL="4114800" lvl="8" indent="-330200" algn="l">
              <a:spcBef>
                <a:spcPts val="320"/>
              </a:spcBef>
              <a:spcAft>
                <a:spcPts val="0"/>
              </a:spcAft>
              <a:buClr>
                <a:schemeClr val="dk1"/>
              </a:buClr>
              <a:buSzPts val="1600"/>
              <a:buChar char="•"/>
              <a:defRPr sz="1600"/>
            </a:lvl9pPr>
          </a:lstStyle>
          <a:p>
            <a:endParaRPr/>
          </a:p>
        </p:txBody>
      </p:sp>
      <p:sp>
        <p:nvSpPr>
          <p:cNvPr id="46" name="Google Shape;46;p32"/>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7" name="Google Shape;47;p32"/>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8" name="Google Shape;48;p32"/>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9"/>
        <p:cNvGrpSpPr/>
        <p:nvPr/>
      </p:nvGrpSpPr>
      <p:grpSpPr>
        <a:xfrm>
          <a:off x="0" y="0"/>
          <a:ext cx="0" cy="0"/>
          <a:chOff x="0" y="0"/>
          <a:chExt cx="0" cy="0"/>
        </a:xfrm>
      </p:grpSpPr>
      <p:sp>
        <p:nvSpPr>
          <p:cNvPr id="50" name="Google Shape;50;p33"/>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1" name="Google Shape;51;p33"/>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33"/>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3" name="Google Shape;53;p33"/>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4"/>
        <p:cNvGrpSpPr/>
        <p:nvPr/>
      </p:nvGrpSpPr>
      <p:grpSpPr>
        <a:xfrm>
          <a:off x="0" y="0"/>
          <a:ext cx="0" cy="0"/>
          <a:chOff x="0" y="0"/>
          <a:chExt cx="0" cy="0"/>
        </a:xfrm>
      </p:grpSpPr>
      <p:sp>
        <p:nvSpPr>
          <p:cNvPr id="55" name="Google Shape;55;p34"/>
          <p:cNvSpPr txBox="1">
            <a:spLocks noGrp="1"/>
          </p:cNvSpPr>
          <p:nvPr>
            <p:ph type="title"/>
          </p:nvPr>
        </p:nvSpPr>
        <p:spPr>
          <a:xfrm>
            <a:off x="457200" y="273050"/>
            <a:ext cx="3008313" cy="1162050"/>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6" name="Google Shape;56;p34"/>
          <p:cNvSpPr txBox="1">
            <a:spLocks noGrp="1"/>
          </p:cNvSpPr>
          <p:nvPr>
            <p:ph type="body" idx="1"/>
          </p:nvPr>
        </p:nvSpPr>
        <p:spPr>
          <a:xfrm>
            <a:off x="3575050" y="273050"/>
            <a:ext cx="5111750" cy="5853113"/>
          </a:xfrm>
          <a:prstGeom prst="rect">
            <a:avLst/>
          </a:prstGeom>
          <a:noFill/>
          <a:ln>
            <a:noFill/>
          </a:ln>
        </p:spPr>
        <p:txBody>
          <a:bodyPr spcFirstLastPara="1" wrap="square" lIns="91425" tIns="45700" rIns="91425" bIns="45700" anchor="t" anchorCtr="0">
            <a:normAutofit/>
          </a:bodyPr>
          <a:lstStyle>
            <a:lvl1pPr marL="457200" lvl="0" indent="-431800" algn="l">
              <a:spcBef>
                <a:spcPts val="640"/>
              </a:spcBef>
              <a:spcAft>
                <a:spcPts val="0"/>
              </a:spcAft>
              <a:buClr>
                <a:schemeClr val="dk1"/>
              </a:buClr>
              <a:buSzPts val="3200"/>
              <a:buChar char="•"/>
              <a:defRPr sz="3200"/>
            </a:lvl1pPr>
            <a:lvl2pPr marL="914400" lvl="1" indent="-406400" algn="l">
              <a:spcBef>
                <a:spcPts val="560"/>
              </a:spcBef>
              <a:spcAft>
                <a:spcPts val="0"/>
              </a:spcAft>
              <a:buClr>
                <a:schemeClr val="dk1"/>
              </a:buClr>
              <a:buSzPts val="2800"/>
              <a:buChar char="–"/>
              <a:defRPr sz="2800"/>
            </a:lvl2pPr>
            <a:lvl3pPr marL="1371600" lvl="2" indent="-381000" algn="l">
              <a:spcBef>
                <a:spcPts val="480"/>
              </a:spcBef>
              <a:spcAft>
                <a:spcPts val="0"/>
              </a:spcAft>
              <a:buClr>
                <a:schemeClr val="dk1"/>
              </a:buClr>
              <a:buSzPts val="2400"/>
              <a:buChar char="•"/>
              <a:defRPr sz="2400"/>
            </a:lvl3pPr>
            <a:lvl4pPr marL="1828800" lvl="3" indent="-355600" algn="l">
              <a:spcBef>
                <a:spcPts val="400"/>
              </a:spcBef>
              <a:spcAft>
                <a:spcPts val="0"/>
              </a:spcAft>
              <a:buClr>
                <a:schemeClr val="dk1"/>
              </a:buClr>
              <a:buSzPts val="2000"/>
              <a:buChar char="–"/>
              <a:defRPr sz="2000"/>
            </a:lvl4pPr>
            <a:lvl5pPr marL="2286000" lvl="4" indent="-355600" algn="l">
              <a:spcBef>
                <a:spcPts val="400"/>
              </a:spcBef>
              <a:spcAft>
                <a:spcPts val="0"/>
              </a:spcAft>
              <a:buClr>
                <a:schemeClr val="dk1"/>
              </a:buClr>
              <a:buSzPts val="2000"/>
              <a:buChar char="»"/>
              <a:defRPr sz="2000"/>
            </a:lvl5pPr>
            <a:lvl6pPr marL="2743200" lvl="5" indent="-355600" algn="l">
              <a:spcBef>
                <a:spcPts val="400"/>
              </a:spcBef>
              <a:spcAft>
                <a:spcPts val="0"/>
              </a:spcAft>
              <a:buClr>
                <a:schemeClr val="dk1"/>
              </a:buClr>
              <a:buSzPts val="2000"/>
              <a:buChar char="•"/>
              <a:defRPr sz="2000"/>
            </a:lvl6pPr>
            <a:lvl7pPr marL="3200400" lvl="6" indent="-355600" algn="l">
              <a:spcBef>
                <a:spcPts val="400"/>
              </a:spcBef>
              <a:spcAft>
                <a:spcPts val="0"/>
              </a:spcAft>
              <a:buClr>
                <a:schemeClr val="dk1"/>
              </a:buClr>
              <a:buSzPts val="2000"/>
              <a:buChar char="•"/>
              <a:defRPr sz="2000"/>
            </a:lvl7pPr>
            <a:lvl8pPr marL="3657600" lvl="7" indent="-355600" algn="l">
              <a:spcBef>
                <a:spcPts val="400"/>
              </a:spcBef>
              <a:spcAft>
                <a:spcPts val="0"/>
              </a:spcAft>
              <a:buClr>
                <a:schemeClr val="dk1"/>
              </a:buClr>
              <a:buSzPts val="2000"/>
              <a:buChar char="•"/>
              <a:defRPr sz="2000"/>
            </a:lvl8pPr>
            <a:lvl9pPr marL="4114800" lvl="8" indent="-355600" algn="l">
              <a:spcBef>
                <a:spcPts val="400"/>
              </a:spcBef>
              <a:spcAft>
                <a:spcPts val="0"/>
              </a:spcAft>
              <a:buClr>
                <a:schemeClr val="dk1"/>
              </a:buClr>
              <a:buSzPts val="2000"/>
              <a:buChar char="•"/>
              <a:defRPr sz="2000"/>
            </a:lvl9pPr>
          </a:lstStyle>
          <a:p>
            <a:endParaRPr/>
          </a:p>
        </p:txBody>
      </p:sp>
      <p:sp>
        <p:nvSpPr>
          <p:cNvPr id="57" name="Google Shape;57;p34"/>
          <p:cNvSpPr txBox="1">
            <a:spLocks noGrp="1"/>
          </p:cNvSpPr>
          <p:nvPr>
            <p:ph type="body" idx="2"/>
          </p:nvPr>
        </p:nvSpPr>
        <p:spPr>
          <a:xfrm>
            <a:off x="457200" y="1435100"/>
            <a:ext cx="3008313" cy="4691063"/>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58" name="Google Shape;58;p34"/>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34"/>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34"/>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1"/>
        <p:cNvGrpSpPr/>
        <p:nvPr/>
      </p:nvGrpSpPr>
      <p:grpSpPr>
        <a:xfrm>
          <a:off x="0" y="0"/>
          <a:ext cx="0" cy="0"/>
          <a:chOff x="0" y="0"/>
          <a:chExt cx="0" cy="0"/>
        </a:xfrm>
      </p:grpSpPr>
      <p:sp>
        <p:nvSpPr>
          <p:cNvPr id="62" name="Google Shape;62;p35"/>
          <p:cNvSpPr txBox="1">
            <a:spLocks noGrp="1"/>
          </p:cNvSpPr>
          <p:nvPr>
            <p:ph type="title"/>
          </p:nvPr>
        </p:nvSpPr>
        <p:spPr>
          <a:xfrm>
            <a:off x="1792288" y="4800600"/>
            <a:ext cx="5486400" cy="56673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35"/>
          <p:cNvSpPr>
            <a:spLocks noGrp="1"/>
          </p:cNvSpPr>
          <p:nvPr>
            <p:ph type="pic" idx="2"/>
          </p:nvPr>
        </p:nvSpPr>
        <p:spPr>
          <a:xfrm>
            <a:off x="1792288" y="612775"/>
            <a:ext cx="5486400" cy="4114800"/>
          </a:xfrm>
          <a:prstGeom prst="rect">
            <a:avLst/>
          </a:prstGeom>
          <a:noFill/>
          <a:ln>
            <a:noFill/>
          </a:ln>
        </p:spPr>
      </p:sp>
      <p:sp>
        <p:nvSpPr>
          <p:cNvPr id="64" name="Google Shape;64;p35"/>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spcBef>
                <a:spcPts val="280"/>
              </a:spcBef>
              <a:spcAft>
                <a:spcPts val="0"/>
              </a:spcAft>
              <a:buClr>
                <a:schemeClr val="dk1"/>
              </a:buClr>
              <a:buSzPts val="1400"/>
              <a:buNone/>
              <a:defRPr sz="1400"/>
            </a:lvl1pPr>
            <a:lvl2pPr marL="914400" lvl="1" indent="-228600" algn="l">
              <a:spcBef>
                <a:spcPts val="240"/>
              </a:spcBef>
              <a:spcAft>
                <a:spcPts val="0"/>
              </a:spcAft>
              <a:buClr>
                <a:schemeClr val="dk1"/>
              </a:buClr>
              <a:buSzPts val="1200"/>
              <a:buNone/>
              <a:defRPr sz="1200"/>
            </a:lvl2pPr>
            <a:lvl3pPr marL="1371600" lvl="2" indent="-228600" algn="l">
              <a:spcBef>
                <a:spcPts val="200"/>
              </a:spcBef>
              <a:spcAft>
                <a:spcPts val="0"/>
              </a:spcAft>
              <a:buClr>
                <a:schemeClr val="dk1"/>
              </a:buClr>
              <a:buSzPts val="1000"/>
              <a:buNone/>
              <a:defRPr sz="1000"/>
            </a:lvl3pPr>
            <a:lvl4pPr marL="1828800" lvl="3" indent="-228600" algn="l">
              <a:spcBef>
                <a:spcPts val="180"/>
              </a:spcBef>
              <a:spcAft>
                <a:spcPts val="0"/>
              </a:spcAft>
              <a:buClr>
                <a:schemeClr val="dk1"/>
              </a:buClr>
              <a:buSzPts val="900"/>
              <a:buNone/>
              <a:defRPr sz="900"/>
            </a:lvl4pPr>
            <a:lvl5pPr marL="2286000" lvl="4" indent="-228600" algn="l">
              <a:spcBef>
                <a:spcPts val="180"/>
              </a:spcBef>
              <a:spcAft>
                <a:spcPts val="0"/>
              </a:spcAft>
              <a:buClr>
                <a:schemeClr val="dk1"/>
              </a:buClr>
              <a:buSzPts val="900"/>
              <a:buNone/>
              <a:defRPr sz="900"/>
            </a:lvl5pPr>
            <a:lvl6pPr marL="2743200" lvl="5" indent="-228600" algn="l">
              <a:spcBef>
                <a:spcPts val="180"/>
              </a:spcBef>
              <a:spcAft>
                <a:spcPts val="0"/>
              </a:spcAft>
              <a:buClr>
                <a:schemeClr val="dk1"/>
              </a:buClr>
              <a:buSzPts val="900"/>
              <a:buNone/>
              <a:defRPr sz="900"/>
            </a:lvl6pPr>
            <a:lvl7pPr marL="3200400" lvl="6" indent="-228600" algn="l">
              <a:spcBef>
                <a:spcPts val="180"/>
              </a:spcBef>
              <a:spcAft>
                <a:spcPts val="0"/>
              </a:spcAft>
              <a:buClr>
                <a:schemeClr val="dk1"/>
              </a:buClr>
              <a:buSzPts val="900"/>
              <a:buNone/>
              <a:defRPr sz="900"/>
            </a:lvl7pPr>
            <a:lvl8pPr marL="3657600" lvl="7" indent="-228600" algn="l">
              <a:spcBef>
                <a:spcPts val="180"/>
              </a:spcBef>
              <a:spcAft>
                <a:spcPts val="0"/>
              </a:spcAft>
              <a:buClr>
                <a:schemeClr val="dk1"/>
              </a:buClr>
              <a:buSzPts val="900"/>
              <a:buNone/>
              <a:defRPr sz="900"/>
            </a:lvl8pPr>
            <a:lvl9pPr marL="4114800" lvl="8" indent="-228600" algn="l">
              <a:spcBef>
                <a:spcPts val="180"/>
              </a:spcBef>
              <a:spcAft>
                <a:spcPts val="0"/>
              </a:spcAft>
              <a:buClr>
                <a:schemeClr val="dk1"/>
              </a:buClr>
              <a:buSzPts val="900"/>
              <a:buNone/>
              <a:defRPr sz="900"/>
            </a:lvl9pPr>
          </a:lstStyle>
          <a:p>
            <a:endParaRPr/>
          </a:p>
        </p:txBody>
      </p:sp>
      <p:sp>
        <p:nvSpPr>
          <p:cNvPr id="65" name="Google Shape;65;p35"/>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35"/>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35"/>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8"/>
        <p:cNvGrpSpPr/>
        <p:nvPr/>
      </p:nvGrpSpPr>
      <p:grpSpPr>
        <a:xfrm>
          <a:off x="0" y="0"/>
          <a:ext cx="0" cy="0"/>
          <a:chOff x="0" y="0"/>
          <a:chExt cx="0" cy="0"/>
        </a:xfrm>
      </p:grpSpPr>
      <p:sp>
        <p:nvSpPr>
          <p:cNvPr id="69" name="Google Shape;69;p3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36"/>
          <p:cNvSpPr txBox="1">
            <a:spLocks noGrp="1"/>
          </p:cNvSpPr>
          <p:nvPr>
            <p:ph type="body" idx="1"/>
          </p:nvPr>
        </p:nvSpPr>
        <p:spPr>
          <a:xfrm rot="5400000">
            <a:off x="2309019" y="-251618"/>
            <a:ext cx="4525963" cy="82296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1" name="Google Shape;71;p3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2" name="Google Shape;72;p3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3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4"/>
        <p:cNvGrpSpPr/>
        <p:nvPr/>
      </p:nvGrpSpPr>
      <p:grpSpPr>
        <a:xfrm>
          <a:off x="0" y="0"/>
          <a:ext cx="0" cy="0"/>
          <a:chOff x="0" y="0"/>
          <a:chExt cx="0" cy="0"/>
        </a:xfrm>
      </p:grpSpPr>
      <p:sp>
        <p:nvSpPr>
          <p:cNvPr id="75" name="Google Shape;75;p37"/>
          <p:cNvSpPr txBox="1">
            <a:spLocks noGrp="1"/>
          </p:cNvSpPr>
          <p:nvPr>
            <p:ph type="title"/>
          </p:nvPr>
        </p:nvSpPr>
        <p:spPr>
          <a:xfrm rot="5400000">
            <a:off x="4732338" y="2171701"/>
            <a:ext cx="5851525" cy="205740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6" name="Google Shape;76;p37"/>
          <p:cNvSpPr txBox="1">
            <a:spLocks noGrp="1"/>
          </p:cNvSpPr>
          <p:nvPr>
            <p:ph type="body" idx="1"/>
          </p:nvPr>
        </p:nvSpPr>
        <p:spPr>
          <a:xfrm rot="5400000">
            <a:off x="541338" y="190500"/>
            <a:ext cx="5851525" cy="6019800"/>
          </a:xfrm>
          <a:prstGeom prst="rect">
            <a:avLst/>
          </a:prstGeom>
          <a:noFill/>
          <a:ln>
            <a:noFill/>
          </a:ln>
        </p:spPr>
        <p:txBody>
          <a:bodyPr spcFirstLastPara="1" wrap="square" lIns="91425" tIns="45700" rIns="91425" bIns="45700" anchor="t" anchorCtr="0">
            <a:normAutofit/>
          </a:bodyPr>
          <a:lstStyle>
            <a:lvl1pPr marL="457200" lvl="0" indent="-342900" algn="l">
              <a:spcBef>
                <a:spcPts val="360"/>
              </a:spcBef>
              <a:spcAft>
                <a:spcPts val="0"/>
              </a:spcAft>
              <a:buClr>
                <a:schemeClr val="dk1"/>
              </a:buClr>
              <a:buSzPts val="1800"/>
              <a:buChar char="•"/>
              <a:defRPr/>
            </a:lvl1pPr>
            <a:lvl2pPr marL="914400" lvl="1" indent="-342900" algn="l">
              <a:spcBef>
                <a:spcPts val="360"/>
              </a:spcBef>
              <a:spcAft>
                <a:spcPts val="0"/>
              </a:spcAft>
              <a:buClr>
                <a:schemeClr val="dk1"/>
              </a:buClr>
              <a:buSzPts val="1800"/>
              <a:buChar char="–"/>
              <a:defRPr/>
            </a:lvl2pPr>
            <a:lvl3pPr marL="1371600" lvl="2" indent="-342900" algn="l">
              <a:spcBef>
                <a:spcPts val="360"/>
              </a:spcBef>
              <a:spcAft>
                <a:spcPts val="0"/>
              </a:spcAft>
              <a:buClr>
                <a:schemeClr val="dk1"/>
              </a:buClr>
              <a:buSzPts val="1800"/>
              <a:buChar char="•"/>
              <a:defRPr/>
            </a:lvl3pPr>
            <a:lvl4pPr marL="1828800" lvl="3" indent="-342900" algn="l">
              <a:spcBef>
                <a:spcPts val="360"/>
              </a:spcBef>
              <a:spcAft>
                <a:spcPts val="0"/>
              </a:spcAft>
              <a:buClr>
                <a:schemeClr val="dk1"/>
              </a:buClr>
              <a:buSzPts val="1800"/>
              <a:buChar char="–"/>
              <a:defRPr/>
            </a:lvl4pPr>
            <a:lvl5pPr marL="2286000" lvl="4" indent="-342900" algn="l">
              <a:spcBef>
                <a:spcPts val="360"/>
              </a:spcBef>
              <a:spcAft>
                <a:spcPts val="0"/>
              </a:spcAft>
              <a:buClr>
                <a:schemeClr val="dk1"/>
              </a:buClr>
              <a:buSzPts val="1800"/>
              <a:buChar char="»"/>
              <a:defRPr/>
            </a:lvl5pPr>
            <a:lvl6pPr marL="2743200" lvl="5" indent="-342900" algn="l">
              <a:spcBef>
                <a:spcPts val="360"/>
              </a:spcBef>
              <a:spcAft>
                <a:spcPts val="0"/>
              </a:spcAft>
              <a:buClr>
                <a:schemeClr val="dk1"/>
              </a:buClr>
              <a:buSzPts val="1800"/>
              <a:buChar char="•"/>
              <a:defRPr/>
            </a:lvl6pPr>
            <a:lvl7pPr marL="3200400" lvl="6" indent="-342900" algn="l">
              <a:spcBef>
                <a:spcPts val="360"/>
              </a:spcBef>
              <a:spcAft>
                <a:spcPts val="0"/>
              </a:spcAft>
              <a:buClr>
                <a:schemeClr val="dk1"/>
              </a:buClr>
              <a:buSzPts val="1800"/>
              <a:buChar char="•"/>
              <a:defRPr/>
            </a:lvl7pPr>
            <a:lvl8pPr marL="3657600" lvl="7" indent="-342900" algn="l">
              <a:spcBef>
                <a:spcPts val="360"/>
              </a:spcBef>
              <a:spcAft>
                <a:spcPts val="0"/>
              </a:spcAft>
              <a:buClr>
                <a:schemeClr val="dk1"/>
              </a:buClr>
              <a:buSzPts val="1800"/>
              <a:buChar char="•"/>
              <a:defRPr/>
            </a:lvl8pPr>
            <a:lvl9pPr marL="4114800" lvl="8" indent="-342900" algn="l">
              <a:spcBef>
                <a:spcPts val="360"/>
              </a:spcBef>
              <a:spcAft>
                <a:spcPts val="0"/>
              </a:spcAft>
              <a:buClr>
                <a:schemeClr val="dk1"/>
              </a:buClr>
              <a:buSzPts val="1800"/>
              <a:buChar char="•"/>
              <a:defRPr/>
            </a:lvl9pPr>
          </a:lstStyle>
          <a:p>
            <a:endParaRPr/>
          </a:p>
        </p:txBody>
      </p:sp>
      <p:sp>
        <p:nvSpPr>
          <p:cNvPr id="77" name="Google Shape;77;p37"/>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8" name="Google Shape;78;p37"/>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37"/>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
        <p:nvSpPr>
          <p:cNvPr id="6" name="Google Shape;6;p26"/>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7" name="Google Shape;7;p26"/>
          <p:cNvSpPr txBox="1">
            <a:spLocks noGrp="1"/>
          </p:cNvSpPr>
          <p:nvPr>
            <p:ph type="body" idx="1"/>
          </p:nvPr>
        </p:nvSpPr>
        <p:spPr>
          <a:xfrm>
            <a:off x="457200" y="1600200"/>
            <a:ext cx="8229600" cy="4525963"/>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8" name="Google Shape;8;p26"/>
          <p:cNvSpPr txBox="1">
            <a:spLocks noGrp="1"/>
          </p:cNvSpPr>
          <p:nvPr>
            <p:ph type="dt" idx="10"/>
          </p:nvPr>
        </p:nvSpPr>
        <p:spPr>
          <a:xfrm>
            <a:off x="457200" y="6356350"/>
            <a:ext cx="21336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9" name="Google Shape;9;p26"/>
          <p:cNvSpPr txBox="1">
            <a:spLocks noGrp="1"/>
          </p:cNvSpPr>
          <p:nvPr>
            <p:ph type="ftr" idx="11"/>
          </p:nvPr>
        </p:nvSpPr>
        <p:spPr>
          <a:xfrm>
            <a:off x="3124200" y="6356350"/>
            <a:ext cx="28956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0" name="Google Shape;10;p26"/>
          <p:cNvSpPr txBox="1">
            <a:spLocks noGrp="1"/>
          </p:cNvSpPr>
          <p:nvPr>
            <p:ph type="sldNum" idx="12"/>
          </p:nvPr>
        </p:nvSpPr>
        <p:spPr>
          <a:xfrm>
            <a:off x="6553200" y="6356350"/>
            <a:ext cx="21336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84"/>
        <p:cNvGrpSpPr/>
        <p:nvPr/>
      </p:nvGrpSpPr>
      <p:grpSpPr>
        <a:xfrm>
          <a:off x="0" y="0"/>
          <a:ext cx="0" cy="0"/>
          <a:chOff x="0" y="0"/>
          <a:chExt cx="0" cy="0"/>
        </a:xfrm>
      </p:grpSpPr>
      <p:sp>
        <p:nvSpPr>
          <p:cNvPr id="85" name="Google Shape;85;p1"/>
          <p:cNvSpPr/>
          <p:nvPr/>
        </p:nvSpPr>
        <p:spPr>
          <a:xfrm>
            <a:off x="0" y="0"/>
            <a:ext cx="12191695" cy="137160"/>
          </a:xfrm>
          <a:prstGeom prst="rect">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86" name="Google Shape;86;p1"/>
          <p:cNvSpPr txBox="1"/>
          <p:nvPr/>
        </p:nvSpPr>
        <p:spPr>
          <a:xfrm>
            <a:off x="914400" y="1645920"/>
            <a:ext cx="10362895" cy="73152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5B21B6"/>
                </a:solidFill>
                <a:latin typeface="Calibri"/>
                <a:ea typeface="Calibri"/>
                <a:cs typeface="Calibri"/>
                <a:sym typeface="Calibri"/>
              </a:rPr>
              <a:t>Lecture 1.2</a:t>
            </a:r>
            <a:endParaRPr/>
          </a:p>
        </p:txBody>
      </p:sp>
      <p:sp>
        <p:nvSpPr>
          <p:cNvPr id="87" name="Google Shape;87;p1"/>
          <p:cNvSpPr txBox="1"/>
          <p:nvPr/>
        </p:nvSpPr>
        <p:spPr>
          <a:xfrm>
            <a:off x="914400" y="2468880"/>
            <a:ext cx="10362895" cy="1828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4800" b="1" i="0" u="none" strike="noStrike" cap="none">
                <a:solidFill>
                  <a:srgbClr val="1A1A2E"/>
                </a:solidFill>
                <a:latin typeface="Calibri"/>
                <a:ea typeface="Calibri"/>
                <a:cs typeface="Calibri"/>
                <a:sym typeface="Calibri"/>
              </a:rPr>
              <a:t>Unix + Command Line</a:t>
            </a:r>
            <a:endParaRPr/>
          </a:p>
        </p:txBody>
      </p:sp>
      <p:sp>
        <p:nvSpPr>
          <p:cNvPr id="88" name="Google Shape;88;p1"/>
          <p:cNvSpPr txBox="1"/>
          <p:nvPr/>
        </p:nvSpPr>
        <p:spPr>
          <a:xfrm>
            <a:off x="914400" y="4754880"/>
            <a:ext cx="1036289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000" b="0" i="0" u="none" strike="noStrike" cap="none">
                <a:solidFill>
                  <a:srgbClr val="666677"/>
                </a:solidFill>
                <a:latin typeface="Calibri"/>
                <a:ea typeface="Calibri"/>
                <a:cs typeface="Calibri"/>
                <a:sym typeface="Calibri"/>
              </a:rPr>
              <a:t>Andy Aymeloglu - UATX Software Engineering</a:t>
            </a:r>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93"/>
        <p:cNvGrpSpPr/>
        <p:nvPr/>
      </p:nvGrpSpPr>
      <p:grpSpPr>
        <a:xfrm>
          <a:off x="0" y="0"/>
          <a:ext cx="0" cy="0"/>
          <a:chOff x="0" y="0"/>
          <a:chExt cx="0" cy="0"/>
        </a:xfrm>
      </p:grpSpPr>
      <p:sp>
        <p:nvSpPr>
          <p:cNvPr id="94" name="Google Shape;94;p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Why Unix/Linux?</a:t>
            </a:r>
            <a:endParaRPr/>
          </a:p>
        </p:txBody>
      </p:sp>
      <p:sp>
        <p:nvSpPr>
          <p:cNvPr id="95" name="Google Shape;95;p2"/>
          <p:cNvSpPr txBox="1"/>
          <p:nvPr/>
        </p:nvSpPr>
        <p:spPr>
          <a:xfrm>
            <a:off x="914400" y="1463040"/>
            <a:ext cx="10362900" cy="21858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Created at Bell Labs in 1969</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still the foundation of modern computing</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Runs virtually every server on the internet (AWS, Google, etc.)</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macOS is built on Unix; Android is built on Linux</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Core design philosophy: small, composable tools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"Do one thing well"</a:t>
            </a:r>
            <a:r>
              <a:rPr lang="en-US" sz="2000">
                <a:solidFill>
                  <a:srgbClr val="666677"/>
                </a:solidFill>
                <a:latin typeface="Calibri"/>
                <a:ea typeface="Calibri"/>
                <a:cs typeface="Calibri"/>
                <a:sym typeface="Calibri"/>
              </a:rPr>
              <a:t>,</a:t>
            </a:r>
            <a:r>
              <a:rPr lang="en-US" sz="2000" b="0" i="0" u="none" strike="noStrike" cap="none">
                <a:solidFill>
                  <a:srgbClr val="666677"/>
                </a:solidFill>
                <a:latin typeface="Calibri"/>
                <a:ea typeface="Calibri"/>
                <a:cs typeface="Calibri"/>
                <a:sym typeface="Calibri"/>
              </a:rPr>
              <a:t> then combine them</a:t>
            </a:r>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0"/>
        <p:cNvGrpSpPr/>
        <p:nvPr/>
      </p:nvGrpSpPr>
      <p:grpSpPr>
        <a:xfrm>
          <a:off x="0" y="0"/>
          <a:ext cx="0" cy="0"/>
          <a:chOff x="0" y="0"/>
          <a:chExt cx="0" cy="0"/>
        </a:xfrm>
      </p:grpSpPr>
      <p:sp>
        <p:nvSpPr>
          <p:cNvPr id="101" name="Google Shape;101;p3"/>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Unix philosophy</a:t>
            </a:r>
            <a:endParaRPr/>
          </a:p>
        </p:txBody>
      </p:sp>
      <p:sp>
        <p:nvSpPr>
          <p:cNvPr id="102" name="Google Shape;102;p3"/>
          <p:cNvSpPr txBox="1"/>
          <p:nvPr/>
        </p:nvSpPr>
        <p:spPr>
          <a:xfrm>
            <a:off x="914400" y="1463040"/>
            <a:ext cx="10362900" cy="2693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1. Write programs that do one thing and do it well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2. Write programs to work together</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3. Write programs to handle text streams</a:t>
            </a:r>
            <a:endParaRPr sz="2400">
              <a:solidFill>
                <a:srgbClr val="333344"/>
              </a:solidFill>
              <a:latin typeface="Calibri"/>
              <a:ea typeface="Calibri"/>
              <a:cs typeface="Calibri"/>
              <a:sym typeface="Calibri"/>
            </a:endParaRPr>
          </a:p>
          <a:p>
            <a:pPr marL="0" marR="0" lvl="0" indent="0" algn="l" rtl="0">
              <a:spcBef>
                <a:spcPts val="600"/>
              </a:spcBef>
              <a:spcAft>
                <a:spcPts val="0"/>
              </a:spcAft>
              <a:buNone/>
            </a:pPr>
            <a:endParaRPr sz="240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This is also good software engineering in general.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Small tools + composition = powerful systems</a:t>
            </a:r>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07"/>
        <p:cNvGrpSpPr/>
        <p:nvPr/>
      </p:nvGrpSpPr>
      <p:grpSpPr>
        <a:xfrm>
          <a:off x="0" y="0"/>
          <a:ext cx="0" cy="0"/>
          <a:chOff x="0" y="0"/>
          <a:chExt cx="0" cy="0"/>
        </a:xfrm>
      </p:grpSpPr>
      <p:sp>
        <p:nvSpPr>
          <p:cNvPr id="108" name="Google Shape;108;p4"/>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Why learn the CLI?</a:t>
            </a:r>
            <a:endParaRPr/>
          </a:p>
        </p:txBody>
      </p:sp>
      <p:sp>
        <p:nvSpPr>
          <p:cNvPr id="109" name="Google Shape;109;p4"/>
          <p:cNvSpPr txBox="1"/>
          <p:nvPr/>
        </p:nvSpPr>
        <p:spPr>
          <a:xfrm>
            <a:off x="914400" y="1463040"/>
            <a:ext cx="103629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i="0" u="none" strike="noStrike" cap="none">
                <a:solidFill>
                  <a:srgbClr val="333344"/>
                </a:solidFill>
                <a:latin typeface="Calibri"/>
                <a:ea typeface="Calibri"/>
                <a:cs typeface="Calibri"/>
                <a:sym typeface="Calibri"/>
              </a:rPr>
              <a:t>Servers don't have GUIs </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you SSH in and type commands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Automation: one script replaces 50 clicks</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Git, Docker, cloud tools </a:t>
            </a:r>
            <a:r>
              <a:rPr lang="en-US" sz="2400">
                <a:solidFill>
                  <a:srgbClr val="333344"/>
                </a:solidFill>
                <a:latin typeface="Calibri"/>
                <a:ea typeface="Calibri"/>
                <a:cs typeface="Calibri"/>
                <a:sym typeface="Calibri"/>
              </a:rPr>
              <a:t>-</a:t>
            </a:r>
            <a:r>
              <a:rPr lang="en-US" sz="2400" b="0" i="0" u="none" strike="noStrike" cap="none">
                <a:solidFill>
                  <a:srgbClr val="333344"/>
                </a:solidFill>
                <a:latin typeface="Calibri"/>
                <a:ea typeface="Calibri"/>
                <a:cs typeface="Calibri"/>
                <a:sym typeface="Calibri"/>
              </a:rPr>
              <a:t> all CLI-first</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Speed: experienced devs are faster in a terminal</a:t>
            </a:r>
            <a:endParaRPr/>
          </a:p>
          <a:p>
            <a:pPr marL="0" marR="0" lvl="0" indent="0" algn="l" rtl="0">
              <a:spcBef>
                <a:spcPts val="600"/>
              </a:spcBef>
              <a:spcAft>
                <a:spcPts val="0"/>
              </a:spcAft>
              <a:buNone/>
            </a:pPr>
            <a:r>
              <a:rPr lang="en-US" sz="2400" b="0" i="0" u="none" strike="noStrike" cap="none">
                <a:solidFill>
                  <a:srgbClr val="333344"/>
                </a:solidFill>
                <a:latin typeface="Calibri"/>
                <a:ea typeface="Calibri"/>
                <a:cs typeface="Calibri"/>
                <a:sym typeface="Calibri"/>
              </a:rPr>
              <a:t>Reproducibility: a command can be shared, scripted, version-controlled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14"/>
        <p:cNvGrpSpPr/>
        <p:nvPr/>
      </p:nvGrpSpPr>
      <p:grpSpPr>
        <a:xfrm>
          <a:off x="0" y="0"/>
          <a:ext cx="0" cy="0"/>
          <a:chOff x="0" y="0"/>
          <a:chExt cx="0" cy="0"/>
        </a:xfrm>
      </p:grpSpPr>
      <p:sp>
        <p:nvSpPr>
          <p:cNvPr id="115" name="Google Shape;115;p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i="0" u="none" strike="noStrike" cap="none">
                <a:solidFill>
                  <a:srgbClr val="1A1A2E"/>
                </a:solidFill>
                <a:latin typeface="Calibri"/>
                <a:ea typeface="Calibri"/>
                <a:cs typeface="Calibri"/>
                <a:sym typeface="Calibri"/>
              </a:rPr>
              <a:t>Anatomy of a command</a:t>
            </a:r>
            <a:endParaRPr/>
          </a:p>
        </p:txBody>
      </p:sp>
      <p:sp>
        <p:nvSpPr>
          <p:cNvPr id="116" name="Google Shape;116;p5"/>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b="0" i="0" u="none" strike="noStrike" cap="none">
              <a:solidFill>
                <a:schemeClr val="dk1"/>
              </a:solidFill>
              <a:latin typeface="Calibri"/>
              <a:ea typeface="Calibri"/>
              <a:cs typeface="Calibri"/>
              <a:sym typeface="Calibri"/>
            </a:endParaRPr>
          </a:p>
        </p:txBody>
      </p:sp>
      <p:sp>
        <p:nvSpPr>
          <p:cNvPr id="117" name="Google Shape;117;p5"/>
          <p:cNvSpPr txBox="1"/>
          <p:nvPr/>
        </p:nvSpPr>
        <p:spPr>
          <a:xfrm>
            <a:off x="1005840" y="1645920"/>
            <a:ext cx="10179900" cy="2791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i="0" u="none" strike="noStrike" cap="none">
                <a:solidFill>
                  <a:srgbClr val="333344"/>
                </a:solidFill>
                <a:latin typeface="Courier New"/>
                <a:ea typeface="Courier New"/>
                <a:cs typeface="Courier New"/>
                <a:sym typeface="Courier New"/>
              </a:rPr>
              <a:t>$ command  -flags  argument1  argument2</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Example:</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ls       -la     /home/user</a:t>
            </a:r>
            <a:endParaRPr b="1"/>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       ^^     ^^^^^^^^^^</a:t>
            </a:r>
            <a:endParaRPr b="1"/>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  verb    options   what to act on</a:t>
            </a:r>
            <a:endParaRPr b="1"/>
          </a:p>
          <a:p>
            <a:pPr marL="0" marR="0" lvl="0" indent="0" algn="l" rtl="0">
              <a:spcBef>
                <a:spcPts val="200"/>
              </a:spcBef>
              <a:spcAft>
                <a:spcPts val="0"/>
              </a:spcAft>
              <a:buNone/>
            </a:pPr>
            <a:endParaRPr sz="1800" b="1" i="0" u="none" strike="noStrike" cap="none">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i="0" u="none" strike="noStrike" cap="none">
                <a:solidFill>
                  <a:srgbClr val="333344"/>
                </a:solidFill>
                <a:latin typeface="Courier New"/>
                <a:ea typeface="Courier New"/>
                <a:cs typeface="Courier New"/>
                <a:sym typeface="Courier New"/>
              </a:rPr>
              <a:t>The $ is the prompt - you don't type it.</a:t>
            </a:r>
            <a:endParaRPr b="1"/>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2"/>
        <p:cNvGrpSpPr/>
        <p:nvPr/>
      </p:nvGrpSpPr>
      <p:grpSpPr>
        <a:xfrm>
          <a:off x="0" y="0"/>
          <a:ext cx="0" cy="0"/>
          <a:chOff x="0" y="0"/>
          <a:chExt cx="0" cy="0"/>
        </a:xfrm>
      </p:grpSpPr>
      <p:sp>
        <p:nvSpPr>
          <p:cNvPr id="123" name="Google Shape;123;p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i="0" u="none" strike="noStrike" cap="none">
                <a:solidFill>
                  <a:srgbClr val="1A1A2E"/>
                </a:solidFill>
                <a:latin typeface="Calibri"/>
                <a:ea typeface="Calibri"/>
                <a:cs typeface="Calibri"/>
                <a:sym typeface="Calibri"/>
              </a:rPr>
              <a:t>The navigation trio</a:t>
            </a:r>
            <a:endParaRPr/>
          </a:p>
        </p:txBody>
      </p:sp>
      <p:sp>
        <p:nvSpPr>
          <p:cNvPr id="124" name="Google Shape;124;p6"/>
          <p:cNvSpPr txBox="1"/>
          <p:nvPr/>
        </p:nvSpPr>
        <p:spPr>
          <a:xfrm>
            <a:off x="914400" y="1463040"/>
            <a:ext cx="10362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i="0" u="none" strike="noStrike" cap="none" dirty="0" err="1">
                <a:solidFill>
                  <a:srgbClr val="333344"/>
                </a:solidFill>
                <a:latin typeface="Courier Prime"/>
                <a:ea typeface="Courier Prime"/>
                <a:cs typeface="Courier Prime"/>
                <a:sym typeface="Courier Prime"/>
              </a:rPr>
              <a:t>pwd</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"where am I?" (print working directory)</a:t>
            </a:r>
            <a:endParaRPr dirty="0"/>
          </a:p>
          <a:p>
            <a:pPr lvl="0">
              <a:spcBef>
                <a:spcPts val="600"/>
              </a:spcBef>
            </a:pPr>
            <a:r>
              <a:rPr lang="en-US" sz="2400" b="1" i="0" u="none" strike="noStrike" cap="none" dirty="0">
                <a:solidFill>
                  <a:srgbClr val="333344"/>
                </a:solidFill>
                <a:latin typeface="Courier Prime"/>
                <a:ea typeface="Courier Prime"/>
                <a:cs typeface="Courier Prime"/>
                <a:sym typeface="Courier Prime"/>
              </a:rPr>
              <a:t>ls</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"what's </a:t>
            </a:r>
            <a:r>
              <a:rPr lang="en-US" sz="2400" b="0" i="0" u="none" strike="noStrike" cap="none" dirty="0">
                <a:solidFill>
                  <a:srgbClr val="333344"/>
                </a:solidFill>
                <a:latin typeface="Calibri"/>
                <a:ea typeface="Calibri"/>
                <a:cs typeface="Calibri"/>
                <a:sym typeface="Calibri"/>
              </a:rPr>
              <a:t>here</a:t>
            </a:r>
            <a:r>
              <a:rPr lang="en-US" sz="2400" dirty="0">
                <a:solidFill>
                  <a:srgbClr val="333344"/>
                </a:solidFill>
                <a:latin typeface="Calibri"/>
                <a:ea typeface="Calibri"/>
                <a:cs typeface="Calibri"/>
                <a:sym typeface="Calibri"/>
              </a:rPr>
              <a:t>?" </a:t>
            </a:r>
            <a:r>
              <a:rPr lang="en-US" sz="2400" b="0" i="0" u="none" strike="noStrike" cap="none" dirty="0">
                <a:solidFill>
                  <a:srgbClr val="333344"/>
                </a:solidFill>
                <a:latin typeface="Calibri"/>
                <a:ea typeface="Calibri"/>
                <a:cs typeface="Calibri"/>
                <a:sym typeface="Calibri"/>
              </a:rPr>
              <a:t>(list directory contents)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-l</a:t>
            </a:r>
            <a:r>
              <a:rPr lang="en-US" sz="2000" b="0" i="0" u="none" strike="noStrike" cap="none" dirty="0">
                <a:solidFill>
                  <a:srgbClr val="666677"/>
                </a:solidFill>
                <a:latin typeface="Calibri"/>
                <a:ea typeface="Calibri"/>
                <a:cs typeface="Calibri"/>
                <a:sym typeface="Calibri"/>
              </a:rPr>
              <a:t>  long format (permissions, size, date)</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-a</a:t>
            </a:r>
            <a:r>
              <a:rPr lang="en-US" sz="2000" b="0" i="0" u="none" strike="noStrike" cap="none" dirty="0">
                <a:solidFill>
                  <a:srgbClr val="666677"/>
                </a:solidFill>
                <a:latin typeface="Calibri"/>
                <a:ea typeface="Calibri"/>
                <a:cs typeface="Calibri"/>
                <a:sym typeface="Calibri"/>
              </a:rPr>
              <a:t>  show hidden files (dotfiles)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a:t>
            </a:r>
            <a:r>
              <a:rPr lang="en-US" sz="2000" b="1" i="0" u="none" strike="noStrike" cap="none" dirty="0">
                <a:solidFill>
                  <a:srgbClr val="666677"/>
                </a:solidFill>
                <a:latin typeface="Courier Prime"/>
                <a:ea typeface="Courier Prime"/>
                <a:cs typeface="Courier Prime"/>
                <a:sym typeface="Courier Prime"/>
              </a:rPr>
              <a:t>ls -la</a:t>
            </a:r>
            <a:r>
              <a:rPr lang="en-US" sz="2000" b="0" i="0" u="none" strike="noStrike" cap="none" dirty="0">
                <a:solidFill>
                  <a:srgbClr val="666677"/>
                </a:solidFill>
                <a:latin typeface="Calibri"/>
                <a:ea typeface="Calibri"/>
                <a:cs typeface="Calibri"/>
                <a:sym typeface="Calibri"/>
              </a:rPr>
              <a:t>  both</a:t>
            </a:r>
            <a:endParaRPr dirty="0"/>
          </a:p>
          <a:p>
            <a:pPr lvl="0">
              <a:spcBef>
                <a:spcPts val="600"/>
              </a:spcBef>
            </a:pPr>
            <a:r>
              <a:rPr lang="en-US" sz="2400" b="1" i="0" u="none" strike="noStrike" cap="none" dirty="0">
                <a:solidFill>
                  <a:srgbClr val="333344"/>
                </a:solidFill>
                <a:latin typeface="Courier Prime"/>
                <a:ea typeface="Courier Prime"/>
                <a:cs typeface="Courier Prime"/>
                <a:sym typeface="Courier Prime"/>
              </a:rPr>
              <a:t>cd</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a:t>
            </a:r>
            <a:r>
              <a:rPr lang="en-US" sz="2400" b="0" i="0" u="none" strike="noStrike" cap="none" dirty="0">
                <a:solidFill>
                  <a:srgbClr val="333344"/>
                </a:solidFill>
                <a:latin typeface="Calibri"/>
                <a:ea typeface="Calibri"/>
                <a:cs typeface="Calibri"/>
                <a:sym typeface="Calibri"/>
              </a:rPr>
              <a:t> </a:t>
            </a:r>
            <a:r>
              <a:rPr lang="en-US" sz="2400" dirty="0">
                <a:solidFill>
                  <a:srgbClr val="333344"/>
                </a:solidFill>
                <a:latin typeface="Calibri"/>
                <a:ea typeface="Calibri"/>
                <a:cs typeface="Calibri"/>
                <a:sym typeface="Calibri"/>
              </a:rPr>
              <a:t>"go somewhere" </a:t>
            </a:r>
            <a:r>
              <a:rPr lang="en-US" sz="2400" b="0" i="0" u="none" strike="noStrike" cap="none" dirty="0">
                <a:solidFill>
                  <a:srgbClr val="333344"/>
                </a:solidFill>
                <a:latin typeface="Calibri"/>
                <a:ea typeface="Calibri"/>
                <a:cs typeface="Calibri"/>
                <a:sym typeface="Calibri"/>
              </a:rPr>
              <a:t>(change directory)</a:t>
            </a:r>
            <a:endParaRPr dirty="0"/>
          </a:p>
          <a:p>
            <a:pPr marL="0" marR="0" lvl="0" indent="0" algn="l" rtl="0">
              <a:spcBef>
                <a:spcPts val="600"/>
              </a:spcBef>
              <a:spcAft>
                <a:spcPts val="0"/>
              </a:spcAft>
              <a:buNone/>
            </a:pPr>
            <a:endParaRPr sz="2400" b="0" i="0" u="none" strike="noStrike" cap="none"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i="0" u="none" strike="noStrike" cap="none" dirty="0">
                <a:solidFill>
                  <a:srgbClr val="333344"/>
                </a:solidFill>
                <a:latin typeface="Calibri"/>
                <a:ea typeface="Calibri"/>
                <a:cs typeface="Calibri"/>
                <a:sym typeface="Calibri"/>
              </a:rPr>
              <a:t>Special paths:  .  (here)   ..  (parent)   ~  (home)   /  (root)</a:t>
            </a:r>
            <a:endParaRPr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29"/>
        <p:cNvGrpSpPr/>
        <p:nvPr/>
      </p:nvGrpSpPr>
      <p:grpSpPr>
        <a:xfrm>
          <a:off x="0" y="0"/>
          <a:ext cx="0" cy="0"/>
          <a:chOff x="0" y="0"/>
          <a:chExt cx="0" cy="0"/>
        </a:xfrm>
      </p:grpSpPr>
      <p:sp>
        <p:nvSpPr>
          <p:cNvPr id="130" name="Google Shape;130;p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i="0" u="none" strike="noStrike" cap="none">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Navigate the filesystem</a:t>
            </a:r>
            <a:endParaRPr/>
          </a:p>
        </p:txBody>
      </p:sp>
      <p:sp>
        <p:nvSpPr>
          <p:cNvPr id="131" name="Google Shape;131;p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32" name="Google Shape;132;p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33" name="Google Shape;133;p7"/>
          <p:cNvSpPr txBox="1"/>
          <p:nvPr/>
        </p:nvSpPr>
        <p:spPr>
          <a:xfrm>
            <a:off x="1005840" y="1554480"/>
            <a:ext cx="10179900" cy="460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-la</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/tmp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mkdir se-course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se-course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38"/>
        <p:cNvGrpSpPr/>
        <p:nvPr/>
      </p:nvGrpSpPr>
      <p:grpSpPr>
        <a:xfrm>
          <a:off x="0" y="0"/>
          <a:ext cx="0" cy="0"/>
          <a:chOff x="0" y="0"/>
          <a:chExt cx="0" cy="0"/>
        </a:xfrm>
      </p:grpSpPr>
      <p:sp>
        <p:nvSpPr>
          <p:cNvPr id="139" name="Google Shape;139;p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Navigate the filesystem</a:t>
            </a:r>
            <a:endParaRPr/>
          </a:p>
        </p:txBody>
      </p:sp>
      <p:sp>
        <p:nvSpPr>
          <p:cNvPr id="140" name="Google Shape;140;p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1" name="Google Shape;141;p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42" name="Google Shape;142;p8"/>
          <p:cNvSpPr txBox="1"/>
          <p:nvPr/>
        </p:nvSpPr>
        <p:spPr>
          <a:xfrm>
            <a:off x="1005840" y="1554480"/>
            <a:ext cx="10179900" cy="46845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/Users/andy</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ls -la</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drwxr-xr-x  12 andy  staff   384 Sep  1 10:00 .</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-rw-r--r--   1 andy  staff    42 Sep  1 09:55 .bashrc</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drwxr-xr-x   3 andy  staff    96 Sep  1 10:00 Documents</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/tmp</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/tmp</a:t>
            </a:r>
            <a:endParaRPr b="1"/>
          </a:p>
          <a:p>
            <a:pPr marL="0" marR="0" lvl="0" indent="0" algn="l" rtl="0">
              <a:spcBef>
                <a:spcPts val="200"/>
              </a:spcBef>
              <a:spcAft>
                <a:spcPts val="0"/>
              </a:spcAft>
              <a:buNone/>
            </a:pPr>
            <a:endParaRPr sz="15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mkdir se-course</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cd se-course</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 pwd</a:t>
            </a:r>
            <a:endParaRPr b="1"/>
          </a:p>
          <a:p>
            <a:pPr marL="0" marR="0" lvl="0" indent="0" algn="l" rtl="0">
              <a:spcBef>
                <a:spcPts val="200"/>
              </a:spcBef>
              <a:spcAft>
                <a:spcPts val="0"/>
              </a:spcAft>
              <a:buNone/>
            </a:pPr>
            <a:r>
              <a:rPr lang="en-US" sz="1500" b="1">
                <a:solidFill>
                  <a:srgbClr val="333344"/>
                </a:solidFill>
                <a:latin typeface="Courier New"/>
                <a:ea typeface="Courier New"/>
                <a:cs typeface="Courier New"/>
                <a:sym typeface="Courier New"/>
              </a:rPr>
              <a:t>/Users/andy/se-course</a:t>
            </a:r>
            <a:endParaRPr b="1"/>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47"/>
        <p:cNvGrpSpPr/>
        <p:nvPr/>
      </p:nvGrpSpPr>
      <p:grpSpPr>
        <a:xfrm>
          <a:off x="0" y="0"/>
          <a:ext cx="0" cy="0"/>
          <a:chOff x="0" y="0"/>
          <a:chExt cx="0" cy="0"/>
        </a:xfrm>
      </p:grpSpPr>
      <p:sp>
        <p:nvSpPr>
          <p:cNvPr id="148" name="Google Shape;148;p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Creating &amp; removing things</a:t>
            </a:r>
            <a:endParaRPr/>
          </a:p>
        </p:txBody>
      </p:sp>
      <p:sp>
        <p:nvSpPr>
          <p:cNvPr id="149" name="Google Shape;149;p9"/>
          <p:cNvSpPr txBox="1"/>
          <p:nvPr/>
        </p:nvSpPr>
        <p:spPr>
          <a:xfrm>
            <a:off x="914400" y="1463040"/>
            <a:ext cx="10362900" cy="314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touch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empty file (or update timestamp)</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mkdir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directory</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mkdir -p a/b/c</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create nested dirs in one shot</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a file (permanent! no trash can!)</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 -r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directory + everything inside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rmdir &lt;dir&gt;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delete empty directory only</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154"/>
        <p:cNvGrpSpPr/>
        <p:nvPr/>
      </p:nvGrpSpPr>
      <p:grpSpPr>
        <a:xfrm>
          <a:off x="0" y="0"/>
          <a:ext cx="0" cy="0"/>
          <a:chOff x="0" y="0"/>
          <a:chExt cx="0" cy="0"/>
        </a:xfrm>
      </p:grpSpPr>
      <p:sp>
        <p:nvSpPr>
          <p:cNvPr id="155" name="Google Shape;155;p10"/>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156" name="Google Shape;156;p10"/>
          <p:cNvSpPr txBox="1"/>
          <p:nvPr/>
        </p:nvSpPr>
        <p:spPr>
          <a:xfrm>
            <a:off x="1371600" y="2011680"/>
            <a:ext cx="9448500" cy="615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What would happen if you ran:  </a:t>
            </a:r>
            <a:r>
              <a:rPr lang="en-US" sz="3400" b="1">
                <a:solidFill>
                  <a:srgbClr val="1A1A2E"/>
                </a:solidFill>
                <a:latin typeface="Courier Prime"/>
                <a:ea typeface="Courier Prime"/>
                <a:cs typeface="Courier Prime"/>
                <a:sym typeface="Courier Prime"/>
              </a:rPr>
              <a:t>rm -rf /</a:t>
            </a:r>
            <a:r>
              <a:rPr lang="en-US" sz="3400" b="1">
                <a:solidFill>
                  <a:srgbClr val="1A1A2E"/>
                </a:solidFill>
                <a:latin typeface="Calibri"/>
                <a:ea typeface="Calibri"/>
                <a:cs typeface="Calibri"/>
                <a:sym typeface="Calibri"/>
              </a:rPr>
              <a:t>  ?</a:t>
            </a:r>
            <a:endParaRPr/>
          </a:p>
        </p:txBody>
      </p:sp>
      <p:sp>
        <p:nvSpPr>
          <p:cNvPr id="157" name="Google Shape;157;p10"/>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(Don't try this.  But think about what it would attempt to do.)</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2"/>
        <p:cNvGrpSpPr/>
        <p:nvPr/>
      </p:nvGrpSpPr>
      <p:grpSpPr>
        <a:xfrm>
          <a:off x="0" y="0"/>
          <a:ext cx="0" cy="0"/>
          <a:chOff x="0" y="0"/>
          <a:chExt cx="0" cy="0"/>
        </a:xfrm>
      </p:grpSpPr>
      <p:sp>
        <p:nvSpPr>
          <p:cNvPr id="163" name="Google Shape;163;p1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Viewing file contents</a:t>
            </a:r>
            <a:endParaRPr/>
          </a:p>
        </p:txBody>
      </p:sp>
      <p:sp>
        <p:nvSpPr>
          <p:cNvPr id="164" name="Google Shape;164;p11"/>
          <p:cNvSpPr txBox="1"/>
          <p:nvPr/>
        </p:nvSpPr>
        <p:spPr>
          <a:xfrm>
            <a:off x="914400" y="1463040"/>
            <a:ext cx="10362900" cy="2247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cat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dump entire file to screen</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less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scroll through (q to quit, / to search)</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head -n 5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first 5 lines</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tail -n 5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last 5 lines</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tail -f &lt;file&gt;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follow a log file in real time</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69"/>
        <p:cNvGrpSpPr/>
        <p:nvPr/>
      </p:nvGrpSpPr>
      <p:grpSpPr>
        <a:xfrm>
          <a:off x="0" y="0"/>
          <a:ext cx="0" cy="0"/>
          <a:chOff x="0" y="0"/>
          <a:chExt cx="0" cy="0"/>
        </a:xfrm>
      </p:grpSpPr>
      <p:sp>
        <p:nvSpPr>
          <p:cNvPr id="170" name="Google Shape;170;p1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Copying and moving files</a:t>
            </a:r>
            <a:endParaRPr/>
          </a:p>
        </p:txBody>
      </p:sp>
      <p:sp>
        <p:nvSpPr>
          <p:cNvPr id="171" name="Google Shape;171;p12"/>
          <p:cNvSpPr txBox="1"/>
          <p:nvPr/>
        </p:nvSpPr>
        <p:spPr>
          <a:xfrm>
            <a:off x="914400" y="1463040"/>
            <a:ext cx="10362900" cy="340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a:solidFill>
                  <a:srgbClr val="333344"/>
                </a:solidFill>
                <a:latin typeface="Courier Prime"/>
                <a:ea typeface="Courier Prime"/>
                <a:cs typeface="Courier Prime"/>
                <a:sym typeface="Courier Prime"/>
              </a:rPr>
              <a:t>cp &lt;source&gt;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copy a file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cp -r &lt;dir&gt;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copy a directory (recursive)</a:t>
            </a:r>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mv &lt;source&gt; &lt;dest&gt;</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move or rename</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Examples:</a:t>
            </a:r>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a:t>
            </a:r>
            <a:r>
              <a:rPr lang="en-US" sz="2000" b="1" i="0" u="none" strike="noStrike" cap="none">
                <a:solidFill>
                  <a:srgbClr val="666677"/>
                </a:solidFill>
                <a:latin typeface="Courier Prime"/>
                <a:ea typeface="Courier Prime"/>
                <a:cs typeface="Courier Prime"/>
                <a:sym typeface="Courier Prime"/>
              </a:rPr>
              <a:t>cp report.txt report_backup.txt</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mv old_name.py new_name.py</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1" i="0" u="none" strike="noStrike" cap="none">
                <a:solidFill>
                  <a:srgbClr val="666677"/>
                </a:solidFill>
                <a:latin typeface="Courier Prime"/>
                <a:ea typeface="Courier Prime"/>
                <a:cs typeface="Courier Prime"/>
                <a:sym typeface="Courier Prime"/>
              </a:rPr>
              <a:t> mv data.csv project/data/</a:t>
            </a:r>
            <a:endParaRPr b="1">
              <a:latin typeface="Courier Prime"/>
              <a:ea typeface="Courier Prime"/>
              <a:cs typeface="Courier Prime"/>
              <a:sym typeface="Courier Prime"/>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76"/>
        <p:cNvGrpSpPr/>
        <p:nvPr/>
      </p:nvGrpSpPr>
      <p:grpSpPr>
        <a:xfrm>
          <a:off x="0" y="0"/>
          <a:ext cx="0" cy="0"/>
          <a:chOff x="0" y="0"/>
          <a:chExt cx="0" cy="0"/>
        </a:xfrm>
      </p:grpSpPr>
      <p:sp>
        <p:nvSpPr>
          <p:cNvPr id="177" name="Google Shape;177;p1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Redirection: controlling where output goes</a:t>
            </a:r>
            <a:endParaRPr/>
          </a:p>
        </p:txBody>
      </p:sp>
      <p:sp>
        <p:nvSpPr>
          <p:cNvPr id="178" name="Google Shape;178;p15"/>
          <p:cNvSpPr txBox="1"/>
          <p:nvPr/>
        </p:nvSpPr>
        <p:spPr>
          <a:xfrm>
            <a:off x="914400" y="1463040"/>
            <a:ext cx="10362895" cy="3524001"/>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&gt;</a:t>
            </a:r>
            <a:r>
              <a:rPr lang="en-US" sz="2400" b="0" dirty="0">
                <a:solidFill>
                  <a:srgbClr val="333344"/>
                </a:solidFill>
                <a:latin typeface="Calibri"/>
                <a:ea typeface="Calibri"/>
                <a:cs typeface="Calibri"/>
                <a:sym typeface="Calibri"/>
              </a:rPr>
              <a:t>   redirect </a:t>
            </a:r>
            <a:r>
              <a:rPr lang="en-US" sz="2400" b="0" dirty="0" err="1">
                <a:solidFill>
                  <a:srgbClr val="333344"/>
                </a:solidFill>
                <a:latin typeface="Calibri"/>
                <a:ea typeface="Calibri"/>
                <a:cs typeface="Calibri"/>
                <a:sym typeface="Calibri"/>
              </a:rPr>
              <a:t>stdout</a:t>
            </a:r>
            <a:r>
              <a:rPr lang="en-US" sz="2400" b="0" dirty="0">
                <a:solidFill>
                  <a:srgbClr val="333344"/>
                </a:solidFill>
                <a:latin typeface="Calibri"/>
                <a:ea typeface="Calibri"/>
                <a:cs typeface="Calibri"/>
                <a:sym typeface="Calibri"/>
              </a:rPr>
              <a:t> to a file (overwrites!)</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&gt;&gt;</a:t>
            </a:r>
            <a:r>
              <a:rPr lang="en-US" sz="2400" b="0" dirty="0">
                <a:solidFill>
                  <a:srgbClr val="333344"/>
                </a:solidFill>
                <a:latin typeface="Calibri"/>
                <a:ea typeface="Calibri"/>
                <a:cs typeface="Calibri"/>
                <a:sym typeface="Calibri"/>
              </a:rPr>
              <a:t>  append </a:t>
            </a:r>
            <a:r>
              <a:rPr lang="en-US" sz="2400" b="0" dirty="0" err="1">
                <a:solidFill>
                  <a:srgbClr val="333344"/>
                </a:solidFill>
                <a:latin typeface="Calibri"/>
                <a:ea typeface="Calibri"/>
                <a:cs typeface="Calibri"/>
                <a:sym typeface="Calibri"/>
              </a:rPr>
              <a:t>stdout</a:t>
            </a:r>
            <a:r>
              <a:rPr lang="en-US" sz="2400" b="0" dirty="0">
                <a:solidFill>
                  <a:srgbClr val="333344"/>
                </a:solidFill>
                <a:latin typeface="Calibri"/>
                <a:ea typeface="Calibri"/>
                <a:cs typeface="Calibri"/>
                <a:sym typeface="Calibri"/>
              </a:rPr>
              <a:t> to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&lt;</a:t>
            </a:r>
            <a:r>
              <a:rPr lang="en-US" sz="2400" b="0" dirty="0">
                <a:solidFill>
                  <a:srgbClr val="333344"/>
                </a:solidFill>
                <a:latin typeface="Calibri"/>
                <a:ea typeface="Calibri"/>
                <a:cs typeface="Calibri"/>
                <a:sym typeface="Calibri"/>
              </a:rPr>
              <a:t>   read stdin from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2&gt;</a:t>
            </a:r>
            <a:r>
              <a:rPr lang="en-US" sz="2400" b="0" dirty="0">
                <a:solidFill>
                  <a:srgbClr val="333344"/>
                </a:solidFill>
                <a:latin typeface="Calibri"/>
                <a:ea typeface="Calibri"/>
                <a:cs typeface="Calibri"/>
                <a:sym typeface="Calibri"/>
              </a:rPr>
              <a:t>  redirect stderr to a file</a:t>
            </a:r>
            <a:endParaRPr dirty="0"/>
          </a:p>
          <a:p>
            <a:pPr marL="0" marR="0" lvl="0" indent="0" algn="l" rtl="0">
              <a:spcBef>
                <a:spcPts val="600"/>
              </a:spcBef>
              <a:spcAft>
                <a:spcPts val="0"/>
              </a:spcAft>
              <a:buNone/>
            </a:pPr>
            <a:r>
              <a:rPr lang="en-US" sz="2400" b="1" dirty="0">
                <a:solidFill>
                  <a:srgbClr val="333344"/>
                </a:solidFill>
                <a:latin typeface="Courier New" panose="02070309020205020404" pitchFamily="49" charset="0"/>
                <a:ea typeface="Calibri"/>
                <a:cs typeface="Courier New" panose="02070309020205020404" pitchFamily="49" charset="0"/>
                <a:sym typeface="Calibri"/>
              </a:rPr>
              <a:t>2&gt;&amp;1 </a:t>
            </a:r>
            <a:r>
              <a:rPr lang="en-US" sz="2400" b="0" dirty="0">
                <a:solidFill>
                  <a:srgbClr val="333344"/>
                </a:solidFill>
                <a:latin typeface="Calibri"/>
                <a:ea typeface="Calibri"/>
                <a:cs typeface="Calibri"/>
                <a:sym typeface="Calibri"/>
              </a:rPr>
              <a:t>merge stderr into </a:t>
            </a:r>
            <a:r>
              <a:rPr lang="en-US" sz="2400" b="0" dirty="0" err="1">
                <a:solidFill>
                  <a:srgbClr val="333344"/>
                </a:solidFill>
                <a:latin typeface="Calibri"/>
                <a:ea typeface="Calibri"/>
                <a:cs typeface="Calibri"/>
                <a:sym typeface="Calibri"/>
              </a:rPr>
              <a:t>stdout</a:t>
            </a:r>
            <a:endParaRPr dirty="0"/>
          </a:p>
          <a:p>
            <a:pPr marL="0" marR="0" lvl="0" indent="0" algn="l" rtl="0">
              <a:spcBef>
                <a:spcPts val="600"/>
              </a:spcBef>
              <a:spcAft>
                <a:spcPts val="0"/>
              </a:spcAft>
              <a:buNone/>
            </a:pPr>
            <a:endParaRPr sz="2400" b="0" dirty="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dirty="0">
                <a:solidFill>
                  <a:srgbClr val="333344"/>
                </a:solidFill>
                <a:latin typeface="Calibri"/>
                <a:ea typeface="Calibri"/>
                <a:cs typeface="Calibri"/>
                <a:sym typeface="Calibri"/>
              </a:rPr>
              <a:t>Every command has three streams:</a:t>
            </a:r>
            <a:endParaRPr dirty="0"/>
          </a:p>
          <a:p>
            <a:pPr marL="457200" marR="0" lvl="1" indent="0" algn="l" rtl="0">
              <a:spcBef>
                <a:spcPts val="600"/>
              </a:spcBef>
              <a:spcAft>
                <a:spcPts val="0"/>
              </a:spcAft>
              <a:buNone/>
            </a:pPr>
            <a:r>
              <a:rPr lang="en-US" sz="2000" b="0" i="0" u="none" strike="noStrike" cap="none" dirty="0">
                <a:solidFill>
                  <a:srgbClr val="666677"/>
                </a:solidFill>
                <a:latin typeface="Calibri"/>
                <a:ea typeface="Calibri"/>
                <a:cs typeface="Calibri"/>
                <a:sym typeface="Calibri"/>
              </a:rPr>
              <a:t>  stdin (0) - </a:t>
            </a:r>
            <a:r>
              <a:rPr lang="en-US" sz="2000" b="0" i="0" u="none" strike="noStrike" cap="none" dirty="0" err="1">
                <a:solidFill>
                  <a:srgbClr val="666677"/>
                </a:solidFill>
                <a:latin typeface="Calibri"/>
                <a:ea typeface="Calibri"/>
                <a:cs typeface="Calibri"/>
                <a:sym typeface="Calibri"/>
              </a:rPr>
              <a:t>stdout</a:t>
            </a:r>
            <a:r>
              <a:rPr lang="en-US" sz="2000" b="0" i="0" u="none" strike="noStrike" cap="none" dirty="0">
                <a:solidFill>
                  <a:srgbClr val="666677"/>
                </a:solidFill>
                <a:latin typeface="Calibri"/>
                <a:ea typeface="Calibri"/>
                <a:cs typeface="Calibri"/>
                <a:sym typeface="Calibri"/>
              </a:rPr>
              <a:t> (1) - stderr (2)</a:t>
            </a:r>
            <a:endParaRPr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83"/>
        <p:cNvGrpSpPr/>
        <p:nvPr/>
      </p:nvGrpSpPr>
      <p:grpSpPr>
        <a:xfrm>
          <a:off x="0" y="0"/>
          <a:ext cx="0" cy="0"/>
          <a:chOff x="0" y="0"/>
          <a:chExt cx="0" cy="0"/>
        </a:xfrm>
      </p:grpSpPr>
      <p:sp>
        <p:nvSpPr>
          <p:cNvPr id="184" name="Google Shape;184;p13"/>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Set up the chat-app project</a:t>
            </a:r>
            <a:endParaRPr/>
          </a:p>
        </p:txBody>
      </p:sp>
      <p:sp>
        <p:nvSpPr>
          <p:cNvPr id="185" name="Google Shape;185;p13"/>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6" name="Google Shape;186;p13"/>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87" name="Google Shape;187;p13"/>
          <p:cNvSpPr txBox="1"/>
          <p:nvPr/>
        </p:nvSpPr>
        <p:spPr>
          <a:xfrm>
            <a:off x="1005840" y="1554480"/>
            <a:ext cx="10179900" cy="3396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touch src/app.py src/models.py tests/test_app.py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 Chat App' &gt; README.md</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Verify the structure: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-R</a:t>
            </a:r>
            <a:endParaRPr b="1"/>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a:p>
            <a:pPr marL="0" marR="0" lvl="0" indent="0" algn="l" rtl="0">
              <a:spcBef>
                <a:spcPts val="200"/>
              </a:spcBef>
              <a:spcAft>
                <a:spcPts val="0"/>
              </a:spcAft>
              <a:buNone/>
            </a:pPr>
            <a:r>
              <a:rPr lang="en-US" sz="1800">
                <a:solidFill>
                  <a:srgbClr val="B0B0C0"/>
                </a:solidFill>
                <a:latin typeface="Courier New"/>
                <a:ea typeface="Courier New"/>
                <a:cs typeface="Courier New"/>
                <a:sym typeface="Courier New"/>
              </a:rPr>
              <a:t>________________________________________</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192"/>
        <p:cNvGrpSpPr/>
        <p:nvPr/>
      </p:nvGrpSpPr>
      <p:grpSpPr>
        <a:xfrm>
          <a:off x="0" y="0"/>
          <a:ext cx="0" cy="0"/>
          <a:chOff x="0" y="0"/>
          <a:chExt cx="0" cy="0"/>
        </a:xfrm>
      </p:grpSpPr>
      <p:sp>
        <p:nvSpPr>
          <p:cNvPr id="193" name="Google Shape;193;p14"/>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Set up the chat-app project</a:t>
            </a:r>
            <a:endParaRPr/>
          </a:p>
        </p:txBody>
      </p:sp>
      <p:sp>
        <p:nvSpPr>
          <p:cNvPr id="194" name="Google Shape;194;p14"/>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95" name="Google Shape;195;p14"/>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196" name="Google Shape;196;p14"/>
          <p:cNvSpPr txBox="1"/>
          <p:nvPr/>
        </p:nvSpPr>
        <p:spPr>
          <a:xfrm>
            <a:off x="1005840" y="155448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touch src/app.py src/models.py tests/test_app.py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 Chat App' &gt; README.md</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README.md   src   tests</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./src:</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app.py   models.py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test_app.py</a:t>
            </a:r>
            <a:endParaRPr b="1"/>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1"/>
        <p:cNvGrpSpPr/>
        <p:nvPr/>
      </p:nvGrpSpPr>
      <p:grpSpPr>
        <a:xfrm>
          <a:off x="0" y="0"/>
          <a:ext cx="0" cy="0"/>
          <a:chOff x="0" y="0"/>
          <a:chExt cx="0" cy="0"/>
        </a:xfrm>
      </p:grpSpPr>
      <p:sp>
        <p:nvSpPr>
          <p:cNvPr id="202" name="Google Shape;202;g3d38b15cab4_0_3"/>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Pipes: connecting commands together</a:t>
            </a:r>
            <a:endParaRPr/>
          </a:p>
        </p:txBody>
      </p:sp>
      <p:sp>
        <p:nvSpPr>
          <p:cNvPr id="203" name="Google Shape;203;g3d38b15cab4_0_3"/>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04" name="Google Shape;204;g3d38b15cab4_0_3"/>
          <p:cNvSpPr txBox="1"/>
          <p:nvPr/>
        </p:nvSpPr>
        <p:spPr>
          <a:xfrm>
            <a:off x="1005840" y="1645920"/>
            <a:ext cx="10179900" cy="1518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The pipe | sends one command's stdout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into the next command's stdin</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cat server.log | grep "error" | wc -l</a:t>
            </a:r>
            <a:endParaRPr b="1"/>
          </a:p>
          <a:p>
            <a:pPr marL="0" marR="0" lvl="0" indent="0" algn="l" rtl="0">
              <a:spcBef>
                <a:spcPts val="200"/>
              </a:spcBef>
              <a:spcAft>
                <a:spcPts val="0"/>
              </a:spcAft>
              <a:buNone/>
            </a:pPr>
            <a:endParaRPr b="1"/>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09"/>
        <p:cNvGrpSpPr/>
        <p:nvPr/>
      </p:nvGrpSpPr>
      <p:grpSpPr>
        <a:xfrm>
          <a:off x="0" y="0"/>
          <a:ext cx="0" cy="0"/>
          <a:chOff x="0" y="0"/>
          <a:chExt cx="0" cy="0"/>
        </a:xfrm>
      </p:grpSpPr>
      <p:sp>
        <p:nvSpPr>
          <p:cNvPr id="210" name="Google Shape;210;p16"/>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Pipes: connecting commands together</a:t>
            </a:r>
            <a:endParaRPr/>
          </a:p>
        </p:txBody>
      </p:sp>
      <p:sp>
        <p:nvSpPr>
          <p:cNvPr id="211" name="Google Shape;211;p16"/>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12" name="Google Shape;212;p16"/>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The pipe | sends one command's stdout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into the next command's stdin</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cat server.log | grep "error" | wc -l</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Read left to right:</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1. Read the log file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2. Keep only lines containing "error"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3. Count those lines</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This is the Unix philosophy in action: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small tools, chained together</a:t>
            </a:r>
            <a:endParaRPr b="1"/>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17"/>
        <p:cNvGrpSpPr/>
        <p:nvPr/>
      </p:nvGrpSpPr>
      <p:grpSpPr>
        <a:xfrm>
          <a:off x="0" y="0"/>
          <a:ext cx="0" cy="0"/>
          <a:chOff x="0" y="0"/>
          <a:chExt cx="0" cy="0"/>
        </a:xfrm>
      </p:grpSpPr>
      <p:sp>
        <p:nvSpPr>
          <p:cNvPr id="218" name="Google Shape;218;g3d38b15cab4_0_10"/>
          <p:cNvSpPr txBox="1"/>
          <p:nvPr/>
        </p:nvSpPr>
        <p:spPr>
          <a:xfrm>
            <a:off x="731520" y="365760"/>
            <a:ext cx="10728600" cy="5850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grep: searching inside files</a:t>
            </a:r>
            <a:endParaRPr/>
          </a:p>
        </p:txBody>
      </p:sp>
      <p:sp>
        <p:nvSpPr>
          <p:cNvPr id="219" name="Google Shape;219;g3d38b15cab4_0_10"/>
          <p:cNvSpPr/>
          <p:nvPr/>
        </p:nvSpPr>
        <p:spPr>
          <a:xfrm>
            <a:off x="731520" y="1463040"/>
            <a:ext cx="10728600" cy="49377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0"/>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20" name="Google Shape;220;g3d38b15cab4_0_10"/>
          <p:cNvSpPr txBox="1"/>
          <p:nvPr/>
        </p:nvSpPr>
        <p:spPr>
          <a:xfrm>
            <a:off x="1005840" y="1645920"/>
            <a:ext cx="10179900" cy="9132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Find lines matching a pattern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"def " src/app.py</a:t>
            </a:r>
            <a:endParaRPr b="1"/>
          </a:p>
          <a:p>
            <a:pPr marL="0" marR="0" lvl="0" indent="0" algn="l" rtl="0">
              <a:spcBef>
                <a:spcPts val="200"/>
              </a:spcBef>
              <a:spcAft>
                <a:spcPts val="0"/>
              </a:spcAft>
              <a:buNone/>
            </a:pPr>
            <a:endParaRPr b="1"/>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25"/>
        <p:cNvGrpSpPr/>
        <p:nvPr/>
      </p:nvGrpSpPr>
      <p:grpSpPr>
        <a:xfrm>
          <a:off x="0" y="0"/>
          <a:ext cx="0" cy="0"/>
          <a:chOff x="0" y="0"/>
          <a:chExt cx="0" cy="0"/>
        </a:xfrm>
      </p:grpSpPr>
      <p:sp>
        <p:nvSpPr>
          <p:cNvPr id="226" name="Google Shape;226;p19"/>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grep: searching inside files</a:t>
            </a:r>
            <a:endParaRPr/>
          </a:p>
        </p:txBody>
      </p:sp>
      <p:sp>
        <p:nvSpPr>
          <p:cNvPr id="227" name="Google Shape;227;p19"/>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28" name="Google Shape;228;p19"/>
          <p:cNvSpPr txBox="1"/>
          <p:nvPr/>
        </p:nvSpPr>
        <p:spPr>
          <a:xfrm>
            <a:off x="1005840" y="164592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Find lines matching a pattern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"def " src/app.py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Recursive: search all files in a directory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-r "import" src/</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Case insensitive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-i "error" server.log</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Show line numbers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-n "TODO" src/*.py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Invert: show lines that DON'T match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grep -v "DEBUG" server.log</a:t>
            </a:r>
            <a:endParaRPr b="1"/>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33"/>
        <p:cNvGrpSpPr/>
        <p:nvPr/>
      </p:nvGrpSpPr>
      <p:grpSpPr>
        <a:xfrm>
          <a:off x="0" y="0"/>
          <a:ext cx="0" cy="0"/>
          <a:chOff x="0" y="0"/>
          <a:chExt cx="0" cy="0"/>
        </a:xfrm>
      </p:grpSpPr>
      <p:sp>
        <p:nvSpPr>
          <p:cNvPr id="234" name="Google Shape;234;p22"/>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Shell scripts: automating workflows</a:t>
            </a:r>
            <a:endParaRPr/>
          </a:p>
        </p:txBody>
      </p:sp>
      <p:sp>
        <p:nvSpPr>
          <p:cNvPr id="235" name="Google Shape;235;p22"/>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36" name="Google Shape;236;p22"/>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#!/bin/bash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setup.sh - set up our project from scratch</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mkdir -p chat-app/{src,tests,static}</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cd chat-app</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python3 -m venv venv</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source venv/bin/activate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pip install flask sqlalchemy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echo "Ready to go!"</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Make it executable and run:</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chmod +x setup.sh &amp;&amp; ./setup.sh</a:t>
            </a:r>
            <a:endParaRPr b="1"/>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1"/>
        <p:cNvGrpSpPr/>
        <p:nvPr/>
      </p:nvGrpSpPr>
      <p:grpSpPr>
        <a:xfrm>
          <a:off x="0" y="0"/>
          <a:ext cx="0" cy="0"/>
          <a:chOff x="0" y="0"/>
          <a:chExt cx="0" cy="0"/>
        </a:xfrm>
      </p:grpSpPr>
      <p:sp>
        <p:nvSpPr>
          <p:cNvPr id="242" name="Google Shape;242;p17"/>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TRY IT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Pipe chains</a:t>
            </a:r>
            <a:endParaRPr/>
          </a:p>
        </p:txBody>
      </p:sp>
      <p:sp>
        <p:nvSpPr>
          <p:cNvPr id="243" name="Google Shape;243;p17"/>
          <p:cNvSpPr/>
          <p:nvPr/>
        </p:nvSpPr>
        <p:spPr>
          <a:xfrm>
            <a:off x="640080" y="228600"/>
            <a:ext cx="1097280" cy="365760"/>
          </a:xfrm>
          <a:prstGeom prst="roundRect">
            <a:avLst>
              <a:gd name="adj" fmla="val 16667"/>
            </a:avLst>
          </a:prstGeom>
          <a:solidFill>
            <a:srgbClr val="5B21B6"/>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44" name="Google Shape;244;p17"/>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45" name="Google Shape;245;p17"/>
          <p:cNvSpPr txBox="1"/>
          <p:nvPr/>
        </p:nvSpPr>
        <p:spPr>
          <a:xfrm>
            <a:off x="1005840" y="1554480"/>
            <a:ext cx="10179900" cy="4304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How many .py files exist under /usr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find /usr -name "*.py" 2&gt;/dev/null | wc -l</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What are the 5 largest files in current 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-lS | head -n 6</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________________________________________</a:t>
            </a:r>
            <a:endParaRPr b="1"/>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endParaRPr sz="1800" b="1">
              <a:solidFill>
                <a:srgbClr val="B0B0C0"/>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Search your command history for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history | grep mkdir</a:t>
            </a:r>
            <a:endParaRPr b="1"/>
          </a:p>
          <a:p>
            <a:pPr marL="0" marR="0" lvl="0" indent="0" algn="l" rtl="0">
              <a:spcBef>
                <a:spcPts val="200"/>
              </a:spcBef>
              <a:spcAft>
                <a:spcPts val="0"/>
              </a:spcAft>
              <a:buNone/>
            </a:pPr>
            <a:r>
              <a:rPr lang="en-US" sz="1800" b="1">
                <a:solidFill>
                  <a:srgbClr val="B0B0C0"/>
                </a:solidFill>
                <a:latin typeface="Courier New"/>
                <a:ea typeface="Courier New"/>
                <a:cs typeface="Courier New"/>
                <a:sym typeface="Courier New"/>
              </a:rPr>
              <a:t>______________________________</a:t>
            </a:r>
            <a:r>
              <a:rPr lang="en-US" sz="1800">
                <a:solidFill>
                  <a:srgbClr val="B0B0C0"/>
                </a:solidFill>
                <a:latin typeface="Courier New"/>
                <a:ea typeface="Courier New"/>
                <a:cs typeface="Courier New"/>
                <a:sym typeface="Courier New"/>
              </a:rPr>
              <a:t>__________</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0"/>
        <p:cNvGrpSpPr/>
        <p:nvPr/>
      </p:nvGrpSpPr>
      <p:grpSpPr>
        <a:xfrm>
          <a:off x="0" y="0"/>
          <a:ext cx="0" cy="0"/>
          <a:chOff x="0" y="0"/>
          <a:chExt cx="0" cy="0"/>
        </a:xfrm>
      </p:grpSpPr>
      <p:sp>
        <p:nvSpPr>
          <p:cNvPr id="251" name="Google Shape;251;p18"/>
          <p:cNvSpPr txBox="1"/>
          <p:nvPr/>
        </p:nvSpPr>
        <p:spPr>
          <a:xfrm>
            <a:off x="731520" y="27432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600" b="1">
                <a:solidFill>
                  <a:srgbClr val="FFFFFF"/>
                </a:solidFill>
                <a:latin typeface="Calibri"/>
                <a:ea typeface="Calibri"/>
                <a:cs typeface="Calibri"/>
                <a:sym typeface="Calibri"/>
              </a:rPr>
              <a:t>ANSWER  </a:t>
            </a:r>
            <a:endParaRPr/>
          </a:p>
          <a:p>
            <a:pPr marL="0" marR="0" lvl="0" indent="0" algn="l" rtl="0">
              <a:spcBef>
                <a:spcPts val="0"/>
              </a:spcBef>
              <a:spcAft>
                <a:spcPts val="0"/>
              </a:spcAft>
              <a:buNone/>
            </a:pPr>
            <a:r>
              <a:rPr lang="en-US" sz="3000" b="1">
                <a:solidFill>
                  <a:srgbClr val="1A1A2E"/>
                </a:solidFill>
                <a:latin typeface="Calibri"/>
                <a:ea typeface="Calibri"/>
                <a:cs typeface="Calibri"/>
                <a:sym typeface="Calibri"/>
              </a:rPr>
              <a:t>Pipe chains</a:t>
            </a:r>
            <a:endParaRPr/>
          </a:p>
        </p:txBody>
      </p:sp>
      <p:sp>
        <p:nvSpPr>
          <p:cNvPr id="252" name="Google Shape;252;p18"/>
          <p:cNvSpPr/>
          <p:nvPr/>
        </p:nvSpPr>
        <p:spPr>
          <a:xfrm>
            <a:off x="640080" y="228600"/>
            <a:ext cx="1188720" cy="365760"/>
          </a:xfrm>
          <a:prstGeom prst="roundRect">
            <a:avLst>
              <a:gd name="adj" fmla="val 16667"/>
            </a:avLst>
          </a:prstGeom>
          <a:solidFill>
            <a:srgbClr val="166534"/>
          </a:solidFill>
          <a:ln>
            <a:noFill/>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3" name="Google Shape;253;p18"/>
          <p:cNvSpPr/>
          <p:nvPr/>
        </p:nvSpPr>
        <p:spPr>
          <a:xfrm>
            <a:off x="731520" y="1371600"/>
            <a:ext cx="10728655" cy="502920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54" name="Google Shape;254;p18"/>
          <p:cNvSpPr txBox="1"/>
          <p:nvPr/>
        </p:nvSpPr>
        <p:spPr>
          <a:xfrm>
            <a:off x="1005840" y="1554480"/>
            <a:ext cx="10179900" cy="4607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How many .py files exist under /usr ?</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find /usr -name "*.py" 2&gt;/dev/null | wc -l</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1247  (number will vary)</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What are the 5 largest files in current 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ls -lS | head -n 6</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total 128</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-rw-r--r--  1 andy staff 45056 Sep 1 data.db</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-rw-r--r--  1 andy staff  8192 Sep 1 app.py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Search your command history for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history | grep mkdir</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142  mkdir -p chat-app/src chat-app/tests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  </a:t>
            </a:r>
            <a:endParaRPr b="1"/>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59"/>
        <p:cNvGrpSpPr/>
        <p:nvPr/>
      </p:nvGrpSpPr>
      <p:grpSpPr>
        <a:xfrm>
          <a:off x="0" y="0"/>
          <a:ext cx="0" cy="0"/>
          <a:chOff x="0" y="0"/>
          <a:chExt cx="0" cy="0"/>
        </a:xfrm>
      </p:grpSpPr>
      <p:sp>
        <p:nvSpPr>
          <p:cNvPr id="260" name="Google Shape;260;p20"/>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File permissions (quick version)</a:t>
            </a:r>
            <a:endParaRPr/>
          </a:p>
        </p:txBody>
      </p:sp>
      <p:sp>
        <p:nvSpPr>
          <p:cNvPr id="261" name="Google Shape;261;p20"/>
          <p:cNvSpPr txBox="1"/>
          <p:nvPr/>
        </p:nvSpPr>
        <p:spPr>
          <a:xfrm>
            <a:off x="914400" y="1463040"/>
            <a:ext cx="10362900" cy="39096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Every file has permissions for: owner, group, others</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Each gets some combination of: read (r), write (w), execute (x)</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 ls -l script.py</a:t>
            </a:r>
            <a:endParaRPr b="1">
              <a:latin typeface="Courier Prime"/>
              <a:ea typeface="Courier Prime"/>
              <a:cs typeface="Courier Prime"/>
              <a:sym typeface="Courier Prime"/>
            </a:endParaRPr>
          </a:p>
          <a:p>
            <a:pPr marL="457200" marR="0" lvl="1" indent="0" algn="l" rtl="0">
              <a:spcBef>
                <a:spcPts val="600"/>
              </a:spcBef>
              <a:spcAft>
                <a:spcPts val="0"/>
              </a:spcAft>
              <a:buNone/>
            </a:pPr>
            <a:r>
              <a:rPr lang="en-US" sz="2000" b="0" i="0" u="none" strike="noStrike" cap="none">
                <a:solidFill>
                  <a:srgbClr val="666677"/>
                </a:solidFill>
                <a:latin typeface="Calibri"/>
                <a:ea typeface="Calibri"/>
                <a:cs typeface="Calibri"/>
                <a:sym typeface="Calibri"/>
              </a:rPr>
              <a:t>  -rw-r--r--   means: owner rw, group r, others r</a:t>
            </a:r>
            <a:endParaRPr/>
          </a:p>
          <a:p>
            <a:pPr marL="0" marR="0" lvl="0" indent="0" algn="l" rtl="0">
              <a:spcBef>
                <a:spcPts val="600"/>
              </a:spcBef>
              <a:spcAft>
                <a:spcPts val="0"/>
              </a:spcAft>
              <a:buNone/>
            </a:pPr>
            <a:endParaRPr sz="2000" b="0" i="0" u="none" strike="noStrike" cap="none">
              <a:solidFill>
                <a:srgbClr val="666677"/>
              </a:solidFill>
              <a:latin typeface="Calibri"/>
              <a:ea typeface="Calibri"/>
              <a:cs typeface="Calibri"/>
              <a:sym typeface="Calibri"/>
            </a:endParaRPr>
          </a:p>
          <a:p>
            <a:pPr marL="0" marR="0" lvl="0" indent="0" algn="l" rtl="0">
              <a:spcBef>
                <a:spcPts val="600"/>
              </a:spcBef>
              <a:spcAft>
                <a:spcPts val="0"/>
              </a:spcAft>
              <a:buNone/>
            </a:pPr>
            <a:r>
              <a:rPr lang="en-US" sz="2400" b="1">
                <a:solidFill>
                  <a:srgbClr val="333344"/>
                </a:solidFill>
                <a:latin typeface="Courier Prime"/>
                <a:ea typeface="Courier Prime"/>
                <a:cs typeface="Courier Prime"/>
                <a:sym typeface="Courier Prime"/>
              </a:rPr>
              <a:t>chmod +x script.py</a:t>
            </a:r>
            <a:r>
              <a:rPr lang="en-US" sz="2400" b="0">
                <a:solidFill>
                  <a:srgbClr val="333344"/>
                </a:solidFill>
                <a:latin typeface="Calibri"/>
                <a:ea typeface="Calibri"/>
                <a:cs typeface="Calibri"/>
                <a:sym typeface="Calibri"/>
              </a:rPr>
              <a: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make it executable</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You'll need this when: running scripts, deploying to servers</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66"/>
        <p:cNvGrpSpPr/>
        <p:nvPr/>
      </p:nvGrpSpPr>
      <p:grpSpPr>
        <a:xfrm>
          <a:off x="0" y="0"/>
          <a:ext cx="0" cy="0"/>
          <a:chOff x="0" y="0"/>
          <a:chExt cx="0" cy="0"/>
        </a:xfrm>
      </p:grpSpPr>
      <p:sp>
        <p:nvSpPr>
          <p:cNvPr id="267" name="Google Shape;267;p21"/>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200" b="1">
                <a:solidFill>
                  <a:srgbClr val="1A1A2E"/>
                </a:solidFill>
                <a:latin typeface="Calibri"/>
                <a:ea typeface="Calibri"/>
                <a:cs typeface="Calibri"/>
                <a:sym typeface="Calibri"/>
              </a:rPr>
              <a:t>Environment variables</a:t>
            </a:r>
            <a:endParaRPr/>
          </a:p>
        </p:txBody>
      </p:sp>
      <p:sp>
        <p:nvSpPr>
          <p:cNvPr id="268" name="Google Shape;268;p21"/>
          <p:cNvSpPr/>
          <p:nvPr/>
        </p:nvSpPr>
        <p:spPr>
          <a:xfrm>
            <a:off x="731520" y="1463040"/>
            <a:ext cx="10728655" cy="4937760"/>
          </a:xfrm>
          <a:prstGeom prst="roundRect">
            <a:avLst>
              <a:gd name="adj" fmla="val 16667"/>
            </a:avLst>
          </a:prstGeom>
          <a:solidFill>
            <a:srgbClr val="F0F0F4"/>
          </a:solidFill>
          <a:ln w="12700" cap="flat" cmpd="sng">
            <a:solidFill>
              <a:srgbClr val="EEEEF0"/>
            </a:solidFill>
            <a:prstDash val="solid"/>
            <a:round/>
            <a:headEnd type="none" w="sm" len="sm"/>
            <a:tailEnd type="none" w="sm" len="sm"/>
          </a:ln>
          <a:effectLst>
            <a:outerShdw blurRad="40000" dist="23000" dir="5400000" rotWithShape="0">
              <a:srgbClr val="000000">
                <a:alpha val="34901"/>
              </a:srgbClr>
            </a:outerShdw>
          </a:effectLst>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dk1"/>
              </a:solidFill>
              <a:latin typeface="Calibri"/>
              <a:ea typeface="Calibri"/>
              <a:cs typeface="Calibri"/>
              <a:sym typeface="Calibri"/>
            </a:endParaRPr>
          </a:p>
        </p:txBody>
      </p:sp>
      <p:sp>
        <p:nvSpPr>
          <p:cNvPr id="269" name="Google Shape;269;p21"/>
          <p:cNvSpPr txBox="1"/>
          <p:nvPr/>
        </p:nvSpPr>
        <p:spPr>
          <a:xfrm>
            <a:off x="1005840" y="1645920"/>
            <a:ext cx="10179900" cy="369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rgbClr val="333344"/>
                </a:solidFill>
                <a:latin typeface="Courier New"/>
                <a:ea typeface="Courier New"/>
                <a:cs typeface="Courier New"/>
                <a:sym typeface="Courier New"/>
              </a:rPr>
              <a:t># See a specific one</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$PATH</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$HOME</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Set one (current session only)</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export DATABASE_URL="sqlite:///chat.db"</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echo $DATABASE_URL</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sqlite:///chat.db</a:t>
            </a:r>
            <a:endParaRPr b="1"/>
          </a:p>
          <a:p>
            <a:pPr marL="0" marR="0" lvl="0" indent="0" algn="l" rtl="0">
              <a:spcBef>
                <a:spcPts val="200"/>
              </a:spcBef>
              <a:spcAft>
                <a:spcPts val="0"/>
              </a:spcAft>
              <a:buNone/>
            </a:pPr>
            <a:endParaRPr sz="1800" b="1">
              <a:solidFill>
                <a:srgbClr val="333344"/>
              </a:solidFill>
              <a:latin typeface="Courier New"/>
              <a:ea typeface="Courier New"/>
              <a:cs typeface="Courier New"/>
              <a:sym typeface="Courier New"/>
            </a:endParaRPr>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Why this matters: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Your app reads config from env vars, not hardcoded strings.</a:t>
            </a:r>
            <a:endParaRPr b="1"/>
          </a:p>
          <a:p>
            <a:pPr marL="0" marR="0" lvl="0" indent="0" algn="l" rtl="0">
              <a:spcBef>
                <a:spcPts val="200"/>
              </a:spcBef>
              <a:spcAft>
                <a:spcPts val="0"/>
              </a:spcAft>
              <a:buNone/>
            </a:pPr>
            <a:r>
              <a:rPr lang="en-US" sz="1800" b="1">
                <a:solidFill>
                  <a:srgbClr val="333344"/>
                </a:solidFill>
                <a:latin typeface="Courier New"/>
                <a:ea typeface="Courier New"/>
                <a:cs typeface="Courier New"/>
                <a:sym typeface="Courier New"/>
              </a:rPr>
              <a:t># We'll use this pattern all semester.</a:t>
            </a:r>
            <a:endParaRPr b="1"/>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EDE9FE"/>
        </a:solidFill>
        <a:effectLst/>
      </p:bgPr>
    </p:bg>
    <p:spTree>
      <p:nvGrpSpPr>
        <p:cNvPr id="1" name="Shape 274"/>
        <p:cNvGrpSpPr/>
        <p:nvPr/>
      </p:nvGrpSpPr>
      <p:grpSpPr>
        <a:xfrm>
          <a:off x="0" y="0"/>
          <a:ext cx="0" cy="0"/>
          <a:chOff x="0" y="0"/>
          <a:chExt cx="0" cy="0"/>
        </a:xfrm>
      </p:grpSpPr>
      <p:sp>
        <p:nvSpPr>
          <p:cNvPr id="275" name="Google Shape;275;p24"/>
          <p:cNvSpPr txBox="1"/>
          <p:nvPr/>
        </p:nvSpPr>
        <p:spPr>
          <a:xfrm>
            <a:off x="5303520" y="457200"/>
            <a:ext cx="158465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7200" b="1">
                <a:solidFill>
                  <a:srgbClr val="5B21B6"/>
                </a:solidFill>
                <a:latin typeface="Calibri"/>
                <a:ea typeface="Calibri"/>
                <a:cs typeface="Calibri"/>
                <a:sym typeface="Calibri"/>
              </a:rPr>
              <a:t>?</a:t>
            </a:r>
            <a:endParaRPr/>
          </a:p>
        </p:txBody>
      </p:sp>
      <p:sp>
        <p:nvSpPr>
          <p:cNvPr id="276" name="Google Shape;276;p24"/>
          <p:cNvSpPr txBox="1"/>
          <p:nvPr/>
        </p:nvSpPr>
        <p:spPr>
          <a:xfrm>
            <a:off x="1371600" y="2011680"/>
            <a:ext cx="9448495" cy="22860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3400" b="1">
                <a:solidFill>
                  <a:srgbClr val="1A1A2E"/>
                </a:solidFill>
                <a:latin typeface="Calibri"/>
                <a:ea typeface="Calibri"/>
                <a:cs typeface="Calibri"/>
                <a:sym typeface="Calibri"/>
              </a:rPr>
              <a:t>You need to find all .py files containing the word 'password' in your project. How?</a:t>
            </a:r>
            <a:endParaRPr/>
          </a:p>
        </p:txBody>
      </p:sp>
      <p:sp>
        <p:nvSpPr>
          <p:cNvPr id="277" name="Google Shape;277;p24"/>
          <p:cNvSpPr txBox="1"/>
          <p:nvPr/>
        </p:nvSpPr>
        <p:spPr>
          <a:xfrm>
            <a:off x="1828800" y="4572000"/>
            <a:ext cx="8534095" cy="1371600"/>
          </a:xfrm>
          <a:prstGeom prst="rect">
            <a:avLst/>
          </a:prstGeom>
          <a:no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en-US" sz="2200" b="0">
                <a:solidFill>
                  <a:srgbClr val="666677"/>
                </a:solidFill>
                <a:latin typeface="Calibri"/>
                <a:ea typeface="Calibri"/>
                <a:cs typeface="Calibri"/>
                <a:sym typeface="Calibri"/>
              </a:rPr>
              <a:t>Combine what you've learned: find, grep, pipes.</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82"/>
        <p:cNvGrpSpPr/>
        <p:nvPr/>
      </p:nvGrpSpPr>
      <p:grpSpPr>
        <a:xfrm>
          <a:off x="0" y="0"/>
          <a:ext cx="0" cy="0"/>
          <a:chOff x="0" y="0"/>
          <a:chExt cx="0" cy="0"/>
        </a:xfrm>
      </p:grpSpPr>
      <p:sp>
        <p:nvSpPr>
          <p:cNvPr id="283" name="Google Shape;283;p25"/>
          <p:cNvSpPr txBox="1"/>
          <p:nvPr/>
        </p:nvSpPr>
        <p:spPr>
          <a:xfrm>
            <a:off x="731520" y="365760"/>
            <a:ext cx="10728655" cy="914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3600" b="1">
                <a:solidFill>
                  <a:srgbClr val="1A1A2E"/>
                </a:solidFill>
                <a:latin typeface="Calibri"/>
                <a:ea typeface="Calibri"/>
                <a:cs typeface="Calibri"/>
                <a:sym typeface="Calibri"/>
              </a:rPr>
              <a:t>Wrapping up</a:t>
            </a:r>
            <a:endParaRPr/>
          </a:p>
        </p:txBody>
      </p:sp>
      <p:sp>
        <p:nvSpPr>
          <p:cNvPr id="284" name="Google Shape;284;p25"/>
          <p:cNvSpPr txBox="1"/>
          <p:nvPr/>
        </p:nvSpPr>
        <p:spPr>
          <a:xfrm>
            <a:off x="914400" y="1463040"/>
            <a:ext cx="10362900" cy="31401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2400" b="0">
                <a:solidFill>
                  <a:srgbClr val="333344"/>
                </a:solidFill>
                <a:latin typeface="Calibri"/>
                <a:ea typeface="Calibri"/>
                <a:cs typeface="Calibri"/>
                <a:sym typeface="Calibri"/>
              </a:rPr>
              <a:t>Unix/Linux is the foundation of modern infrastructure</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Navigate: pwd, ls, cd</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Create/destroy: mkdir, touch, rm</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Inspect: cat, less, head, tail, grep</a:t>
            </a:r>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Compose: pipes (|) and redirection (&gt;, &gt;&gt;)</a:t>
            </a:r>
            <a:endParaRPr/>
          </a:p>
          <a:p>
            <a:pPr marL="0" marR="0" lvl="0" indent="0" algn="l" rtl="0">
              <a:spcBef>
                <a:spcPts val="600"/>
              </a:spcBef>
              <a:spcAft>
                <a:spcPts val="0"/>
              </a:spcAft>
              <a:buNone/>
            </a:pPr>
            <a:endParaRPr sz="2400" b="0">
              <a:solidFill>
                <a:srgbClr val="333344"/>
              </a:solidFill>
              <a:latin typeface="Calibri"/>
              <a:ea typeface="Calibri"/>
              <a:cs typeface="Calibri"/>
              <a:sym typeface="Calibri"/>
            </a:endParaRPr>
          </a:p>
          <a:p>
            <a:pPr marL="0" marR="0" lvl="0" indent="0" algn="l" rtl="0">
              <a:spcBef>
                <a:spcPts val="600"/>
              </a:spcBef>
              <a:spcAft>
                <a:spcPts val="0"/>
              </a:spcAft>
              <a:buNone/>
            </a:pPr>
            <a:r>
              <a:rPr lang="en-US" sz="2400" b="0">
                <a:solidFill>
                  <a:srgbClr val="333344"/>
                </a:solidFill>
                <a:latin typeface="Calibri"/>
                <a:ea typeface="Calibri"/>
                <a:cs typeface="Calibri"/>
                <a:sym typeface="Calibri"/>
              </a:rPr>
              <a:t>Next time: Git </a:t>
            </a:r>
            <a:r>
              <a:rPr lang="en-US" sz="2400">
                <a:solidFill>
                  <a:srgbClr val="333344"/>
                </a:solidFill>
                <a:latin typeface="Calibri"/>
                <a:ea typeface="Calibri"/>
                <a:cs typeface="Calibri"/>
                <a:sym typeface="Calibri"/>
              </a:rPr>
              <a:t>-</a:t>
            </a:r>
            <a:r>
              <a:rPr lang="en-US" sz="2400" b="0">
                <a:solidFill>
                  <a:srgbClr val="333344"/>
                </a:solidFill>
                <a:latin typeface="Calibri"/>
                <a:ea typeface="Calibri"/>
                <a:cs typeface="Calibri"/>
                <a:sym typeface="Calibri"/>
              </a:rPr>
              <a:t> version control for everything we build</a:t>
            </a:r>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2228</Words>
  <Application>Microsoft Macintosh PowerPoint</Application>
  <PresentationFormat>Widescreen</PresentationFormat>
  <Paragraphs>285</Paragraphs>
  <Slides>26</Slides>
  <Notes>26</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26</vt:i4>
      </vt:variant>
    </vt:vector>
  </HeadingPairs>
  <TitlesOfParts>
    <vt:vector size="31" baseType="lpstr">
      <vt:lpstr>Calibri</vt:lpstr>
      <vt:lpstr>Arial</vt:lpstr>
      <vt:lpstr>Courier New</vt:lpstr>
      <vt:lpstr>Courier Prime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Andrew Aymeloglu</cp:lastModifiedBy>
  <cp:revision>1</cp:revision>
  <dcterms:created xsi:type="dcterms:W3CDTF">2013-01-27T09:14:16Z</dcterms:created>
  <dcterms:modified xsi:type="dcterms:W3CDTF">2026-08-02T19:02:18Z</dcterms:modified>
</cp:coreProperties>
</file>