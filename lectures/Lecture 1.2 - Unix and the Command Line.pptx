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9144000"/>
  <p:embeddedFontLst>
    <p:embeddedFont>
      <p:font typeface="Courier Prime" pitchFamily="49" charset="77"/>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6" roundtripDataSignature="AMtx7mhGUBe5AB3Vl2WYChXQFl8xPcQqe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font" Target="fonts/font1.fntdata"/><Relationship Id="rId30" Type="http://schemas.openxmlformats.org/officeDocument/2006/relationships/font" Target="fonts/font2.fntdata"/><Relationship Id="rId31" Type="http://schemas.openxmlformats.org/officeDocument/2006/relationships/font" Target="fonts/font3.fntdata"/><Relationship Id="rId32" Type="http://schemas.openxmlformats.org/officeDocument/2006/relationships/font" Target="fonts/font4.fntdata"/><Relationship Id="rId36" Type="http://customschemas.google.com/relationships/presentationmetadata" Target="metadata"/><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Today we get hands dirty with the terminal. Everything we build this semester runs through the command line.</a:t>
            </a:r>
            <a:endParaRP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Three reasons we’re gonna talk about this:</a:t>
            </a:r>
            <a:br>
              <a:rPr lang="en-US"/>
            </a:br>
            <a:r>
              <a:rPr lang="en-US"/>
              <a:t>1) It’s the bedrock of everything</a:t>
            </a:r>
            <a:br>
              <a:rPr lang="en-US"/>
            </a:br>
            <a:r>
              <a:rPr lang="en-US"/>
              <a:t>2) it’s in this context that you’ll be using git</a:t>
            </a:r>
            <a:br>
              <a:rPr lang="en-US"/>
            </a:br>
            <a:r>
              <a:rPr lang="en-US"/>
              <a:t>3) you’ll see your coding agent running unix commands and you should understand what it’s doing</a:t>
            </a:r>
            <a:endParaRPr/>
          </a:p>
        </p:txBody>
      </p:sp>
      <p:sp>
        <p:nvSpPr>
          <p:cNvPr id="92" name="Google Shape;92;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8" name="Google Shape;9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grep + sort + uniq can replace a whole data processing script.</a:t>
            </a:r>
            <a:br>
              <a:rPr lang="en-US"/>
            </a:br>
            <a:r>
              <a:rPr lang="en-US"/>
              <a:t>+’s and -’s of this: The plus is it’s very terse and efficient, less code is better. The minus is you’ll probably have less familiarity with it and 20 lines of bash is more conceptual overhead than 20 lines of python</a:t>
            </a:r>
            <a:endParaRPr/>
          </a:p>
        </p:txBody>
      </p:sp>
      <p:sp>
        <p:nvSpPr>
          <p:cNvPr id="99" name="Google Shape;99;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5" name="Google Shape;105;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Ask: 'Who here has used a terminal before?'</a:t>
            </a:r>
            <a:endParaRPr/>
          </a:p>
        </p:txBody>
      </p:sp>
      <p:sp>
        <p:nvSpPr>
          <p:cNvPr id="106" name="Google Shape;106;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2" name="Google Shape;112;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command is the same shape - verb first, then optional flags that change how it behaves, then the arguments saying what to do it to.</a:t>
            </a:r>
            <a:endParaRPr/>
          </a:p>
        </p:txBody>
      </p:sp>
      <p:sp>
        <p:nvSpPr>
          <p:cNvPr id="113" name="Google Shape;113;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0" name="Google Shape;120;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These three are most of what you'll ever do to get around. The thing to hold onto is that you're always 'standing' somewhere in the tree.</a:t>
            </a:r>
            <a:endParaRPr/>
          </a:p>
        </p:txBody>
      </p:sp>
      <p:sp>
        <p:nvSpPr>
          <p:cNvPr id="121" name="Google Shape;121;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7" name="Google Shape;127;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 name="Google Shape;128;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6" name="Google Shape;136;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Point out: -l shows permissions, owner, size, date. -a reveals hidden files like .bashrc. ~ always takes you home.</a:t>
            </a:r>
            <a:endParaRPr/>
          </a:p>
        </p:txBody>
      </p:sp>
      <p:sp>
        <p:nvSpPr>
          <p:cNvPr id="137" name="Google Shape;137;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5" name="Google Shape;145;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WARN students: rm is permanent. There is no recycle bin. Good habit: use 'ls' before 'rm' to double-check.</a:t>
            </a:r>
            <a:endParaRPr/>
          </a:p>
        </p:txBody>
      </p:sp>
      <p:sp>
        <p:nvSpPr>
          <p:cNvPr id="146" name="Google Shape;146;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rm -rf / would walk the whole system from root and delete it. Modern systems make you pass --no-preserve-root before they'll let you, which is a safeguard that got bolted on after enough people found out the hard way...but broadly the CLI hands you the power and trusts you with it.</a:t>
            </a:r>
            <a:endParaRPr dirty="0"/>
          </a:p>
        </p:txBody>
      </p:sp>
      <p:sp>
        <p:nvSpPr>
          <p:cNvPr id="153" name="Google Shape;153;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0" name="Google Shape;160;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cat is fine for something small, less is what you want the second the file is long, and tail -f is for watching a log as it's being written, which they'll be doing to their own web server in a few weeks.</a:t>
            </a:r>
            <a:endParaRPr/>
          </a:p>
        </p:txBody>
      </p:sp>
      <p:sp>
        <p:nvSpPr>
          <p:cNvPr id="161" name="Google Shape;161;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7" name="Google Shape;167;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mv does double duty: it renames if dest is in the same directory, moves if dest is a different directory.</a:t>
            </a:r>
            <a:endParaRPr/>
          </a:p>
        </p:txBody>
      </p:sp>
      <p:sp>
        <p:nvSpPr>
          <p:cNvPr id="168" name="Google Shape;168;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4" name="Google Shape;174;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program has one pipe in and two pipes out, normal output and errors, and redirection is just rewiring which end of each one goes where.</a:t>
            </a:r>
            <a:endParaRPr/>
          </a:p>
        </p:txBody>
      </p:sp>
      <p:sp>
        <p:nvSpPr>
          <p:cNvPr id="175" name="Google Shape;175;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1" name="Google Shape;181;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We're building the skeleton of the chat app they'll work on all semester.</a:t>
            </a:r>
            <a:endParaRPr/>
          </a:p>
        </p:txBody>
      </p:sp>
      <p:sp>
        <p:nvSpPr>
          <p:cNvPr id="182" name="Google Shape;182;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0" name="Google Shape;190;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skeleton of the chat app. 'mkdir -p' creates nested dirs. 'ls -R' lists recursively.</a:t>
            </a:r>
            <a:endParaRPr/>
          </a:p>
        </p:txBody>
      </p:sp>
      <p:sp>
        <p:nvSpPr>
          <p:cNvPr id="191" name="Google Shape;191;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3d38b15cab4_0_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9" name="Google Shape;199;g3d38b15cab4_0_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Pipes are the Unix superpower, and this is the slide where 'do one thing well' stops being a slogan - every one of these tools is dumb on its own, and all the power comes from chaining them together.</a:t>
            </a:r>
            <a:endParaRPr/>
          </a:p>
        </p:txBody>
      </p:sp>
      <p:sp>
        <p:nvSpPr>
          <p:cNvPr id="200" name="Google Shape;200;g3d38b15cab4_0_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7" name="Google Shape;207;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Pipes are the Unix superpower, and this is the slide where 'do one thing well' stops being a slogan - every one of these tools is dumb on its own, and all the power comes from chaining them together.</a:t>
            </a:r>
            <a:endParaRPr/>
          </a:p>
        </p:txBody>
      </p:sp>
      <p:sp>
        <p:nvSpPr>
          <p:cNvPr id="208" name="Google Shape;208;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d38b15cab4_0_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5" name="Google Shape;215;g3d38b15cab4_0_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grep is one of the most-used commands in all of Unix. -r recursive, -i case-insensitive, -n line numbers, -v invert.</a:t>
            </a:r>
            <a:endParaRPr/>
          </a:p>
        </p:txBody>
      </p:sp>
      <p:sp>
        <p:nvSpPr>
          <p:cNvPr id="216" name="Google Shape;216;g3d38b15cab4_0_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3" name="Google Shape;223;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grep is one of the most-used commands in all of Unix. -r recursive, -i case-insensitive, -n line numbers, -v invert.</a:t>
            </a:r>
            <a:endParaRPr/>
          </a:p>
        </p:txBody>
      </p:sp>
      <p:sp>
        <p:nvSpPr>
          <p:cNvPr id="224" name="Google Shape;224;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Just a taste here. Anything you find yourself typing twice can be scripted, and that idea comes back in week 8 when GitHub Actions turns out to be shell scripts wearing YAML.</a:t>
            </a:r>
            <a:endParaRPr/>
          </a:p>
        </p:txBody>
      </p:sp>
      <p:sp>
        <p:nvSpPr>
          <p:cNvPr id="232" name="Google Shape;232;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9" name="Google Shape;239;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0" name="Google Shape;240;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8" name="Google Shape;248;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2&gt;/dev/null suppresses permission errors. ls -lS sorts by size (capital S). head -n 6 because first line is 'total'.</a:t>
            </a:r>
            <a:endParaRPr/>
          </a:p>
        </p:txBody>
      </p:sp>
      <p:sp>
        <p:nvSpPr>
          <p:cNvPr id="249" name="Google Shape;249;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7" name="Google Shape;257;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Don't go deep on octal. Just enough so they can make a script executable. 'Permission denied' errors often mean you need chmod.</a:t>
            </a:r>
            <a:endParaRPr/>
          </a:p>
        </p:txBody>
      </p:sp>
      <p:sp>
        <p:nvSpPr>
          <p:cNvPr id="258" name="Google Shape;258;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4" name="Google Shape;264;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Setup for later, because FastAPI is gonna read SECRET_KEY and DATABASE_URL and the rest out of env vars. Show $PATH while you're in here and explain that it's how the shell finds commands at all.</a:t>
            </a:r>
            <a:endParaRPr/>
          </a:p>
        </p:txBody>
      </p:sp>
      <p:sp>
        <p:nvSpPr>
          <p:cNvPr id="265" name="Google Shape;265;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p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2" name="Google Shape;272;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Several valid approaches:</a:t>
            </a:r>
            <a:endParaRPr dirty="0"/>
          </a:p>
          <a:p>
            <a:pPr marL="0" lvl="0" indent="0" algn="l" rtl="0">
              <a:spcBef>
                <a:spcPts val="0"/>
              </a:spcBef>
              <a:spcAft>
                <a:spcPts val="0"/>
              </a:spcAft>
              <a:buNone/>
            </a:pPr>
            <a:r>
              <a:rPr lang="en-US" dirty="0"/>
              <a:t>  grep -r 'password' --include='*.</a:t>
            </a:r>
            <a:r>
              <a:rPr lang="en-US" dirty="0" err="1"/>
              <a:t>py</a:t>
            </a:r>
            <a:r>
              <a:rPr lang="en-US" dirty="0"/>
              <a:t>' .</a:t>
            </a:r>
            <a:endParaRPr dirty="0"/>
          </a:p>
          <a:p>
            <a:pPr marL="0" lvl="0" indent="0" algn="l" rtl="0">
              <a:spcBef>
                <a:spcPts val="0"/>
              </a:spcBef>
              <a:spcAft>
                <a:spcPts val="0"/>
              </a:spcAft>
              <a:buNone/>
            </a:pPr>
            <a:r>
              <a:rPr lang="en-US" dirty="0"/>
              <a:t>  find . -name '*.</a:t>
            </a:r>
            <a:r>
              <a:rPr lang="en-US" dirty="0" err="1"/>
              <a:t>py</a:t>
            </a:r>
            <a:r>
              <a:rPr lang="en-US" dirty="0"/>
              <a:t>' | </a:t>
            </a:r>
            <a:r>
              <a:rPr lang="en-US" dirty="0" err="1"/>
              <a:t>xargs</a:t>
            </a:r>
            <a:r>
              <a:rPr lang="en-US" dirty="0"/>
              <a:t> grep -l 'password'</a:t>
            </a:r>
            <a:endParaRPr dirty="0"/>
          </a:p>
          <a:p>
            <a:pPr marL="0" lvl="0" indent="0" algn="l" rtl="0">
              <a:spcBef>
                <a:spcPts val="0"/>
              </a:spcBef>
              <a:spcAft>
                <a:spcPts val="0"/>
              </a:spcAft>
              <a:buNone/>
            </a:pPr>
            <a:r>
              <a:rPr lang="en-US" dirty="0"/>
              <a:t>Let students suggest.</a:t>
            </a:r>
            <a:endParaRPr dirty="0"/>
          </a:p>
        </p:txBody>
      </p:sp>
      <p:sp>
        <p:nvSpPr>
          <p:cNvPr id="273" name="Google Shape;273;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0" name="Google Shape;280;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Assignment: practice navigating the filesystem, create the chat-app directory structure, try the pipe exercises.</a:t>
            </a:r>
            <a:endParaRPr/>
          </a:p>
        </p:txBody>
      </p:sp>
      <p:sp>
        <p:nvSpPr>
          <p:cNvPr id="281" name="Google Shape;281;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8"/>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8"/>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2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29"/>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0"/>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0"/>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1"/>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1"/>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2"/>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2"/>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2"/>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2"/>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4"/>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4"/>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4"/>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5"/>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5"/>
          <p:cNvSpPr>
            <a:spLocks noGrp="1"/>
          </p:cNvSpPr>
          <p:nvPr>
            <p:ph type="pic" idx="2"/>
          </p:nvPr>
        </p:nvSpPr>
        <p:spPr>
          <a:xfrm>
            <a:off x="1792288" y="612775"/>
            <a:ext cx="5486400" cy="4114800"/>
          </a:xfrm>
          <a:prstGeom prst="rect">
            <a:avLst/>
          </a:prstGeom>
          <a:noFill/>
          <a:ln>
            <a:noFill/>
          </a:ln>
        </p:spPr>
      </p:sp>
      <p:sp>
        <p:nvSpPr>
          <p:cNvPr id="64" name="Google Shape;64;p35"/>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6"/>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7"/>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7"/>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2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1.2</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Unix + Command Line</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p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Why Unix/Linux?</a:t>
            </a:r>
            <a:endParaRPr/>
          </a:p>
        </p:txBody>
      </p:sp>
      <p:sp>
        <p:nvSpPr>
          <p:cNvPr id="95" name="Google Shape;95;p2"/>
          <p:cNvSpPr txBox="1"/>
          <p:nvPr/>
        </p:nvSpPr>
        <p:spPr>
          <a:xfrm>
            <a:off x="914400" y="1463040"/>
            <a:ext cx="10362900" cy="2185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Created at Bell Labs in 1969</a:t>
            </a:r>
            <a:r>
              <a:rPr lang="en-US" sz="2400">
                <a:solidFill>
                  <a:srgbClr val="333344"/>
                </a:solidFill>
                <a:latin typeface="Calibri"/>
                <a:ea typeface="Calibri"/>
                <a:cs typeface="Calibri"/>
                <a:sym typeface="Calibri"/>
              </a:rPr>
              <a:t>,</a:t>
            </a:r>
            <a:r>
              <a:rPr lang="en-US" sz="2400" b="0" i="0" u="none" strike="noStrike" cap="none">
                <a:solidFill>
                  <a:srgbClr val="333344"/>
                </a:solidFill>
                <a:latin typeface="Calibri"/>
                <a:ea typeface="Calibri"/>
                <a:cs typeface="Calibri"/>
                <a:sym typeface="Calibri"/>
              </a:rPr>
              <a:t> still the foundation of modern computing</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Runs virtually every server on the internet (AWS, Google, etc.)</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macOS is built on Unix; Android is built on Linux</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Core design philosophy: small, composable tools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"Do one thing well"</a:t>
            </a:r>
            <a:r>
              <a:rPr lang="en-US" sz="2000">
                <a:solidFill>
                  <a:srgbClr val="666677"/>
                </a:solidFill>
                <a:latin typeface="Calibri"/>
                <a:ea typeface="Calibri"/>
                <a:cs typeface="Calibri"/>
                <a:sym typeface="Calibri"/>
              </a:rPr>
              <a:t>,</a:t>
            </a:r>
            <a:r>
              <a:rPr lang="en-US" sz="2000" b="0" i="0" u="none" strike="noStrike" cap="none">
                <a:solidFill>
                  <a:srgbClr val="666677"/>
                </a:solidFill>
                <a:latin typeface="Calibri"/>
                <a:ea typeface="Calibri"/>
                <a:cs typeface="Calibri"/>
                <a:sym typeface="Calibri"/>
              </a:rPr>
              <a:t> then combine them</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0"/>
        <p:cNvGrpSpPr/>
        <p:nvPr/>
      </p:nvGrpSpPr>
      <p:grpSpPr>
        <a:xfrm>
          <a:off x="0" y="0"/>
          <a:ext cx="0" cy="0"/>
          <a:chOff x="0" y="0"/>
          <a:chExt cx="0" cy="0"/>
        </a:xfrm>
      </p:grpSpPr>
      <p:sp>
        <p:nvSpPr>
          <p:cNvPr id="101" name="Google Shape;101;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Unix philosophy</a:t>
            </a:r>
            <a:endParaRPr/>
          </a:p>
        </p:txBody>
      </p:sp>
      <p:sp>
        <p:nvSpPr>
          <p:cNvPr id="102" name="Google Shape;102;p3"/>
          <p:cNvSpPr txBox="1"/>
          <p:nvPr/>
        </p:nvSpPr>
        <p:spPr>
          <a:xfrm>
            <a:off x="914400" y="1463040"/>
            <a:ext cx="10362900" cy="269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1. Write programs that do one thing and do it well</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2. Write programs to work together</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3. Write programs to handle text streams</a:t>
            </a:r>
            <a:endParaRPr sz="2400">
              <a:solidFill>
                <a:srgbClr val="333344"/>
              </a:solidFill>
              <a:latin typeface="Calibri"/>
              <a:ea typeface="Calibri"/>
              <a:cs typeface="Calibri"/>
              <a:sym typeface="Calibri"/>
            </a:endParaRPr>
          </a:p>
          <a:p>
            <a:pPr marL="0" marR="0" lvl="0" indent="0" algn="l" rtl="0">
              <a:spcBef>
                <a:spcPts val="600"/>
              </a:spcBef>
              <a:spcAft>
                <a:spcPts val="0"/>
              </a:spcAft>
              <a:buNone/>
            </a:pPr>
            <a:endParaRPr sz="240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also good software engineering in general.</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Small tools + composition = powerful systems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7"/>
        <p:cNvGrpSpPr/>
        <p:nvPr/>
      </p:nvGrpSpPr>
      <p:grpSpPr>
        <a:xfrm>
          <a:off x="0" y="0"/>
          <a:ext cx="0" cy="0"/>
          <a:chOff x="0" y="0"/>
          <a:chExt cx="0" cy="0"/>
        </a:xfrm>
      </p:grpSpPr>
      <p:sp>
        <p:nvSpPr>
          <p:cNvPr id="108" name="Google Shape;108;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Why learn the CLI?</a:t>
            </a:r>
            <a:endParaRPr/>
          </a:p>
        </p:txBody>
      </p:sp>
      <p:sp>
        <p:nvSpPr>
          <p:cNvPr id="109" name="Google Shape;109;p4"/>
          <p:cNvSpPr txBox="1"/>
          <p:nvPr/>
        </p:nvSpPr>
        <p:spPr>
          <a:xfrm>
            <a:off x="914400" y="1463040"/>
            <a:ext cx="10362900" cy="224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Servers don't have GUIs </a:t>
            </a:r>
            <a:r>
              <a:rPr lang="en-US" sz="2400">
                <a:solidFill>
                  <a:srgbClr val="333344"/>
                </a:solidFill>
                <a:latin typeface="Calibri"/>
                <a:ea typeface="Calibri"/>
                <a:cs typeface="Calibri"/>
                <a:sym typeface="Calibri"/>
              </a:rPr>
              <a:t>-</a:t>
            </a:r>
            <a:r>
              <a:rPr lang="en-US" sz="2400" b="0" i="0" u="none" strike="noStrike" cap="none">
                <a:solidFill>
                  <a:srgbClr val="333344"/>
                </a:solidFill>
                <a:latin typeface="Calibri"/>
                <a:ea typeface="Calibri"/>
                <a:cs typeface="Calibri"/>
                <a:sym typeface="Calibri"/>
              </a:rPr>
              <a:t> you SSH in and type commands</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Automation: one script replaces 50 clicks</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Git, Docker, cloud tools </a:t>
            </a:r>
            <a:r>
              <a:rPr lang="en-US" sz="2400">
                <a:solidFill>
                  <a:srgbClr val="333344"/>
                </a:solidFill>
                <a:latin typeface="Calibri"/>
                <a:ea typeface="Calibri"/>
                <a:cs typeface="Calibri"/>
                <a:sym typeface="Calibri"/>
              </a:rPr>
              <a:t>-</a:t>
            </a:r>
            <a:r>
              <a:rPr lang="en-US" sz="2400" b="0" i="0" u="none" strike="noStrike" cap="none">
                <a:solidFill>
                  <a:srgbClr val="333344"/>
                </a:solidFill>
                <a:latin typeface="Calibri"/>
                <a:ea typeface="Calibri"/>
                <a:cs typeface="Calibri"/>
                <a:sym typeface="Calibri"/>
              </a:rPr>
              <a:t> all CLI-first</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Speed: experienced devs are faster in a terminal</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Reproducibility: a command can be shared, scripted, version-controlled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4"/>
        <p:cNvGrpSpPr/>
        <p:nvPr/>
      </p:nvGrpSpPr>
      <p:grpSpPr>
        <a:xfrm>
          <a:off x="0" y="0"/>
          <a:ext cx="0" cy="0"/>
          <a:chOff x="0" y="0"/>
          <a:chExt cx="0" cy="0"/>
        </a:xfrm>
      </p:grpSpPr>
      <p:sp>
        <p:nvSpPr>
          <p:cNvPr id="115" name="Google Shape;115;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Anatomy of a command</a:t>
            </a:r>
            <a:endParaRPr/>
          </a:p>
        </p:txBody>
      </p:sp>
      <p:sp>
        <p:nvSpPr>
          <p:cNvPr id="116" name="Google Shape;116;p5"/>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7" name="Google Shape;117;p5"/>
          <p:cNvSpPr txBox="1"/>
          <p:nvPr/>
        </p:nvSpPr>
        <p:spPr>
          <a:xfrm>
            <a:off x="1005840" y="1645920"/>
            <a:ext cx="10179900" cy="279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command  -flags  argument1  argument2</a:t>
            </a:r>
            <a:endParaRPr b="1"/>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Example:</a:t>
            </a:r>
            <a:endParaRPr b="1"/>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ls       -la     /home/user</a:t>
            </a:r>
            <a:endParaRPr b="1"/>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       ^^     ^^^^^^^^^^</a:t>
            </a:r>
            <a:endParaRPr b="1"/>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verb    options   what to act on</a:t>
            </a:r>
            <a:endParaRPr b="1"/>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The $ is the prompt - you don't type it.</a:t>
            </a:r>
            <a:endParaRPr b="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2"/>
        <p:cNvGrpSpPr/>
        <p:nvPr/>
      </p:nvGrpSpPr>
      <p:grpSpPr>
        <a:xfrm>
          <a:off x="0" y="0"/>
          <a:ext cx="0" cy="0"/>
          <a:chOff x="0" y="0"/>
          <a:chExt cx="0" cy="0"/>
        </a:xfrm>
      </p:grpSpPr>
      <p:sp>
        <p:nvSpPr>
          <p:cNvPr id="123" name="Google Shape;123;p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navigation trio</a:t>
            </a:r>
            <a:endParaRPr/>
          </a:p>
        </p:txBody>
      </p:sp>
      <p:sp>
        <p:nvSpPr>
          <p:cNvPr id="124" name="Google Shape;124;p6"/>
          <p:cNvSpPr txBox="1"/>
          <p:nvPr/>
        </p:nvSpPr>
        <p:spPr>
          <a:xfrm>
            <a:off x="914400" y="1463040"/>
            <a:ext cx="10362900" cy="340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dirty="0" err="1">
                <a:solidFill>
                  <a:srgbClr val="333344"/>
                </a:solidFill>
                <a:latin typeface="Courier Prime"/>
                <a:ea typeface="Courier Prime"/>
                <a:cs typeface="Courier Prime"/>
                <a:sym typeface="Courier Prime"/>
              </a:rPr>
              <a:t>pwd</a:t>
            </a:r>
            <a:r>
              <a:rPr lang="en-US" sz="2400" b="0" i="0" u="none" strike="noStrike" cap="none" dirty="0">
                <a:solidFill>
                  <a:srgbClr val="333344"/>
                </a:solidFill>
                <a:latin typeface="Calibri"/>
                <a:ea typeface="Calibri"/>
                <a:cs typeface="Calibri"/>
                <a:sym typeface="Calibri"/>
              </a:rPr>
              <a:t> </a:t>
            </a:r>
            <a:r>
              <a:rPr lang="en-US" sz="2400" dirty="0">
                <a:solidFill>
                  <a:srgbClr val="333344"/>
                </a:solidFill>
                <a:latin typeface="Calibri"/>
                <a:ea typeface="Calibri"/>
                <a:cs typeface="Calibri"/>
                <a:sym typeface="Calibri"/>
              </a:rPr>
              <a:t>-</a:t>
            </a:r>
            <a:r>
              <a:rPr lang="en-US" sz="2400" b="0" i="0" u="none" strike="noStrike" cap="none" dirty="0">
                <a:solidFill>
                  <a:srgbClr val="333344"/>
                </a:solidFill>
                <a:latin typeface="Calibri"/>
                <a:ea typeface="Calibri"/>
                <a:cs typeface="Calibri"/>
                <a:sym typeface="Calibri"/>
              </a:rPr>
              <a:t> "where am I?" (print working directory)</a:t>
            </a:r>
            <a:endParaRPr dirty="0"/>
          </a:p>
          <a:p>
            <a:pPr lvl="0">
              <a:spcBef>
                <a:spcPts val="600"/>
              </a:spcBef>
            </a:pPr>
            <a:r>
              <a:rPr lang="en-US" sz="2400" b="1" i="0" u="none" strike="noStrike" cap="none" dirty="0">
                <a:solidFill>
                  <a:srgbClr val="333344"/>
                </a:solidFill>
                <a:latin typeface="Courier Prime"/>
                <a:ea typeface="Courier Prime"/>
                <a:cs typeface="Courier Prime"/>
                <a:sym typeface="Courier Prime"/>
              </a:rPr>
              <a:t>ls</a:t>
            </a:r>
            <a:r>
              <a:rPr lang="en-US" sz="2400" b="0" i="0" u="none" strike="noStrike" cap="none" dirty="0">
                <a:solidFill>
                  <a:srgbClr val="333344"/>
                </a:solidFill>
                <a:latin typeface="Calibri"/>
                <a:ea typeface="Calibri"/>
                <a:cs typeface="Calibri"/>
                <a:sym typeface="Calibri"/>
              </a:rPr>
              <a:t> </a:t>
            </a:r>
            <a:r>
              <a:rPr lang="en-US" sz="2400" dirty="0">
                <a:solidFill>
                  <a:srgbClr val="333344"/>
                </a:solidFill>
                <a:latin typeface="Calibri"/>
                <a:ea typeface="Calibri"/>
                <a:cs typeface="Calibri"/>
                <a:sym typeface="Calibri"/>
              </a:rPr>
              <a:t>-</a:t>
            </a:r>
            <a:r>
              <a:rPr lang="en-US" sz="2400" b="0" i="0" u="none" strike="noStrike" cap="none" dirty="0">
                <a:solidFill>
                  <a:srgbClr val="333344"/>
                </a:solidFill>
                <a:latin typeface="Calibri"/>
                <a:ea typeface="Calibri"/>
                <a:cs typeface="Calibri"/>
                <a:sym typeface="Calibri"/>
              </a:rPr>
              <a:t> </a:t>
            </a:r>
            <a:r>
              <a:rPr lang="en-US" sz="2400" dirty="0">
                <a:solidFill>
                  <a:srgbClr val="333344"/>
                </a:solidFill>
                <a:latin typeface="Calibri"/>
                <a:ea typeface="Calibri"/>
                <a:cs typeface="Calibri"/>
                <a:sym typeface="Calibri"/>
              </a:rPr>
              <a:t>"what's </a:t>
            </a:r>
            <a:r>
              <a:rPr lang="en-US" sz="2400" b="0" i="0" u="none" strike="noStrike" cap="none" dirty="0">
                <a:solidFill>
                  <a:srgbClr val="333344"/>
                </a:solidFill>
                <a:latin typeface="Calibri"/>
                <a:ea typeface="Calibri"/>
                <a:cs typeface="Calibri"/>
                <a:sym typeface="Calibri"/>
              </a:rPr>
              <a:t>here</a:t>
            </a:r>
            <a:r>
              <a:rPr lang="en-US" sz="2400" dirty="0">
                <a:solidFill>
                  <a:srgbClr val="333344"/>
                </a:solidFill>
                <a:latin typeface="Calibri"/>
                <a:ea typeface="Calibri"/>
                <a:cs typeface="Calibri"/>
                <a:sym typeface="Calibri"/>
              </a:rPr>
              <a:t>?" </a:t>
            </a:r>
            <a:r>
              <a:rPr lang="en-US" sz="2400" b="0" i="0" u="none" strike="noStrike" cap="none" dirty="0">
                <a:solidFill>
                  <a:srgbClr val="333344"/>
                </a:solidFill>
                <a:latin typeface="Calibri"/>
                <a:ea typeface="Calibri"/>
                <a:cs typeface="Calibri"/>
                <a:sym typeface="Calibri"/>
              </a:rPr>
              <a:t>(list directory contents)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ls -l</a:t>
            </a:r>
            <a:r>
              <a:rPr lang="en-US" sz="2000" b="0" i="0" u="none" strike="noStrike" cap="none" dirty="0">
                <a:solidFill>
                  <a:srgbClr val="666677"/>
                </a:solidFill>
                <a:latin typeface="Calibri"/>
                <a:ea typeface="Calibri"/>
                <a:cs typeface="Calibri"/>
                <a:sym typeface="Calibri"/>
              </a:rPr>
              <a:t>  long format (permissions, size, date)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ls -a</a:t>
            </a:r>
            <a:r>
              <a:rPr lang="en-US" sz="2000" b="0" i="0" u="none" strike="noStrike" cap="none" dirty="0">
                <a:solidFill>
                  <a:srgbClr val="666677"/>
                </a:solidFill>
                <a:latin typeface="Calibri"/>
                <a:ea typeface="Calibri"/>
                <a:cs typeface="Calibri"/>
                <a:sym typeface="Calibri"/>
              </a:rPr>
              <a:t>  show hidden files (dotfiles)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ls -la</a:t>
            </a:r>
            <a:r>
              <a:rPr lang="en-US" sz="2000" b="0" i="0" u="none" strike="noStrike" cap="none" dirty="0">
                <a:solidFill>
                  <a:srgbClr val="666677"/>
                </a:solidFill>
                <a:latin typeface="Calibri"/>
                <a:ea typeface="Calibri"/>
                <a:cs typeface="Calibri"/>
                <a:sym typeface="Calibri"/>
              </a:rPr>
              <a:t>  both</a:t>
            </a:r>
            <a:endParaRPr dirty="0"/>
          </a:p>
          <a:p>
            <a:pPr lvl="0">
              <a:spcBef>
                <a:spcPts val="600"/>
              </a:spcBef>
            </a:pPr>
            <a:r>
              <a:rPr lang="en-US" sz="2400" b="1" i="0" u="none" strike="noStrike" cap="none" dirty="0">
                <a:solidFill>
                  <a:srgbClr val="333344"/>
                </a:solidFill>
                <a:latin typeface="Courier Prime"/>
                <a:ea typeface="Courier Prime"/>
                <a:cs typeface="Courier Prime"/>
                <a:sym typeface="Courier Prime"/>
              </a:rPr>
              <a:t>cd</a:t>
            </a:r>
            <a:r>
              <a:rPr lang="en-US" sz="2400" b="0" i="0" u="none" strike="noStrike" cap="none" dirty="0">
                <a:solidFill>
                  <a:srgbClr val="333344"/>
                </a:solidFill>
                <a:latin typeface="Calibri"/>
                <a:ea typeface="Calibri"/>
                <a:cs typeface="Calibri"/>
                <a:sym typeface="Calibri"/>
              </a:rPr>
              <a:t> </a:t>
            </a:r>
            <a:r>
              <a:rPr lang="en-US" sz="2400" dirty="0">
                <a:solidFill>
                  <a:srgbClr val="333344"/>
                </a:solidFill>
                <a:latin typeface="Calibri"/>
                <a:ea typeface="Calibri"/>
                <a:cs typeface="Calibri"/>
                <a:sym typeface="Calibri"/>
              </a:rPr>
              <a:t>-</a:t>
            </a:r>
            <a:r>
              <a:rPr lang="en-US" sz="2400" b="0" i="0" u="none" strike="noStrike" cap="none" dirty="0">
                <a:solidFill>
                  <a:srgbClr val="333344"/>
                </a:solidFill>
                <a:latin typeface="Calibri"/>
                <a:ea typeface="Calibri"/>
                <a:cs typeface="Calibri"/>
                <a:sym typeface="Calibri"/>
              </a:rPr>
              <a:t> </a:t>
            </a:r>
            <a:r>
              <a:rPr lang="en-US" sz="2400" dirty="0">
                <a:solidFill>
                  <a:srgbClr val="333344"/>
                </a:solidFill>
                <a:latin typeface="Calibri"/>
                <a:ea typeface="Calibri"/>
                <a:cs typeface="Calibri"/>
                <a:sym typeface="Calibri"/>
              </a:rPr>
              <a:t>"go somewhere" </a:t>
            </a:r>
            <a:r>
              <a:rPr lang="en-US" sz="2400" b="0" i="0" u="none" strike="noStrike" cap="none" dirty="0">
                <a:solidFill>
                  <a:srgbClr val="333344"/>
                </a:solidFill>
                <a:latin typeface="Calibri"/>
                <a:ea typeface="Calibri"/>
                <a:cs typeface="Calibri"/>
                <a:sym typeface="Calibri"/>
              </a:rPr>
              <a:t>(change directory)</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Special paths:  .  (here)   ..  (parent)   ~  (home)   /  (root)</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9"/>
        <p:cNvGrpSpPr/>
        <p:nvPr/>
      </p:nvGrpSpPr>
      <p:grpSpPr>
        <a:xfrm>
          <a:off x="0" y="0"/>
          <a:ext cx="0" cy="0"/>
          <a:chOff x="0" y="0"/>
          <a:chExt cx="0" cy="0"/>
        </a:xfrm>
      </p:grpSpPr>
      <p:sp>
        <p:nvSpPr>
          <p:cNvPr id="130" name="Google Shape;130;p7"/>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Navigate the filesystem</a:t>
            </a:r>
            <a:endParaRPr/>
          </a:p>
        </p:txBody>
      </p:sp>
      <p:sp>
        <p:nvSpPr>
          <p:cNvPr id="131" name="Google Shape;131;p7"/>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32" name="Google Shape;132;p7"/>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33" name="Google Shape;133;p7"/>
          <p:cNvSpPr txBox="1"/>
          <p:nvPr/>
        </p:nvSpPr>
        <p:spPr>
          <a:xfrm>
            <a:off x="1005840" y="1554480"/>
            <a:ext cx="10179900" cy="4607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ls -la</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cd /tmp</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cd ~</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mkdir se-course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cd se-course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8"/>
        <p:cNvGrpSpPr/>
        <p:nvPr/>
      </p:nvGrpSpPr>
      <p:grpSpPr>
        <a:xfrm>
          <a:off x="0" y="0"/>
          <a:ext cx="0" cy="0"/>
          <a:chOff x="0" y="0"/>
          <a:chExt cx="0" cy="0"/>
        </a:xfrm>
      </p:grpSpPr>
      <p:sp>
        <p:nvSpPr>
          <p:cNvPr id="139" name="Google Shape;139;p8"/>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Navigate the filesystem</a:t>
            </a:r>
            <a:endParaRPr/>
          </a:p>
        </p:txBody>
      </p:sp>
      <p:sp>
        <p:nvSpPr>
          <p:cNvPr id="140" name="Google Shape;140;p8"/>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41" name="Google Shape;141;p8"/>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42" name="Google Shape;142;p8"/>
          <p:cNvSpPr txBox="1"/>
          <p:nvPr/>
        </p:nvSpPr>
        <p:spPr>
          <a:xfrm>
            <a:off x="1005840" y="155448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/Users/andy</a:t>
            </a:r>
            <a:endParaRPr b="1"/>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ls -la</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drwxr-xr-x  12 andy  staff   384 Sep  1 10:00 .</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-rw-r--r--   1 andy  staff    42 Sep  1 09:55 .bashrc</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drwxr-xr-x   3 andy  staff    96 Sep  1 10:00 Documents</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b="1"/>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cd /tmp</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/tmp</a:t>
            </a:r>
            <a:endParaRPr b="1"/>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cd ~</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mkdir se-course</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cd se-course</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/Users/andy/se-course</a:t>
            </a:r>
            <a:endParaRPr b="1"/>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7"/>
        <p:cNvGrpSpPr/>
        <p:nvPr/>
      </p:nvGrpSpPr>
      <p:grpSpPr>
        <a:xfrm>
          <a:off x="0" y="0"/>
          <a:ext cx="0" cy="0"/>
          <a:chOff x="0" y="0"/>
          <a:chExt cx="0" cy="0"/>
        </a:xfrm>
      </p:grpSpPr>
      <p:sp>
        <p:nvSpPr>
          <p:cNvPr id="148" name="Google Shape;148;p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Creating &amp; removing things</a:t>
            </a:r>
            <a:endParaRPr/>
          </a:p>
        </p:txBody>
      </p:sp>
      <p:sp>
        <p:nvSpPr>
          <p:cNvPr id="149" name="Google Shape;149;p9"/>
          <p:cNvSpPr txBox="1"/>
          <p:nvPr/>
        </p:nvSpPr>
        <p:spPr>
          <a:xfrm>
            <a:off x="914400" y="1463040"/>
            <a:ext cx="10362900" cy="3140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ourier Prime"/>
                <a:ea typeface="Courier Prime"/>
                <a:cs typeface="Courier Prime"/>
                <a:sym typeface="Courier Prime"/>
              </a:rPr>
              <a:t>touch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create empty file (or update timestamp)</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mkdir &lt;dir&gt;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create directory</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mkdir -p a/b/c</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create nested dirs in one shot</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rm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delete a file (permanent! no trash can!)</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rm -r &lt;dir&gt;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delete directory + everything inside</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rmdir &lt;dir&gt;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delete empty directory only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54"/>
        <p:cNvGrpSpPr/>
        <p:nvPr/>
      </p:nvGrpSpPr>
      <p:grpSpPr>
        <a:xfrm>
          <a:off x="0" y="0"/>
          <a:ext cx="0" cy="0"/>
          <a:chOff x="0" y="0"/>
          <a:chExt cx="0" cy="0"/>
        </a:xfrm>
      </p:grpSpPr>
      <p:sp>
        <p:nvSpPr>
          <p:cNvPr id="155" name="Google Shape;155;p10"/>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a:solidFill>
                  <a:srgbClr val="5B21B6"/>
                </a:solidFill>
                <a:latin typeface="Calibri"/>
                <a:ea typeface="Calibri"/>
                <a:cs typeface="Calibri"/>
                <a:sym typeface="Calibri"/>
              </a:rPr>
              <a:t>?</a:t>
            </a:r>
            <a:endParaRPr/>
          </a:p>
        </p:txBody>
      </p:sp>
      <p:sp>
        <p:nvSpPr>
          <p:cNvPr id="156" name="Google Shape;156;p10"/>
          <p:cNvSpPr txBox="1"/>
          <p:nvPr/>
        </p:nvSpPr>
        <p:spPr>
          <a:xfrm>
            <a:off x="1371600" y="2011680"/>
            <a:ext cx="9448500" cy="615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a:solidFill>
                  <a:srgbClr val="1A1A2E"/>
                </a:solidFill>
                <a:latin typeface="Calibri"/>
                <a:ea typeface="Calibri"/>
                <a:cs typeface="Calibri"/>
                <a:sym typeface="Calibri"/>
              </a:rPr>
              <a:t>What would happen if you ran:  </a:t>
            </a:r>
            <a:r>
              <a:rPr lang="en-US" sz="3400" b="1">
                <a:solidFill>
                  <a:srgbClr val="1A1A2E"/>
                </a:solidFill>
                <a:latin typeface="Courier Prime"/>
                <a:ea typeface="Courier Prime"/>
                <a:cs typeface="Courier Prime"/>
                <a:sym typeface="Courier Prime"/>
              </a:rPr>
              <a:t>rm -rf /</a:t>
            </a:r>
            <a:r>
              <a:rPr lang="en-US" sz="3400" b="1">
                <a:solidFill>
                  <a:srgbClr val="1A1A2E"/>
                </a:solidFill>
                <a:latin typeface="Calibri"/>
                <a:ea typeface="Calibri"/>
                <a:cs typeface="Calibri"/>
                <a:sym typeface="Calibri"/>
              </a:rPr>
              <a:t>  ?</a:t>
            </a:r>
            <a:endParaRPr/>
          </a:p>
        </p:txBody>
      </p:sp>
      <p:sp>
        <p:nvSpPr>
          <p:cNvPr id="157" name="Google Shape;157;p10"/>
          <p:cNvSpPr txBox="1"/>
          <p:nvPr/>
        </p:nvSpPr>
        <p:spPr>
          <a:xfrm>
            <a:off x="1828800" y="4572000"/>
            <a:ext cx="853409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a:solidFill>
                  <a:srgbClr val="666677"/>
                </a:solidFill>
                <a:latin typeface="Calibri"/>
                <a:ea typeface="Calibri"/>
                <a:cs typeface="Calibri"/>
                <a:sym typeface="Calibri"/>
              </a:rPr>
              <a:t>(Don't try this.  But think about what it would attempt to do.)</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2"/>
        <p:cNvGrpSpPr/>
        <p:nvPr/>
      </p:nvGrpSpPr>
      <p:grpSpPr>
        <a:xfrm>
          <a:off x="0" y="0"/>
          <a:ext cx="0" cy="0"/>
          <a:chOff x="0" y="0"/>
          <a:chExt cx="0" cy="0"/>
        </a:xfrm>
      </p:grpSpPr>
      <p:sp>
        <p:nvSpPr>
          <p:cNvPr id="163" name="Google Shape;163;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Viewing file contents</a:t>
            </a:r>
            <a:endParaRPr/>
          </a:p>
        </p:txBody>
      </p:sp>
      <p:sp>
        <p:nvSpPr>
          <p:cNvPr id="164" name="Google Shape;164;p11"/>
          <p:cNvSpPr txBox="1"/>
          <p:nvPr/>
        </p:nvSpPr>
        <p:spPr>
          <a:xfrm>
            <a:off x="914400" y="1463040"/>
            <a:ext cx="10362900" cy="224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ourier Prime"/>
                <a:ea typeface="Courier Prime"/>
                <a:cs typeface="Courier Prime"/>
                <a:sym typeface="Courier Prime"/>
              </a:rPr>
              <a:t>cat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dump entire file to screen</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less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scroll through (q to quit, / to search)</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head -n 5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first 5 lines</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tail -n 5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last 5 lines</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tail -f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follow a log file in real time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9"/>
        <p:cNvGrpSpPr/>
        <p:nvPr/>
      </p:nvGrpSpPr>
      <p:grpSpPr>
        <a:xfrm>
          <a:off x="0" y="0"/>
          <a:ext cx="0" cy="0"/>
          <a:chOff x="0" y="0"/>
          <a:chExt cx="0" cy="0"/>
        </a:xfrm>
      </p:grpSpPr>
      <p:sp>
        <p:nvSpPr>
          <p:cNvPr id="170" name="Google Shape;170;p1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Copying and moving files</a:t>
            </a:r>
            <a:endParaRPr/>
          </a:p>
        </p:txBody>
      </p:sp>
      <p:sp>
        <p:nvSpPr>
          <p:cNvPr id="171" name="Google Shape;171;p12"/>
          <p:cNvSpPr txBox="1"/>
          <p:nvPr/>
        </p:nvSpPr>
        <p:spPr>
          <a:xfrm>
            <a:off x="914400" y="1463040"/>
            <a:ext cx="10362900" cy="340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ourier Prime"/>
                <a:ea typeface="Courier Prime"/>
                <a:cs typeface="Courier Prime"/>
                <a:sym typeface="Courier Prime"/>
              </a:rPr>
              <a:t>cp &lt;source&gt; &lt;dest&gt;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copy a file</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cp -r &lt;dir&gt; &lt;dest&gt;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copy a directory (recursive)</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mv &lt;source&gt; &lt;dest&gt;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move or rename</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Examples: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cp report.txt report_backup.txt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mv old_name.py new_name.py</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mv data.csv project/data/</a:t>
            </a:r>
            <a:endParaRPr b="1">
              <a:latin typeface="Courier Prime"/>
              <a:ea typeface="Courier Prime"/>
              <a:cs typeface="Courier Prime"/>
              <a:sym typeface="Courier Prime"/>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6"/>
        <p:cNvGrpSpPr/>
        <p:nvPr/>
      </p:nvGrpSpPr>
      <p:grpSpPr>
        <a:xfrm>
          <a:off x="0" y="0"/>
          <a:ext cx="0" cy="0"/>
          <a:chOff x="0" y="0"/>
          <a:chExt cx="0" cy="0"/>
        </a:xfrm>
      </p:grpSpPr>
      <p:sp>
        <p:nvSpPr>
          <p:cNvPr id="177" name="Google Shape;177;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Redirection: controlling where output goes</a:t>
            </a:r>
            <a:endParaRPr/>
          </a:p>
        </p:txBody>
      </p:sp>
      <p:sp>
        <p:nvSpPr>
          <p:cNvPr id="178" name="Google Shape;178;p15"/>
          <p:cNvSpPr txBox="1"/>
          <p:nvPr/>
        </p:nvSpPr>
        <p:spPr>
          <a:xfrm>
            <a:off x="914400" y="1463040"/>
            <a:ext cx="10362895" cy="35240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rgbClr val="333344"/>
                </a:solidFill>
                <a:latin typeface="Courier New" panose="02070309020205020404" pitchFamily="49" charset="0"/>
                <a:ea typeface="Calibri"/>
                <a:cs typeface="Courier New" panose="02070309020205020404" pitchFamily="49" charset="0"/>
                <a:sym typeface="Calibri"/>
              </a:rPr>
              <a:t>&gt;</a:t>
            </a:r>
            <a:r>
              <a:rPr lang="en-US" sz="2400" b="0" dirty="0">
                <a:solidFill>
                  <a:srgbClr val="333344"/>
                </a:solidFill>
                <a:latin typeface="Calibri"/>
                <a:ea typeface="Calibri"/>
                <a:cs typeface="Calibri"/>
                <a:sym typeface="Calibri"/>
              </a:rPr>
              <a:t>   redirect </a:t>
            </a:r>
            <a:r>
              <a:rPr lang="en-US" sz="2400" b="0" dirty="0" err="1">
                <a:solidFill>
                  <a:srgbClr val="333344"/>
                </a:solidFill>
                <a:latin typeface="Calibri"/>
                <a:ea typeface="Calibri"/>
                <a:cs typeface="Calibri"/>
                <a:sym typeface="Calibri"/>
              </a:rPr>
              <a:t>stdout</a:t>
            </a:r>
            <a:r>
              <a:rPr lang="en-US" sz="2400" b="0" dirty="0">
                <a:solidFill>
                  <a:srgbClr val="333344"/>
                </a:solidFill>
                <a:latin typeface="Calibri"/>
                <a:ea typeface="Calibri"/>
                <a:cs typeface="Calibri"/>
                <a:sym typeface="Calibri"/>
              </a:rPr>
              <a:t> to a file (overwrites!)</a:t>
            </a:r>
            <a:endParaRPr dirty="0"/>
          </a:p>
          <a:p>
            <a:pPr marL="0" marR="0" lvl="0" indent="0" algn="l" rtl="0">
              <a:spcBef>
                <a:spcPts val="600"/>
              </a:spcBef>
              <a:spcAft>
                <a:spcPts val="0"/>
              </a:spcAft>
              <a:buNone/>
            </a:pPr>
            <a:r>
              <a:rPr lang="en-US" sz="2400" b="1" dirty="0">
                <a:solidFill>
                  <a:srgbClr val="333344"/>
                </a:solidFill>
                <a:latin typeface="Courier New" panose="02070309020205020404" pitchFamily="49" charset="0"/>
                <a:ea typeface="Calibri"/>
                <a:cs typeface="Courier New" panose="02070309020205020404" pitchFamily="49" charset="0"/>
                <a:sym typeface="Calibri"/>
              </a:rPr>
              <a:t>&gt;&gt;</a:t>
            </a:r>
            <a:r>
              <a:rPr lang="en-US" sz="2400" b="0" dirty="0">
                <a:solidFill>
                  <a:srgbClr val="333344"/>
                </a:solidFill>
                <a:latin typeface="Calibri"/>
                <a:ea typeface="Calibri"/>
                <a:cs typeface="Calibri"/>
                <a:sym typeface="Calibri"/>
              </a:rPr>
              <a:t>  append </a:t>
            </a:r>
            <a:r>
              <a:rPr lang="en-US" sz="2400" b="0" dirty="0" err="1">
                <a:solidFill>
                  <a:srgbClr val="333344"/>
                </a:solidFill>
                <a:latin typeface="Calibri"/>
                <a:ea typeface="Calibri"/>
                <a:cs typeface="Calibri"/>
                <a:sym typeface="Calibri"/>
              </a:rPr>
              <a:t>stdout</a:t>
            </a:r>
            <a:r>
              <a:rPr lang="en-US" sz="2400" b="0" dirty="0">
                <a:solidFill>
                  <a:srgbClr val="333344"/>
                </a:solidFill>
                <a:latin typeface="Calibri"/>
                <a:ea typeface="Calibri"/>
                <a:cs typeface="Calibri"/>
                <a:sym typeface="Calibri"/>
              </a:rPr>
              <a:t> to a file</a:t>
            </a:r>
            <a:endParaRPr dirty="0"/>
          </a:p>
          <a:p>
            <a:pPr marL="0" marR="0" lvl="0" indent="0" algn="l" rtl="0">
              <a:spcBef>
                <a:spcPts val="600"/>
              </a:spcBef>
              <a:spcAft>
                <a:spcPts val="0"/>
              </a:spcAft>
              <a:buNone/>
            </a:pPr>
            <a:r>
              <a:rPr lang="en-US" sz="2400" b="1" dirty="0">
                <a:solidFill>
                  <a:srgbClr val="333344"/>
                </a:solidFill>
                <a:latin typeface="Courier New" panose="02070309020205020404" pitchFamily="49" charset="0"/>
                <a:ea typeface="Calibri"/>
                <a:cs typeface="Courier New" panose="02070309020205020404" pitchFamily="49" charset="0"/>
                <a:sym typeface="Calibri"/>
              </a:rPr>
              <a:t>&lt;</a:t>
            </a:r>
            <a:r>
              <a:rPr lang="en-US" sz="2400" b="0" dirty="0">
                <a:solidFill>
                  <a:srgbClr val="333344"/>
                </a:solidFill>
                <a:latin typeface="Calibri"/>
                <a:ea typeface="Calibri"/>
                <a:cs typeface="Calibri"/>
                <a:sym typeface="Calibri"/>
              </a:rPr>
              <a:t>   read stdin from a file</a:t>
            </a:r>
            <a:endParaRPr dirty="0"/>
          </a:p>
          <a:p>
            <a:pPr marL="0" marR="0" lvl="0" indent="0" algn="l" rtl="0">
              <a:spcBef>
                <a:spcPts val="600"/>
              </a:spcBef>
              <a:spcAft>
                <a:spcPts val="0"/>
              </a:spcAft>
              <a:buNone/>
            </a:pPr>
            <a:r>
              <a:rPr lang="en-US" sz="2400" b="1" dirty="0">
                <a:solidFill>
                  <a:srgbClr val="333344"/>
                </a:solidFill>
                <a:latin typeface="Courier New" panose="02070309020205020404" pitchFamily="49" charset="0"/>
                <a:ea typeface="Calibri"/>
                <a:cs typeface="Courier New" panose="02070309020205020404" pitchFamily="49" charset="0"/>
                <a:sym typeface="Calibri"/>
              </a:rPr>
              <a:t>2&gt;</a:t>
            </a:r>
            <a:r>
              <a:rPr lang="en-US" sz="2400" b="0" dirty="0">
                <a:solidFill>
                  <a:srgbClr val="333344"/>
                </a:solidFill>
                <a:latin typeface="Calibri"/>
                <a:ea typeface="Calibri"/>
                <a:cs typeface="Calibri"/>
                <a:sym typeface="Calibri"/>
              </a:rPr>
              <a:t>  redirect stderr to a file</a:t>
            </a:r>
            <a:endParaRPr dirty="0"/>
          </a:p>
          <a:p>
            <a:pPr marL="0" marR="0" lvl="0" indent="0" algn="l" rtl="0">
              <a:spcBef>
                <a:spcPts val="600"/>
              </a:spcBef>
              <a:spcAft>
                <a:spcPts val="0"/>
              </a:spcAft>
              <a:buNone/>
            </a:pPr>
            <a:r>
              <a:rPr lang="en-US" sz="2400" b="1" dirty="0">
                <a:solidFill>
                  <a:srgbClr val="333344"/>
                </a:solidFill>
                <a:latin typeface="Courier New" panose="02070309020205020404" pitchFamily="49" charset="0"/>
                <a:ea typeface="Calibri"/>
                <a:cs typeface="Courier New" panose="02070309020205020404" pitchFamily="49" charset="0"/>
                <a:sym typeface="Calibri"/>
              </a:rPr>
              <a:t>2&gt;&amp;1 </a:t>
            </a:r>
            <a:r>
              <a:rPr lang="en-US" sz="2400" b="0" dirty="0">
                <a:solidFill>
                  <a:srgbClr val="333344"/>
                </a:solidFill>
                <a:latin typeface="Calibri"/>
                <a:ea typeface="Calibri"/>
                <a:cs typeface="Calibri"/>
                <a:sym typeface="Calibri"/>
              </a:rPr>
              <a:t>merge stderr into </a:t>
            </a:r>
            <a:r>
              <a:rPr lang="en-US" sz="2400" b="0" dirty="0" err="1">
                <a:solidFill>
                  <a:srgbClr val="333344"/>
                </a:solidFill>
                <a:latin typeface="Calibri"/>
                <a:ea typeface="Calibri"/>
                <a:cs typeface="Calibri"/>
                <a:sym typeface="Calibri"/>
              </a:rPr>
              <a:t>stdout</a:t>
            </a:r>
            <a:endParaRPr dirty="0"/>
          </a:p>
          <a:p>
            <a:pPr marL="0" marR="0" lvl="0" indent="0" algn="l" rtl="0">
              <a:spcBef>
                <a:spcPts val="600"/>
              </a:spcBef>
              <a:spcAft>
                <a:spcPts val="0"/>
              </a:spcAft>
              <a:buNone/>
            </a:pPr>
            <a:endParaRPr sz="2400" b="0"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dirty="0">
                <a:solidFill>
                  <a:srgbClr val="333344"/>
                </a:solidFill>
                <a:latin typeface="Calibri"/>
                <a:ea typeface="Calibri"/>
                <a:cs typeface="Calibri"/>
                <a:sym typeface="Calibri"/>
              </a:rPr>
              <a:t>Every command has three streams: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stdin (0) - </a:t>
            </a:r>
            <a:r>
              <a:rPr lang="en-US" sz="2000" b="0" i="0" u="none" strike="noStrike" cap="none" dirty="0" err="1">
                <a:solidFill>
                  <a:srgbClr val="666677"/>
                </a:solidFill>
                <a:latin typeface="Calibri"/>
                <a:ea typeface="Calibri"/>
                <a:cs typeface="Calibri"/>
                <a:sym typeface="Calibri"/>
              </a:rPr>
              <a:t>stdout</a:t>
            </a:r>
            <a:r>
              <a:rPr lang="en-US" sz="2000" b="0" i="0" u="none" strike="noStrike" cap="none" dirty="0">
                <a:solidFill>
                  <a:srgbClr val="666677"/>
                </a:solidFill>
                <a:latin typeface="Calibri"/>
                <a:ea typeface="Calibri"/>
                <a:cs typeface="Calibri"/>
                <a:sym typeface="Calibri"/>
              </a:rPr>
              <a:t> (1) - stderr (2)</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3"/>
        <p:cNvGrpSpPr/>
        <p:nvPr/>
      </p:nvGrpSpPr>
      <p:grpSpPr>
        <a:xfrm>
          <a:off x="0" y="0"/>
          <a:ext cx="0" cy="0"/>
          <a:chOff x="0" y="0"/>
          <a:chExt cx="0" cy="0"/>
        </a:xfrm>
      </p:grpSpPr>
      <p:sp>
        <p:nvSpPr>
          <p:cNvPr id="184" name="Google Shape;184;p13"/>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Set up the chat-app project</a:t>
            </a:r>
            <a:endParaRPr/>
          </a:p>
        </p:txBody>
      </p:sp>
      <p:sp>
        <p:nvSpPr>
          <p:cNvPr id="185" name="Google Shape;185;p13"/>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86" name="Google Shape;186;p13"/>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87" name="Google Shape;187;p13"/>
          <p:cNvSpPr txBox="1"/>
          <p:nvPr/>
        </p:nvSpPr>
        <p:spPr>
          <a:xfrm>
            <a:off x="1005840" y="1554480"/>
            <a:ext cx="10179900" cy="339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mkdir -p chat-app/src chat-app/tests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cd chat-app</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touch src/app.py src/models.py tests/test_app.py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echo '# Chat App' &gt; README.md</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Verify the structure: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ls -R</a:t>
            </a:r>
            <a:endParaRPr b="1"/>
          </a:p>
          <a:p>
            <a:pPr marL="0" marR="0" lvl="0" indent="0" algn="l" rtl="0">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a:p>
            <a:pPr marL="0" marR="0" lvl="0" indent="0" algn="l" rtl="0">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a:p>
            <a:pPr marL="0" marR="0" lvl="0" indent="0" algn="l" rtl="0">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a:p>
            <a:pPr marL="0" marR="0" lvl="0" indent="0" algn="l" rtl="0">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2"/>
        <p:cNvGrpSpPr/>
        <p:nvPr/>
      </p:nvGrpSpPr>
      <p:grpSpPr>
        <a:xfrm>
          <a:off x="0" y="0"/>
          <a:ext cx="0" cy="0"/>
          <a:chOff x="0" y="0"/>
          <a:chExt cx="0" cy="0"/>
        </a:xfrm>
      </p:grpSpPr>
      <p:sp>
        <p:nvSpPr>
          <p:cNvPr id="193" name="Google Shape;193;p14"/>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Set up the chat-app project</a:t>
            </a:r>
            <a:endParaRPr/>
          </a:p>
        </p:txBody>
      </p:sp>
      <p:sp>
        <p:nvSpPr>
          <p:cNvPr id="194" name="Google Shape;194;p14"/>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95" name="Google Shape;195;p14"/>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96" name="Google Shape;196;p14"/>
          <p:cNvSpPr txBox="1"/>
          <p:nvPr/>
        </p:nvSpPr>
        <p:spPr>
          <a:xfrm>
            <a:off x="1005840" y="155448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mkdir -p chat-app/src chat-app/tests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cd chat-app</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touch src/app.py src/models.py tests/test_app.py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echo '# Chat App' &gt; README.md</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ls -R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README.md   src   tests</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./src:</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app.py   models.py</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./tests: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test_app.py</a:t>
            </a:r>
            <a:endParaRPr b="1"/>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1"/>
        <p:cNvGrpSpPr/>
        <p:nvPr/>
      </p:nvGrpSpPr>
      <p:grpSpPr>
        <a:xfrm>
          <a:off x="0" y="0"/>
          <a:ext cx="0" cy="0"/>
          <a:chOff x="0" y="0"/>
          <a:chExt cx="0" cy="0"/>
        </a:xfrm>
      </p:grpSpPr>
      <p:sp>
        <p:nvSpPr>
          <p:cNvPr id="202" name="Google Shape;202;g3d38b15cab4_0_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Pipes: connecting commands together</a:t>
            </a:r>
            <a:endParaRPr/>
          </a:p>
        </p:txBody>
      </p:sp>
      <p:sp>
        <p:nvSpPr>
          <p:cNvPr id="203" name="Google Shape;203;g3d38b15cab4_0_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04" name="Google Shape;204;g3d38b15cab4_0_3"/>
          <p:cNvSpPr txBox="1"/>
          <p:nvPr/>
        </p:nvSpPr>
        <p:spPr>
          <a:xfrm>
            <a:off x="1005840" y="1645920"/>
            <a:ext cx="10179900" cy="1518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The pipe | sends one command's stdout</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into the next command's stdin</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cat server.log | grep "error" | wc -l</a:t>
            </a:r>
            <a:endParaRPr b="1"/>
          </a:p>
          <a:p>
            <a:pPr marL="0" marR="0" lvl="0" indent="0" algn="l" rtl="0">
              <a:spcBef>
                <a:spcPts val="200"/>
              </a:spcBef>
              <a:spcAft>
                <a:spcPts val="0"/>
              </a:spcAft>
              <a:buNone/>
            </a:pPr>
            <a:endParaRPr b="1"/>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9"/>
        <p:cNvGrpSpPr/>
        <p:nvPr/>
      </p:nvGrpSpPr>
      <p:grpSpPr>
        <a:xfrm>
          <a:off x="0" y="0"/>
          <a:ext cx="0" cy="0"/>
          <a:chOff x="0" y="0"/>
          <a:chExt cx="0" cy="0"/>
        </a:xfrm>
      </p:grpSpPr>
      <p:sp>
        <p:nvSpPr>
          <p:cNvPr id="210" name="Google Shape;210;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Pipes: connecting commands together</a:t>
            </a:r>
            <a:endParaRPr/>
          </a:p>
        </p:txBody>
      </p:sp>
      <p:sp>
        <p:nvSpPr>
          <p:cNvPr id="211" name="Google Shape;211;p16"/>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12" name="Google Shape;212;p16"/>
          <p:cNvSpPr txBox="1"/>
          <p:nvPr/>
        </p:nvSpPr>
        <p:spPr>
          <a:xfrm>
            <a:off x="1005840" y="1645920"/>
            <a:ext cx="10179900" cy="369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The pipe | sends one command's stdout</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into the next command's stdin</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cat server.log | grep "error" | wc -l</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Read left to right:</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1. Read the log file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2. Keep only lines containing "error"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3. Count those lines</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This is the Unix philosophy in action:</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small tools, chained together</a:t>
            </a:r>
            <a:endParaRPr b="1"/>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7"/>
        <p:cNvGrpSpPr/>
        <p:nvPr/>
      </p:nvGrpSpPr>
      <p:grpSpPr>
        <a:xfrm>
          <a:off x="0" y="0"/>
          <a:ext cx="0" cy="0"/>
          <a:chOff x="0" y="0"/>
          <a:chExt cx="0" cy="0"/>
        </a:xfrm>
      </p:grpSpPr>
      <p:sp>
        <p:nvSpPr>
          <p:cNvPr id="218" name="Google Shape;218;g3d38b15cab4_0_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grep: searching inside files</a:t>
            </a:r>
            <a:endParaRPr/>
          </a:p>
        </p:txBody>
      </p:sp>
      <p:sp>
        <p:nvSpPr>
          <p:cNvPr id="219" name="Google Shape;219;g3d38b15cab4_0_1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20" name="Google Shape;220;g3d38b15cab4_0_10"/>
          <p:cNvSpPr txBox="1"/>
          <p:nvPr/>
        </p:nvSpPr>
        <p:spPr>
          <a:xfrm>
            <a:off x="1005840" y="1645920"/>
            <a:ext cx="10179900" cy="91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Find lines matching a pattern</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"def " src/app.py</a:t>
            </a:r>
            <a:endParaRPr b="1"/>
          </a:p>
          <a:p>
            <a:pPr marL="0" marR="0" lvl="0" indent="0" algn="l" rtl="0">
              <a:spcBef>
                <a:spcPts val="200"/>
              </a:spcBef>
              <a:spcAft>
                <a:spcPts val="0"/>
              </a:spcAft>
              <a:buNone/>
            </a:pPr>
            <a:endParaRPr b="1"/>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6" name="Google Shape;226;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grep: searching inside files</a:t>
            </a:r>
            <a:endParaRPr/>
          </a:p>
        </p:txBody>
      </p:sp>
      <p:sp>
        <p:nvSpPr>
          <p:cNvPr id="227" name="Google Shape;227;p19"/>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28" name="Google Shape;228;p19"/>
          <p:cNvSpPr txBox="1"/>
          <p:nvPr/>
        </p:nvSpPr>
        <p:spPr>
          <a:xfrm>
            <a:off x="1005840" y="164592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Find lines matching a pattern</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"def " src/app.py</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Recursive: search all files in a directory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-r "import" src/</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Case insensitive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-i "error" server.log</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Show line numbers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-n "TODO" src/*.py</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Invert: show lines that DON'T match</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-v "DEBUG" server.log</a:t>
            </a:r>
            <a:endParaRPr b="1"/>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34" name="Google Shape;234;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Shell scripts: automating workflows</a:t>
            </a:r>
            <a:endParaRPr/>
          </a:p>
        </p:txBody>
      </p:sp>
      <p:sp>
        <p:nvSpPr>
          <p:cNvPr id="235" name="Google Shape;235;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36" name="Google Shape;236;p22"/>
          <p:cNvSpPr txBox="1"/>
          <p:nvPr/>
        </p:nvSpPr>
        <p:spPr>
          <a:xfrm>
            <a:off x="1005840" y="1645920"/>
            <a:ext cx="10179900" cy="369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#!/bin/bash</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setup.sh - set up our project from scratch</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mkdir -p chat-app/{src,tests,static}</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cd chat-app</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python3 -m venv venv</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source venv/bin/activate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pip install flask sqlalchemy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echo "Ready to go!"</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Make it executable and run:</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chmod +x setup.sh &amp;&amp; ./setup.sh</a:t>
            </a:r>
            <a:endParaRPr b="1"/>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1"/>
        <p:cNvGrpSpPr/>
        <p:nvPr/>
      </p:nvGrpSpPr>
      <p:grpSpPr>
        <a:xfrm>
          <a:off x="0" y="0"/>
          <a:ext cx="0" cy="0"/>
          <a:chOff x="0" y="0"/>
          <a:chExt cx="0" cy="0"/>
        </a:xfrm>
      </p:grpSpPr>
      <p:sp>
        <p:nvSpPr>
          <p:cNvPr id="242" name="Google Shape;242;p17"/>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Pipe chains</a:t>
            </a:r>
            <a:endParaRPr/>
          </a:p>
        </p:txBody>
      </p:sp>
      <p:sp>
        <p:nvSpPr>
          <p:cNvPr id="243" name="Google Shape;243;p17"/>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44" name="Google Shape;244;p17"/>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45" name="Google Shape;245;p17"/>
          <p:cNvSpPr txBox="1"/>
          <p:nvPr/>
        </p:nvSpPr>
        <p:spPr>
          <a:xfrm>
            <a:off x="1005840" y="155448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How many .py files exist under /usr ?</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find /usr -name "*.py" 2&gt;/dev/null | wc -l</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What are the 5 largest files in current dir?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ls -lS | head -n 6</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Search your command history for 'mkdir'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history | grep mkdir</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a:t>
            </a:r>
            <a:r>
              <a:rPr lang="en-US" sz="1800">
                <a:solidFill>
                  <a:srgbClr val="B0B0C0"/>
                </a:solidFill>
                <a:latin typeface="Courier New"/>
                <a:ea typeface="Courier New"/>
                <a:cs typeface="Courier New"/>
                <a:sym typeface="Courier New"/>
              </a:rPr>
              <a:t>__________</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0"/>
        <p:cNvGrpSpPr/>
        <p:nvPr/>
      </p:nvGrpSpPr>
      <p:grpSpPr>
        <a:xfrm>
          <a:off x="0" y="0"/>
          <a:ext cx="0" cy="0"/>
          <a:chOff x="0" y="0"/>
          <a:chExt cx="0" cy="0"/>
        </a:xfrm>
      </p:grpSpPr>
      <p:sp>
        <p:nvSpPr>
          <p:cNvPr id="251" name="Google Shape;251;p18"/>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Pipe chains</a:t>
            </a:r>
            <a:endParaRPr/>
          </a:p>
        </p:txBody>
      </p:sp>
      <p:sp>
        <p:nvSpPr>
          <p:cNvPr id="252" name="Google Shape;252;p18"/>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53" name="Google Shape;253;p18"/>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54" name="Google Shape;254;p18"/>
          <p:cNvSpPr txBox="1"/>
          <p:nvPr/>
        </p:nvSpPr>
        <p:spPr>
          <a:xfrm>
            <a:off x="1005840" y="1554480"/>
            <a:ext cx="10179900" cy="4607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How many .py files exist under /usr ?</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find /usr -name "*.py" 2&gt;/dev/null | wc -l</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1247  (number will vary)</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What are the 5 largest files in current dir?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ls -lS | head -n 6</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total 128</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-rw-r--r--  1 andy staff 45056 Sep 1 data.db</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-rw-r--r--  1 andy staff  8192 Sep 1 app.py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Search your command history for 'mkdir'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history | grep mkdir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142  mkdir -p chat-app/src chat-app/tests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  </a:t>
            </a:r>
            <a:endParaRPr b="1"/>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9"/>
        <p:cNvGrpSpPr/>
        <p:nvPr/>
      </p:nvGrpSpPr>
      <p:grpSpPr>
        <a:xfrm>
          <a:off x="0" y="0"/>
          <a:ext cx="0" cy="0"/>
          <a:chOff x="0" y="0"/>
          <a:chExt cx="0" cy="0"/>
        </a:xfrm>
      </p:grpSpPr>
      <p:sp>
        <p:nvSpPr>
          <p:cNvPr id="260" name="Google Shape;260;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File permissions (quick version)</a:t>
            </a:r>
            <a:endParaRPr/>
          </a:p>
        </p:txBody>
      </p:sp>
      <p:sp>
        <p:nvSpPr>
          <p:cNvPr id="261" name="Google Shape;261;p20"/>
          <p:cNvSpPr txBox="1"/>
          <p:nvPr/>
        </p:nvSpPr>
        <p:spPr>
          <a:xfrm>
            <a:off x="914400" y="1463040"/>
            <a:ext cx="10362900" cy="3909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Every file has permissions for: owner, group, others</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Each gets some combination of: read (r), write (w), execute (x)</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 ls -l script.py</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-rw-r--r--   means: owner rw, group r, others 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chmod +x script.py</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make it executable</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You'll need this when: running scripts, deploying to servers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6"/>
        <p:cNvGrpSpPr/>
        <p:nvPr/>
      </p:nvGrpSpPr>
      <p:grpSpPr>
        <a:xfrm>
          <a:off x="0" y="0"/>
          <a:ext cx="0" cy="0"/>
          <a:chOff x="0" y="0"/>
          <a:chExt cx="0" cy="0"/>
        </a:xfrm>
      </p:grpSpPr>
      <p:sp>
        <p:nvSpPr>
          <p:cNvPr id="267" name="Google Shape;267;p2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Environment variables</a:t>
            </a:r>
            <a:endParaRPr/>
          </a:p>
        </p:txBody>
      </p:sp>
      <p:sp>
        <p:nvSpPr>
          <p:cNvPr id="268" name="Google Shape;268;p21"/>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69" name="Google Shape;269;p21"/>
          <p:cNvSpPr txBox="1"/>
          <p:nvPr/>
        </p:nvSpPr>
        <p:spPr>
          <a:xfrm>
            <a:off x="1005840" y="1645920"/>
            <a:ext cx="10179900" cy="369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See a specific one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echo $PATH</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echo $HOME</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Set one (current session only)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export DATABASE_URL="sqlite:///chat.db"</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echo $DATABASE_URL</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sqlite:///chat.db</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Why this matters: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Your app reads config from env vars, not hardcoded strings.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We'll use this pattern all semester.</a:t>
            </a:r>
            <a:endParaRPr b="1"/>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74"/>
        <p:cNvGrpSpPr/>
        <p:nvPr/>
      </p:nvGrpSpPr>
      <p:grpSpPr>
        <a:xfrm>
          <a:off x="0" y="0"/>
          <a:ext cx="0" cy="0"/>
          <a:chOff x="0" y="0"/>
          <a:chExt cx="0" cy="0"/>
        </a:xfrm>
      </p:grpSpPr>
      <p:sp>
        <p:nvSpPr>
          <p:cNvPr id="275" name="Google Shape;275;p24"/>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a:solidFill>
                  <a:srgbClr val="5B21B6"/>
                </a:solidFill>
                <a:latin typeface="Calibri"/>
                <a:ea typeface="Calibri"/>
                <a:cs typeface="Calibri"/>
                <a:sym typeface="Calibri"/>
              </a:rPr>
              <a:t>?</a:t>
            </a:r>
            <a:endParaRPr/>
          </a:p>
        </p:txBody>
      </p:sp>
      <p:sp>
        <p:nvSpPr>
          <p:cNvPr id="276" name="Google Shape;276;p24"/>
          <p:cNvSpPr txBox="1"/>
          <p:nvPr/>
        </p:nvSpPr>
        <p:spPr>
          <a:xfrm>
            <a:off x="1371600" y="2011680"/>
            <a:ext cx="94484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a:solidFill>
                  <a:srgbClr val="1A1A2E"/>
                </a:solidFill>
                <a:latin typeface="Calibri"/>
                <a:ea typeface="Calibri"/>
                <a:cs typeface="Calibri"/>
                <a:sym typeface="Calibri"/>
              </a:rPr>
              <a:t>You need to find all .py files containing the word 'password' in your project. How?</a:t>
            </a:r>
            <a:endParaRPr/>
          </a:p>
        </p:txBody>
      </p:sp>
      <p:sp>
        <p:nvSpPr>
          <p:cNvPr id="277" name="Google Shape;277;p24"/>
          <p:cNvSpPr txBox="1"/>
          <p:nvPr/>
        </p:nvSpPr>
        <p:spPr>
          <a:xfrm>
            <a:off x="1828800" y="4572000"/>
            <a:ext cx="853409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a:solidFill>
                  <a:srgbClr val="666677"/>
                </a:solidFill>
                <a:latin typeface="Calibri"/>
                <a:ea typeface="Calibri"/>
                <a:cs typeface="Calibri"/>
                <a:sym typeface="Calibri"/>
              </a:rPr>
              <a:t>Combine what you've learned: find, grep, pipes.</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2"/>
        <p:cNvGrpSpPr/>
        <p:nvPr/>
      </p:nvGrpSpPr>
      <p:grpSpPr>
        <a:xfrm>
          <a:off x="0" y="0"/>
          <a:ext cx="0" cy="0"/>
          <a:chOff x="0" y="0"/>
          <a:chExt cx="0" cy="0"/>
        </a:xfrm>
      </p:grpSpPr>
      <p:sp>
        <p:nvSpPr>
          <p:cNvPr id="283" name="Google Shape;283;p2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Wrapping up</a:t>
            </a:r>
            <a:endParaRPr/>
          </a:p>
        </p:txBody>
      </p:sp>
      <p:sp>
        <p:nvSpPr>
          <p:cNvPr id="284" name="Google Shape;284;p25"/>
          <p:cNvSpPr txBox="1"/>
          <p:nvPr/>
        </p:nvSpPr>
        <p:spPr>
          <a:xfrm>
            <a:off x="914400" y="1463040"/>
            <a:ext cx="10362900" cy="3140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Unix/Linux is the foundation of modern infrastructure</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Navigate: pwd, ls, cd</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Create/destroy: mkdir, touch, rm</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Inspect: cat, less, head, tail, grep</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Compose: pipes (|) and redirection (&gt;, &gt;&gt;)</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Next time: Git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version control for everything we build</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2228</Words>
  <Application>Microsoft Macintosh PowerPoint</Application>
  <PresentationFormat>Widescreen</PresentationFormat>
  <Paragraphs>285</Paragraphs>
  <Slides>26</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Calibri</vt:lpstr>
      <vt:lpstr>Arial</vt:lpstr>
      <vt:lpstr>Courier New</vt:lpstr>
      <vt:lpstr>Courier Prime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1</cp:revision>
  <dcterms:created xsi:type="dcterms:W3CDTF">2013-01-27T09:14:16Z</dcterms:created>
  <dcterms:modified xsi:type="dcterms:W3CDTF">2026-08-02T19:02:18Z</dcterms:modified>
</cp:coreProperties>
</file>