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y="6858000" cx="12191675"/>
  <p:notesSz cx="6858000" cy="9144000"/>
  <p:embeddedFontLst>
    <p:embeddedFont>
      <p:font typeface="Courier Prime"/>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66" roundtripDataSignature="AMtx7miIG6ji30qpatYHbgFyl06OZsE0+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font" Target="fonts/CourierPrime-regular.fntdata"/><Relationship Id="rId63" Type="http://schemas.openxmlformats.org/officeDocument/2006/relationships/font" Target="fonts/CourierPrime-bold.fntdata"/><Relationship Id="rId64" Type="http://schemas.openxmlformats.org/officeDocument/2006/relationships/font" Target="fonts/CourierPrime-italic.fntdata"/><Relationship Id="rId65" Type="http://schemas.openxmlformats.org/officeDocument/2006/relationships/font" Target="fonts/CourierPrime-boldItalic.fntdata"/><Relationship Id="rId6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Continue directly from 5.2. Really the job of this section is to make the vanilla-JS pain concrete before the framework shows up, otherwise React lands as a tool looking for a problem.</a:t>
            </a:r>
            <a:endParaRPr/>
          </a:p>
        </p:txBody>
      </p:sp>
      <p:sp>
        <p:nvSpPr>
          <p:cNvPr id="92" name="Google Shape;9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dc25bfaf09_0_8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g3dc25bfaf09_0_8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up the problem. Students CAN build UIs with raw DOM methods, they literally just did it in 5.2's exercise. The whole lecture is really about why you wouldn't want to scale that up, and the slide is a soft way in before we show them the actual pain on the next one.</a:t>
            </a:r>
            <a:endParaRPr/>
          </a:p>
        </p:txBody>
      </p:sp>
      <p:sp>
        <p:nvSpPr>
          <p:cNvPr id="98" name="Google Shape;98;g3dc25bfaf09_0_8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up the problem. Students CAN build UIs with raw DOM methods, they literally just did it in 5.2's exercise. The whole lecture is really about why you wouldn't want to scale that up, and the slide is a soft way in before we show them the actual pain on the next one.</a:t>
            </a:r>
            <a:endParaRPr/>
          </a:p>
        </p:txBody>
      </p:sp>
      <p:sp>
        <p:nvSpPr>
          <p:cNvPr id="105" name="Google Shape;105;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dc25bfaf09_0_48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g3dc25bfaf09_0_48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AbortController is the modern, idiomatic answer. It's also EXACTLY the pattern React's useEffect cleanup uses, which is a really nice forward-reference for next class - when they see useEffect returning a cleanup function, they'll recognize this. Walk through it: each new call aborts the previous controller, makes a fresh one, passes the signal into fetch, and the catch ignores AbortError because that rejection was on purpose. The alternative pattern (track a request id and ignore stale responses) works too, but AbortController also saves the network round trip, so it wins on both correctness AND efficiency.</a:t>
            </a:r>
            <a:endParaRPr/>
          </a:p>
        </p:txBody>
      </p:sp>
      <p:sp>
        <p:nvSpPr>
          <p:cNvPr id="112" name="Google Shape;112;g3dc25bfaf09_0_48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dc25bfaf09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 name="Google Shape;120;g3dc25bfaf09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AbortController is the modern, idiomatic answer. It's also EXACTLY the pattern React's useEffect cleanup uses, which is a really nice forward-reference for next class - when they see useEffect returning a cleanup function, they'll recognize this. Walk through it: each new call aborts the previous controller, makes a fresh one, passes the signal into fetch, and the catch ignores AbortError because that rejection was on purpose. The alternative pattern (track a request id and ignore stale responses) works too, but AbortController also saves the network round trip, so it wins on both correctness AND efficiency.</a:t>
            </a:r>
            <a:endParaRPr/>
          </a:p>
        </p:txBody>
      </p:sp>
      <p:sp>
        <p:nvSpPr>
          <p:cNvPr id="121" name="Google Shape;121;g3dc25bfaf09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manual updates for one state change. Walk through each - list rebuild, counter text, empty-state visibility - and then ask students to imagine an app with fifteen pieces of UI depending on the data instead of three. Every state change means remembering to touch every affected element, miss ONE and the UI silently lies about what the data says. This is kinda the canonical bug in vanilla-JS frontends and it's worth naming out loud. Don't reveal the React flip yet - next slide hands the question to them.</a:t>
            </a:r>
            <a:endParaRPr/>
          </a:p>
        </p:txBody>
      </p:sp>
      <p:sp>
        <p:nvSpPr>
          <p:cNvPr id="130" name="Google Shape;130;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 name="Google Shape;13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 them 3 minutes, cold-call two pairs. The point is to surface React's thesis from the students' own instincts rather than handing it to them. Things they should reach for: (a) DECLARATIVE - describe what the UI looks like for a given data, not the steps to mutate the DOM. (b) ONE SOURCE OF TRUTH - the data is canonical, the     UI is downstream of it. (c) FRAMEWORK DOES THE DIFF - developer hands over a description, framework figures out what changed. (d) RE-RENDER EVERYTHING (logically) - if the function is pure, just call it again whenever data changes; let the framework be smart about the actual DOM updates. Leave their answers on the board, then flip to the next slide where React's answer validates the same shape.</a:t>
            </a:r>
            <a:endParaRPr/>
          </a:p>
        </p:txBody>
      </p:sp>
      <p:sp>
        <p:nvSpPr>
          <p:cNvPr id="139" name="Google Shape;139;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 name="Google Shape;14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If students walk out with nothing but this slide they still have the right mental model...and if they walk out with all the other mechanics but not this one, they'll write React that looks suspiciously like vanilla JS, which is a super common gripe I have with AI-generated React code.</a:t>
            </a:r>
            <a:endParaRPr/>
          </a:p>
        </p:txBody>
      </p:sp>
      <p:sp>
        <p:nvSpPr>
          <p:cNvPr id="147" name="Google Shape;147;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the mechanics start. Everything here really follows from the one line 'a component is a function' - if you keep coming back to that, the rest lands.</a:t>
            </a:r>
            <a:endParaRPr/>
          </a:p>
        </p:txBody>
      </p:sp>
      <p:sp>
        <p:nvSpPr>
          <p:cNvPr id="154" name="Google Shape;154;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capital-letter rule is one of the most common sources of silent bugs for beginners...really, a lowercase &lt;button&gt; renders an HTML button and an uppercase &lt;Button&gt; calls a component, and if you get the case wrong React either renders the wrong thing or just errors out with a kinda cryptic message. Worth calling out early so students recognize the failure mode when it shows up.</a:t>
            </a:r>
            <a:endParaRPr/>
          </a:p>
        </p:txBody>
      </p:sp>
      <p:sp>
        <p:nvSpPr>
          <p:cNvPr id="160" name="Google Shape;160;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dc25bfaf09_0_10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g3dc25bfaf09_0_10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every piece. The interface is familiar from 5.1 so don't dwell there. The function takes props and destructures them in the parameter list, which is just regular JS. The return value uses JSX and we'll get into that in the next section. The App component uses Greeting like an HTML tag - that's really the JSX calling convention, not a special React thing.</a:t>
            </a:r>
            <a:endParaRPr/>
          </a:p>
        </p:txBody>
      </p:sp>
      <p:sp>
        <p:nvSpPr>
          <p:cNvPr id="167" name="Google Shape;167;g3dc25bfaf09_0_10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 name="Google Shape;17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every piece. The interface is familiar from 5.1 so don't dwell there. The function takes props and destructures them in the parameter list, which is just regular JS. The return value uses JSX and we'll get into that in the next section. The App component uses Greeting like an HTML tag - that's really the JSX calling convention, not a special React thing.</a:t>
            </a:r>
            <a:endParaRPr/>
          </a:p>
        </p:txBody>
      </p:sp>
      <p:sp>
        <p:nvSpPr>
          <p:cNvPr id="176" name="Google Shape;176;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dc25bfaf09_0_9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g3dc25bfaf09_0_9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Quick 2 minutes, no need to draw it out. Cold-call one or two students. Things they should surface: (a) IT'S NOT A STRING - you can put {name} in the middle     and reference a JS variable, which strings can't do     without template literals. (b) IT'S A FUNCTION CALL IN DISGUISE - something like     createElement('h1', null, 'Hello, ', name, '!'). (c) IT EVALUATES TO AN OBJECT - a plain JS object that     describes the UI tree. React reads that object and     figures out what to put on the page. If they don't reach (b)/(c), that's fine - the next slide reveals it and the question still primed them to look for the trick. Don't overspend here.</a:t>
            </a:r>
            <a:endParaRPr/>
          </a:p>
        </p:txBody>
      </p:sp>
      <p:sp>
        <p:nvSpPr>
          <p:cNvPr id="185" name="Google Shape;185;g3dc25bfaf09_0_9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JSX is the part that confuses students the most. Really the fix is to ground it in the fact that it's just a compile-time transformation into plain function calls - same demystification move we made for async/await in 5.2.</a:t>
            </a:r>
            <a:endParaRPr/>
          </a:p>
        </p:txBody>
      </p:sp>
      <p:sp>
        <p:nvSpPr>
          <p:cNvPr id="193" name="Google Shape;193;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dc25bfaf09_0_1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g3dc25bfaf09_0_1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same move we made for async/await in 5.2 works here: show the ugly version once, never write it again, but keep the mental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createElement(type, props, ...children)</a:t>
            </a:r>
            <a:endParaRPr/>
          </a:p>
          <a:p>
            <a:pPr indent="0" lvl="0" marL="0" rtl="0" algn="l">
              <a:spcBef>
                <a:spcPts val="0"/>
              </a:spcBef>
              <a:spcAft>
                <a:spcPts val="0"/>
              </a:spcAft>
              <a:buNone/>
            </a:pPr>
            <a:r>
              <a:rPr lang="en-US"/>
              <a:t>null = props in the header h1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_jsxs("h1", { children: ["Hello, ", name, "!"] })                                                                                      </a:t>
            </a:r>
            <a:endParaRPr/>
          </a:p>
          <a:p>
            <a:pPr indent="0" lvl="0" marL="0" rtl="0" algn="l">
              <a:spcBef>
                <a:spcPts val="0"/>
              </a:spcBef>
              <a:spcAft>
                <a:spcPts val="0"/>
              </a:spcAft>
              <a:buNone/>
            </a:pPr>
            <a:r>
              <a:rPr lang="en-US"/>
              <a:t>Children live inside the props object under a children key.</a:t>
            </a:r>
            <a:endParaRPr/>
          </a:p>
          <a:p>
            <a:pPr indent="0" lvl="0" marL="0" rtl="0" algn="l">
              <a:spcBef>
                <a:spcPts val="0"/>
              </a:spcBef>
              <a:spcAft>
                <a:spcPts val="0"/>
              </a:spcAft>
              <a:buNone/>
            </a:pPr>
            <a:r>
              <a:t/>
            </a:r>
            <a:endParaRPr/>
          </a:p>
        </p:txBody>
      </p:sp>
      <p:sp>
        <p:nvSpPr>
          <p:cNvPr id="199" name="Google Shape;199;g3dc25bfaf09_0_1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same move we made for async/await in 5.2 works here: show the ugly version once, never write it again, but keep the mental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createElement(type, props, ...children)</a:t>
            </a:r>
            <a:endParaRPr/>
          </a:p>
          <a:p>
            <a:pPr indent="0" lvl="0" marL="0" rtl="0" algn="l">
              <a:spcBef>
                <a:spcPts val="0"/>
              </a:spcBef>
              <a:spcAft>
                <a:spcPts val="0"/>
              </a:spcAft>
              <a:buNone/>
            </a:pPr>
            <a:r>
              <a:rPr lang="en-US"/>
              <a:t>null = props in the header h1</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_jsxs("h1", { children: ["Hello, ", name, "!"] })                                                                                      </a:t>
            </a:r>
            <a:endParaRPr/>
          </a:p>
          <a:p>
            <a:pPr indent="0" lvl="0" marL="0" rtl="0" algn="l">
              <a:spcBef>
                <a:spcPts val="0"/>
              </a:spcBef>
              <a:spcAft>
                <a:spcPts val="0"/>
              </a:spcAft>
              <a:buClr>
                <a:schemeClr val="dk1"/>
              </a:buClr>
              <a:buSzPts val="1100"/>
              <a:buFont typeface="Arial"/>
              <a:buNone/>
            </a:pPr>
            <a:r>
              <a:rPr lang="en-US"/>
              <a:t>Children live inside the props object under a children key.</a:t>
            </a:r>
            <a:endParaRPr/>
          </a:p>
          <a:p>
            <a:pPr indent="0" lvl="0" marL="0" rtl="0" algn="l">
              <a:spcBef>
                <a:spcPts val="0"/>
              </a:spcBef>
              <a:spcAft>
                <a:spcPts val="0"/>
              </a:spcAft>
              <a:buNone/>
            </a:pPr>
            <a:r>
              <a:t/>
            </a:r>
            <a:endParaRPr/>
          </a:p>
        </p:txBody>
      </p:sp>
      <p:sp>
        <p:nvSpPr>
          <p:cNvPr id="206" name="Google Shape;206;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dc25bfaf09_0_1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g3dc25bfaf09_0_1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things to highlight here: className replaces class (because class is a reserved JS keyword), attributes are camelCase like htmlFor and onClick, and you really must return exactly one root element from a component. The &lt;&gt;...&lt;/&gt; syntax is a React Fragment, which is what you reach for when you don't want an extra div wrapping your children just for the sake of having one root.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JSX is JavaScript describing JS objects, not HTML.</a:t>
            </a:r>
            <a:endParaRPr/>
          </a:p>
        </p:txBody>
      </p:sp>
      <p:sp>
        <p:nvSpPr>
          <p:cNvPr id="213" name="Google Shape;213;g3dc25bfaf09_0_1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dc25bfaf09_0_1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g3dc25bfaf09_0_1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things to highlight here: className replaces class (because class is a reserved JS keyword), attributes are camelCase like htmlFor and onClick, and you really must return exactly one root element from a component. The &lt;&gt;...&lt;/&gt; syntax is a React Fragment, which is what you reach for when you don't want an extra div wrapping your children just for the sake of having one root.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JSX is JavaScript describing JS objects, not HTML.</a:t>
            </a:r>
            <a:endParaRPr/>
          </a:p>
        </p:txBody>
      </p:sp>
      <p:sp>
        <p:nvSpPr>
          <p:cNvPr id="222" name="Google Shape;222;g3dc25bfaf09_0_1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things to highlight here: className replaces class (because class is a reserved JS keyword), attributes are camelCase like htmlFor and onClick, and you really must return exactly one root element from a component. The &lt;&gt;...&lt;/&gt; syntax is a React Fragment, which is what you reach for when you don't want an extra div wrapping your children just for the sake of having one root.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JSX is JavaScript describing JS objects, not HTML.</a:t>
            </a:r>
            <a:endParaRPr/>
          </a:p>
        </p:txBody>
      </p:sp>
      <p:sp>
        <p:nvSpPr>
          <p:cNvPr id="231" name="Google Shape;231;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dc25bfaf09_0_25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g3dc25bfaf09_0_25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really the three mistakes every new React student makes in their first hour on it. Calling them out explicitly means students recognize the error when it happens, instead of sitting there confused about why the button won't style...which is kinda the worst way to learn React.</a:t>
            </a:r>
            <a:endParaRPr/>
          </a:p>
        </p:txBody>
      </p:sp>
      <p:sp>
        <p:nvSpPr>
          <p:cNvPr id="240" name="Google Shape;240;g3dc25bfaf09_0_25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6" name="Google Shape;24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really the three mistakes every new React student makes in their first hour on it. Calling them out explicitly means students recognize the error when it happens, instead of sitting there confused about why the button won't style...which is kinda the worst way to learn React.</a:t>
            </a:r>
            <a:endParaRPr/>
          </a:p>
        </p:txBody>
      </p:sp>
      <p:sp>
        <p:nvSpPr>
          <p:cNvPr id="247" name="Google Shape;247;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Props are really just function parameters, and TypeScript makes the types explicit via interface, same pattern we used in 5.1.</a:t>
            </a:r>
            <a:endParaRPr/>
          </a:p>
        </p:txBody>
      </p:sp>
      <p:sp>
        <p:nvSpPr>
          <p:cNvPr id="254" name="Google Shape;254;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dc25bfaf09_0_35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g3dc25bfaf09_0_35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string-vs-brace distinction is worth calling out explicitly. Strings can technically use quotes OR braces, but quotes are really more idiomatic for bare string literals. Anything else - number, boolean, object, function, array - has to go in braces, because JSX attributes default to strings and that's the escape hatch into a real JS expression.</a:t>
            </a:r>
            <a:endParaRPr/>
          </a:p>
        </p:txBody>
      </p:sp>
      <p:sp>
        <p:nvSpPr>
          <p:cNvPr id="260" name="Google Shape;260;g3dc25bfaf09_0_35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string-vs-brace distinction is worth calling out explicitly. Strings can technically use quotes OR braces, but quotes are really more idiomatic for bare string literals. Anything else - number, boolean, object, function, array - has to go in braces, because JSX attributes default to strings and that's the escape hatch into a real JS expression.</a:t>
            </a:r>
            <a:endParaRPr/>
          </a:p>
        </p:txBody>
      </p:sp>
      <p:sp>
        <p:nvSpPr>
          <p:cNvPr id="267" name="Google Shape;267;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interface really just describes what TodoItem expects. Destructuring in the parameter list means `todo` is available as a local variable inside the function, which kinda reads nicer than props.todo sprinkled everywhere. The className={...} uses a JS expression to pick between two class names based on the done flag, which is one of those patterns students will reach for constantly.</a:t>
            </a:r>
            <a:endParaRPr/>
          </a:p>
        </p:txBody>
      </p:sp>
      <p:sp>
        <p:nvSpPr>
          <p:cNvPr id="274" name="Google Shape;274;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dc25bfaf09_0_36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 name="Google Shape;282;g3dc25bfaf09_0_36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ways to pass a todo here: a variable reference, or an inline object literal. Both work equally well. The double-braces in {{ id: 2, ... }} are NOT special React syntax - one set of braces is for the JSX expression, the other set is for the object literal inside. Students read it as some sort of magic the first time and it really isn't, it's just two things stacked.</a:t>
            </a:r>
            <a:endParaRPr/>
          </a:p>
        </p:txBody>
      </p:sp>
      <p:sp>
        <p:nvSpPr>
          <p:cNvPr id="283" name="Google Shape;283;g3dc25bfaf09_0_36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1" name="Google Shape;291;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ways to pass a todo here: a variable reference, or an inline object literal. Both work equally well. The double-braces in {{ id: 2, ... }} are NOT special React syntax - one set of braces is for the JSX expression, the other set is for the object literal inside. Students read it as some sort of magic the first time and it really isn't, it's just two things stacked.</a:t>
            </a:r>
            <a:endParaRPr/>
          </a:p>
        </p:txBody>
      </p:sp>
      <p:sp>
        <p:nvSpPr>
          <p:cNvPr id="292" name="Google Shape;292;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dc25bfaf09_0_49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g3dc25bfaf09_0_49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Data flows down through the tree via props, and each component is a pure function of its props...nothing touches global state, nothing reaches sideways across the tree. This unidirectional flow is kinda the whole reason React apps are easier to reason about than jQuery spaghetti, and it's worth flagging that out loud so students see the design decision behind the mechanics.</a:t>
            </a:r>
            <a:endParaRPr/>
          </a:p>
        </p:txBody>
      </p:sp>
      <p:sp>
        <p:nvSpPr>
          <p:cNvPr id="301" name="Google Shape;301;g3dc25bfaf09_0_49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7" name="Google Shape;307;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Data flows down through the tree via props, and each component is a pure function of its props...nothing touches global state, nothing reaches sideways across the tree. This unidirectional flow is kinda the whole reason React apps are easier to reason about than jQuery spaghetti, and it's worth flagging that out loud so students see the design decision behind the mechanics.</a:t>
            </a:r>
            <a:endParaRPr/>
          </a:p>
        </p:txBody>
      </p:sp>
      <p:sp>
        <p:nvSpPr>
          <p:cNvPr id="308" name="Google Shape;308;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components, one tree. TodoApp calls TodoList, TodoList maps over todos to produce multiple TodoItems, and TodoItem renders a single li. Notice that TodoList defines its props type inline instead of via interface, which is really fine for small components and kinda not worth the ceremony of a separate interface. The `key={t.id}` is the key prop and the next section explains why it has to be there.</a:t>
            </a:r>
            <a:endParaRPr/>
          </a:p>
        </p:txBody>
      </p:sp>
      <p:sp>
        <p:nvSpPr>
          <p:cNvPr id="315" name="Google Shape;315;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Quick 2 minutes. The point is to set up the key prop as the answer to a real problem, not a magic incantation. Things they should reach for: (a) BY POSITION - compare element 0 to old element 0,     element 1 to old element 1, etc. Easy, but wrong: a     deletion in the middle looks like 'three items got     rewritten and one disappeared off the end.' (b) BY CONTENT - diff the text. Works for static text,     breaks for any element with internal state like a     form input or a focused field. (c) BY UNIQUE ID - caller hands React a stable id per     element, React tracks them across re-renders. This     is the right answer and it's exactly the key prop. Once they reach (c) or you walk them there, the next slide formalizes it. Stress that ARRAY INDEX is option (a) wearing a costume - it's the most common wrong answer and the one their AI tools default to.</a:t>
            </a:r>
            <a:endParaRPr/>
          </a:p>
        </p:txBody>
      </p:sp>
      <p:sp>
        <p:nvSpPr>
          <p:cNvPr id="324" name="Google Shape;324;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dc25bfaf09_0_50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1" name="Google Shape;331;g3dc25bfaf09_0_50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Keys are really for reconciliation - React uses them to tell 'this todo moved to a new position' apart from 'this old todo was deleted and a new one was added in its place.' For a static list it kinda doesn't matter, but for a list that gets reordered or edited, using the wrong keys causes visible bugs like form inputs retaining the wrong values. USE THE ID. Push your coding agent on this one if it defaults to the array index, because half the time it will.</a:t>
            </a:r>
            <a:endParaRPr/>
          </a:p>
        </p:txBody>
      </p:sp>
      <p:sp>
        <p:nvSpPr>
          <p:cNvPr id="332" name="Google Shape;332;g3dc25bfaf09_0_50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8" name="Google Shape;338;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Keys are really for reconciliation - React uses them to tell 'this todo moved to a new position' apart from 'this old todo was deleted and a new one was added in its place.' For a static list it kinda doesn't matter, but for a list that gets reordered or edited, using the wrong keys causes visible bugs like form inputs retaining the wrong values. USE THE ID. Push your coding agent on this one if it defaults to the array index, because half the time it will.</a:t>
            </a:r>
            <a:endParaRPr/>
          </a:p>
        </p:txBody>
      </p:sp>
      <p:sp>
        <p:nvSpPr>
          <p:cNvPr id="339" name="Google Shape;339;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5" name="Google Shape;345;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Everything is really here in one slide: props typed via interface, early return for the empty case, .map with a key prop, and each element is a component call. This is the shape of 80% of React list rendering you'll ever write, so students should be able to read it fluently by the end of class.</a:t>
            </a:r>
            <a:endParaRPr/>
          </a:p>
        </p:txBody>
      </p:sp>
      <p:sp>
        <p:nvSpPr>
          <p:cNvPr id="346" name="Google Shape;346;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dc25bfaf09_0_5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4" name="Google Shape;354;g3dc25bfaf09_0_5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patterns here: ternary for if/else inside JSX, short-circuit &amp;&amp; for show-or-nothing, and early return for whole-component branches. All three are really just plain JavaScript expressions and nothing about them is React-specific - students already know them from 5.1, they just haven't used them in this context yet.</a:t>
            </a:r>
            <a:endParaRPr/>
          </a:p>
        </p:txBody>
      </p:sp>
      <p:sp>
        <p:nvSpPr>
          <p:cNvPr id="355" name="Google Shape;355;g3dc25bfaf09_0_5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3" name="Google Shape;363;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patterns here: ternary for if/else inside JSX, short-circuit &amp;&amp; for show-or-nothing, and early return for whole-component branches. All three are really just plain JavaScript expressions and nothing about them is React-specific - students already know them from 5.1, they just haven't used them in this context yet.</a:t>
            </a:r>
            <a:endParaRPr/>
          </a:p>
        </p:txBody>
      </p:sp>
      <p:sp>
        <p:nvSpPr>
          <p:cNvPr id="364" name="Google Shape;364;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2" name="Google Shape;372;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Vite is really the standard modern React toolchain at this point. One command to create the project, one to install dependencies, one to run the dev server. The dev server has hot module reloading, so save a file and the browser updates without losing state - which is kinda magical the first time you see it. src/App.tsx is the root component. Students should spend at least 10 minutes of this class with a running project open on their own laptop, otherwise none of this sticks.</a:t>
            </a:r>
            <a:endParaRPr/>
          </a:p>
        </p:txBody>
      </p:sp>
      <p:sp>
        <p:nvSpPr>
          <p:cNvPr id="373" name="Google Shape;373;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1" name="Google Shape;381;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Every blank here is really a distinct concept. Todo[] for the props type, destructuring todos from props, .map to produce elements, the key prop, a ternary for className, and todo.title for the text node. Students who can fill all six blanks from memory are ready for 7.1.</a:t>
            </a:r>
            <a:endParaRPr/>
          </a:p>
          <a:p>
            <a:pPr indent="0" lvl="0" marL="0" rtl="0" algn="l">
              <a:spcBef>
                <a:spcPts val="0"/>
              </a:spcBef>
              <a:spcAft>
                <a:spcPts val="0"/>
              </a:spcAft>
              <a:buClr>
                <a:schemeClr val="dk1"/>
              </a:buClr>
              <a:buFont typeface="Arial"/>
              <a:buNone/>
            </a:pPr>
            <a:r>
              <a:t/>
            </a:r>
            <a:endParaRPr sz="1000">
              <a:solidFill>
                <a:schemeClr val="dk1"/>
              </a:solidFill>
            </a:endParaRPr>
          </a:p>
          <a:p>
            <a:pPr indent="0" lvl="0" marL="0" rtl="0" algn="l">
              <a:spcBef>
                <a:spcPts val="200"/>
              </a:spcBef>
              <a:spcAft>
                <a:spcPts val="0"/>
              </a:spcAft>
              <a:buClr>
                <a:schemeClr val="dk1"/>
              </a:buClr>
              <a:buFont typeface="Arial"/>
              <a:buNone/>
            </a:pPr>
            <a:r>
              <a:rPr b="1" lang="en-US" sz="900">
                <a:solidFill>
                  <a:srgbClr val="333344"/>
                </a:solidFill>
                <a:latin typeface="Courier New"/>
                <a:ea typeface="Courier New"/>
                <a:cs typeface="Courier New"/>
                <a:sym typeface="Courier New"/>
              </a:rPr>
              <a:t>todos: Todo[];</a:t>
            </a:r>
            <a:endParaRPr b="1" sz="900">
              <a:solidFill>
                <a:srgbClr val="333344"/>
              </a:solidFill>
              <a:latin typeface="Courier New"/>
              <a:ea typeface="Courier New"/>
              <a:cs typeface="Courier New"/>
              <a:sym typeface="Courier New"/>
            </a:endParaRPr>
          </a:p>
          <a:p>
            <a:pPr indent="0" lvl="0" marL="0" rtl="0" algn="l">
              <a:spcBef>
                <a:spcPts val="200"/>
              </a:spcBef>
              <a:spcAft>
                <a:spcPts val="0"/>
              </a:spcAft>
              <a:buClr>
                <a:schemeClr val="dk1"/>
              </a:buClr>
              <a:buFont typeface="Arial"/>
              <a:buNone/>
            </a:pPr>
            <a:r>
              <a:rPr b="1" lang="en-US" sz="900">
                <a:solidFill>
                  <a:srgbClr val="333344"/>
                </a:solidFill>
                <a:latin typeface="Courier New"/>
                <a:ea typeface="Courier New"/>
                <a:cs typeface="Courier New"/>
                <a:sym typeface="Courier New"/>
              </a:rPr>
              <a:t>function TodoList({ todos }: TodoListProps) {</a:t>
            </a:r>
            <a:endParaRPr sz="1000">
              <a:solidFill>
                <a:schemeClr val="dk1"/>
              </a:solidFill>
            </a:endParaRPr>
          </a:p>
          <a:p>
            <a:pPr indent="0" lvl="0" marL="0" rtl="0" algn="l">
              <a:spcBef>
                <a:spcPts val="200"/>
              </a:spcBef>
              <a:spcAft>
                <a:spcPts val="0"/>
              </a:spcAft>
              <a:buClr>
                <a:schemeClr val="dk1"/>
              </a:buClr>
              <a:buFont typeface="Arial"/>
              <a:buNone/>
            </a:pPr>
            <a:r>
              <a:rPr b="1" lang="en-US" sz="900">
                <a:solidFill>
                  <a:srgbClr val="333344"/>
                </a:solidFill>
                <a:latin typeface="Courier New"/>
                <a:ea typeface="Courier New"/>
                <a:cs typeface="Courier New"/>
                <a:sym typeface="Courier New"/>
              </a:rPr>
              <a:t>            {todos.map((todo) =&gt; (</a:t>
            </a:r>
            <a:endParaRPr sz="1000">
              <a:solidFill>
                <a:schemeClr val="dk1"/>
              </a:solidFill>
            </a:endParaRPr>
          </a:p>
          <a:p>
            <a:pPr indent="0" lvl="0" marL="0" rtl="0" algn="l">
              <a:spcBef>
                <a:spcPts val="200"/>
              </a:spcBef>
              <a:spcAft>
                <a:spcPts val="0"/>
              </a:spcAft>
              <a:buClr>
                <a:schemeClr val="dk1"/>
              </a:buClr>
              <a:buFont typeface="Arial"/>
              <a:buNone/>
            </a:pPr>
            <a:r>
              <a:rPr b="1" lang="en-US" sz="900">
                <a:solidFill>
                  <a:srgbClr val="333344"/>
                </a:solidFill>
                <a:latin typeface="Courier New"/>
                <a:ea typeface="Courier New"/>
                <a:cs typeface="Courier New"/>
                <a:sym typeface="Courier New"/>
              </a:rPr>
              <a:t>                    key={todo.id}</a:t>
            </a:r>
            <a:endParaRPr sz="1000">
              <a:solidFill>
                <a:schemeClr val="dk1"/>
              </a:solidFill>
            </a:endParaRPr>
          </a:p>
          <a:p>
            <a:pPr indent="0" lvl="0" marL="0" rtl="0" algn="l">
              <a:spcBef>
                <a:spcPts val="200"/>
              </a:spcBef>
              <a:spcAft>
                <a:spcPts val="0"/>
              </a:spcAft>
              <a:buNone/>
            </a:pPr>
            <a:r>
              <a:rPr b="1" lang="en-US" sz="900">
                <a:solidFill>
                  <a:srgbClr val="333344"/>
                </a:solidFill>
                <a:latin typeface="Courier New"/>
                <a:ea typeface="Courier New"/>
                <a:cs typeface="Courier New"/>
                <a:sym typeface="Courier New"/>
              </a:rPr>
              <a:t>                    className={todo.done ? "done" : ""}</a:t>
            </a:r>
            <a:endParaRPr sz="1000">
              <a:solidFill>
                <a:schemeClr val="dk1"/>
              </a:solidFill>
            </a:endParaRPr>
          </a:p>
          <a:p>
            <a:pPr indent="0" lvl="0" marL="0" rtl="0" algn="l">
              <a:spcBef>
                <a:spcPts val="200"/>
              </a:spcBef>
              <a:spcAft>
                <a:spcPts val="0"/>
              </a:spcAft>
              <a:buClr>
                <a:schemeClr val="dk1"/>
              </a:buClr>
              <a:buFont typeface="Arial"/>
              <a:buNone/>
            </a:pPr>
            <a:r>
              <a:rPr b="1" lang="en-US" sz="900">
                <a:solidFill>
                  <a:srgbClr val="333344"/>
                </a:solidFill>
                <a:latin typeface="Courier New"/>
                <a:ea typeface="Courier New"/>
                <a:cs typeface="Courier New"/>
                <a:sym typeface="Courier New"/>
              </a:rPr>
              <a:t>                    {todo.title}</a:t>
            </a:r>
            <a:endParaRPr sz="1000"/>
          </a:p>
        </p:txBody>
      </p:sp>
      <p:sp>
        <p:nvSpPr>
          <p:cNvPr id="382" name="Google Shape;382;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0" name="Google Shape;390;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each answer. Really point out that this component is PURE - same todos array in, same JSX out, every single time, with no side effects and no mutation. That's what makes it testable and easy to reason about, and it's kinda the whole point of the lecture showing up in eight lines. When the todos array changes next lecture via useState, React re-runs this function and updates only the &lt;li&gt;s that actually changed.</a:t>
            </a:r>
            <a:endParaRPr/>
          </a:p>
        </p:txBody>
      </p:sp>
      <p:sp>
        <p:nvSpPr>
          <p:cNvPr id="391" name="Google Shape;391;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dc25bfaf09_0_2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9" name="Google Shape;399;g3dc25bfaf09_0_2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the slide as written, the categories do the work. The idea is to show the SAME TodoList in four different syntaxes on the next four slides, so students can read each one and see the differences themselves rather than be told. Worth saying out loud: React won the mindshare war but didn't win on technical merit alone - Vue, Svelte, and Solid are all arguably better-designed in specific ways. React won because of timing, Facebook's backing, and the network effect of the ecosystem. The lesson really isn't 'React is right,' it's 'React is what your job will use.' Quick name-drop honorable mentions if students ask: Preact, Web Components / Lit, Alpine.js, Qwik.</a:t>
            </a:r>
            <a:endParaRPr/>
          </a:p>
        </p:txBody>
      </p:sp>
      <p:sp>
        <p:nvSpPr>
          <p:cNvPr id="400" name="Google Shape;400;g3dc25bfaf09_0_2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dc25bfaf09_0_1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6" name="Google Shape;406;g3dc25bfaf09_0_1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the slide as written, the categories do the work. The idea is to show the SAME TodoList in four different syntaxes on the next four slides, so students can read each one and see the differences themselves rather than be told. Worth saying out loud: React won the mindshare war but didn't win on technical merit alone - Vue, Svelte, and Solid are all arguably better-designed in specific ways. React won because of timing, Facebook's backing, and the network effect of the ecosystem. The lesson really isn't 'React is right,' it's 'React is what your job will use.' Quick name-drop honorable mentions if students ask: Preact, Web Components / Lit, Alpine.js, Qwik.</a:t>
            </a:r>
            <a:endParaRPr/>
          </a:p>
        </p:txBody>
      </p:sp>
      <p:sp>
        <p:nvSpPr>
          <p:cNvPr id="407" name="Google Shape;407;g3dc25bfaf09_0_14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dc25bfaf09_0_1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3" name="Google Shape;413;g3dc25bfaf09_0_1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Vue's hello-world feels familiar to anyone coming from React: declarative, tree of components, props down. Differences worth pointing at: (a) markup-as-template with v-for and :class directives instead of JS expressions, (b) {{ t.title }} for interpolation instead of {t.title}, (c) `:key` is a directive on the tag rather than a prop. Single-file components (.vue) bundle template + script + styles together, which a lot of people prefer over React's everything-is-JS approach. Vue's reactivity is automatic - mutate `todos` and the UI updates without telling Vue you did so.</a:t>
            </a:r>
            <a:endParaRPr/>
          </a:p>
        </p:txBody>
      </p:sp>
      <p:sp>
        <p:nvSpPr>
          <p:cNvPr id="414" name="Google Shape;414;g3dc25bfaf09_0_1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dc25bfaf09_0_15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2" name="Google Shape;422;g3dc25bfaf09_0_15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Svelte looks structurally like Vue but the magic is at BUILD TIME instead of run time. The compiler reads this component and emits hand-rolled DOM-mutation code - the kind of code we showed on the vanilla-JS slide - so the browser never runs a virtual-DOM diff. Result: the smallest bundle of any of these frameworks and the fastest first paint. {#each ... as t (t.id)} is the loop with key tracking; class:done={t.done} conditionally applies the .done class. Worth saying: a lot of people think Svelte has the best developer experience of the bunch - React just has the bigger ecosystem.</a:t>
            </a:r>
            <a:endParaRPr/>
          </a:p>
        </p:txBody>
      </p:sp>
      <p:sp>
        <p:nvSpPr>
          <p:cNvPr id="423" name="Google Shape;423;g3dc25bfaf09_0_15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dc25bfaf09_0_16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1" name="Google Shape;431;g3dc25bfaf09_0_16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HTMX is the 'frameworks were a mistake' answer. There's no React, no Vue, no Svelte - just HTML attributes that tell the browser when to make HTTP requests and where to put the response. Your server (Django, Rails, Go, whatever) returns HTML fragments instead of JSON, and the page assembles itself out of pieces. Tradeoffs: way less code on the frontend and works without JS at all, but every interaction is a server roundtrip and rich client-side state is hard. It's having a real moment in shops that resented SPA complexity. Pair it with Hotwire if students hear that name - same idea from the Rails world.</a:t>
            </a:r>
            <a:endParaRPr/>
          </a:p>
        </p:txBody>
      </p:sp>
      <p:sp>
        <p:nvSpPr>
          <p:cNvPr id="432" name="Google Shape;432;g3dc25bfaf09_0_16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0" name="Google Shape;440;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Takeaways first, then really flag what's missing. Students should feel the gap - they can build a static UI today but not a dynamic one, and the gap is kinda the whole hook for 7.1 where useState and useEffect fill it in.</a:t>
            </a:r>
            <a:endParaRPr/>
          </a:p>
        </p:txBody>
      </p:sp>
      <p:sp>
        <p:nvSpPr>
          <p:cNvPr id="441" name="Google Shape;441;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dc25bfaf09_0_25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7" name="Google Shape;447;g3dc25bfaf09_0_25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up the problem first: components have no memory on their own. Show why plain local variables don't work before reaching for the hook that fixes it.</a:t>
            </a:r>
            <a:endParaRPr/>
          </a:p>
        </p:txBody>
      </p:sp>
      <p:sp>
        <p:nvSpPr>
          <p:cNvPr id="448" name="Google Shape;448;g3dc25bfaf09_0_25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dc25bfaf09_0_26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3" name="Google Shape;453;g3dc25bfaf09_0_26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Frame the class directly - today unlocks everything 6.1 pointed at but didn't actually deliver. These two concepts (state and effects) are really the only things standing between students and real interactive React apps, which is kinda why 7.1 is the most important lecture of the React unit.</a:t>
            </a:r>
            <a:endParaRPr/>
          </a:p>
        </p:txBody>
      </p:sp>
      <p:sp>
        <p:nvSpPr>
          <p:cNvPr id="454" name="Google Shape;454;g3dc25bfaf09_0_26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dc25bfaf09_0_35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0" name="Google Shape;460;g3dc25bfaf09_0_35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is the motivation for everything that follows, so don't rush past it. Students need to feel TWO separate problems: React doesn't know to re-render, and even if it did, local variables restart from zero on every call. Memory has to LIVE SOMEWHERE ELSE...and the 'somewhere else' is the whole point of useState on the next slide.</a:t>
            </a:r>
            <a:endParaRPr/>
          </a:p>
        </p:txBody>
      </p:sp>
      <p:sp>
        <p:nvSpPr>
          <p:cNvPr id="461" name="Google Shape;461;g3dc25bfaf09_0_35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dc25bfaf09_0_26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9" name="Google Shape;469;g3dc25bfaf09_0_26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is the motivation for everything that follows, so don't rush past it. Students need to feel TWO separate problems: React doesn't know to re-render, and even if it did, local variables restart from zero on every call. Memory has to LIVE SOMEWHERE ELSE...and the 'somewhere else' is the whole point of useState on the next slide.</a:t>
            </a:r>
            <a:endParaRPr/>
          </a:p>
        </p:txBody>
      </p:sp>
      <p:sp>
        <p:nvSpPr>
          <p:cNvPr id="470" name="Google Shape;470;g3dc25bfaf09_0_26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dc25bfaf09_0_37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8" name="Google Shape;478;g3dc25bfaf09_0_37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hook itself. Memory between renders, one line at a time.</a:t>
            </a:r>
            <a:endParaRPr/>
          </a:p>
        </p:txBody>
      </p:sp>
      <p:sp>
        <p:nvSpPr>
          <p:cNvPr id="479" name="Google Shape;479;g3dc25bfaf09_0_37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dc25bfaf09_0_37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4" name="Google Shape;484;g3dc25bfaf09_0_37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two-thing shape of useState's return value is the single most confusing part for students who are new to hooks. Hammer on three things: you always destructure it, you always call it at the top of the component, and the names are up to you but the convention everyone reads is [thing, setThing]. If their coding agent writes [thingState, updateThing], push it back toward the convention - readability across the ecosystem matters.</a:t>
            </a:r>
            <a:endParaRPr/>
          </a:p>
        </p:txBody>
      </p:sp>
      <p:sp>
        <p:nvSpPr>
          <p:cNvPr id="485" name="Google Shape;485;g3dc25bfaf09_0_37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dc25bfaf09_0_38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1" name="Google Shape;491;g3dc25bfaf09_0_38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working version is literally three lines different from the broken one - import useState, declare with [count, setCount] = useState(0), and call setCount in the handler. The UI actually updates because calling the setter is the signal to React that state changed and a re-render is needed. Make the diff visible, don't just let students read the new version.</a:t>
            </a:r>
            <a:endParaRPr/>
          </a:p>
        </p:txBody>
      </p:sp>
      <p:sp>
        <p:nvSpPr>
          <p:cNvPr id="492" name="Google Shape;492;g3dc25bfaf09_0_38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dc25bfaf09_0_39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0" name="Google Shape;500;g3dc25bfaf09_0_39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Any closure (like an onClick) that captures count captures that render's value, even if state changes later.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'React keeps it in its own memory' mental model is really what unlocks the intuition for hooks. Students who believe count is 'just a variable' get confused by closure bugs for weeks...students who believe React is storing it somewhere else understand that the function is just asking React for the current value every run. That framing does a lot of work later when we hit useEffect.</a:t>
            </a:r>
            <a:endParaRPr/>
          </a:p>
        </p:txBody>
      </p:sp>
      <p:sp>
        <p:nvSpPr>
          <p:cNvPr id="501" name="Google Shape;501;g3dc25bfaf09_0_39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dc25bfaf09_0_39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7" name="Google Shape;507;g3dc25bfaf09_0_39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useState is independent of the others. You can have as many as you need. The one rule is that they have to be called in the same ORDER on every render, which really just means no useState inside if statements or loops. React tracks them by call order, not by name...which is kinda wild the first time you learn it.</a:t>
            </a:r>
            <a:endParaRPr/>
          </a:p>
        </p:txBody>
      </p:sp>
      <p:sp>
        <p:nvSpPr>
          <p:cNvPr id="508" name="Google Shape;508;g3dc25bfaf09_0_39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dc25bfaf09_0_40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6" name="Google Shape;516;g3dc25bfaf09_0_40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Students should pretty much memorize this loop - it's the foundation for every React debugging intuition they'll ever need. When something doesn't update, trace through: which step is broken? Usually it's step 2 (forgot to call the setter in the first place) or step 7 (React saw the same reference and skipped the update). If their coding agent produces 'my state isn't updating' bugs, this is the slide to push them back to.</a:t>
            </a:r>
            <a:endParaRPr/>
          </a:p>
        </p:txBody>
      </p:sp>
      <p:sp>
        <p:nvSpPr>
          <p:cNvPr id="517" name="Google Shape;517;g3dc25bfaf09_0_40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8"/>
          <p:cNvSpPr/>
          <p:nvPr>
            <p:ph idx="2" type="pic"/>
          </p:nvPr>
        </p:nvSpPr>
        <p:spPr>
          <a:xfrm>
            <a:off x="1792288" y="612775"/>
            <a:ext cx="5486400" cy="4114800"/>
          </a:xfrm>
          <a:prstGeom prst="rect">
            <a:avLst/>
          </a:prstGeom>
          <a:noFill/>
          <a:ln>
            <a:noFill/>
          </a:ln>
        </p:spPr>
      </p:sp>
      <p:sp>
        <p:nvSpPr>
          <p:cNvPr id="64" name="Google Shape;64;p3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
          <p:cNvSpPr/>
          <p:nvPr/>
        </p:nvSpPr>
        <p:spPr>
          <a:xfrm>
            <a:off x="0" y="0"/>
            <a:ext cx="12191695" cy="137160"/>
          </a:xfrm>
          <a:prstGeom prst="rect">
            <a:avLst/>
          </a:prstGeom>
          <a:solidFill>
            <a:srgbClr val="5B21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txBox="1"/>
          <p:nvPr/>
        </p:nvSpPr>
        <p:spPr>
          <a:xfrm>
            <a:off x="914400" y="1645920"/>
            <a:ext cx="10362895"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5B21B6"/>
                </a:solidFill>
                <a:latin typeface="Calibri"/>
                <a:ea typeface="Calibri"/>
                <a:cs typeface="Calibri"/>
                <a:sym typeface="Calibri"/>
              </a:rPr>
              <a:t>Lecture 6.1</a:t>
            </a:r>
            <a:endParaRPr/>
          </a:p>
        </p:txBody>
      </p:sp>
      <p:sp>
        <p:nvSpPr>
          <p:cNvPr id="87" name="Google Shape;87;p1"/>
          <p:cNvSpPr txBox="1"/>
          <p:nvPr/>
        </p:nvSpPr>
        <p:spPr>
          <a:xfrm>
            <a:off x="914400" y="2468880"/>
            <a:ext cx="10362895" cy="182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800" u="none" cap="none" strike="noStrike">
                <a:solidFill>
                  <a:srgbClr val="1A1A2E"/>
                </a:solidFill>
                <a:latin typeface="Calibri"/>
                <a:ea typeface="Calibri"/>
                <a:cs typeface="Calibri"/>
                <a:sym typeface="Calibri"/>
              </a:rPr>
              <a:t>React: UI as a Function of Data</a:t>
            </a:r>
            <a:endParaRPr/>
          </a:p>
        </p:txBody>
      </p:sp>
      <p:sp>
        <p:nvSpPr>
          <p:cNvPr id="88" name="Google Shape;88;p1"/>
          <p:cNvSpPr txBox="1"/>
          <p:nvPr/>
        </p:nvSpPr>
        <p:spPr>
          <a:xfrm>
            <a:off x="914400" y="4754880"/>
            <a:ext cx="1036289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666677"/>
                </a:solidFill>
                <a:latin typeface="Calibri"/>
                <a:ea typeface="Calibri"/>
                <a:cs typeface="Calibri"/>
                <a:sym typeface="Calibri"/>
              </a:rPr>
              <a:t>Andy Aymeloglu - UATX Software Engineering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93" name="Shape 93"/>
        <p:cNvGrpSpPr/>
        <p:nvPr/>
      </p:nvGrpSpPr>
      <p:grpSpPr>
        <a:xfrm>
          <a:off x="0" y="0"/>
          <a:ext cx="0" cy="0"/>
          <a:chOff x="0" y="0"/>
          <a:chExt cx="0" cy="0"/>
        </a:xfrm>
      </p:grpSpPr>
      <p:sp>
        <p:nvSpPr>
          <p:cNvPr id="94" name="Google Shape;94;p2"/>
          <p:cNvSpPr txBox="1"/>
          <p:nvPr/>
        </p:nvSpPr>
        <p:spPr>
          <a:xfrm>
            <a:off x="914400" y="2286000"/>
            <a:ext cx="10362895" cy="2286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rgbClr val="5B21B6"/>
                </a:solidFill>
                <a:latin typeface="Calibri"/>
                <a:ea typeface="Calibri"/>
                <a:cs typeface="Calibri"/>
                <a:sym typeface="Calibri"/>
              </a:rPr>
              <a:t>The Re-Render Question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 name="Shape 99"/>
        <p:cNvGrpSpPr/>
        <p:nvPr/>
      </p:nvGrpSpPr>
      <p:grpSpPr>
        <a:xfrm>
          <a:off x="0" y="0"/>
          <a:ext cx="0" cy="0"/>
          <a:chOff x="0" y="0"/>
          <a:chExt cx="0" cy="0"/>
        </a:xfrm>
      </p:grpSpPr>
      <p:sp>
        <p:nvSpPr>
          <p:cNvPr id="100" name="Google Shape;100;g3dc25bfaf09_0_85"/>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1A1A2E"/>
                </a:solidFill>
                <a:latin typeface="Calibri"/>
                <a:ea typeface="Calibri"/>
                <a:cs typeface="Calibri"/>
                <a:sym typeface="Calibri"/>
              </a:rPr>
              <a:t>Recapping where we left off</a:t>
            </a:r>
            <a:endParaRPr/>
          </a:p>
        </p:txBody>
      </p:sp>
      <p:sp>
        <p:nvSpPr>
          <p:cNvPr id="101" name="Google Shape;101;g3dc25bfaf09_0_85"/>
          <p:cNvSpPr txBox="1"/>
          <p:nvPr/>
        </p:nvSpPr>
        <p:spPr>
          <a:xfrm>
            <a:off x="914400" y="1463040"/>
            <a:ext cx="10362900" cy="2355000"/>
          </a:xfrm>
          <a:prstGeom prst="rect">
            <a:avLst/>
          </a:prstGeom>
          <a:noFill/>
          <a:ln>
            <a:noFill/>
          </a:ln>
        </p:spPr>
        <p:txBody>
          <a:bodyPr anchorCtr="0" anchor="t" bIns="45700" lIns="91425" spcFirstLastPara="1" rIns="91425" wrap="square" tIns="45700">
            <a:spAutoFit/>
          </a:bodyPr>
          <a:lstStyle/>
          <a:p>
            <a:pPr indent="0" lvl="0" marL="0" rtl="0" algn="l">
              <a:spcBef>
                <a:spcPts val="600"/>
              </a:spcBef>
              <a:spcAft>
                <a:spcPts val="0"/>
              </a:spcAft>
              <a:buNone/>
            </a:pPr>
            <a:r>
              <a:rPr lang="en-US" sz="2400">
                <a:solidFill>
                  <a:srgbClr val="333344"/>
                </a:solidFill>
                <a:latin typeface="Calibri"/>
                <a:ea typeface="Calibri"/>
                <a:cs typeface="Calibri"/>
                <a:sym typeface="Calibri"/>
              </a:rPr>
              <a:t>Last week's tools - `querySelector`, `addEventListener`, `fetch`,</a:t>
            </a:r>
            <a:endParaRPr>
              <a:solidFill>
                <a:schemeClr val="dk1"/>
              </a:solidFill>
            </a:endParaRPr>
          </a:p>
          <a:p>
            <a:pPr indent="0" lvl="1" marL="457200" rtl="0" algn="l">
              <a:spcBef>
                <a:spcPts val="600"/>
              </a:spcBef>
              <a:spcAft>
                <a:spcPts val="0"/>
              </a:spcAft>
              <a:buNone/>
            </a:pPr>
            <a:r>
              <a:rPr lang="en-US" sz="2000">
                <a:solidFill>
                  <a:srgbClr val="666677"/>
                </a:solidFill>
                <a:latin typeface="Calibri"/>
                <a:ea typeface="Calibri"/>
                <a:cs typeface="Calibri"/>
                <a:sym typeface="Calibri"/>
              </a:rPr>
              <a:t>  `createElement` - were enough to build any UI you can think of.</a:t>
            </a:r>
            <a:endParaRPr>
              <a:solidFill>
                <a:schemeClr val="dk1"/>
              </a:solidFill>
            </a:endParaRPr>
          </a:p>
          <a:p>
            <a:pPr indent="0" lvl="0" marL="0" rtl="0" algn="l">
              <a:spcBef>
                <a:spcPts val="600"/>
              </a:spcBef>
              <a:spcAft>
                <a:spcPts val="0"/>
              </a:spcAft>
              <a:buNone/>
            </a:pPr>
            <a:r>
              <a:t/>
            </a:r>
            <a:endParaRPr sz="2000">
              <a:solidFill>
                <a:srgbClr val="666677"/>
              </a:solidFill>
              <a:latin typeface="Calibri"/>
              <a:ea typeface="Calibri"/>
              <a:cs typeface="Calibri"/>
              <a:sym typeface="Calibri"/>
            </a:endParaRPr>
          </a:p>
          <a:p>
            <a:pPr indent="0" lvl="0" marL="0" rtl="0" algn="l">
              <a:spcBef>
                <a:spcPts val="600"/>
              </a:spcBef>
              <a:spcAft>
                <a:spcPts val="0"/>
              </a:spcAft>
              <a:buNone/>
            </a:pPr>
            <a:r>
              <a:rPr lang="en-US" sz="2400">
                <a:solidFill>
                  <a:srgbClr val="333344"/>
                </a:solidFill>
                <a:latin typeface="Calibri"/>
                <a:ea typeface="Calibri"/>
                <a:cs typeface="Calibri"/>
                <a:sym typeface="Calibri"/>
              </a:rPr>
              <a:t>In the same way a for-loop is enough to build any sorting algorithm.</a:t>
            </a:r>
            <a:endParaRPr>
              <a:solidFill>
                <a:schemeClr val="dk1"/>
              </a:solidFill>
            </a:endParaRPr>
          </a:p>
          <a:p>
            <a:pPr indent="0" lvl="1" marL="457200" rtl="0" algn="l">
              <a:spcBef>
                <a:spcPts val="600"/>
              </a:spcBef>
              <a:spcAft>
                <a:spcPts val="0"/>
              </a:spcAft>
              <a:buNone/>
            </a:pPr>
            <a:r>
              <a:rPr lang="en-US" sz="2000">
                <a:solidFill>
                  <a:srgbClr val="666677"/>
                </a:solidFill>
                <a:latin typeface="Calibri"/>
                <a:ea typeface="Calibri"/>
                <a:cs typeface="Calibri"/>
                <a:sym typeface="Calibri"/>
              </a:rPr>
              <a:t>  True, and also: you'd rather not.</a:t>
            </a:r>
            <a:endParaRPr sz="2400">
              <a:solidFill>
                <a:srgbClr val="333344"/>
              </a:solidFill>
              <a:latin typeface="Calibri"/>
              <a:ea typeface="Calibri"/>
              <a:cs typeface="Calibri"/>
              <a:sym typeface="Calibri"/>
            </a:endParaRPr>
          </a:p>
          <a:p>
            <a:pPr indent="0" lvl="1" marL="457200" marR="0" rtl="0" algn="l">
              <a:spcBef>
                <a:spcPts val="6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 name="Shape 106"/>
        <p:cNvGrpSpPr/>
        <p:nvPr/>
      </p:nvGrpSpPr>
      <p:grpSpPr>
        <a:xfrm>
          <a:off x="0" y="0"/>
          <a:ext cx="0" cy="0"/>
          <a:chOff x="0" y="0"/>
          <a:chExt cx="0" cy="0"/>
        </a:xfrm>
      </p:grpSpPr>
      <p:sp>
        <p:nvSpPr>
          <p:cNvPr id="107" name="Google Shape;107;p3"/>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1A1A2E"/>
                </a:solidFill>
                <a:latin typeface="Calibri"/>
                <a:ea typeface="Calibri"/>
                <a:cs typeface="Calibri"/>
                <a:sym typeface="Calibri"/>
              </a:rPr>
              <a:t>Recapping where we left off</a:t>
            </a:r>
            <a:endParaRPr/>
          </a:p>
        </p:txBody>
      </p:sp>
      <p:sp>
        <p:nvSpPr>
          <p:cNvPr id="108" name="Google Shape;108;p3"/>
          <p:cNvSpPr txBox="1"/>
          <p:nvPr/>
        </p:nvSpPr>
        <p:spPr>
          <a:xfrm>
            <a:off x="914400" y="1463040"/>
            <a:ext cx="10362900" cy="5202600"/>
          </a:xfrm>
          <a:prstGeom prst="rect">
            <a:avLst/>
          </a:prstGeom>
          <a:noFill/>
          <a:ln>
            <a:noFill/>
          </a:ln>
        </p:spPr>
        <p:txBody>
          <a:bodyPr anchorCtr="0" anchor="t" bIns="45700" lIns="91425" spcFirstLastPara="1" rIns="91425" wrap="square" tIns="45700">
            <a:spAutoFit/>
          </a:bodyPr>
          <a:lstStyle/>
          <a:p>
            <a:pPr indent="0" lvl="0" marL="0" rtl="0" algn="l">
              <a:spcBef>
                <a:spcPts val="600"/>
              </a:spcBef>
              <a:spcAft>
                <a:spcPts val="0"/>
              </a:spcAft>
              <a:buClr>
                <a:schemeClr val="dk1"/>
              </a:buClr>
              <a:buFont typeface="Arial"/>
              <a:buNone/>
            </a:pPr>
            <a:r>
              <a:rPr lang="en-US" sz="2400">
                <a:solidFill>
                  <a:srgbClr val="333344"/>
                </a:solidFill>
                <a:latin typeface="Calibri"/>
                <a:ea typeface="Calibri"/>
                <a:cs typeface="Calibri"/>
                <a:sym typeface="Calibri"/>
              </a:rPr>
              <a:t>Last week's tools - `querySelector`, `addEventListener`, `fetch`,</a:t>
            </a:r>
            <a:endParaRPr>
              <a:solidFill>
                <a:schemeClr val="dk1"/>
              </a:solidFill>
            </a:endParaRPr>
          </a:p>
          <a:p>
            <a:pPr indent="0" lvl="1" marL="457200" rtl="0" algn="l">
              <a:spcBef>
                <a:spcPts val="600"/>
              </a:spcBef>
              <a:spcAft>
                <a:spcPts val="0"/>
              </a:spcAft>
              <a:buClr>
                <a:schemeClr val="dk1"/>
              </a:buClr>
              <a:buFont typeface="Arial"/>
              <a:buNone/>
            </a:pPr>
            <a:r>
              <a:rPr lang="en-US" sz="2000">
                <a:solidFill>
                  <a:srgbClr val="666677"/>
                </a:solidFill>
                <a:latin typeface="Calibri"/>
                <a:ea typeface="Calibri"/>
                <a:cs typeface="Calibri"/>
                <a:sym typeface="Calibri"/>
              </a:rPr>
              <a:t>  `createElement` - were enough to build any UI you can think of.</a:t>
            </a:r>
            <a:endParaRPr>
              <a:solidFill>
                <a:schemeClr val="dk1"/>
              </a:solidFill>
            </a:endParaRPr>
          </a:p>
          <a:p>
            <a:pPr indent="0" lvl="0" marL="0" rtl="0" algn="l">
              <a:spcBef>
                <a:spcPts val="600"/>
              </a:spcBef>
              <a:spcAft>
                <a:spcPts val="0"/>
              </a:spcAft>
              <a:buClr>
                <a:schemeClr val="dk1"/>
              </a:buClr>
              <a:buFont typeface="Arial"/>
              <a:buNone/>
            </a:pPr>
            <a:r>
              <a:t/>
            </a:r>
            <a:endParaRPr sz="2000">
              <a:solidFill>
                <a:srgbClr val="666677"/>
              </a:solidFill>
              <a:latin typeface="Calibri"/>
              <a:ea typeface="Calibri"/>
              <a:cs typeface="Calibri"/>
              <a:sym typeface="Calibri"/>
            </a:endParaRPr>
          </a:p>
          <a:p>
            <a:pPr indent="0" lvl="0" marL="0" rtl="0" algn="l">
              <a:spcBef>
                <a:spcPts val="600"/>
              </a:spcBef>
              <a:spcAft>
                <a:spcPts val="0"/>
              </a:spcAft>
              <a:buClr>
                <a:schemeClr val="dk1"/>
              </a:buClr>
              <a:buFont typeface="Arial"/>
              <a:buNone/>
            </a:pPr>
            <a:r>
              <a:rPr lang="en-US" sz="2400">
                <a:solidFill>
                  <a:srgbClr val="333344"/>
                </a:solidFill>
                <a:latin typeface="Calibri"/>
                <a:ea typeface="Calibri"/>
                <a:cs typeface="Calibri"/>
                <a:sym typeface="Calibri"/>
              </a:rPr>
              <a:t>In the same way a for-loop is enough to build any sorting algorithm.</a:t>
            </a:r>
            <a:endParaRPr>
              <a:solidFill>
                <a:schemeClr val="dk1"/>
              </a:solidFill>
            </a:endParaRPr>
          </a:p>
          <a:p>
            <a:pPr indent="0" lvl="1" marL="457200" rtl="0" algn="l">
              <a:spcBef>
                <a:spcPts val="600"/>
              </a:spcBef>
              <a:spcAft>
                <a:spcPts val="0"/>
              </a:spcAft>
              <a:buClr>
                <a:schemeClr val="dk1"/>
              </a:buClr>
              <a:buFont typeface="Arial"/>
              <a:buNone/>
            </a:pPr>
            <a:r>
              <a:rPr lang="en-US" sz="2000">
                <a:solidFill>
                  <a:srgbClr val="666677"/>
                </a:solidFill>
                <a:latin typeface="Calibri"/>
                <a:ea typeface="Calibri"/>
                <a:cs typeface="Calibri"/>
                <a:sym typeface="Calibri"/>
              </a:rPr>
              <a:t>  True, and also: you'd rather not.</a:t>
            </a:r>
            <a:endParaRPr sz="2400">
              <a:solidFill>
                <a:srgbClr val="333344"/>
              </a:solidFill>
              <a:latin typeface="Calibri"/>
              <a:ea typeface="Calibri"/>
              <a:cs typeface="Calibri"/>
              <a:sym typeface="Calibri"/>
            </a:endParaRPr>
          </a:p>
          <a:p>
            <a:pPr indent="0" lvl="0" marL="0" marR="0" rtl="0" algn="l">
              <a:spcBef>
                <a:spcPts val="0"/>
              </a:spcBef>
              <a:spcAft>
                <a:spcPts val="0"/>
              </a:spcAft>
              <a:buNone/>
            </a:pPr>
            <a:r>
              <a:t/>
            </a:r>
            <a:endParaRPr sz="2400">
              <a:solidFill>
                <a:srgbClr val="333344"/>
              </a:solidFill>
              <a:latin typeface="Calibri"/>
              <a:ea typeface="Calibri"/>
              <a:cs typeface="Calibri"/>
              <a:sym typeface="Calibri"/>
            </a:endParaRPr>
          </a:p>
          <a:p>
            <a:pPr indent="0" lvl="0" marL="0" marR="0" rtl="0" algn="l">
              <a:spcBef>
                <a:spcPts val="0"/>
              </a:spcBef>
              <a:spcAft>
                <a:spcPts val="0"/>
              </a:spcAft>
              <a:buNone/>
            </a:pPr>
            <a:r>
              <a:rPr lang="en-US" sz="2400">
                <a:solidFill>
                  <a:srgbClr val="333344"/>
                </a:solidFill>
                <a:latin typeface="Calibri"/>
                <a:ea typeface="Calibri"/>
                <a:cs typeface="Calibri"/>
                <a:sym typeface="Calibri"/>
              </a:rPr>
              <a:t>Last week</a:t>
            </a:r>
            <a:r>
              <a:rPr b="0" i="0" lang="en-US" sz="2400" u="none" cap="none" strike="noStrike">
                <a:solidFill>
                  <a:srgbClr val="333344"/>
                </a:solidFill>
                <a:latin typeface="Calibri"/>
                <a:ea typeface="Calibri"/>
                <a:cs typeface="Calibri"/>
                <a:sym typeface="Calibri"/>
              </a:rPr>
              <a:t> ended with this line:</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W</a:t>
            </a:r>
            <a:r>
              <a:rPr b="0" i="0" lang="en-US" sz="2000" u="none" cap="none" strike="noStrike">
                <a:solidFill>
                  <a:srgbClr val="666677"/>
                </a:solidFill>
                <a:latin typeface="Calibri"/>
                <a:ea typeface="Calibri"/>
                <a:cs typeface="Calibri"/>
                <a:sym typeface="Calibri"/>
              </a:rPr>
              <a:t>hat do I re-render after this promise resolves?"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Today we see why the question is hard, and what React's answer is.</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g3dc25bfaf09_0_487"/>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1A1A2E"/>
                </a:solidFill>
                <a:latin typeface="Calibri"/>
                <a:ea typeface="Calibri"/>
                <a:cs typeface="Calibri"/>
                <a:sym typeface="Calibri"/>
              </a:rPr>
              <a:t>Refresh all the state!</a:t>
            </a:r>
            <a:endParaRPr/>
          </a:p>
        </p:txBody>
      </p:sp>
      <p:sp>
        <p:nvSpPr>
          <p:cNvPr id="115" name="Google Shape;115;g3dc25bfaf09_0_487"/>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116" name="Google Shape;116;g3dc25bfaf09_0_487"/>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 name="Google Shape;117;g3dc25bfaf09_0_487"/>
          <p:cNvSpPr txBox="1"/>
          <p:nvPr/>
        </p:nvSpPr>
        <p:spPr>
          <a:xfrm>
            <a:off x="1005840" y="1645920"/>
            <a:ext cx="10179900" cy="4499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333344"/>
                </a:solidFill>
                <a:latin typeface="Courier New"/>
                <a:ea typeface="Courier New"/>
                <a:cs typeface="Courier New"/>
                <a:sym typeface="Courier New"/>
              </a:rPr>
              <a:t>// Cancel the in-flight fetch when a newer one starts.</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The cancelled fetch's promise rejects with an AbortError.</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let controller: AbortController | null = null;</a:t>
            </a:r>
            <a:endParaRPr/>
          </a:p>
          <a:p>
            <a:pPr indent="0" lvl="0" marL="0" marR="0" rtl="0" algn="l">
              <a:spcBef>
                <a:spcPts val="200"/>
              </a:spcBef>
              <a:spcAft>
                <a:spcPts val="0"/>
              </a:spcAft>
              <a:buNone/>
            </a:pPr>
            <a:r>
              <a:t/>
            </a:r>
            <a:endParaRPr b="1" i="0" sz="14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async function loadFiltered(filter: string): Promise&lt;void&gt;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controller?.abort();              // cancel previous, if any</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controller = new AbortController();</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try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const response = await fetch(</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`/api/messages?filter=${filter}`,</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 signal: controller.signal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a:t>
            </a:r>
            <a:r>
              <a:rPr b="1" lang="en-US" sz="2000">
                <a:solidFill>
                  <a:srgbClr val="333344"/>
                </a:solidFill>
                <a:latin typeface="Courier New"/>
                <a:ea typeface="Courier New"/>
                <a:cs typeface="Courier New"/>
                <a:sym typeface="Courier New"/>
              </a:rPr>
              <a:t>await response.json(), document…</a:t>
            </a:r>
            <a:r>
              <a:rPr b="1" lang="en-US" sz="2000">
                <a:solidFill>
                  <a:srgbClr val="333344"/>
                </a:solidFill>
                <a:latin typeface="Courier New"/>
                <a:ea typeface="Courier New"/>
                <a:cs typeface="Courier New"/>
                <a:sym typeface="Courier New"/>
              </a:rPr>
              <a:t>(20 lines of code)</a:t>
            </a:r>
            <a:endParaRPr sz="2000"/>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 catch (err: any)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if (err.name === "AbortError") return;   // expected, ignore</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console.error("fetch failed:", err);</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 name="Shape 122"/>
        <p:cNvGrpSpPr/>
        <p:nvPr/>
      </p:nvGrpSpPr>
      <p:grpSpPr>
        <a:xfrm>
          <a:off x="0" y="0"/>
          <a:ext cx="0" cy="0"/>
          <a:chOff x="0" y="0"/>
          <a:chExt cx="0" cy="0"/>
        </a:xfrm>
      </p:grpSpPr>
      <p:sp>
        <p:nvSpPr>
          <p:cNvPr id="123" name="Google Shape;123;g3dc25bfaf09_0_0"/>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1A1A2E"/>
                </a:solidFill>
                <a:latin typeface="Calibri"/>
                <a:ea typeface="Calibri"/>
                <a:cs typeface="Calibri"/>
                <a:sym typeface="Calibri"/>
              </a:rPr>
              <a:t>Refresh all the state!</a:t>
            </a:r>
            <a:endParaRPr/>
          </a:p>
        </p:txBody>
      </p:sp>
      <p:sp>
        <p:nvSpPr>
          <p:cNvPr id="124" name="Google Shape;124;g3dc25bfaf09_0_0"/>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125" name="Google Shape;125;g3dc25bfaf09_0_0"/>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6" name="Google Shape;126;g3dc25bfaf09_0_0"/>
          <p:cNvSpPr txBox="1"/>
          <p:nvPr/>
        </p:nvSpPr>
        <p:spPr>
          <a:xfrm>
            <a:off x="1005840" y="1645920"/>
            <a:ext cx="10179900" cy="4499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333344"/>
                </a:solidFill>
                <a:latin typeface="Courier New"/>
                <a:ea typeface="Courier New"/>
                <a:cs typeface="Courier New"/>
                <a:sym typeface="Courier New"/>
              </a:rPr>
              <a:t>// Cancel the in-flight fetch when a newer one starts.</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The cancelled fetch's promise rejects with an AbortError.</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let controller: AbortController | null = null;</a:t>
            </a:r>
            <a:endParaRPr/>
          </a:p>
          <a:p>
            <a:pPr indent="0" lvl="0" marL="0" marR="0" rtl="0" algn="l">
              <a:spcBef>
                <a:spcPts val="200"/>
              </a:spcBef>
              <a:spcAft>
                <a:spcPts val="0"/>
              </a:spcAft>
              <a:buNone/>
            </a:pPr>
            <a:r>
              <a:t/>
            </a:r>
            <a:endParaRPr b="1" i="0" sz="14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async function loadFiltered(filter: string): Promise&lt;void&gt;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controller?.abort();              // cancel previous, if any</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controller = new AbortController();</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try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const response = await fetch(</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`/api/messages?filter=${filter}`,</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 signal: controller.signal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a:t>
            </a:r>
            <a:r>
              <a:rPr b="1" i="0" lang="en-US" sz="1400" u="none" cap="none" strike="noStrike">
                <a:solidFill>
                  <a:srgbClr val="333344"/>
                </a:solidFill>
                <a:latin typeface="Courier New"/>
                <a:ea typeface="Courier New"/>
                <a:cs typeface="Courier New"/>
                <a:sym typeface="Courier New"/>
              </a:rPr>
              <a:t> </a:t>
            </a:r>
            <a:r>
              <a:rPr b="1" lang="en-US" sz="2000">
                <a:solidFill>
                  <a:srgbClr val="333344"/>
                </a:solidFill>
                <a:latin typeface="Courier New"/>
                <a:ea typeface="Courier New"/>
                <a:cs typeface="Courier New"/>
                <a:sym typeface="Courier New"/>
              </a:rPr>
              <a:t>refresh</a:t>
            </a:r>
            <a:r>
              <a:rPr b="1" i="0" lang="en-US" sz="2000" u="none" cap="none" strike="noStrike">
                <a:solidFill>
                  <a:srgbClr val="333344"/>
                </a:solidFill>
                <a:latin typeface="Courier New"/>
                <a:ea typeface="Courier New"/>
                <a:cs typeface="Courier New"/>
                <a:sym typeface="Courier New"/>
              </a:rPr>
              <a:t>();</a:t>
            </a:r>
            <a:endParaRPr sz="2000"/>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 catch (err: any)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if (err.name === "AbortError") return;   // expected, ignore</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console.error("fetch failed:", err);</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 name="Shape 131"/>
        <p:cNvGrpSpPr/>
        <p:nvPr/>
      </p:nvGrpSpPr>
      <p:grpSpPr>
        <a:xfrm>
          <a:off x="0" y="0"/>
          <a:ext cx="0" cy="0"/>
          <a:chOff x="0" y="0"/>
          <a:chExt cx="0" cy="0"/>
        </a:xfrm>
      </p:grpSpPr>
      <p:sp>
        <p:nvSpPr>
          <p:cNvPr id="132" name="Google Shape;132;p4"/>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Vanilla-JS after a fetch</a:t>
            </a:r>
            <a:endParaRPr/>
          </a:p>
        </p:txBody>
      </p:sp>
      <p:sp>
        <p:nvSpPr>
          <p:cNvPr id="133" name="Google Shape;133;p4"/>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134" name="Google Shape;134;p4"/>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5" name="Google Shape;135;p4"/>
          <p:cNvSpPr txBox="1"/>
          <p:nvPr/>
        </p:nvSpPr>
        <p:spPr>
          <a:xfrm>
            <a:off x="1005840" y="1645920"/>
            <a:ext cx="10180015"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333344"/>
                </a:solidFill>
                <a:latin typeface="Courier New"/>
                <a:ea typeface="Courier New"/>
                <a:cs typeface="Courier New"/>
                <a:sym typeface="Courier New"/>
              </a:rPr>
              <a:t>// After fetching new todos, update every piece of the page BY HAND.</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async function refresh() {</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const todos = await loadTodos();</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 1. clear and rebuild the list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const list = document.querySelector("#todo-list")!;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list.replaceChildren();</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todos.forEach((t) =&gt; {</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const li = document.createElement("li");</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li.textContent = t.title;</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if (t.done) li.classList.add("done");</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list.append(li);</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 2. update the counter</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const counter = document.querySelector("#counter")!;</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counter.textContent = `${todos.filter(t =&gt; !t.done).length} left`;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 3. show or hide the "empty" message</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const empty = document.querySelector("#empty")! as HTMLElement;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empty.style.display = todos.length === 0 ? "block" : "none";</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140" name="Shape 140"/>
        <p:cNvGrpSpPr/>
        <p:nvPr/>
      </p:nvGrpSpPr>
      <p:grpSpPr>
        <a:xfrm>
          <a:off x="0" y="0"/>
          <a:ext cx="0" cy="0"/>
          <a:chOff x="0" y="0"/>
          <a:chExt cx="0" cy="0"/>
        </a:xfrm>
      </p:grpSpPr>
      <p:sp>
        <p:nvSpPr>
          <p:cNvPr id="141" name="Google Shape;141;p5"/>
          <p:cNvSpPr txBox="1"/>
          <p:nvPr/>
        </p:nvSpPr>
        <p:spPr>
          <a:xfrm>
            <a:off x="5303520" y="457200"/>
            <a:ext cx="1584655" cy="1371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7200" u="none" cap="none" strike="noStrike">
                <a:solidFill>
                  <a:srgbClr val="5B21B6"/>
                </a:solidFill>
                <a:latin typeface="Calibri"/>
                <a:ea typeface="Calibri"/>
                <a:cs typeface="Calibri"/>
                <a:sym typeface="Calibri"/>
              </a:rPr>
              <a:t>?</a:t>
            </a:r>
            <a:endParaRPr/>
          </a:p>
        </p:txBody>
      </p:sp>
      <p:sp>
        <p:nvSpPr>
          <p:cNvPr id="142" name="Google Shape;142;p5"/>
          <p:cNvSpPr txBox="1"/>
          <p:nvPr/>
        </p:nvSpPr>
        <p:spPr>
          <a:xfrm>
            <a:off x="1371600" y="2011680"/>
            <a:ext cx="9448495" cy="2286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400" u="none" cap="none" strike="noStrike">
                <a:solidFill>
                  <a:srgbClr val="1A1A2E"/>
                </a:solidFill>
                <a:latin typeface="Calibri"/>
                <a:ea typeface="Calibri"/>
                <a:cs typeface="Calibri"/>
                <a:sym typeface="Calibri"/>
              </a:rPr>
              <a:t>How would you redesign this?</a:t>
            </a:r>
            <a:endParaRPr/>
          </a:p>
        </p:txBody>
      </p:sp>
      <p:sp>
        <p:nvSpPr>
          <p:cNvPr id="143" name="Google Shape;143;p5"/>
          <p:cNvSpPr txBox="1"/>
          <p:nvPr/>
        </p:nvSpPr>
        <p:spPr>
          <a:xfrm>
            <a:off x="840375" y="4572000"/>
            <a:ext cx="10564800" cy="178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200" u="none" cap="none" strike="noStrike">
                <a:solidFill>
                  <a:srgbClr val="666677"/>
                </a:solidFill>
                <a:latin typeface="Calibri"/>
                <a:ea typeface="Calibri"/>
                <a:cs typeface="Calibri"/>
                <a:sym typeface="Calibri"/>
              </a:rPr>
              <a:t>The pain</a:t>
            </a:r>
            <a:r>
              <a:rPr lang="en-US" sz="2200">
                <a:solidFill>
                  <a:srgbClr val="666677"/>
                </a:solidFill>
                <a:latin typeface="Calibri"/>
                <a:ea typeface="Calibri"/>
                <a:cs typeface="Calibri"/>
                <a:sym typeface="Calibri"/>
              </a:rPr>
              <a:t>: </a:t>
            </a:r>
            <a:r>
              <a:rPr b="0" i="0" lang="en-US" sz="2200" u="none" cap="none" strike="noStrike">
                <a:solidFill>
                  <a:srgbClr val="666677"/>
                </a:solidFill>
                <a:latin typeface="Calibri"/>
                <a:ea typeface="Calibri"/>
                <a:cs typeface="Calibri"/>
                <a:sym typeface="Calibri"/>
              </a:rPr>
              <a:t>every state change means </a:t>
            </a:r>
            <a:r>
              <a:rPr lang="en-US" sz="2200">
                <a:solidFill>
                  <a:srgbClr val="666677"/>
                </a:solidFill>
                <a:latin typeface="Calibri"/>
                <a:ea typeface="Calibri"/>
                <a:cs typeface="Calibri"/>
                <a:sym typeface="Calibri"/>
              </a:rPr>
              <a:t>touching</a:t>
            </a:r>
            <a:r>
              <a:rPr b="0" i="0" lang="en-US" sz="2200" u="none" cap="none" strike="noStrike">
                <a:solidFill>
                  <a:srgbClr val="666677"/>
                </a:solidFill>
                <a:latin typeface="Calibri"/>
                <a:ea typeface="Calibri"/>
                <a:cs typeface="Calibri"/>
                <a:sym typeface="Calibri"/>
              </a:rPr>
              <a:t> every affected piece of the page by hand. </a:t>
            </a:r>
            <a:endParaRPr b="0" i="0" sz="2200" u="none" cap="none" strike="noStrike">
              <a:solidFill>
                <a:srgbClr val="666677"/>
              </a:solidFill>
              <a:latin typeface="Calibri"/>
              <a:ea typeface="Calibri"/>
              <a:cs typeface="Calibri"/>
              <a:sym typeface="Calibri"/>
            </a:endParaRPr>
          </a:p>
          <a:p>
            <a:pPr indent="0" lvl="0" marL="0" marR="0" rtl="0" algn="l">
              <a:spcBef>
                <a:spcPts val="0"/>
              </a:spcBef>
              <a:spcAft>
                <a:spcPts val="0"/>
              </a:spcAft>
              <a:buNone/>
            </a:pPr>
            <a:r>
              <a:t/>
            </a:r>
            <a:endParaRPr sz="2200">
              <a:solidFill>
                <a:srgbClr val="666677"/>
              </a:solidFill>
              <a:latin typeface="Calibri"/>
              <a:ea typeface="Calibri"/>
              <a:cs typeface="Calibri"/>
              <a:sym typeface="Calibri"/>
            </a:endParaRPr>
          </a:p>
          <a:p>
            <a:pPr indent="0" lvl="0" marL="0" marR="0" rtl="0" algn="l">
              <a:spcBef>
                <a:spcPts val="0"/>
              </a:spcBef>
              <a:spcAft>
                <a:spcPts val="0"/>
              </a:spcAft>
              <a:buNone/>
            </a:pPr>
            <a:r>
              <a:rPr b="0" i="0" lang="en-US" sz="2200" u="none" cap="none" strike="noStrike">
                <a:solidFill>
                  <a:srgbClr val="666677"/>
                </a:solidFill>
                <a:latin typeface="Calibri"/>
                <a:ea typeface="Calibri"/>
                <a:cs typeface="Calibri"/>
                <a:sym typeface="Calibri"/>
              </a:rPr>
              <a:t>If you could redesign the API any way you wanted</a:t>
            </a:r>
            <a:r>
              <a:rPr lang="en-US" sz="2200">
                <a:solidFill>
                  <a:srgbClr val="666677"/>
                </a:solidFill>
                <a:latin typeface="Calibri"/>
                <a:ea typeface="Calibri"/>
                <a:cs typeface="Calibri"/>
                <a:sym typeface="Calibri"/>
              </a:rPr>
              <a:t>: </a:t>
            </a:r>
            <a:endParaRPr sz="2200">
              <a:solidFill>
                <a:srgbClr val="666677"/>
              </a:solidFill>
              <a:latin typeface="Calibri"/>
              <a:ea typeface="Calibri"/>
              <a:cs typeface="Calibri"/>
              <a:sym typeface="Calibri"/>
            </a:endParaRPr>
          </a:p>
          <a:p>
            <a:pPr indent="-368300" lvl="0" marL="457200" marR="0" rtl="0" algn="l">
              <a:spcBef>
                <a:spcPts val="0"/>
              </a:spcBef>
              <a:spcAft>
                <a:spcPts val="0"/>
              </a:spcAft>
              <a:buClr>
                <a:srgbClr val="666677"/>
              </a:buClr>
              <a:buSzPts val="2200"/>
              <a:buFont typeface="Calibri"/>
              <a:buChar char="●"/>
            </a:pPr>
            <a:r>
              <a:rPr lang="en-US" sz="2200">
                <a:solidFill>
                  <a:srgbClr val="666677"/>
                </a:solidFill>
                <a:latin typeface="Calibri"/>
                <a:ea typeface="Calibri"/>
                <a:cs typeface="Calibri"/>
                <a:sym typeface="Calibri"/>
              </a:rPr>
              <a:t>W</a:t>
            </a:r>
            <a:r>
              <a:rPr b="0" i="0" lang="en-US" sz="2200" u="none" cap="none" strike="noStrike">
                <a:solidFill>
                  <a:srgbClr val="666677"/>
                </a:solidFill>
                <a:latin typeface="Calibri"/>
                <a:ea typeface="Calibri"/>
                <a:cs typeface="Calibri"/>
                <a:sym typeface="Calibri"/>
              </a:rPr>
              <a:t>hat would the developer write instead?</a:t>
            </a:r>
            <a:endParaRPr sz="2200">
              <a:solidFill>
                <a:srgbClr val="666677"/>
              </a:solidFill>
              <a:latin typeface="Calibri"/>
              <a:ea typeface="Calibri"/>
              <a:cs typeface="Calibri"/>
              <a:sym typeface="Calibri"/>
            </a:endParaRPr>
          </a:p>
          <a:p>
            <a:pPr indent="-368300" lvl="0" marL="457200" marR="0" rtl="0" algn="l">
              <a:spcBef>
                <a:spcPts val="0"/>
              </a:spcBef>
              <a:spcAft>
                <a:spcPts val="0"/>
              </a:spcAft>
              <a:buClr>
                <a:srgbClr val="666677"/>
              </a:buClr>
              <a:buSzPts val="2200"/>
              <a:buFont typeface="Calibri"/>
              <a:buChar char="●"/>
            </a:pPr>
            <a:r>
              <a:rPr b="0" i="0" lang="en-US" sz="2200" u="none" cap="none" strike="noStrike">
                <a:solidFill>
                  <a:srgbClr val="666677"/>
                </a:solidFill>
                <a:latin typeface="Calibri"/>
                <a:ea typeface="Calibri"/>
                <a:cs typeface="Calibri"/>
                <a:sym typeface="Calibri"/>
              </a:rPr>
              <a:t>What does the framework take care of?</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 name="Shape 148"/>
        <p:cNvGrpSpPr/>
        <p:nvPr/>
      </p:nvGrpSpPr>
      <p:grpSpPr>
        <a:xfrm>
          <a:off x="0" y="0"/>
          <a:ext cx="0" cy="0"/>
          <a:chOff x="0" y="0"/>
          <a:chExt cx="0" cy="0"/>
        </a:xfrm>
      </p:grpSpPr>
      <p:sp>
        <p:nvSpPr>
          <p:cNvPr id="149" name="Google Shape;149;p6"/>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You're answering the wrong question</a:t>
            </a:r>
            <a:endParaRPr/>
          </a:p>
        </p:txBody>
      </p:sp>
      <p:sp>
        <p:nvSpPr>
          <p:cNvPr id="150" name="Google Shape;150;p6"/>
          <p:cNvSpPr txBox="1"/>
          <p:nvPr/>
        </p:nvSpPr>
        <p:spPr>
          <a:xfrm>
            <a:off x="914400" y="1280150"/>
            <a:ext cx="10728600" cy="526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Every line of that function is an answer to:</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"What do I need to change in the DOM right now?"</a:t>
            </a:r>
            <a:endParaRPr/>
          </a:p>
          <a:p>
            <a:pPr indent="0" lvl="0" marL="0" marR="0" rtl="0" algn="l">
              <a:spcBef>
                <a:spcPts val="600"/>
              </a:spcBef>
              <a:spcAft>
                <a:spcPts val="0"/>
              </a:spcAft>
              <a:buNone/>
            </a:pPr>
            <a:r>
              <a:t/>
            </a:r>
            <a:endParaRPr b="1"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That question gets harder as the app grows. Every new piece of</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Each p</a:t>
            </a:r>
            <a:r>
              <a:rPr lang="en-US" sz="2000">
                <a:solidFill>
                  <a:srgbClr val="666677"/>
                </a:solidFill>
                <a:latin typeface="Calibri"/>
                <a:ea typeface="Calibri"/>
                <a:cs typeface="Calibri"/>
                <a:sym typeface="Calibri"/>
              </a:rPr>
              <a:t>iece of </a:t>
            </a:r>
            <a:r>
              <a:rPr b="0" i="0" lang="en-US" sz="2000" u="none" cap="none" strike="noStrike">
                <a:solidFill>
                  <a:srgbClr val="666677"/>
                </a:solidFill>
                <a:latin typeface="Calibri"/>
                <a:ea typeface="Calibri"/>
                <a:cs typeface="Calibri"/>
                <a:sym typeface="Calibri"/>
              </a:rPr>
              <a:t>data means </a:t>
            </a:r>
            <a:r>
              <a:rPr lang="en-US" sz="2000">
                <a:solidFill>
                  <a:srgbClr val="666677"/>
                </a:solidFill>
                <a:latin typeface="Calibri"/>
                <a:ea typeface="Calibri"/>
                <a:cs typeface="Calibri"/>
                <a:sym typeface="Calibri"/>
              </a:rPr>
              <a:t>reasoning/fixing</a:t>
            </a:r>
            <a:r>
              <a:rPr b="0" i="0" lang="en-US" sz="2000" u="none" cap="none" strike="noStrike">
                <a:solidFill>
                  <a:srgbClr val="666677"/>
                </a:solidFill>
                <a:latin typeface="Calibri"/>
                <a:ea typeface="Calibri"/>
                <a:cs typeface="Calibri"/>
                <a:sym typeface="Calibri"/>
              </a:rPr>
              <a:t> every affected piece of U</a:t>
            </a:r>
            <a:r>
              <a:rPr lang="en-US" sz="2000">
                <a:solidFill>
                  <a:srgbClr val="666677"/>
                </a:solidFill>
                <a:latin typeface="Calibri"/>
                <a:ea typeface="Calibri"/>
                <a:cs typeface="Calibri"/>
                <a:sym typeface="Calibri"/>
              </a:rPr>
              <a:t>I</a:t>
            </a:r>
            <a:r>
              <a:rPr b="0" i="0" lang="en-US" sz="2000" u="none" cap="none" strike="noStrike">
                <a:solidFill>
                  <a:srgbClr val="666677"/>
                </a:solidFill>
                <a:latin typeface="Calibri"/>
                <a:ea typeface="Calibri"/>
                <a:cs typeface="Calibri"/>
                <a:sym typeface="Calibri"/>
              </a:rPr>
              <a:t>.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lang="en-US" sz="2000">
                <a:solidFill>
                  <a:srgbClr val="666677"/>
                </a:solidFill>
                <a:latin typeface="Calibri"/>
                <a:ea typeface="Calibri"/>
                <a:cs typeface="Calibri"/>
                <a:sym typeface="Calibri"/>
              </a:rPr>
              <a:t>  </a:t>
            </a:r>
            <a:r>
              <a:rPr b="0" i="0" lang="en-US" sz="2000" u="none" cap="none" strike="noStrike">
                <a:solidFill>
                  <a:srgbClr val="666677"/>
                </a:solidFill>
                <a:latin typeface="Calibri"/>
                <a:ea typeface="Calibri"/>
                <a:cs typeface="Calibri"/>
                <a:sym typeface="Calibri"/>
              </a:rPr>
              <a:t>Miss one and the UI silently lies.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React flips the question: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"Given this data, what should the UI look like?"</a:t>
            </a:r>
            <a:endParaRPr/>
          </a:p>
          <a:p>
            <a:pPr indent="0" lvl="0" marL="0" marR="0" rtl="0" algn="l">
              <a:spcBef>
                <a:spcPts val="600"/>
              </a:spcBef>
              <a:spcAft>
                <a:spcPts val="0"/>
              </a:spcAft>
              <a:buNone/>
            </a:pPr>
            <a:r>
              <a:t/>
            </a:r>
            <a:endParaRPr b="1"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You answer that once, as a function. React calls your function,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Re</a:t>
            </a:r>
            <a:r>
              <a:rPr lang="en-US" sz="2000">
                <a:solidFill>
                  <a:srgbClr val="666677"/>
                </a:solidFill>
                <a:latin typeface="Calibri"/>
                <a:ea typeface="Calibri"/>
                <a:cs typeface="Calibri"/>
                <a:sym typeface="Calibri"/>
              </a:rPr>
              <a:t>act calls your function, </a:t>
            </a:r>
            <a:r>
              <a:rPr b="0" i="0" lang="en-US" sz="2000" u="none" cap="none" strike="noStrike">
                <a:solidFill>
                  <a:srgbClr val="666677"/>
                </a:solidFill>
                <a:latin typeface="Calibri"/>
                <a:ea typeface="Calibri"/>
                <a:cs typeface="Calibri"/>
                <a:sym typeface="Calibri"/>
              </a:rPr>
              <a:t>compares result to what's already on page, and updates what changed</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You stop touching the DOM entirely and the</a:t>
            </a:r>
            <a:r>
              <a:rPr lang="en-US"/>
              <a:t> </a:t>
            </a:r>
            <a:r>
              <a:rPr b="0" i="0" lang="en-US" sz="2000" u="none" cap="none" strike="noStrike">
                <a:solidFill>
                  <a:srgbClr val="666677"/>
                </a:solidFill>
                <a:latin typeface="Calibri"/>
                <a:ea typeface="Calibri"/>
                <a:cs typeface="Calibri"/>
                <a:sym typeface="Calibri"/>
              </a:rPr>
              <a:t>framework handles the diff for you.</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155" name="Shape 155"/>
        <p:cNvGrpSpPr/>
        <p:nvPr/>
      </p:nvGrpSpPr>
      <p:grpSpPr>
        <a:xfrm>
          <a:off x="0" y="0"/>
          <a:ext cx="0" cy="0"/>
          <a:chOff x="0" y="0"/>
          <a:chExt cx="0" cy="0"/>
        </a:xfrm>
      </p:grpSpPr>
      <p:sp>
        <p:nvSpPr>
          <p:cNvPr id="156" name="Google Shape;156;p7"/>
          <p:cNvSpPr txBox="1"/>
          <p:nvPr/>
        </p:nvSpPr>
        <p:spPr>
          <a:xfrm>
            <a:off x="914400" y="2286000"/>
            <a:ext cx="10362895" cy="2286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rgbClr val="5B21B6"/>
                </a:solidFill>
                <a:latin typeface="Calibri"/>
                <a:ea typeface="Calibri"/>
                <a:cs typeface="Calibri"/>
                <a:sym typeface="Calibri"/>
              </a:rPr>
              <a:t>Components: Functions from Data to UI</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sp>
        <p:nvSpPr>
          <p:cNvPr id="162" name="Google Shape;162;p8"/>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A component is a function</a:t>
            </a:r>
            <a:endParaRPr/>
          </a:p>
        </p:txBody>
      </p:sp>
      <p:sp>
        <p:nvSpPr>
          <p:cNvPr id="163" name="Google Shape;163;p8"/>
          <p:cNvSpPr txBox="1"/>
          <p:nvPr/>
        </p:nvSpPr>
        <p:spPr>
          <a:xfrm>
            <a:off x="914400" y="1463040"/>
            <a:ext cx="10362900" cy="526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In React, a </a:t>
            </a:r>
            <a:r>
              <a:rPr b="1" i="0" lang="en-US" sz="2400" u="none" cap="none" strike="noStrike">
                <a:solidFill>
                  <a:srgbClr val="333344"/>
                </a:solidFill>
                <a:latin typeface="Calibri"/>
                <a:ea typeface="Calibri"/>
                <a:cs typeface="Calibri"/>
                <a:sym typeface="Calibri"/>
              </a:rPr>
              <a:t>component</a:t>
            </a:r>
            <a:r>
              <a:rPr b="0" i="0" lang="en-US" sz="2400" u="none" cap="none" strike="noStrike">
                <a:solidFill>
                  <a:srgbClr val="333344"/>
                </a:solidFill>
                <a:latin typeface="Calibri"/>
                <a:ea typeface="Calibri"/>
                <a:cs typeface="Calibri"/>
                <a:sym typeface="Calibri"/>
              </a:rPr>
              <a:t> is a JavaScript function that:</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Takes </a:t>
            </a:r>
            <a:r>
              <a:rPr b="1" i="0" lang="en-US" sz="2000" u="none" cap="none" strike="noStrike">
                <a:solidFill>
                  <a:srgbClr val="666677"/>
                </a:solidFill>
                <a:latin typeface="Calibri"/>
                <a:ea typeface="Calibri"/>
                <a:cs typeface="Calibri"/>
                <a:sym typeface="Calibri"/>
              </a:rPr>
              <a:t>one argument</a:t>
            </a:r>
            <a:r>
              <a:rPr b="0" i="0" lang="en-US" sz="2000" u="none" cap="none" strike="noStrike">
                <a:solidFill>
                  <a:srgbClr val="666677"/>
                </a:solidFill>
                <a:latin typeface="Calibri"/>
                <a:ea typeface="Calibri"/>
                <a:cs typeface="Calibri"/>
                <a:sym typeface="Calibri"/>
              </a:rPr>
              <a:t> - an object of props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Returns a </a:t>
            </a:r>
            <a:r>
              <a:rPr b="1" i="0" lang="en-US" sz="2000" u="none" cap="none" strike="noStrike">
                <a:solidFill>
                  <a:srgbClr val="666677"/>
                </a:solidFill>
                <a:latin typeface="Calibri"/>
                <a:ea typeface="Calibri"/>
                <a:cs typeface="Calibri"/>
                <a:sym typeface="Calibri"/>
              </a:rPr>
              <a:t>description of UI</a:t>
            </a:r>
            <a:r>
              <a:rPr b="0" i="0" lang="en-US" sz="2000" u="none" cap="none" strike="noStrike">
                <a:solidFill>
                  <a:srgbClr val="666677"/>
                </a:solidFill>
                <a:latin typeface="Calibri"/>
                <a:ea typeface="Calibri"/>
                <a:cs typeface="Calibri"/>
                <a:sym typeface="Calibri"/>
              </a:rPr>
              <a:t> (JSX - Jav</a:t>
            </a:r>
            <a:r>
              <a:rPr lang="en-US" sz="2000">
                <a:solidFill>
                  <a:srgbClr val="666677"/>
                </a:solidFill>
                <a:latin typeface="Calibri"/>
                <a:ea typeface="Calibri"/>
                <a:cs typeface="Calibri"/>
                <a:sym typeface="Calibri"/>
              </a:rPr>
              <a:t>aScript XML</a:t>
            </a:r>
            <a:r>
              <a:rPr b="0" i="0" lang="en-US" sz="2000" u="none" cap="none" strike="noStrike">
                <a:solidFill>
                  <a:srgbClr val="666677"/>
                </a:solidFill>
                <a:latin typeface="Calibri"/>
                <a:ea typeface="Calibri"/>
                <a:cs typeface="Calibri"/>
                <a:sym typeface="Calibri"/>
              </a:rPr>
              <a:t>)</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A component is a regular function.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You can call it, pass it arguments, compose it, test it.</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React's job is to call your functions at the right times with the right d</a:t>
            </a:r>
            <a:r>
              <a:rPr lang="en-US" sz="2400">
                <a:solidFill>
                  <a:srgbClr val="333344"/>
                </a:solidFill>
                <a:latin typeface="Calibri"/>
                <a:ea typeface="Calibri"/>
                <a:cs typeface="Calibri"/>
                <a:sym typeface="Calibri"/>
              </a:rPr>
              <a:t>ata.</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When the data changes, React calls them again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and figures out what changed on the page.</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Rule:</a:t>
            </a:r>
            <a:r>
              <a:rPr b="0" i="0" lang="en-US" sz="2400" u="none" cap="none" strike="noStrike">
                <a:solidFill>
                  <a:srgbClr val="333344"/>
                </a:solidFill>
                <a:latin typeface="Calibri"/>
                <a:ea typeface="Calibri"/>
                <a:cs typeface="Calibri"/>
                <a:sym typeface="Calibri"/>
              </a:rPr>
              <a:t> component names must start with a capital letter. That's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how React tells </a:t>
            </a:r>
            <a:r>
              <a:rPr b="1" i="0" lang="en-US" sz="2000" u="none" cap="none" strike="noStrike">
                <a:solidFill>
                  <a:srgbClr val="666677"/>
                </a:solidFill>
                <a:latin typeface="Courier Prime"/>
                <a:ea typeface="Courier Prime"/>
                <a:cs typeface="Courier Prime"/>
                <a:sym typeface="Courier Prime"/>
              </a:rPr>
              <a:t>&lt;Button&gt;</a:t>
            </a:r>
            <a:r>
              <a:rPr b="0" i="0" lang="en-US" sz="2000" u="none" cap="none" strike="noStrike">
                <a:solidFill>
                  <a:srgbClr val="666677"/>
                </a:solidFill>
                <a:latin typeface="Calibri"/>
                <a:ea typeface="Calibri"/>
                <a:cs typeface="Calibri"/>
                <a:sym typeface="Calibri"/>
              </a:rPr>
              <a:t> (a component) from </a:t>
            </a:r>
            <a:r>
              <a:rPr b="1" i="0" lang="en-US" sz="2000" u="none" cap="none" strike="noStrike">
                <a:solidFill>
                  <a:srgbClr val="666677"/>
                </a:solidFill>
                <a:latin typeface="Courier Prime"/>
                <a:ea typeface="Courier Prime"/>
                <a:cs typeface="Courier Prime"/>
                <a:sym typeface="Courier Prime"/>
              </a:rPr>
              <a:t>&lt;button&gt;</a:t>
            </a:r>
            <a:r>
              <a:rPr b="0" i="0" lang="en-US" sz="2000" u="none" cap="none" strike="noStrike">
                <a:solidFill>
                  <a:srgbClr val="666677"/>
                </a:solidFill>
                <a:latin typeface="Calibri"/>
                <a:ea typeface="Calibri"/>
                <a:cs typeface="Calibri"/>
                <a:sym typeface="Calibri"/>
              </a:rPr>
              <a:t> (HTML).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sp>
        <p:nvSpPr>
          <p:cNvPr id="169" name="Google Shape;169;g3dc25bfaf09_0_104"/>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A React hello world</a:t>
            </a:r>
            <a:endParaRPr/>
          </a:p>
        </p:txBody>
      </p:sp>
      <p:sp>
        <p:nvSpPr>
          <p:cNvPr id="170" name="Google Shape;170;g3dc25bfaf09_0_104"/>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171" name="Google Shape;171;g3dc25bfaf09_0_104"/>
          <p:cNvSpPr/>
          <p:nvPr/>
        </p:nvSpPr>
        <p:spPr>
          <a:xfrm>
            <a:off x="731525" y="990425"/>
            <a:ext cx="10728600" cy="54105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g3dc25bfaf09_0_104"/>
          <p:cNvSpPr txBox="1"/>
          <p:nvPr/>
        </p:nvSpPr>
        <p:spPr>
          <a:xfrm>
            <a:off x="1095875" y="1188725"/>
            <a:ext cx="10179900" cy="264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 Greeting.tsx</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interface GreetingProps {</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name: string;</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a:t>
            </a:r>
            <a:endParaRPr sz="1600"/>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 component is a function. Props is its argument.</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function Greeting({ name }: GreetingProps) {</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return &lt;h1&gt;Hello, {name}!&lt;/h1&gt;;</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a:t>
            </a:r>
            <a:endParaRPr sz="1600"/>
          </a:p>
          <a:p>
            <a:pPr indent="0" lvl="0" marL="0" marR="0" rtl="0" algn="l">
              <a:spcBef>
                <a:spcPts val="200"/>
              </a:spcBef>
              <a:spcAft>
                <a:spcPts val="0"/>
              </a:spcAft>
              <a:buNone/>
            </a:pPr>
            <a:r>
              <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7" name="Shape 177"/>
        <p:cNvGrpSpPr/>
        <p:nvPr/>
      </p:nvGrpSpPr>
      <p:grpSpPr>
        <a:xfrm>
          <a:off x="0" y="0"/>
          <a:ext cx="0" cy="0"/>
          <a:chOff x="0" y="0"/>
          <a:chExt cx="0" cy="0"/>
        </a:xfrm>
      </p:grpSpPr>
      <p:sp>
        <p:nvSpPr>
          <p:cNvPr id="178" name="Google Shape;178;p9"/>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A React hello world</a:t>
            </a:r>
            <a:endParaRPr/>
          </a:p>
        </p:txBody>
      </p:sp>
      <p:sp>
        <p:nvSpPr>
          <p:cNvPr id="179" name="Google Shape;179;p9"/>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180" name="Google Shape;180;p9"/>
          <p:cNvSpPr/>
          <p:nvPr/>
        </p:nvSpPr>
        <p:spPr>
          <a:xfrm>
            <a:off x="731525" y="990425"/>
            <a:ext cx="10728600" cy="54105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1" name="Google Shape;181;p9"/>
          <p:cNvSpPr txBox="1"/>
          <p:nvPr/>
        </p:nvSpPr>
        <p:spPr>
          <a:xfrm>
            <a:off x="1095875" y="1188725"/>
            <a:ext cx="10179900" cy="519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 Greeting.tsx</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interface GreetingProps {</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name: string;</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a:t>
            </a:r>
            <a:endParaRPr sz="1600"/>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 component is a function. Props is its argument.</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function Greeting({ name }: GreetingProps) {</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return &lt;h1&gt;Hello, {name}!&lt;/h1&gt;;</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a:t>
            </a:r>
            <a:endParaRPr sz="1600"/>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Use it elsewhere like an HTML tag:</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function App() {</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return (</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&lt;div&gt;</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&lt;Greeting name="alice" /&gt;</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&lt;Greeting name="bob" /&gt;</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&lt;/div&gt;</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a:t>
            </a:r>
            <a:endParaRPr sz="1600"/>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Renders: &lt;div&gt;&lt;h1&gt;Hello, alice!&lt;/h1&gt;&lt;h1&gt;Hello, bob!&lt;/h1&gt;&lt;/div&gt;</a:t>
            </a:r>
            <a:endParaRPr sz="16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186" name="Shape 186"/>
        <p:cNvGrpSpPr/>
        <p:nvPr/>
      </p:nvGrpSpPr>
      <p:grpSpPr>
        <a:xfrm>
          <a:off x="0" y="0"/>
          <a:ext cx="0" cy="0"/>
          <a:chOff x="0" y="0"/>
          <a:chExt cx="0" cy="0"/>
        </a:xfrm>
      </p:grpSpPr>
      <p:sp>
        <p:nvSpPr>
          <p:cNvPr id="187" name="Google Shape;187;g3dc25bfaf09_0_97"/>
          <p:cNvSpPr txBox="1"/>
          <p:nvPr/>
        </p:nvSpPr>
        <p:spPr>
          <a:xfrm>
            <a:off x="5303520" y="457200"/>
            <a:ext cx="1584600" cy="1200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7200" u="none" cap="none" strike="noStrike">
                <a:solidFill>
                  <a:srgbClr val="5B21B6"/>
                </a:solidFill>
                <a:latin typeface="Calibri"/>
                <a:ea typeface="Calibri"/>
                <a:cs typeface="Calibri"/>
                <a:sym typeface="Calibri"/>
              </a:rPr>
              <a:t>?</a:t>
            </a:r>
            <a:endParaRPr/>
          </a:p>
        </p:txBody>
      </p:sp>
      <p:sp>
        <p:nvSpPr>
          <p:cNvPr id="188" name="Google Shape;188;g3dc25bfaf09_0_97"/>
          <p:cNvSpPr txBox="1"/>
          <p:nvPr/>
        </p:nvSpPr>
        <p:spPr>
          <a:xfrm>
            <a:off x="1371600" y="2011680"/>
            <a:ext cx="9448500" cy="615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400" u="none" cap="none" strike="noStrike">
                <a:solidFill>
                  <a:srgbClr val="1A1A2E"/>
                </a:solidFill>
                <a:latin typeface="Calibri"/>
                <a:ea typeface="Calibri"/>
                <a:cs typeface="Calibri"/>
                <a:sym typeface="Calibri"/>
              </a:rPr>
              <a:t>What is `&lt;h1&gt;Hello, {name}!&lt;/h1&gt;` actually?</a:t>
            </a:r>
            <a:endParaRPr/>
          </a:p>
        </p:txBody>
      </p:sp>
      <p:sp>
        <p:nvSpPr>
          <p:cNvPr id="189" name="Google Shape;189;g3dc25bfaf09_0_97"/>
          <p:cNvSpPr txBox="1"/>
          <p:nvPr/>
        </p:nvSpPr>
        <p:spPr>
          <a:xfrm>
            <a:off x="1828800" y="4572000"/>
            <a:ext cx="8534100" cy="1108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200" u="none" cap="none" strike="noStrike">
                <a:solidFill>
                  <a:srgbClr val="666677"/>
                </a:solidFill>
                <a:latin typeface="Calibri"/>
                <a:ea typeface="Calibri"/>
                <a:cs typeface="Calibri"/>
                <a:sym typeface="Calibri"/>
              </a:rPr>
              <a:t>It looks like HTML, but it's sitting inside a JavaScript function. </a:t>
            </a:r>
            <a:r>
              <a:rPr lang="en-US" sz="2200">
                <a:solidFill>
                  <a:srgbClr val="666677"/>
                </a:solidFill>
                <a:latin typeface="Calibri"/>
                <a:ea typeface="Calibri"/>
                <a:cs typeface="Calibri"/>
                <a:sym typeface="Calibri"/>
              </a:rPr>
              <a:t>Clearly there’s some compiler magic</a:t>
            </a:r>
            <a:r>
              <a:rPr b="0" i="0" lang="en-US" sz="2200" u="none" cap="none" strike="noStrike">
                <a:solidFill>
                  <a:srgbClr val="666677"/>
                </a:solidFill>
                <a:latin typeface="Calibri"/>
                <a:ea typeface="Calibri"/>
                <a:cs typeface="Calibri"/>
                <a:sym typeface="Calibri"/>
              </a:rPr>
              <a:t>. What does it turn into? What kind of value does it evaluate to?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194" name="Shape 194"/>
        <p:cNvGrpSpPr/>
        <p:nvPr/>
      </p:nvGrpSpPr>
      <p:grpSpPr>
        <a:xfrm>
          <a:off x="0" y="0"/>
          <a:ext cx="0" cy="0"/>
          <a:chOff x="0" y="0"/>
          <a:chExt cx="0" cy="0"/>
        </a:xfrm>
      </p:grpSpPr>
      <p:sp>
        <p:nvSpPr>
          <p:cNvPr id="195" name="Google Shape;195;p10"/>
          <p:cNvSpPr txBox="1"/>
          <p:nvPr/>
        </p:nvSpPr>
        <p:spPr>
          <a:xfrm>
            <a:off x="914400" y="2286000"/>
            <a:ext cx="10362895" cy="2286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rgbClr val="5B21B6"/>
                </a:solidFill>
                <a:latin typeface="Calibri"/>
                <a:ea typeface="Calibri"/>
                <a:cs typeface="Calibri"/>
                <a:sym typeface="Calibri"/>
              </a:rPr>
              <a:t>JSX: HTML as an Expression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 name="Shape 200"/>
        <p:cNvGrpSpPr/>
        <p:nvPr/>
      </p:nvGrpSpPr>
      <p:grpSpPr>
        <a:xfrm>
          <a:off x="0" y="0"/>
          <a:ext cx="0" cy="0"/>
          <a:chOff x="0" y="0"/>
          <a:chExt cx="0" cy="0"/>
        </a:xfrm>
      </p:grpSpPr>
      <p:sp>
        <p:nvSpPr>
          <p:cNvPr id="201" name="Google Shape;201;g3dc25bfaf09_0_115"/>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What JSX actually is</a:t>
            </a:r>
            <a:endParaRPr/>
          </a:p>
        </p:txBody>
      </p:sp>
      <p:sp>
        <p:nvSpPr>
          <p:cNvPr id="202" name="Google Shape;202;g3dc25bfaf09_0_115"/>
          <p:cNvSpPr txBox="1"/>
          <p:nvPr/>
        </p:nvSpPr>
        <p:spPr>
          <a:xfrm>
            <a:off x="914388" y="1280140"/>
            <a:ext cx="10362900" cy="235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333344"/>
                </a:solidFill>
                <a:latin typeface="Calibri"/>
                <a:ea typeface="Calibri"/>
                <a:cs typeface="Calibri"/>
                <a:sym typeface="Calibri"/>
              </a:rPr>
              <a:t>JSX</a:t>
            </a:r>
            <a:r>
              <a:rPr b="0" i="0" lang="en-US" sz="2400" u="none" cap="none" strike="noStrike">
                <a:solidFill>
                  <a:srgbClr val="333344"/>
                </a:solidFill>
                <a:latin typeface="Calibri"/>
                <a:ea typeface="Calibri"/>
                <a:cs typeface="Calibri"/>
                <a:sym typeface="Calibri"/>
              </a:rPr>
              <a:t> is the HTML-looking syntax inside React components:</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ourier Prime"/>
                <a:ea typeface="Courier Prime"/>
                <a:cs typeface="Courier Prime"/>
                <a:sym typeface="Courier Prime"/>
              </a:rPr>
              <a:t>return &lt;h1&gt;Hello, {name}!&lt;/h1&gt;;</a:t>
            </a:r>
            <a:endParaRPr b="1">
              <a:latin typeface="Courier Prime"/>
              <a:ea typeface="Courier Prime"/>
              <a:cs typeface="Courier Prime"/>
              <a:sym typeface="Courier Prime"/>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Not a string, not a template. A </a:t>
            </a:r>
            <a:r>
              <a:rPr b="1" i="0" lang="en-US" sz="2400" u="none" cap="none" strike="noStrike">
                <a:solidFill>
                  <a:srgbClr val="333344"/>
                </a:solidFill>
                <a:latin typeface="Calibri"/>
                <a:ea typeface="Calibri"/>
                <a:cs typeface="Calibri"/>
                <a:sym typeface="Calibri"/>
              </a:rPr>
              <a:t>JavaScript expression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E</a:t>
            </a:r>
            <a:r>
              <a:rPr b="0" i="0" lang="en-US" sz="2000" u="none" cap="none" strike="noStrike">
                <a:solidFill>
                  <a:srgbClr val="666677"/>
                </a:solidFill>
                <a:latin typeface="Calibri"/>
                <a:ea typeface="Calibri"/>
                <a:cs typeface="Calibri"/>
                <a:sym typeface="Calibri"/>
              </a:rPr>
              <a:t>valuates to a React element - a plain object describing UI.</a:t>
            </a:r>
            <a:endParaRPr/>
          </a:p>
          <a:p>
            <a:pPr indent="0" lvl="0" marL="0" marR="0" rtl="0" algn="l">
              <a:spcBef>
                <a:spcPts val="60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 name="Shape 207"/>
        <p:cNvGrpSpPr/>
        <p:nvPr/>
      </p:nvGrpSpPr>
      <p:grpSpPr>
        <a:xfrm>
          <a:off x="0" y="0"/>
          <a:ext cx="0" cy="0"/>
          <a:chOff x="0" y="0"/>
          <a:chExt cx="0" cy="0"/>
        </a:xfrm>
      </p:grpSpPr>
      <p:sp>
        <p:nvSpPr>
          <p:cNvPr id="208" name="Google Shape;208;p12"/>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What JSX actually is</a:t>
            </a:r>
            <a:endParaRPr/>
          </a:p>
        </p:txBody>
      </p:sp>
      <p:sp>
        <p:nvSpPr>
          <p:cNvPr id="209" name="Google Shape;209;p12"/>
          <p:cNvSpPr txBox="1"/>
          <p:nvPr/>
        </p:nvSpPr>
        <p:spPr>
          <a:xfrm>
            <a:off x="914388" y="1280140"/>
            <a:ext cx="10362900" cy="487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333344"/>
                </a:solidFill>
                <a:latin typeface="Calibri"/>
                <a:ea typeface="Calibri"/>
                <a:cs typeface="Calibri"/>
                <a:sym typeface="Calibri"/>
              </a:rPr>
              <a:t>JSX</a:t>
            </a:r>
            <a:r>
              <a:rPr b="0" i="0" lang="en-US" sz="2400" u="none" cap="none" strike="noStrike">
                <a:solidFill>
                  <a:srgbClr val="333344"/>
                </a:solidFill>
                <a:latin typeface="Calibri"/>
                <a:ea typeface="Calibri"/>
                <a:cs typeface="Calibri"/>
                <a:sym typeface="Calibri"/>
              </a:rPr>
              <a:t> is the HTML-looking syntax inside React components:</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ourier Prime"/>
                <a:ea typeface="Courier Prime"/>
                <a:cs typeface="Courier Prime"/>
                <a:sym typeface="Courier Prime"/>
              </a:rPr>
              <a:t>return &lt;h1&gt;Hello, {name}!&lt;/h1&gt;;</a:t>
            </a:r>
            <a:endParaRPr b="1">
              <a:latin typeface="Courier Prime"/>
              <a:ea typeface="Courier Prime"/>
              <a:cs typeface="Courier Prime"/>
              <a:sym typeface="Courier Prime"/>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Not a string, not a template. A </a:t>
            </a:r>
            <a:r>
              <a:rPr b="1" i="0" lang="en-US" sz="2400" u="none" cap="none" strike="noStrike">
                <a:solidFill>
                  <a:srgbClr val="333344"/>
                </a:solidFill>
                <a:latin typeface="Calibri"/>
                <a:ea typeface="Calibri"/>
                <a:cs typeface="Calibri"/>
                <a:sym typeface="Calibri"/>
              </a:rPr>
              <a:t>JavaScript expression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E</a:t>
            </a:r>
            <a:r>
              <a:rPr b="0" i="0" lang="en-US" sz="2000" u="none" cap="none" strike="noStrike">
                <a:solidFill>
                  <a:srgbClr val="666677"/>
                </a:solidFill>
                <a:latin typeface="Calibri"/>
                <a:ea typeface="Calibri"/>
                <a:cs typeface="Calibri"/>
                <a:sym typeface="Calibri"/>
              </a:rPr>
              <a:t>valuates to a React element - a plain object describing UI.</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Your build tool (Vite) transforms JSX into function calls at compile time.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In classic React</a:t>
            </a:r>
            <a:r>
              <a:rPr b="0" i="0" lang="en-US" sz="2000" u="none" cap="none" strike="noStrike">
                <a:solidFill>
                  <a:srgbClr val="666677"/>
                </a:solidFill>
                <a:latin typeface="Calibri"/>
                <a:ea typeface="Calibri"/>
                <a:cs typeface="Calibri"/>
                <a:sym typeface="Calibri"/>
              </a:rPr>
              <a:t> line above becomes something like:</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ourier Prime"/>
                <a:ea typeface="Courier Prime"/>
                <a:cs typeface="Courier Prime"/>
                <a:sym typeface="Courier Prime"/>
              </a:rPr>
              <a:t>return React.createElement("h1", null, "Hello, ", name, "!");</a:t>
            </a:r>
            <a:endParaRPr b="1">
              <a:latin typeface="Courier Prime"/>
              <a:ea typeface="Courier Prime"/>
              <a:cs typeface="Courier Prime"/>
              <a:sym typeface="Courier Prime"/>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You'll never write the function-call version yourself, bu</a:t>
            </a:r>
            <a:r>
              <a:rPr lang="en-US" sz="2400">
                <a:solidFill>
                  <a:srgbClr val="333344"/>
                </a:solidFill>
                <a:latin typeface="Calibri"/>
                <a:ea typeface="Calibri"/>
                <a:cs typeface="Calibri"/>
                <a:sym typeface="Calibri"/>
              </a:rPr>
              <a:t>t you should see it once.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4" name="Shape 214"/>
        <p:cNvGrpSpPr/>
        <p:nvPr/>
      </p:nvGrpSpPr>
      <p:grpSpPr>
        <a:xfrm>
          <a:off x="0" y="0"/>
          <a:ext cx="0" cy="0"/>
          <a:chOff x="0" y="0"/>
          <a:chExt cx="0" cy="0"/>
        </a:xfrm>
      </p:grpSpPr>
      <p:sp>
        <p:nvSpPr>
          <p:cNvPr id="215" name="Google Shape;215;g3dc25bfaf09_0_121"/>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JSX syntax essentials</a:t>
            </a:r>
            <a:endParaRPr/>
          </a:p>
        </p:txBody>
      </p:sp>
      <p:sp>
        <p:nvSpPr>
          <p:cNvPr id="216" name="Google Shape;216;g3dc25bfaf09_0_121"/>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JSX</a:t>
            </a:r>
            <a:endParaRPr/>
          </a:p>
        </p:txBody>
      </p:sp>
      <p:sp>
        <p:nvSpPr>
          <p:cNvPr id="217" name="Google Shape;217;g3dc25bfaf09_0_121"/>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8" name="Google Shape;218;g3dc25bfaf09_0_121"/>
          <p:cNvSpPr txBox="1"/>
          <p:nvPr/>
        </p:nvSpPr>
        <p:spPr>
          <a:xfrm>
            <a:off x="1005840" y="1645920"/>
            <a:ext cx="10179900" cy="2616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 An element with a text child</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&lt;h1&gt;Hello&lt;/h1&gt;</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Self-closing, like HTML void elements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&lt;img src="/cat.png" alt="a cat" /&gt;</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JavaScript expressions go in {braces}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&lt;p&gt;You have {todos.length} todos&lt;/p&gt;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&lt;p&gt;First: {todos[0].title.toUpperCase()}&lt;/p&gt;</a:t>
            </a:r>
            <a:endParaRPr/>
          </a:p>
          <a:p>
            <a:pPr indent="0" lvl="0" marL="0" marR="0" rtl="0" algn="l">
              <a:spcBef>
                <a:spcPts val="20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 name="Shape 223"/>
        <p:cNvGrpSpPr/>
        <p:nvPr/>
      </p:nvGrpSpPr>
      <p:grpSpPr>
        <a:xfrm>
          <a:off x="0" y="0"/>
          <a:ext cx="0" cy="0"/>
          <a:chOff x="0" y="0"/>
          <a:chExt cx="0" cy="0"/>
        </a:xfrm>
      </p:grpSpPr>
      <p:sp>
        <p:nvSpPr>
          <p:cNvPr id="224" name="Google Shape;224;g3dc25bfaf09_0_129"/>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JSX syntax essentials</a:t>
            </a:r>
            <a:endParaRPr/>
          </a:p>
        </p:txBody>
      </p:sp>
      <p:sp>
        <p:nvSpPr>
          <p:cNvPr id="225" name="Google Shape;225;g3dc25bfaf09_0_129"/>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JSX</a:t>
            </a:r>
            <a:endParaRPr/>
          </a:p>
        </p:txBody>
      </p:sp>
      <p:sp>
        <p:nvSpPr>
          <p:cNvPr id="226" name="Google Shape;226;g3dc25bfaf09_0_129"/>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7" name="Google Shape;227;g3dc25bfaf09_0_129"/>
          <p:cNvSpPr txBox="1"/>
          <p:nvPr/>
        </p:nvSpPr>
        <p:spPr>
          <a:xfrm>
            <a:off x="1005840" y="1645920"/>
            <a:ext cx="10179900" cy="3386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 An element with a text child</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&lt;h1&gt;Hello&lt;/h1&gt;</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Self-closing, like HTML void elements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&lt;img src="/cat.png" alt="a cat" /&gt;</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JavaScript expressions go in {braces}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&lt;p&gt;You have {todos.length} todos&lt;/p&gt;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&lt;p&gt;First: {todos[0].title.toUpperCase()}&lt;/p&gt;</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Attributes are camelCase. className, not class.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&lt;div className="container" onClick={handleClick}&gt;...&lt;/div&gt;</a:t>
            </a:r>
            <a:endParaRPr/>
          </a:p>
          <a:p>
            <a:pPr indent="0" lvl="0" marL="0" marR="0" rtl="0" algn="l">
              <a:spcBef>
                <a:spcPts val="20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2" name="Shape 232"/>
        <p:cNvGrpSpPr/>
        <p:nvPr/>
      </p:nvGrpSpPr>
      <p:grpSpPr>
        <a:xfrm>
          <a:off x="0" y="0"/>
          <a:ext cx="0" cy="0"/>
          <a:chOff x="0" y="0"/>
          <a:chExt cx="0" cy="0"/>
        </a:xfrm>
      </p:grpSpPr>
      <p:sp>
        <p:nvSpPr>
          <p:cNvPr id="233" name="Google Shape;233;p13"/>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JSX syntax essentials</a:t>
            </a:r>
            <a:endParaRPr/>
          </a:p>
        </p:txBody>
      </p:sp>
      <p:sp>
        <p:nvSpPr>
          <p:cNvPr id="234" name="Google Shape;234;p13"/>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JSX</a:t>
            </a:r>
            <a:endParaRPr/>
          </a:p>
        </p:txBody>
      </p:sp>
      <p:sp>
        <p:nvSpPr>
          <p:cNvPr id="235" name="Google Shape;235;p13"/>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6" name="Google Shape;236;p13"/>
          <p:cNvSpPr txBox="1"/>
          <p:nvPr/>
        </p:nvSpPr>
        <p:spPr>
          <a:xfrm>
            <a:off x="1005840" y="1645920"/>
            <a:ext cx="10180015"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 An element with a text child</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&lt;h1&gt;Hello&lt;/h1&gt;</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Self-closing, like HTML void elements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&lt;img src="/cat.png" alt="a cat" /&gt;</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JavaScript expressions go in {braces}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&lt;p&gt;You have {todos.length} todos&lt;/p&gt;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&lt;p&gt;First: {todos[0].title.toUpperCase()}&lt;/p&gt;</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Attributes are camelCase. className, not class.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&lt;div className="container" onClick={handleClick}&gt;...&lt;/div&gt;</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Must return ONE root element. Use a Fragment for multiple: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return (&lt;&gt;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&lt;h1&gt;Title&lt;/h1&gt;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&lt;p&gt;Body&lt;/p&gt;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&lt;/&gt;);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 name="Shape 241"/>
        <p:cNvGrpSpPr/>
        <p:nvPr/>
      </p:nvGrpSpPr>
      <p:grpSpPr>
        <a:xfrm>
          <a:off x="0" y="0"/>
          <a:ext cx="0" cy="0"/>
          <a:chOff x="0" y="0"/>
          <a:chExt cx="0" cy="0"/>
        </a:xfrm>
      </p:grpSpPr>
      <p:sp>
        <p:nvSpPr>
          <p:cNvPr id="242" name="Google Shape;242;g3dc25bfaf09_0_251"/>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Three JSX rules that trip everyone up</a:t>
            </a:r>
            <a:endParaRPr/>
          </a:p>
        </p:txBody>
      </p:sp>
      <p:sp>
        <p:nvSpPr>
          <p:cNvPr id="243" name="Google Shape;243;g3dc25bfaf09_0_251"/>
          <p:cNvSpPr txBox="1"/>
          <p:nvPr/>
        </p:nvSpPr>
        <p:spPr>
          <a:xfrm>
            <a:off x="914388" y="1132915"/>
            <a:ext cx="10362900" cy="4340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333344"/>
                </a:solidFill>
                <a:latin typeface="Calibri"/>
                <a:ea typeface="Calibri"/>
                <a:cs typeface="Calibri"/>
                <a:sym typeface="Calibri"/>
              </a:rPr>
              <a:t>1. Return exactly ONE root element.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For multiple siblings, wrap them in a Fragment: `&lt;&gt;...&lt;/&gt;`.</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2. `className`, not `class`.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`class` is a reserved JS keyword, so JSX uses `className`.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Your editor will remind you when you forget, often at first.</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3. Attributes are camelCase.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HTML `onclick` -&gt; JSX `onClick`. HTML `for` -&gt; JSX `htmlFor`.</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HTML `tabindex` -&gt; JSX `tabIndex`.</a:t>
            </a:r>
            <a:endParaRPr/>
          </a:p>
          <a:p>
            <a:pPr indent="0" lvl="1" marL="457200" marR="0" rtl="0" algn="l">
              <a:spcBef>
                <a:spcPts val="60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 name="Shape 248"/>
        <p:cNvGrpSpPr/>
        <p:nvPr/>
      </p:nvGrpSpPr>
      <p:grpSpPr>
        <a:xfrm>
          <a:off x="0" y="0"/>
          <a:ext cx="0" cy="0"/>
          <a:chOff x="0" y="0"/>
          <a:chExt cx="0" cy="0"/>
        </a:xfrm>
      </p:grpSpPr>
      <p:sp>
        <p:nvSpPr>
          <p:cNvPr id="249" name="Google Shape;249;p14"/>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Three JSX rules that trip everyone up</a:t>
            </a:r>
            <a:endParaRPr/>
          </a:p>
        </p:txBody>
      </p:sp>
      <p:sp>
        <p:nvSpPr>
          <p:cNvPr id="250" name="Google Shape;250;p14"/>
          <p:cNvSpPr txBox="1"/>
          <p:nvPr/>
        </p:nvSpPr>
        <p:spPr>
          <a:xfrm>
            <a:off x="914388" y="1132915"/>
            <a:ext cx="10362900" cy="526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333344"/>
                </a:solidFill>
                <a:latin typeface="Calibri"/>
                <a:ea typeface="Calibri"/>
                <a:cs typeface="Calibri"/>
                <a:sym typeface="Calibri"/>
              </a:rPr>
              <a:t>1. Return exactly ONE root element.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For multiple siblings, wrap them in a Fragment: `&lt;&gt;...&lt;/&gt;`.</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2. `className`, not `class`.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`class` is a reserved JS keyword, so JSX uses `className`.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Your editor will remind you when you forget, often at first.</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3. Attributes are camelCase.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HTML `onclick` -&gt; JSX `onClick`. HTML `for` -&gt; JSX `htmlFor`.</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HTML `tabindex` -&gt; JSX `tabIndex`.</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When in doubt, check the editor error - TypeScript knows every</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valid JSX attribute for every tag and it's a good teacher.</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255" name="Shape 255"/>
        <p:cNvGrpSpPr/>
        <p:nvPr/>
      </p:nvGrpSpPr>
      <p:grpSpPr>
        <a:xfrm>
          <a:off x="0" y="0"/>
          <a:ext cx="0" cy="0"/>
          <a:chOff x="0" y="0"/>
          <a:chExt cx="0" cy="0"/>
        </a:xfrm>
      </p:grpSpPr>
      <p:sp>
        <p:nvSpPr>
          <p:cNvPr id="256" name="Google Shape;256;p15"/>
          <p:cNvSpPr txBox="1"/>
          <p:nvPr/>
        </p:nvSpPr>
        <p:spPr>
          <a:xfrm>
            <a:off x="914400" y="2286000"/>
            <a:ext cx="10362895" cy="2286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rgbClr val="5B21B6"/>
                </a:solidFill>
                <a:latin typeface="Calibri"/>
                <a:ea typeface="Calibri"/>
                <a:cs typeface="Calibri"/>
                <a:sym typeface="Calibri"/>
              </a:rPr>
              <a:t>Props: Arguments for Components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1" name="Shape 261"/>
        <p:cNvGrpSpPr/>
        <p:nvPr/>
      </p:nvGrpSpPr>
      <p:grpSpPr>
        <a:xfrm>
          <a:off x="0" y="0"/>
          <a:ext cx="0" cy="0"/>
          <a:chOff x="0" y="0"/>
          <a:chExt cx="0" cy="0"/>
        </a:xfrm>
      </p:grpSpPr>
      <p:sp>
        <p:nvSpPr>
          <p:cNvPr id="262" name="Google Shape;262;g3dc25bfaf09_0_359"/>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Props are function parameters</a:t>
            </a:r>
            <a:endParaRPr/>
          </a:p>
        </p:txBody>
      </p:sp>
      <p:sp>
        <p:nvSpPr>
          <p:cNvPr id="263" name="Google Shape;263;g3dc25bfaf09_0_359"/>
          <p:cNvSpPr txBox="1"/>
          <p:nvPr/>
        </p:nvSpPr>
        <p:spPr>
          <a:xfrm>
            <a:off x="914400" y="1463040"/>
            <a:ext cx="10362900" cy="190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A component is a function, and props are its arguments.</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Components receive props as a </a:t>
            </a:r>
            <a:r>
              <a:rPr b="1" i="0" lang="en-US" sz="2000" u="none" cap="none" strike="noStrike">
                <a:solidFill>
                  <a:srgbClr val="666677"/>
                </a:solidFill>
                <a:latin typeface="Calibri"/>
                <a:ea typeface="Calibri"/>
                <a:cs typeface="Calibri"/>
                <a:sym typeface="Calibri"/>
              </a:rPr>
              <a:t>single object</a:t>
            </a:r>
            <a:r>
              <a:rPr b="0" i="0" lang="en-US" sz="2000" u="none" cap="none" strike="noStrike">
                <a:solidFill>
                  <a:srgbClr val="666677"/>
                </a:solidFill>
                <a:latin typeface="Calibri"/>
                <a:ea typeface="Calibri"/>
                <a:cs typeface="Calibri"/>
                <a:sym typeface="Calibri"/>
              </a:rPr>
              <a:t> argument.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Typically you destructure it in the parameter list.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TypeScript interfaces describe the expected shape.</a:t>
            </a:r>
            <a:endParaRPr/>
          </a:p>
          <a:p>
            <a:pPr indent="0" lvl="1" marL="457200" marR="0" rtl="0" algn="l">
              <a:spcBef>
                <a:spcPts val="60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8" name="Shape 268"/>
        <p:cNvGrpSpPr/>
        <p:nvPr/>
      </p:nvGrpSpPr>
      <p:grpSpPr>
        <a:xfrm>
          <a:off x="0" y="0"/>
          <a:ext cx="0" cy="0"/>
          <a:chOff x="0" y="0"/>
          <a:chExt cx="0" cy="0"/>
        </a:xfrm>
      </p:grpSpPr>
      <p:sp>
        <p:nvSpPr>
          <p:cNvPr id="269" name="Google Shape;269;p16"/>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Props are function parameters</a:t>
            </a:r>
            <a:endParaRPr/>
          </a:p>
        </p:txBody>
      </p:sp>
      <p:sp>
        <p:nvSpPr>
          <p:cNvPr id="270" name="Google Shape;270;p16"/>
          <p:cNvSpPr txBox="1"/>
          <p:nvPr/>
        </p:nvSpPr>
        <p:spPr>
          <a:xfrm>
            <a:off x="914400" y="1463040"/>
            <a:ext cx="10362900" cy="4817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A component is a function, and props are its arguments.</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Components receive props as a </a:t>
            </a:r>
            <a:r>
              <a:rPr b="1" i="0" lang="en-US" sz="2000" u="none" cap="none" strike="noStrike">
                <a:solidFill>
                  <a:srgbClr val="666677"/>
                </a:solidFill>
                <a:latin typeface="Calibri"/>
                <a:ea typeface="Calibri"/>
                <a:cs typeface="Calibri"/>
                <a:sym typeface="Calibri"/>
              </a:rPr>
              <a:t>single object</a:t>
            </a:r>
            <a:r>
              <a:rPr b="0" i="0" lang="en-US" sz="2000" u="none" cap="none" strike="noStrike">
                <a:solidFill>
                  <a:srgbClr val="666677"/>
                </a:solidFill>
                <a:latin typeface="Calibri"/>
                <a:ea typeface="Calibri"/>
                <a:cs typeface="Calibri"/>
                <a:sym typeface="Calibri"/>
              </a:rPr>
              <a:t> argument.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Typically you destructure it in the parameter list.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TypeScript interfaces describe the expected shape.</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Parent components pass props as JSX attributes:</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&lt;Greeting name="alice" /&gt;</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&lt;TodoItem todo={someToDo} /&gt;</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&lt;Button onClick={handleClick} disabled={true} /&gt;</a:t>
            </a:r>
            <a:endParaRPr b="1">
              <a:latin typeface="Courier Prime"/>
              <a:ea typeface="Courier Prime"/>
              <a:cs typeface="Courier Prime"/>
              <a:sym typeface="Courier Prime"/>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String props can use "quotes", but anything else goes in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ourier Prime"/>
                <a:ea typeface="Courier Prime"/>
                <a:cs typeface="Courier Prime"/>
                <a:sym typeface="Courier Prime"/>
              </a:rPr>
              <a:t>{braces}</a:t>
            </a:r>
            <a:r>
              <a:rPr b="0" i="0" lang="en-US" sz="2000" u="none" cap="none" strike="noStrike">
                <a:solidFill>
                  <a:srgbClr val="666677"/>
                </a:solidFill>
                <a:latin typeface="Calibri"/>
                <a:ea typeface="Calibri"/>
                <a:cs typeface="Calibri"/>
                <a:sym typeface="Calibri"/>
              </a:rPr>
              <a:t>` containing a regular JavaScript expression.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5" name="Shape 275"/>
        <p:cNvGrpSpPr/>
        <p:nvPr/>
      </p:nvGrpSpPr>
      <p:grpSpPr>
        <a:xfrm>
          <a:off x="0" y="0"/>
          <a:ext cx="0" cy="0"/>
          <a:chOff x="0" y="0"/>
          <a:chExt cx="0" cy="0"/>
        </a:xfrm>
      </p:grpSpPr>
      <p:sp>
        <p:nvSpPr>
          <p:cNvPr id="276" name="Google Shape;276;p17"/>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A component with typed props</a:t>
            </a:r>
            <a:endParaRPr/>
          </a:p>
        </p:txBody>
      </p:sp>
      <p:sp>
        <p:nvSpPr>
          <p:cNvPr id="277" name="Google Shape;277;p17"/>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278" name="Google Shape;278;p17"/>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9" name="Google Shape;279;p17"/>
          <p:cNvSpPr txBox="1"/>
          <p:nvPr/>
        </p:nvSpPr>
        <p:spPr>
          <a:xfrm>
            <a:off x="1005840" y="1645920"/>
            <a:ext cx="10180015"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333344"/>
                </a:solidFill>
                <a:latin typeface="Courier New"/>
                <a:ea typeface="Courier New"/>
                <a:cs typeface="Courier New"/>
                <a:sym typeface="Courier New"/>
              </a:rPr>
              <a:t>// TodoItem.tsx</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interface Todo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id: number;</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title: string;</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done: boolean;</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b="1" i="0" sz="14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interface TodoItemProps { todo: Todo; }</a:t>
            </a:r>
            <a:endParaRPr/>
          </a:p>
          <a:p>
            <a:pPr indent="0" lvl="0" marL="0" marR="0" rtl="0" algn="l">
              <a:spcBef>
                <a:spcPts val="200"/>
              </a:spcBef>
              <a:spcAft>
                <a:spcPts val="0"/>
              </a:spcAft>
              <a:buNone/>
            </a:pPr>
            <a:r>
              <a:t/>
            </a:r>
            <a:endParaRPr b="1" i="0" sz="14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Destructure the props object in the parameter list</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function TodoItem({ todo }: TodoItemProps)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return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&lt;li className={todo.done ? "done" : ""}&gt;</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{todo.title}</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&lt;/li&gt;</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b="1" i="0" sz="14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Wrong shape? TypeScript catches it at compile time.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4" name="Shape 284"/>
        <p:cNvGrpSpPr/>
        <p:nvPr/>
      </p:nvGrpSpPr>
      <p:grpSpPr>
        <a:xfrm>
          <a:off x="0" y="0"/>
          <a:ext cx="0" cy="0"/>
          <a:chOff x="0" y="0"/>
          <a:chExt cx="0" cy="0"/>
        </a:xfrm>
      </p:grpSpPr>
      <p:sp>
        <p:nvSpPr>
          <p:cNvPr id="285" name="Google Shape;285;g3dc25bfaf09_0_365"/>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Passing props from a parent</a:t>
            </a:r>
            <a:endParaRPr/>
          </a:p>
        </p:txBody>
      </p:sp>
      <p:sp>
        <p:nvSpPr>
          <p:cNvPr id="286" name="Google Shape;286;g3dc25bfaf09_0_365"/>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287" name="Google Shape;287;g3dc25bfaf09_0_365"/>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8" name="Google Shape;288;g3dc25bfaf09_0_365"/>
          <p:cNvSpPr txBox="1"/>
          <p:nvPr/>
        </p:nvSpPr>
        <p:spPr>
          <a:xfrm>
            <a:off x="1005840" y="1645920"/>
            <a:ext cx="10179900" cy="458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333344"/>
                </a:solidFill>
                <a:latin typeface="Courier New"/>
                <a:ea typeface="Courier New"/>
                <a:cs typeface="Courier New"/>
                <a:sym typeface="Courier New"/>
              </a:rPr>
              <a:t>// App.tsx</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import { TodoItem } from "./TodoItem";</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const sampleTodo = {</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id: 1,</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title: "read the 6.1 notes",</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done: false,</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function App() {</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return (</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&lt;div&gt;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&lt;h1&gt;My Todos&lt;/h1&gt;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&lt;ul&gt;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&lt;TodoItem todo={sampleTodo} /&gt;</a:t>
            </a:r>
            <a:endParaRPr/>
          </a:p>
          <a:p>
            <a:pPr indent="0" lvl="0" marL="0" marR="0" rtl="0" algn="l">
              <a:spcBef>
                <a:spcPts val="200"/>
              </a:spcBef>
              <a:spcAft>
                <a:spcPts val="0"/>
              </a:spcAft>
              <a:buNone/>
            </a:pPr>
            <a:r>
              <a:t/>
            </a:r>
            <a:endParaRPr b="1" sz="13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&lt;/ul&gt;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&lt;/div&gt;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3" name="Shape 293"/>
        <p:cNvGrpSpPr/>
        <p:nvPr/>
      </p:nvGrpSpPr>
      <p:grpSpPr>
        <a:xfrm>
          <a:off x="0" y="0"/>
          <a:ext cx="0" cy="0"/>
          <a:chOff x="0" y="0"/>
          <a:chExt cx="0" cy="0"/>
        </a:xfrm>
      </p:grpSpPr>
      <p:sp>
        <p:nvSpPr>
          <p:cNvPr id="294" name="Google Shape;294;p18"/>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Passing props from a parent</a:t>
            </a:r>
            <a:endParaRPr/>
          </a:p>
        </p:txBody>
      </p:sp>
      <p:sp>
        <p:nvSpPr>
          <p:cNvPr id="295" name="Google Shape;295;p18"/>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296" name="Google Shape;296;p18"/>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7" name="Google Shape;297;p18"/>
          <p:cNvSpPr txBox="1"/>
          <p:nvPr/>
        </p:nvSpPr>
        <p:spPr>
          <a:xfrm>
            <a:off x="1005840" y="1645920"/>
            <a:ext cx="10180015"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333344"/>
                </a:solidFill>
                <a:latin typeface="Courier New"/>
                <a:ea typeface="Courier New"/>
                <a:cs typeface="Courier New"/>
                <a:sym typeface="Courier New"/>
              </a:rPr>
              <a:t>// App.tsx</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import { TodoItem } from "./TodoItem";</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const sampleTodo = {</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id: 1,</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title: "read the 6.1 notes",</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done: false,</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function App() {</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return (</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&lt;div&gt;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&lt;h1&gt;My Todos&lt;/h1&gt;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&lt;ul&gt;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&lt;TodoItem todo={sampleTodo} /&gt;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&lt;TodoItem todo={{ id: 2, title: "go for a run", done: true }} /&gt;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&lt;/ul&gt;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&lt;/div&gt;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2" name="Shape 302"/>
        <p:cNvGrpSpPr/>
        <p:nvPr/>
      </p:nvGrpSpPr>
      <p:grpSpPr>
        <a:xfrm>
          <a:off x="0" y="0"/>
          <a:ext cx="0" cy="0"/>
          <a:chOff x="0" y="0"/>
          <a:chExt cx="0" cy="0"/>
        </a:xfrm>
      </p:grpSpPr>
      <p:sp>
        <p:nvSpPr>
          <p:cNvPr id="303" name="Google Shape;303;g3dc25bfaf09_0_499"/>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Composition: components inside components</a:t>
            </a:r>
            <a:endParaRPr/>
          </a:p>
        </p:txBody>
      </p:sp>
      <p:sp>
        <p:nvSpPr>
          <p:cNvPr id="304" name="Google Shape;304;g3dc25bfaf09_0_499"/>
          <p:cNvSpPr txBox="1"/>
          <p:nvPr/>
        </p:nvSpPr>
        <p:spPr>
          <a:xfrm>
            <a:off x="914400" y="1177915"/>
            <a:ext cx="10362900" cy="4663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A component can use other components in its returned JSX, and</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the result is a </a:t>
            </a:r>
            <a:r>
              <a:rPr b="1" i="0" lang="en-US" sz="2000" u="none" cap="none" strike="noStrike">
                <a:solidFill>
                  <a:srgbClr val="666677"/>
                </a:solidFill>
                <a:latin typeface="Calibri"/>
                <a:ea typeface="Calibri"/>
                <a:cs typeface="Calibri"/>
                <a:sym typeface="Calibri"/>
              </a:rPr>
              <a:t>tree of function calls</a:t>
            </a:r>
            <a:r>
              <a:rPr b="0" i="0" lang="en-US" sz="2000" u="none" cap="none" strike="noStrike">
                <a:solidFill>
                  <a:srgbClr val="666677"/>
                </a:solidFill>
                <a:latin typeface="Calibri"/>
                <a:ea typeface="Calibri"/>
                <a:cs typeface="Calibri"/>
                <a:sym typeface="Calibri"/>
              </a:rPr>
              <a:t> that mirrors the UI tree.</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App</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TodoList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TodoItem (x3)</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StatsBar</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Each level takes props from its parent and passes different props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to its children. Parents know about children, children don't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know about parents, and data flows </a:t>
            </a:r>
            <a:r>
              <a:rPr b="1" i="0" lang="en-US" sz="2000" u="none" cap="none" strike="noStrike">
                <a:solidFill>
                  <a:srgbClr val="666677"/>
                </a:solidFill>
                <a:latin typeface="Calibri"/>
                <a:ea typeface="Calibri"/>
                <a:cs typeface="Calibri"/>
                <a:sym typeface="Calibri"/>
              </a:rPr>
              <a:t>down</a:t>
            </a:r>
            <a:r>
              <a:rPr b="0" i="0" lang="en-US" sz="2000" u="none" cap="none" strike="noStrike">
                <a:solidFill>
                  <a:srgbClr val="666677"/>
                </a:solidFill>
                <a:latin typeface="Calibri"/>
                <a:ea typeface="Calibri"/>
                <a:cs typeface="Calibri"/>
                <a:sym typeface="Calibri"/>
              </a:rPr>
              <a:t> in one direction.</a:t>
            </a:r>
            <a:endParaRPr/>
          </a:p>
          <a:p>
            <a:pPr indent="0" lvl="1" marL="457200" marR="0" rtl="0" algn="l">
              <a:spcBef>
                <a:spcPts val="60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9" name="Shape 309"/>
        <p:cNvGrpSpPr/>
        <p:nvPr/>
      </p:nvGrpSpPr>
      <p:grpSpPr>
        <a:xfrm>
          <a:off x="0" y="0"/>
          <a:ext cx="0" cy="0"/>
          <a:chOff x="0" y="0"/>
          <a:chExt cx="0" cy="0"/>
        </a:xfrm>
      </p:grpSpPr>
      <p:sp>
        <p:nvSpPr>
          <p:cNvPr id="310" name="Google Shape;310;p19"/>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Composition: components inside components</a:t>
            </a:r>
            <a:endParaRPr/>
          </a:p>
        </p:txBody>
      </p:sp>
      <p:sp>
        <p:nvSpPr>
          <p:cNvPr id="311" name="Google Shape;311;p19"/>
          <p:cNvSpPr txBox="1"/>
          <p:nvPr/>
        </p:nvSpPr>
        <p:spPr>
          <a:xfrm>
            <a:off x="914400" y="1177915"/>
            <a:ext cx="10362900" cy="558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A component can use other components in its returned JSX, and</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the result is a </a:t>
            </a:r>
            <a:r>
              <a:rPr b="1" i="0" lang="en-US" sz="2000" u="none" cap="none" strike="noStrike">
                <a:solidFill>
                  <a:srgbClr val="666677"/>
                </a:solidFill>
                <a:latin typeface="Calibri"/>
                <a:ea typeface="Calibri"/>
                <a:cs typeface="Calibri"/>
                <a:sym typeface="Calibri"/>
              </a:rPr>
              <a:t>tree of function calls</a:t>
            </a:r>
            <a:r>
              <a:rPr b="0" i="0" lang="en-US" sz="2000" u="none" cap="none" strike="noStrike">
                <a:solidFill>
                  <a:srgbClr val="666677"/>
                </a:solidFill>
                <a:latin typeface="Calibri"/>
                <a:ea typeface="Calibri"/>
                <a:cs typeface="Calibri"/>
                <a:sym typeface="Calibri"/>
              </a:rPr>
              <a:t> that mirrors the UI tree.</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App</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TodoList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TodoItem (x3)</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StatsBar</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Each level takes props from its parent and passes different props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to its children. Parents know about children, children don't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know about parents, and data flows </a:t>
            </a:r>
            <a:r>
              <a:rPr b="1" i="0" lang="en-US" sz="2000" u="none" cap="none" strike="noStrike">
                <a:solidFill>
                  <a:srgbClr val="666677"/>
                </a:solidFill>
                <a:latin typeface="Calibri"/>
                <a:ea typeface="Calibri"/>
                <a:cs typeface="Calibri"/>
                <a:sym typeface="Calibri"/>
              </a:rPr>
              <a:t>down</a:t>
            </a:r>
            <a:r>
              <a:rPr b="0" i="0" lang="en-US" sz="2000" u="none" cap="none" strike="noStrike">
                <a:solidFill>
                  <a:srgbClr val="666677"/>
                </a:solidFill>
                <a:latin typeface="Calibri"/>
                <a:ea typeface="Calibri"/>
                <a:cs typeface="Calibri"/>
                <a:sym typeface="Calibri"/>
              </a:rPr>
              <a:t> in one direction.</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Really just function composition with JSX as the calling syntax.</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Same mental model as every other function in the course.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6" name="Shape 316"/>
        <p:cNvGrpSpPr/>
        <p:nvPr/>
      </p:nvGrpSpPr>
      <p:grpSpPr>
        <a:xfrm>
          <a:off x="0" y="0"/>
          <a:ext cx="0" cy="0"/>
          <a:chOff x="0" y="0"/>
          <a:chExt cx="0" cy="0"/>
        </a:xfrm>
      </p:grpSpPr>
      <p:sp>
        <p:nvSpPr>
          <p:cNvPr id="317" name="Google Shape;317;p20"/>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A tree of components</a:t>
            </a:r>
            <a:endParaRPr/>
          </a:p>
        </p:txBody>
      </p:sp>
      <p:sp>
        <p:nvSpPr>
          <p:cNvPr id="318" name="Google Shape;318;p20"/>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319" name="Google Shape;319;p20"/>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0" name="Google Shape;320;p20"/>
          <p:cNvSpPr txBox="1"/>
          <p:nvPr/>
        </p:nvSpPr>
        <p:spPr>
          <a:xfrm>
            <a:off x="1005840" y="1645920"/>
            <a:ext cx="10180015"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function TodoApp()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return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&lt;div&gt;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&lt;h1&gt;My Todos&lt;/h1&gt;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&lt;TodoList todos={sampleTodos} /&gt;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&lt;/div&gt;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function TodoList({ todos }: { todos: Todo[] })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return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&lt;ul&gt;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{todos.map((t) =&gt; &lt;TodoItem key={t.id} todo={t} /&gt;)}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&lt;/ul&gt;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TodoItem is the same as before. Each level is a pure function.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325" name="Shape 325"/>
        <p:cNvGrpSpPr/>
        <p:nvPr/>
      </p:nvGrpSpPr>
      <p:grpSpPr>
        <a:xfrm>
          <a:off x="0" y="0"/>
          <a:ext cx="0" cy="0"/>
          <a:chOff x="0" y="0"/>
          <a:chExt cx="0" cy="0"/>
        </a:xfrm>
      </p:grpSpPr>
      <p:sp>
        <p:nvSpPr>
          <p:cNvPr id="326" name="Google Shape;326;p21"/>
          <p:cNvSpPr txBox="1"/>
          <p:nvPr/>
        </p:nvSpPr>
        <p:spPr>
          <a:xfrm>
            <a:off x="5303520" y="457200"/>
            <a:ext cx="1584655" cy="1371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7200" u="none" cap="none" strike="noStrike">
                <a:solidFill>
                  <a:srgbClr val="5B21B6"/>
                </a:solidFill>
                <a:latin typeface="Calibri"/>
                <a:ea typeface="Calibri"/>
                <a:cs typeface="Calibri"/>
                <a:sym typeface="Calibri"/>
              </a:rPr>
              <a:t>?</a:t>
            </a:r>
            <a:endParaRPr/>
          </a:p>
        </p:txBody>
      </p:sp>
      <p:sp>
        <p:nvSpPr>
          <p:cNvPr id="327" name="Google Shape;327;p21"/>
          <p:cNvSpPr txBox="1"/>
          <p:nvPr/>
        </p:nvSpPr>
        <p:spPr>
          <a:xfrm>
            <a:off x="1371600" y="2011680"/>
            <a:ext cx="9448495" cy="2286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400" u="none" cap="none" strike="noStrike">
                <a:solidFill>
                  <a:srgbClr val="1A1A2E"/>
                </a:solidFill>
                <a:latin typeface="Calibri"/>
                <a:ea typeface="Calibri"/>
                <a:cs typeface="Calibri"/>
                <a:sym typeface="Calibri"/>
              </a:rPr>
              <a:t>How does React know which `&lt;li&gt;` is which?</a:t>
            </a:r>
            <a:endParaRPr/>
          </a:p>
        </p:txBody>
      </p:sp>
      <p:sp>
        <p:nvSpPr>
          <p:cNvPr id="328" name="Google Shape;328;p21"/>
          <p:cNvSpPr txBox="1"/>
          <p:nvPr/>
        </p:nvSpPr>
        <p:spPr>
          <a:xfrm>
            <a:off x="1828800" y="4572000"/>
            <a:ext cx="8534100" cy="1446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200" u="none" cap="none" strike="noStrike">
                <a:solidFill>
                  <a:srgbClr val="666677"/>
                </a:solidFill>
                <a:latin typeface="Calibri"/>
                <a:ea typeface="Calibri"/>
                <a:cs typeface="Calibri"/>
                <a:sym typeface="Calibri"/>
              </a:rPr>
              <a:t>You render 5 todos as 5 &lt;li&gt;s. The user deletes the middle one, so now there are 4. React re-runs your component and gets a new array of 4 elements. How does it figure out which old &lt;li&gt; got deleted vs which ones just shifted up by one?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3" name="Shape 333"/>
        <p:cNvGrpSpPr/>
        <p:nvPr/>
      </p:nvGrpSpPr>
      <p:grpSpPr>
        <a:xfrm>
          <a:off x="0" y="0"/>
          <a:ext cx="0" cy="0"/>
          <a:chOff x="0" y="0"/>
          <a:chExt cx="0" cy="0"/>
        </a:xfrm>
      </p:grpSpPr>
      <p:sp>
        <p:nvSpPr>
          <p:cNvPr id="334" name="Google Shape;334;g3dc25bfaf09_0_508"/>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Rendering lists is just .map()</a:t>
            </a:r>
            <a:endParaRPr/>
          </a:p>
        </p:txBody>
      </p:sp>
      <p:sp>
        <p:nvSpPr>
          <p:cNvPr id="335" name="Google Shape;335;g3dc25bfaf09_0_508"/>
          <p:cNvSpPr txBox="1"/>
          <p:nvPr/>
        </p:nvSpPr>
        <p:spPr>
          <a:xfrm>
            <a:off x="914400" y="1463040"/>
            <a:ext cx="10362900" cy="4048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In 5.1 we learned `.map()` as the idiomatic way to transform arrays.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 We now use that to render lists in React.</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chemeClr val="dk1"/>
                </a:solidFill>
                <a:latin typeface="Courier Prime"/>
                <a:ea typeface="Courier Prime"/>
                <a:cs typeface="Courier Prime"/>
                <a:sym typeface="Courier Prime"/>
              </a:rPr>
              <a:t>todos.map((t) =&gt; &lt;TodoItem key={t.id} todo={t} /&gt;)</a:t>
            </a:r>
            <a:endParaRPr b="1">
              <a:solidFill>
                <a:schemeClr val="dk1"/>
              </a:solidFill>
              <a:latin typeface="Courier Prime"/>
              <a:ea typeface="Courier Prime"/>
              <a:cs typeface="Courier Prime"/>
              <a:sym typeface="Courier Prime"/>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a:t>
            </a:r>
            <a:r>
              <a:rPr b="1" i="0" lang="en-US" sz="2400" u="none" cap="none" strike="noStrike">
                <a:solidFill>
                  <a:srgbClr val="333344"/>
                </a:solidFill>
                <a:latin typeface="Courier Prime"/>
                <a:ea typeface="Courier Prime"/>
                <a:cs typeface="Courier Prime"/>
                <a:sym typeface="Courier Prime"/>
              </a:rPr>
              <a:t>.map()</a:t>
            </a:r>
            <a:r>
              <a:rPr b="0" i="0" lang="en-US" sz="2400" u="none" cap="none" strike="noStrike">
                <a:solidFill>
                  <a:srgbClr val="333344"/>
                </a:solidFill>
                <a:latin typeface="Calibri"/>
                <a:ea typeface="Calibri"/>
                <a:cs typeface="Calibri"/>
                <a:sym typeface="Calibri"/>
              </a:rPr>
              <a:t>` turns an array of data into an </a:t>
            </a:r>
            <a:r>
              <a:rPr b="1" i="0" lang="en-US" sz="2400" u="none" cap="none" strike="noStrike">
                <a:solidFill>
                  <a:srgbClr val="333344"/>
                </a:solidFill>
                <a:latin typeface="Calibri"/>
                <a:ea typeface="Calibri"/>
                <a:cs typeface="Calibri"/>
                <a:sym typeface="Calibri"/>
              </a:rPr>
              <a:t>array of React elements</a:t>
            </a:r>
            <a:r>
              <a:rPr b="0" i="0" lang="en-US" sz="2400" u="none" cap="none" strike="noStrike">
                <a:solidFill>
                  <a:srgbClr val="333344"/>
                </a:solidFill>
                <a:latin typeface="Calibri"/>
                <a:ea typeface="Calibri"/>
                <a:cs typeface="Calibri"/>
                <a:sym typeface="Calibri"/>
              </a:rPr>
              <a: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which JSX renders as a list of children.</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One new thing: the </a:t>
            </a:r>
            <a:r>
              <a:rPr b="1" i="0" lang="en-US" sz="2400" u="none" cap="none" strike="noStrike">
                <a:solidFill>
                  <a:srgbClr val="333344"/>
                </a:solidFill>
                <a:latin typeface="Calibri"/>
                <a:ea typeface="Calibri"/>
                <a:cs typeface="Calibri"/>
                <a:sym typeface="Calibri"/>
              </a:rPr>
              <a:t>`key` prop</a:t>
            </a:r>
            <a:r>
              <a:rPr b="0" i="0" lang="en-US" sz="2400" u="none" cap="none" strike="noStrike">
                <a:solidFill>
                  <a:srgbClr val="333344"/>
                </a:solidFill>
                <a:latin typeface="Calibri"/>
                <a:ea typeface="Calibri"/>
                <a:cs typeface="Calibri"/>
                <a:sym typeface="Calibri"/>
              </a:rPr>
              <a:t>. React asks you to give each</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element in a list a unique key so it can track items across</a:t>
            </a:r>
            <a:r>
              <a:rPr lang="en-US"/>
              <a:t> </a:t>
            </a:r>
            <a:r>
              <a:rPr b="0" i="0" lang="en-US" sz="2000" u="none" cap="none" strike="noStrike">
                <a:solidFill>
                  <a:srgbClr val="666677"/>
                </a:solidFill>
                <a:latin typeface="Calibri"/>
                <a:ea typeface="Calibri"/>
                <a:cs typeface="Calibri"/>
                <a:sym typeface="Calibri"/>
              </a:rPr>
              <a:t>re-renders.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0" name="Shape 340"/>
        <p:cNvGrpSpPr/>
        <p:nvPr/>
      </p:nvGrpSpPr>
      <p:grpSpPr>
        <a:xfrm>
          <a:off x="0" y="0"/>
          <a:ext cx="0" cy="0"/>
          <a:chOff x="0" y="0"/>
          <a:chExt cx="0" cy="0"/>
        </a:xfrm>
      </p:grpSpPr>
      <p:sp>
        <p:nvSpPr>
          <p:cNvPr id="341" name="Google Shape;341;p22"/>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Rendering lists is just .map()</a:t>
            </a:r>
            <a:endParaRPr/>
          </a:p>
        </p:txBody>
      </p:sp>
      <p:sp>
        <p:nvSpPr>
          <p:cNvPr id="342" name="Google Shape;342;p22"/>
          <p:cNvSpPr txBox="1"/>
          <p:nvPr/>
        </p:nvSpPr>
        <p:spPr>
          <a:xfrm>
            <a:off x="914400" y="1463040"/>
            <a:ext cx="10362900" cy="443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In 5.1 we learned `.map()` as the idiomatic way to transform arrays.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 We now use that to render lists in React.</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chemeClr val="dk1"/>
                </a:solidFill>
                <a:latin typeface="Courier Prime"/>
                <a:ea typeface="Courier Prime"/>
                <a:cs typeface="Courier Prime"/>
                <a:sym typeface="Courier Prime"/>
              </a:rPr>
              <a:t>todos.map((t) =&gt; &lt;TodoItem key={t.id} todo={t} /&gt;)</a:t>
            </a:r>
            <a:endParaRPr b="1">
              <a:solidFill>
                <a:schemeClr val="dk1"/>
              </a:solidFill>
              <a:latin typeface="Courier Prime"/>
              <a:ea typeface="Courier Prime"/>
              <a:cs typeface="Courier Prime"/>
              <a:sym typeface="Courier Prime"/>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a:t>
            </a:r>
            <a:r>
              <a:rPr b="1" i="0" lang="en-US" sz="2400" u="none" cap="none" strike="noStrike">
                <a:solidFill>
                  <a:srgbClr val="333344"/>
                </a:solidFill>
                <a:latin typeface="Courier Prime"/>
                <a:ea typeface="Courier Prime"/>
                <a:cs typeface="Courier Prime"/>
                <a:sym typeface="Courier Prime"/>
              </a:rPr>
              <a:t>.map()</a:t>
            </a:r>
            <a:r>
              <a:rPr b="0" i="0" lang="en-US" sz="2400" u="none" cap="none" strike="noStrike">
                <a:solidFill>
                  <a:srgbClr val="333344"/>
                </a:solidFill>
                <a:latin typeface="Calibri"/>
                <a:ea typeface="Calibri"/>
                <a:cs typeface="Calibri"/>
                <a:sym typeface="Calibri"/>
              </a:rPr>
              <a:t>` turns an array of data into an </a:t>
            </a:r>
            <a:r>
              <a:rPr b="1" i="0" lang="en-US" sz="2400" u="none" cap="none" strike="noStrike">
                <a:solidFill>
                  <a:srgbClr val="333344"/>
                </a:solidFill>
                <a:latin typeface="Calibri"/>
                <a:ea typeface="Calibri"/>
                <a:cs typeface="Calibri"/>
                <a:sym typeface="Calibri"/>
              </a:rPr>
              <a:t>array of React elements</a:t>
            </a:r>
            <a:r>
              <a:rPr b="0" i="0" lang="en-US" sz="2400" u="none" cap="none" strike="noStrike">
                <a:solidFill>
                  <a:srgbClr val="333344"/>
                </a:solidFill>
                <a:latin typeface="Calibri"/>
                <a:ea typeface="Calibri"/>
                <a:cs typeface="Calibri"/>
                <a:sym typeface="Calibri"/>
              </a:rPr>
              <a: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which JSX renders as a list of children.</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One new thing: the </a:t>
            </a:r>
            <a:r>
              <a:rPr b="1" i="0" lang="en-US" sz="2400" u="none" cap="none" strike="noStrike">
                <a:solidFill>
                  <a:srgbClr val="333344"/>
                </a:solidFill>
                <a:latin typeface="Calibri"/>
                <a:ea typeface="Calibri"/>
                <a:cs typeface="Calibri"/>
                <a:sym typeface="Calibri"/>
              </a:rPr>
              <a:t>`</a:t>
            </a:r>
            <a:r>
              <a:rPr b="1" i="0" lang="en-US" sz="2400" u="none" cap="none" strike="noStrike">
                <a:solidFill>
                  <a:srgbClr val="333344"/>
                </a:solidFill>
                <a:latin typeface="Courier Prime"/>
                <a:ea typeface="Courier Prime"/>
                <a:cs typeface="Courier Prime"/>
                <a:sym typeface="Courier Prime"/>
              </a:rPr>
              <a:t>key</a:t>
            </a:r>
            <a:r>
              <a:rPr b="1" i="0" lang="en-US" sz="2400" u="none" cap="none" strike="noStrike">
                <a:solidFill>
                  <a:srgbClr val="333344"/>
                </a:solidFill>
                <a:latin typeface="Calibri"/>
                <a:ea typeface="Calibri"/>
                <a:cs typeface="Calibri"/>
                <a:sym typeface="Calibri"/>
              </a:rPr>
              <a:t>` prop</a:t>
            </a:r>
            <a:r>
              <a:rPr b="0" i="0" lang="en-US" sz="2400" u="none" cap="none" strike="noStrike">
                <a:solidFill>
                  <a:srgbClr val="333344"/>
                </a:solidFill>
                <a:latin typeface="Calibri"/>
                <a:ea typeface="Calibri"/>
                <a:cs typeface="Calibri"/>
                <a:sym typeface="Calibri"/>
              </a:rPr>
              <a:t>. React asks you to give each</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element in a list a unique key so it can track items across </a:t>
            </a:r>
            <a:r>
              <a:rPr lang="en-US" sz="2000">
                <a:solidFill>
                  <a:srgbClr val="666677"/>
                </a:solidFill>
                <a:latin typeface="Calibri"/>
                <a:ea typeface="Calibri"/>
                <a:cs typeface="Calibri"/>
                <a:sym typeface="Calibri"/>
              </a:rPr>
              <a:t>re-renders. </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Use the id, not the array index - the index causes</a:t>
            </a:r>
            <a:r>
              <a:rPr lang="en-US"/>
              <a:t> </a:t>
            </a:r>
            <a:r>
              <a:rPr b="0" i="0" lang="en-US" sz="2000" u="none" cap="none" strike="noStrike">
                <a:solidFill>
                  <a:srgbClr val="666677"/>
                </a:solidFill>
                <a:latin typeface="Calibri"/>
                <a:ea typeface="Calibri"/>
                <a:cs typeface="Calibri"/>
                <a:sym typeface="Calibri"/>
              </a:rPr>
              <a:t>bugs the moment the list gets reordered.</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7" name="Shape 347"/>
        <p:cNvGrpSpPr/>
        <p:nvPr/>
      </p:nvGrpSpPr>
      <p:grpSpPr>
        <a:xfrm>
          <a:off x="0" y="0"/>
          <a:ext cx="0" cy="0"/>
          <a:chOff x="0" y="0"/>
          <a:chExt cx="0" cy="0"/>
        </a:xfrm>
      </p:grpSpPr>
      <p:sp>
        <p:nvSpPr>
          <p:cNvPr id="348" name="Google Shape;348;p23"/>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List rendering in full</a:t>
            </a:r>
            <a:endParaRPr/>
          </a:p>
        </p:txBody>
      </p:sp>
      <p:sp>
        <p:nvSpPr>
          <p:cNvPr id="349" name="Google Shape;349;p23"/>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350" name="Google Shape;350;p23"/>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1" name="Google Shape;351;p23"/>
          <p:cNvSpPr txBox="1"/>
          <p:nvPr/>
        </p:nvSpPr>
        <p:spPr>
          <a:xfrm>
            <a:off x="1005840" y="1645920"/>
            <a:ext cx="10180015"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interface TodoListProps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todos: Todo[];</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function TodoList({ todos }: TodoListProps)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Conditional rendering: show a placeholder for empty list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if (todos.length === 0)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return &lt;p&gt;No todos yet. Add one!&lt;/p&gt;;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return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&lt;ul&gt;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{todos.map((t) =&gt;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&lt;TodoItem key={t.id} todo={t} /&gt;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&lt;/ul&gt;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6" name="Shape 356"/>
        <p:cNvGrpSpPr/>
        <p:nvPr/>
      </p:nvGrpSpPr>
      <p:grpSpPr>
        <a:xfrm>
          <a:off x="0" y="0"/>
          <a:ext cx="0" cy="0"/>
          <a:chOff x="0" y="0"/>
          <a:chExt cx="0" cy="0"/>
        </a:xfrm>
      </p:grpSpPr>
      <p:sp>
        <p:nvSpPr>
          <p:cNvPr id="357" name="Google Shape;357;g3dc25bfaf09_0_514"/>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Conditional rendering: ternary and short-circuit</a:t>
            </a:r>
            <a:endParaRPr/>
          </a:p>
        </p:txBody>
      </p:sp>
      <p:sp>
        <p:nvSpPr>
          <p:cNvPr id="358" name="Google Shape;358;g3dc25bfaf09_0_514"/>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359" name="Google Shape;359;g3dc25bfaf09_0_514"/>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0" name="Google Shape;360;g3dc25bfaf09_0_514"/>
          <p:cNvSpPr txBox="1"/>
          <p:nvPr/>
        </p:nvSpPr>
        <p:spPr>
          <a:xfrm>
            <a:off x="1005840" y="1645920"/>
            <a:ext cx="10179900" cy="2103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 Ternary inside JSX for if/else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&lt;li className={todo.done ? "done" : ""}&gt;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{todo.done ? "[x] " : "[ ] "}{todo.title}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&lt;/li&gt;</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Short-circuit &amp;&amp; for "show this if true, nothing otherwise"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{todos.length === 0 &amp;&amp; &lt;p&gt;No todos yet!&lt;/p&gt;}</a:t>
            </a:r>
            <a:endParaRPr/>
          </a:p>
          <a:p>
            <a:pPr indent="0" lvl="0" marL="0" marR="0" rtl="0" algn="l">
              <a:spcBef>
                <a:spcPts val="20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5" name="Shape 365"/>
        <p:cNvGrpSpPr/>
        <p:nvPr/>
      </p:nvGrpSpPr>
      <p:grpSpPr>
        <a:xfrm>
          <a:off x="0" y="0"/>
          <a:ext cx="0" cy="0"/>
          <a:chOff x="0" y="0"/>
          <a:chExt cx="0" cy="0"/>
        </a:xfrm>
      </p:grpSpPr>
      <p:sp>
        <p:nvSpPr>
          <p:cNvPr id="366" name="Google Shape;366;p24"/>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Conditional rendering: ternary and short-circuit</a:t>
            </a:r>
            <a:endParaRPr/>
          </a:p>
        </p:txBody>
      </p:sp>
      <p:sp>
        <p:nvSpPr>
          <p:cNvPr id="367" name="Google Shape;367;p24"/>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368" name="Google Shape;368;p24"/>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9" name="Google Shape;369;p24"/>
          <p:cNvSpPr txBox="1"/>
          <p:nvPr/>
        </p:nvSpPr>
        <p:spPr>
          <a:xfrm>
            <a:off x="1005840" y="1645920"/>
            <a:ext cx="10180015"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 Ternary inside JSX for if/else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&lt;li className={todo.done ? "done" : ""}&gt;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{todo.done ? "[x] " : "[ ] "}{todo.title}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&lt;/li&gt;</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Short-circuit &amp;&amp; for "show this if true, nothing otherwise"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{todos.length === 0 &amp;&amp; &lt;p&gt;No todos yet!&lt;/p&gt;}</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Full example: a badge that only appears on urgent todos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function TodoItem({ todo }: TodoItemProps)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return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&lt;li&gt;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{todo.title}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{todo.priority === 1 &amp;&amp; &lt;span className="badge"&gt;URGENT&lt;/span&gt;}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&lt;/li&gt;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Early return works too, for whole-component branching.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4" name="Shape 374"/>
        <p:cNvGrpSpPr/>
        <p:nvPr/>
      </p:nvGrpSpPr>
      <p:grpSpPr>
        <a:xfrm>
          <a:off x="0" y="0"/>
          <a:ext cx="0" cy="0"/>
          <a:chOff x="0" y="0"/>
          <a:chExt cx="0" cy="0"/>
        </a:xfrm>
      </p:grpSpPr>
      <p:sp>
        <p:nvSpPr>
          <p:cNvPr id="375" name="Google Shape;375;p25"/>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Starting a React project with Vite</a:t>
            </a:r>
            <a:endParaRPr/>
          </a:p>
        </p:txBody>
      </p:sp>
      <p:sp>
        <p:nvSpPr>
          <p:cNvPr id="376" name="Google Shape;376;p25"/>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bash</a:t>
            </a:r>
            <a:endParaRPr/>
          </a:p>
        </p:txBody>
      </p:sp>
      <p:sp>
        <p:nvSpPr>
          <p:cNvPr id="377" name="Google Shape;377;p25"/>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8" name="Google Shape;378;p25"/>
          <p:cNvSpPr txBox="1"/>
          <p:nvPr/>
        </p:nvSpPr>
        <p:spPr>
          <a:xfrm>
            <a:off x="1005840" y="1645920"/>
            <a:ext cx="10180015"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 Create a new React + TypeScript project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npm create vite@latest my-app -- --template react-ts</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Install dependencies and start the dev server</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cd my-app</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npm install</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npm run dev</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Vite tells you the URL:</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VITE v5.0.0  ready in 412 ms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Local:   http://localhost:5173/</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Edit src/App.tsx. Save. Vite reloads the browser instantly.</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When you're ready to ship:</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npm run build   # produces static files in dist/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npm run preview # preview the production build locally</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3" name="Shape 383"/>
        <p:cNvGrpSpPr/>
        <p:nvPr/>
      </p:nvGrpSpPr>
      <p:grpSpPr>
        <a:xfrm>
          <a:off x="0" y="0"/>
          <a:ext cx="0" cy="0"/>
          <a:chOff x="0" y="0"/>
          <a:chExt cx="0" cy="0"/>
        </a:xfrm>
      </p:grpSpPr>
      <p:sp>
        <p:nvSpPr>
          <p:cNvPr id="384" name="Google Shape;384;p26"/>
          <p:cNvSpPr txBox="1"/>
          <p:nvPr/>
        </p:nvSpPr>
        <p:spPr>
          <a:xfrm>
            <a:off x="731520" y="27432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FFFFFF"/>
                </a:solidFill>
                <a:latin typeface="Calibri"/>
                <a:ea typeface="Calibri"/>
                <a:cs typeface="Calibri"/>
                <a:sym typeface="Calibri"/>
              </a:rPr>
              <a:t>TRY IT  </a:t>
            </a:r>
            <a:endParaRPr/>
          </a:p>
          <a:p>
            <a:pPr indent="0" lvl="0" marL="0" marR="0" rtl="0" algn="l">
              <a:spcBef>
                <a:spcPts val="0"/>
              </a:spcBef>
              <a:spcAft>
                <a:spcPts val="0"/>
              </a:spcAft>
              <a:buNone/>
            </a:pPr>
            <a:r>
              <a:rPr b="1" lang="en-US" sz="3000">
                <a:solidFill>
                  <a:srgbClr val="1A1A2E"/>
                </a:solidFill>
                <a:latin typeface="Calibri"/>
                <a:ea typeface="Calibri"/>
                <a:cs typeface="Calibri"/>
                <a:sym typeface="Calibri"/>
              </a:rPr>
              <a:t>Build a TodoList component</a:t>
            </a:r>
            <a:endParaRPr/>
          </a:p>
        </p:txBody>
      </p:sp>
      <p:sp>
        <p:nvSpPr>
          <p:cNvPr id="385" name="Google Shape;385;p26"/>
          <p:cNvSpPr/>
          <p:nvPr/>
        </p:nvSpPr>
        <p:spPr>
          <a:xfrm>
            <a:off x="640080" y="228600"/>
            <a:ext cx="1097280" cy="365760"/>
          </a:xfrm>
          <a:prstGeom prst="roundRect">
            <a:avLst>
              <a:gd fmla="val 16667" name="adj"/>
            </a:avLst>
          </a:prstGeom>
          <a:solidFill>
            <a:srgbClr val="5B21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6" name="Google Shape;386;p26"/>
          <p:cNvSpPr/>
          <p:nvPr/>
        </p:nvSpPr>
        <p:spPr>
          <a:xfrm>
            <a:off x="731525" y="1100675"/>
            <a:ext cx="10728600" cy="55596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7" name="Google Shape;387;p26"/>
          <p:cNvSpPr txBox="1"/>
          <p:nvPr/>
        </p:nvSpPr>
        <p:spPr>
          <a:xfrm>
            <a:off x="1005878" y="1320755"/>
            <a:ext cx="10179900" cy="513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a:solidFill>
                  <a:srgbClr val="333344"/>
                </a:solidFill>
                <a:latin typeface="Courier New"/>
                <a:ea typeface="Courier New"/>
                <a:cs typeface="Courier New"/>
                <a:sym typeface="Courier New"/>
              </a:rPr>
              <a:t>// Given: Todo interface { id, title, done } and todos: Todo[]</a:t>
            </a:r>
            <a:endParaRPr sz="1500"/>
          </a:p>
          <a:p>
            <a:pPr indent="0" lvl="0" marL="0" marR="0" rtl="0" algn="l">
              <a:spcBef>
                <a:spcPts val="200"/>
              </a:spcBef>
              <a:spcAft>
                <a:spcPts val="0"/>
              </a:spcAft>
              <a:buNone/>
            </a:pPr>
            <a:r>
              <a:rPr b="1" lang="en-US">
                <a:solidFill>
                  <a:srgbClr val="333344"/>
                </a:solidFill>
                <a:latin typeface="Courier New"/>
                <a:ea typeface="Courier New"/>
                <a:cs typeface="Courier New"/>
                <a:sym typeface="Courier New"/>
              </a:rPr>
              <a:t>// Goal: render each todo as an &lt;li&gt;, done ones get className="done".</a:t>
            </a:r>
            <a:endParaRPr sz="1500"/>
          </a:p>
          <a:p>
            <a:pPr indent="0" lvl="0" marL="0" marR="0" rtl="0" algn="l">
              <a:spcBef>
                <a:spcPts val="200"/>
              </a:spcBef>
              <a:spcAft>
                <a:spcPts val="0"/>
              </a:spcAft>
              <a:buNone/>
            </a:pPr>
            <a:r>
              <a:t/>
            </a:r>
            <a:endParaRPr b="1">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a:solidFill>
                  <a:srgbClr val="333344"/>
                </a:solidFill>
                <a:latin typeface="Courier New"/>
                <a:ea typeface="Courier New"/>
                <a:cs typeface="Courier New"/>
                <a:sym typeface="Courier New"/>
              </a:rPr>
              <a:t>interface TodoListProps {</a:t>
            </a:r>
            <a:endParaRPr sz="1500"/>
          </a:p>
          <a:p>
            <a:pPr indent="0" lvl="0" marL="0" marR="0" rtl="0" algn="l">
              <a:spcBef>
                <a:spcPts val="200"/>
              </a:spcBef>
              <a:spcAft>
                <a:spcPts val="0"/>
              </a:spcAft>
              <a:buNone/>
            </a:pPr>
            <a:r>
              <a:rPr b="1" lang="en-US">
                <a:solidFill>
                  <a:srgbClr val="B0B0C0"/>
                </a:solidFill>
                <a:latin typeface="Courier New"/>
                <a:ea typeface="Courier New"/>
                <a:cs typeface="Courier New"/>
                <a:sym typeface="Courier New"/>
              </a:rPr>
              <a:t>    </a:t>
            </a:r>
            <a:r>
              <a:rPr b="1" lang="en-US">
                <a:solidFill>
                  <a:schemeClr val="dk1"/>
                </a:solidFill>
                <a:latin typeface="Courier New"/>
                <a:ea typeface="Courier New"/>
                <a:cs typeface="Courier New"/>
                <a:sym typeface="Courier New"/>
              </a:rPr>
              <a:t>todos:</a:t>
            </a:r>
            <a:r>
              <a:rPr b="1" lang="en-US">
                <a:solidFill>
                  <a:srgbClr val="B0B0C0"/>
                </a:solidFill>
                <a:latin typeface="Courier New"/>
                <a:ea typeface="Courier New"/>
                <a:cs typeface="Courier New"/>
                <a:sym typeface="Courier New"/>
              </a:rPr>
              <a:t> ________;</a:t>
            </a:r>
            <a:endParaRPr sz="1500"/>
          </a:p>
          <a:p>
            <a:pPr indent="0" lvl="0" marL="0" marR="0" rtl="0" algn="l">
              <a:spcBef>
                <a:spcPts val="200"/>
              </a:spcBef>
              <a:spcAft>
                <a:spcPts val="0"/>
              </a:spcAft>
              <a:buNone/>
            </a:pPr>
            <a:r>
              <a:rPr b="1" lang="en-US">
                <a:solidFill>
                  <a:srgbClr val="333344"/>
                </a:solidFill>
                <a:latin typeface="Courier New"/>
                <a:ea typeface="Courier New"/>
                <a:cs typeface="Courier New"/>
                <a:sym typeface="Courier New"/>
              </a:rPr>
              <a:t>}</a:t>
            </a:r>
            <a:endParaRPr sz="1500"/>
          </a:p>
          <a:p>
            <a:pPr indent="0" lvl="0" marL="0" marR="0" rtl="0" algn="l">
              <a:spcBef>
                <a:spcPts val="200"/>
              </a:spcBef>
              <a:spcAft>
                <a:spcPts val="0"/>
              </a:spcAft>
              <a:buNone/>
            </a:pPr>
            <a:r>
              <a:t/>
            </a:r>
            <a:endParaRPr b="1">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a:solidFill>
                  <a:schemeClr val="dk1"/>
                </a:solidFill>
                <a:latin typeface="Courier New"/>
                <a:ea typeface="Courier New"/>
                <a:cs typeface="Courier New"/>
                <a:sym typeface="Courier New"/>
              </a:rPr>
              <a:t>function TodoList(</a:t>
            </a:r>
            <a:r>
              <a:rPr b="1" lang="en-US">
                <a:solidFill>
                  <a:srgbClr val="B0B0C0"/>
                </a:solidFill>
                <a:latin typeface="Courier New"/>
                <a:ea typeface="Courier New"/>
                <a:cs typeface="Courier New"/>
                <a:sym typeface="Courier New"/>
              </a:rPr>
              <a:t>{ ________ }</a:t>
            </a:r>
            <a:r>
              <a:rPr b="1" lang="en-US">
                <a:solidFill>
                  <a:schemeClr val="dk1"/>
                </a:solidFill>
                <a:latin typeface="Courier New"/>
                <a:ea typeface="Courier New"/>
                <a:cs typeface="Courier New"/>
                <a:sym typeface="Courier New"/>
              </a:rPr>
              <a:t>: TodoListProps) {</a:t>
            </a:r>
            <a:endParaRPr sz="1500">
              <a:solidFill>
                <a:schemeClr val="dk1"/>
              </a:solidFill>
            </a:endParaRPr>
          </a:p>
          <a:p>
            <a:pPr indent="0" lvl="0" marL="0" marR="0" rtl="0" algn="l">
              <a:spcBef>
                <a:spcPts val="200"/>
              </a:spcBef>
              <a:spcAft>
                <a:spcPts val="0"/>
              </a:spcAft>
              <a:buNone/>
            </a:pPr>
            <a:r>
              <a:rPr b="1" lang="en-US">
                <a:solidFill>
                  <a:srgbClr val="333344"/>
                </a:solidFill>
                <a:latin typeface="Courier New"/>
                <a:ea typeface="Courier New"/>
                <a:cs typeface="Courier New"/>
                <a:sym typeface="Courier New"/>
              </a:rPr>
              <a:t>    return (</a:t>
            </a:r>
            <a:endParaRPr sz="1500"/>
          </a:p>
          <a:p>
            <a:pPr indent="0" lvl="0" marL="0" marR="0" rtl="0" algn="l">
              <a:spcBef>
                <a:spcPts val="200"/>
              </a:spcBef>
              <a:spcAft>
                <a:spcPts val="0"/>
              </a:spcAft>
              <a:buNone/>
            </a:pPr>
            <a:r>
              <a:rPr b="1" lang="en-US">
                <a:solidFill>
                  <a:srgbClr val="333344"/>
                </a:solidFill>
                <a:latin typeface="Courier New"/>
                <a:ea typeface="Courier New"/>
                <a:cs typeface="Courier New"/>
                <a:sym typeface="Courier New"/>
              </a:rPr>
              <a:t>        &lt;ul&gt;</a:t>
            </a:r>
            <a:endParaRPr sz="1500"/>
          </a:p>
          <a:p>
            <a:pPr indent="0" lvl="0" marL="0" marR="0" rtl="0" algn="l">
              <a:spcBef>
                <a:spcPts val="200"/>
              </a:spcBef>
              <a:spcAft>
                <a:spcPts val="0"/>
              </a:spcAft>
              <a:buNone/>
            </a:pPr>
            <a:r>
              <a:rPr b="1" lang="en-US">
                <a:solidFill>
                  <a:srgbClr val="B0B0C0"/>
                </a:solidFill>
                <a:latin typeface="Courier New"/>
                <a:ea typeface="Courier New"/>
                <a:cs typeface="Courier New"/>
                <a:sym typeface="Courier New"/>
              </a:rPr>
              <a:t>            </a:t>
            </a:r>
            <a:r>
              <a:rPr b="1" lang="en-US">
                <a:solidFill>
                  <a:schemeClr val="dk1"/>
                </a:solidFill>
                <a:latin typeface="Courier New"/>
                <a:ea typeface="Courier New"/>
                <a:cs typeface="Courier New"/>
                <a:sym typeface="Courier New"/>
              </a:rPr>
              <a:t>{todos</a:t>
            </a:r>
            <a:r>
              <a:rPr b="1" lang="en-US">
                <a:solidFill>
                  <a:srgbClr val="B0B0C0"/>
                </a:solidFill>
                <a:latin typeface="Courier New"/>
                <a:ea typeface="Courier New"/>
                <a:cs typeface="Courier New"/>
                <a:sym typeface="Courier New"/>
              </a:rPr>
              <a:t>.________((</a:t>
            </a:r>
            <a:r>
              <a:rPr b="1" lang="en-US">
                <a:solidFill>
                  <a:schemeClr val="dk1"/>
                </a:solidFill>
                <a:latin typeface="Courier New"/>
                <a:ea typeface="Courier New"/>
                <a:cs typeface="Courier New"/>
                <a:sym typeface="Courier New"/>
              </a:rPr>
              <a:t>todo) =&gt; (</a:t>
            </a:r>
            <a:endParaRPr sz="1500">
              <a:solidFill>
                <a:schemeClr val="dk1"/>
              </a:solidFill>
            </a:endParaRPr>
          </a:p>
          <a:p>
            <a:pPr indent="0" lvl="0" marL="0" marR="0" rtl="0" algn="l">
              <a:spcBef>
                <a:spcPts val="200"/>
              </a:spcBef>
              <a:spcAft>
                <a:spcPts val="0"/>
              </a:spcAft>
              <a:buNone/>
            </a:pPr>
            <a:r>
              <a:rPr b="1" lang="en-US">
                <a:solidFill>
                  <a:srgbClr val="333344"/>
                </a:solidFill>
                <a:latin typeface="Courier New"/>
                <a:ea typeface="Courier New"/>
                <a:cs typeface="Courier New"/>
                <a:sym typeface="Courier New"/>
              </a:rPr>
              <a:t>                &lt;li</a:t>
            </a:r>
            <a:endParaRPr sz="1500"/>
          </a:p>
          <a:p>
            <a:pPr indent="0" lvl="0" marL="0" marR="0" rtl="0" algn="l">
              <a:spcBef>
                <a:spcPts val="200"/>
              </a:spcBef>
              <a:spcAft>
                <a:spcPts val="0"/>
              </a:spcAft>
              <a:buNone/>
            </a:pPr>
            <a:r>
              <a:rPr b="1" lang="en-US">
                <a:solidFill>
                  <a:srgbClr val="B0B0C0"/>
                </a:solidFill>
                <a:latin typeface="Courier New"/>
                <a:ea typeface="Courier New"/>
                <a:cs typeface="Courier New"/>
                <a:sym typeface="Courier New"/>
              </a:rPr>
              <a:t>                    ________</a:t>
            </a:r>
            <a:r>
              <a:rPr b="1" lang="en-US">
                <a:solidFill>
                  <a:schemeClr val="dk1"/>
                </a:solidFill>
                <a:latin typeface="Courier New"/>
                <a:ea typeface="Courier New"/>
                <a:cs typeface="Courier New"/>
                <a:sym typeface="Courier New"/>
              </a:rPr>
              <a:t>={todo.id}</a:t>
            </a:r>
            <a:endParaRPr sz="1500">
              <a:solidFill>
                <a:schemeClr val="dk1"/>
              </a:solidFill>
            </a:endParaRPr>
          </a:p>
          <a:p>
            <a:pPr indent="0" lvl="0" marL="0" marR="0" rtl="0" algn="l">
              <a:spcBef>
                <a:spcPts val="200"/>
              </a:spcBef>
              <a:spcAft>
                <a:spcPts val="0"/>
              </a:spcAft>
              <a:buNone/>
            </a:pPr>
            <a:r>
              <a:rPr b="1" lang="en-US">
                <a:solidFill>
                  <a:schemeClr val="dk1"/>
                </a:solidFill>
                <a:latin typeface="Courier New"/>
                <a:ea typeface="Courier New"/>
                <a:cs typeface="Courier New"/>
                <a:sym typeface="Courier New"/>
              </a:rPr>
              <a:t>                    className={todo.done ?</a:t>
            </a:r>
            <a:r>
              <a:rPr b="1" lang="en-US">
                <a:solidFill>
                  <a:srgbClr val="B0B0C0"/>
                </a:solidFill>
                <a:latin typeface="Courier New"/>
                <a:ea typeface="Courier New"/>
                <a:cs typeface="Courier New"/>
                <a:sym typeface="Courier New"/>
              </a:rPr>
              <a:t> ________ </a:t>
            </a:r>
            <a:r>
              <a:rPr b="1" lang="en-US">
                <a:solidFill>
                  <a:schemeClr val="dk1"/>
                </a:solidFill>
                <a:latin typeface="Courier New"/>
                <a:ea typeface="Courier New"/>
                <a:cs typeface="Courier New"/>
                <a:sym typeface="Courier New"/>
              </a:rPr>
              <a:t>: ""}</a:t>
            </a:r>
            <a:endParaRPr sz="1500">
              <a:solidFill>
                <a:schemeClr val="dk1"/>
              </a:solidFill>
            </a:endParaRPr>
          </a:p>
          <a:p>
            <a:pPr indent="0" lvl="0" marL="0" marR="0" rtl="0" algn="l">
              <a:spcBef>
                <a:spcPts val="200"/>
              </a:spcBef>
              <a:spcAft>
                <a:spcPts val="0"/>
              </a:spcAft>
              <a:buNone/>
            </a:pPr>
            <a:r>
              <a:rPr b="1" lang="en-US">
                <a:solidFill>
                  <a:srgbClr val="333344"/>
                </a:solidFill>
                <a:latin typeface="Courier New"/>
                <a:ea typeface="Courier New"/>
                <a:cs typeface="Courier New"/>
                <a:sym typeface="Courier New"/>
              </a:rPr>
              <a:t>                &gt;</a:t>
            </a:r>
            <a:endParaRPr sz="1500"/>
          </a:p>
          <a:p>
            <a:pPr indent="0" lvl="0" marL="0" marR="0" rtl="0" algn="l">
              <a:spcBef>
                <a:spcPts val="200"/>
              </a:spcBef>
              <a:spcAft>
                <a:spcPts val="0"/>
              </a:spcAft>
              <a:buNone/>
            </a:pPr>
            <a:r>
              <a:rPr b="1" lang="en-US">
                <a:solidFill>
                  <a:srgbClr val="B0B0C0"/>
                </a:solidFill>
                <a:latin typeface="Courier New"/>
                <a:ea typeface="Courier New"/>
                <a:cs typeface="Courier New"/>
                <a:sym typeface="Courier New"/>
              </a:rPr>
              <a:t>                    {________}</a:t>
            </a:r>
            <a:endParaRPr sz="1500"/>
          </a:p>
          <a:p>
            <a:pPr indent="0" lvl="0" marL="0" marR="0" rtl="0" algn="l">
              <a:spcBef>
                <a:spcPts val="200"/>
              </a:spcBef>
              <a:spcAft>
                <a:spcPts val="0"/>
              </a:spcAft>
              <a:buNone/>
            </a:pPr>
            <a:r>
              <a:rPr b="1" lang="en-US">
                <a:solidFill>
                  <a:srgbClr val="333344"/>
                </a:solidFill>
                <a:latin typeface="Courier New"/>
                <a:ea typeface="Courier New"/>
                <a:cs typeface="Courier New"/>
                <a:sym typeface="Courier New"/>
              </a:rPr>
              <a:t>                &lt;/li&gt;</a:t>
            </a:r>
            <a:endParaRPr sz="1500"/>
          </a:p>
          <a:p>
            <a:pPr indent="0" lvl="0" marL="0" marR="0" rtl="0" algn="l">
              <a:spcBef>
                <a:spcPts val="200"/>
              </a:spcBef>
              <a:spcAft>
                <a:spcPts val="0"/>
              </a:spcAft>
              <a:buNone/>
            </a:pPr>
            <a:r>
              <a:rPr b="1" lang="en-US">
                <a:solidFill>
                  <a:srgbClr val="333344"/>
                </a:solidFill>
                <a:latin typeface="Courier New"/>
                <a:ea typeface="Courier New"/>
                <a:cs typeface="Courier New"/>
                <a:sym typeface="Courier New"/>
              </a:rPr>
              <a:t>            ))}</a:t>
            </a:r>
            <a:endParaRPr sz="1500"/>
          </a:p>
          <a:p>
            <a:pPr indent="0" lvl="0" marL="0" marR="0" rtl="0" algn="l">
              <a:spcBef>
                <a:spcPts val="200"/>
              </a:spcBef>
              <a:spcAft>
                <a:spcPts val="0"/>
              </a:spcAft>
              <a:buNone/>
            </a:pPr>
            <a:r>
              <a:rPr b="1" lang="en-US">
                <a:solidFill>
                  <a:srgbClr val="333344"/>
                </a:solidFill>
                <a:latin typeface="Courier New"/>
                <a:ea typeface="Courier New"/>
                <a:cs typeface="Courier New"/>
                <a:sym typeface="Courier New"/>
              </a:rPr>
              <a:t>        &lt;/ul&gt;</a:t>
            </a:r>
            <a:endParaRPr sz="1500"/>
          </a:p>
          <a:p>
            <a:pPr indent="0" lvl="0" marL="0" marR="0" rtl="0" algn="l">
              <a:spcBef>
                <a:spcPts val="200"/>
              </a:spcBef>
              <a:spcAft>
                <a:spcPts val="0"/>
              </a:spcAft>
              <a:buNone/>
            </a:pPr>
            <a:r>
              <a:rPr b="1" lang="en-US">
                <a:solidFill>
                  <a:srgbClr val="333344"/>
                </a:solidFill>
                <a:latin typeface="Courier New"/>
                <a:ea typeface="Courier New"/>
                <a:cs typeface="Courier New"/>
                <a:sym typeface="Courier New"/>
              </a:rPr>
              <a:t>    );</a:t>
            </a:r>
            <a:endParaRPr sz="1500"/>
          </a:p>
          <a:p>
            <a:pPr indent="0" lvl="0" marL="0" marR="0" rtl="0" algn="l">
              <a:spcBef>
                <a:spcPts val="200"/>
              </a:spcBef>
              <a:spcAft>
                <a:spcPts val="0"/>
              </a:spcAft>
              <a:buNone/>
            </a:pPr>
            <a:r>
              <a:rPr b="1" lang="en-US">
                <a:solidFill>
                  <a:srgbClr val="333344"/>
                </a:solidFill>
                <a:latin typeface="Courier New"/>
                <a:ea typeface="Courier New"/>
                <a:cs typeface="Courier New"/>
                <a:sym typeface="Courier New"/>
              </a:rPr>
              <a:t>}</a:t>
            </a:r>
            <a:endParaRPr sz="15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392" name="Shape 392"/>
        <p:cNvGrpSpPr/>
        <p:nvPr/>
      </p:nvGrpSpPr>
      <p:grpSpPr>
        <a:xfrm>
          <a:off x="0" y="0"/>
          <a:ext cx="0" cy="0"/>
          <a:chOff x="0" y="0"/>
          <a:chExt cx="0" cy="0"/>
        </a:xfrm>
      </p:grpSpPr>
      <p:sp>
        <p:nvSpPr>
          <p:cNvPr id="393" name="Google Shape;393;p27"/>
          <p:cNvSpPr txBox="1"/>
          <p:nvPr/>
        </p:nvSpPr>
        <p:spPr>
          <a:xfrm>
            <a:off x="731520" y="27432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FFFFFF"/>
                </a:solidFill>
                <a:latin typeface="Calibri"/>
                <a:ea typeface="Calibri"/>
                <a:cs typeface="Calibri"/>
                <a:sym typeface="Calibri"/>
              </a:rPr>
              <a:t>ANSWER  </a:t>
            </a:r>
            <a:endParaRPr/>
          </a:p>
          <a:p>
            <a:pPr indent="0" lvl="0" marL="0" marR="0" rtl="0" algn="l">
              <a:spcBef>
                <a:spcPts val="0"/>
              </a:spcBef>
              <a:spcAft>
                <a:spcPts val="0"/>
              </a:spcAft>
              <a:buNone/>
            </a:pPr>
            <a:r>
              <a:rPr b="1" lang="en-US" sz="3000">
                <a:solidFill>
                  <a:srgbClr val="1A1A2E"/>
                </a:solidFill>
                <a:latin typeface="Calibri"/>
                <a:ea typeface="Calibri"/>
                <a:cs typeface="Calibri"/>
                <a:sym typeface="Calibri"/>
              </a:rPr>
              <a:t>Build a TodoList component</a:t>
            </a:r>
            <a:endParaRPr/>
          </a:p>
        </p:txBody>
      </p:sp>
      <p:sp>
        <p:nvSpPr>
          <p:cNvPr id="394" name="Google Shape;394;p27"/>
          <p:cNvSpPr/>
          <p:nvPr/>
        </p:nvSpPr>
        <p:spPr>
          <a:xfrm>
            <a:off x="640080" y="228600"/>
            <a:ext cx="1188720" cy="365760"/>
          </a:xfrm>
          <a:prstGeom prst="roundRect">
            <a:avLst>
              <a:gd fmla="val 16667" name="adj"/>
            </a:avLst>
          </a:prstGeom>
          <a:solidFill>
            <a:srgbClr val="16653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5" name="Google Shape;395;p27"/>
          <p:cNvSpPr/>
          <p:nvPr/>
        </p:nvSpPr>
        <p:spPr>
          <a:xfrm>
            <a:off x="731520" y="1371600"/>
            <a:ext cx="10728655" cy="50292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6" name="Google Shape;396;p27"/>
          <p:cNvSpPr txBox="1"/>
          <p:nvPr/>
        </p:nvSpPr>
        <p:spPr>
          <a:xfrm>
            <a:off x="1005840" y="1554480"/>
            <a:ext cx="10180015" cy="46634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333344"/>
                </a:solidFill>
                <a:latin typeface="Courier New"/>
                <a:ea typeface="Courier New"/>
                <a:cs typeface="Courier New"/>
                <a:sym typeface="Courier New"/>
              </a:rPr>
              <a:t>interface TodoListProps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todos: Todo[];</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b="1" sz="13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function TodoList({ todos }: TodoListProps)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return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&lt;ul&gt;</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{todos.map((todo) =&gt;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&lt;li</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key={todo.id}</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className={todo.done ? "done" :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&gt;</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{todo.title}</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&lt;/li&gt;</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&lt;/ul&gt;</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b="1" sz="13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Usage: &lt;TodoList todos={todos} /&gt;</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Renders a &lt;ul&gt; with one &lt;li&gt; per todo. Completed ones get .done.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1" name="Shape 401"/>
        <p:cNvGrpSpPr/>
        <p:nvPr/>
      </p:nvGrpSpPr>
      <p:grpSpPr>
        <a:xfrm>
          <a:off x="0" y="0"/>
          <a:ext cx="0" cy="0"/>
          <a:chOff x="0" y="0"/>
          <a:chExt cx="0" cy="0"/>
        </a:xfrm>
      </p:grpSpPr>
      <p:sp>
        <p:nvSpPr>
          <p:cNvPr id="402" name="Google Shape;402;g3dc25bfaf09_0_245"/>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1A1A2E"/>
                </a:solidFill>
                <a:latin typeface="Calibri"/>
                <a:ea typeface="Calibri"/>
                <a:cs typeface="Calibri"/>
                <a:sym typeface="Calibri"/>
              </a:rPr>
              <a:t>The landscape</a:t>
            </a:r>
            <a:endParaRPr/>
          </a:p>
        </p:txBody>
      </p:sp>
      <p:sp>
        <p:nvSpPr>
          <p:cNvPr id="403" name="Google Shape;403;g3dc25bfaf09_0_245"/>
          <p:cNvSpPr txBox="1"/>
          <p:nvPr/>
        </p:nvSpPr>
        <p:spPr>
          <a:xfrm>
            <a:off x="914400" y="1280140"/>
            <a:ext cx="10362900" cy="2293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33344"/>
                </a:solidFill>
                <a:latin typeface="Calibri"/>
                <a:ea typeface="Calibri"/>
                <a:cs typeface="Calibri"/>
                <a:sym typeface="Calibri"/>
              </a:rPr>
              <a:t>Historical losers</a:t>
            </a:r>
            <a:r>
              <a:rPr b="0" lang="en-US" sz="2400">
                <a:solidFill>
                  <a:srgbClr val="333344"/>
                </a:solidFill>
                <a:latin typeface="Calibri"/>
                <a:ea typeface="Calibri"/>
                <a:cs typeface="Calibri"/>
                <a:sym typeface="Calibri"/>
              </a:rPr>
              <a:t>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jQuery</a:t>
            </a:r>
            <a:r>
              <a:rPr b="0" i="0" lang="en-US" sz="2000" u="none" cap="none" strike="noStrike">
                <a:solidFill>
                  <a:srgbClr val="666677"/>
                </a:solidFill>
                <a:latin typeface="Calibri"/>
                <a:ea typeface="Calibri"/>
                <a:cs typeface="Calibri"/>
                <a:sym typeface="Calibri"/>
              </a:rPr>
              <a:t> (2006) - nicer DOM mutation, didn't solve the sync</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problem at all.</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Angular 1</a:t>
            </a:r>
            <a:r>
              <a:rPr b="0" i="0" lang="en-US" sz="2000" u="none" cap="none" strike="noStrike">
                <a:solidFill>
                  <a:srgbClr val="666677"/>
                </a:solidFill>
                <a:latin typeface="Calibri"/>
                <a:ea typeface="Calibri"/>
                <a:cs typeface="Calibri"/>
                <a:sym typeface="Calibri"/>
              </a:rPr>
              <a:t> (2010) - bound inputs to model fields automatically</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in both directions. Killed by Angular 2's incompatible rewrite.</a:t>
            </a:r>
            <a:endParaRPr/>
          </a:p>
          <a:p>
            <a:pPr indent="0" lvl="0" marL="0" marR="0" rtl="0" algn="l">
              <a:spcBef>
                <a:spcPts val="600"/>
              </a:spcBef>
              <a:spcAft>
                <a:spcPts val="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8" name="Shape 408"/>
        <p:cNvGrpSpPr/>
        <p:nvPr/>
      </p:nvGrpSpPr>
      <p:grpSpPr>
        <a:xfrm>
          <a:off x="0" y="0"/>
          <a:ext cx="0" cy="0"/>
          <a:chOff x="0" y="0"/>
          <a:chExt cx="0" cy="0"/>
        </a:xfrm>
      </p:grpSpPr>
      <p:sp>
        <p:nvSpPr>
          <p:cNvPr id="409" name="Google Shape;409;g3dc25bfaf09_0_140"/>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1A1A2E"/>
                </a:solidFill>
                <a:latin typeface="Calibri"/>
                <a:ea typeface="Calibri"/>
                <a:cs typeface="Calibri"/>
                <a:sym typeface="Calibri"/>
              </a:rPr>
              <a:t>The landscape</a:t>
            </a:r>
            <a:endParaRPr/>
          </a:p>
        </p:txBody>
      </p:sp>
      <p:sp>
        <p:nvSpPr>
          <p:cNvPr id="410" name="Google Shape;410;g3dc25bfaf09_0_140"/>
          <p:cNvSpPr txBox="1"/>
          <p:nvPr/>
        </p:nvSpPr>
        <p:spPr>
          <a:xfrm>
            <a:off x="914400" y="1280140"/>
            <a:ext cx="10362900" cy="511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33344"/>
                </a:solidFill>
                <a:latin typeface="Calibri"/>
                <a:ea typeface="Calibri"/>
                <a:cs typeface="Calibri"/>
                <a:sym typeface="Calibri"/>
              </a:rPr>
              <a:t>Historical losers</a:t>
            </a:r>
            <a:r>
              <a:rPr b="0" lang="en-US" sz="2400">
                <a:solidFill>
                  <a:srgbClr val="333344"/>
                </a:solidFill>
                <a:latin typeface="Calibri"/>
                <a:ea typeface="Calibri"/>
                <a:cs typeface="Calibri"/>
                <a:sym typeface="Calibri"/>
              </a:rPr>
              <a:t>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jQuery</a:t>
            </a:r>
            <a:r>
              <a:rPr b="0" i="0" lang="en-US" sz="2000" u="none" cap="none" strike="noStrike">
                <a:solidFill>
                  <a:srgbClr val="666677"/>
                </a:solidFill>
                <a:latin typeface="Calibri"/>
                <a:ea typeface="Calibri"/>
                <a:cs typeface="Calibri"/>
                <a:sym typeface="Calibri"/>
              </a:rPr>
              <a:t> (2006) - nicer DOM mutation, didn't solve the sync</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problem at all.</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Angular 1</a:t>
            </a:r>
            <a:r>
              <a:rPr b="0" i="0" lang="en-US" sz="2000" u="none" cap="none" strike="noStrike">
                <a:solidFill>
                  <a:srgbClr val="666677"/>
                </a:solidFill>
                <a:latin typeface="Calibri"/>
                <a:ea typeface="Calibri"/>
                <a:cs typeface="Calibri"/>
                <a:sym typeface="Calibri"/>
              </a:rPr>
              <a:t> (2010) - bound inputs to model fields automatically</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in both directions. Killed by Angular 2's incompatible rewrite.</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lang="en-US" sz="2400">
                <a:solidFill>
                  <a:srgbClr val="333344"/>
                </a:solidFill>
                <a:latin typeface="Calibri"/>
                <a:ea typeface="Calibri"/>
                <a:cs typeface="Calibri"/>
                <a:sym typeface="Calibri"/>
              </a:rPr>
              <a:t>Live alternatives</a:t>
            </a:r>
            <a:r>
              <a:rPr b="0" lang="en-US" sz="2400">
                <a:solidFill>
                  <a:srgbClr val="333344"/>
                </a:solidFill>
                <a:latin typeface="Calibri"/>
                <a:ea typeface="Calibri"/>
                <a:cs typeface="Calibri"/>
                <a:sym typeface="Calibri"/>
              </a:rPr>
              <a:t> - people pick these for new projects today:</a:t>
            </a:r>
            <a:endParaRPr/>
          </a:p>
          <a:p>
            <a:pPr indent="0" lvl="0" marL="0" marR="0" rtl="0" algn="l">
              <a:spcBef>
                <a:spcPts val="600"/>
              </a:spcBef>
              <a:spcAft>
                <a:spcPts val="0"/>
              </a:spcAft>
              <a:buNone/>
            </a:pPr>
            <a:r>
              <a:t/>
            </a:r>
            <a:endParaRPr b="0" sz="2400">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Vue</a:t>
            </a:r>
            <a:r>
              <a:rPr b="0" i="0" lang="en-US" sz="2000" u="none" cap="none" strike="noStrike">
                <a:solidFill>
                  <a:srgbClr val="666677"/>
                </a:solidFill>
                <a:latin typeface="Calibri"/>
                <a:ea typeface="Calibri"/>
                <a:cs typeface="Calibri"/>
                <a:sym typeface="Calibri"/>
              </a:rPr>
              <a:t> (2014) - React-style components, friendlier syntax.</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Svelte</a:t>
            </a:r>
            <a:r>
              <a:rPr b="0" i="0" lang="en-US" sz="2000" u="none" cap="none" strike="noStrike">
                <a:solidFill>
                  <a:srgbClr val="666677"/>
                </a:solidFill>
                <a:latin typeface="Calibri"/>
                <a:ea typeface="Calibri"/>
                <a:cs typeface="Calibri"/>
                <a:sym typeface="Calibri"/>
              </a:rPr>
              <a:t> (2016) - compiler emits the DOM updates for you.</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HTMX</a:t>
            </a:r>
            <a:r>
              <a:rPr b="0" i="0" lang="en-US" sz="2000" u="none" cap="none" strike="noStrike">
                <a:solidFill>
                  <a:srgbClr val="666677"/>
                </a:solidFill>
                <a:latin typeface="Calibri"/>
                <a:ea typeface="Calibri"/>
                <a:cs typeface="Calibri"/>
                <a:sym typeface="Calibri"/>
              </a:rPr>
              <a:t> (2020) - skip the JS framework entirely.</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5" name="Shape 415"/>
        <p:cNvGrpSpPr/>
        <p:nvPr/>
      </p:nvGrpSpPr>
      <p:grpSpPr>
        <a:xfrm>
          <a:off x="0" y="0"/>
          <a:ext cx="0" cy="0"/>
          <a:chOff x="0" y="0"/>
          <a:chExt cx="0" cy="0"/>
        </a:xfrm>
      </p:grpSpPr>
      <p:sp>
        <p:nvSpPr>
          <p:cNvPr id="416" name="Google Shape;416;g3dc25bfaf09_0_146"/>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1A1A2E"/>
                </a:solidFill>
                <a:latin typeface="Calibri"/>
                <a:ea typeface="Calibri"/>
                <a:cs typeface="Calibri"/>
                <a:sym typeface="Calibri"/>
              </a:rPr>
              <a:t>TodoList in Vue</a:t>
            </a:r>
            <a:endParaRPr/>
          </a:p>
        </p:txBody>
      </p:sp>
      <p:sp>
        <p:nvSpPr>
          <p:cNvPr id="417" name="Google Shape;417;g3dc25bfaf09_0_146"/>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lang="en-US" sz="1400">
                <a:solidFill>
                  <a:srgbClr val="5B21B6"/>
                </a:solidFill>
                <a:latin typeface="Courier New"/>
                <a:ea typeface="Courier New"/>
                <a:cs typeface="Courier New"/>
                <a:sym typeface="Courier New"/>
              </a:rPr>
              <a:t>Vue</a:t>
            </a:r>
            <a:endParaRPr/>
          </a:p>
        </p:txBody>
      </p:sp>
      <p:sp>
        <p:nvSpPr>
          <p:cNvPr id="418" name="Google Shape;418;g3dc25bfaf09_0_146"/>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g3dc25bfaf09_0_146"/>
          <p:cNvSpPr txBox="1"/>
          <p:nvPr/>
        </p:nvSpPr>
        <p:spPr>
          <a:xfrm>
            <a:off x="1005840" y="1645920"/>
            <a:ext cx="10179900" cy="464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333344"/>
                </a:solidFill>
                <a:latin typeface="Courier New"/>
                <a:ea typeface="Courier New"/>
                <a:cs typeface="Courier New"/>
                <a:sym typeface="Courier New"/>
              </a:rPr>
              <a:t>&lt;!-- Vue: template and script live in one .vue file. --&gt;</a:t>
            </a:r>
            <a:endParaRPr/>
          </a:p>
          <a:p>
            <a:pPr indent="0" lvl="0" marL="0" marR="0" rtl="0" algn="l">
              <a:spcBef>
                <a:spcPts val="200"/>
              </a:spcBef>
              <a:spcAft>
                <a:spcPts val="0"/>
              </a:spcAft>
              <a:buNone/>
            </a:pPr>
            <a:r>
              <a:rPr b="1" lang="en-US" sz="1400">
                <a:solidFill>
                  <a:srgbClr val="333344"/>
                </a:solidFill>
                <a:latin typeface="Courier New"/>
                <a:ea typeface="Courier New"/>
                <a:cs typeface="Courier New"/>
                <a:sym typeface="Courier New"/>
              </a:rPr>
              <a:t>&lt;!-- v-for is the loop, like .map but written in the markup. --&gt;</a:t>
            </a:r>
            <a:endParaRPr/>
          </a:p>
          <a:p>
            <a:pPr indent="0" lvl="0" marL="0" marR="0" rtl="0" algn="l">
              <a:spcBef>
                <a:spcPts val="200"/>
              </a:spcBef>
              <a:spcAft>
                <a:spcPts val="0"/>
              </a:spcAft>
              <a:buNone/>
            </a:pPr>
            <a:r>
              <a:t/>
            </a:r>
            <a:endParaRPr b="1" sz="14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1400">
                <a:solidFill>
                  <a:srgbClr val="333344"/>
                </a:solidFill>
                <a:latin typeface="Courier New"/>
                <a:ea typeface="Courier New"/>
                <a:cs typeface="Courier New"/>
                <a:sym typeface="Courier New"/>
              </a:rPr>
              <a:t>&lt;script setup lang="ts"&gt;</a:t>
            </a:r>
            <a:endParaRPr/>
          </a:p>
          <a:p>
            <a:pPr indent="0" lvl="0" marL="0" marR="0" rtl="0" algn="l">
              <a:spcBef>
                <a:spcPts val="200"/>
              </a:spcBef>
              <a:spcAft>
                <a:spcPts val="0"/>
              </a:spcAft>
              <a:buNone/>
            </a:pPr>
            <a:r>
              <a:rPr b="1" lang="en-US" sz="1400">
                <a:solidFill>
                  <a:srgbClr val="333344"/>
                </a:solidFill>
                <a:latin typeface="Courier New"/>
                <a:ea typeface="Courier New"/>
                <a:cs typeface="Courier New"/>
                <a:sym typeface="Courier New"/>
              </a:rPr>
              <a:t>const todos = [</a:t>
            </a:r>
            <a:endParaRPr/>
          </a:p>
          <a:p>
            <a:pPr indent="0" lvl="0" marL="0" marR="0" rtl="0" algn="l">
              <a:spcBef>
                <a:spcPts val="200"/>
              </a:spcBef>
              <a:spcAft>
                <a:spcPts val="0"/>
              </a:spcAft>
              <a:buNone/>
            </a:pPr>
            <a:r>
              <a:rPr b="1" lang="en-US" sz="1400">
                <a:solidFill>
                  <a:srgbClr val="333344"/>
                </a:solidFill>
                <a:latin typeface="Courier New"/>
                <a:ea typeface="Courier New"/>
                <a:cs typeface="Courier New"/>
                <a:sym typeface="Courier New"/>
              </a:rPr>
              <a:t>    { id: 1, title: "read 6.1 notes", done: false },</a:t>
            </a:r>
            <a:endParaRPr/>
          </a:p>
          <a:p>
            <a:pPr indent="0" lvl="0" marL="0" marR="0" rtl="0" algn="l">
              <a:spcBef>
                <a:spcPts val="200"/>
              </a:spcBef>
              <a:spcAft>
                <a:spcPts val="0"/>
              </a:spcAft>
              <a:buNone/>
            </a:pPr>
            <a:r>
              <a:rPr b="1" lang="en-US" sz="1400">
                <a:solidFill>
                  <a:srgbClr val="333344"/>
                </a:solidFill>
                <a:latin typeface="Courier New"/>
                <a:ea typeface="Courier New"/>
                <a:cs typeface="Courier New"/>
                <a:sym typeface="Courier New"/>
              </a:rPr>
              <a:t>    { id: 2, title: "go for a run",   done: true  },</a:t>
            </a:r>
            <a:endParaRPr/>
          </a:p>
          <a:p>
            <a:pPr indent="0" lvl="0" marL="0" marR="0" rtl="0" algn="l">
              <a:spcBef>
                <a:spcPts val="200"/>
              </a:spcBef>
              <a:spcAft>
                <a:spcPts val="0"/>
              </a:spcAft>
              <a:buNone/>
            </a:pPr>
            <a:r>
              <a:rPr b="1" lang="en-US" sz="1400">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rPr b="1" lang="en-US" sz="1400">
                <a:solidFill>
                  <a:srgbClr val="333344"/>
                </a:solidFill>
                <a:latin typeface="Courier New"/>
                <a:ea typeface="Courier New"/>
                <a:cs typeface="Courier New"/>
                <a:sym typeface="Courier New"/>
              </a:rPr>
              <a:t>&lt;/script&gt;</a:t>
            </a:r>
            <a:endParaRPr/>
          </a:p>
          <a:p>
            <a:pPr indent="0" lvl="0" marL="0" marR="0" rtl="0" algn="l">
              <a:spcBef>
                <a:spcPts val="200"/>
              </a:spcBef>
              <a:spcAft>
                <a:spcPts val="0"/>
              </a:spcAft>
              <a:buNone/>
            </a:pPr>
            <a:r>
              <a:t/>
            </a:r>
            <a:endParaRPr b="1" sz="14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1400">
                <a:solidFill>
                  <a:srgbClr val="333344"/>
                </a:solidFill>
                <a:latin typeface="Courier New"/>
                <a:ea typeface="Courier New"/>
                <a:cs typeface="Courier New"/>
                <a:sym typeface="Courier New"/>
              </a:rPr>
              <a:t>&lt;template&gt;</a:t>
            </a:r>
            <a:endParaRPr/>
          </a:p>
          <a:p>
            <a:pPr indent="0" lvl="0" marL="0" marR="0" rtl="0" algn="l">
              <a:spcBef>
                <a:spcPts val="200"/>
              </a:spcBef>
              <a:spcAft>
                <a:spcPts val="0"/>
              </a:spcAft>
              <a:buNone/>
            </a:pPr>
            <a:r>
              <a:rPr b="1" lang="en-US" sz="1400">
                <a:solidFill>
                  <a:srgbClr val="333344"/>
                </a:solidFill>
                <a:latin typeface="Courier New"/>
                <a:ea typeface="Courier New"/>
                <a:cs typeface="Courier New"/>
                <a:sym typeface="Courier New"/>
              </a:rPr>
              <a:t>    &lt;ul&gt;</a:t>
            </a:r>
            <a:endParaRPr/>
          </a:p>
          <a:p>
            <a:pPr indent="0" lvl="0" marL="0" marR="0" rtl="0" algn="l">
              <a:spcBef>
                <a:spcPts val="200"/>
              </a:spcBef>
              <a:spcAft>
                <a:spcPts val="0"/>
              </a:spcAft>
              <a:buNone/>
            </a:pPr>
            <a:r>
              <a:rPr b="1" lang="en-US" sz="1400">
                <a:solidFill>
                  <a:srgbClr val="333344"/>
                </a:solidFill>
                <a:latin typeface="Courier New"/>
                <a:ea typeface="Courier New"/>
                <a:cs typeface="Courier New"/>
                <a:sym typeface="Courier New"/>
              </a:rPr>
              <a:t>        &lt;li v-for="t in todos"</a:t>
            </a:r>
            <a:endParaRPr/>
          </a:p>
          <a:p>
            <a:pPr indent="0" lvl="0" marL="0" marR="0" rtl="0" algn="l">
              <a:spcBef>
                <a:spcPts val="200"/>
              </a:spcBef>
              <a:spcAft>
                <a:spcPts val="0"/>
              </a:spcAft>
              <a:buNone/>
            </a:pPr>
            <a:r>
              <a:rPr b="1" lang="en-US" sz="1400">
                <a:solidFill>
                  <a:srgbClr val="333344"/>
                </a:solidFill>
                <a:latin typeface="Courier New"/>
                <a:ea typeface="Courier New"/>
                <a:cs typeface="Courier New"/>
                <a:sym typeface="Courier New"/>
              </a:rPr>
              <a:t>            :key="t.id"</a:t>
            </a:r>
            <a:endParaRPr/>
          </a:p>
          <a:p>
            <a:pPr indent="0" lvl="0" marL="0" marR="0" rtl="0" algn="l">
              <a:spcBef>
                <a:spcPts val="200"/>
              </a:spcBef>
              <a:spcAft>
                <a:spcPts val="0"/>
              </a:spcAft>
              <a:buNone/>
            </a:pPr>
            <a:r>
              <a:rPr b="1" lang="en-US" sz="1400">
                <a:solidFill>
                  <a:srgbClr val="333344"/>
                </a:solidFill>
                <a:latin typeface="Courier New"/>
                <a:ea typeface="Courier New"/>
                <a:cs typeface="Courier New"/>
                <a:sym typeface="Courier New"/>
              </a:rPr>
              <a:t>            :class="{ done: t.done }"&gt;</a:t>
            </a:r>
            <a:endParaRPr/>
          </a:p>
          <a:p>
            <a:pPr indent="0" lvl="0" marL="0" marR="0" rtl="0" algn="l">
              <a:spcBef>
                <a:spcPts val="200"/>
              </a:spcBef>
              <a:spcAft>
                <a:spcPts val="0"/>
              </a:spcAft>
              <a:buNone/>
            </a:pPr>
            <a:r>
              <a:rPr b="1" lang="en-US" sz="1400">
                <a:solidFill>
                  <a:srgbClr val="333344"/>
                </a:solidFill>
                <a:latin typeface="Courier New"/>
                <a:ea typeface="Courier New"/>
                <a:cs typeface="Courier New"/>
                <a:sym typeface="Courier New"/>
              </a:rPr>
              <a:t>            {{ t.title }}</a:t>
            </a:r>
            <a:endParaRPr/>
          </a:p>
          <a:p>
            <a:pPr indent="0" lvl="0" marL="0" marR="0" rtl="0" algn="l">
              <a:spcBef>
                <a:spcPts val="200"/>
              </a:spcBef>
              <a:spcAft>
                <a:spcPts val="0"/>
              </a:spcAft>
              <a:buNone/>
            </a:pPr>
            <a:r>
              <a:rPr b="1" lang="en-US" sz="1400">
                <a:solidFill>
                  <a:srgbClr val="333344"/>
                </a:solidFill>
                <a:latin typeface="Courier New"/>
                <a:ea typeface="Courier New"/>
                <a:cs typeface="Courier New"/>
                <a:sym typeface="Courier New"/>
              </a:rPr>
              <a:t>        &lt;/li&gt;</a:t>
            </a:r>
            <a:endParaRPr/>
          </a:p>
          <a:p>
            <a:pPr indent="0" lvl="0" marL="0" marR="0" rtl="0" algn="l">
              <a:spcBef>
                <a:spcPts val="200"/>
              </a:spcBef>
              <a:spcAft>
                <a:spcPts val="0"/>
              </a:spcAft>
              <a:buNone/>
            </a:pPr>
            <a:r>
              <a:rPr b="1" lang="en-US" sz="1400">
                <a:solidFill>
                  <a:srgbClr val="333344"/>
                </a:solidFill>
                <a:latin typeface="Courier New"/>
                <a:ea typeface="Courier New"/>
                <a:cs typeface="Courier New"/>
                <a:sym typeface="Courier New"/>
              </a:rPr>
              <a:t>    &lt;/ul&gt;</a:t>
            </a:r>
            <a:endParaRPr/>
          </a:p>
          <a:p>
            <a:pPr indent="0" lvl="0" marL="0" marR="0" rtl="0" algn="l">
              <a:spcBef>
                <a:spcPts val="200"/>
              </a:spcBef>
              <a:spcAft>
                <a:spcPts val="0"/>
              </a:spcAft>
              <a:buNone/>
            </a:pPr>
            <a:r>
              <a:rPr b="1" lang="en-US" sz="1400">
                <a:solidFill>
                  <a:srgbClr val="333344"/>
                </a:solidFill>
                <a:latin typeface="Courier New"/>
                <a:ea typeface="Courier New"/>
                <a:cs typeface="Courier New"/>
                <a:sym typeface="Courier New"/>
              </a:rPr>
              <a:t>&lt;/template&gt;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4" name="Shape 424"/>
        <p:cNvGrpSpPr/>
        <p:nvPr/>
      </p:nvGrpSpPr>
      <p:grpSpPr>
        <a:xfrm>
          <a:off x="0" y="0"/>
          <a:ext cx="0" cy="0"/>
          <a:chOff x="0" y="0"/>
          <a:chExt cx="0" cy="0"/>
        </a:xfrm>
      </p:grpSpPr>
      <p:sp>
        <p:nvSpPr>
          <p:cNvPr id="425" name="Google Shape;425;g3dc25bfaf09_0_154"/>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1A1A2E"/>
                </a:solidFill>
                <a:latin typeface="Calibri"/>
                <a:ea typeface="Calibri"/>
                <a:cs typeface="Calibri"/>
                <a:sym typeface="Calibri"/>
              </a:rPr>
              <a:t>TodoList in Svelte</a:t>
            </a:r>
            <a:endParaRPr/>
          </a:p>
        </p:txBody>
      </p:sp>
      <p:sp>
        <p:nvSpPr>
          <p:cNvPr id="426" name="Google Shape;426;g3dc25bfaf09_0_154"/>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lang="en-US" sz="1400">
                <a:solidFill>
                  <a:srgbClr val="5B21B6"/>
                </a:solidFill>
                <a:latin typeface="Courier New"/>
                <a:ea typeface="Courier New"/>
                <a:cs typeface="Courier New"/>
                <a:sym typeface="Courier New"/>
              </a:rPr>
              <a:t>Svelte</a:t>
            </a:r>
            <a:endParaRPr/>
          </a:p>
        </p:txBody>
      </p:sp>
      <p:sp>
        <p:nvSpPr>
          <p:cNvPr id="427" name="Google Shape;427;g3dc25bfaf09_0_154"/>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g3dc25bfaf09_0_154"/>
          <p:cNvSpPr txBox="1"/>
          <p:nvPr/>
        </p:nvSpPr>
        <p:spPr>
          <a:xfrm>
            <a:off x="1005840" y="1645920"/>
            <a:ext cx="10179900" cy="4663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rgbClr val="333344"/>
                </a:solidFill>
                <a:latin typeface="Courier New"/>
                <a:ea typeface="Courier New"/>
                <a:cs typeface="Courier New"/>
                <a:sym typeface="Courier New"/>
              </a:rPr>
              <a:t>&lt;!-- Svelte: same template+script shape as Vue. --&gt;</a:t>
            </a:r>
            <a:endParaRPr/>
          </a:p>
          <a:p>
            <a:pPr indent="0" lvl="0" marL="0" marR="0" rtl="0" algn="l">
              <a:spcBef>
                <a:spcPts val="200"/>
              </a:spcBef>
              <a:spcAft>
                <a:spcPts val="0"/>
              </a:spcAft>
              <a:buNone/>
            </a:pPr>
            <a:r>
              <a:rPr b="1" lang="en-US" sz="1700">
                <a:solidFill>
                  <a:srgbClr val="333344"/>
                </a:solidFill>
                <a:latin typeface="Courier New"/>
                <a:ea typeface="Courier New"/>
                <a:cs typeface="Courier New"/>
                <a:sym typeface="Courier New"/>
              </a:rPr>
              <a:t>&lt;!-- Compiler turns this into direct DOM-update code. --&gt;</a:t>
            </a:r>
            <a:endParaRPr/>
          </a:p>
          <a:p>
            <a:pPr indent="0" lvl="0" marL="0" marR="0" rtl="0" algn="l">
              <a:spcBef>
                <a:spcPts val="200"/>
              </a:spcBef>
              <a:spcAft>
                <a:spcPts val="0"/>
              </a:spcAft>
              <a:buNone/>
            </a:pPr>
            <a:r>
              <a:rPr b="1" lang="en-US" sz="1700">
                <a:solidFill>
                  <a:srgbClr val="333344"/>
                </a:solidFill>
                <a:latin typeface="Courier New"/>
                <a:ea typeface="Courier New"/>
                <a:cs typeface="Courier New"/>
                <a:sym typeface="Courier New"/>
              </a:rPr>
              <a:t>&lt;!-- There's no React/Vue runtime shipped to the browser. --&gt;</a:t>
            </a:r>
            <a:endParaRPr/>
          </a:p>
          <a:p>
            <a:pPr indent="0" lvl="0" marL="0" marR="0" rtl="0" algn="l">
              <a:spcBef>
                <a:spcPts val="200"/>
              </a:spcBef>
              <a:spcAft>
                <a:spcPts val="0"/>
              </a:spcAft>
              <a:buNone/>
            </a:pPr>
            <a:r>
              <a:t/>
            </a:r>
            <a:endParaRPr b="1" sz="17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1700">
                <a:solidFill>
                  <a:srgbClr val="333344"/>
                </a:solidFill>
                <a:latin typeface="Courier New"/>
                <a:ea typeface="Courier New"/>
                <a:cs typeface="Courier New"/>
                <a:sym typeface="Courier New"/>
              </a:rPr>
              <a:t>&lt;script lang="ts"&gt;</a:t>
            </a:r>
            <a:endParaRPr/>
          </a:p>
          <a:p>
            <a:pPr indent="0" lvl="0" marL="0" marR="0" rtl="0" algn="l">
              <a:spcBef>
                <a:spcPts val="200"/>
              </a:spcBef>
              <a:spcAft>
                <a:spcPts val="0"/>
              </a:spcAft>
              <a:buNone/>
            </a:pPr>
            <a:r>
              <a:rPr b="1" lang="en-US" sz="1700">
                <a:solidFill>
                  <a:srgbClr val="333344"/>
                </a:solidFill>
                <a:latin typeface="Courier New"/>
                <a:ea typeface="Courier New"/>
                <a:cs typeface="Courier New"/>
                <a:sym typeface="Courier New"/>
              </a:rPr>
              <a:t>    const todos = [</a:t>
            </a:r>
            <a:endParaRPr/>
          </a:p>
          <a:p>
            <a:pPr indent="0" lvl="0" marL="0" marR="0" rtl="0" algn="l">
              <a:spcBef>
                <a:spcPts val="200"/>
              </a:spcBef>
              <a:spcAft>
                <a:spcPts val="0"/>
              </a:spcAft>
              <a:buNone/>
            </a:pPr>
            <a:r>
              <a:rPr b="1" lang="en-US" sz="1700">
                <a:solidFill>
                  <a:srgbClr val="333344"/>
                </a:solidFill>
                <a:latin typeface="Courier New"/>
                <a:ea typeface="Courier New"/>
                <a:cs typeface="Courier New"/>
                <a:sym typeface="Courier New"/>
              </a:rPr>
              <a:t>        { id: 1, title: "read 6.1 notes", done: false },</a:t>
            </a:r>
            <a:endParaRPr/>
          </a:p>
          <a:p>
            <a:pPr indent="0" lvl="0" marL="0" marR="0" rtl="0" algn="l">
              <a:spcBef>
                <a:spcPts val="200"/>
              </a:spcBef>
              <a:spcAft>
                <a:spcPts val="0"/>
              </a:spcAft>
              <a:buNone/>
            </a:pPr>
            <a:r>
              <a:rPr b="1" lang="en-US" sz="1700">
                <a:solidFill>
                  <a:srgbClr val="333344"/>
                </a:solidFill>
                <a:latin typeface="Courier New"/>
                <a:ea typeface="Courier New"/>
                <a:cs typeface="Courier New"/>
                <a:sym typeface="Courier New"/>
              </a:rPr>
              <a:t>        { id: 2, title: "go for a run",   done: true  },</a:t>
            </a:r>
            <a:endParaRPr/>
          </a:p>
          <a:p>
            <a:pPr indent="0" lvl="0" marL="0" marR="0" rtl="0" algn="l">
              <a:spcBef>
                <a:spcPts val="200"/>
              </a:spcBef>
              <a:spcAft>
                <a:spcPts val="0"/>
              </a:spcAft>
              <a:buNone/>
            </a:pPr>
            <a:r>
              <a:rPr b="1" lang="en-US" sz="1700">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lang="en-US" sz="1700">
                <a:solidFill>
                  <a:srgbClr val="333344"/>
                </a:solidFill>
                <a:latin typeface="Courier New"/>
                <a:ea typeface="Courier New"/>
                <a:cs typeface="Courier New"/>
                <a:sym typeface="Courier New"/>
              </a:rPr>
              <a:t>&lt;/script&gt;</a:t>
            </a:r>
            <a:endParaRPr/>
          </a:p>
          <a:p>
            <a:pPr indent="0" lvl="0" marL="0" marR="0" rtl="0" algn="l">
              <a:spcBef>
                <a:spcPts val="200"/>
              </a:spcBef>
              <a:spcAft>
                <a:spcPts val="0"/>
              </a:spcAft>
              <a:buNone/>
            </a:pPr>
            <a:r>
              <a:t/>
            </a:r>
            <a:endParaRPr b="1" sz="17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1700">
                <a:solidFill>
                  <a:srgbClr val="333344"/>
                </a:solidFill>
                <a:latin typeface="Courier New"/>
                <a:ea typeface="Courier New"/>
                <a:cs typeface="Courier New"/>
                <a:sym typeface="Courier New"/>
              </a:rPr>
              <a:t>&lt;ul&gt;</a:t>
            </a:r>
            <a:endParaRPr/>
          </a:p>
          <a:p>
            <a:pPr indent="0" lvl="0" marL="0" marR="0" rtl="0" algn="l">
              <a:spcBef>
                <a:spcPts val="200"/>
              </a:spcBef>
              <a:spcAft>
                <a:spcPts val="0"/>
              </a:spcAft>
              <a:buNone/>
            </a:pPr>
            <a:r>
              <a:rPr b="1" lang="en-US" sz="1700">
                <a:solidFill>
                  <a:srgbClr val="333344"/>
                </a:solidFill>
                <a:latin typeface="Courier New"/>
                <a:ea typeface="Courier New"/>
                <a:cs typeface="Courier New"/>
                <a:sym typeface="Courier New"/>
              </a:rPr>
              <a:t>    {#each todos as t (t.id)}</a:t>
            </a:r>
            <a:endParaRPr/>
          </a:p>
          <a:p>
            <a:pPr indent="0" lvl="0" marL="0" marR="0" rtl="0" algn="l">
              <a:spcBef>
                <a:spcPts val="200"/>
              </a:spcBef>
              <a:spcAft>
                <a:spcPts val="0"/>
              </a:spcAft>
              <a:buNone/>
            </a:pPr>
            <a:r>
              <a:rPr b="1" lang="en-US" sz="1700">
                <a:solidFill>
                  <a:srgbClr val="333344"/>
                </a:solidFill>
                <a:latin typeface="Courier New"/>
                <a:ea typeface="Courier New"/>
                <a:cs typeface="Courier New"/>
                <a:sym typeface="Courier New"/>
              </a:rPr>
              <a:t>        &lt;li class:done={t.done}&gt;{t.title}&lt;/li&gt;</a:t>
            </a:r>
            <a:endParaRPr/>
          </a:p>
          <a:p>
            <a:pPr indent="0" lvl="0" marL="0" marR="0" rtl="0" algn="l">
              <a:spcBef>
                <a:spcPts val="200"/>
              </a:spcBef>
              <a:spcAft>
                <a:spcPts val="0"/>
              </a:spcAft>
              <a:buNone/>
            </a:pPr>
            <a:r>
              <a:rPr b="1" lang="en-US" sz="1700">
                <a:solidFill>
                  <a:srgbClr val="333344"/>
                </a:solidFill>
                <a:latin typeface="Courier New"/>
                <a:ea typeface="Courier New"/>
                <a:cs typeface="Courier New"/>
                <a:sym typeface="Courier New"/>
              </a:rPr>
              <a:t>    {/each}</a:t>
            </a:r>
            <a:endParaRPr/>
          </a:p>
          <a:p>
            <a:pPr indent="0" lvl="0" marL="0" marR="0" rtl="0" algn="l">
              <a:spcBef>
                <a:spcPts val="200"/>
              </a:spcBef>
              <a:spcAft>
                <a:spcPts val="0"/>
              </a:spcAft>
              <a:buNone/>
            </a:pPr>
            <a:r>
              <a:rPr b="1" lang="en-US" sz="1700">
                <a:solidFill>
                  <a:srgbClr val="333344"/>
                </a:solidFill>
                <a:latin typeface="Courier New"/>
                <a:ea typeface="Courier New"/>
                <a:cs typeface="Courier New"/>
                <a:sym typeface="Courier New"/>
              </a:rPr>
              <a:t>&lt;/ul&gt;</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3" name="Shape 433"/>
        <p:cNvGrpSpPr/>
        <p:nvPr/>
      </p:nvGrpSpPr>
      <p:grpSpPr>
        <a:xfrm>
          <a:off x="0" y="0"/>
          <a:ext cx="0" cy="0"/>
          <a:chOff x="0" y="0"/>
          <a:chExt cx="0" cy="0"/>
        </a:xfrm>
      </p:grpSpPr>
      <p:sp>
        <p:nvSpPr>
          <p:cNvPr id="434" name="Google Shape;434;g3dc25bfaf09_0_162"/>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1A1A2E"/>
                </a:solidFill>
                <a:latin typeface="Calibri"/>
                <a:ea typeface="Calibri"/>
                <a:cs typeface="Calibri"/>
                <a:sym typeface="Calibri"/>
              </a:rPr>
              <a:t>TodoList in HTMX</a:t>
            </a:r>
            <a:endParaRPr/>
          </a:p>
        </p:txBody>
      </p:sp>
      <p:sp>
        <p:nvSpPr>
          <p:cNvPr id="435" name="Google Shape;435;g3dc25bfaf09_0_162"/>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lang="en-US" sz="1400">
                <a:solidFill>
                  <a:srgbClr val="5B21B6"/>
                </a:solidFill>
                <a:latin typeface="Courier New"/>
                <a:ea typeface="Courier New"/>
                <a:cs typeface="Courier New"/>
                <a:sym typeface="Courier New"/>
              </a:rPr>
              <a:t>HTML</a:t>
            </a:r>
            <a:endParaRPr/>
          </a:p>
        </p:txBody>
      </p:sp>
      <p:sp>
        <p:nvSpPr>
          <p:cNvPr id="436" name="Google Shape;436;g3dc25bfaf09_0_162"/>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g3dc25bfaf09_0_162"/>
          <p:cNvSpPr txBox="1"/>
          <p:nvPr/>
        </p:nvSpPr>
        <p:spPr>
          <a:xfrm>
            <a:off x="1005840" y="1645920"/>
            <a:ext cx="10179900" cy="4607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333344"/>
                </a:solidFill>
                <a:latin typeface="Courier New"/>
                <a:ea typeface="Courier New"/>
                <a:cs typeface="Courier New"/>
                <a:sym typeface="Courier New"/>
              </a:rPr>
              <a:t>&lt;!-- HTMX: no JavaScript framework at all. --&gt;</a:t>
            </a:r>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&lt;!-- The server returns HTML fragments; attributes wire them up. --&gt;</a:t>
            </a:r>
            <a:endParaRPr/>
          </a:p>
          <a:p>
            <a:pPr indent="0" lvl="0" marL="0" marR="0" rtl="0" algn="l">
              <a:spcBef>
                <a:spcPts val="200"/>
              </a:spcBef>
              <a:spcAft>
                <a:spcPts val="0"/>
              </a:spcAft>
              <a:buNone/>
            </a:pPr>
            <a:r>
              <a:t/>
            </a:r>
            <a:endParaRPr b="1" sz="18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&lt;ul id="todos"</a:t>
            </a:r>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    hx-get="/api/todos"</a:t>
            </a:r>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    hx-trigger="load"</a:t>
            </a:r>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    hx-swap="innerHTML"&gt;</a:t>
            </a:r>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    &lt;!-- On page load, browser GETs /api/todos.</a:t>
            </a:r>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         Server returns a fragment of &lt;li&gt;s, e.g.:</a:t>
            </a:r>
            <a:endParaRPr/>
          </a:p>
          <a:p>
            <a:pPr indent="0" lvl="0" marL="0" marR="0" rtl="0" algn="l">
              <a:spcBef>
                <a:spcPts val="200"/>
              </a:spcBef>
              <a:spcAft>
                <a:spcPts val="0"/>
              </a:spcAft>
              <a:buNone/>
            </a:pPr>
            <a:r>
              <a:t/>
            </a:r>
            <a:endParaRPr b="1" sz="18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             &lt;li&gt;read 6.1 notes&lt;/li&gt;</a:t>
            </a:r>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             &lt;li class="done"&gt;go for a run&lt;/li&gt;</a:t>
            </a:r>
            <a:endParaRPr/>
          </a:p>
          <a:p>
            <a:pPr indent="0" lvl="0" marL="0" marR="0" rtl="0" algn="l">
              <a:spcBef>
                <a:spcPts val="200"/>
              </a:spcBef>
              <a:spcAft>
                <a:spcPts val="0"/>
              </a:spcAft>
              <a:buNone/>
            </a:pPr>
            <a:r>
              <a:t/>
            </a:r>
            <a:endParaRPr b="1" sz="18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         HTMX puts the fragment inside this &lt;ul&gt;. Done. --&gt;</a:t>
            </a:r>
            <a:endParaRPr/>
          </a:p>
          <a:p>
            <a:pPr indent="0" lvl="0" marL="0" marR="0" rtl="0" algn="l">
              <a:spcBef>
                <a:spcPts val="200"/>
              </a:spcBef>
              <a:spcAft>
                <a:spcPts val="0"/>
              </a:spcAft>
              <a:buNone/>
            </a:pPr>
            <a:r>
              <a:rPr b="1" lang="en-US" sz="1800">
                <a:solidFill>
                  <a:srgbClr val="333344"/>
                </a:solidFill>
                <a:latin typeface="Courier New"/>
                <a:ea typeface="Courier New"/>
                <a:cs typeface="Courier New"/>
                <a:sym typeface="Courier New"/>
              </a:rPr>
              <a:t>&lt;/ul&gt;</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2" name="Shape 442"/>
        <p:cNvGrpSpPr/>
        <p:nvPr/>
      </p:nvGrpSpPr>
      <p:grpSpPr>
        <a:xfrm>
          <a:off x="0" y="0"/>
          <a:ext cx="0" cy="0"/>
          <a:chOff x="0" y="0"/>
          <a:chExt cx="0" cy="0"/>
        </a:xfrm>
      </p:grpSpPr>
      <p:sp>
        <p:nvSpPr>
          <p:cNvPr id="443" name="Google Shape;443;p28"/>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1A1A2E"/>
                </a:solidFill>
                <a:latin typeface="Calibri"/>
                <a:ea typeface="Calibri"/>
                <a:cs typeface="Calibri"/>
                <a:sym typeface="Calibri"/>
              </a:rPr>
              <a:t>Where this goes next</a:t>
            </a:r>
            <a:endParaRPr/>
          </a:p>
        </p:txBody>
      </p:sp>
      <p:sp>
        <p:nvSpPr>
          <p:cNvPr id="444" name="Google Shape;444;p28"/>
          <p:cNvSpPr txBox="1"/>
          <p:nvPr/>
        </p:nvSpPr>
        <p:spPr>
          <a:xfrm>
            <a:off x="914400" y="1463040"/>
            <a:ext cx="10362900" cy="487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33344"/>
                </a:solidFill>
                <a:latin typeface="Calibri"/>
                <a:ea typeface="Calibri"/>
                <a:cs typeface="Calibri"/>
                <a:sym typeface="Calibri"/>
              </a:rPr>
              <a:t>Five things to walk away with:</a:t>
            </a:r>
            <a:endParaRPr b="1" sz="2400">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Components</a:t>
            </a:r>
            <a:r>
              <a:rPr b="0" i="0" lang="en-US" sz="2000" u="none" cap="none" strike="noStrike">
                <a:solidFill>
                  <a:srgbClr val="666677"/>
                </a:solidFill>
                <a:latin typeface="Calibri"/>
                <a:ea typeface="Calibri"/>
                <a:cs typeface="Calibri"/>
                <a:sym typeface="Calibri"/>
              </a:rPr>
              <a:t> are functions from props to JSX</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JSX</a:t>
            </a:r>
            <a:r>
              <a:rPr b="0" i="0" lang="en-US" sz="2000" u="none" cap="none" strike="noStrike">
                <a:solidFill>
                  <a:srgbClr val="666677"/>
                </a:solidFill>
                <a:latin typeface="Calibri"/>
                <a:ea typeface="Calibri"/>
                <a:cs typeface="Calibri"/>
                <a:sym typeface="Calibri"/>
              </a:rPr>
              <a:t> is HTML as a JavaScript expression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Props</a:t>
            </a:r>
            <a:r>
              <a:rPr b="0" i="0" lang="en-US" sz="2000" u="none" cap="none" strike="noStrike">
                <a:solidFill>
                  <a:srgbClr val="666677"/>
                </a:solidFill>
                <a:latin typeface="Calibri"/>
                <a:ea typeface="Calibri"/>
                <a:cs typeface="Calibri"/>
                <a:sym typeface="Calibri"/>
              </a:rPr>
              <a:t> are arguments; data flows down the tree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Composition</a:t>
            </a:r>
            <a:r>
              <a:rPr b="0" i="0" lang="en-US" sz="2000" u="none" cap="none" strike="noStrike">
                <a:solidFill>
                  <a:srgbClr val="666677"/>
                </a:solidFill>
                <a:latin typeface="Calibri"/>
                <a:ea typeface="Calibri"/>
                <a:cs typeface="Calibri"/>
                <a:sym typeface="Calibri"/>
              </a:rPr>
              <a:t> is function calls with JSX syntax</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a:t>
            </a:r>
            <a:r>
              <a:rPr b="1" i="0" lang="en-US" sz="2000" u="none" cap="none" strike="noStrike">
                <a:solidFill>
                  <a:srgbClr val="666677"/>
                </a:solidFill>
                <a:latin typeface="Courier Prime"/>
                <a:ea typeface="Courier Prime"/>
                <a:cs typeface="Courier Prime"/>
                <a:sym typeface="Courier Prime"/>
              </a:rPr>
              <a:t>.map()</a:t>
            </a:r>
            <a:r>
              <a:rPr b="1" i="0" lang="en-US" sz="2000" u="none" cap="none" strike="noStrike">
                <a:solidFill>
                  <a:srgbClr val="666677"/>
                </a:solidFill>
                <a:latin typeface="Calibri"/>
                <a:ea typeface="Calibri"/>
                <a:cs typeface="Calibri"/>
                <a:sym typeface="Calibri"/>
              </a:rPr>
              <a:t>`</a:t>
            </a:r>
            <a:r>
              <a:rPr b="0" i="0" lang="en-US" sz="2000" u="none" cap="none" strike="noStrike">
                <a:solidFill>
                  <a:srgbClr val="666677"/>
                </a:solidFill>
                <a:latin typeface="Calibri"/>
                <a:ea typeface="Calibri"/>
                <a:cs typeface="Calibri"/>
                <a:sym typeface="Calibri"/>
              </a:rPr>
              <a:t> with `</a:t>
            </a:r>
            <a:r>
              <a:rPr b="1" i="0" lang="en-US" sz="2000" u="none" cap="none" strike="noStrike">
                <a:solidFill>
                  <a:srgbClr val="666677"/>
                </a:solidFill>
                <a:latin typeface="Courier Prime"/>
                <a:ea typeface="Courier Prime"/>
                <a:cs typeface="Courier Prime"/>
                <a:sym typeface="Courier Prime"/>
              </a:rPr>
              <a:t>key</a:t>
            </a:r>
            <a:r>
              <a:rPr b="0" i="0" lang="en-US" sz="2000" u="none" cap="none" strike="noStrike">
                <a:solidFill>
                  <a:srgbClr val="666677"/>
                </a:solidFill>
                <a:latin typeface="Calibri"/>
                <a:ea typeface="Calibri"/>
                <a:cs typeface="Calibri"/>
                <a:sym typeface="Calibri"/>
              </a:rPr>
              <a:t>` is how you render lists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lang="en-US" sz="2400">
                <a:solidFill>
                  <a:srgbClr val="333344"/>
                </a:solidFill>
                <a:latin typeface="Calibri"/>
                <a:ea typeface="Calibri"/>
                <a:cs typeface="Calibri"/>
                <a:sym typeface="Calibri"/>
              </a:rPr>
              <a:t>Notice what's NOT on that list: anything that changes over time.</a:t>
            </a:r>
            <a:endParaRPr/>
          </a:p>
          <a:p>
            <a:pPr indent="0" lvl="0" marL="0" marR="0" rtl="0" algn="l">
              <a:spcBef>
                <a:spcPts val="600"/>
              </a:spcBef>
              <a:spcAft>
                <a:spcPts val="0"/>
              </a:spcAft>
              <a:buNone/>
            </a:pPr>
            <a:r>
              <a:t/>
            </a:r>
            <a:endParaRPr b="0" sz="2400">
              <a:solidFill>
                <a:srgbClr val="333344"/>
              </a:solidFill>
              <a:latin typeface="Calibri"/>
              <a:ea typeface="Calibri"/>
              <a:cs typeface="Calibri"/>
              <a:sym typeface="Calibri"/>
            </a:endParaRPr>
          </a:p>
          <a:p>
            <a:pPr indent="0" lvl="0" marL="0" marR="0" rtl="0" algn="l">
              <a:spcBef>
                <a:spcPts val="600"/>
              </a:spcBef>
              <a:spcAft>
                <a:spcPts val="0"/>
              </a:spcAft>
              <a:buNone/>
            </a:pPr>
            <a:r>
              <a:rPr b="0" lang="en-US" sz="2400">
                <a:solidFill>
                  <a:srgbClr val="333344"/>
                </a:solidFill>
                <a:latin typeface="Calibri"/>
                <a:ea typeface="Calibri"/>
                <a:cs typeface="Calibri"/>
                <a:sym typeface="Calibri"/>
              </a:rPr>
              <a:t>Next: </a:t>
            </a:r>
            <a:r>
              <a:rPr b="1" lang="en-US" sz="2400">
                <a:solidFill>
                  <a:srgbClr val="333344"/>
                </a:solidFill>
                <a:latin typeface="Calibri"/>
                <a:ea typeface="Calibri"/>
                <a:cs typeface="Calibri"/>
                <a:sym typeface="Calibri"/>
              </a:rPr>
              <a:t>state.</a:t>
            </a:r>
            <a:r>
              <a:rPr b="0" lang="en-US" sz="2400">
                <a:solidFill>
                  <a:srgbClr val="333344"/>
                </a:solidFill>
                <a:latin typeface="Calibri"/>
                <a:ea typeface="Calibri"/>
                <a:cs typeface="Calibri"/>
                <a:sym typeface="Calibri"/>
              </a:rPr>
              <a:t> How a component remembers things between </a:t>
            </a:r>
            <a:r>
              <a:rPr lang="en-US" sz="2400">
                <a:solidFill>
                  <a:srgbClr val="333344"/>
                </a:solidFill>
                <a:latin typeface="Calibri"/>
                <a:ea typeface="Calibri"/>
                <a:cs typeface="Calibri"/>
                <a:sym typeface="Calibri"/>
              </a:rPr>
              <a:t>renders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how clicks change what's on screen, and how</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ourier Prime"/>
                <a:ea typeface="Courier Prime"/>
                <a:cs typeface="Courier Prime"/>
                <a:sym typeface="Courier Prime"/>
              </a:rPr>
              <a:t>useEffect</a:t>
            </a:r>
            <a:r>
              <a:rPr b="0" i="0" lang="en-US" sz="2000" u="none" cap="none" strike="noStrike">
                <a:solidFill>
                  <a:srgbClr val="666677"/>
                </a:solidFill>
                <a:latin typeface="Calibri"/>
                <a:ea typeface="Calibri"/>
                <a:cs typeface="Calibri"/>
                <a:sym typeface="Calibri"/>
              </a:rPr>
              <a:t> wires </a:t>
            </a:r>
            <a:r>
              <a:rPr lang="en-US" sz="2000">
                <a:solidFill>
                  <a:srgbClr val="666677"/>
                </a:solidFill>
                <a:latin typeface="Calibri"/>
                <a:ea typeface="Calibri"/>
                <a:cs typeface="Calibri"/>
                <a:sym typeface="Calibri"/>
              </a:rPr>
              <a:t>JavaScript</a:t>
            </a:r>
            <a:r>
              <a:rPr b="0" i="0" lang="en-US" sz="2000" u="none" cap="none" strike="noStrike">
                <a:solidFill>
                  <a:srgbClr val="666677"/>
                </a:solidFill>
                <a:latin typeface="Calibri"/>
                <a:ea typeface="Calibri"/>
                <a:cs typeface="Calibri"/>
                <a:sym typeface="Calibri"/>
              </a:rPr>
              <a:t>'s </a:t>
            </a:r>
            <a:r>
              <a:rPr b="1" i="0" lang="en-US" sz="2000" u="none" cap="none" strike="noStrike">
                <a:solidFill>
                  <a:srgbClr val="666677"/>
                </a:solidFill>
                <a:latin typeface="Courier Prime"/>
                <a:ea typeface="Courier Prime"/>
                <a:cs typeface="Courier Prime"/>
                <a:sym typeface="Courier Prime"/>
              </a:rPr>
              <a:t>fetch</a:t>
            </a:r>
            <a:r>
              <a:rPr b="0" i="0" lang="en-US" sz="2000" u="none" cap="none" strike="noStrike">
                <a:solidFill>
                  <a:srgbClr val="666677"/>
                </a:solidFill>
                <a:latin typeface="Calibri"/>
                <a:ea typeface="Calibri"/>
                <a:cs typeface="Calibri"/>
                <a:sym typeface="Calibri"/>
              </a:rPr>
              <a:t> into components.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449" name="Shape 449"/>
        <p:cNvGrpSpPr/>
        <p:nvPr/>
      </p:nvGrpSpPr>
      <p:grpSpPr>
        <a:xfrm>
          <a:off x="0" y="0"/>
          <a:ext cx="0" cy="0"/>
          <a:chOff x="0" y="0"/>
          <a:chExt cx="0" cy="0"/>
        </a:xfrm>
      </p:grpSpPr>
      <p:sp>
        <p:nvSpPr>
          <p:cNvPr id="450" name="Google Shape;450;g3dc25bfaf09_0_257"/>
          <p:cNvSpPr txBox="1"/>
          <p:nvPr/>
        </p:nvSpPr>
        <p:spPr>
          <a:xfrm>
            <a:off x="914400" y="2286000"/>
            <a:ext cx="103629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rgbClr val="5B21B6"/>
                </a:solidFill>
                <a:latin typeface="Calibri"/>
                <a:ea typeface="Calibri"/>
                <a:cs typeface="Calibri"/>
                <a:sym typeface="Calibri"/>
              </a:rPr>
              <a:t>Making Components Remember</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5" name="Shape 455"/>
        <p:cNvGrpSpPr/>
        <p:nvPr/>
      </p:nvGrpSpPr>
      <p:grpSpPr>
        <a:xfrm>
          <a:off x="0" y="0"/>
          <a:ext cx="0" cy="0"/>
          <a:chOff x="0" y="0"/>
          <a:chExt cx="0" cy="0"/>
        </a:xfrm>
      </p:grpSpPr>
      <p:sp>
        <p:nvSpPr>
          <p:cNvPr id="456" name="Google Shape;456;g3dc25bfaf09_0_262"/>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1A1A2E"/>
                </a:solidFill>
                <a:latin typeface="Calibri"/>
                <a:ea typeface="Calibri"/>
                <a:cs typeface="Calibri"/>
                <a:sym typeface="Calibri"/>
              </a:rPr>
              <a:t>So far </a:t>
            </a:r>
            <a:r>
              <a:rPr b="1" i="0" lang="en-US" sz="3600" u="none" cap="none" strike="noStrike">
                <a:solidFill>
                  <a:srgbClr val="1A1A2E"/>
                </a:solidFill>
                <a:latin typeface="Calibri"/>
                <a:ea typeface="Calibri"/>
                <a:cs typeface="Calibri"/>
                <a:sym typeface="Calibri"/>
              </a:rPr>
              <a:t>components </a:t>
            </a:r>
            <a:r>
              <a:rPr b="1" lang="en-US" sz="3600">
                <a:solidFill>
                  <a:srgbClr val="1A1A2E"/>
                </a:solidFill>
                <a:latin typeface="Calibri"/>
                <a:ea typeface="Calibri"/>
                <a:cs typeface="Calibri"/>
                <a:sym typeface="Calibri"/>
              </a:rPr>
              <a:t>can’t</a:t>
            </a:r>
            <a:r>
              <a:rPr b="1" i="0" lang="en-US" sz="3600" u="none" cap="none" strike="noStrike">
                <a:solidFill>
                  <a:srgbClr val="1A1A2E"/>
                </a:solidFill>
                <a:latin typeface="Calibri"/>
                <a:ea typeface="Calibri"/>
                <a:cs typeface="Calibri"/>
                <a:sym typeface="Calibri"/>
              </a:rPr>
              <a:t> change anything</a:t>
            </a:r>
            <a:endParaRPr/>
          </a:p>
        </p:txBody>
      </p:sp>
      <p:sp>
        <p:nvSpPr>
          <p:cNvPr id="457" name="Google Shape;457;g3dc25bfaf09_0_262"/>
          <p:cNvSpPr txBox="1"/>
          <p:nvPr/>
        </p:nvSpPr>
        <p:spPr>
          <a:xfrm>
            <a:off x="914400" y="1463040"/>
            <a:ext cx="10362900" cy="3986700"/>
          </a:xfrm>
          <a:prstGeom prst="rect">
            <a:avLst/>
          </a:prstGeom>
          <a:noFill/>
          <a:ln>
            <a:noFill/>
          </a:ln>
        </p:spPr>
        <p:txBody>
          <a:bodyPr anchorCtr="0" anchor="t" bIns="45700" lIns="91425" spcFirstLastPara="1" rIns="91425" wrap="square" tIns="45700">
            <a:spAutoFit/>
          </a:bodyPr>
          <a:lstStyle/>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Today's components take fixed data in, render fixed UI out.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They work, but they're also not super useful:</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Click a button and nothing happens.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Type in an input and nothing happens.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Fetch data and the component doesn't know to re-render.</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To make React actually interactive, we need two things: a way for</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components to </a:t>
            </a:r>
            <a:r>
              <a:rPr b="1" i="0" lang="en-US" sz="2000" u="none" cap="none" strike="noStrike">
                <a:solidFill>
                  <a:srgbClr val="666677"/>
                </a:solidFill>
                <a:latin typeface="Calibri"/>
                <a:ea typeface="Calibri"/>
                <a:cs typeface="Calibri"/>
                <a:sym typeface="Calibri"/>
              </a:rPr>
              <a:t>remember</a:t>
            </a:r>
            <a:r>
              <a:rPr b="0" i="0" lang="en-US" sz="2000" u="none" cap="none" strike="noStrike">
                <a:solidFill>
                  <a:srgbClr val="666677"/>
                </a:solidFill>
                <a:latin typeface="Calibri"/>
                <a:ea typeface="Calibri"/>
                <a:cs typeface="Calibri"/>
                <a:sym typeface="Calibri"/>
              </a:rPr>
              <a:t> (state), and a way to do things that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aren't part of rendering (effects).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2" name="Shape 462"/>
        <p:cNvGrpSpPr/>
        <p:nvPr/>
      </p:nvGrpSpPr>
      <p:grpSpPr>
        <a:xfrm>
          <a:off x="0" y="0"/>
          <a:ext cx="0" cy="0"/>
          <a:chOff x="0" y="0"/>
          <a:chExt cx="0" cy="0"/>
        </a:xfrm>
      </p:grpSpPr>
      <p:sp>
        <p:nvSpPr>
          <p:cNvPr id="463" name="Google Shape;463;g3dc25bfaf09_0_351"/>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The broken "counter" - why local variables fail</a:t>
            </a:r>
            <a:endParaRPr/>
          </a:p>
        </p:txBody>
      </p:sp>
      <p:sp>
        <p:nvSpPr>
          <p:cNvPr id="464" name="Google Shape;464;g3dc25bfaf09_0_351"/>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465" name="Google Shape;465;g3dc25bfaf09_0_351"/>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6" name="Google Shape;466;g3dc25bfaf09_0_351"/>
          <p:cNvSpPr txBox="1"/>
          <p:nvPr/>
        </p:nvSpPr>
        <p:spPr>
          <a:xfrm>
            <a:off x="1005840" y="1645920"/>
            <a:ext cx="10179900" cy="2960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333344"/>
                </a:solidFill>
                <a:latin typeface="Courier New"/>
                <a:ea typeface="Courier New"/>
                <a:cs typeface="Courier New"/>
                <a:sym typeface="Courier New"/>
              </a:rPr>
              <a:t>function BrokenCounter()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 Looks reasonable. Local variable, increment on click.</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let count = 0;</a:t>
            </a:r>
            <a:endParaRPr/>
          </a:p>
          <a:p>
            <a:pPr indent="0" lvl="0" marL="0" marR="0" rtl="0" algn="l">
              <a:spcBef>
                <a:spcPts val="200"/>
              </a:spcBef>
              <a:spcAft>
                <a:spcPts val="0"/>
              </a:spcAft>
              <a:buNone/>
            </a:pPr>
            <a:r>
              <a:t/>
            </a:r>
            <a:endParaRPr b="1" i="0" sz="14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return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&lt;div&gt;</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&lt;p&gt;Count: {count}&lt;/p&gt;</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&lt;button onClick={() =&gt; count = count + 1}&gt;+&lt;/button&gt;</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&lt;/div&gt;</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1" name="Shape 471"/>
        <p:cNvGrpSpPr/>
        <p:nvPr/>
      </p:nvGrpSpPr>
      <p:grpSpPr>
        <a:xfrm>
          <a:off x="0" y="0"/>
          <a:ext cx="0" cy="0"/>
          <a:chOff x="0" y="0"/>
          <a:chExt cx="0" cy="0"/>
        </a:xfrm>
      </p:grpSpPr>
      <p:sp>
        <p:nvSpPr>
          <p:cNvPr id="472" name="Google Shape;472;g3dc25bfaf09_0_268"/>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The broken "counter" - why local variables fail</a:t>
            </a:r>
            <a:endParaRPr/>
          </a:p>
        </p:txBody>
      </p:sp>
      <p:sp>
        <p:nvSpPr>
          <p:cNvPr id="473" name="Google Shape;473;g3dc25bfaf09_0_268"/>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474" name="Google Shape;474;g3dc25bfaf09_0_268"/>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5" name="Google Shape;475;g3dc25bfaf09_0_268"/>
          <p:cNvSpPr txBox="1"/>
          <p:nvPr/>
        </p:nvSpPr>
        <p:spPr>
          <a:xfrm>
            <a:off x="1005840" y="1645920"/>
            <a:ext cx="10179900" cy="464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333344"/>
                </a:solidFill>
                <a:latin typeface="Courier New"/>
                <a:ea typeface="Courier New"/>
                <a:cs typeface="Courier New"/>
                <a:sym typeface="Courier New"/>
              </a:rPr>
              <a:t>function BrokenCounter()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 Looks reasonable. Local variable, increment on click.</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let count = 0;</a:t>
            </a:r>
            <a:endParaRPr/>
          </a:p>
          <a:p>
            <a:pPr indent="0" lvl="0" marL="0" marR="0" rtl="0" algn="l">
              <a:spcBef>
                <a:spcPts val="200"/>
              </a:spcBef>
              <a:spcAft>
                <a:spcPts val="0"/>
              </a:spcAft>
              <a:buNone/>
            </a:pPr>
            <a:r>
              <a:t/>
            </a:r>
            <a:endParaRPr b="1" i="0" sz="14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return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&lt;div&gt;</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&lt;p&gt;Count: {count}&lt;/p&gt;</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&lt;button onClick={() =&gt; count = count + 1}&gt;+&lt;/button&gt;</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&lt;/div&gt;</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b="1" i="0" sz="14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Click the button. The UI shows "Count: 0" forever.</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Why? React only re-runs the component function when it has a</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REASON to. A local variable changing doesn't count - React</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doesn't know you did it. And even if it re-ran the function,</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the next call would reset `count` to 0 again, because the</a:t>
            </a:r>
            <a:endParaRPr/>
          </a:p>
          <a:p>
            <a:pPr indent="0" lvl="0" marL="0" marR="0" rtl="0" algn="l">
              <a:spcBef>
                <a:spcPts val="200"/>
              </a:spcBef>
              <a:spcAft>
                <a:spcPts val="0"/>
              </a:spcAft>
              <a:buNone/>
            </a:pPr>
            <a:r>
              <a:rPr b="1" i="0" lang="en-US" sz="1400" u="none" cap="none" strike="noStrike">
                <a:solidFill>
                  <a:srgbClr val="333344"/>
                </a:solidFill>
                <a:latin typeface="Courier New"/>
                <a:ea typeface="Courier New"/>
                <a:cs typeface="Courier New"/>
                <a:sym typeface="Courier New"/>
              </a:rPr>
              <a:t>// variable is created fresh each call.</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480" name="Shape 480"/>
        <p:cNvGrpSpPr/>
        <p:nvPr/>
      </p:nvGrpSpPr>
      <p:grpSpPr>
        <a:xfrm>
          <a:off x="0" y="0"/>
          <a:ext cx="0" cy="0"/>
          <a:chOff x="0" y="0"/>
          <a:chExt cx="0" cy="0"/>
        </a:xfrm>
      </p:grpSpPr>
      <p:sp>
        <p:nvSpPr>
          <p:cNvPr id="481" name="Google Shape;481;g3dc25bfaf09_0_373"/>
          <p:cNvSpPr txBox="1"/>
          <p:nvPr/>
        </p:nvSpPr>
        <p:spPr>
          <a:xfrm>
            <a:off x="914400" y="2286000"/>
            <a:ext cx="103629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rgbClr val="5B21B6"/>
                </a:solidFill>
                <a:latin typeface="Calibri"/>
                <a:ea typeface="Calibri"/>
                <a:cs typeface="Calibri"/>
                <a:sym typeface="Calibri"/>
              </a:rPr>
              <a:t>useState</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6" name="Shape 486"/>
        <p:cNvGrpSpPr/>
        <p:nvPr/>
      </p:nvGrpSpPr>
      <p:grpSpPr>
        <a:xfrm>
          <a:off x="0" y="0"/>
          <a:ext cx="0" cy="0"/>
          <a:chOff x="0" y="0"/>
          <a:chExt cx="0" cy="0"/>
        </a:xfrm>
      </p:grpSpPr>
      <p:sp>
        <p:nvSpPr>
          <p:cNvPr id="487" name="Google Shape;487;g3dc25bfaf09_0_378"/>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useState: memory between renders</a:t>
            </a:r>
            <a:endParaRPr/>
          </a:p>
        </p:txBody>
      </p:sp>
      <p:sp>
        <p:nvSpPr>
          <p:cNvPr id="488" name="Google Shape;488;g3dc25bfaf09_0_378"/>
          <p:cNvSpPr txBox="1"/>
          <p:nvPr/>
        </p:nvSpPr>
        <p:spPr>
          <a:xfrm>
            <a:off x="914388" y="1513040"/>
            <a:ext cx="10362900" cy="4494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`useState` is React's way of giving a component </a:t>
            </a:r>
            <a:r>
              <a:rPr b="1" i="0" lang="en-US" sz="2400" u="none" cap="none" strike="noStrike">
                <a:solidFill>
                  <a:srgbClr val="333344"/>
                </a:solidFill>
                <a:latin typeface="Calibri"/>
                <a:ea typeface="Calibri"/>
                <a:cs typeface="Calibri"/>
                <a:sym typeface="Calibri"/>
              </a:rPr>
              <a:t>memory</a:t>
            </a:r>
            <a:r>
              <a:rPr b="0" i="0" lang="en-US" sz="2400" u="none" cap="none" strike="noStrike">
                <a:solidFill>
                  <a:srgbClr val="333344"/>
                </a:solidFill>
                <a:latin typeface="Calibri"/>
                <a:ea typeface="Calibri"/>
                <a:cs typeface="Calibri"/>
                <a:sym typeface="Calibri"/>
              </a:rPr>
              <a:t>.</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ourier Prime"/>
                <a:ea typeface="Courier Prime"/>
                <a:cs typeface="Courier Prime"/>
                <a:sym typeface="Courier Prime"/>
              </a:rPr>
              <a:t>const [count, setCount] = useState(0);</a:t>
            </a:r>
            <a:endParaRPr b="1">
              <a:latin typeface="Courier Prime"/>
              <a:ea typeface="Courier Prime"/>
              <a:cs typeface="Courier Prime"/>
              <a:sym typeface="Courier Prime"/>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Call it inside your component, get back two things: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ourier Prime"/>
                <a:ea typeface="Courier Prime"/>
                <a:cs typeface="Courier Prime"/>
                <a:sym typeface="Courier Prime"/>
              </a:rPr>
              <a:t>count</a:t>
            </a:r>
            <a:r>
              <a:rPr b="0" i="0" lang="en-US" sz="2000" u="none" cap="none" strike="noStrike">
                <a:solidFill>
                  <a:srgbClr val="666677"/>
                </a:solidFill>
                <a:latin typeface="Calibri"/>
                <a:ea typeface="Calibri"/>
                <a:cs typeface="Calibri"/>
                <a:sym typeface="Calibri"/>
              </a:rPr>
              <a:t>` - the current value right now</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ourier Prime"/>
                <a:ea typeface="Courier Prime"/>
                <a:cs typeface="Courier Prime"/>
                <a:sym typeface="Courier Prime"/>
              </a:rPr>
              <a:t>setCount(newValue)</a:t>
            </a:r>
            <a:r>
              <a:rPr b="0" i="0" lang="en-US" sz="2000" u="none" cap="none" strike="noStrike">
                <a:solidFill>
                  <a:srgbClr val="666677"/>
                </a:solidFill>
                <a:latin typeface="Calibri"/>
                <a:ea typeface="Calibri"/>
                <a:cs typeface="Calibri"/>
                <a:sym typeface="Calibri"/>
              </a:rPr>
              <a:t>` - tells React to store a new value AND</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re-run the component function so it sees the update</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The `0` argument is the </a:t>
            </a:r>
            <a:r>
              <a:rPr b="1" i="0" lang="en-US" sz="2400" u="none" cap="none" strike="noStrike">
                <a:solidFill>
                  <a:srgbClr val="333344"/>
                </a:solidFill>
                <a:latin typeface="Calibri"/>
                <a:ea typeface="Calibri"/>
                <a:cs typeface="Calibri"/>
                <a:sym typeface="Calibri"/>
              </a:rPr>
              <a:t>initial value</a:t>
            </a:r>
            <a:r>
              <a:rPr b="0" i="0" lang="en-US" sz="2400" u="none" cap="none" strike="noStrike">
                <a:solidFill>
                  <a:srgbClr val="333344"/>
                </a:solidFill>
                <a:latin typeface="Calibri"/>
                <a:ea typeface="Calibri"/>
                <a:cs typeface="Calibri"/>
                <a:sym typeface="Calibri"/>
              </a:rPr>
              <a:t> - </a:t>
            </a:r>
            <a:r>
              <a:rPr lang="en-US" sz="2400">
                <a:solidFill>
                  <a:srgbClr val="333344"/>
                </a:solidFill>
                <a:latin typeface="Calibri"/>
                <a:ea typeface="Calibri"/>
                <a:cs typeface="Calibri"/>
                <a:sym typeface="Calibri"/>
              </a:rPr>
              <a:t>starting state for the very first render</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That's the whole API</a:t>
            </a:r>
            <a:r>
              <a:rPr lang="en-US" sz="2400">
                <a:solidFill>
                  <a:srgbClr val="333344"/>
                </a:solidFill>
                <a:latin typeface="Calibri"/>
                <a:ea typeface="Calibri"/>
                <a:cs typeface="Calibri"/>
                <a:sym typeface="Calibri"/>
              </a:rPr>
              <a:t> -</a:t>
            </a:r>
            <a:r>
              <a:rPr b="0" i="0" lang="en-US" sz="2400" u="none" cap="none" strike="noStrike">
                <a:solidFill>
                  <a:srgbClr val="333344"/>
                </a:solidFill>
                <a:latin typeface="Calibri"/>
                <a:ea typeface="Calibri"/>
                <a:cs typeface="Calibri"/>
                <a:sym typeface="Calibri"/>
              </a:rPr>
              <a:t> </a:t>
            </a:r>
            <a:r>
              <a:rPr lang="en-US" sz="2400">
                <a:solidFill>
                  <a:srgbClr val="333344"/>
                </a:solidFill>
                <a:latin typeface="Calibri"/>
                <a:ea typeface="Calibri"/>
                <a:cs typeface="Calibri"/>
                <a:sym typeface="Calibri"/>
              </a:rPr>
              <a:t>a</a:t>
            </a:r>
            <a:r>
              <a:rPr b="0" i="0" lang="en-US" sz="2400" u="none" cap="none" strike="noStrike">
                <a:solidFill>
                  <a:srgbClr val="333344"/>
                </a:solidFill>
                <a:latin typeface="Calibri"/>
                <a:ea typeface="Calibri"/>
                <a:cs typeface="Calibri"/>
                <a:sym typeface="Calibri"/>
              </a:rPr>
              <a:t> value and a way to change it.</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3" name="Shape 493"/>
        <p:cNvGrpSpPr/>
        <p:nvPr/>
      </p:nvGrpSpPr>
      <p:grpSpPr>
        <a:xfrm>
          <a:off x="0" y="0"/>
          <a:ext cx="0" cy="0"/>
          <a:chOff x="0" y="0"/>
          <a:chExt cx="0" cy="0"/>
        </a:xfrm>
      </p:grpSpPr>
      <p:sp>
        <p:nvSpPr>
          <p:cNvPr id="494" name="Google Shape;494;g3dc25bfaf09_0_384"/>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A working counter</a:t>
            </a:r>
            <a:endParaRPr/>
          </a:p>
        </p:txBody>
      </p:sp>
      <p:sp>
        <p:nvSpPr>
          <p:cNvPr id="495" name="Google Shape;495;g3dc25bfaf09_0_384"/>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496" name="Google Shape;496;g3dc25bfaf09_0_384"/>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7" name="Google Shape;497;g3dc25bfaf09_0_384"/>
          <p:cNvSpPr txBox="1"/>
          <p:nvPr/>
        </p:nvSpPr>
        <p:spPr>
          <a:xfrm>
            <a:off x="1005840" y="1645920"/>
            <a:ext cx="10179900" cy="4427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import { useState } from "react";</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function Counter()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Declare a piece of state named `count`, initialized to 0.</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const [count, setCount] = useState(0);</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return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&lt;div&gt;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&lt;p&gt;Count: {count}&lt;/p&gt;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&lt;button onClick={() =&gt; setCount(count + 1)}&gt;+&lt;/button&gt;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&lt;/div&gt;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Click the button. Count goes up. React noticed setCount was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called, ran the Counter function again with the new value,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and updated the &lt;p&gt; to reflect it. The function didn't.</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2" name="Shape 502"/>
        <p:cNvGrpSpPr/>
        <p:nvPr/>
      </p:nvGrpSpPr>
      <p:grpSpPr>
        <a:xfrm>
          <a:off x="0" y="0"/>
          <a:ext cx="0" cy="0"/>
          <a:chOff x="0" y="0"/>
          <a:chExt cx="0" cy="0"/>
        </a:xfrm>
      </p:grpSpPr>
      <p:sp>
        <p:nvSpPr>
          <p:cNvPr id="503" name="Google Shape;503;g3dc25bfaf09_0_392"/>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How useState actually works</a:t>
            </a:r>
            <a:endParaRPr/>
          </a:p>
        </p:txBody>
      </p:sp>
      <p:sp>
        <p:nvSpPr>
          <p:cNvPr id="504" name="Google Shape;504;g3dc25bfaf09_0_392"/>
          <p:cNvSpPr txBox="1"/>
          <p:nvPr/>
        </p:nvSpPr>
        <p:spPr>
          <a:xfrm>
            <a:off x="914388" y="1086240"/>
            <a:ext cx="10362900" cy="526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a:t>
            </a:r>
            <a:r>
              <a:rPr b="1" i="0" lang="en-US" sz="2400" u="none" cap="none" strike="noStrike">
                <a:solidFill>
                  <a:srgbClr val="333344"/>
                </a:solidFill>
                <a:latin typeface="Courier Prime"/>
                <a:ea typeface="Courier Prime"/>
                <a:cs typeface="Courier Prime"/>
                <a:sym typeface="Courier Prime"/>
              </a:rPr>
              <a:t>count</a:t>
            </a:r>
            <a:r>
              <a:rPr b="0" i="0" lang="en-US" sz="2400" u="none" cap="none" strike="noStrike">
                <a:solidFill>
                  <a:srgbClr val="333344"/>
                </a:solidFill>
                <a:latin typeface="Calibri"/>
                <a:ea typeface="Calibri"/>
                <a:cs typeface="Calibri"/>
                <a:sym typeface="Calibri"/>
              </a:rPr>
              <a:t>` </a:t>
            </a:r>
            <a:r>
              <a:rPr lang="en-US" sz="2400">
                <a:solidFill>
                  <a:srgbClr val="333344"/>
                </a:solidFill>
                <a:latin typeface="Calibri"/>
                <a:ea typeface="Calibri"/>
                <a:cs typeface="Calibri"/>
                <a:sym typeface="Calibri"/>
              </a:rPr>
              <a:t>is a local variable — but a snapshot, not a live binding</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React keeps the value in its own memory, attached</a:t>
            </a:r>
            <a:r>
              <a:rPr lang="en-US"/>
              <a:t> </a:t>
            </a:r>
            <a:r>
              <a:rPr b="0" i="0" lang="en-US" sz="2000" u="none" cap="none" strike="noStrike">
                <a:solidFill>
                  <a:srgbClr val="666677"/>
                </a:solidFill>
                <a:latin typeface="Calibri"/>
                <a:ea typeface="Calibri"/>
                <a:cs typeface="Calibri"/>
                <a:sym typeface="Calibri"/>
              </a:rPr>
              <a:t>to this specific component instance.</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lang="en-US" sz="2000">
                <a:solidFill>
                  <a:srgbClr val="666677"/>
                </a:solidFill>
                <a:latin typeface="Calibri"/>
                <a:ea typeface="Calibri"/>
                <a:cs typeface="Calibri"/>
                <a:sym typeface="Calibri"/>
              </a:rPr>
              <a:t>  That snapshot is frozen for the lifetime of this render.</a:t>
            </a:r>
            <a:endParaRPr sz="2000">
              <a:solidFill>
                <a:srgbClr val="666677"/>
              </a:solidFill>
              <a:latin typeface="Calibri"/>
              <a:ea typeface="Calibri"/>
              <a:cs typeface="Calibri"/>
              <a:sym typeface="Calibri"/>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On each run of the function, `</a:t>
            </a:r>
            <a:r>
              <a:rPr b="1" i="0" lang="en-US" sz="2400" u="none" cap="none" strike="noStrike">
                <a:solidFill>
                  <a:srgbClr val="333344"/>
                </a:solidFill>
                <a:latin typeface="Courier Prime"/>
                <a:ea typeface="Courier Prime"/>
                <a:cs typeface="Courier Prime"/>
                <a:sym typeface="Courier Prime"/>
              </a:rPr>
              <a:t>useState</a:t>
            </a:r>
            <a:r>
              <a:rPr b="0" i="0" lang="en-US" sz="2400" u="none" cap="none" strike="noStrike">
                <a:solidFill>
                  <a:srgbClr val="333344"/>
                </a:solidFill>
                <a:latin typeface="Calibri"/>
                <a:ea typeface="Calibri"/>
                <a:cs typeface="Calibri"/>
                <a:sym typeface="Calibri"/>
              </a:rPr>
              <a:t>` returns **whatever React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has stored**. First run: the initial value. Subsequent runs: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whatever the setter most recently set.</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a:t>
            </a:r>
            <a:r>
              <a:rPr b="1" i="0" lang="en-US" sz="2400" u="none" cap="none" strike="noStrike">
                <a:solidFill>
                  <a:srgbClr val="333344"/>
                </a:solidFill>
                <a:latin typeface="Courier Prime"/>
                <a:ea typeface="Courier Prime"/>
                <a:cs typeface="Courier Prime"/>
                <a:sym typeface="Courier Prime"/>
              </a:rPr>
              <a:t>setCount(5)</a:t>
            </a:r>
            <a:r>
              <a:rPr b="0" i="0" lang="en-US" sz="2400" u="none" cap="none" strike="noStrike">
                <a:solidFill>
                  <a:srgbClr val="333344"/>
                </a:solidFill>
                <a:latin typeface="Calibri"/>
                <a:ea typeface="Calibri"/>
                <a:cs typeface="Calibri"/>
                <a:sym typeface="Calibri"/>
              </a:rPr>
              <a:t>` does two things: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1.</a:t>
            </a:r>
            <a:r>
              <a:rPr b="0" i="0" lang="en-US" sz="2000" u="none" cap="none" strike="noStrike">
                <a:solidFill>
                  <a:srgbClr val="666677"/>
                </a:solidFill>
                <a:latin typeface="Calibri"/>
                <a:ea typeface="Calibri"/>
                <a:cs typeface="Calibri"/>
                <a:sym typeface="Calibri"/>
              </a:rPr>
              <a:t> Stores `5` in React's memory for this component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2.</a:t>
            </a:r>
            <a:r>
              <a:rPr b="0" i="0" lang="en-US" sz="2000" u="none" cap="none" strike="noStrike">
                <a:solidFill>
                  <a:srgbClr val="666677"/>
                </a:solidFill>
                <a:latin typeface="Calibri"/>
                <a:ea typeface="Calibri"/>
                <a:cs typeface="Calibri"/>
                <a:sym typeface="Calibri"/>
              </a:rPr>
              <a:t> Marks the component dirty so React re-runs it</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The setter is the ONLY way to change state. Direct mutation </a:t>
            </a:r>
            <a:r>
              <a:rPr lang="en-US" sz="2400">
                <a:solidFill>
                  <a:srgbClr val="333344"/>
                </a:solidFill>
                <a:latin typeface="Calibri"/>
                <a:ea typeface="Calibri"/>
                <a:cs typeface="Calibri"/>
                <a:sym typeface="Calibri"/>
              </a:rPr>
              <a:t>triggers nothing.</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9" name="Shape 509"/>
        <p:cNvGrpSpPr/>
        <p:nvPr/>
      </p:nvGrpSpPr>
      <p:grpSpPr>
        <a:xfrm>
          <a:off x="0" y="0"/>
          <a:ext cx="0" cy="0"/>
          <a:chOff x="0" y="0"/>
          <a:chExt cx="0" cy="0"/>
        </a:xfrm>
      </p:grpSpPr>
      <p:sp>
        <p:nvSpPr>
          <p:cNvPr id="510" name="Google Shape;510;g3dc25bfaf09_0_398"/>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Multiple pieces of state in one component</a:t>
            </a:r>
            <a:endParaRPr/>
          </a:p>
        </p:txBody>
      </p:sp>
      <p:sp>
        <p:nvSpPr>
          <p:cNvPr id="511" name="Google Shape;511;g3dc25bfaf09_0_398"/>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TypeScript</a:t>
            </a:r>
            <a:endParaRPr/>
          </a:p>
        </p:txBody>
      </p:sp>
      <p:sp>
        <p:nvSpPr>
          <p:cNvPr id="512" name="Google Shape;512;g3dc25bfaf09_0_398"/>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3" name="Google Shape;513;g3dc25bfaf09_0_398"/>
          <p:cNvSpPr txBox="1"/>
          <p:nvPr/>
        </p:nvSpPr>
        <p:spPr>
          <a:xfrm>
            <a:off x="1005840" y="1645920"/>
            <a:ext cx="10179900" cy="4663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rgbClr val="333344"/>
                </a:solidFill>
                <a:latin typeface="Courier New"/>
                <a:ea typeface="Courier New"/>
                <a:cs typeface="Courier New"/>
                <a:sym typeface="Courier New"/>
              </a:rPr>
              <a:t>function LoginForm() {</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 Each useState call manages one independent piece of state.</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const [username, setUsername]   = useState("");</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const [password, setPassword]   = useState("");</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const [rememberMe, setRemember] = useState(false);</a:t>
            </a:r>
            <a:endParaRPr/>
          </a:p>
          <a:p>
            <a:pPr indent="0" lvl="0" marL="0" marR="0" rtl="0" algn="l">
              <a:spcBef>
                <a:spcPts val="200"/>
              </a:spcBef>
              <a:spcAft>
                <a:spcPts val="0"/>
              </a:spcAft>
              <a:buNone/>
            </a:pPr>
            <a:r>
              <a:t/>
            </a:r>
            <a:endParaRPr b="1" i="0" sz="17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return (</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&lt;form&gt;</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&lt;label&gt;Username: {username || "(empty)"}&lt;/label&gt;</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&lt;label&gt;Password: {"*".repeat(password.length)}&lt;/label&gt;</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&lt;label&gt;</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Remember me: {rememberMe ? "yes" : "no"}</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&lt;/label&gt;</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&lt;/form&gt;</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8" name="Shape 518"/>
        <p:cNvGrpSpPr/>
        <p:nvPr/>
      </p:nvGrpSpPr>
      <p:grpSpPr>
        <a:xfrm>
          <a:off x="0" y="0"/>
          <a:ext cx="0" cy="0"/>
          <a:chOff x="0" y="0"/>
          <a:chExt cx="0" cy="0"/>
        </a:xfrm>
      </p:grpSpPr>
      <p:sp>
        <p:nvSpPr>
          <p:cNvPr id="519" name="Google Shape;519;g3dc25bfaf09_0_406"/>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The render cycle, in one picture</a:t>
            </a:r>
            <a:endParaRPr/>
          </a:p>
        </p:txBody>
      </p:sp>
      <p:sp>
        <p:nvSpPr>
          <p:cNvPr id="520" name="Google Shape;520;g3dc25bfaf09_0_406"/>
          <p:cNvSpPr txBox="1"/>
          <p:nvPr/>
        </p:nvSpPr>
        <p:spPr>
          <a:xfrm>
            <a:off x="914400" y="1463040"/>
            <a:ext cx="10362900" cy="5141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Here's the loop that makes React interactive:</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1.</a:t>
            </a:r>
            <a:r>
              <a:rPr b="0" i="0" lang="en-US" sz="2000" u="none" cap="none" strike="noStrike">
                <a:solidFill>
                  <a:srgbClr val="666677"/>
                </a:solidFill>
                <a:latin typeface="Calibri"/>
                <a:ea typeface="Calibri"/>
                <a:cs typeface="Calibri"/>
                <a:sym typeface="Calibri"/>
              </a:rPr>
              <a:t> The user does something (clicks, types, loads the page)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2.</a:t>
            </a:r>
            <a:r>
              <a:rPr b="0" i="0" lang="en-US" sz="2000" u="none" cap="none" strike="noStrike">
                <a:solidFill>
                  <a:srgbClr val="666677"/>
                </a:solidFill>
                <a:latin typeface="Calibri"/>
                <a:ea typeface="Calibri"/>
                <a:cs typeface="Calibri"/>
                <a:sym typeface="Calibri"/>
              </a:rPr>
              <a:t> An event handler runs, and calls a setter: `setCount(5)`</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3.</a:t>
            </a:r>
            <a:r>
              <a:rPr b="0" i="0" lang="en-US" sz="2000" u="none" cap="none" strike="noStrike">
                <a:solidFill>
                  <a:srgbClr val="666677"/>
                </a:solidFill>
                <a:latin typeface="Calibri"/>
                <a:ea typeface="Calibri"/>
                <a:cs typeface="Calibri"/>
                <a:sym typeface="Calibri"/>
              </a:rPr>
              <a:t> React schedules a re-render of this component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4.</a:t>
            </a:r>
            <a:r>
              <a:rPr b="0" i="0" lang="en-US" sz="2000" u="none" cap="none" strike="noStrike">
                <a:solidFill>
                  <a:srgbClr val="666677"/>
                </a:solidFill>
                <a:latin typeface="Calibri"/>
                <a:ea typeface="Calibri"/>
                <a:cs typeface="Calibri"/>
                <a:sym typeface="Calibri"/>
              </a:rPr>
              <a:t> React calls your component function again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5.</a:t>
            </a:r>
            <a:r>
              <a:rPr b="0" i="0" lang="en-US" sz="2000" u="none" cap="none" strike="noStrike">
                <a:solidFill>
                  <a:srgbClr val="666677"/>
                </a:solidFill>
                <a:latin typeface="Calibri"/>
                <a:ea typeface="Calibri"/>
                <a:cs typeface="Calibri"/>
                <a:sym typeface="Calibri"/>
              </a:rPr>
              <a:t> `useState` returns the new value (5)</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6.</a:t>
            </a:r>
            <a:r>
              <a:rPr b="0" i="0" lang="en-US" sz="2000" u="none" cap="none" strike="noStrike">
                <a:solidFill>
                  <a:srgbClr val="666677"/>
                </a:solidFill>
                <a:latin typeface="Calibri"/>
                <a:ea typeface="Calibri"/>
                <a:cs typeface="Calibri"/>
                <a:sym typeface="Calibri"/>
              </a:rPr>
              <a:t> The function returns new JSX based on the new state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7.</a:t>
            </a:r>
            <a:r>
              <a:rPr b="0" i="0" lang="en-US" sz="2000" u="none" cap="none" strike="noStrike">
                <a:solidFill>
                  <a:srgbClr val="666677"/>
                </a:solidFill>
                <a:latin typeface="Calibri"/>
                <a:ea typeface="Calibri"/>
                <a:cs typeface="Calibri"/>
                <a:sym typeface="Calibri"/>
              </a:rPr>
              <a:t> React diffs the new JSX against the previous render</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8.</a:t>
            </a:r>
            <a:r>
              <a:rPr b="0" i="0" lang="en-US" sz="2000" u="none" cap="none" strike="noStrike">
                <a:solidFill>
                  <a:srgbClr val="666677"/>
                </a:solidFill>
                <a:latin typeface="Calibri"/>
                <a:ea typeface="Calibri"/>
                <a:cs typeface="Calibri"/>
                <a:sym typeface="Calibri"/>
              </a:rPr>
              <a:t> React updates only the parts of the DOM that changed</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Your function doesn't know it's being called for the second time.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From its perspective, it's a pure function running with the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current state as input. Same data in, same JSX out.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