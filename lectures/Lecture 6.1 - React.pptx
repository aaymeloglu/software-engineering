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y="6858000" cx="12191675"/>
  <p:notesSz cx="6858000" cy="9144000"/>
  <p:embeddedFontLst>
    <p:embeddedFont>
      <p:font typeface="Courier Prime"/>
      <p:regular r:id="rId62"/>
      <p:bold r:id="rId63"/>
      <p:italic r:id="rId64"/>
      <p:boldItalic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66" roundtripDataSignature="AMtx7miIG6ji30qpatYHbgFyl06OZsE0+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font" Target="fonts/CourierPrime-regular.fntdata"/><Relationship Id="rId63" Type="http://schemas.openxmlformats.org/officeDocument/2006/relationships/font" Target="fonts/CourierPrime-bold.fntdata"/><Relationship Id="rId64" Type="http://schemas.openxmlformats.org/officeDocument/2006/relationships/font" Target="fonts/CourierPrime-italic.fntdata"/><Relationship Id="rId65" Type="http://schemas.openxmlformats.org/officeDocument/2006/relationships/font" Target="fonts/CourierPrime-boldItalic.fntdata"/><Relationship Id="rId6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c25bfaf09_0_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g3dc25bfaf09_0_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They did this with raw DOM in 5.2's exercise.</a:t>
            </a:r>
          </a:p>
        </p:txBody>
      </p:sp>
      <p:sp>
        <p:nvSpPr>
          <p:cNvPr id="98" name="Google Shape;98;g3dc25bfaf09_0_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They did this with raw DOM in 5.2's exercise.</a:t>
            </a:r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c25bfaf09_0_4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g3dc25bfaf09_0_4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Abort previous, new controller, pass signal, catch ignores AbortError. Same shape as useEffect cleanup.</a:t>
            </a:r>
          </a:p>
        </p:txBody>
      </p:sp>
      <p:sp>
        <p:nvSpPr>
          <p:cNvPr id="112" name="Google Shape;112;g3dc25bfaf09_0_4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c25bfaf09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g3dc25bfaf09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Abort previous, new controller, pass signal, catch ignores AbortError. Same shape as useEffect cleanup.</a:t>
            </a:r>
          </a:p>
        </p:txBody>
      </p:sp>
      <p:sp>
        <p:nvSpPr>
          <p:cNvPr id="121" name="Google Shape;121;g3dc25bfaf09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 the three updates. Ask: now fifteen pieces of UI. Don't reveal React yet.</a:t>
            </a:r>
          </a:p>
        </p:txBody>
      </p:sp>
      <p:sp>
        <p:nvSpPr>
          <p:cNvPr id="130" name="Google Shape;130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3 min, two pairs, answers on board. Want: declarative, one source of truth, framework diffs.</a:t>
            </a:r>
          </a:p>
        </p:txBody>
      </p:sp>
      <p:sp>
        <p:nvSpPr>
          <p:cNvPr id="139" name="Google Shape;139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Mention: AI-generated React often still touches the DOM by hand.</a:t>
            </a:r>
          </a:p>
        </p:txBody>
      </p:sp>
      <p:sp>
        <p:nvSpPr>
          <p:cNvPr id="147" name="Google Shape;14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54" name="Google Shape;15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case gives a cryptic error or renders the wrong thing.</a:t>
            </a:r>
          </a:p>
        </p:txBody>
      </p:sp>
      <p:sp>
        <p:nvSpPr>
          <p:cNvPr id="160" name="Google Shape;160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c25bfaf09_0_10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6" name="Google Shape;166;g3dc25bfaf09_0_10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Interface is 5.1 material, skip it. Greeting as a tag is JSX call syntax.</a:t>
            </a:r>
          </a:p>
        </p:txBody>
      </p:sp>
      <p:sp>
        <p:nvSpPr>
          <p:cNvPr id="167" name="Google Shape;167;g3dc25bfaf09_0_10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Interface is 5.1 material, skip it. Greeting as a tag is JSX call syntax.</a:t>
            </a:r>
          </a:p>
        </p:txBody>
      </p:sp>
      <p:sp>
        <p:nvSpPr>
          <p:cNvPr id="176" name="Google Shape;17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c25bfaf09_0_9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g3dc25bfaf09_0_9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2 min, cold-call two. Want: not a string, createElement call, evaluates to an object.</a:t>
            </a:r>
          </a:p>
        </p:txBody>
      </p:sp>
      <p:sp>
        <p:nvSpPr>
          <p:cNvPr id="185" name="Google Shape;185;g3dc25bfaf09_0_9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93" name="Google Shape;19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c25bfaf09_0_1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dc25bfaf09_0_1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move as async/await in 5.2. Modern build emits `_jsxs`; children live under props.</a:t>
            </a:r>
          </a:p>
          <a:p/>
          <a:p>
            <a:r>
              <a:t>createElement(type, props, ...children)</a:t>
            </a:r>
          </a:p>
          <a:p>
            <a:r>
              <a:t>null = props in the header h1</a:t>
            </a:r>
          </a:p>
          <a:p/>
          <a:p>
            <a:r>
              <a:t>_jsxs("h1", { children: ["Hello, ", name, "!"] })</a:t>
            </a:r>
          </a:p>
        </p:txBody>
      </p:sp>
      <p:sp>
        <p:nvSpPr>
          <p:cNvPr id="199" name="Google Shape;199;g3dc25bfaf09_0_1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5" name="Google Shape;205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move as async/await in 5.2. Modern build emits `_jsxs`; children live under props.</a:t>
            </a:r>
          </a:p>
          <a:p/>
          <a:p>
            <a:r>
              <a:t>createElement(type, props, ...children)</a:t>
            </a:r>
          </a:p>
          <a:p>
            <a:r>
              <a:t>null = props in the header h1</a:t>
            </a:r>
          </a:p>
          <a:p/>
          <a:p>
            <a:r>
              <a:t>_jsxs("h1", { children: ["Hello, ", name, "!"] })</a:t>
            </a:r>
          </a:p>
        </p:txBody>
      </p:sp>
      <p:sp>
        <p:nvSpPr>
          <p:cNvPr id="206" name="Google Shape;206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c25bfaf09_0_1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dc25bfaf09_0_1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13" name="Google Shape;213;g3dc25bfaf09_0_1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c25bfaf09_0_1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1" name="Google Shape;221;g3dc25bfaf09_0_1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22" name="Google Shape;222;g3dc25bfaf09_0_1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0" name="Google Shape;23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31" name="Google Shape;23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dc25bfaf09_0_2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9" name="Google Shape;239;g3dc25bfaf09_0_2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40" name="Google Shape;240;g3dc25bfaf09_0_2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47" name="Google Shape;247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3" name="Google Shape;25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54" name="Google Shape;25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dc25bfaf09_0_35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g3dc25bfaf09_0_35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Attributes default to strings; braces are the escape into a JS expression.</a:t>
            </a:r>
          </a:p>
        </p:txBody>
      </p:sp>
      <p:sp>
        <p:nvSpPr>
          <p:cNvPr id="260" name="Google Shape;260;g3dc25bfaf09_0_35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Attributes default to strings; braces are the escape into a JS expression.</a:t>
            </a:r>
          </a:p>
        </p:txBody>
      </p:sp>
      <p:sp>
        <p:nvSpPr>
          <p:cNvPr id="267" name="Google Shape;267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74" name="Google Shape;274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c25bfaf09_0_3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g3dc25bfaf09_0_3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Double braces are not special syntax: JSX expression outside, object literal inside.</a:t>
            </a:r>
          </a:p>
        </p:txBody>
      </p:sp>
      <p:sp>
        <p:nvSpPr>
          <p:cNvPr id="283" name="Google Shape;283;g3dc25bfaf09_0_3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Double braces are not special syntax: JSX expression outside, object literal inside.</a:t>
            </a:r>
          </a:p>
        </p:txBody>
      </p:sp>
      <p:sp>
        <p:nvSpPr>
          <p:cNvPr id="292" name="Google Shape;29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dc25bfaf09_0_49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g3dc25bfaf09_0_49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component is a pure function of its props; nothing reaches sideways across the tree.</a:t>
            </a:r>
          </a:p>
        </p:txBody>
      </p:sp>
      <p:sp>
        <p:nvSpPr>
          <p:cNvPr id="301" name="Google Shape;301;g3dc25bfaf09_0_49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component is a pure function of its props; nothing reaches sideways across the tree.</a:t>
            </a:r>
          </a:p>
        </p:txBody>
      </p:sp>
      <p:sp>
        <p:nvSpPr>
          <p:cNvPr id="308" name="Google Shape;30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Inline props type is fine for small components. `key` explained next section.</a:t>
            </a:r>
          </a:p>
        </p:txBody>
      </p:sp>
      <p:sp>
        <p:nvSpPr>
          <p:cNvPr id="315" name="Google Shape;315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2 min. Expect by-position and by-content; answer: stable id. Array index is by-position.</a:t>
            </a:r>
          </a:p>
        </p:txBody>
      </p:sp>
      <p:sp>
        <p:nvSpPr>
          <p:cNvPr id="324" name="Google Shape;324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dc25bfaf09_0_50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1" name="Google Shape;331;g3dc25bfaf09_0_50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keys: form inputs keep the wrong values after a reorder. Check agent output.</a:t>
            </a:r>
          </a:p>
        </p:txBody>
      </p:sp>
      <p:sp>
        <p:nvSpPr>
          <p:cNvPr id="332" name="Google Shape;332;g3dc25bfaf09_0_50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Wrong keys: form inputs keep the wrong values after a reorder. Check agent output.</a:t>
            </a:r>
          </a:p>
        </p:txBody>
      </p:sp>
      <p:sp>
        <p:nvSpPr>
          <p:cNvPr id="339" name="Google Shape;339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46" name="Google Shape;346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dc25bfaf09_0_5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g3dc25bfaf09_0_5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All plain JS from 5.1, nothing React-specific.</a:t>
            </a:r>
          </a:p>
        </p:txBody>
      </p:sp>
      <p:sp>
        <p:nvSpPr>
          <p:cNvPr id="355" name="Google Shape;355;g3dc25bfaf09_0_5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3" name="Google Shape;363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All plain JS from 5.1, nothing React-specific.</a:t>
            </a:r>
          </a:p>
        </p:txBody>
      </p:sp>
      <p:sp>
        <p:nvSpPr>
          <p:cNvPr id="364" name="Google Shape;364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2" name="Google Shape;372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Demo hot reload keeping state. Then 10 min with a project running on their laptops.</a:t>
            </a:r>
          </a:p>
        </p:txBody>
      </p:sp>
      <p:sp>
        <p:nvSpPr>
          <p:cNvPr id="373" name="Google Shape;373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Answers: Todo[], todos, map, key, "done", todo.title.</a:t>
            </a:r>
          </a:p>
          <a:p/>
          <a:p>
            <a:r>
              <a:t>todos: Todo[];</a:t>
            </a:r>
          </a:p>
          <a:p>
            <a:r>
              <a:t>function TodoList({ todos }: TodoListProps) {</a:t>
            </a:r>
          </a:p>
          <a:p>
            <a:r>
              <a:t>            {todos.map((todo) =&gt; (</a:t>
            </a:r>
          </a:p>
          <a:p>
            <a:r>
              <a:t>                    key={todo.id}</a:t>
            </a:r>
          </a:p>
          <a:p>
            <a:r>
              <a:t>                    className={todo.done ? "done" : ""}</a:t>
            </a:r>
          </a:p>
          <a:p>
            <a:r>
              <a:t>                    {todo.title}</a:t>
            </a:r>
          </a:p>
        </p:txBody>
      </p:sp>
      <p:sp>
        <p:nvSpPr>
          <p:cNvPr id="382" name="Google Shape;382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Pure: same todos in, same JSX out. Next lecture useState changes the array.</a:t>
            </a:r>
          </a:p>
        </p:txBody>
      </p:sp>
      <p:sp>
        <p:nvSpPr>
          <p:cNvPr id="391" name="Google Shape;391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dc25bfaf09_0_24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9" name="Google Shape;399;g3dc25bfaf09_0_24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React won on timing, Facebook, ecosystem. Honorable mentions if asked: Preact, Lit, Alpine, Qwik.</a:t>
            </a:r>
          </a:p>
        </p:txBody>
      </p:sp>
      <p:sp>
        <p:nvSpPr>
          <p:cNvPr id="400" name="Google Shape;400;g3dc25bfaf09_0_24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dc25bfaf09_0_1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6" name="Google Shape;406;g3dc25bfaf09_0_1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React won on timing, Facebook, ecosystem. Honorable mentions if asked: Preact, Lit, Alpine, Qwik.</a:t>
            </a:r>
          </a:p>
        </p:txBody>
      </p:sp>
      <p:sp>
        <p:nvSpPr>
          <p:cNvPr id="407" name="Google Shape;407;g3dc25bfaf09_0_1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dc25bfaf09_0_14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3" name="Google Shape;413;g3dc25bfaf09_0_14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Directives in markup, `{{ }}` interpolation, `:key` on the tag. Mutating `todos` updates UI automatically.</a:t>
            </a:r>
          </a:p>
        </p:txBody>
      </p:sp>
      <p:sp>
        <p:nvSpPr>
          <p:cNvPr id="414" name="Google Shape;414;g3dc25bfaf09_0_14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dc25bfaf09_0_15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g3dc25bfaf09_0_15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code as the vanilla-JS slide, emitted by the compiler. Smallest bundle, no virtual-DOM diff.</a:t>
            </a:r>
          </a:p>
        </p:txBody>
      </p:sp>
      <p:sp>
        <p:nvSpPr>
          <p:cNvPr id="423" name="Google Shape;423;g3dc25bfaf09_0_15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dc25bfaf09_0_1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1" name="Google Shape;431;g3dc25bfaf09_0_1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Tradeoff: every interaction roundtrips, rich client state is hard. Hotwire is the Rails equivalent.</a:t>
            </a:r>
          </a:p>
        </p:txBody>
      </p:sp>
      <p:sp>
        <p:nvSpPr>
          <p:cNvPr id="432" name="Google Shape;432;g3dc25bfaf09_0_16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0" name="Google Shape;440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41" name="Google Shape;441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dc25bfaf09_0_2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g3dc25bfaf09_0_2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48" name="Google Shape;448;g3dc25bfaf09_0_2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dc25bfaf09_0_26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3" name="Google Shape;453;g3dc25bfaf09_0_26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54" name="Google Shape;454;g3dc25bfaf09_0_26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dc25bfaf09_0_3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0" name="Google Shape;460;g3dc25bfaf09_0_3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Two separate problems: no re-render trigger, and `count` resets on every call. Don't rush.</a:t>
            </a:r>
          </a:p>
        </p:txBody>
      </p:sp>
      <p:sp>
        <p:nvSpPr>
          <p:cNvPr id="461" name="Google Shape;461;g3dc25bfaf09_0_3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dc25bfaf09_0_26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9" name="Google Shape;469;g3dc25bfaf09_0_26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Two separate problems: no re-render trigger, and `count` resets on every call. Don't rush.</a:t>
            </a:r>
          </a:p>
        </p:txBody>
      </p:sp>
      <p:sp>
        <p:nvSpPr>
          <p:cNvPr id="470" name="Google Shape;470;g3dc25bfaf09_0_26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dc25bfaf09_0_3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8" name="Google Shape;478;g3dc25bfaf09_0_3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79" name="Google Shape;479;g3dc25bfaf09_0_37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dc25bfaf09_0_3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4" name="Google Shape;484;g3dc25bfaf09_0_3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Always destructure, always at top of component. Convention: [thing, setThing], fix agent output that deviates.</a:t>
            </a:r>
          </a:p>
        </p:txBody>
      </p:sp>
      <p:sp>
        <p:nvSpPr>
          <p:cNvPr id="485" name="Google Shape;485;g3dc25bfaf09_0_37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dc25bfaf09_0_3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g3dc25bfaf09_0_3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Show the diff from BrokenCounter: import, useState line, setCount in handler.</a:t>
            </a:r>
          </a:p>
        </p:txBody>
      </p:sp>
      <p:sp>
        <p:nvSpPr>
          <p:cNvPr id="492" name="Google Shape;492;g3dc25bfaf09_0_38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dc25bfaf09_0_39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0" name="Google Shape;500;g3dc25bfaf09_0_39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Closures (onClick) capture that render's value even if state changes later.</a:t>
            </a:r>
          </a:p>
        </p:txBody>
      </p:sp>
      <p:sp>
        <p:nvSpPr>
          <p:cNvPr id="501" name="Google Shape;501;g3dc25bfaf09_0_39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dc25bfaf09_0_39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7" name="Google Shape;507;g3dc25bfaf09_0_39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call order every render, no useState inside if/loops. React tracks hooks by call order.</a:t>
            </a:r>
          </a:p>
        </p:txBody>
      </p:sp>
      <p:sp>
        <p:nvSpPr>
          <p:cNvPr id="508" name="Google Shape;508;g3dc25bfaf09_0_39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dc25bfaf09_0_40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6" name="Google Shape;516;g3dc25bfaf09_0_40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Debug by step: usually 2 (setter never called) or 7 (same reference, diff skipped).</a:t>
            </a:r>
          </a:p>
        </p:txBody>
      </p:sp>
      <p:sp>
        <p:nvSpPr>
          <p:cNvPr id="517" name="Google Shape;517;g3dc25bfaf09_0_40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6.1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React: UI as a Function of Data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Re-Render Question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c25bfaf09_0_8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Recapping where we left off</a:t>
            </a:r>
            <a:endParaRPr/>
          </a:p>
        </p:txBody>
      </p:sp>
      <p:sp>
        <p:nvSpPr>
          <p:cNvPr id="101" name="Google Shape;101;g3dc25bfaf09_0_85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week's tools - `querySelector`, `addEventListener`, `fetch`,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`createElement` - were enough to build any UI you can think of.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the same way a for-loop is enough to build any sorting algorithm.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True, and also: you'd rather not.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Recapping where we left off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week's tools - `querySelector`, `addEventListener`, `fetch`,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`createElement` - were enough to build any UI you can think of.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the same way a for-loop is enough to build any sorting algorithm.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True, and also: you'd rather not.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Last week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ended with this line: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do I re-render after this promise resolves?"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 we see why the question is hard, and what React's answer is.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c25bfaf09_0_48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Refresh all the state!</a:t>
            </a:r>
            <a:endParaRPr/>
          </a:p>
        </p:txBody>
      </p:sp>
      <p:sp>
        <p:nvSpPr>
          <p:cNvPr id="115" name="Google Shape;115;g3dc25bfaf09_0_48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16" name="Google Shape;116;g3dc25bfaf09_0_48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c25bfaf09_0_487"/>
          <p:cNvSpPr txBox="1"/>
          <p:nvPr/>
        </p:nvSpPr>
        <p:spPr>
          <a:xfrm>
            <a:off x="1005840" y="1645920"/>
            <a:ext cx="101799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Cancel the in-flight fetch when a newer one starts.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cancelled fetch's promise rejects with an AbortError.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controller: AbortController | null = null;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loadFiltered(filter: string): Promise&lt;void&gt;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controller?.abort();              // cancel previous, if any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 = new AbortController();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response = await fetch(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`/api/messages?filter=${filter}`,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 signal: controller.signal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await response.json(), document…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(20 lines of code)</a:t>
            </a:r>
            <a:endParaRPr sz="20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 catch (err: any)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(err.name === "AbortError") return;   // expected, ignore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console.error("fetch failed:", err);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c25bfaf09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Refresh all the state!</a:t>
            </a:r>
            <a:endParaRPr/>
          </a:p>
        </p:txBody>
      </p:sp>
      <p:sp>
        <p:nvSpPr>
          <p:cNvPr id="124" name="Google Shape;124;g3dc25bfaf09_0_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25" name="Google Shape;125;g3dc25bfaf09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g3dc25bfaf09_0_0"/>
          <p:cNvSpPr txBox="1"/>
          <p:nvPr/>
        </p:nvSpPr>
        <p:spPr>
          <a:xfrm>
            <a:off x="1005840" y="1645920"/>
            <a:ext cx="10179900" cy="44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Cancel the in-flight fetch when a newer one starts.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cancelled fetch's promise rejects with an AbortError.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controller: AbortController | null = null;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loadFiltered(filter: string): Promise&lt;void&gt;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controller?.abort();              // cancel previous, if any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controller = new AbortController();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try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response = await fetch(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`/api/messages?filter=${filter}`,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 signal: controller.signal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20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refresh</a:t>
            </a:r>
            <a:r>
              <a:rPr b="1" i="0" lang="en-US" sz="20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20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 catch (err: any)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(err.name === "AbortError") return;   // expected, ignore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console.error("fetch failed:", err);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Vanilla-JS after a fetch</a:t>
            </a:r>
            <a:endParaRPr/>
          </a:p>
        </p:txBody>
      </p:sp>
      <p:sp>
        <p:nvSpPr>
          <p:cNvPr id="133" name="Google Shape;133;p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After fetching new todos, update every piece of the page BY HAND.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function refresh()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todos = await loadTodos();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1. clear and rebuild the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list = document.querySelector("#todo-list")!;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list.replaceChildren();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todos.forEach((t)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const li = document.createElement("li");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li.textContent = t.title;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if (t.done) li.classList.add("done");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list.append(li);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2. update the counter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counter = document.querySelector("#counter")!;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counter.textContent = `${todos.filter(t =&gt; !t.done).length} left`;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3. show or hide the "empty" message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empty = document.querySelector("#empty")! as HTMLElement;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empty.style.display = todos.length === 0 ? "block" : "none";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42" name="Google Shape;142;p5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would you redesign this?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840375" y="4572000"/>
            <a:ext cx="10564800" cy="17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pain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every state change means 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touching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every affected piece of the page by hand. </a:t>
            </a:r>
            <a:endParaRPr b="0" i="0" sz="22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If you could redesign the API any way you wanted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200"/>
              <a:buFont typeface="Calibri"/>
              <a:buChar char="●"/>
            </a:pP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would the developer write instead?</a:t>
            </a:r>
            <a:endParaRPr sz="22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200"/>
              <a:buFont typeface="Calibri"/>
              <a:buChar char="●"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What does the framework take care of?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You're answering the wrong question</a:t>
            </a:r>
            <a:endParaRPr/>
          </a:p>
        </p:txBody>
      </p:sp>
      <p:sp>
        <p:nvSpPr>
          <p:cNvPr id="150" name="Google Shape;150;p6"/>
          <p:cNvSpPr txBox="1"/>
          <p:nvPr/>
        </p:nvSpPr>
        <p:spPr>
          <a:xfrm>
            <a:off x="914400" y="1280150"/>
            <a:ext cx="107286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line of that function is an answer to: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"What do I need to change in the DOM right now?"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question gets harder as the app grows. Every new piece of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p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iece of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 means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reasoning/fixing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every affected piece of U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Miss one and the UI silently lies.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 flips the question: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"Given this data, what should the UI look like?"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answer that once, as a function. React calls your function,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act calls your function,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compares result to what's already on page, and updates what changed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stop touching the DOM entirely and the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framework handles the diff for you.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Components: Functions from Data to UI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component is a function</a:t>
            </a:r>
            <a:endParaRPr/>
          </a:p>
        </p:txBody>
      </p:sp>
      <p:sp>
        <p:nvSpPr>
          <p:cNvPr id="163" name="Google Shape;163;p8"/>
          <p:cNvSpPr txBox="1"/>
          <p:nvPr/>
        </p:nvSpPr>
        <p:spPr>
          <a:xfrm>
            <a:off x="914400" y="14630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React,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a JavaScript function that: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Takes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one argument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an object of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Returns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description of UI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(JSX - Jav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aScript XML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regular function.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can call it, pass it arguments, compose it, test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React's job is to call your functions at the right times with the right d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ata.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When the data changes, React calls them again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figures out what changed on the page.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Rule: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component names must start with a capital letter. That's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React tells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&lt;Button&gt;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(a component) from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&lt;button&gt;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(HTML).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c25bfaf09_0_10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React hello world</a:t>
            </a:r>
            <a:endParaRPr/>
          </a:p>
        </p:txBody>
      </p:sp>
      <p:sp>
        <p:nvSpPr>
          <p:cNvPr id="170" name="Google Shape;170;g3dc25bfaf09_0_10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71" name="Google Shape;171;g3dc25bfaf09_0_104"/>
          <p:cNvSpPr/>
          <p:nvPr/>
        </p:nvSpPr>
        <p:spPr>
          <a:xfrm>
            <a:off x="731525" y="990425"/>
            <a:ext cx="10728600" cy="54105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g3dc25bfaf09_0_104"/>
          <p:cNvSpPr txBox="1"/>
          <p:nvPr/>
        </p:nvSpPr>
        <p:spPr>
          <a:xfrm>
            <a:off x="1095875" y="1188725"/>
            <a:ext cx="101799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Greeting.tsx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GreetingProps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name: string;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 component is a function. Props is its argument.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Greeting({ name }: GreetingProps)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&lt;h1&gt;Hello, {name}!&lt;/h1&gt;;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React hello world</a:t>
            </a:r>
            <a:endParaRPr/>
          </a:p>
        </p:txBody>
      </p:sp>
      <p:sp>
        <p:nvSpPr>
          <p:cNvPr id="179" name="Google Shape;179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731525" y="990425"/>
            <a:ext cx="10728600" cy="54105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1095875" y="1188725"/>
            <a:ext cx="10179900" cy="51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Greeting.tsx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GreetingProps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name: string;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 component is a function. Props is its argument.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Greeting({ name }: GreetingProps)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&lt;h1&gt;Hello, {name}!&lt;/h1&gt;;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Use it elsewhere like an HTML tag: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&lt;Greeting name="alice" /&gt;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&lt;Greeting name="bob" /&gt;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Renders: &lt;div&gt;&lt;h1&gt;Hello, alice!&lt;/h1&gt;&lt;h1&gt;Hello, bob!&lt;/h1&gt;&lt;/div&gt;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c25bfaf09_0_97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88" name="Google Shape;188;g3dc25bfaf09_0_97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is `&lt;h1&gt;Hello, {name}!&lt;/h1&gt;` actually?</a:t>
            </a:r>
            <a:endParaRPr/>
          </a:p>
        </p:txBody>
      </p:sp>
      <p:sp>
        <p:nvSpPr>
          <p:cNvPr id="189" name="Google Shape;189;g3dc25bfaf09_0_97"/>
          <p:cNvSpPr txBox="1"/>
          <p:nvPr/>
        </p:nvSpPr>
        <p:spPr>
          <a:xfrm>
            <a:off x="1828800" y="4572000"/>
            <a:ext cx="8534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 looks like HTML, but it's sitting inside a JavaScript function. </a:t>
            </a:r>
            <a:r>
              <a:rPr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Clearly there’s some compiler magic</a:t>
            </a: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What does it turn into? What kind of value does it evaluate to?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JSX: HTML as an Expression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c25bfaf09_0_1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JSX actually is</a:t>
            </a:r>
            <a:endParaRPr/>
          </a:p>
        </p:txBody>
      </p:sp>
      <p:sp>
        <p:nvSpPr>
          <p:cNvPr id="202" name="Google Shape;202;g3dc25bfaf09_0_115"/>
          <p:cNvSpPr txBox="1"/>
          <p:nvPr/>
        </p:nvSpPr>
        <p:spPr>
          <a:xfrm>
            <a:off x="914388" y="12801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the HTML-looking syntax inside React components: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&lt;h1&gt;Hello, {name}!&lt;/h1&gt;;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a string, not a template.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valuates to a React element - a plain object describing UI.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JSX actually is</a:t>
            </a:r>
            <a:endParaRPr/>
          </a:p>
        </p:txBody>
      </p:sp>
      <p:sp>
        <p:nvSpPr>
          <p:cNvPr id="209" name="Google Shape;209;p12"/>
          <p:cNvSpPr txBox="1"/>
          <p:nvPr/>
        </p:nvSpPr>
        <p:spPr>
          <a:xfrm>
            <a:off x="914388" y="12801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the HTML-looking syntax inside React components: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&lt;h1&gt;Hello, {name}!&lt;/h1&gt;;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 a string, not a template. A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valuates to a React element - a plain object describing UI.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build tool (Vite) transforms JSX into function calls at compile time.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In classic React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line above becomes something like: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return React.createElement("h1", null, "Hello, ", name, "!");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You'll never write the function-call version yourself, bu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 you should see it once.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dc25bfaf09_0_12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16" name="Google Shape;216;g3dc25bfaf09_0_12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17" name="Google Shape;217;g3dc25bfaf09_0_12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dc25bfaf09_0_121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dc25bfaf09_0_12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25" name="Google Shape;225;g3dc25bfaf09_0_12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26" name="Google Shape;226;g3dc25bfaf09_0_12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g3dc25bfaf09_0_129"/>
          <p:cNvSpPr txBox="1"/>
          <p:nvPr/>
        </p:nvSpPr>
        <p:spPr>
          <a:xfrm>
            <a:off x="1005840" y="1645920"/>
            <a:ext cx="10179900" cy="33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Attributes are camelCase. className, not class.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&lt;div className="container" onClick={handleClick}&gt;...&lt;/div&gt;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JSX syntax essentials</a:t>
            </a:r>
            <a:endParaRPr/>
          </a:p>
        </p:txBody>
      </p:sp>
      <p:sp>
        <p:nvSpPr>
          <p:cNvPr id="234" name="Google Shape;234;p1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JSX</a:t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element with a text child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&lt;h1&gt;Hello&lt;/h1&gt;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Self-closing, like HTML void elements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src="/cat.png" alt="a cat"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JavaScript expressions go in {braces}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&lt;p&gt;You have {todos.length} todos&lt;/p&gt;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&lt;p&gt;First: {todos[0].title.toUpperCase()}&lt;/p&gt;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Attributes are camelCase. className, not class.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&lt;div className="container" onClick={handleClick}&gt;...&lt;/div&gt;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Must return ONE root element. Use a Fragment for multiple: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return (&lt;&gt;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&lt;h1&gt;Title&lt;/h1&gt;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&lt;p&gt;Body&lt;/p&gt;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&lt;/&gt;);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c25bfaf09_0_25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JSX rules that trip everyone up</a:t>
            </a:r>
            <a:endParaRPr/>
          </a:p>
        </p:txBody>
      </p:sp>
      <p:sp>
        <p:nvSpPr>
          <p:cNvPr id="243" name="Google Shape;243;g3dc25bfaf09_0_251"/>
          <p:cNvSpPr txBox="1"/>
          <p:nvPr/>
        </p:nvSpPr>
        <p:spPr>
          <a:xfrm>
            <a:off x="914388" y="1132915"/>
            <a:ext cx="103629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Return exactly ONE root element.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multiple siblings, wrap them in a Fragment: `&lt;&gt;...&lt;/&gt;`.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`className`, not `class`.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`class` is a reserved JS keyword, so JSX uses `className`.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editor will remind you when you forget, often at first.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Attributes are camelCase.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`onclick` -&gt; JSX `onClick`. HTML `for` -&gt; JSX `htmlFor`.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`tabindex` -&gt; JSX `tabIndex`.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JSX rules that trip everyone up</a:t>
            </a:r>
            <a:endParaRPr/>
          </a:p>
        </p:txBody>
      </p:sp>
      <p:sp>
        <p:nvSpPr>
          <p:cNvPr id="250" name="Google Shape;250;p14"/>
          <p:cNvSpPr txBox="1"/>
          <p:nvPr/>
        </p:nvSpPr>
        <p:spPr>
          <a:xfrm>
            <a:off x="914388" y="1132915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Return exactly ONE root element.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multiple siblings, wrap them in a Fragment: `&lt;&gt;...&lt;/&gt;`.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`className`, not `class`.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`class` is a reserved JS keyword, so JSX uses `className`.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editor will remind you when you forget, often at first.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Attributes are camelCase.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`onclick` -&gt; JSX `onClick`. HTML `for` -&gt; JSX `htmlFor`.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HTML `tabindex` -&gt; JSX `tabIndex`.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in doubt, check the editor error - TypeScript knows every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valid JSX attribute for every tag and it's a good teacher.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Props: Arguments for Components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c25bfaf09_0_35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Props are function parameters</a:t>
            </a:r>
            <a:endParaRPr/>
          </a:p>
        </p:txBody>
      </p:sp>
      <p:sp>
        <p:nvSpPr>
          <p:cNvPr id="263" name="Google Shape;263;g3dc25bfaf09_0_359"/>
          <p:cNvSpPr txBox="1"/>
          <p:nvPr/>
        </p:nvSpPr>
        <p:spPr>
          <a:xfrm>
            <a:off x="914400" y="1463040"/>
            <a:ext cx="103629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function, and props are its arguments.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receive props as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single object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argument.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Typically you destructure it in the parameter list.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TypeScript interfaces describe the expected shape.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Props are function parameters</a:t>
            </a:r>
            <a:endParaRPr/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is a function, and props are its arguments.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receive props as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single object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argument.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Typically you destructure it in the parameter list.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TypeScript interfaces describe the expected shape.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Parent components pass props as JSX attributes: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&lt;Greeting name="alice"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&lt;TodoItem todo={someToDo}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&lt;Button onClick={handleClick} disabled={true} /&gt;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String props can use "quotes", but anything else goes 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{braces}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containing a regular JavaScript expression.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component with typed props</a:t>
            </a:r>
            <a:endParaRPr/>
          </a:p>
        </p:txBody>
      </p:sp>
      <p:sp>
        <p:nvSpPr>
          <p:cNvPr id="277" name="Google Shape;277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78" name="Google Shape;278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TodoItem.tsx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number;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string;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boolean;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TodoItemProps { todo: Todo;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Destructure the props object in the parameter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TodoItem({ todo }: TodoItemProps)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Wrong shape? TypeScript catches it at compile time.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c25bfaf09_0_36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Passing props from a parent</a:t>
            </a:r>
            <a:endParaRPr/>
          </a:p>
        </p:txBody>
      </p:sp>
      <p:sp>
        <p:nvSpPr>
          <p:cNvPr id="286" name="Google Shape;286;g3dc25bfaf09_0_365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87" name="Google Shape;287;g3dc25bfaf09_0_365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g3dc25bfaf09_0_365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App.tsx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TodoItem } from "./TodoItem";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sampleTodo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6.1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todo={sampleTodo}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Passing props from a parent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296" name="Google Shape;296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App.tsx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TodoItem } from "./TodoItem";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sampleTodo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6.1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todo={sampleTodo}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todo={{ id: 2, title: "go for a run", done: true }}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dc25bfaf09_0_49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Composition: components inside components</a:t>
            </a:r>
            <a:endParaRPr/>
          </a:p>
        </p:txBody>
      </p:sp>
      <p:sp>
        <p:nvSpPr>
          <p:cNvPr id="304" name="Google Shape;304;g3dc25bfaf09_0_499"/>
          <p:cNvSpPr txBox="1"/>
          <p:nvPr/>
        </p:nvSpPr>
        <p:spPr>
          <a:xfrm>
            <a:off x="914400" y="1177915"/>
            <a:ext cx="10362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can use other components in its returned JSX,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tree of function calls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mirrors the UI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App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TodoList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TodoItem (x3)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StatsBar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level takes props from its parent and passes different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its children. Parents know about children, children don't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know about parents, and data flows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down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one direction.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Composition: components inside components</a:t>
            </a:r>
            <a:endParaRPr/>
          </a:p>
        </p:txBody>
      </p:sp>
      <p:sp>
        <p:nvSpPr>
          <p:cNvPr id="311" name="Google Shape;311;p19"/>
          <p:cNvSpPr txBox="1"/>
          <p:nvPr/>
        </p:nvSpPr>
        <p:spPr>
          <a:xfrm>
            <a:off x="914400" y="117791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component can use other components in its returned JSX,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result is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tree of function calls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mirrors the UI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App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TodoList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 TodoItem (x3)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StatsBar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level takes props from its parent and passes different props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to its children. Parents know about children, children don't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know about parents, and data flows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down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 one direction.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Really just function composition with JSX as the calling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mental model as every other function in the course.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tree of components</a:t>
            </a:r>
            <a:endParaRPr/>
          </a:p>
        </p:txBody>
      </p:sp>
      <p:sp>
        <p:nvSpPr>
          <p:cNvPr id="318" name="Google Shape;318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19" name="Google Shape;319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TodoApp()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&lt;TodoList todos={sampleTodos}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{ todos: Todo[] })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{todos.map((t) =&gt; &lt;TodoItem key={t.id} todo={t} /&gt;)}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TodoItem is the same as before. Each level is a pure function.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1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27" name="Google Shape;327;p21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React know which `&lt;li&gt;` is which?</a:t>
            </a:r>
            <a:endParaRPr/>
          </a:p>
        </p:txBody>
      </p:sp>
      <p:sp>
        <p:nvSpPr>
          <p:cNvPr id="328" name="Google Shape;328;p21"/>
          <p:cNvSpPr txBox="1"/>
          <p:nvPr/>
        </p:nvSpPr>
        <p:spPr>
          <a:xfrm>
            <a:off x="1828800" y="4572000"/>
            <a:ext cx="85341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 render 5 todos as 5 &lt;li&gt;s. The user deletes the middle one, so now there are 4. React re-runs your component and gets a new array of 4 elements. How does it figure out which old &lt;li&gt; got deleted vs which ones just shifted up by one?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dc25bfaf09_0_50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Rendering lists is just .map()</a:t>
            </a:r>
            <a:endParaRPr/>
          </a:p>
        </p:txBody>
      </p:sp>
      <p:sp>
        <p:nvSpPr>
          <p:cNvPr id="335" name="Google Shape;335;g3dc25bfaf09_0_508"/>
          <p:cNvSpPr txBox="1"/>
          <p:nvPr/>
        </p:nvSpPr>
        <p:spPr>
          <a:xfrm>
            <a:off x="914400" y="1463040"/>
            <a:ext cx="10362900" cy="40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5.1 we learned `.map()` as the idiomatic way to transform arrays.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We now use that to render lists in React.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chemeClr val="dk1"/>
                </a:solidFill>
                <a:latin typeface="Courier Prime"/>
                <a:ea typeface="Courier Prime"/>
                <a:cs typeface="Courier Prime"/>
                <a:sym typeface="Courier Prime"/>
              </a:rPr>
              <a:t>todos.map((t) =&gt; &lt;TodoItem key={t.id} todo={t} /&gt;)</a:t>
            </a:r>
            <a:endParaRPr b="1">
              <a:solidFill>
                <a:schemeClr val="dk1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turns an array of data into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array of React elements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which JSX renders as a list of children.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new thing: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`key` prop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React asks you to give each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element in a list a unique key so it can track items across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re-renders.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Rendering lists is just .map()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 5.1 we learned `.map()` as the idiomatic way to transform arrays.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We now use that to render lists in React.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chemeClr val="dk1"/>
                </a:solidFill>
                <a:latin typeface="Courier Prime"/>
                <a:ea typeface="Courier Prime"/>
                <a:cs typeface="Courier Prime"/>
                <a:sym typeface="Courier Prime"/>
              </a:rPr>
              <a:t>todos.map((t) =&gt; &lt;TodoItem key={t.id} todo={t} /&gt;)</a:t>
            </a:r>
            <a:endParaRPr b="1">
              <a:solidFill>
                <a:schemeClr val="dk1"/>
              </a:solidFill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turns an array of data into an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array of React elements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which JSX renders as a list of children.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One new thing: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key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prop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React asks you to give each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element in a list a unique key so it can track items across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re-renders.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the id, not the array index - the index causes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bugs the moment the list gets reordered.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List rendering in full</a:t>
            </a:r>
            <a:endParaRPr/>
          </a:p>
        </p:txBody>
      </p:sp>
      <p:sp>
        <p:nvSpPr>
          <p:cNvPr id="349" name="Google Shape;349;p2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50" name="Google Shape;350;p2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todos: Todo[];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TodoListProps)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Conditional rendering: show a placeholder for empty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(todos.length === 0)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return &lt;p&gt;No todos yet. Add one!&lt;/p&gt;;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{todos.map((t) =&gt;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&lt;TodoItem key={t.id} todo={t}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dc25bfaf09_0_51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Conditional rendering: ternary and short-circuit</a:t>
            </a:r>
            <a:endParaRPr/>
          </a:p>
        </p:txBody>
      </p:sp>
      <p:sp>
        <p:nvSpPr>
          <p:cNvPr id="358" name="Google Shape;358;g3dc25bfaf09_0_51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59" name="Google Shape;359;g3dc25bfaf09_0_51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g3dc25bfaf09_0_514"/>
          <p:cNvSpPr txBox="1"/>
          <p:nvPr/>
        </p:nvSpPr>
        <p:spPr>
          <a:xfrm>
            <a:off x="1005840" y="1645920"/>
            <a:ext cx="10179900" cy="21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Ternary inside JSX for if/else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{todo.done ? "[x] " : "[ ] "}{todo.title}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Short-circuit &amp;&amp; for "show this if true, nothing otherwise"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{todos.length === 0 &amp;&amp; &lt;p&gt;No todos yet!&lt;/p&gt;}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Conditional rendering: ternary and short-circuit</a:t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68" name="Google Shape;368;p24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4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Ternary inside JSX for if/else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&lt;li className={todo.done ? "done" : ""}&gt;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{todo.done ? "[x] " : "[ ] "}{todo.title}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Short-circuit &amp;&amp; for "show this if true, nothing otherwise"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{todos.length === 0 &amp;&amp; &lt;p&gt;No todos yet!&lt;/p&gt;}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Full example: a badge that only appears on urgent todos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TodoItem({ todo }: TodoItemProps)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{todo.priority === 1 &amp;&amp; &lt;span className="badge"&gt;URGENT&lt;/span&gt;}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Early return works too, for whole-component branching.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Starting a React project with Vite</a:t>
            </a:r>
            <a:endParaRPr/>
          </a:p>
        </p:txBody>
      </p:sp>
      <p:sp>
        <p:nvSpPr>
          <p:cNvPr id="376" name="Google Shape;376;p2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bash</a:t>
            </a:r>
            <a:endParaRPr/>
          </a:p>
        </p:txBody>
      </p:sp>
      <p:sp>
        <p:nvSpPr>
          <p:cNvPr id="377" name="Google Shape;377;p2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Create a new React + TypeScript project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create vite@latest my-app -- --template react-ts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Install dependencies and start the dev server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cd my-app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install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dev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Vite tells you the URL: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VITE v5.0.0  ready in 412 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Local:   http://localhost:5173/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Edit src/App.tsx. Save. Vite reloads the browser instantly.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When you're ready to ship: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build   # produces static files in dist/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npm run preview # preview the production build locally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6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a TodoList component</a:t>
            </a:r>
            <a:endParaRPr/>
          </a:p>
        </p:txBody>
      </p:sp>
      <p:sp>
        <p:nvSpPr>
          <p:cNvPr id="385" name="Google Shape;385;p26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6"/>
          <p:cNvSpPr/>
          <p:nvPr/>
        </p:nvSpPr>
        <p:spPr>
          <a:xfrm>
            <a:off x="731525" y="1100675"/>
            <a:ext cx="10728600" cy="55596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6"/>
          <p:cNvSpPr txBox="1"/>
          <p:nvPr/>
        </p:nvSpPr>
        <p:spPr>
          <a:xfrm>
            <a:off x="1005878" y="1320755"/>
            <a:ext cx="10179900" cy="51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Given: Todo interface { id, title, done } and todos: Todo[]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Goal: render each todo as an &lt;li&gt;, done ones get className="done".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todos: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________;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{ ________ }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TodoListProps) {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{todos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.________((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todo) =&gt; (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&lt;li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________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={todo.id}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className={todo.done ?</a:t>
            </a: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________ </a:t>
            </a:r>
            <a:r>
              <a:rPr b="1" lang="en-US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: ""}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{________}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&lt;/li&gt;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 sz="15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 a TodoList component</a:t>
            </a:r>
            <a:endParaRPr/>
          </a:p>
        </p:txBody>
      </p:sp>
      <p:sp>
        <p:nvSpPr>
          <p:cNvPr id="394" name="Google Shape;394;p27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7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TodoListProps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todos: Todo[];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TodoList({ todos }: TodoListProps)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{todos.map((todo) =&gt;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&lt;li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key={todo.id}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className={todo.done ? "done" : ""}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{todo.title}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))}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Usage: &lt;TodoList todos={todos} /&gt;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Renders a &lt;ul&gt; with one &lt;li&gt; per todo. Completed ones get .done.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dc25bfaf09_0_24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landscape</a:t>
            </a:r>
            <a:endParaRPr/>
          </a:p>
        </p:txBody>
      </p:sp>
      <p:sp>
        <p:nvSpPr>
          <p:cNvPr id="403" name="Google Shape;403;g3dc25bfaf09_0_245"/>
          <p:cNvSpPr txBox="1"/>
          <p:nvPr/>
        </p:nvSpPr>
        <p:spPr>
          <a:xfrm>
            <a:off x="914400" y="1280140"/>
            <a:ext cx="10362900" cy="22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Historical losers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jQuery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(2006) - nicer DOM mutation, didn't solve the sync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problem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Angular 1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(2010) - bound inputs to model fields automatically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both directions. Killed by Angular 2's incompatible rewrite.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dc25bfaf09_0_1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landscape</a:t>
            </a:r>
            <a:endParaRPr/>
          </a:p>
        </p:txBody>
      </p:sp>
      <p:sp>
        <p:nvSpPr>
          <p:cNvPr id="410" name="Google Shape;410;g3dc25bfaf09_0_140"/>
          <p:cNvSpPr txBox="1"/>
          <p:nvPr/>
        </p:nvSpPr>
        <p:spPr>
          <a:xfrm>
            <a:off x="914400" y="1280140"/>
            <a:ext cx="103629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Historical losers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jQuery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(2006) - nicer DOM mutation, didn't solve the sync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problem at all.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Angular 1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(2010) - bound inputs to model fields automatically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both directions. Killed by Angular 2's incompatible rewrite.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Live alternatives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people pick these for new projects today: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Vue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(2014) - React-style components, friendlier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Svelte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(2016) - compiler emits the DOM updates for you.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HTMX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(2020) - skip the JS framework entirely.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dc25bfaf09_0_14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Vue</a:t>
            </a:r>
            <a:endParaRPr/>
          </a:p>
        </p:txBody>
      </p:sp>
      <p:sp>
        <p:nvSpPr>
          <p:cNvPr id="417" name="Google Shape;417;g3dc25bfaf09_0_14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Vue</a:t>
            </a:r>
            <a:endParaRPr/>
          </a:p>
        </p:txBody>
      </p:sp>
      <p:sp>
        <p:nvSpPr>
          <p:cNvPr id="418" name="Google Shape;418;g3dc25bfaf09_0_14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g3dc25bfaf09_0_146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Vue: template and script live in one .vue file.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v-for is the loop, like .map but written in the markup.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&lt;script setup lang="ts"&gt;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todos = [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1, title: "read 6.1 notes", done: false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2, title: "go for a run",   done: true 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&lt;/script&gt;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&lt;template&gt;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v-for="t in 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:key="t.id"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:class="{ done: t.done }"&gt;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{{ t.title }}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&lt;/template&gt;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dc25bfaf09_0_15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Svelte</a:t>
            </a:r>
            <a:endParaRPr/>
          </a:p>
        </p:txBody>
      </p:sp>
      <p:sp>
        <p:nvSpPr>
          <p:cNvPr id="426" name="Google Shape;426;g3dc25bfaf09_0_15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Svelte</a:t>
            </a:r>
            <a:endParaRPr/>
          </a:p>
        </p:txBody>
      </p:sp>
      <p:sp>
        <p:nvSpPr>
          <p:cNvPr id="427" name="Google Shape;427;g3dc25bfaf09_0_15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g3dc25bfaf09_0_154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Svelte: same template+script shape as Vue.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Compiler turns this into direct DOM-update code.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There's no React/Vue runtime shipped to the browser.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&lt;script lang="ts"&gt;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todos = [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 id: 1, title: "read 6.1 notes", done: false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 id: 2, title: "go for a run",   done: true 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&lt;/script&gt;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{#each todos as t (t.id)}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 class:done={t.done}&gt;{t.title}&lt;/li&gt;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{/each}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&lt;/ul&gt;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dc25bfaf09_0_16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TodoList in HTMX</a:t>
            </a:r>
            <a:endParaRPr/>
          </a:p>
        </p:txBody>
      </p:sp>
      <p:sp>
        <p:nvSpPr>
          <p:cNvPr id="435" name="Google Shape;435;g3dc25bfaf09_0_16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HTML</a:t>
            </a:r>
            <a:endParaRPr/>
          </a:p>
        </p:txBody>
      </p:sp>
      <p:sp>
        <p:nvSpPr>
          <p:cNvPr id="436" name="Google Shape;436;g3dc25bfaf09_0_16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g3dc25bfaf09_0_162"/>
          <p:cNvSpPr txBox="1"/>
          <p:nvPr/>
        </p:nvSpPr>
        <p:spPr>
          <a:xfrm>
            <a:off x="1005840" y="1645920"/>
            <a:ext cx="101799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HTMX: no JavaScript framework at all.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&lt;!-- The server returns HTML fragments; attributes wire them up.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&lt;ul id="todos"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hx-get="/api/todos"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hx-trigger="load"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hx-swap="innerHTML"&gt;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&lt;!-- On page load, browser GETs /api/todos.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Server returns a fragment of &lt;li&gt;s, e.g.: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&lt;li&gt;read 6.1 notes&lt;/li&gt;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&lt;li class="done"&gt;go for a run&lt;/li&gt;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HTMX puts the fragment inside this &lt;ul&gt;. Done. --&gt;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&lt;/ul&gt;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44" name="Google Shape;444;p28"/>
          <p:cNvSpPr txBox="1"/>
          <p:nvPr/>
        </p:nvSpPr>
        <p:spPr>
          <a:xfrm>
            <a:off x="914400" y="1463040"/>
            <a:ext cx="10362900" cy="48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Five things to walk away with:</a:t>
            </a:r>
            <a:endParaRPr b="1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Components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are functions from props to JSX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JSX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HTML as a JavaScript expression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Props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are arguments; data flows down the tree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Composition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function calls with JSX syntax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.map()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key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is how you render lists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Notice what's NOT on that list: anything that changes over time.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</a:t>
            </a: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state.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How a component remembers things between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renders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how clicks change what's on screen, and how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useEffect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wires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's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fetch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into components.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dc25bfaf09_0_257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Making Components Remember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dc25bfaf09_0_26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 far </a:t>
            </a: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components 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can’t</a:t>
            </a: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change anything</a:t>
            </a:r>
            <a:endParaRPr/>
          </a:p>
        </p:txBody>
      </p:sp>
      <p:sp>
        <p:nvSpPr>
          <p:cNvPr id="457" name="Google Shape;457;g3dc25bfaf09_0_262"/>
          <p:cNvSpPr txBox="1"/>
          <p:nvPr/>
        </p:nvSpPr>
        <p:spPr>
          <a:xfrm>
            <a:off x="914400" y="1463040"/>
            <a:ext cx="10362900" cy="39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Today's components take fixed data in, render fixed UI out.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 work, but they're also not super useful: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Click a button and nothing happens.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Type in an input and nothing happens.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Fetch data and the component doesn't know to re-render.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To make React actually interactive, we need two things: a way for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components to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remember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(state), and a way to do things that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aren't part of rendering (effects).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dc25bfaf09_0_35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broken "counter" - why local variables fail</a:t>
            </a:r>
            <a:endParaRPr/>
          </a:p>
        </p:txBody>
      </p:sp>
      <p:sp>
        <p:nvSpPr>
          <p:cNvPr id="464" name="Google Shape;464;g3dc25bfaf09_0_35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65" name="Google Shape;465;g3dc25bfaf09_0_35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g3dc25bfaf09_0_351"/>
          <p:cNvSpPr txBox="1"/>
          <p:nvPr/>
        </p:nvSpPr>
        <p:spPr>
          <a:xfrm>
            <a:off x="1005840" y="1645920"/>
            <a:ext cx="10179900" cy="29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BrokenCounter()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Looks reasonable. Local variable, increment on click.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dc25bfaf09_0_26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broken "counter" - why local variables fail</a:t>
            </a:r>
            <a:endParaRPr/>
          </a:p>
        </p:txBody>
      </p:sp>
      <p:sp>
        <p:nvSpPr>
          <p:cNvPr id="473" name="Google Shape;473;g3dc25bfaf09_0_26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74" name="Google Shape;474;g3dc25bfaf09_0_26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g3dc25bfaf09_0_268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BrokenCounter()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Looks reasonable. Local variable, increment on click.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let count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count = count + 1}&gt;+&lt;/button&gt;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The UI shows "Count: 0" forever.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Why? React only re-runs the component function when it has 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REASON to. A local variable changing doesn't count - React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doesn't know you did it. And even if it re-ran the function,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next call would reset `count` to 0 again, because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variable is created fresh each call.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dc25bfaf09_0_373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useState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dc25bfaf09_0_37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useState: memory between renders</a:t>
            </a:r>
            <a:endParaRPr/>
          </a:p>
        </p:txBody>
      </p:sp>
      <p:sp>
        <p:nvSpPr>
          <p:cNvPr id="488" name="Google Shape;488;g3dc25bfaf09_0_378"/>
          <p:cNvSpPr txBox="1"/>
          <p:nvPr/>
        </p:nvSpPr>
        <p:spPr>
          <a:xfrm>
            <a:off x="914388" y="151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`useState` is React's way of giving a component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memory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 [count, setCount] = useState(0);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Call it inside your component, get back two things: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the current value right now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setCount(newValue)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- tells React to store a new value AND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re-run the component function so it sees the update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`0` argument is the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initial value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starting state for the very first render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the whole API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value and a way to change it.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dc25bfaf09_0_384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counter</a:t>
            </a:r>
            <a:endParaRPr/>
          </a:p>
        </p:txBody>
      </p:sp>
      <p:sp>
        <p:nvSpPr>
          <p:cNvPr id="495" name="Google Shape;495;g3dc25bfaf09_0_384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96" name="Google Shape;496;g3dc25bfaf09_0_384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g3dc25bfaf09_0_384"/>
          <p:cNvSpPr txBox="1"/>
          <p:nvPr/>
        </p:nvSpPr>
        <p:spPr>
          <a:xfrm>
            <a:off x="1005840" y="1645920"/>
            <a:ext cx="10179900" cy="44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{ useState } from "react";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Counter()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Declare a piece of state named `count`, initialized to 0.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[count, setCount] = useState(0);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&lt;p&gt;Count: {count}&lt;/p&gt;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&lt;button onClick={() =&gt; setCount(count + 1)}&gt;+&lt;/button&gt;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&lt;/div&gt;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Click the button. Count goes up. React noticed setCount was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called, ran the Counter function again with the new value,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and updated the &lt;p&gt; to reflect it. The function didn't.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dc25bfaf09_0_39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useState actually works</a:t>
            </a:r>
            <a:endParaRPr/>
          </a:p>
        </p:txBody>
      </p:sp>
      <p:sp>
        <p:nvSpPr>
          <p:cNvPr id="504" name="Google Shape;504;g3dc25bfaf09_0_392"/>
          <p:cNvSpPr txBox="1"/>
          <p:nvPr/>
        </p:nvSpPr>
        <p:spPr>
          <a:xfrm>
            <a:off x="914388" y="10862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count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is a local variable — but a snapshot, not a live binding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React keeps the value in its own memory, attached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 this specific component instance.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That snapshot is frozen for the lifetime of this render.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each run of the function,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useState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returns **whatever React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has stored**. First run: the initial value. Subsequent runs: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whatever the setter most recently set.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setCount(5)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 does two things: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Stores `5` in React's memory for this component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Marks the component dirty so React re-runs 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setter is the ONLY way to change state. Direct mutation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triggers nothing.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dc25bfaf09_0_39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Multiple pieces of state in one component</a:t>
            </a:r>
            <a:endParaRPr/>
          </a:p>
        </p:txBody>
      </p:sp>
      <p:sp>
        <p:nvSpPr>
          <p:cNvPr id="511" name="Google Shape;511;g3dc25bfaf09_0_39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512" name="Google Shape;512;g3dc25bfaf09_0_39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g3dc25bfaf09_0_398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LoginForm()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Each useState call manages one independent piece of state.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[username, setUsername]   = useState("");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[password, setPassword]   = useState("");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[rememberMe, setRemember] = useState(false);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(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&lt;form&gt;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&lt;label&gt;Username: {username || "(empty)"}&lt;/label&gt;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&lt;label&gt;Password: {"*".repeat(password.length)}&lt;/label&gt;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Remember me: {rememberMe ? "yes" : "no"}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&lt;/label&gt;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&lt;/form&gt;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dc25bfaf09_0_4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render cycle, in one picture</a:t>
            </a:r>
            <a:endParaRPr/>
          </a:p>
        </p:txBody>
      </p:sp>
      <p:sp>
        <p:nvSpPr>
          <p:cNvPr id="520" name="Google Shape;520;g3dc25bfaf09_0_406"/>
          <p:cNvSpPr txBox="1"/>
          <p:nvPr/>
        </p:nvSpPr>
        <p:spPr>
          <a:xfrm>
            <a:off x="914400" y="1463040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loop that makes React interactive: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user does something (clicks, types, loads the page)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 event handler runs, and calls a setter: `setCount(5)`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schedules a re-render of this component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calls your component function again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`useState` returns the new value (5)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function returns new JSX based on the new state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diffs the new JSX against the previous render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 updates only the parts of the DOM that changed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function doesn't know it's being called for the second time.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From its perspective, it's a pure function running with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current state as input. Same data in, same JSX out.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