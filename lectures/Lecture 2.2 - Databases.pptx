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embeddedFontLst>
    <p:embeddedFont>
      <p:font typeface="Courier Prime" pitchFamily="49" charset="77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hlAfEv1sIGQuUz6nwlUYduUlLt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font" Target="fonts/font1.fntdata"/><Relationship Id="rId48" Type="http://schemas.openxmlformats.org/officeDocument/2006/relationships/font" Target="fonts/font2.fntdata"/><Relationship Id="rId49" Type="http://schemas.openxmlformats.org/officeDocument/2006/relationships/font" Target="fonts/font3.fntdata"/><Relationship Id="rId50" Type="http://schemas.openxmlformats.org/officeDocument/2006/relationships/font" Target="fonts/font4.fntdata"/><Relationship Id="rId64" Type="http://customschemas.google.com/relationships/presentationmetadata" Target="metadata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83" name="Google Shape;8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Take guesses; 'special structure inside the file' is right.</a:t>
            </a:r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Intuition only; skip WAL vs rollback journal and page header internals.</a:t>
            </a:r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If asked why 4 KB: matches the OS disk block size.</a:t>
            </a:r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20" name="Google Shape;120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e08d210b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g3de08d210b0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de08d210b0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08d210b0_0_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3de08d210b0_0_8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de08d210b0_0_8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Walk id=600,000: root, middle internal, leaf 501k-666k. Don't draw on board.</a:t>
            </a:r>
          </a:p>
        </p:txBody>
      </p:sp>
      <p:sp>
        <p:nvSpPr>
          <p:cNvPr id="141" name="Google Shape;141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If time at the end: SELECT from sqlite_master on their chat.db.</a:t>
            </a:r>
          </a:p>
        </p:txBody>
      </p:sp>
      <p:sp>
        <p:nvSpPr>
          <p:cNvPr id="167" name="Google Shape;167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ACID: Atomicity, Consistency, Isolation, Durability; only atomicity today. Modern default is WAL.</a:t>
            </a:r>
          </a:p>
        </p:txBody>
      </p:sp>
      <p:sp>
        <p:nvSpPr>
          <p:cNvPr id="174" name="Google Shape;17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File locks are a Unix primitive from the 1980s; SQLite only composes them.</a:t>
            </a:r>
          </a:p>
        </p:txBody>
      </p:sp>
      <p:sp>
        <p:nvSpPr>
          <p:cNvPr id="181" name="Google Shape;18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Slow down here.</a:t>
            </a:r>
          </a:p>
        </p:txBody>
      </p:sp>
      <p:sp>
        <p:nvSpPr>
          <p:cNvPr id="188" name="Google Shape;18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195" name="Google Shape;19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These four are CRUD: Create, Read, Update, Delete.</a:t>
            </a:r>
          </a:p>
        </p:txBody>
      </p:sp>
      <p:sp>
        <p:nvSpPr>
          <p:cNvPr id="201" name="Google Shape;201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Other declarative examples: Excel formulas, Prolog, reactive UI (week 6).</a:t>
            </a:r>
          </a:p>
        </p:txBody>
      </p:sp>
      <p:sp>
        <p:nvSpPr>
          <p:cNvPr id="210" name="Google Shape;210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e08d210b0_0_8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g3de08d210b0_0_8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Other declarative examples: Excel formulas, Prolog, reactive UI (week 6).</a:t>
            </a:r>
          </a:p>
        </p:txBody>
      </p:sp>
      <p:sp>
        <p:nvSpPr>
          <p:cNvPr id="217" name="Google Shape;217;g3de08d210b0_0_8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e08d210b0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g3de08d210b0_0_5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If asked: `with` on a connection is a transaction, does not close it.</a:t>
            </a:r>
          </a:p>
        </p:txBody>
      </p:sp>
      <p:sp>
        <p:nvSpPr>
          <p:cNvPr id="224" name="Google Shape;224;g3de08d210b0_0_5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e08d210b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g3de08d210b0_0_5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Without commit nothing persists; same as git.</a:t>
            </a:r>
          </a:p>
        </p:txBody>
      </p:sp>
      <p:sp>
        <p:nvSpPr>
          <p:cNvPr id="232" name="Google Shape;232;g3de08d210b0_0_5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e08d210b0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g3de08d210b0_0_14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id and timestamp come from schema defaults.</a:t>
            </a:r>
          </a:p>
        </p:txBody>
      </p:sp>
      <p:sp>
        <p:nvSpPr>
          <p:cNvPr id="240" name="Google Shape;240;g3de08d210b0_0_14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e08d210b0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de08d210b0_0_2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id and timestamp come from schema defaults.</a:t>
            </a:r>
          </a:p>
        </p:txBody>
      </p:sp>
      <p:sp>
        <p:nvSpPr>
          <p:cNvPr id="248" name="Google Shape;248;g3de08d210b0_0_2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e08d210b0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de08d210b0_0_30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256" name="Google Shape;256;g3de08d210b0_0_30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e08d210b0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g3de08d210b0_0_3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email is optional, no NOT NULL. Two commits: schema, then data.</a:t>
            </a:r>
          </a:p>
        </p:txBody>
      </p:sp>
      <p:sp>
        <p:nvSpPr>
          <p:cNvPr id="265" name="Google Shape;265;g3de08d210b0_0_3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e08d210b0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g3de08d210b0_0_3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Iterating the cursor streams rows; fetchall loads everything. fetchone returns None if empty.</a:t>
            </a:r>
          </a:p>
        </p:txBody>
      </p:sp>
      <p:sp>
        <p:nvSpPr>
          <p:cNvPr id="274" name="Google Shape;274;g3de08d210b0_0_3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e08d210b0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g3de08d210b0_0_40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Trailing comma: without it Python passes a string, sqlite3 errors.</a:t>
            </a:r>
          </a:p>
        </p:txBody>
      </p:sp>
      <p:sp>
        <p:nvSpPr>
          <p:cNvPr id="282" name="Google Shape;282;g3de08d210b0_0_40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e08d210b0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g3de08d210b0_0_40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Remind: trailing comma on ('alice',).</a:t>
            </a:r>
          </a:p>
        </p:txBody>
      </p:sp>
      <p:sp>
        <p:nvSpPr>
          <p:cNvPr id="290" name="Google Shape;290;g3de08d210b0_0_40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e08d210b0_0_4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g3de08d210b0_0_4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`.fetchone()[0]` is the idiom for any scalar: COUNT, SUM, MAX.</a:t>
            </a:r>
          </a:p>
        </p:txBody>
      </p:sp>
      <p:sp>
        <p:nvSpPr>
          <p:cNvPr id="299" name="Google Shape;299;g3de08d210b0_0_4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de08d210b0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g3de08d210b0_0_4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308" name="Google Shape;308;g3de08d210b0_0_4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5" name="Google Shape;315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OWASP Top 10 for years. Applies to INSERT/UPDATE/DELETE too. Placeholder varies: ? sqlite3, %s psycopg.</a:t>
            </a:r>
          </a:p>
        </p:txBody>
      </p:sp>
      <p:sp>
        <p:nvSpPr>
          <p:cNvPr id="316" name="Google Shape;316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e08d210b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g3de08d210b0_0_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OWASP Top 10 for years. Applies to INSERT/UPDATE/DELETE too. Placeholder varies: ? sqlite3, %s psycopg.</a:t>
            </a:r>
          </a:p>
        </p:txBody>
      </p:sp>
      <p:sp>
        <p:nvSpPr>
          <p:cNvPr id="324" name="Google Shape;324;g3de08d210b0_0_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e08d210b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g3de08d210b0_0_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OWASP Top 10 for years. Applies to INSERT/UPDATE/DELETE too. Placeholder varies: ? sqlite3, %s psycopg.</a:t>
            </a:r>
          </a:p>
        </p:txBody>
      </p:sp>
      <p:sp>
        <p:nvSpPr>
          <p:cNvPr id="331" name="Google Shape;331;g3de08d210b0_0_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e08d210b0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g3de08d210b0_0_50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OWASP Top 10 for years. Applies to INSERT/UPDATE/DELETE too. Placeholder varies: ? sqlite3, %s psycopg.</a:t>
            </a:r>
          </a:p>
        </p:txBody>
      </p:sp>
      <p:sp>
        <p:nvSpPr>
          <p:cNvPr id="339" name="Google Shape;339;g3de08d210b0_0_50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1NF/2NF/3NF is a later lecture; today just the three shapes.</a:t>
            </a:r>
          </a:p>
        </p:txBody>
      </p:sp>
      <p:sp>
        <p:nvSpPr>
          <p:cNvPr id="347" name="Google Shape;347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Let them propose; expect wide table. Ask: new setting next week? Half blank?</a:t>
            </a:r>
          </a:p>
        </p:txBody>
      </p:sp>
      <p:sp>
        <p:nvSpPr>
          <p:cNvPr id="353" name="Google Shape;353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Pros: fast reads, fixed shape. Cons: ALTER per new setting, NULL-heavy, columns balloon.</a:t>
            </a:r>
          </a:p>
        </p:txBody>
      </p:sp>
      <p:sp>
        <p:nvSpPr>
          <p:cNvPr id="361" name="Google Shape;361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EAV = Entity-Attribute-Value. Cons: all TEXT, self-joins to rebuild a row, weak constraints.</a:t>
            </a:r>
          </a:p>
        </p:txBody>
      </p:sp>
      <p:sp>
        <p:nvSpPr>
          <p:cNvPr id="370" name="Google Shape;370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p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Normalization at intuition level: one fact in one place. Foreign key enforces real user.</a:t>
            </a:r>
          </a:p>
        </p:txBody>
      </p:sp>
      <p:sp>
        <p:nvSpPr>
          <p:cNvPr id="379" name="Google Shape;379;p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Point: the design question exists at all; access patterns and schema churn decide.</a:t>
            </a:r>
          </a:p>
        </p:txBody>
      </p:sp>
      <p:sp>
        <p:nvSpPr>
          <p:cNvPr id="388" name="Google Shape;388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de08d210b0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g3de08d210b0_0_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Point: the design question exists at all; access patterns and schema churn decide.</a:t>
            </a:r>
          </a:p>
        </p:txBody>
      </p:sp>
      <p:sp>
        <p:nvSpPr>
          <p:cNvPr id="395" name="Google Shape;395;g3de08d210b0_0_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e08d210b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g3de08d210b0_0_3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Point: the design question exists at all; access patterns and schema churn decide.</a:t>
            </a:r>
          </a:p>
        </p:txBody>
      </p:sp>
      <p:sp>
        <p:nvSpPr>
          <p:cNvPr id="402" name="Google Shape;402;g3de08d210b0_0_3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/>
        </p:txBody>
      </p:sp>
      <p:sp>
        <p:nvSpPr>
          <p:cNvPr id="409" name="Google Shape;409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de08d210b0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g3de08d210b0_0_58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`closing()` actually closes; bare `with` is only a transaction. REST API over these next lecture.</a:t>
            </a:r>
          </a:p>
        </p:txBody>
      </p:sp>
      <p:sp>
        <p:nvSpPr>
          <p:cNvPr id="415" name="Google Shape;415;g3de08d210b0_0_58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Open chat.db in DB Browser after class; sqlite_master shows in the table list.</a:t>
            </a:r>
          </a:p>
        </p:txBody>
      </p:sp>
      <p:sp>
        <p:nvSpPr>
          <p:cNvPr id="423" name="Google Shape;423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CRUD = Create, Read, Update, Delete; Create/Read are INSERT/SELECT.</a:t>
            </a:r>
          </a:p>
        </p:txBody>
      </p:sp>
      <p:sp>
        <p:nvSpPr>
          <p:cNvPr id="430" name="Google Shape;430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Lecture 2.2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Databases with SQL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Andy Aymeloglu - UATX Software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Last time: files hit a wall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We built a chat store on top of JSON files and ran into five problems: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1.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indexing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find one record means read everything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2.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schema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nothing enforces structure or types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3.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concurrency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two writers race, data is lost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4.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relationships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can't link users to messages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5.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query language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every filter is a hand-written loop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Today: how databases solve all five.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And the cool part - a SQLite database is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also just a file on disk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/>
        </p:nvSpPr>
        <p:spPr>
          <a:xfrm>
            <a:off x="5303520" y="457200"/>
            <a:ext cx="15846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1371600" y="2011680"/>
            <a:ext cx="94484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SQLite database is a single file on disk.</a:t>
            </a:r>
            <a:br>
              <a:rPr lang="en-US" sz="3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So how does it possibly solve any of these problems?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 .db file is just bytes, like a JSON file is just bytes.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Inside the .db File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Pages: a file you can rewrite in pieces</a:t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914400" y="1463040"/>
            <a:ext cx="10362900" cy="51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SQLite file isn't one big blob. It's sliced into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pages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Default page size: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4 KB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each page numbered (1, 2, 3, ...)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DB can read or write any single page without touching the rest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Compare to our JSON chat store: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Add one message - rewrite the entire file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Update one field - rewrite the entire file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With pages: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Add one row - rewrite one or two pages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Update one field - rewrite one page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B-trees: finding one row without scanning all of them</a:t>
            </a:r>
            <a:endParaRPr/>
          </a:p>
        </p:txBody>
      </p:sp>
      <p:sp>
        <p:nvSpPr>
          <p:cNvPr id="123" name="Google Shape;123;p6"/>
          <p:cNvSpPr txBox="1"/>
          <p:nvPr/>
        </p:nvSpPr>
        <p:spPr>
          <a:xfrm>
            <a:off x="914400" y="1463040"/>
            <a:ext cx="103629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How does the DB find a row by id without reading every page?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 keeps an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: a tree structure built from pages.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Each node holds a range of keys + pointers to child pages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Lookup walks from root - internal node - leaf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Each step eliminates most of the data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B-tree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= balanced tree (not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“binary” tree)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optimized for disk access.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08d210b0_0_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B-trees: finding one row without scanning all of them</a:t>
            </a:r>
            <a:endParaRPr/>
          </a:p>
        </p:txBody>
      </p:sp>
      <p:sp>
        <p:nvSpPr>
          <p:cNvPr id="130" name="Google Shape;130;g3de08d210b0_0_0"/>
          <p:cNvSpPr txBox="1"/>
          <p:nvPr/>
        </p:nvSpPr>
        <p:spPr>
          <a:xfrm>
            <a:off x="914400" y="1463040"/>
            <a:ext cx="103629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How fast?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1 million rows - ~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 or 4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hops down the tree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if each index page holds ~100 keys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vs. 1 million sequential reads in a JSON file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lang="en-US" sz="2400" b="0" i="0" u="none" strike="noStrike" cap="none" baseline="-250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~100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(n) instead of 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e08d210b0_0_82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B-trees: finding one row without scanning all of them</a:t>
            </a:r>
            <a:endParaRPr/>
          </a:p>
        </p:txBody>
      </p:sp>
      <p:sp>
        <p:nvSpPr>
          <p:cNvPr id="137" name="Google Shape;137;g3de08d210b0_0_820"/>
          <p:cNvSpPr txBox="1"/>
          <p:nvPr/>
        </p:nvSpPr>
        <p:spPr>
          <a:xfrm>
            <a:off x="914400" y="1463040"/>
            <a:ext cx="103629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How fast?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1 million rows - ~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3 or 4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hops down the tree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if each index page holds ~100 keys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vs. 1 million sequential reads in a JSON file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lang="en-US" sz="2400" b="0" i="0" u="none" strike="noStrike" cap="none" baseline="-250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~100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(n) instead of n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…still log(n), but constant factors do matter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B-tree, pictured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2523000" y="1554475"/>
            <a:ext cx="7064400" cy="73140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br>
              <a:rPr lang="en-US" sz="13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keys 1 - 1,000,000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777686" y="2445910"/>
            <a:ext cx="274200" cy="411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957316" y="2423160"/>
            <a:ext cx="27432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A580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9137070" y="2445960"/>
            <a:ext cx="274200" cy="411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751636" y="3017520"/>
            <a:ext cx="2560320" cy="7315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br>
              <a:rPr lang="en-US" sz="13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1 - 333k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814316" y="3017520"/>
            <a:ext cx="2560320" cy="73152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br>
              <a:rPr lang="en-US" sz="13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334k - 666k</a:t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8876995" y="3017520"/>
            <a:ext cx="2560320" cy="7315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br>
              <a:rPr lang="en-US" sz="13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667k - 1M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878738" y="3886200"/>
            <a:ext cx="27432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2910535" y="3886200"/>
            <a:ext cx="27432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942331" y="3886200"/>
            <a:ext cx="27432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973214" y="3886200"/>
            <a:ext cx="27432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A580C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005011" y="3886200"/>
            <a:ext cx="27432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1035893" y="3886200"/>
            <a:ext cx="274320" cy="4114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170078" y="4480560"/>
            <a:ext cx="1691640" cy="777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b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1 - 167k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2201875" y="4480560"/>
            <a:ext cx="1691640" cy="777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b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168k - 333k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4233672" y="4480560"/>
            <a:ext cx="1691640" cy="777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b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334k - 500k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264554" y="4480560"/>
            <a:ext cx="1691640" cy="77724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br>
              <a:rPr lang="en-US" sz="12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501k - 666k</a:t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8296351" y="4480560"/>
            <a:ext cx="1691640" cy="777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b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667k - 833k</a:t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10327233" y="4480560"/>
            <a:ext cx="1691640" cy="77724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 cap="flat" cmpd="sng">
            <a:solidFill>
              <a:srgbClr val="66667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Leaf</a:t>
            </a:r>
            <a:b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834k - 1M</a:t>
            </a:r>
            <a:endParaRPr/>
          </a:p>
        </p:txBody>
      </p:sp>
      <p:sp>
        <p:nvSpPr>
          <p:cNvPr id="163" name="Google Shape;163;p7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Lookup id=600,000: 3 hops down the tree to find 1 row out of 1,000,000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schema lives in the file</a:t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834125" y="1210740"/>
            <a:ext cx="10362900" cy="5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How does the database know what tables exist?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 stores its own table definitions in a special table: `sqlite_master`.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One row per table, view, or index in your database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Columns: name, type, sql (the original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CREATE TABLE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statement)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database describes itself.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SELECT name, sql FROM sqlite_master WHERE type='table';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Why it's cool: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DB enforces every constraint at write time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Typos and bad types fail loudly instead of silently corrupting data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rollback journal: free crash safety</a:t>
            </a:r>
            <a:endParaRPr/>
          </a:p>
        </p:txBody>
      </p:sp>
      <p:sp>
        <p:nvSpPr>
          <p:cNvPr id="177" name="Google Shape;177;p9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What if the power dies mid-write?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Before changing a page, SQLite copies the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old version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a side file: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`chat.db-journal`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Then it modifies the page in `chat.db`.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Write completes - delete the journal. Done.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Write is interrupted - next open, SQLite restores the old pages from the journal.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Either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of your changes happen, or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none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of them do.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what people mean by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atomicity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the 'A' in ACID.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Free crash safety, courtesy of one extra file.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File locks: the race condition, solved</a:t>
            </a:r>
            <a:endParaRPr/>
          </a:p>
        </p:txBody>
      </p:sp>
      <p:sp>
        <p:nvSpPr>
          <p:cNvPr id="184" name="Google Shape;184;p10"/>
          <p:cNvSpPr txBox="1"/>
          <p:nvPr/>
        </p:nvSpPr>
        <p:spPr>
          <a:xfrm>
            <a:off x="914400" y="1280140"/>
            <a:ext cx="10362900" cy="47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Remember the race condition from last lecture?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Process A reads 5 messages. Process B reads 5 messages.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Both append. Both write. One message is lost.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SQLite uses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OS file locks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coordinate writers.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Process A asks the OS for an exclusive lock on `chat.db`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OS grants it. A writes.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Process B asks for the same lock. OS makes B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finishes, releases the lock. B acquires it, sees A's changes, then writes.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No race. No lost message.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Same five problems. All solved.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914400" y="1463040"/>
            <a:ext cx="10362895" cy="493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1.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indexing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B-trees over pages (log n lookups)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2.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schema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sqlite_master + constraints checked at write time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3.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concurrency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OS file locks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4.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relationships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foreign keys + joins (next section)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5.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No query language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SQL (next section)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+ crash safety - rollback journal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And it's still just a file on disk.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cool part isn't magic. It's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layout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+ a few small protocols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on top of plain old files.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SQL: Talking to the Database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SQL: the language all databases understand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endParaRPr/>
          </a:p>
        </p:txBody>
      </p:sp>
      <p:sp>
        <p:nvSpPr>
          <p:cNvPr id="205" name="Google Shape;205;p14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Create a table (define structure)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messages 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id INTEGER PRIMARY KEY,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username TEXT NOT NULL,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text TEXT NOT NULL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Insert a row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messages (username, text) VALUES ('alice', 'hello');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Query rows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SELECT * FROM messages WHERE username = 'alice';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Update a row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UPDATE messages SET text = 'goodbye' WHERE id = 1;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Delete a row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DELETE FROM messages WHERE id = 1;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Declarative, not imperative</a:t>
            </a:r>
            <a:endParaRPr/>
          </a:p>
        </p:txBody>
      </p:sp>
      <p:sp>
        <p:nvSpPr>
          <p:cNvPr id="213" name="Google Shape;213;p13"/>
          <p:cNvSpPr txBox="1"/>
          <p:nvPr/>
        </p:nvSpPr>
        <p:spPr>
          <a:xfrm>
            <a:off x="914400" y="1463040"/>
            <a:ext cx="10362900" cy="43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With files, you wrote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to find data: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open the file, parse it, loop, filter, return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With SQL, you write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what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you want: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SELECT * FROM messages WHERE username = 'alice'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database picks the strategy: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Is there an index on username? - use the B-tree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No index? - scan the table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Which join order is fastest? - the query planner decides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e08d210b0_0_826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Declarative, not imperative</a:t>
            </a:r>
            <a:endParaRPr/>
          </a:p>
        </p:txBody>
      </p:sp>
      <p:sp>
        <p:nvSpPr>
          <p:cNvPr id="220" name="Google Shape;220;g3de08d210b0_0_826"/>
          <p:cNvSpPr txBox="1"/>
          <p:nvPr/>
        </p:nvSpPr>
        <p:spPr>
          <a:xfrm>
            <a:off x="914400" y="1463040"/>
            <a:ext cx="10362900" cy="13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describe the resul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t, t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he DB figures out the path.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called a </a:t>
            </a:r>
            <a:r>
              <a:rPr lang="en-US" sz="2400" b="1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declarative</a:t>
            </a:r>
            <a:r>
              <a:rPr lang="en-US" sz="2400" b="0" i="0" u="none" strike="noStrike" cap="non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language. It's why SQL has lasted 50 years.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e08d210b0_0_51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Connecting to SQLite from Python</a:t>
            </a:r>
            <a:endParaRPr/>
          </a:p>
        </p:txBody>
      </p:sp>
      <p:sp>
        <p:nvSpPr>
          <p:cNvPr id="227" name="Google Shape;227;g3de08d210b0_0_51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g3de08d210b0_0_51"/>
          <p:cNvSpPr txBox="1"/>
          <p:nvPr/>
        </p:nvSpPr>
        <p:spPr>
          <a:xfrm>
            <a:off x="1005840" y="1645920"/>
            <a:ext cx="10179900" cy="44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sqlite3 ships with Python - nothing to install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import sqlite3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Open the database (creates chat.db if it doesn't exist)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Run a query - just pass SQL as a string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result = conn.execute("SELECT 1")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print(result.fetchone())  # (1,)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That's the whole API: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sqlite3.connect(path)  - open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conn.execute(sql)      - run SQL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conn.commit()          - save changes (for writes)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conn.close()           - release the file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e08d210b0_0_58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Creating tables (CREATE TABLE)</a:t>
            </a:r>
            <a:endParaRPr/>
          </a:p>
        </p:txBody>
      </p:sp>
      <p:sp>
        <p:nvSpPr>
          <p:cNvPr id="235" name="Google Shape;235;g3de08d210b0_0_58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de08d210b0_0_58"/>
          <p:cNvSpPr txBox="1"/>
          <p:nvPr/>
        </p:nvSpPr>
        <p:spPr>
          <a:xfrm>
            <a:off x="1005840" y="1645920"/>
            <a:ext cx="10179900" cy="44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conn.execute("""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CREATE TABLE IF NOT EXISTS messages 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id INTEGER PRIMARY KEY AUTOINCREMENT,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username TEXT NOT NULL,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text TEXT NOT NULL,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timestamp DATETIME DEFAULT CURRENT_TIMESTAMP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""")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conn.commit()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id            - auto-assigned unique number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NOT NULL      - this column is required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AUTOINCREMENT - id goes 1, 2, 3, ... automatically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DEFAULT       - fills in if you don't provide a value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e08d210b0_0_14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Inserting data (INSERT INTO)</a:t>
            </a:r>
            <a:endParaRPr/>
          </a:p>
        </p:txBody>
      </p:sp>
      <p:sp>
        <p:nvSpPr>
          <p:cNvPr id="243" name="Google Shape;243;g3de08d210b0_0_14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de08d210b0_0_140"/>
          <p:cNvSpPr txBox="1"/>
          <p:nvPr/>
        </p:nvSpPr>
        <p:spPr>
          <a:xfrm>
            <a:off x="1005840" y="1645920"/>
            <a:ext cx="10179900" cy="29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"INSERT INTO messages (username, text) VALUES (?, ?)",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("alice", "hello everyone!")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"INSERT INTO messages (username, text) VALUES (?, ?)",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("bob", "hey alice!")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e08d210b0_0_222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Inserting data (INSERT INTO)</a:t>
            </a:r>
            <a:endParaRPr/>
          </a:p>
        </p:txBody>
      </p:sp>
      <p:sp>
        <p:nvSpPr>
          <p:cNvPr id="251" name="Google Shape;251;g3de08d210b0_0_222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de08d210b0_0_222"/>
          <p:cNvSpPr txBox="1"/>
          <p:nvPr/>
        </p:nvSpPr>
        <p:spPr>
          <a:xfrm>
            <a:off x="1005840" y="1645920"/>
            <a:ext cx="10179900" cy="46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"INSERT INTO messages (username, text) VALUES (?, ?)",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("alice", "hello everyone!")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"INSERT INTO messages (username, text) VALUES (?, ?)",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("bob", "hey alice!")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conn.commit()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 i="0" u="none" strike="noStrike" cap="non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? marks are placeholders - values pass in as a tuple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sqlite3 escapes them safely (more on injection later)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Always conn.commit() to save your writes!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e08d210b0_0_304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Create a users table and insert data</a:t>
            </a:r>
            <a:endParaRPr/>
          </a:p>
        </p:txBody>
      </p:sp>
      <p:sp>
        <p:nvSpPr>
          <p:cNvPr id="259" name="Google Shape;259;g3de08d210b0_0_304"/>
          <p:cNvSpPr/>
          <p:nvPr/>
        </p:nvSpPr>
        <p:spPr>
          <a:xfrm>
            <a:off x="640080" y="228600"/>
            <a:ext cx="1097400" cy="365700"/>
          </a:xfrm>
          <a:prstGeom prst="roundRect">
            <a:avLst>
              <a:gd name="adj" fmla="val 16667"/>
            </a:avLst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de08d210b0_0_304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g3de08d210b0_0_304"/>
          <p:cNvSpPr txBox="1"/>
          <p:nvPr/>
        </p:nvSpPr>
        <p:spPr>
          <a:xfrm>
            <a:off x="1005840" y="1554480"/>
            <a:ext cx="10179900" cy="46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'users' table with: id, username, email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conn.execute("""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CREATE TABLE IF NOT EXISTS users 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    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""")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conn.commit()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Insert a user named alice with email alice@example.com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________________________________________,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conn.commit()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e08d210b0_0_312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Create a users table and insert data</a:t>
            </a:r>
            <a:endParaRPr/>
          </a:p>
        </p:txBody>
      </p:sp>
      <p:sp>
        <p:nvSpPr>
          <p:cNvPr id="268" name="Google Shape;268;g3de08d210b0_0_312"/>
          <p:cNvSpPr/>
          <p:nvPr/>
        </p:nvSpPr>
        <p:spPr>
          <a:xfrm>
            <a:off x="640080" y="228600"/>
            <a:ext cx="1188600" cy="365700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de08d210b0_0_312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de08d210b0_0_312"/>
          <p:cNvSpPr txBox="1"/>
          <p:nvPr/>
        </p:nvSpPr>
        <p:spPr>
          <a:xfrm>
            <a:off x="1005840" y="1554480"/>
            <a:ext cx="10179900" cy="46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conn.execute("""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CREATE TABLE IF NOT EXISTS users 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id INTEGER PRIMARY KEY AUTOINCREMENT,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username TEXT NOT NULL,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email TEXT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""")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conn.commit()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6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"INSERT INTO users (username, email) VALUES (?, ?)",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("alice", "alice@example.com")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conn.commit()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e08d210b0_0_395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Querying data (SELECT)</a:t>
            </a:r>
            <a:endParaRPr/>
          </a:p>
        </p:txBody>
      </p:sp>
      <p:sp>
        <p:nvSpPr>
          <p:cNvPr id="277" name="Google Shape;277;g3de08d210b0_0_395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de08d210b0_0_395"/>
          <p:cNvSpPr txBox="1"/>
          <p:nvPr/>
        </p:nvSpPr>
        <p:spPr>
          <a:xfrm>
            <a:off x="1005840" y="1645920"/>
            <a:ext cx="10179900" cy="44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conn.row_factory = sqlite3.Row   # access columns by name (default = tuples)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all messages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result = conn.execute("SELECT * FROM messages")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for row in result: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print(f"{row['username']}: {row['text']}")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alice: hello everyone!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bob: hey alice!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Fetch all rows at once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rows = conn.execute("SELECT * FROM messages").fetchall()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Or just the first row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row = conn.execute("SELECT * FROM messages").fetchone()  # or None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de08d210b0_0_402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Filtering, ordering, and counting</a:t>
            </a:r>
            <a:endParaRPr/>
          </a:p>
        </p:txBody>
      </p:sp>
      <p:sp>
        <p:nvSpPr>
          <p:cNvPr id="285" name="Google Shape;285;g3de08d210b0_0_402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de08d210b0_0_402"/>
          <p:cNvSpPr txBox="1"/>
          <p:nvPr/>
        </p:nvSpPr>
        <p:spPr>
          <a:xfrm>
            <a:off x="1005840" y="1645920"/>
            <a:ext cx="10179900" cy="44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WHERE - filter rows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alice_msgs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"SELECT * FROM messages WHERE username = ?",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("alice",)             # one-element tuple needs the trailing comma!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).fetchall()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ORDER BY + LIMIT - most recent 10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recent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"SELECT * FROM messages ORDER BY timestamp DESC LIMIT 10"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).fetchall()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COUNT - one row, one column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total = conn.execute("SELECT COUNT(*) FROM messages").fetchone()[0]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e08d210b0_0_409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TRY IT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Query chat messages</a:t>
            </a:r>
            <a:endParaRPr/>
          </a:p>
        </p:txBody>
      </p:sp>
      <p:sp>
        <p:nvSpPr>
          <p:cNvPr id="293" name="Google Shape;293;g3de08d210b0_0_409"/>
          <p:cNvSpPr/>
          <p:nvPr/>
        </p:nvSpPr>
        <p:spPr>
          <a:xfrm>
            <a:off x="640080" y="228600"/>
            <a:ext cx="1097400" cy="365700"/>
          </a:xfrm>
          <a:prstGeom prst="roundRect">
            <a:avLst>
              <a:gd name="adj" fmla="val 16667"/>
            </a:avLst>
          </a:prstGeom>
          <a:solidFill>
            <a:srgbClr val="5B21B6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de08d210b0_0_409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g3de08d210b0_0_409"/>
          <p:cNvSpPr txBox="1"/>
          <p:nvPr/>
        </p:nvSpPr>
        <p:spPr>
          <a:xfrm>
            <a:off x="1005840" y="1554480"/>
            <a:ext cx="10179900" cy="45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1. Get all messages from alice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alice_msgs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________________________________________,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).fetchall()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2. Get the 5 most recent messages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recent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).fetchall()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3. Count alice's messages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count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________________________________________,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B0B0C0"/>
                </a:solidFill>
                <a:latin typeface="Courier New"/>
                <a:ea typeface="Courier New"/>
                <a:cs typeface="Courier New"/>
                <a:sym typeface="Courier New"/>
              </a:rPr>
              <a:t>    ________________________________________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).fetchone()[0]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de08d210b0_0_417"/>
          <p:cNvSpPr txBox="1"/>
          <p:nvPr/>
        </p:nvSpPr>
        <p:spPr>
          <a:xfrm>
            <a:off x="731520" y="274320"/>
            <a:ext cx="107286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Query chat messages</a:t>
            </a:r>
            <a:endParaRPr/>
          </a:p>
        </p:txBody>
      </p:sp>
      <p:sp>
        <p:nvSpPr>
          <p:cNvPr id="302" name="Google Shape;302;g3de08d210b0_0_417"/>
          <p:cNvSpPr/>
          <p:nvPr/>
        </p:nvSpPr>
        <p:spPr>
          <a:xfrm>
            <a:off x="640080" y="228600"/>
            <a:ext cx="1188600" cy="365700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de08d210b0_0_417"/>
          <p:cNvSpPr/>
          <p:nvPr/>
        </p:nvSpPr>
        <p:spPr>
          <a:xfrm>
            <a:off x="731520" y="1371600"/>
            <a:ext cx="10728600" cy="50292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de08d210b0_0_417"/>
          <p:cNvSpPr txBox="1"/>
          <p:nvPr/>
        </p:nvSpPr>
        <p:spPr>
          <a:xfrm>
            <a:off x="1005840" y="1554480"/>
            <a:ext cx="10179900" cy="45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1. Messages from alice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alice_msgs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"SELECT * FROM messages WHERE username = ?",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("alice",)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).fetchall()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2. Most recent 5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recent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"SELECT * FROM messages ORDER BY timestamp DESC LIMIT 5"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).fetchall()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3. Count alice's messages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count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"SELECT COUNT(*) FROM messages WHERE username = ?",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("alice",)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).fetchone()[0]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e08d210b0_0_425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Updating and deleting (UPDATE, DELETE)</a:t>
            </a:r>
            <a:endParaRPr/>
          </a:p>
        </p:txBody>
      </p:sp>
      <p:sp>
        <p:nvSpPr>
          <p:cNvPr id="311" name="Google Shape;311;g3de08d210b0_0_425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de08d210b0_0_425"/>
          <p:cNvSpPr txBox="1"/>
          <p:nvPr/>
        </p:nvSpPr>
        <p:spPr>
          <a:xfrm>
            <a:off x="1005840" y="1645920"/>
            <a:ext cx="10179900" cy="46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 = sqlite3.connect("chat.db")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UPDATE - change existing rows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"UPDATE messages SET text = ? WHERE id = ?",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("hello world!", 1)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DELETE - remove rows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conn.execute("DELETE FROM messages WHERE id = ?", (2,))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conn.commit()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conn.close()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7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Always use WHERE to target specific rows!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DELETE without WHERE deletes EVERYTHING in the table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SQL injection: why parameters matter</a:t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1005840" y="1645920"/>
            <a:ext cx="10179900" cy="9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NEVER build SQL with f-strings!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username = input("Enter username: 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bad = f"SELECT * FROM messages WHERE username = '{username}'"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e08d210b0_0_17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SQL injection: why parameters matter</a:t>
            </a:r>
            <a:endParaRPr/>
          </a:p>
        </p:txBody>
      </p:sp>
      <p:pic>
        <p:nvPicPr>
          <p:cNvPr id="327" name="Google Shape;327;g3de08d210b0_0_17" title="exploits_of_a_mom_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0435"/>
            <a:ext cx="11886875" cy="3662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e08d210b0_0_1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SQL injection: why parameters matter</a:t>
            </a:r>
            <a:endParaRPr/>
          </a:p>
        </p:txBody>
      </p:sp>
      <p:sp>
        <p:nvSpPr>
          <p:cNvPr id="334" name="Google Shape;334;g3de08d210b0_0_1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de08d210b0_0_10"/>
          <p:cNvSpPr txBox="1"/>
          <p:nvPr/>
        </p:nvSpPr>
        <p:spPr>
          <a:xfrm>
            <a:off x="1005840" y="1645920"/>
            <a:ext cx="10179900" cy="21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NEVER build SQL with f-strings!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username = input("Enter username: 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bad = f"SELECT * FROM messages WHERE username = '{username}'"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If user enters:  ' OR 1=1 --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Query becomes:   SELECT * FROM messages WHERE username = '' OR 1=1 --'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This returns ALL messages - a security breach!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de08d210b0_0_507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SQL injection: why parameters matter</a:t>
            </a:r>
            <a:endParaRPr/>
          </a:p>
        </p:txBody>
      </p:sp>
      <p:sp>
        <p:nvSpPr>
          <p:cNvPr id="342" name="Google Shape;342;g3de08d210b0_0_507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3de08d210b0_0_507"/>
          <p:cNvSpPr txBox="1"/>
          <p:nvPr/>
        </p:nvSpPr>
        <p:spPr>
          <a:xfrm>
            <a:off x="1005840" y="1645920"/>
            <a:ext cx="10179900" cy="43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NEVER build SQL with f-strings!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username = input("Enter username: ")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bad = f"SELECT * FROM messages WHERE username = '{username}'"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If user enters:  ' OR 1=1 --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Query becomes:   SELECT * FROM messages WHERE username = '' OR 1=1 --'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This returns ALL messages - a security breach!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8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ALWAYS use parameterized queries: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result =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"SELECT * FROM messages WHERE username = ?",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(username,)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sqlite3 escapes the input - safe from injection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? placeholder is your defense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Schema Design: Normalize or Denormalize?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"/>
          <p:cNvSpPr txBox="1"/>
          <p:nvPr/>
        </p:nvSpPr>
        <p:spPr>
          <a:xfrm>
            <a:off x="5303520" y="457200"/>
            <a:ext cx="158465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356" name="Google Shape;356;p27"/>
          <p:cNvSpPr txBox="1"/>
          <p:nvPr/>
        </p:nvSpPr>
        <p:spPr>
          <a:xfrm>
            <a:off x="1020675" y="2011675"/>
            <a:ext cx="101265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need to store user profiles: name, email, theme,</a:t>
            </a:r>
            <a:br>
              <a:rPr lang="en-US" sz="34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font_size, timezone, and 20 other settings.</a:t>
            </a:r>
            <a:br>
              <a:rPr lang="en-US" sz="34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How do you lay out the table?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1828800" y="4572000"/>
            <a:ext cx="853409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There's more than one right answer.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Option A: one wide table</a:t>
            </a: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endParaRPr/>
          </a:p>
        </p:txBody>
      </p:sp>
      <p:sp>
        <p:nvSpPr>
          <p:cNvPr id="365" name="Google Shape;365;p28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One row per user, one column per attribute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users 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id            INTEGER PRIMARY KEY,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name          TEXT NOT NULL,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email         TEXT NOT NULL,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theme         TEXT,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font_size     INTEGER,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timezone      TEXT,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notifications INTEGER,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language      TEXT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-- ... 20 more columns ...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Read: one row, all columns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SELECT theme, font_size FROM users WHERE id = 1;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Add a new setting? Schema migration: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users ADD COLUMN dark_mode INTEGER;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Option B: tall (EAV) table</a:t>
            </a:r>
            <a:endParaRPr/>
          </a:p>
        </p:txBody>
      </p:sp>
      <p:sp>
        <p:nvSpPr>
          <p:cNvPr id="373" name="Google Shape;373;p29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endParaRPr/>
          </a:p>
        </p:txBody>
      </p:sp>
      <p:sp>
        <p:nvSpPr>
          <p:cNvPr id="374" name="Google Shape;374;p29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One row per (user, prop) pair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user_props 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user_id INTEGER,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prop    TEXT,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value   TEXT,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PRIMARY KEY (user_id, prop)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user_props VALUES (1, 'theme',     'dark');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user_props VALUES (1, 'font_size', '14');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user_props VALUES (1, 'timezone',  'America/Chicago');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Read: one row per setting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SELECT prop, value FROM user_props WHERE user_id = 1;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Add a new setting? No migration: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INSERT INTO user_props VALUES (1, 'dark_mode', 'true');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Option C: normalized (separate tables)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 txBox="1"/>
          <p:nvPr/>
        </p:nvSpPr>
        <p:spPr>
          <a:xfrm>
            <a:off x="1005840" y="1645920"/>
            <a:ext cx="10179900" cy="46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Split into related tables, joined by</a:t>
            </a:r>
            <a:r>
              <a:rPr lang="en-US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users 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id    INTEGER PRIMARY KEY,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name  TEXT NOT NULL,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email TEXT NOT NULL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user_settings 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user_id   INTEGER PRIMARY KEY REFERENCES users(id),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theme     TEXT,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font_size INTEGER,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timezone  TEXT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4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-- Reconstruct a full profile with a JOIN: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SELECT u.name, s.theme, s.font_size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users u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JOIN user_settings s ON s.user_id = u.id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WHERE u.id = 1;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to use which</a:t>
            </a:r>
            <a:endParaRPr/>
          </a:p>
        </p:txBody>
      </p:sp>
      <p:sp>
        <p:nvSpPr>
          <p:cNvPr id="391" name="Google Shape;391;p31"/>
          <p:cNvSpPr txBox="1"/>
          <p:nvPr/>
        </p:nvSpPr>
        <p:spPr>
          <a:xfrm>
            <a:off x="914400" y="1463040"/>
            <a:ext cx="103629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Wide table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when columns are fixed and known up front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User's name, email, signup date - every user has these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 reads, simple queries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e08d210b0_0_32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to use which</a:t>
            </a:r>
            <a:endParaRPr/>
          </a:p>
        </p:txBody>
      </p:sp>
      <p:sp>
        <p:nvSpPr>
          <p:cNvPr id="398" name="Google Shape;398;g3de08d210b0_0_32"/>
          <p:cNvSpPr txBox="1"/>
          <p:nvPr/>
        </p:nvSpPr>
        <p:spPr>
          <a:xfrm>
            <a:off x="914400" y="1463040"/>
            <a:ext cx="10362900" cy="31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Wide table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when columns are fixed and known up front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User's name, email, signup date - every user has these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 reads, simple queries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EAV (tall) table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when props are open-ended or user-defined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Plugin systems, feature flags, custom form fields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Maximum flexibility, weakest typing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de08d210b0_0_38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to use which</a:t>
            </a:r>
            <a:endParaRPr/>
          </a:p>
        </p:txBody>
      </p:sp>
      <p:sp>
        <p:nvSpPr>
          <p:cNvPr id="405" name="Google Shape;405;g3de08d210b0_0_38"/>
          <p:cNvSpPr txBox="1"/>
          <p:nvPr/>
        </p:nvSpPr>
        <p:spPr>
          <a:xfrm>
            <a:off x="914400" y="1463040"/>
            <a:ext cx="10362900" cy="51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Wide table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when columns are fixed and known up front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User's name, email, signup date - every user has these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 reads, simple queries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EAV (tall) table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when props are open-ended or user-defined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Plugin systems, feature flags, custom form fields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Maximum flexibility, weakest typing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Normalized (separate tables)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almost everything else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Distinct entities with relationships (users, messages, comments...)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default. Use this unless you have a reason not to.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9FE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Building the Chat Data Layer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de08d210b0_0_589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Chat app data layer</a:t>
            </a:r>
            <a:endParaRPr/>
          </a:p>
        </p:txBody>
      </p:sp>
      <p:sp>
        <p:nvSpPr>
          <p:cNvPr id="418" name="Google Shape;418;g3de08d210b0_0_589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name="adj" fmla="val 16667"/>
            </a:avLst>
          </a:prstGeom>
          <a:solidFill>
            <a:srgbClr val="F0F0F4"/>
          </a:solidFill>
          <a:ln w="12700" cap="flat" cmpd="sng">
            <a:solidFill>
              <a:srgbClr val="EEEE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de08d210b0_0_589"/>
          <p:cNvSpPr txBox="1"/>
          <p:nvPr/>
        </p:nvSpPr>
        <p:spPr>
          <a:xfrm>
            <a:off x="1005840" y="1645920"/>
            <a:ext cx="10179900" cy="45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import sqlite3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contextlib import closing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DB = "chat.db"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add_message(username, msg_text):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closing(sqlite3.connect(DB))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"INSERT INTO messages (username, text) VALUES (?, ?)",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(username, msg_text)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conn.commit()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get_recent(limit=20):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closing(sqlite3.connect(DB)) as conn: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conn.row_factory = sqlite3.Row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conn.execute(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"SELECT * FROM messages ORDER BY timestamp DESC LIMIT ?",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(limit,)</a:t>
            </a:r>
            <a:endParaRPr/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).fetchall()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SQLite in practice</a:t>
            </a:r>
            <a:endParaRPr/>
          </a:p>
        </p:txBody>
      </p:sp>
      <p:sp>
        <p:nvSpPr>
          <p:cNvPr id="426" name="Google Shape;426;p34"/>
          <p:cNvSpPr txBox="1"/>
          <p:nvPr/>
        </p:nvSpPr>
        <p:spPr>
          <a:xfrm>
            <a:off x="914388" y="1280140"/>
            <a:ext cx="10362900" cy="58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SQLite stores everything in a </a:t>
            </a: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single file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(chat.db)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No server to install or configure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Built into Python - nothing extra to set up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Perfect for development and class projects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Useful tools: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DB Browser for SQLite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GUI to inspect your database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sqlite3 CLI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command-line tool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Beyond SQLite:</a:t>
            </a:r>
            <a:endParaRPr>
              <a:solidFill>
                <a:schemeClr val="dk1"/>
              </a:solidFill>
            </a:endParaRPr>
          </a:p>
          <a:p>
            <a:pPr marL="457200" lvl="1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PostgreSQL / MySQL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for production - same SQL, different driver</a:t>
            </a:r>
            <a:endParaRPr>
              <a:solidFill>
                <a:schemeClr val="dk1"/>
              </a:solidFill>
            </a:endParaRPr>
          </a:p>
          <a:p>
            <a:pPr marL="457200" lvl="1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1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SQLAlchemy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Python library that adds connection pooling and</a:t>
            </a:r>
            <a:endParaRPr>
              <a:solidFill>
                <a:schemeClr val="dk1"/>
              </a:solidFill>
            </a:endParaRPr>
          </a:p>
          <a:p>
            <a:pPr marL="457200" lvl="1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dialect portability. Worth it once you have a real web app.</a:t>
            </a:r>
            <a:endParaRPr>
              <a:solidFill>
                <a:schemeClr val="dk1"/>
              </a:solidFill>
            </a:endParaRPr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Wrapping up</a:t>
            </a:r>
            <a:endParaRPr/>
          </a:p>
        </p:txBody>
      </p:sp>
      <p:sp>
        <p:nvSpPr>
          <p:cNvPr id="433" name="Google Shape;433;p35"/>
          <p:cNvSpPr txBox="1"/>
          <p:nvPr/>
        </p:nvSpPr>
        <p:spPr>
          <a:xfrm>
            <a:off x="914400" y="1463040"/>
            <a:ext cx="10362900" cy="5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database is a </a:t>
            </a: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file with structure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- not magic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Pages let it rewrite parts without touching the whole file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B-trees make lookups fast (log n, not n)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rollback journal makes writes atomic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OS file locks coordinate concurrent writers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SQL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a declarative query language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You describe the result; the DB picks the path</a:t>
            </a:r>
            <a:endParaRPr/>
          </a:p>
          <a:p>
            <a:pPr marL="457200" marR="0" lvl="1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CRUD: CREATE,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INSERT,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b="0" i="0" u="none" strike="noStrike" cap="non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UPDATE, DELETE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Schema design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a real choice - wide, tall, or normalized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Parameterized queries</a:t>
            </a:r>
            <a:r>
              <a:rPr lang="en-US" sz="2400" b="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are the security default - never f-strings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 b="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5704</Words>
  <Application>Microsoft Macintosh PowerPoint</Application>
  <PresentationFormat>Widescreen</PresentationFormat>
  <Paragraphs>560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Courier Prime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Andrew Aymeloglu</cp:lastModifiedBy>
  <cp:revision>1</cp:revision>
  <dcterms:created xsi:type="dcterms:W3CDTF">2013-01-27T09:14:16Z</dcterms:created>
  <dcterms:modified xsi:type="dcterms:W3CDTF">2026-04-10T00:21:46Z</dcterms:modified>
</cp:coreProperties>
</file>