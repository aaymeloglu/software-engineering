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12192000" cy="6858000"/>
  <p:notesSz cx="6858000" cy="9144000"/>
  <p:embeddedFontLst>
    <p:embeddedFont>
      <p:font typeface="Courier Prime" pitchFamily="49" charset="77"/>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4" roundtripDataSignature="AMtx7mhlAfEv1sIGQuUz6nwlUYduUlLt7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06" d="100"/>
          <a:sy n="106" d="100"/>
        </p:scale>
        <p:origin x="1336" y="48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font" Target="fonts/font1.fntdata"/><Relationship Id="rId48" Type="http://schemas.openxmlformats.org/officeDocument/2006/relationships/font" Target="fonts/font2.fntdata"/><Relationship Id="rId49" Type="http://schemas.openxmlformats.org/officeDocument/2006/relationships/font" Target="fonts/font3.fntdata"/><Relationship Id="rId50" Type="http://schemas.openxmlformats.org/officeDocument/2006/relationships/font" Target="fonts/font4.fntdata"/><Relationship Id="rId64" Type="http://customschemas.google.com/relationships/presentationmetadata" Target="metadata"/><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Last lecture we hit the wall with files-as-storage and listed five specific problems. Today: how databases solve all five. The cool part is that a SQLite database is also just a file on disk - the magic is in the layout and a few protocols around it, not in any kind of magic.</a:t>
            </a:r>
            <a:endParaRPr/>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Anchor everything against last lecture. The five problems were the punchline of 2.1; today we actually answer the question they posed. Lean into the puzzle: if a SQLite DB is also just a file, how does it fix any of these? The student should be a little confused at this point.</a:t>
            </a:r>
            <a:endParaRPr/>
          </a:p>
        </p:txBody>
      </p:sp>
      <p:sp>
        <p:nvSpPr>
          <p:cNvPr id="92" name="Google Shape;92;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8" name="Google Shape;9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If anyone guesses 'special structure inside the file,' they're exactly right.</a:t>
            </a:r>
            <a:endParaRPr/>
          </a:p>
        </p:txBody>
      </p:sp>
      <p:sp>
        <p:nvSpPr>
          <p:cNvPr id="99" name="Google Shape;99;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6" name="Google Shape;106;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mechanism part. Goal is intuition, not mastery. Five short slides, one diagram, one recap. Don't go into WAL vs rollback journal or page header internals - hit the headline ideas and move on.</a:t>
            </a:r>
            <a:endParaRPr/>
          </a:p>
        </p:txBody>
      </p:sp>
      <p:sp>
        <p:nvSpPr>
          <p:cNvPr id="107" name="Google Shape;107;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2" name="Google Shape;112;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first cool thing. Pages are how the DB escapes the read-modify-write trap from last lecture. 4KB matches the OS disk block size - not a coincidence; it lets the DB align reads/writes with what the disk does natively. You can mention this if a student asks why 4KB.</a:t>
            </a:r>
            <a:endParaRPr/>
          </a:p>
        </p:txBody>
      </p:sp>
      <p:sp>
        <p:nvSpPr>
          <p:cNvPr id="113" name="Google Shape;113;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9" name="Google Shape;119;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headline number is the one that should stick: 20 hops vs 1 million reads. That's the difference between 'instant' and 'your server hangs.' The next slide shows the picture.</a:t>
            </a:r>
            <a:endParaRPr/>
          </a:p>
        </p:txBody>
      </p:sp>
      <p:sp>
        <p:nvSpPr>
          <p:cNvPr id="120" name="Google Shape;120;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de08d210b0_0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3de08d210b0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7" name="Google Shape;127;g3de08d210b0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de08d210b0_0_8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3" name="Google Shape;133;g3de08d210b0_0_8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 name="Google Shape;134;g3de08d210b0_0_8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Walk through one lookup. Pick id=600,000. Root sees the range, sends you to the middle internal node (334k-666k). That node sends you to the leaf for 501k-666k. Three hops, found the row. Highlighted in orange. Without the index, you'd read every page until you stumbled on the right one. Don't draw this on the board - the slide does it.</a:t>
            </a:r>
            <a:endParaRPr/>
          </a:p>
        </p:txBody>
      </p:sp>
      <p:sp>
        <p:nvSpPr>
          <p:cNvPr id="141" name="Google Shape;141;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6" name="Google Shape;166;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sqlite_master is a real table you can query with SELECT - try it on their chat.db at the end of the lecture if there's time. The point: the schema isn't a separate config file, it's data inside the same DB. Self-describing systems are a big deal in computer science.</a:t>
            </a:r>
            <a:endParaRPr/>
          </a:p>
        </p:txBody>
      </p:sp>
      <p:sp>
        <p:nvSpPr>
          <p:cNvPr id="167" name="Google Shape;167;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3" name="Google Shape;173;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journal is the answer to 'what about the bytes that were already written before the crash?' - SQLite kept the old version, so it can undo. ACID = Atomicity, Consistency, Isolation, Durability. We're only really hitting atomicity here; the rest get a sentence at most. Modern SQLite uses WAL by default, but the rollback journal is easier to explain and the principle is the same.</a:t>
            </a:r>
            <a:endParaRPr/>
          </a:p>
        </p:txBody>
      </p:sp>
      <p:sp>
        <p:nvSpPr>
          <p:cNvPr id="174" name="Google Shape;174;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0" name="Google Shape;180;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cool insight here: SQLite didn't invent concurrency control. It leans on a primitive (file locks) that's existed in Unix since the 1980s. The composition is what's clever, not the parts.</a:t>
            </a:r>
            <a:endParaRPr/>
          </a:p>
        </p:txBody>
      </p:sp>
      <p:sp>
        <p:nvSpPr>
          <p:cNvPr id="181" name="Google Shape;181;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7" name="Google Shape;187;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emotional payload of the lecture. Slow down here. The students should walk away with the feeling that databases are not magic - they're a stack of small, understandable engineering tricks on top of the same files we used last week.</a:t>
            </a:r>
            <a:endParaRPr/>
          </a:p>
        </p:txBody>
      </p:sp>
      <p:sp>
        <p:nvSpPr>
          <p:cNvPr id="188" name="Google Shape;188;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4" name="Google Shape;194;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Now that they know what's inside, time to learn the interface. The next ~12 slides are the practical CRUD content from the original version of this lecture - they were good, just needed a better setup.</a:t>
            </a:r>
            <a:endParaRPr/>
          </a:p>
        </p:txBody>
      </p:sp>
      <p:sp>
        <p:nvSpPr>
          <p:cNvPr id="195" name="Google Shape;195;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0" name="Google Shape;200;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Quick tour of SQL so they recognize the syntax. These four operations (INSERT, SELECT, UPDATE, DELETE) are called CRUD: Create, Read, Update, Delete. We'll use all of them from Python on the next slides.</a:t>
            </a:r>
            <a:endParaRPr/>
          </a:p>
        </p:txBody>
      </p:sp>
      <p:sp>
        <p:nvSpPr>
          <p:cNvPr id="201" name="Google Shape;201;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9" name="Google Shape;209;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Declarative vs imperative is the conceptual leap. Everything they've written so far is imperative: step-by-step instructions. SQL flips it: you describe the answer and the database figures out how to get there. This is the same idea that powers Excel formulas, Prolog, and a lot of modern reactive UI frameworks.</a:t>
            </a:r>
            <a:endParaRPr/>
          </a:p>
        </p:txBody>
      </p:sp>
      <p:sp>
        <p:nvSpPr>
          <p:cNvPr id="210" name="Google Shape;210;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de08d210b0_0_8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6" name="Google Shape;216;g3de08d210b0_0_8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Declarative vs imperative is the conceptual leap. Everything they've written so far is imperative: step-by-step instructions. SQL flips it: you describe the answer and the database figures out how to get there. This is the same idea that powers Excel formulas, Prolog, and a lot of modern reactive UI frameworks.</a:t>
            </a:r>
            <a:endParaRPr/>
          </a:p>
        </p:txBody>
      </p:sp>
      <p:sp>
        <p:nvSpPr>
          <p:cNvPr id="217" name="Google Shape;217;g3de08d210b0_0_8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e08d210b0_0_5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3" name="Google Shape;223;g3de08d210b0_0_5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 engine, no connection pool, no library wrapper. The stdlib sqlite3 module is the SQLite C library with a thin Python skin on top. conn.execute() returns a cursor; iterate it or call .fetchone() / .fetchall(). The 'with' statement on a sqlite3 connection is a transaction context (commits on success, rolls back on exception) - it does NOT close the connection. Mention this only if asked; the explicit close pattern is fine for everything we'll do today.</a:t>
            </a:r>
            <a:endParaRPr/>
          </a:p>
        </p:txBody>
      </p:sp>
      <p:sp>
        <p:nvSpPr>
          <p:cNvPr id="224" name="Google Shape;224;g3de08d210b0_0_5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de08d210b0_0_5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g3de08d210b0_0_5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IF NOT EXISTS prevents errors if the table already exists. The constraints (NOT NULL, AUTOINCREMENT) get stored in sqlite_master and enforced on every write. conn.commit() saves the change - without it, nothing persists. Like git: nothing is real until you commit.</a:t>
            </a:r>
            <a:endParaRPr/>
          </a:p>
        </p:txBody>
      </p:sp>
      <p:sp>
        <p:nvSpPr>
          <p:cNvPr id="232" name="Google Shape;232;g3de08d210b0_0_5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3de08d210b0_0_14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9" name="Google Shape;239;g3de08d210b0_0_14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 placeholder is a 'bound parameter'. Values are passed in a tuple - one value per ? in order. sqlite3 (actually the underlying C library) safely escapes them. We don't specify id or timestamp - the database fills those in from the schema defaults.</a:t>
            </a:r>
            <a:endParaRPr/>
          </a:p>
        </p:txBody>
      </p:sp>
      <p:sp>
        <p:nvSpPr>
          <p:cNvPr id="240" name="Google Shape;240;g3de08d210b0_0_14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de08d210b0_0_2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7" name="Google Shape;247;g3de08d210b0_0_2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 placeholder is a 'bound parameter'. Values are passed in a tuple - one value per ? in order. sqlite3 (actually the underlying C library) safely escapes them. We don't specify id or timestamp - the database fills those in from the schema defaults.</a:t>
            </a:r>
            <a:endParaRPr/>
          </a:p>
        </p:txBody>
      </p:sp>
      <p:sp>
        <p:nvSpPr>
          <p:cNvPr id="248" name="Google Shape;248;g3de08d210b0_0_2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de08d210b0_0_30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5" name="Google Shape;255;g3de08d210b0_0_30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Students need: id INTEGER PRIMARY KEY AUTOINCREMENT, username TEXT NOT NULL, email TEXT. Then an INSERT with ? placeholders and a tuple.</a:t>
            </a:r>
            <a:endParaRPr/>
          </a:p>
        </p:txBody>
      </p:sp>
      <p:sp>
        <p:nvSpPr>
          <p:cNvPr id="256" name="Google Shape;256;g3de08d210b0_0_30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de08d210b0_0_3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4" name="Google Shape;264;g3de08d210b0_0_3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email doesn't need NOT NULL - it's optional. The pattern is always: 'SQL with ? placeholders', (tuple, of, values). Two commits: one for the schema change, one for the data.</a:t>
            </a:r>
            <a:endParaRPr/>
          </a:p>
        </p:txBody>
      </p:sp>
      <p:sp>
        <p:nvSpPr>
          <p:cNvPr id="265" name="Google Shape;265;g3de08d210b0_0_3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3de08d210b0_0_39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3" name="Google Shape;273;g3de08d210b0_0_39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By default sqlite3 returns rows as plain tuples - row[0], row[1]. Setting conn.row_factory = sqlite3.Row gives you dict-like access (row['username']) and is almost always what you want. The result of execute() is iterable - looping is the same as fetchall() but doesn't load everything into memory at once. fetchone() returns None if there are no rows.</a:t>
            </a:r>
            <a:endParaRPr/>
          </a:p>
        </p:txBody>
      </p:sp>
      <p:sp>
        <p:nvSpPr>
          <p:cNvPr id="274" name="Google Shape;274;g3de08d210b0_0_39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de08d210b0_0_40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1" name="Google Shape;281;g3de08d210b0_0_40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trailing comma on ('alice',) is a real gotcha - without it, Python sees a parenthesized string, not a tuple, and sqlite3 raises an error. WHERE filters rows, ORDER BY sorts (DESC = newest first), LIMIT caps the count. For COUNT/SUM/MAX queries, fetchone()[0] is the idiom to get the single scalar value. The DB uses indexes automatically when they exist - you don't ask for it.</a:t>
            </a:r>
            <a:endParaRPr/>
          </a:p>
        </p:txBody>
      </p:sp>
      <p:sp>
        <p:nvSpPr>
          <p:cNvPr id="282" name="Google Shape;282;g3de08d210b0_0_40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3de08d210b0_0_40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9" name="Google Shape;289;g3de08d210b0_0_40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Students need: (1) SELECT with WHERE username = ?, ('alice',) - remind them about the trailing comma. (2) SELECT with ORDER BY timestamp DESC LIMIT 5. (3) SELECT COUNT(*) with WHERE.</a:t>
            </a:r>
            <a:endParaRPr/>
          </a:p>
        </p:txBody>
      </p:sp>
      <p:sp>
        <p:nvSpPr>
          <p:cNvPr id="290" name="Google Shape;290;g3de08d210b0_0_40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3de08d210b0_0_4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8" name="Google Shape;298;g3de08d210b0_0_4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key patterns: 'SQL' for queries without parameters, 'SQL with ?', (tuple,) for queries with parameters. .fetchone()[0] is the idiom for single-value results (COUNT, SUM, MAX).</a:t>
            </a:r>
            <a:endParaRPr/>
          </a:p>
        </p:txBody>
      </p:sp>
      <p:sp>
        <p:nvSpPr>
          <p:cNvPr id="299" name="Google Shape;299;g3de08d210b0_0_4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de08d210b0_0_4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7" name="Google Shape;307;g3de08d210b0_0_4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UPDATE and DELETE both need WHERE clauses. Without WHERE, UPDATE changes every row and DELETE empties the table. This is the most common SQL mistake - always double-check your WHERE.</a:t>
            </a:r>
            <a:endParaRPr/>
          </a:p>
        </p:txBody>
      </p:sp>
      <p:sp>
        <p:nvSpPr>
          <p:cNvPr id="308" name="Google Shape;308;g3de08d210b0_0_4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5" name="Google Shape;315;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 injection is one of the most common web vulnerabilities (OWASP Top 10). The fix is simple: never put user input directly in SQL strings. Always use :param placeholders and pass values in a dict. This applies to ALL SQL, not just SELECT.</a:t>
            </a:r>
            <a:endParaRPr/>
          </a:p>
        </p:txBody>
      </p:sp>
      <p:sp>
        <p:nvSpPr>
          <p:cNvPr id="316" name="Google Shape;316;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3de08d210b0_0_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3" name="Google Shape;323;g3de08d210b0_0_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 injection is one of the most common web vulnerabilities (OWASP Top 10). The fix is simple: never put user input directly in SQL strings. Always use :param placeholders and pass values in a dict. This applies to ALL SQL, not just SELECT.</a:t>
            </a:r>
            <a:endParaRPr/>
          </a:p>
        </p:txBody>
      </p:sp>
      <p:sp>
        <p:nvSpPr>
          <p:cNvPr id="324" name="Google Shape;324;g3de08d210b0_0_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de08d210b0_0_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0" name="Google Shape;330;g3de08d210b0_0_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 injection is one of the most common web vulnerabilities (OWASP Top 10). The fix is simple: never put user input directly in SQL strings. Always use :param placeholders and pass values in a dict. This applies to ALL SQL, not just SELECT.</a:t>
            </a:r>
            <a:endParaRPr/>
          </a:p>
        </p:txBody>
      </p:sp>
      <p:sp>
        <p:nvSpPr>
          <p:cNvPr id="331" name="Google Shape;331;g3de08d210b0_0_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3de08d210b0_0_50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8" name="Google Shape;338;g3de08d210b0_0_50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 injection is one of the most common web vulnerabilities (OWASP Top 10). The fix is simple: never put user input directly in SQL strings. Always use ? placeholders and pass values in a tuple. This applies to ALL SQL, not just SELECT. Same rule in every language and every database driver - the placeholder syntax varies (? in sqlite3, %s in psycopg, :name in cx_Oracle) but the principle is identical.</a:t>
            </a:r>
            <a:endParaRPr/>
          </a:p>
        </p:txBody>
      </p:sp>
      <p:sp>
        <p:nvSpPr>
          <p:cNvPr id="339" name="Google Shape;339;g3de08d210b0_0_50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6" name="Google Shape;346;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design-judgment section. The full theory of normalization (1NF/2NF/3NF) gets its own lecture later in the course. Today: just the three shapes a table can take and the intuition for when to use each. The question slide is the hook.</a:t>
            </a:r>
            <a:endParaRPr/>
          </a:p>
        </p:txBody>
      </p:sp>
      <p:sp>
        <p:nvSpPr>
          <p:cNvPr id="347" name="Google Shape;347;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p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2" name="Google Shape;352;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Let them propose. Most will go straight to a wide table. Push: what if you need to add a new setting next week? What if half the settings are blank for most users? Then walk through the three options.</a:t>
            </a:r>
            <a:endParaRPr/>
          </a:p>
        </p:txBody>
      </p:sp>
      <p:sp>
        <p:nvSpPr>
          <p:cNvPr id="353" name="Google Shape;353;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0" name="Google Shape;360;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Pros: fast reads, fixed shape, one row per user, easy to reason about. Cons: rigid - every new setting needs an ALTER TABLE. Wasteful if half the columns are NULL for most users. Columns can balloon to hundreds in real apps. Also: column order in CREATE TABLE matters less than you'd think - the DB stores them in pages efficiently regardless.</a:t>
            </a:r>
            <a:endParaRPr/>
          </a:p>
        </p:txBody>
      </p:sp>
      <p:sp>
        <p:nvSpPr>
          <p:cNvPr id="361" name="Google Shape;361;p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p2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9" name="Google Shape;369;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EAV = Entity-Attribute-Value. Pros: infinitely flexible, sparse-friendly (you only store the props a user actually has), no schema migrations to add a new prop. Cons: everything is TEXT - you lose types. Querying gets ugly (multiple self-joins to reconstruct one user's settings as a row). Constraints are hard to enforce. Indexes help less because the prop column is itself a value.</a:t>
            </a:r>
            <a:endParaRPr/>
          </a:p>
        </p:txBody>
      </p:sp>
      <p:sp>
        <p:nvSpPr>
          <p:cNvPr id="370" name="Google Shape;370;p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p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8" name="Google Shape;378;p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default relational answer. Each table has a single, well-defined purpose. The foreign key (REFERENCES users(id)) enforces that every row in user_settings points at a real user. JOIN reconstructs the whole picture at query time. This is what 'normalization' means at the intuition level - one fact in one place. Full theory comes later in the course.</a:t>
            </a:r>
            <a:endParaRPr/>
          </a:p>
        </p:txBody>
      </p:sp>
      <p:sp>
        <p:nvSpPr>
          <p:cNvPr id="379" name="Google Shape;379;p3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3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7" name="Google Shape;387;p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judgment, not rules. The right answer depends on access patterns, growth, and how often the schema needs to change. The point of this section is that the question itself exists - most students have never been asked to design a table before, they've only used ones that already existed.</a:t>
            </a:r>
            <a:endParaRPr/>
          </a:p>
        </p:txBody>
      </p:sp>
      <p:sp>
        <p:nvSpPr>
          <p:cNvPr id="388" name="Google Shape;388;p3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de08d210b0_0_3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4" name="Google Shape;394;g3de08d210b0_0_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judgment, not rules. The right answer depends on access patterns, growth, and how often the schema needs to change. The point of this section is that the question itself exists - most students have never been asked to design a table before, they've only used ones that already existed.</a:t>
            </a:r>
            <a:endParaRPr/>
          </a:p>
        </p:txBody>
      </p:sp>
      <p:sp>
        <p:nvSpPr>
          <p:cNvPr id="395" name="Google Shape;395;g3de08d210b0_0_3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de08d210b0_0_3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1" name="Google Shape;401;g3de08d210b0_0_3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judgment, not rules. The right answer depends on access patterns, growth, and how often the schema needs to change. The point of this section is that the question itself exists - most students have never been asked to design a table before, they've only used ones that already existed.</a:t>
            </a:r>
            <a:endParaRPr/>
          </a:p>
        </p:txBody>
      </p:sp>
      <p:sp>
        <p:nvSpPr>
          <p:cNvPr id="402" name="Google Shape;402;g3de08d210b0_0_3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p3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8" name="Google Shape;408;p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Putting it all together. Short section - mostly review.</a:t>
            </a:r>
            <a:endParaRPr/>
          </a:p>
        </p:txBody>
      </p:sp>
      <p:sp>
        <p:nvSpPr>
          <p:cNvPr id="409" name="Google Shape;409;p3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3de08d210b0_0_58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4" name="Google Shape;414;g3de08d210b0_0_58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data layer for the chat app. Two new things: contextlib.closing() wraps the connection so the 'with' block actually closes it on exit (remember: 'with' on a sqlite3 conn alone is just a transaction). Setting row_factory = sqlite3.Row gives the caller dict-like access to columns. Next lecture we'll expose these functions through a REST API. The pattern is always: connect, execute, commit (for writes), return (for reads).</a:t>
            </a:r>
            <a:endParaRPr/>
          </a:p>
        </p:txBody>
      </p:sp>
      <p:sp>
        <p:nvSpPr>
          <p:cNvPr id="415" name="Google Shape;415;g3de08d210b0_0_58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p3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2" name="Google Shape;422;p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DB Browser for SQLite is free and lets you view tables, run queries, and inspect data visually. Open chat.db with it after class - they'll see sqlite_master sitting right there in the table list.</a:t>
            </a:r>
            <a:endParaRPr/>
          </a:p>
        </p:txBody>
      </p:sp>
      <p:sp>
        <p:nvSpPr>
          <p:cNvPr id="423" name="Google Shape;423;p3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p3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9" name="Google Shape;429;p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CRUD = Create, read, update, delete, actually maps to insert, select, update, delete above.</a:t>
            </a:r>
            <a:endParaRPr/>
          </a:p>
        </p:txBody>
      </p:sp>
      <p:sp>
        <p:nvSpPr>
          <p:cNvPr id="430" name="Google Shape;430;p3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8"/>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8"/>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9"/>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0"/>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40"/>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4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4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4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4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41"/>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41"/>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4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4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4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4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42"/>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42"/>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42"/>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42"/>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4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4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4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4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4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4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4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44"/>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44"/>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44"/>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4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4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45"/>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45"/>
          <p:cNvSpPr>
            <a:spLocks noGrp="1"/>
          </p:cNvSpPr>
          <p:nvPr>
            <p:ph type="pic" idx="2"/>
          </p:nvPr>
        </p:nvSpPr>
        <p:spPr>
          <a:xfrm>
            <a:off x="1792288" y="612775"/>
            <a:ext cx="5486400" cy="4114800"/>
          </a:xfrm>
          <a:prstGeom prst="rect">
            <a:avLst/>
          </a:prstGeom>
          <a:noFill/>
          <a:ln>
            <a:noFill/>
          </a:ln>
        </p:spPr>
      </p:sp>
      <p:sp>
        <p:nvSpPr>
          <p:cNvPr id="64" name="Google Shape;64;p45"/>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4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4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4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4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46"/>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4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4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4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47"/>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47"/>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4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4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4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3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2.2</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Databases with SQL</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sp>
        <p:nvSpPr>
          <p:cNvPr id="94" name="Google Shape;94;p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Last time: files hit a wall</a:t>
            </a:r>
            <a:endParaRPr/>
          </a:p>
        </p:txBody>
      </p:sp>
      <p:sp>
        <p:nvSpPr>
          <p:cNvPr id="95" name="Google Shape;95;p2"/>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We built a chat store on top of JSON files and ran into five problems:</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 </a:t>
            </a:r>
            <a:r>
              <a:rPr lang="en-US" sz="2000" b="1" i="0" u="none" strike="noStrike" cap="none">
                <a:solidFill>
                  <a:srgbClr val="666677"/>
                </a:solidFill>
                <a:latin typeface="Calibri"/>
                <a:ea typeface="Calibri"/>
                <a:cs typeface="Calibri"/>
                <a:sym typeface="Calibri"/>
              </a:rPr>
              <a:t>No indexing</a:t>
            </a:r>
            <a:r>
              <a:rPr lang="en-US" sz="2000" b="0" i="0" u="none" strike="noStrike" cap="none">
                <a:solidFill>
                  <a:srgbClr val="666677"/>
                </a:solidFill>
                <a:latin typeface="Calibri"/>
                <a:ea typeface="Calibri"/>
                <a:cs typeface="Calibri"/>
                <a:sym typeface="Calibri"/>
              </a:rPr>
              <a:t> - find one record means read everything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2. </a:t>
            </a:r>
            <a:r>
              <a:rPr lang="en-US" sz="2000" b="1" i="0" u="none" strike="noStrike" cap="none">
                <a:solidFill>
                  <a:srgbClr val="666677"/>
                </a:solidFill>
                <a:latin typeface="Calibri"/>
                <a:ea typeface="Calibri"/>
                <a:cs typeface="Calibri"/>
                <a:sym typeface="Calibri"/>
              </a:rPr>
              <a:t>No schema</a:t>
            </a:r>
            <a:r>
              <a:rPr lang="en-US" sz="2000" b="0" i="0" u="none" strike="noStrike" cap="none">
                <a:solidFill>
                  <a:srgbClr val="666677"/>
                </a:solidFill>
                <a:latin typeface="Calibri"/>
                <a:ea typeface="Calibri"/>
                <a:cs typeface="Calibri"/>
                <a:sym typeface="Calibri"/>
              </a:rPr>
              <a:t> - nothing enforces structure or types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3. </a:t>
            </a:r>
            <a:r>
              <a:rPr lang="en-US" sz="2000" b="1" i="0" u="none" strike="noStrike" cap="none">
                <a:solidFill>
                  <a:srgbClr val="666677"/>
                </a:solidFill>
                <a:latin typeface="Calibri"/>
                <a:ea typeface="Calibri"/>
                <a:cs typeface="Calibri"/>
                <a:sym typeface="Calibri"/>
              </a:rPr>
              <a:t>No concurrency</a:t>
            </a:r>
            <a:r>
              <a:rPr lang="en-US" sz="2000" b="0" i="0" u="none" strike="noStrike" cap="none">
                <a:solidFill>
                  <a:srgbClr val="666677"/>
                </a:solidFill>
                <a:latin typeface="Calibri"/>
                <a:ea typeface="Calibri"/>
                <a:cs typeface="Calibri"/>
                <a:sym typeface="Calibri"/>
              </a:rPr>
              <a:t> - two writers race, data is lost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4. </a:t>
            </a:r>
            <a:r>
              <a:rPr lang="en-US" sz="2000" b="1" i="0" u="none" strike="noStrike" cap="none">
                <a:solidFill>
                  <a:srgbClr val="666677"/>
                </a:solidFill>
                <a:latin typeface="Calibri"/>
                <a:ea typeface="Calibri"/>
                <a:cs typeface="Calibri"/>
                <a:sym typeface="Calibri"/>
              </a:rPr>
              <a:t>No relationships</a:t>
            </a:r>
            <a:r>
              <a:rPr lang="en-US" sz="2000" b="0" i="0" u="none" strike="noStrike" cap="none">
                <a:solidFill>
                  <a:srgbClr val="666677"/>
                </a:solidFill>
                <a:latin typeface="Calibri"/>
                <a:ea typeface="Calibri"/>
                <a:cs typeface="Calibri"/>
                <a:sym typeface="Calibri"/>
              </a:rPr>
              <a:t> - can't link users to 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5. </a:t>
            </a:r>
            <a:r>
              <a:rPr lang="en-US" sz="2000" b="1" i="0" u="none" strike="noStrike" cap="none">
                <a:solidFill>
                  <a:srgbClr val="666677"/>
                </a:solidFill>
                <a:latin typeface="Calibri"/>
                <a:ea typeface="Calibri"/>
                <a:cs typeface="Calibri"/>
                <a:sym typeface="Calibri"/>
              </a:rPr>
              <a:t>No query language</a:t>
            </a:r>
            <a:r>
              <a:rPr lang="en-US" sz="2000" b="0" i="0" u="none" strike="noStrike" cap="none">
                <a:solidFill>
                  <a:srgbClr val="666677"/>
                </a:solidFill>
                <a:latin typeface="Calibri"/>
                <a:ea typeface="Calibri"/>
                <a:cs typeface="Calibri"/>
                <a:sym typeface="Calibri"/>
              </a:rPr>
              <a:t> - every filter is a hand-written loop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Today: how databases solve all five.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And the cool part - a SQLite database is </a:t>
            </a:r>
            <a:r>
              <a:rPr lang="en-US" sz="2400" b="1" i="0" u="none" strike="noStrike" cap="none">
                <a:solidFill>
                  <a:srgbClr val="333344"/>
                </a:solidFill>
                <a:latin typeface="Calibri"/>
                <a:ea typeface="Calibri"/>
                <a:cs typeface="Calibri"/>
                <a:sym typeface="Calibri"/>
              </a:rPr>
              <a:t>also just a file on disk</a:t>
            </a:r>
            <a:r>
              <a:rPr lang="en-US" sz="2400" b="0" i="0" u="none" strike="noStrike" cap="none">
                <a:solidFill>
                  <a:srgbClr val="333344"/>
                </a:solidFill>
                <a:latin typeface="Calibri"/>
                <a:ea typeface="Calibri"/>
                <a:cs typeface="Calibri"/>
                <a:sym typeface="Calibri"/>
              </a:rPr>
              <a: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00"/>
        <p:cNvGrpSpPr/>
        <p:nvPr/>
      </p:nvGrpSpPr>
      <p:grpSpPr>
        <a:xfrm>
          <a:off x="0" y="0"/>
          <a:ext cx="0" cy="0"/>
          <a:chOff x="0" y="0"/>
          <a:chExt cx="0" cy="0"/>
        </a:xfrm>
      </p:grpSpPr>
      <p:sp>
        <p:nvSpPr>
          <p:cNvPr id="101" name="Google Shape;101;p3"/>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i="0" u="none" strike="noStrike" cap="none">
                <a:solidFill>
                  <a:srgbClr val="5B21B6"/>
                </a:solidFill>
                <a:latin typeface="Calibri"/>
                <a:ea typeface="Calibri"/>
                <a:cs typeface="Calibri"/>
                <a:sym typeface="Calibri"/>
              </a:rPr>
              <a:t>?</a:t>
            </a:r>
            <a:endParaRPr/>
          </a:p>
        </p:txBody>
      </p:sp>
      <p:sp>
        <p:nvSpPr>
          <p:cNvPr id="102" name="Google Shape;102;p3"/>
          <p:cNvSpPr txBox="1"/>
          <p:nvPr/>
        </p:nvSpPr>
        <p:spPr>
          <a:xfrm>
            <a:off x="1371600" y="2011680"/>
            <a:ext cx="94484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i="0" u="none" strike="noStrike" cap="none">
                <a:solidFill>
                  <a:srgbClr val="1A1A2E"/>
                </a:solidFill>
                <a:latin typeface="Calibri"/>
                <a:ea typeface="Calibri"/>
                <a:cs typeface="Calibri"/>
                <a:sym typeface="Calibri"/>
              </a:rPr>
              <a:t>A SQLite database is a single file on disk.</a:t>
            </a:r>
            <a:br>
              <a:rPr lang="en-US" sz="3400" b="1" i="0" u="none" strike="noStrike" cap="none">
                <a:solidFill>
                  <a:srgbClr val="1A1A2E"/>
                </a:solidFill>
                <a:latin typeface="Calibri"/>
                <a:ea typeface="Calibri"/>
                <a:cs typeface="Calibri"/>
                <a:sym typeface="Calibri"/>
              </a:rPr>
            </a:br>
            <a:r>
              <a:rPr lang="en-US" sz="3400" b="1" i="0" u="none" strike="noStrike" cap="none">
                <a:solidFill>
                  <a:srgbClr val="1A1A2E"/>
                </a:solidFill>
                <a:latin typeface="Calibri"/>
                <a:ea typeface="Calibri"/>
                <a:cs typeface="Calibri"/>
                <a:sym typeface="Calibri"/>
              </a:rPr>
              <a:t>So how does it possibly solve any of these problems?</a:t>
            </a:r>
            <a:endParaRPr/>
          </a:p>
        </p:txBody>
      </p:sp>
      <p:sp>
        <p:nvSpPr>
          <p:cNvPr id="103" name="Google Shape;103;p3"/>
          <p:cNvSpPr txBox="1"/>
          <p:nvPr/>
        </p:nvSpPr>
        <p:spPr>
          <a:xfrm>
            <a:off x="1828800" y="4572000"/>
            <a:ext cx="853409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200" b="0" i="0" u="none" strike="noStrike" cap="none">
                <a:solidFill>
                  <a:srgbClr val="666677"/>
                </a:solidFill>
                <a:latin typeface="Calibri"/>
                <a:ea typeface="Calibri"/>
                <a:cs typeface="Calibri"/>
                <a:sym typeface="Calibri"/>
              </a:rPr>
              <a:t>A .db file is just bytes, like a JSON file is just bytes.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08"/>
        <p:cNvGrpSpPr/>
        <p:nvPr/>
      </p:nvGrpSpPr>
      <p:grpSpPr>
        <a:xfrm>
          <a:off x="0" y="0"/>
          <a:ext cx="0" cy="0"/>
          <a:chOff x="0" y="0"/>
          <a:chExt cx="0" cy="0"/>
        </a:xfrm>
      </p:grpSpPr>
      <p:sp>
        <p:nvSpPr>
          <p:cNvPr id="109" name="Google Shape;109;p4"/>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Inside the .db File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4"/>
        <p:cNvGrpSpPr/>
        <p:nvPr/>
      </p:nvGrpSpPr>
      <p:grpSpPr>
        <a:xfrm>
          <a:off x="0" y="0"/>
          <a:ext cx="0" cy="0"/>
          <a:chOff x="0" y="0"/>
          <a:chExt cx="0" cy="0"/>
        </a:xfrm>
      </p:grpSpPr>
      <p:sp>
        <p:nvSpPr>
          <p:cNvPr id="115" name="Google Shape;115;p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Pages: a file you can rewrite in pieces</a:t>
            </a:r>
            <a:endParaRPr/>
          </a:p>
        </p:txBody>
      </p:sp>
      <p:sp>
        <p:nvSpPr>
          <p:cNvPr id="116" name="Google Shape;116;p5"/>
          <p:cNvSpPr txBox="1"/>
          <p:nvPr/>
        </p:nvSpPr>
        <p:spPr>
          <a:xfrm>
            <a:off x="914400" y="1463040"/>
            <a:ext cx="10362900" cy="511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SQLite file isn't one big blob. It's sliced into </a:t>
            </a:r>
            <a:r>
              <a:rPr lang="en-US" sz="2400" b="1" i="0" u="none" strike="noStrike" cap="none">
                <a:solidFill>
                  <a:srgbClr val="333344"/>
                </a:solidFill>
                <a:latin typeface="Calibri"/>
                <a:ea typeface="Calibri"/>
                <a:cs typeface="Calibri"/>
                <a:sym typeface="Calibri"/>
              </a:rPr>
              <a:t>pages</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Default page size: </a:t>
            </a:r>
            <a:r>
              <a:rPr lang="en-US" sz="2000" b="1" i="0" u="none" strike="noStrike" cap="none">
                <a:solidFill>
                  <a:srgbClr val="666677"/>
                </a:solidFill>
                <a:latin typeface="Calibri"/>
                <a:ea typeface="Calibri"/>
                <a:cs typeface="Calibri"/>
                <a:sym typeface="Calibri"/>
              </a:rPr>
              <a:t>4 KB</a:t>
            </a:r>
            <a:r>
              <a:rPr lang="en-US" sz="2000" b="0" i="0" u="none" strike="noStrike" cap="none">
                <a:solidFill>
                  <a:srgbClr val="666677"/>
                </a:solidFill>
                <a:latin typeface="Calibri"/>
                <a:ea typeface="Calibri"/>
                <a:cs typeface="Calibri"/>
                <a:sym typeface="Calibri"/>
              </a:rPr>
              <a:t>, each page numbered (1, 2, 3,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DB can read or write any single page without touching the rest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Compare to our JSON chat store: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Add one message - rewrite the entire 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Update one field - rewrite the entire file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With pages: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Add one row - rewrite one or two pages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Update one field - rewrite one page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1"/>
        <p:cNvGrpSpPr/>
        <p:nvPr/>
      </p:nvGrpSpPr>
      <p:grpSpPr>
        <a:xfrm>
          <a:off x="0" y="0"/>
          <a:ext cx="0" cy="0"/>
          <a:chOff x="0" y="0"/>
          <a:chExt cx="0" cy="0"/>
        </a:xfrm>
      </p:grpSpPr>
      <p:sp>
        <p:nvSpPr>
          <p:cNvPr id="122" name="Google Shape;122;p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B-trees: finding one row without scanning all of them</a:t>
            </a:r>
            <a:endParaRPr/>
          </a:p>
        </p:txBody>
      </p:sp>
      <p:sp>
        <p:nvSpPr>
          <p:cNvPr id="123" name="Google Shape;123;p6"/>
          <p:cNvSpPr txBox="1"/>
          <p:nvPr/>
        </p:nvSpPr>
        <p:spPr>
          <a:xfrm>
            <a:off x="914400" y="1463040"/>
            <a:ext cx="10362900" cy="3632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How does the DB find a row by id without reading every page?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 keeps an </a:t>
            </a:r>
            <a:r>
              <a:rPr lang="en-US" sz="2400" b="1" i="0" u="none" strike="noStrike" cap="none">
                <a:solidFill>
                  <a:srgbClr val="333344"/>
                </a:solidFill>
                <a:latin typeface="Calibri"/>
                <a:ea typeface="Calibri"/>
                <a:cs typeface="Calibri"/>
                <a:sym typeface="Calibri"/>
              </a:rPr>
              <a:t>index</a:t>
            </a:r>
            <a:r>
              <a:rPr lang="en-US" sz="2400" b="0" i="0" u="none" strike="noStrike" cap="none">
                <a:solidFill>
                  <a:srgbClr val="333344"/>
                </a:solidFill>
                <a:latin typeface="Calibri"/>
                <a:ea typeface="Calibri"/>
                <a:cs typeface="Calibri"/>
                <a:sym typeface="Calibri"/>
              </a:rPr>
              <a:t>: a tree structure built from pages.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Each node holds a range of keys + pointers to child pages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Lookup walks from root - internal node - leaf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Each step eliminates most of the data</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B-tree</a:t>
            </a:r>
            <a:r>
              <a:rPr lang="en-US" sz="2400" b="0" i="0" u="none" strike="noStrike" cap="none">
                <a:solidFill>
                  <a:srgbClr val="333344"/>
                </a:solidFill>
                <a:latin typeface="Calibri"/>
                <a:ea typeface="Calibri"/>
                <a:cs typeface="Calibri"/>
                <a:sym typeface="Calibri"/>
              </a:rPr>
              <a:t> = balanced tree (not </a:t>
            </a:r>
            <a:r>
              <a:rPr lang="en-US" sz="2400">
                <a:solidFill>
                  <a:srgbClr val="333344"/>
                </a:solidFill>
                <a:latin typeface="Calibri"/>
                <a:ea typeface="Calibri"/>
                <a:cs typeface="Calibri"/>
                <a:sym typeface="Calibri"/>
              </a:rPr>
              <a:t>“binary” tree)</a:t>
            </a:r>
            <a:r>
              <a:rPr lang="en-US" sz="2400" b="0" i="0" u="none" strike="noStrike" cap="none">
                <a:solidFill>
                  <a:srgbClr val="333344"/>
                </a:solidFill>
                <a:latin typeface="Calibri"/>
                <a:ea typeface="Calibri"/>
                <a:cs typeface="Calibri"/>
                <a:sym typeface="Calibri"/>
              </a:rPr>
              <a:t>, optimized for disk access.</a:t>
            </a:r>
            <a:endParaRPr/>
          </a:p>
          <a:p>
            <a:pPr marL="0" marR="0" lvl="0" indent="0" algn="l" rtl="0">
              <a:spcBef>
                <a:spcPts val="60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8"/>
        <p:cNvGrpSpPr/>
        <p:nvPr/>
      </p:nvGrpSpPr>
      <p:grpSpPr>
        <a:xfrm>
          <a:off x="0" y="0"/>
          <a:ext cx="0" cy="0"/>
          <a:chOff x="0" y="0"/>
          <a:chExt cx="0" cy="0"/>
        </a:xfrm>
      </p:grpSpPr>
      <p:sp>
        <p:nvSpPr>
          <p:cNvPr id="129" name="Google Shape;129;g3de08d210b0_0_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B-trees: finding one row without scanning all of them</a:t>
            </a:r>
            <a:endParaRPr/>
          </a:p>
        </p:txBody>
      </p:sp>
      <p:sp>
        <p:nvSpPr>
          <p:cNvPr id="130" name="Google Shape;130;g3de08d210b0_0_0"/>
          <p:cNvSpPr txBox="1"/>
          <p:nvPr/>
        </p:nvSpPr>
        <p:spPr>
          <a:xfrm>
            <a:off x="914400" y="1463040"/>
            <a:ext cx="10362900" cy="20625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How fast?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 million rows - ~</a:t>
            </a:r>
            <a:r>
              <a:rPr lang="en-US" sz="2000">
                <a:solidFill>
                  <a:srgbClr val="666677"/>
                </a:solidFill>
                <a:latin typeface="Calibri"/>
                <a:ea typeface="Calibri"/>
                <a:cs typeface="Calibri"/>
                <a:sym typeface="Calibri"/>
              </a:rPr>
              <a:t>3 or 4</a:t>
            </a:r>
            <a:r>
              <a:rPr lang="en-US" sz="2000" b="0" i="0" u="none" strike="noStrike" cap="none">
                <a:solidFill>
                  <a:srgbClr val="666677"/>
                </a:solidFill>
                <a:latin typeface="Calibri"/>
                <a:ea typeface="Calibri"/>
                <a:cs typeface="Calibri"/>
                <a:sym typeface="Calibri"/>
              </a:rPr>
              <a:t> hops down the tree</a:t>
            </a:r>
            <a:r>
              <a:rPr lang="en-US" sz="2000">
                <a:solidFill>
                  <a:srgbClr val="666677"/>
                </a:solidFill>
                <a:latin typeface="Calibri"/>
                <a:ea typeface="Calibri"/>
                <a:cs typeface="Calibri"/>
                <a:sym typeface="Calibri"/>
              </a:rPr>
              <a:t> if each index page holds ~100 keys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vs. 1 million sequential reads in a JSON file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log</a:t>
            </a:r>
            <a:r>
              <a:rPr lang="en-US" sz="2400" b="0" i="0" u="none" strike="noStrike" cap="none" baseline="-25000">
                <a:solidFill>
                  <a:srgbClr val="333344"/>
                </a:solidFill>
                <a:latin typeface="Calibri"/>
                <a:ea typeface="Calibri"/>
                <a:cs typeface="Calibri"/>
                <a:sym typeface="Calibri"/>
              </a:rPr>
              <a:t>~100</a:t>
            </a:r>
            <a:r>
              <a:rPr lang="en-US" sz="2400" b="0" i="0" u="none" strike="noStrike" cap="none">
                <a:solidFill>
                  <a:srgbClr val="333344"/>
                </a:solidFill>
                <a:latin typeface="Calibri"/>
                <a:ea typeface="Calibri"/>
                <a:cs typeface="Calibri"/>
                <a:sym typeface="Calibri"/>
              </a:rPr>
              <a:t>(n) instead of 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5"/>
        <p:cNvGrpSpPr/>
        <p:nvPr/>
      </p:nvGrpSpPr>
      <p:grpSpPr>
        <a:xfrm>
          <a:off x="0" y="0"/>
          <a:ext cx="0" cy="0"/>
          <a:chOff x="0" y="0"/>
          <a:chExt cx="0" cy="0"/>
        </a:xfrm>
      </p:grpSpPr>
      <p:sp>
        <p:nvSpPr>
          <p:cNvPr id="136" name="Google Shape;136;g3de08d210b0_0_82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B-trees: finding one row without scanning all of them</a:t>
            </a:r>
            <a:endParaRPr/>
          </a:p>
        </p:txBody>
      </p:sp>
      <p:sp>
        <p:nvSpPr>
          <p:cNvPr id="137" name="Google Shape;137;g3de08d210b0_0_820"/>
          <p:cNvSpPr txBox="1"/>
          <p:nvPr/>
        </p:nvSpPr>
        <p:spPr>
          <a:xfrm>
            <a:off x="914400" y="1463040"/>
            <a:ext cx="10362900" cy="20625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How fast?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 million rows - ~</a:t>
            </a:r>
            <a:r>
              <a:rPr lang="en-US" sz="2000">
                <a:solidFill>
                  <a:srgbClr val="666677"/>
                </a:solidFill>
                <a:latin typeface="Calibri"/>
                <a:ea typeface="Calibri"/>
                <a:cs typeface="Calibri"/>
                <a:sym typeface="Calibri"/>
              </a:rPr>
              <a:t>3 or 4</a:t>
            </a:r>
            <a:r>
              <a:rPr lang="en-US" sz="2000" b="0" i="0" u="none" strike="noStrike" cap="none">
                <a:solidFill>
                  <a:srgbClr val="666677"/>
                </a:solidFill>
                <a:latin typeface="Calibri"/>
                <a:ea typeface="Calibri"/>
                <a:cs typeface="Calibri"/>
                <a:sym typeface="Calibri"/>
              </a:rPr>
              <a:t> hops down the tree</a:t>
            </a:r>
            <a:r>
              <a:rPr lang="en-US" sz="2000">
                <a:solidFill>
                  <a:srgbClr val="666677"/>
                </a:solidFill>
                <a:latin typeface="Calibri"/>
                <a:ea typeface="Calibri"/>
                <a:cs typeface="Calibri"/>
                <a:sym typeface="Calibri"/>
              </a:rPr>
              <a:t> if each index page holds ~100 keys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vs. 1 million sequential reads in a JSON file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log</a:t>
            </a:r>
            <a:r>
              <a:rPr lang="en-US" sz="2400" b="0" i="0" u="none" strike="noStrike" cap="none" baseline="-25000">
                <a:solidFill>
                  <a:srgbClr val="333344"/>
                </a:solidFill>
                <a:latin typeface="Calibri"/>
                <a:ea typeface="Calibri"/>
                <a:cs typeface="Calibri"/>
                <a:sym typeface="Calibri"/>
              </a:rPr>
              <a:t>~100</a:t>
            </a:r>
            <a:r>
              <a:rPr lang="en-US" sz="2400" b="0" i="0" u="none" strike="noStrike" cap="none">
                <a:solidFill>
                  <a:srgbClr val="333344"/>
                </a:solidFill>
                <a:latin typeface="Calibri"/>
                <a:ea typeface="Calibri"/>
                <a:cs typeface="Calibri"/>
                <a:sym typeface="Calibri"/>
              </a:rPr>
              <a:t>(n) instead of n</a:t>
            </a:r>
            <a:r>
              <a:rPr lang="en-US" sz="2400">
                <a:solidFill>
                  <a:srgbClr val="333344"/>
                </a:solidFill>
                <a:latin typeface="Calibri"/>
                <a:ea typeface="Calibri"/>
                <a:cs typeface="Calibri"/>
                <a:sym typeface="Calibri"/>
              </a:rPr>
              <a:t>…still log(n), but constant factors do matter</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2"/>
        <p:cNvGrpSpPr/>
        <p:nvPr/>
      </p:nvGrpSpPr>
      <p:grpSpPr>
        <a:xfrm>
          <a:off x="0" y="0"/>
          <a:ext cx="0" cy="0"/>
          <a:chOff x="0" y="0"/>
          <a:chExt cx="0" cy="0"/>
        </a:xfrm>
      </p:grpSpPr>
      <p:sp>
        <p:nvSpPr>
          <p:cNvPr id="143" name="Google Shape;143;p7"/>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B-tree, pictured</a:t>
            </a:r>
            <a:endParaRPr/>
          </a:p>
        </p:txBody>
      </p:sp>
      <p:sp>
        <p:nvSpPr>
          <p:cNvPr id="144" name="Google Shape;144;p7"/>
          <p:cNvSpPr/>
          <p:nvPr/>
        </p:nvSpPr>
        <p:spPr>
          <a:xfrm>
            <a:off x="2523000" y="1554475"/>
            <a:ext cx="7064400" cy="731400"/>
          </a:xfrm>
          <a:prstGeom prst="roundRect">
            <a:avLst>
              <a:gd name="adj" fmla="val 16667"/>
            </a:avLst>
          </a:prstGeom>
          <a:solidFill>
            <a:srgbClr val="FED7AA"/>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300" b="1" i="0" u="none" strike="noStrike" cap="none">
                <a:solidFill>
                  <a:srgbClr val="EA580C"/>
                </a:solidFill>
                <a:latin typeface="Calibri"/>
                <a:ea typeface="Calibri"/>
                <a:cs typeface="Calibri"/>
                <a:sym typeface="Calibri"/>
              </a:rPr>
              <a:t>Root</a:t>
            </a:r>
            <a:br>
              <a:rPr lang="en-US" sz="1300" b="1" i="0" u="none" strike="noStrike" cap="none">
                <a:solidFill>
                  <a:srgbClr val="EA580C"/>
                </a:solidFill>
                <a:latin typeface="Calibri"/>
                <a:ea typeface="Calibri"/>
                <a:cs typeface="Calibri"/>
                <a:sym typeface="Calibri"/>
              </a:rPr>
            </a:br>
            <a:r>
              <a:rPr lang="en-US" sz="1300" b="1" i="0" u="none" strike="noStrike" cap="none">
                <a:solidFill>
                  <a:srgbClr val="EA580C"/>
                </a:solidFill>
                <a:latin typeface="Calibri"/>
                <a:ea typeface="Calibri"/>
                <a:cs typeface="Calibri"/>
                <a:sym typeface="Calibri"/>
              </a:rPr>
              <a:t>keys 1 - 1,000,000</a:t>
            </a:r>
            <a:endParaRPr/>
          </a:p>
        </p:txBody>
      </p:sp>
      <p:sp>
        <p:nvSpPr>
          <p:cNvPr id="145" name="Google Shape;145;p7"/>
          <p:cNvSpPr/>
          <p:nvPr/>
        </p:nvSpPr>
        <p:spPr>
          <a:xfrm>
            <a:off x="2777686" y="2445910"/>
            <a:ext cx="274200" cy="41160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6" name="Google Shape;146;p7"/>
          <p:cNvSpPr/>
          <p:nvPr/>
        </p:nvSpPr>
        <p:spPr>
          <a:xfrm>
            <a:off x="5957316" y="2423160"/>
            <a:ext cx="274320" cy="411480"/>
          </a:xfrm>
          <a:prstGeom prst="downArrow">
            <a:avLst>
              <a:gd name="adj1" fmla="val 50000"/>
              <a:gd name="adj2" fmla="val 50000"/>
            </a:avLst>
          </a:prstGeom>
          <a:solidFill>
            <a:srgbClr val="EA580C"/>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7" name="Google Shape;147;p7"/>
          <p:cNvSpPr/>
          <p:nvPr/>
        </p:nvSpPr>
        <p:spPr>
          <a:xfrm>
            <a:off x="9137070" y="2445960"/>
            <a:ext cx="274200" cy="41160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8" name="Google Shape;148;p7"/>
          <p:cNvSpPr/>
          <p:nvPr/>
        </p:nvSpPr>
        <p:spPr>
          <a:xfrm>
            <a:off x="751636" y="3017520"/>
            <a:ext cx="2560320" cy="73152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300" b="1" i="0" u="none" strike="noStrike" cap="none">
                <a:solidFill>
                  <a:srgbClr val="1D4ED8"/>
                </a:solidFill>
                <a:latin typeface="Calibri"/>
                <a:ea typeface="Calibri"/>
                <a:cs typeface="Calibri"/>
                <a:sym typeface="Calibri"/>
              </a:rPr>
              <a:t>Internal</a:t>
            </a:r>
            <a:br>
              <a:rPr lang="en-US" sz="1300" b="1" i="0" u="none" strike="noStrike" cap="none">
                <a:solidFill>
                  <a:srgbClr val="1D4ED8"/>
                </a:solidFill>
                <a:latin typeface="Calibri"/>
                <a:ea typeface="Calibri"/>
                <a:cs typeface="Calibri"/>
                <a:sym typeface="Calibri"/>
              </a:rPr>
            </a:br>
            <a:r>
              <a:rPr lang="en-US" sz="1300" b="1" i="0" u="none" strike="noStrike" cap="none">
                <a:solidFill>
                  <a:srgbClr val="1D4ED8"/>
                </a:solidFill>
                <a:latin typeface="Calibri"/>
                <a:ea typeface="Calibri"/>
                <a:cs typeface="Calibri"/>
                <a:sym typeface="Calibri"/>
              </a:rPr>
              <a:t>1 - 333k</a:t>
            </a:r>
            <a:endParaRPr/>
          </a:p>
        </p:txBody>
      </p:sp>
      <p:sp>
        <p:nvSpPr>
          <p:cNvPr id="149" name="Google Shape;149;p7"/>
          <p:cNvSpPr/>
          <p:nvPr/>
        </p:nvSpPr>
        <p:spPr>
          <a:xfrm>
            <a:off x="4814316" y="3017520"/>
            <a:ext cx="2560320" cy="731520"/>
          </a:xfrm>
          <a:prstGeom prst="roundRect">
            <a:avLst>
              <a:gd name="adj" fmla="val 16667"/>
            </a:avLst>
          </a:prstGeom>
          <a:solidFill>
            <a:srgbClr val="FED7AA"/>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300" b="1" i="0" u="none" strike="noStrike" cap="none">
                <a:solidFill>
                  <a:srgbClr val="EA580C"/>
                </a:solidFill>
                <a:latin typeface="Calibri"/>
                <a:ea typeface="Calibri"/>
                <a:cs typeface="Calibri"/>
                <a:sym typeface="Calibri"/>
              </a:rPr>
              <a:t>Internal</a:t>
            </a:r>
            <a:br>
              <a:rPr lang="en-US" sz="1300" b="1" i="0" u="none" strike="noStrike" cap="none">
                <a:solidFill>
                  <a:srgbClr val="EA580C"/>
                </a:solidFill>
                <a:latin typeface="Calibri"/>
                <a:ea typeface="Calibri"/>
                <a:cs typeface="Calibri"/>
                <a:sym typeface="Calibri"/>
              </a:rPr>
            </a:br>
            <a:r>
              <a:rPr lang="en-US" sz="1300" b="1" i="0" u="none" strike="noStrike" cap="none">
                <a:solidFill>
                  <a:srgbClr val="EA580C"/>
                </a:solidFill>
                <a:latin typeface="Calibri"/>
                <a:ea typeface="Calibri"/>
                <a:cs typeface="Calibri"/>
                <a:sym typeface="Calibri"/>
              </a:rPr>
              <a:t>334k - 666k</a:t>
            </a:r>
            <a:endParaRPr/>
          </a:p>
        </p:txBody>
      </p:sp>
      <p:sp>
        <p:nvSpPr>
          <p:cNvPr id="150" name="Google Shape;150;p7"/>
          <p:cNvSpPr/>
          <p:nvPr/>
        </p:nvSpPr>
        <p:spPr>
          <a:xfrm>
            <a:off x="8876995" y="3017520"/>
            <a:ext cx="2560320" cy="73152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300" b="1" i="0" u="none" strike="noStrike" cap="none">
                <a:solidFill>
                  <a:srgbClr val="1D4ED8"/>
                </a:solidFill>
                <a:latin typeface="Calibri"/>
                <a:ea typeface="Calibri"/>
                <a:cs typeface="Calibri"/>
                <a:sym typeface="Calibri"/>
              </a:rPr>
              <a:t>Internal</a:t>
            </a:r>
            <a:br>
              <a:rPr lang="en-US" sz="1300" b="1" i="0" u="none" strike="noStrike" cap="none">
                <a:solidFill>
                  <a:srgbClr val="1D4ED8"/>
                </a:solidFill>
                <a:latin typeface="Calibri"/>
                <a:ea typeface="Calibri"/>
                <a:cs typeface="Calibri"/>
                <a:sym typeface="Calibri"/>
              </a:rPr>
            </a:br>
            <a:r>
              <a:rPr lang="en-US" sz="1300" b="1" i="0" u="none" strike="noStrike" cap="none">
                <a:solidFill>
                  <a:srgbClr val="1D4ED8"/>
                </a:solidFill>
                <a:latin typeface="Calibri"/>
                <a:ea typeface="Calibri"/>
                <a:cs typeface="Calibri"/>
                <a:sym typeface="Calibri"/>
              </a:rPr>
              <a:t>667k - 1M</a:t>
            </a:r>
            <a:endParaRPr/>
          </a:p>
        </p:txBody>
      </p:sp>
      <p:sp>
        <p:nvSpPr>
          <p:cNvPr id="151" name="Google Shape;151;p7"/>
          <p:cNvSpPr/>
          <p:nvPr/>
        </p:nvSpPr>
        <p:spPr>
          <a:xfrm>
            <a:off x="878738" y="3886200"/>
            <a:ext cx="274320" cy="41148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2" name="Google Shape;152;p7"/>
          <p:cNvSpPr/>
          <p:nvPr/>
        </p:nvSpPr>
        <p:spPr>
          <a:xfrm>
            <a:off x="2910535" y="3886200"/>
            <a:ext cx="274320" cy="41148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3" name="Google Shape;153;p7"/>
          <p:cNvSpPr/>
          <p:nvPr/>
        </p:nvSpPr>
        <p:spPr>
          <a:xfrm>
            <a:off x="4942331" y="3886200"/>
            <a:ext cx="274320" cy="41148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4" name="Google Shape;154;p7"/>
          <p:cNvSpPr/>
          <p:nvPr/>
        </p:nvSpPr>
        <p:spPr>
          <a:xfrm>
            <a:off x="6973214" y="3886200"/>
            <a:ext cx="274320" cy="411480"/>
          </a:xfrm>
          <a:prstGeom prst="downArrow">
            <a:avLst>
              <a:gd name="adj1" fmla="val 50000"/>
              <a:gd name="adj2" fmla="val 50000"/>
            </a:avLst>
          </a:prstGeom>
          <a:solidFill>
            <a:srgbClr val="EA580C"/>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5" name="Google Shape;155;p7"/>
          <p:cNvSpPr/>
          <p:nvPr/>
        </p:nvSpPr>
        <p:spPr>
          <a:xfrm>
            <a:off x="9005011" y="3886200"/>
            <a:ext cx="274320" cy="41148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6" name="Google Shape;156;p7"/>
          <p:cNvSpPr/>
          <p:nvPr/>
        </p:nvSpPr>
        <p:spPr>
          <a:xfrm>
            <a:off x="11035893" y="3886200"/>
            <a:ext cx="274320" cy="41148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7" name="Google Shape;157;p7"/>
          <p:cNvSpPr/>
          <p:nvPr/>
        </p:nvSpPr>
        <p:spPr>
          <a:xfrm>
            <a:off x="170078" y="4480560"/>
            <a:ext cx="1691640" cy="77724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1D4ED8"/>
                </a:solidFill>
                <a:latin typeface="Calibri"/>
                <a:ea typeface="Calibri"/>
                <a:cs typeface="Calibri"/>
                <a:sym typeface="Calibri"/>
              </a:rPr>
              <a:t>Leaf</a:t>
            </a:r>
            <a:br>
              <a:rPr lang="en-US" sz="1200" b="1" i="0" u="none" strike="noStrike" cap="none">
                <a:solidFill>
                  <a:srgbClr val="1D4ED8"/>
                </a:solidFill>
                <a:latin typeface="Calibri"/>
                <a:ea typeface="Calibri"/>
                <a:cs typeface="Calibri"/>
                <a:sym typeface="Calibri"/>
              </a:rPr>
            </a:br>
            <a:r>
              <a:rPr lang="en-US" sz="1200" b="1" i="0" u="none" strike="noStrike" cap="none">
                <a:solidFill>
                  <a:srgbClr val="1D4ED8"/>
                </a:solidFill>
                <a:latin typeface="Calibri"/>
                <a:ea typeface="Calibri"/>
                <a:cs typeface="Calibri"/>
                <a:sym typeface="Calibri"/>
              </a:rPr>
              <a:t>1 - 167k</a:t>
            </a:r>
            <a:endParaRPr/>
          </a:p>
        </p:txBody>
      </p:sp>
      <p:sp>
        <p:nvSpPr>
          <p:cNvPr id="158" name="Google Shape;158;p7"/>
          <p:cNvSpPr/>
          <p:nvPr/>
        </p:nvSpPr>
        <p:spPr>
          <a:xfrm>
            <a:off x="2201875" y="4480560"/>
            <a:ext cx="1691640" cy="77724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1D4ED8"/>
                </a:solidFill>
                <a:latin typeface="Calibri"/>
                <a:ea typeface="Calibri"/>
                <a:cs typeface="Calibri"/>
                <a:sym typeface="Calibri"/>
              </a:rPr>
              <a:t>Leaf</a:t>
            </a:r>
            <a:br>
              <a:rPr lang="en-US" sz="1200" b="1" i="0" u="none" strike="noStrike" cap="none">
                <a:solidFill>
                  <a:srgbClr val="1D4ED8"/>
                </a:solidFill>
                <a:latin typeface="Calibri"/>
                <a:ea typeface="Calibri"/>
                <a:cs typeface="Calibri"/>
                <a:sym typeface="Calibri"/>
              </a:rPr>
            </a:br>
            <a:r>
              <a:rPr lang="en-US" sz="1200" b="1" i="0" u="none" strike="noStrike" cap="none">
                <a:solidFill>
                  <a:srgbClr val="1D4ED8"/>
                </a:solidFill>
                <a:latin typeface="Calibri"/>
                <a:ea typeface="Calibri"/>
                <a:cs typeface="Calibri"/>
                <a:sym typeface="Calibri"/>
              </a:rPr>
              <a:t>168k - 333k</a:t>
            </a:r>
            <a:endParaRPr/>
          </a:p>
        </p:txBody>
      </p:sp>
      <p:sp>
        <p:nvSpPr>
          <p:cNvPr id="159" name="Google Shape;159;p7"/>
          <p:cNvSpPr/>
          <p:nvPr/>
        </p:nvSpPr>
        <p:spPr>
          <a:xfrm>
            <a:off x="4233672" y="4480560"/>
            <a:ext cx="1691640" cy="77724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1D4ED8"/>
                </a:solidFill>
                <a:latin typeface="Calibri"/>
                <a:ea typeface="Calibri"/>
                <a:cs typeface="Calibri"/>
                <a:sym typeface="Calibri"/>
              </a:rPr>
              <a:t>Leaf</a:t>
            </a:r>
            <a:br>
              <a:rPr lang="en-US" sz="1200" b="1" i="0" u="none" strike="noStrike" cap="none">
                <a:solidFill>
                  <a:srgbClr val="1D4ED8"/>
                </a:solidFill>
                <a:latin typeface="Calibri"/>
                <a:ea typeface="Calibri"/>
                <a:cs typeface="Calibri"/>
                <a:sym typeface="Calibri"/>
              </a:rPr>
            </a:br>
            <a:r>
              <a:rPr lang="en-US" sz="1200" b="1" i="0" u="none" strike="noStrike" cap="none">
                <a:solidFill>
                  <a:srgbClr val="1D4ED8"/>
                </a:solidFill>
                <a:latin typeface="Calibri"/>
                <a:ea typeface="Calibri"/>
                <a:cs typeface="Calibri"/>
                <a:sym typeface="Calibri"/>
              </a:rPr>
              <a:t>334k - 500k</a:t>
            </a:r>
            <a:endParaRPr/>
          </a:p>
        </p:txBody>
      </p:sp>
      <p:sp>
        <p:nvSpPr>
          <p:cNvPr id="160" name="Google Shape;160;p7"/>
          <p:cNvSpPr/>
          <p:nvPr/>
        </p:nvSpPr>
        <p:spPr>
          <a:xfrm>
            <a:off x="6264554" y="4480560"/>
            <a:ext cx="1691640" cy="777240"/>
          </a:xfrm>
          <a:prstGeom prst="roundRect">
            <a:avLst>
              <a:gd name="adj" fmla="val 16667"/>
            </a:avLst>
          </a:prstGeom>
          <a:solidFill>
            <a:srgbClr val="FED7AA"/>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EA580C"/>
                </a:solidFill>
                <a:latin typeface="Calibri"/>
                <a:ea typeface="Calibri"/>
                <a:cs typeface="Calibri"/>
                <a:sym typeface="Calibri"/>
              </a:rPr>
              <a:t>Leaf</a:t>
            </a:r>
            <a:br>
              <a:rPr lang="en-US" sz="1200" b="1" i="0" u="none" strike="noStrike" cap="none">
                <a:solidFill>
                  <a:srgbClr val="EA580C"/>
                </a:solidFill>
                <a:latin typeface="Calibri"/>
                <a:ea typeface="Calibri"/>
                <a:cs typeface="Calibri"/>
                <a:sym typeface="Calibri"/>
              </a:rPr>
            </a:br>
            <a:r>
              <a:rPr lang="en-US" sz="1200" b="1" i="0" u="none" strike="noStrike" cap="none">
                <a:solidFill>
                  <a:srgbClr val="EA580C"/>
                </a:solidFill>
                <a:latin typeface="Calibri"/>
                <a:ea typeface="Calibri"/>
                <a:cs typeface="Calibri"/>
                <a:sym typeface="Calibri"/>
              </a:rPr>
              <a:t>501k - 666k</a:t>
            </a:r>
            <a:endParaRPr/>
          </a:p>
        </p:txBody>
      </p:sp>
      <p:sp>
        <p:nvSpPr>
          <p:cNvPr id="161" name="Google Shape;161;p7"/>
          <p:cNvSpPr/>
          <p:nvPr/>
        </p:nvSpPr>
        <p:spPr>
          <a:xfrm>
            <a:off x="8296351" y="4480560"/>
            <a:ext cx="1691640" cy="77724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1D4ED8"/>
                </a:solidFill>
                <a:latin typeface="Calibri"/>
                <a:ea typeface="Calibri"/>
                <a:cs typeface="Calibri"/>
                <a:sym typeface="Calibri"/>
              </a:rPr>
              <a:t>Leaf</a:t>
            </a:r>
            <a:br>
              <a:rPr lang="en-US" sz="1200" b="1" i="0" u="none" strike="noStrike" cap="none">
                <a:solidFill>
                  <a:srgbClr val="1D4ED8"/>
                </a:solidFill>
                <a:latin typeface="Calibri"/>
                <a:ea typeface="Calibri"/>
                <a:cs typeface="Calibri"/>
                <a:sym typeface="Calibri"/>
              </a:rPr>
            </a:br>
            <a:r>
              <a:rPr lang="en-US" sz="1200" b="1" i="0" u="none" strike="noStrike" cap="none">
                <a:solidFill>
                  <a:srgbClr val="1D4ED8"/>
                </a:solidFill>
                <a:latin typeface="Calibri"/>
                <a:ea typeface="Calibri"/>
                <a:cs typeface="Calibri"/>
                <a:sym typeface="Calibri"/>
              </a:rPr>
              <a:t>667k - 833k</a:t>
            </a:r>
            <a:endParaRPr/>
          </a:p>
        </p:txBody>
      </p:sp>
      <p:sp>
        <p:nvSpPr>
          <p:cNvPr id="162" name="Google Shape;162;p7"/>
          <p:cNvSpPr/>
          <p:nvPr/>
        </p:nvSpPr>
        <p:spPr>
          <a:xfrm>
            <a:off x="10327233" y="4480560"/>
            <a:ext cx="1691640" cy="77724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1D4ED8"/>
                </a:solidFill>
                <a:latin typeface="Calibri"/>
                <a:ea typeface="Calibri"/>
                <a:cs typeface="Calibri"/>
                <a:sym typeface="Calibri"/>
              </a:rPr>
              <a:t>Leaf</a:t>
            </a:r>
            <a:br>
              <a:rPr lang="en-US" sz="1200" b="1" i="0" u="none" strike="noStrike" cap="none">
                <a:solidFill>
                  <a:srgbClr val="1D4ED8"/>
                </a:solidFill>
                <a:latin typeface="Calibri"/>
                <a:ea typeface="Calibri"/>
                <a:cs typeface="Calibri"/>
                <a:sym typeface="Calibri"/>
              </a:rPr>
            </a:br>
            <a:r>
              <a:rPr lang="en-US" sz="1200" b="1" i="0" u="none" strike="noStrike" cap="none">
                <a:solidFill>
                  <a:srgbClr val="1D4ED8"/>
                </a:solidFill>
                <a:latin typeface="Calibri"/>
                <a:ea typeface="Calibri"/>
                <a:cs typeface="Calibri"/>
                <a:sym typeface="Calibri"/>
              </a:rPr>
              <a:t>834k - 1M</a:t>
            </a:r>
            <a:endParaRPr/>
          </a:p>
        </p:txBody>
      </p:sp>
      <p:sp>
        <p:nvSpPr>
          <p:cNvPr id="163" name="Google Shape;163;p7"/>
          <p:cNvSpPr txBox="1"/>
          <p:nvPr/>
        </p:nvSpPr>
        <p:spPr>
          <a:xfrm>
            <a:off x="457200" y="5852160"/>
            <a:ext cx="11247120" cy="4572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b="0" i="0" u="none" strike="noStrike" cap="none">
                <a:solidFill>
                  <a:srgbClr val="666677"/>
                </a:solidFill>
                <a:latin typeface="Calibri"/>
                <a:ea typeface="Calibri"/>
                <a:cs typeface="Calibri"/>
                <a:sym typeface="Calibri"/>
              </a:rPr>
              <a:t>Lookup id=600,000: 3 hops down the tree to find 1 row out of 1,000,000</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8"/>
        <p:cNvGrpSpPr/>
        <p:nvPr/>
      </p:nvGrpSpPr>
      <p:grpSpPr>
        <a:xfrm>
          <a:off x="0" y="0"/>
          <a:ext cx="0" cy="0"/>
          <a:chOff x="0" y="0"/>
          <a:chExt cx="0" cy="0"/>
        </a:xfrm>
      </p:grpSpPr>
      <p:sp>
        <p:nvSpPr>
          <p:cNvPr id="169" name="Google Shape;169;p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schema lives in the file</a:t>
            </a:r>
            <a:endParaRPr/>
          </a:p>
        </p:txBody>
      </p:sp>
      <p:sp>
        <p:nvSpPr>
          <p:cNvPr id="170" name="Google Shape;170;p8"/>
          <p:cNvSpPr txBox="1"/>
          <p:nvPr/>
        </p:nvSpPr>
        <p:spPr>
          <a:xfrm>
            <a:off x="834125" y="1210740"/>
            <a:ext cx="10362900" cy="5387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How does the database know what tables exist?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 stores its own table definitions in a special table: `sqlite_master`.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One row per table, view, or index in your database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Columns: name, type, sql (the original </a:t>
            </a:r>
            <a:r>
              <a:rPr lang="en-US" sz="2000" b="1" i="0" u="none" strike="noStrike" cap="none">
                <a:solidFill>
                  <a:srgbClr val="666677"/>
                </a:solidFill>
                <a:latin typeface="Courier Prime"/>
                <a:ea typeface="Courier Prime"/>
                <a:cs typeface="Courier Prime"/>
                <a:sym typeface="Courier Prime"/>
              </a:rPr>
              <a:t>CREATE TABLE</a:t>
            </a:r>
            <a:r>
              <a:rPr lang="en-US" sz="2000" b="0" i="0" u="none" strike="noStrike" cap="none">
                <a:solidFill>
                  <a:srgbClr val="666677"/>
                </a:solidFill>
                <a:latin typeface="Calibri"/>
                <a:ea typeface="Calibri"/>
                <a:cs typeface="Calibri"/>
                <a:sym typeface="Calibri"/>
              </a:rPr>
              <a:t> statement)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database describes itself.</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SELECT name, sql FROM sqlite_master WHERE type='table';</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Why it's cool: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DB enforces every constraint at write time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Typos and bad types fail loudly instead of silently corrupting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5"/>
        <p:cNvGrpSpPr/>
        <p:nvPr/>
      </p:nvGrpSpPr>
      <p:grpSpPr>
        <a:xfrm>
          <a:off x="0" y="0"/>
          <a:ext cx="0" cy="0"/>
          <a:chOff x="0" y="0"/>
          <a:chExt cx="0" cy="0"/>
        </a:xfrm>
      </p:grpSpPr>
      <p:sp>
        <p:nvSpPr>
          <p:cNvPr id="176" name="Google Shape;176;p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rollback journal: free crash safety</a:t>
            </a:r>
            <a:endParaRPr/>
          </a:p>
        </p:txBody>
      </p:sp>
      <p:sp>
        <p:nvSpPr>
          <p:cNvPr id="177" name="Google Shape;177;p9"/>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What if the power dies mid-write?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Before changing a page, SQLite copies the </a:t>
            </a:r>
            <a:r>
              <a:rPr lang="en-US" sz="2400" b="1" i="0" u="none" strike="noStrike" cap="none">
                <a:solidFill>
                  <a:srgbClr val="333344"/>
                </a:solidFill>
                <a:latin typeface="Calibri"/>
                <a:ea typeface="Calibri"/>
                <a:cs typeface="Calibri"/>
                <a:sym typeface="Calibri"/>
              </a:rPr>
              <a:t>old version</a:t>
            </a:r>
            <a:r>
              <a:rPr lang="en-US" sz="2400" b="0" i="0" u="none" strike="noStrike" cap="none">
                <a:solidFill>
                  <a:srgbClr val="333344"/>
                </a:solidFill>
                <a:latin typeface="Calibri"/>
                <a:ea typeface="Calibri"/>
                <a:cs typeface="Calibri"/>
                <a:sym typeface="Calibri"/>
              </a:rPr>
              <a:t> to a side 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`chat.db-journal`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Then it modifies the page in `chat.db`.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Write completes - delete the journal. Done.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Write is interrupted - next open, SQLite restores the old pages from the journal.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Either </a:t>
            </a:r>
            <a:r>
              <a:rPr lang="en-US" sz="2400" b="1" i="0" u="none" strike="noStrike" cap="none">
                <a:solidFill>
                  <a:srgbClr val="333344"/>
                </a:solidFill>
                <a:latin typeface="Calibri"/>
                <a:ea typeface="Calibri"/>
                <a:cs typeface="Calibri"/>
                <a:sym typeface="Calibri"/>
              </a:rPr>
              <a:t>all</a:t>
            </a:r>
            <a:r>
              <a:rPr lang="en-US" sz="2400" b="0" i="0" u="none" strike="noStrike" cap="none">
                <a:solidFill>
                  <a:srgbClr val="333344"/>
                </a:solidFill>
                <a:latin typeface="Calibri"/>
                <a:ea typeface="Calibri"/>
                <a:cs typeface="Calibri"/>
                <a:sym typeface="Calibri"/>
              </a:rPr>
              <a:t> of your changes happen, or </a:t>
            </a:r>
            <a:r>
              <a:rPr lang="en-US" sz="2400" b="1" i="0" u="none" strike="noStrike" cap="none">
                <a:solidFill>
                  <a:srgbClr val="333344"/>
                </a:solidFill>
                <a:latin typeface="Calibri"/>
                <a:ea typeface="Calibri"/>
                <a:cs typeface="Calibri"/>
                <a:sym typeface="Calibri"/>
              </a:rPr>
              <a:t>none</a:t>
            </a:r>
            <a:r>
              <a:rPr lang="en-US" sz="2400" b="0" i="0" u="none" strike="noStrike" cap="none">
                <a:solidFill>
                  <a:srgbClr val="333344"/>
                </a:solidFill>
                <a:latin typeface="Calibri"/>
                <a:ea typeface="Calibri"/>
                <a:cs typeface="Calibri"/>
                <a:sym typeface="Calibri"/>
              </a:rPr>
              <a:t> of them do.</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what people mean by </a:t>
            </a:r>
            <a:r>
              <a:rPr lang="en-US" sz="2400" b="1" i="0" u="none" strike="noStrike" cap="none">
                <a:solidFill>
                  <a:srgbClr val="333344"/>
                </a:solidFill>
                <a:latin typeface="Calibri"/>
                <a:ea typeface="Calibri"/>
                <a:cs typeface="Calibri"/>
                <a:sym typeface="Calibri"/>
              </a:rPr>
              <a:t>atomicity</a:t>
            </a:r>
            <a:r>
              <a:rPr lang="en-US" sz="2400" b="0" i="0" u="none" strike="noStrike" cap="none">
                <a:solidFill>
                  <a:srgbClr val="333344"/>
                </a:solidFill>
                <a:latin typeface="Calibri"/>
                <a:ea typeface="Calibri"/>
                <a:cs typeface="Calibri"/>
                <a:sym typeface="Calibri"/>
              </a:rPr>
              <a:t> - the 'A' in ACID.</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Free crash safety, courtesy of one extra file.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2"/>
        <p:cNvGrpSpPr/>
        <p:nvPr/>
      </p:nvGrpSpPr>
      <p:grpSpPr>
        <a:xfrm>
          <a:off x="0" y="0"/>
          <a:ext cx="0" cy="0"/>
          <a:chOff x="0" y="0"/>
          <a:chExt cx="0" cy="0"/>
        </a:xfrm>
      </p:grpSpPr>
      <p:sp>
        <p:nvSpPr>
          <p:cNvPr id="183" name="Google Shape;183;p1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File locks: the race condition, solved</a:t>
            </a:r>
            <a:endParaRPr/>
          </a:p>
        </p:txBody>
      </p:sp>
      <p:sp>
        <p:nvSpPr>
          <p:cNvPr id="184" name="Google Shape;184;p10"/>
          <p:cNvSpPr txBox="1"/>
          <p:nvPr/>
        </p:nvSpPr>
        <p:spPr>
          <a:xfrm>
            <a:off x="914400" y="1280140"/>
            <a:ext cx="10362900" cy="4725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Remember the race condition from last lecture?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Process A reads 5 messages. Process B reads 5 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Both append. Both write. One message is lost.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SQLite uses </a:t>
            </a:r>
            <a:r>
              <a:rPr lang="en-US" sz="2400" b="1" i="0" u="none" strike="noStrike" cap="none">
                <a:solidFill>
                  <a:srgbClr val="333344"/>
                </a:solidFill>
                <a:latin typeface="Calibri"/>
                <a:ea typeface="Calibri"/>
                <a:cs typeface="Calibri"/>
                <a:sym typeface="Calibri"/>
              </a:rPr>
              <a:t>OS file locks</a:t>
            </a:r>
            <a:r>
              <a:rPr lang="en-US" sz="2400" b="0" i="0" u="none" strike="noStrike" cap="none">
                <a:solidFill>
                  <a:srgbClr val="333344"/>
                </a:solidFill>
                <a:latin typeface="Calibri"/>
                <a:ea typeface="Calibri"/>
                <a:cs typeface="Calibri"/>
                <a:sym typeface="Calibri"/>
              </a:rPr>
              <a:t> to coordinate writers.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Process A asks the OS for an exclusive lock on `chat.db`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OS grants it. A writes.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Process B asks for the same lock. OS makes B </a:t>
            </a:r>
            <a:r>
              <a:rPr lang="en-US" sz="2000" b="1" i="0" u="none" strike="noStrike" cap="none">
                <a:solidFill>
                  <a:srgbClr val="666677"/>
                </a:solidFill>
                <a:latin typeface="Calibri"/>
                <a:ea typeface="Calibri"/>
                <a:cs typeface="Calibri"/>
                <a:sym typeface="Calibri"/>
              </a:rPr>
              <a:t>wait</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finishes, releases the lock. B acquires it, sees A's changes, then writes.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No race. No lost message.</a:t>
            </a:r>
            <a:endParaRPr/>
          </a:p>
          <a:p>
            <a:pPr marL="0" marR="0" lvl="0" indent="0" algn="l" rtl="0">
              <a:spcBef>
                <a:spcPts val="600"/>
              </a:spcBef>
              <a:spcAft>
                <a:spcPts val="0"/>
              </a:spcAft>
              <a:buNone/>
            </a:pP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9"/>
        <p:cNvGrpSpPr/>
        <p:nvPr/>
      </p:nvGrpSpPr>
      <p:grpSpPr>
        <a:xfrm>
          <a:off x="0" y="0"/>
          <a:ext cx="0" cy="0"/>
          <a:chOff x="0" y="0"/>
          <a:chExt cx="0" cy="0"/>
        </a:xfrm>
      </p:grpSpPr>
      <p:sp>
        <p:nvSpPr>
          <p:cNvPr id="190" name="Google Shape;190;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Same five problems. All solved.</a:t>
            </a:r>
            <a:endParaRPr/>
          </a:p>
        </p:txBody>
      </p:sp>
      <p:sp>
        <p:nvSpPr>
          <p:cNvPr id="191" name="Google Shape;191;p11"/>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1. </a:t>
            </a:r>
            <a:r>
              <a:rPr lang="en-US" sz="2000" b="1" i="0" u="none" strike="noStrike" cap="none">
                <a:solidFill>
                  <a:srgbClr val="666677"/>
                </a:solidFill>
                <a:latin typeface="Calibri"/>
                <a:ea typeface="Calibri"/>
                <a:cs typeface="Calibri"/>
                <a:sym typeface="Calibri"/>
              </a:rPr>
              <a:t>No indexing</a:t>
            </a:r>
            <a:r>
              <a:rPr lang="en-US" sz="2000" b="0" i="0" u="none" strike="noStrike" cap="none">
                <a:solidFill>
                  <a:srgbClr val="666677"/>
                </a:solidFill>
                <a:latin typeface="Calibri"/>
                <a:ea typeface="Calibri"/>
                <a:cs typeface="Calibri"/>
                <a:sym typeface="Calibri"/>
              </a:rPr>
              <a:t> - B-trees over pages (log n lookups)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2. </a:t>
            </a:r>
            <a:r>
              <a:rPr lang="en-US" sz="2000" b="1" i="0" u="none" strike="noStrike" cap="none">
                <a:solidFill>
                  <a:srgbClr val="666677"/>
                </a:solidFill>
                <a:latin typeface="Calibri"/>
                <a:ea typeface="Calibri"/>
                <a:cs typeface="Calibri"/>
                <a:sym typeface="Calibri"/>
              </a:rPr>
              <a:t>No schema</a:t>
            </a:r>
            <a:r>
              <a:rPr lang="en-US" sz="2000" b="0" i="0" u="none" strike="noStrike" cap="none">
                <a:solidFill>
                  <a:srgbClr val="666677"/>
                </a:solidFill>
                <a:latin typeface="Calibri"/>
                <a:ea typeface="Calibri"/>
                <a:cs typeface="Calibri"/>
                <a:sym typeface="Calibri"/>
              </a:rPr>
              <a:t> - sqlite_master + constraints checked at write time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3. </a:t>
            </a:r>
            <a:r>
              <a:rPr lang="en-US" sz="2000" b="1" i="0" u="none" strike="noStrike" cap="none">
                <a:solidFill>
                  <a:srgbClr val="666677"/>
                </a:solidFill>
                <a:latin typeface="Calibri"/>
                <a:ea typeface="Calibri"/>
                <a:cs typeface="Calibri"/>
                <a:sym typeface="Calibri"/>
              </a:rPr>
              <a:t>No concurrency</a:t>
            </a:r>
            <a:r>
              <a:rPr lang="en-US" sz="2000" b="0" i="0" u="none" strike="noStrike" cap="none">
                <a:solidFill>
                  <a:srgbClr val="666677"/>
                </a:solidFill>
                <a:latin typeface="Calibri"/>
                <a:ea typeface="Calibri"/>
                <a:cs typeface="Calibri"/>
                <a:sym typeface="Calibri"/>
              </a:rPr>
              <a:t> - OS file locks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4. </a:t>
            </a:r>
            <a:r>
              <a:rPr lang="en-US" sz="2000" b="1" i="0" u="none" strike="noStrike" cap="none">
                <a:solidFill>
                  <a:srgbClr val="666677"/>
                </a:solidFill>
                <a:latin typeface="Calibri"/>
                <a:ea typeface="Calibri"/>
                <a:cs typeface="Calibri"/>
                <a:sym typeface="Calibri"/>
              </a:rPr>
              <a:t>No relationships</a:t>
            </a:r>
            <a:r>
              <a:rPr lang="en-US" sz="2000" b="0" i="0" u="none" strike="noStrike" cap="none">
                <a:solidFill>
                  <a:srgbClr val="666677"/>
                </a:solidFill>
                <a:latin typeface="Calibri"/>
                <a:ea typeface="Calibri"/>
                <a:cs typeface="Calibri"/>
                <a:sym typeface="Calibri"/>
              </a:rPr>
              <a:t> - foreign keys + joins (next section)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5. </a:t>
            </a:r>
            <a:r>
              <a:rPr lang="en-US" sz="2000" b="1" i="0" u="none" strike="noStrike" cap="none">
                <a:solidFill>
                  <a:srgbClr val="666677"/>
                </a:solidFill>
                <a:latin typeface="Calibri"/>
                <a:ea typeface="Calibri"/>
                <a:cs typeface="Calibri"/>
                <a:sym typeface="Calibri"/>
              </a:rPr>
              <a:t>No query language</a:t>
            </a:r>
            <a:r>
              <a:rPr lang="en-US" sz="2000" b="0" i="0" u="none" strike="noStrike" cap="none">
                <a:solidFill>
                  <a:srgbClr val="666677"/>
                </a:solidFill>
                <a:latin typeface="Calibri"/>
                <a:ea typeface="Calibri"/>
                <a:cs typeface="Calibri"/>
                <a:sym typeface="Calibri"/>
              </a:rPr>
              <a:t> - SQL (next section)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 crash safety - rollback journal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And it's still just a file on disk.</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cool part isn't magic. It's </a:t>
            </a:r>
            <a:r>
              <a:rPr lang="en-US" sz="2400" b="1" i="0" u="none" strike="noStrike" cap="none">
                <a:solidFill>
                  <a:srgbClr val="333344"/>
                </a:solidFill>
                <a:latin typeface="Calibri"/>
                <a:ea typeface="Calibri"/>
                <a:cs typeface="Calibri"/>
                <a:sym typeface="Calibri"/>
              </a:rPr>
              <a:t>layout</a:t>
            </a:r>
            <a:r>
              <a:rPr lang="en-US" sz="2400" b="0" i="0" u="none" strike="noStrike" cap="none">
                <a:solidFill>
                  <a:srgbClr val="333344"/>
                </a:solidFill>
                <a:latin typeface="Calibri"/>
                <a:ea typeface="Calibri"/>
                <a:cs typeface="Calibri"/>
                <a:sym typeface="Calibri"/>
              </a:rPr>
              <a:t> + a few small protocols</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on top of plain old files.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96"/>
        <p:cNvGrpSpPr/>
        <p:nvPr/>
      </p:nvGrpSpPr>
      <p:grpSpPr>
        <a:xfrm>
          <a:off x="0" y="0"/>
          <a:ext cx="0" cy="0"/>
          <a:chOff x="0" y="0"/>
          <a:chExt cx="0" cy="0"/>
        </a:xfrm>
      </p:grpSpPr>
      <p:sp>
        <p:nvSpPr>
          <p:cNvPr id="197" name="Google Shape;197;p1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SQL: Talking to the Database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2"/>
        <p:cNvGrpSpPr/>
        <p:nvPr/>
      </p:nvGrpSpPr>
      <p:grpSpPr>
        <a:xfrm>
          <a:off x="0" y="0"/>
          <a:ext cx="0" cy="0"/>
          <a:chOff x="0" y="0"/>
          <a:chExt cx="0" cy="0"/>
        </a:xfrm>
      </p:grpSpPr>
      <p:sp>
        <p:nvSpPr>
          <p:cNvPr id="203" name="Google Shape;203;p1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SQL: the language all databases understand</a:t>
            </a:r>
            <a:endParaRPr/>
          </a:p>
        </p:txBody>
      </p:sp>
      <p:sp>
        <p:nvSpPr>
          <p:cNvPr id="204" name="Google Shape;204;p14"/>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sql</a:t>
            </a:r>
            <a:endParaRPr/>
          </a:p>
        </p:txBody>
      </p:sp>
      <p:sp>
        <p:nvSpPr>
          <p:cNvPr id="205" name="Google Shape;205;p14"/>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6" name="Google Shape;206;p14"/>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Create a table (define structure)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CREATE TABLE messages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id INTEGER PRIMARY KEY,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username TEXT NOT NULL,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 TEXT NOT NULL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Insert a row</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INSERT INTO messages (username, text) VALUES ('alice', 'hello');</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Query rows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SELECT * FROM messages WHERE username = 'alice';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Update a row</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UPDATE messages SET text = 'goodbye' WHERE id = 1;</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Delete a row</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DELETE FROM messages WHERE id = 1;</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1"/>
        <p:cNvGrpSpPr/>
        <p:nvPr/>
      </p:nvGrpSpPr>
      <p:grpSpPr>
        <a:xfrm>
          <a:off x="0" y="0"/>
          <a:ext cx="0" cy="0"/>
          <a:chOff x="0" y="0"/>
          <a:chExt cx="0" cy="0"/>
        </a:xfrm>
      </p:grpSpPr>
      <p:sp>
        <p:nvSpPr>
          <p:cNvPr id="212" name="Google Shape;212;p1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Declarative, not imperative</a:t>
            </a:r>
            <a:endParaRPr/>
          </a:p>
        </p:txBody>
      </p:sp>
      <p:sp>
        <p:nvSpPr>
          <p:cNvPr id="213" name="Google Shape;213;p13"/>
          <p:cNvSpPr txBox="1"/>
          <p:nvPr/>
        </p:nvSpPr>
        <p:spPr>
          <a:xfrm>
            <a:off x="914400" y="1463040"/>
            <a:ext cx="10362900" cy="4340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With files, you wrote </a:t>
            </a:r>
            <a:r>
              <a:rPr lang="en-US" sz="2400" b="1" i="0" u="none" strike="noStrike" cap="none">
                <a:solidFill>
                  <a:srgbClr val="333344"/>
                </a:solidFill>
                <a:latin typeface="Calibri"/>
                <a:ea typeface="Calibri"/>
                <a:cs typeface="Calibri"/>
                <a:sym typeface="Calibri"/>
              </a:rPr>
              <a:t>how</a:t>
            </a:r>
            <a:r>
              <a:rPr lang="en-US" sz="2400" b="0" i="0" u="none" strike="noStrike" cap="none">
                <a:solidFill>
                  <a:srgbClr val="333344"/>
                </a:solidFill>
                <a:latin typeface="Calibri"/>
                <a:ea typeface="Calibri"/>
                <a:cs typeface="Calibri"/>
                <a:sym typeface="Calibri"/>
              </a:rPr>
              <a:t> to find data: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open the file, parse it, loop, filter, return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With SQL, you write </a:t>
            </a:r>
            <a:r>
              <a:rPr lang="en-US" sz="2400" b="1" i="0" u="none" strike="noStrike" cap="none">
                <a:solidFill>
                  <a:srgbClr val="333344"/>
                </a:solidFill>
                <a:latin typeface="Calibri"/>
                <a:ea typeface="Calibri"/>
                <a:cs typeface="Calibri"/>
                <a:sym typeface="Calibri"/>
              </a:rPr>
              <a:t>what</a:t>
            </a:r>
            <a:r>
              <a:rPr lang="en-US" sz="2400" b="0" i="0" u="none" strike="noStrike" cap="none">
                <a:solidFill>
                  <a:srgbClr val="333344"/>
                </a:solidFill>
                <a:latin typeface="Calibri"/>
                <a:ea typeface="Calibri"/>
                <a:cs typeface="Calibri"/>
                <a:sym typeface="Calibri"/>
              </a:rPr>
              <a:t> you want: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SELECT * FROM messages WHERE username = 'alice'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database picks the strategy: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 there an index on username? - use the B-tree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index? - scan the table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Which join order is fastest? - the query planner decides</a:t>
            </a:r>
            <a:endParaRPr/>
          </a:p>
          <a:p>
            <a:pPr marL="0" marR="0" lvl="0" indent="0" algn="l" rtl="0">
              <a:spcBef>
                <a:spcPts val="60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8"/>
        <p:cNvGrpSpPr/>
        <p:nvPr/>
      </p:nvGrpSpPr>
      <p:grpSpPr>
        <a:xfrm>
          <a:off x="0" y="0"/>
          <a:ext cx="0" cy="0"/>
          <a:chOff x="0" y="0"/>
          <a:chExt cx="0" cy="0"/>
        </a:xfrm>
      </p:grpSpPr>
      <p:sp>
        <p:nvSpPr>
          <p:cNvPr id="219" name="Google Shape;219;g3de08d210b0_0_82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Declarative, not imperative</a:t>
            </a:r>
            <a:endParaRPr/>
          </a:p>
        </p:txBody>
      </p:sp>
      <p:sp>
        <p:nvSpPr>
          <p:cNvPr id="220" name="Google Shape;220;g3de08d210b0_0_826"/>
          <p:cNvSpPr txBox="1"/>
          <p:nvPr/>
        </p:nvSpPr>
        <p:spPr>
          <a:xfrm>
            <a:off x="914400" y="1463040"/>
            <a:ext cx="10362900" cy="13545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 describe the resul</a:t>
            </a:r>
            <a:r>
              <a:rPr lang="en-US" sz="2400">
                <a:solidFill>
                  <a:srgbClr val="333344"/>
                </a:solidFill>
                <a:latin typeface="Calibri"/>
                <a:ea typeface="Calibri"/>
                <a:cs typeface="Calibri"/>
                <a:sym typeface="Calibri"/>
              </a:rPr>
              <a:t>t, t</a:t>
            </a:r>
            <a:r>
              <a:rPr lang="en-US" sz="2400" b="0" i="0" u="none" strike="noStrike" cap="none">
                <a:solidFill>
                  <a:srgbClr val="333344"/>
                </a:solidFill>
                <a:latin typeface="Calibri"/>
                <a:ea typeface="Calibri"/>
                <a:cs typeface="Calibri"/>
                <a:sym typeface="Calibri"/>
              </a:rPr>
              <a:t>he DB figures out the path.</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called a </a:t>
            </a:r>
            <a:r>
              <a:rPr lang="en-US" sz="2400" b="1" i="0" u="none" strike="noStrike" cap="none">
                <a:solidFill>
                  <a:srgbClr val="333344"/>
                </a:solidFill>
                <a:latin typeface="Calibri"/>
                <a:ea typeface="Calibri"/>
                <a:cs typeface="Calibri"/>
                <a:sym typeface="Calibri"/>
              </a:rPr>
              <a:t>declarative</a:t>
            </a:r>
            <a:r>
              <a:rPr lang="en-US" sz="2400" b="0" i="0" u="none" strike="noStrike" cap="none">
                <a:solidFill>
                  <a:srgbClr val="333344"/>
                </a:solidFill>
                <a:latin typeface="Calibri"/>
                <a:ea typeface="Calibri"/>
                <a:cs typeface="Calibri"/>
                <a:sym typeface="Calibri"/>
              </a:rPr>
              <a:t> language. It's why SQL has lasted 50 years.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6" name="Google Shape;226;g3de08d210b0_0_5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Connecting to SQLite from Python</a:t>
            </a:r>
            <a:endParaRPr/>
          </a:p>
        </p:txBody>
      </p:sp>
      <p:sp>
        <p:nvSpPr>
          <p:cNvPr id="227" name="Google Shape;227;g3de08d210b0_0_5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8" name="Google Shape;228;g3de08d210b0_0_51"/>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sqlite3 ships with Python - nothing to install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import sqlite3</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Open the database (creates chat.db if it doesn't exist)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Run a query - just pass SQL as a string</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result = conn.execute("SELECT 1")</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print(result.fetchone())  # (1,)</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conn.close()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That's the whole API: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sqlite3.connect(path)  - open</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conn.execute(sql)      - run SQL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conn.commit()          - save changes (for writes)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conn.close()           - release the file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34" name="Google Shape;234;g3de08d210b0_0_5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Creating tables (CREATE TABLE)</a:t>
            </a:r>
            <a:endParaRPr/>
          </a:p>
        </p:txBody>
      </p:sp>
      <p:sp>
        <p:nvSpPr>
          <p:cNvPr id="235" name="Google Shape;235;g3de08d210b0_0_58"/>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6" name="Google Shape;236;g3de08d210b0_0_58"/>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CREATE TABLE IF NOT EXISTS messages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id INTEGER PRIMARY KEY AUTOINCREMENT,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username TEXT NOT NULL,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 TEXT NOT NULL,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timestamp DATETIME DEFAULT CURRENT_TIMESTAMP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conn.close()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id            - auto-assigned unique number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NOT NULL      - this column is required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AUTOINCREMENT - id goes 1, 2, 3, ... automatically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DEFAULT       - fills in if you don't provide a value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1"/>
        <p:cNvGrpSpPr/>
        <p:nvPr/>
      </p:nvGrpSpPr>
      <p:grpSpPr>
        <a:xfrm>
          <a:off x="0" y="0"/>
          <a:ext cx="0" cy="0"/>
          <a:chOff x="0" y="0"/>
          <a:chExt cx="0" cy="0"/>
        </a:xfrm>
      </p:grpSpPr>
      <p:sp>
        <p:nvSpPr>
          <p:cNvPr id="242" name="Google Shape;242;g3de08d210b0_0_14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Inserting data (INSERT INTO)</a:t>
            </a:r>
            <a:endParaRPr/>
          </a:p>
        </p:txBody>
      </p:sp>
      <p:sp>
        <p:nvSpPr>
          <p:cNvPr id="243" name="Google Shape;243;g3de08d210b0_0_14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4" name="Google Shape;244;g3de08d210b0_0_140"/>
          <p:cNvSpPr txBox="1"/>
          <p:nvPr/>
        </p:nvSpPr>
        <p:spPr>
          <a:xfrm>
            <a:off x="1005840" y="1645920"/>
            <a:ext cx="10179900" cy="2940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"INSERT INTO messages (username, text) VALUES (?,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("alice", "hello everyone!")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"INSERT INTO messages (username, text) VALUES (?,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("bob", "hey alice!")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9"/>
        <p:cNvGrpSpPr/>
        <p:nvPr/>
      </p:nvGrpSpPr>
      <p:grpSpPr>
        <a:xfrm>
          <a:off x="0" y="0"/>
          <a:ext cx="0" cy="0"/>
          <a:chOff x="0" y="0"/>
          <a:chExt cx="0" cy="0"/>
        </a:xfrm>
      </p:grpSpPr>
      <p:sp>
        <p:nvSpPr>
          <p:cNvPr id="250" name="Google Shape;250;g3de08d210b0_0_22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Inserting data (INSERT INTO)</a:t>
            </a:r>
            <a:endParaRPr/>
          </a:p>
        </p:txBody>
      </p:sp>
      <p:sp>
        <p:nvSpPr>
          <p:cNvPr id="251" name="Google Shape;251;g3de08d210b0_0_22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2" name="Google Shape;252;g3de08d210b0_0_222"/>
          <p:cNvSpPr txBox="1"/>
          <p:nvPr/>
        </p:nvSpPr>
        <p:spPr>
          <a:xfrm>
            <a:off x="1005840" y="1645920"/>
            <a:ext cx="10179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"INSERT INTO messages (username, text) VALUES (?,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("alice", "hello everyone!")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"INSERT INTO messages (username, text) VALUES (?,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("bob", "hey alice!")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conn.close()</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 marks are placeholders - values pass in as a tuple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sqlite3 escapes them safely (more on injection later)</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Always conn.commit() to save your writes!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7"/>
        <p:cNvGrpSpPr/>
        <p:nvPr/>
      </p:nvGrpSpPr>
      <p:grpSpPr>
        <a:xfrm>
          <a:off x="0" y="0"/>
          <a:ext cx="0" cy="0"/>
          <a:chOff x="0" y="0"/>
          <a:chExt cx="0" cy="0"/>
        </a:xfrm>
      </p:grpSpPr>
      <p:sp>
        <p:nvSpPr>
          <p:cNvPr id="258" name="Google Shape;258;g3de08d210b0_0_304"/>
          <p:cNvSpPr txBox="1"/>
          <p:nvPr/>
        </p:nvSpPr>
        <p:spPr>
          <a:xfrm>
            <a:off x="731520" y="274320"/>
            <a:ext cx="10728600" cy="80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Create a users table and insert data</a:t>
            </a:r>
            <a:endParaRPr/>
          </a:p>
        </p:txBody>
      </p:sp>
      <p:sp>
        <p:nvSpPr>
          <p:cNvPr id="259" name="Google Shape;259;g3de08d210b0_0_304"/>
          <p:cNvSpPr/>
          <p:nvPr/>
        </p:nvSpPr>
        <p:spPr>
          <a:xfrm>
            <a:off x="640080" y="228600"/>
            <a:ext cx="1097400" cy="365700"/>
          </a:xfrm>
          <a:prstGeom prst="roundRect">
            <a:avLst>
              <a:gd name="adj" fmla="val 16667"/>
            </a:avLst>
          </a:prstGeom>
          <a:solidFill>
            <a:srgbClr val="5B21B6"/>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60" name="Google Shape;260;g3de08d210b0_0_304"/>
          <p:cNvSpPr/>
          <p:nvPr/>
        </p:nvSpPr>
        <p:spPr>
          <a:xfrm>
            <a:off x="731520" y="1371600"/>
            <a:ext cx="10728600"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61" name="Google Shape;261;g3de08d210b0_0_304"/>
          <p:cNvSpPr txBox="1"/>
          <p:nvPr/>
        </p:nvSpPr>
        <p:spPr>
          <a:xfrm>
            <a:off x="1005840" y="1554480"/>
            <a:ext cx="10179900" cy="4648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4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Create a 'users' table with: id, username, email</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CREATE TABLE IF NOT EXISTS users (</a:t>
            </a:r>
            <a:endParaRPr/>
          </a:p>
          <a:p>
            <a:pPr marL="0" marR="0" lvl="0" indent="0" algn="l" rtl="0">
              <a:spcBef>
                <a:spcPts val="200"/>
              </a:spcBef>
              <a:spcAft>
                <a:spcPts val="0"/>
              </a:spcAft>
              <a:buNone/>
            </a:pPr>
            <a:r>
              <a:rPr lang="en-US" sz="14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4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4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endParaRPr sz="14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Insert a user named alice with email alice@example.com</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4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4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6"/>
        <p:cNvGrpSpPr/>
        <p:nvPr/>
      </p:nvGrpSpPr>
      <p:grpSpPr>
        <a:xfrm>
          <a:off x="0" y="0"/>
          <a:ext cx="0" cy="0"/>
          <a:chOff x="0" y="0"/>
          <a:chExt cx="0" cy="0"/>
        </a:xfrm>
      </p:grpSpPr>
      <p:sp>
        <p:nvSpPr>
          <p:cNvPr id="267" name="Google Shape;267;g3de08d210b0_0_312"/>
          <p:cNvSpPr txBox="1"/>
          <p:nvPr/>
        </p:nvSpPr>
        <p:spPr>
          <a:xfrm>
            <a:off x="731520" y="274320"/>
            <a:ext cx="10728600" cy="80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Create a users table and insert data</a:t>
            </a:r>
            <a:endParaRPr/>
          </a:p>
        </p:txBody>
      </p:sp>
      <p:sp>
        <p:nvSpPr>
          <p:cNvPr id="268" name="Google Shape;268;g3de08d210b0_0_312"/>
          <p:cNvSpPr/>
          <p:nvPr/>
        </p:nvSpPr>
        <p:spPr>
          <a:xfrm>
            <a:off x="640080" y="228600"/>
            <a:ext cx="1188600" cy="365700"/>
          </a:xfrm>
          <a:prstGeom prst="roundRect">
            <a:avLst>
              <a:gd name="adj" fmla="val 16667"/>
            </a:avLst>
          </a:prstGeom>
          <a:solidFill>
            <a:srgbClr val="166534"/>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69" name="Google Shape;269;g3de08d210b0_0_312"/>
          <p:cNvSpPr/>
          <p:nvPr/>
        </p:nvSpPr>
        <p:spPr>
          <a:xfrm>
            <a:off x="731520" y="1371600"/>
            <a:ext cx="10728600"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70" name="Google Shape;270;g3de08d210b0_0_312"/>
          <p:cNvSpPr txBox="1"/>
          <p:nvPr/>
        </p:nvSpPr>
        <p:spPr>
          <a:xfrm>
            <a:off x="1005840" y="1554480"/>
            <a:ext cx="10179900" cy="4689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6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CREATE TABLE IF NOT EXISTS users (</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id INTEGER PRIMARY KEY AUTOINCREMENT,</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username TEXT NOT NULL,</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email TEXT</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endParaRPr sz="16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"INSERT INTO users (username, email) VALUES (?, ?)",</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("alice", "alice@example.com")</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5"/>
        <p:cNvGrpSpPr/>
        <p:nvPr/>
      </p:nvGrpSpPr>
      <p:grpSpPr>
        <a:xfrm>
          <a:off x="0" y="0"/>
          <a:ext cx="0" cy="0"/>
          <a:chOff x="0" y="0"/>
          <a:chExt cx="0" cy="0"/>
        </a:xfrm>
      </p:grpSpPr>
      <p:sp>
        <p:nvSpPr>
          <p:cNvPr id="276" name="Google Shape;276;g3de08d210b0_0_39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Querying data (SELECT)</a:t>
            </a:r>
            <a:endParaRPr/>
          </a:p>
        </p:txBody>
      </p:sp>
      <p:sp>
        <p:nvSpPr>
          <p:cNvPr id="277" name="Google Shape;277;g3de08d210b0_0_39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78" name="Google Shape;278;g3de08d210b0_0_395"/>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conn.row_factory = sqlite3.Row   # access columns by name (default = tuples)</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Get all messages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result = conn.execute("SELECT * FROM messages")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for row in result: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print(f"{row['username']}: {row['text']}")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alice: hello everyone!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bob: hey alice!</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Fetch all rows at once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rows = conn.execute("SELECT * FROM messages").fetchall()</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Or just the first row</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row = conn.execute("SELECT * FROM messages").fetchone()  # or None</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3"/>
        <p:cNvGrpSpPr/>
        <p:nvPr/>
      </p:nvGrpSpPr>
      <p:grpSpPr>
        <a:xfrm>
          <a:off x="0" y="0"/>
          <a:ext cx="0" cy="0"/>
          <a:chOff x="0" y="0"/>
          <a:chExt cx="0" cy="0"/>
        </a:xfrm>
      </p:grpSpPr>
      <p:sp>
        <p:nvSpPr>
          <p:cNvPr id="284" name="Google Shape;284;g3de08d210b0_0_40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Filtering, ordering, and counting</a:t>
            </a:r>
            <a:endParaRPr/>
          </a:p>
        </p:txBody>
      </p:sp>
      <p:sp>
        <p:nvSpPr>
          <p:cNvPr id="285" name="Google Shape;285;g3de08d210b0_0_40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86" name="Google Shape;286;g3de08d210b0_0_402"/>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WHERE - filter rows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alice_msgs = conn.execute(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"SELECT * FROM messages WHERE username =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("alice",)             # one-element tuple needs the trailing comma!</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ORDER BY + LIMIT - most recent 10</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recent = conn.execute(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"SELECT * FROM messages ORDER BY timestamp DESC LIMIT 10"</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COUNT - one row, one column</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total = conn.execute("SELECT COUNT(*) FROM messages").fetchone()[0]</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1"/>
        <p:cNvGrpSpPr/>
        <p:nvPr/>
      </p:nvGrpSpPr>
      <p:grpSpPr>
        <a:xfrm>
          <a:off x="0" y="0"/>
          <a:ext cx="0" cy="0"/>
          <a:chOff x="0" y="0"/>
          <a:chExt cx="0" cy="0"/>
        </a:xfrm>
      </p:grpSpPr>
      <p:sp>
        <p:nvSpPr>
          <p:cNvPr id="292" name="Google Shape;292;g3de08d210b0_0_409"/>
          <p:cNvSpPr txBox="1"/>
          <p:nvPr/>
        </p:nvSpPr>
        <p:spPr>
          <a:xfrm>
            <a:off x="731520" y="274320"/>
            <a:ext cx="10728600" cy="80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Query chat messages</a:t>
            </a:r>
            <a:endParaRPr/>
          </a:p>
        </p:txBody>
      </p:sp>
      <p:sp>
        <p:nvSpPr>
          <p:cNvPr id="293" name="Google Shape;293;g3de08d210b0_0_409"/>
          <p:cNvSpPr/>
          <p:nvPr/>
        </p:nvSpPr>
        <p:spPr>
          <a:xfrm>
            <a:off x="640080" y="228600"/>
            <a:ext cx="1097400" cy="365700"/>
          </a:xfrm>
          <a:prstGeom prst="roundRect">
            <a:avLst>
              <a:gd name="adj" fmla="val 16667"/>
            </a:avLst>
          </a:prstGeom>
          <a:solidFill>
            <a:srgbClr val="5B21B6"/>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94" name="Google Shape;294;g3de08d210b0_0_409"/>
          <p:cNvSpPr/>
          <p:nvPr/>
        </p:nvSpPr>
        <p:spPr>
          <a:xfrm>
            <a:off x="731520" y="1371600"/>
            <a:ext cx="10728600"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95" name="Google Shape;295;g3de08d210b0_0_409"/>
          <p:cNvSpPr txBox="1"/>
          <p:nvPr/>
        </p:nvSpPr>
        <p:spPr>
          <a:xfrm>
            <a:off x="1005840" y="1554480"/>
            <a:ext cx="10179900" cy="4581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1. Get all messages from alice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alice_msgs = conn.execute(</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2. Get the 5 most recent messages</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recent = conn.execute(</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3. Count alice's messages</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count = conn.execute(</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).fetchone()[0]</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0"/>
        <p:cNvGrpSpPr/>
        <p:nvPr/>
      </p:nvGrpSpPr>
      <p:grpSpPr>
        <a:xfrm>
          <a:off x="0" y="0"/>
          <a:ext cx="0" cy="0"/>
          <a:chOff x="0" y="0"/>
          <a:chExt cx="0" cy="0"/>
        </a:xfrm>
      </p:grpSpPr>
      <p:sp>
        <p:nvSpPr>
          <p:cNvPr id="301" name="Google Shape;301;g3de08d210b0_0_417"/>
          <p:cNvSpPr txBox="1"/>
          <p:nvPr/>
        </p:nvSpPr>
        <p:spPr>
          <a:xfrm>
            <a:off x="731520" y="274320"/>
            <a:ext cx="10728600" cy="80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Query chat messages</a:t>
            </a:r>
            <a:endParaRPr/>
          </a:p>
        </p:txBody>
      </p:sp>
      <p:sp>
        <p:nvSpPr>
          <p:cNvPr id="302" name="Google Shape;302;g3de08d210b0_0_417"/>
          <p:cNvSpPr/>
          <p:nvPr/>
        </p:nvSpPr>
        <p:spPr>
          <a:xfrm>
            <a:off x="640080" y="228600"/>
            <a:ext cx="1188600" cy="365700"/>
          </a:xfrm>
          <a:prstGeom prst="roundRect">
            <a:avLst>
              <a:gd name="adj" fmla="val 16667"/>
            </a:avLst>
          </a:prstGeom>
          <a:solidFill>
            <a:srgbClr val="166534"/>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03" name="Google Shape;303;g3de08d210b0_0_417"/>
          <p:cNvSpPr/>
          <p:nvPr/>
        </p:nvSpPr>
        <p:spPr>
          <a:xfrm>
            <a:off x="731520" y="1371600"/>
            <a:ext cx="10728600"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04" name="Google Shape;304;g3de08d210b0_0_417"/>
          <p:cNvSpPr txBox="1"/>
          <p:nvPr/>
        </p:nvSpPr>
        <p:spPr>
          <a:xfrm>
            <a:off x="1005840" y="1554480"/>
            <a:ext cx="10179900" cy="4581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1. Messages from alice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alice_msgs = conn.execute(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"SELECT * FROM messages WHERE username =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("alice",)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2. Most recent 5</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recent = conn.execute(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"SELECT * FROM messages ORDER BY timestamp DESC LIMIT 5"</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3. Count alice's messages</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count = conn.execute(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"SELECT COUNT(*) FROM messages WHERE username =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("alice",)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).fetchone()[0]</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9"/>
        <p:cNvGrpSpPr/>
        <p:nvPr/>
      </p:nvGrpSpPr>
      <p:grpSpPr>
        <a:xfrm>
          <a:off x="0" y="0"/>
          <a:ext cx="0" cy="0"/>
          <a:chOff x="0" y="0"/>
          <a:chExt cx="0" cy="0"/>
        </a:xfrm>
      </p:grpSpPr>
      <p:sp>
        <p:nvSpPr>
          <p:cNvPr id="310" name="Google Shape;310;g3de08d210b0_0_42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Updating and deleting (UPDATE, DELETE)</a:t>
            </a:r>
            <a:endParaRPr/>
          </a:p>
        </p:txBody>
      </p:sp>
      <p:sp>
        <p:nvSpPr>
          <p:cNvPr id="311" name="Google Shape;311;g3de08d210b0_0_42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12" name="Google Shape;312;g3de08d210b0_0_425"/>
          <p:cNvSpPr txBox="1"/>
          <p:nvPr/>
        </p:nvSpPr>
        <p:spPr>
          <a:xfrm>
            <a:off x="1005840" y="1645920"/>
            <a:ext cx="10179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UPDATE - change existing rows</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"UPDATE messages SET text = ? WHERE id = ?",</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("hello world!", 1)</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DELETE - remove rows</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conn.execute("DELETE FROM messages WHERE id = ?", (2,))</a:t>
            </a:r>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conn.close()</a:t>
            </a:r>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Always use WHERE to target specific rows!</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DELETE without WHERE deletes EVERYTHING in the table</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7"/>
        <p:cNvGrpSpPr/>
        <p:nvPr/>
      </p:nvGrpSpPr>
      <p:grpSpPr>
        <a:xfrm>
          <a:off x="0" y="0"/>
          <a:ext cx="0" cy="0"/>
          <a:chOff x="0" y="0"/>
          <a:chExt cx="0" cy="0"/>
        </a:xfrm>
      </p:grpSpPr>
      <p:sp>
        <p:nvSpPr>
          <p:cNvPr id="318" name="Google Shape;318;p2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SQL injection: why parameters matter</a:t>
            </a:r>
            <a:endParaRPr/>
          </a:p>
        </p:txBody>
      </p:sp>
      <p:sp>
        <p:nvSpPr>
          <p:cNvPr id="319" name="Google Shape;319;p25"/>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20" name="Google Shape;320;p25"/>
          <p:cNvSpPr txBox="1"/>
          <p:nvPr/>
        </p:nvSpPr>
        <p:spPr>
          <a:xfrm>
            <a:off x="1005840" y="1645920"/>
            <a:ext cx="10179900" cy="97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NEVER build SQL with f-strings!</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username = input("Enter username: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bad = f"SELECT * FROM messages WHERE username = '{username}'"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5"/>
        <p:cNvGrpSpPr/>
        <p:nvPr/>
      </p:nvGrpSpPr>
      <p:grpSpPr>
        <a:xfrm>
          <a:off x="0" y="0"/>
          <a:ext cx="0" cy="0"/>
          <a:chOff x="0" y="0"/>
          <a:chExt cx="0" cy="0"/>
        </a:xfrm>
      </p:grpSpPr>
      <p:sp>
        <p:nvSpPr>
          <p:cNvPr id="326" name="Google Shape;326;g3de08d210b0_0_1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SQL injection: why parameters matter</a:t>
            </a:r>
            <a:endParaRPr/>
          </a:p>
        </p:txBody>
      </p:sp>
      <p:pic>
        <p:nvPicPr>
          <p:cNvPr id="327" name="Google Shape;327;g3de08d210b0_0_17" title="exploits_of_a_mom_2x.png"/>
          <p:cNvPicPr preferRelativeResize="0"/>
          <p:nvPr/>
        </p:nvPicPr>
        <p:blipFill>
          <a:blip r:embed="rId3">
            <a:alphaModFix/>
          </a:blip>
          <a:stretch>
            <a:fillRect/>
          </a:stretch>
        </p:blipFill>
        <p:spPr>
          <a:xfrm>
            <a:off x="152400" y="1550435"/>
            <a:ext cx="11886875" cy="3662443"/>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2"/>
        <p:cNvGrpSpPr/>
        <p:nvPr/>
      </p:nvGrpSpPr>
      <p:grpSpPr>
        <a:xfrm>
          <a:off x="0" y="0"/>
          <a:ext cx="0" cy="0"/>
          <a:chOff x="0" y="0"/>
          <a:chExt cx="0" cy="0"/>
        </a:xfrm>
      </p:grpSpPr>
      <p:sp>
        <p:nvSpPr>
          <p:cNvPr id="333" name="Google Shape;333;g3de08d210b0_0_1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SQL injection: why parameters matter</a:t>
            </a:r>
            <a:endParaRPr/>
          </a:p>
        </p:txBody>
      </p:sp>
      <p:sp>
        <p:nvSpPr>
          <p:cNvPr id="334" name="Google Shape;334;g3de08d210b0_0_1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5" name="Google Shape;335;g3de08d210b0_0_10"/>
          <p:cNvSpPr txBox="1"/>
          <p:nvPr/>
        </p:nvSpPr>
        <p:spPr>
          <a:xfrm>
            <a:off x="1005840" y="1645920"/>
            <a:ext cx="10179900" cy="2124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NEVER build SQL with f-strings!</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username = input("Enter username: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bad = f"SELECT * FROM messages WHERE username = '{username}'"</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If user enters:  ' OR 1=1 --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Query becomes:   SELECT * FROM messages WHERE username = '' OR 1=1 --'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This returns ALL messages - a security breach!</a:t>
            </a:r>
            <a:endParaRPr/>
          </a:p>
          <a:p>
            <a:pPr marL="0" marR="0" lvl="0" indent="0" algn="l" rtl="0">
              <a:spcBef>
                <a:spcPts val="20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0"/>
        <p:cNvGrpSpPr/>
        <p:nvPr/>
      </p:nvGrpSpPr>
      <p:grpSpPr>
        <a:xfrm>
          <a:off x="0" y="0"/>
          <a:ext cx="0" cy="0"/>
          <a:chOff x="0" y="0"/>
          <a:chExt cx="0" cy="0"/>
        </a:xfrm>
      </p:grpSpPr>
      <p:sp>
        <p:nvSpPr>
          <p:cNvPr id="341" name="Google Shape;341;g3de08d210b0_0_50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SQL injection: why parameters matter</a:t>
            </a:r>
            <a:endParaRPr/>
          </a:p>
        </p:txBody>
      </p:sp>
      <p:sp>
        <p:nvSpPr>
          <p:cNvPr id="342" name="Google Shape;342;g3de08d210b0_0_507"/>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43" name="Google Shape;343;g3de08d210b0_0_507"/>
          <p:cNvSpPr txBox="1"/>
          <p:nvPr/>
        </p:nvSpPr>
        <p:spPr>
          <a:xfrm>
            <a:off x="1005840" y="164592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NEVER build SQL with f-strings!</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username = input("Enter username: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bad = f"SELECT * FROM messages WHERE username = '{username}'"</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If user enters:  ' OR 1=1 --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Query becomes:   SELECT * FROM messages WHERE username = '' OR 1=1 --'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This returns ALL messages - a security breach!</a:t>
            </a:r>
            <a:endParaRPr/>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ALWAYS use parameterized queries:</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result = conn.execute(</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"SELECT * FROM messages WHERE username =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(username,)</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sqlite3 escapes the input - safe from injection</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The ? placeholder is your defense</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48"/>
        <p:cNvGrpSpPr/>
        <p:nvPr/>
      </p:nvGrpSpPr>
      <p:grpSpPr>
        <a:xfrm>
          <a:off x="0" y="0"/>
          <a:ext cx="0" cy="0"/>
          <a:chOff x="0" y="0"/>
          <a:chExt cx="0" cy="0"/>
        </a:xfrm>
      </p:grpSpPr>
      <p:sp>
        <p:nvSpPr>
          <p:cNvPr id="349" name="Google Shape;349;p26"/>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a:solidFill>
                  <a:srgbClr val="5B21B6"/>
                </a:solidFill>
                <a:latin typeface="Calibri"/>
                <a:ea typeface="Calibri"/>
                <a:cs typeface="Calibri"/>
                <a:sym typeface="Calibri"/>
              </a:rPr>
              <a:t>Schema Design: Normalize or Denormalize?</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54"/>
        <p:cNvGrpSpPr/>
        <p:nvPr/>
      </p:nvGrpSpPr>
      <p:grpSpPr>
        <a:xfrm>
          <a:off x="0" y="0"/>
          <a:ext cx="0" cy="0"/>
          <a:chOff x="0" y="0"/>
          <a:chExt cx="0" cy="0"/>
        </a:xfrm>
      </p:grpSpPr>
      <p:sp>
        <p:nvSpPr>
          <p:cNvPr id="355" name="Google Shape;355;p27"/>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a:solidFill>
                  <a:srgbClr val="5B21B6"/>
                </a:solidFill>
                <a:latin typeface="Calibri"/>
                <a:ea typeface="Calibri"/>
                <a:cs typeface="Calibri"/>
                <a:sym typeface="Calibri"/>
              </a:rPr>
              <a:t>?</a:t>
            </a:r>
            <a:endParaRPr/>
          </a:p>
        </p:txBody>
      </p:sp>
      <p:sp>
        <p:nvSpPr>
          <p:cNvPr id="356" name="Google Shape;356;p27"/>
          <p:cNvSpPr txBox="1"/>
          <p:nvPr/>
        </p:nvSpPr>
        <p:spPr>
          <a:xfrm>
            <a:off x="1020675" y="2011675"/>
            <a:ext cx="10126500" cy="16623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a:solidFill>
                  <a:srgbClr val="1A1A2E"/>
                </a:solidFill>
                <a:latin typeface="Calibri"/>
                <a:ea typeface="Calibri"/>
                <a:cs typeface="Calibri"/>
                <a:sym typeface="Calibri"/>
              </a:rPr>
              <a:t>You need to store user profiles: name, email, theme,</a:t>
            </a:r>
            <a:br>
              <a:rPr lang="en-US" sz="3400" b="1">
                <a:solidFill>
                  <a:srgbClr val="1A1A2E"/>
                </a:solidFill>
                <a:latin typeface="Calibri"/>
                <a:ea typeface="Calibri"/>
                <a:cs typeface="Calibri"/>
                <a:sym typeface="Calibri"/>
              </a:rPr>
            </a:br>
            <a:r>
              <a:rPr lang="en-US" sz="3400" b="1">
                <a:solidFill>
                  <a:srgbClr val="1A1A2E"/>
                </a:solidFill>
                <a:latin typeface="Calibri"/>
                <a:ea typeface="Calibri"/>
                <a:cs typeface="Calibri"/>
                <a:sym typeface="Calibri"/>
              </a:rPr>
              <a:t>font_size, timezone, and 20 other settings.</a:t>
            </a:r>
            <a:br>
              <a:rPr lang="en-US" sz="3400" b="1">
                <a:solidFill>
                  <a:srgbClr val="1A1A2E"/>
                </a:solidFill>
                <a:latin typeface="Calibri"/>
                <a:ea typeface="Calibri"/>
                <a:cs typeface="Calibri"/>
                <a:sym typeface="Calibri"/>
              </a:rPr>
            </a:br>
            <a:r>
              <a:rPr lang="en-US" sz="3400" b="1">
                <a:solidFill>
                  <a:srgbClr val="1A1A2E"/>
                </a:solidFill>
                <a:latin typeface="Calibri"/>
                <a:ea typeface="Calibri"/>
                <a:cs typeface="Calibri"/>
                <a:sym typeface="Calibri"/>
              </a:rPr>
              <a:t>How do you lay out the table?</a:t>
            </a:r>
            <a:endParaRPr/>
          </a:p>
        </p:txBody>
      </p:sp>
      <p:sp>
        <p:nvSpPr>
          <p:cNvPr id="357" name="Google Shape;357;p27"/>
          <p:cNvSpPr txBox="1"/>
          <p:nvPr/>
        </p:nvSpPr>
        <p:spPr>
          <a:xfrm>
            <a:off x="1828800" y="4572000"/>
            <a:ext cx="853409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200" b="0">
                <a:solidFill>
                  <a:srgbClr val="666677"/>
                </a:solidFill>
                <a:latin typeface="Calibri"/>
                <a:ea typeface="Calibri"/>
                <a:cs typeface="Calibri"/>
                <a:sym typeface="Calibri"/>
              </a:rPr>
              <a:t>There's more than one right answer.</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2"/>
        <p:cNvGrpSpPr/>
        <p:nvPr/>
      </p:nvGrpSpPr>
      <p:grpSpPr>
        <a:xfrm>
          <a:off x="0" y="0"/>
          <a:ext cx="0" cy="0"/>
          <a:chOff x="0" y="0"/>
          <a:chExt cx="0" cy="0"/>
        </a:xfrm>
      </p:grpSpPr>
      <p:sp>
        <p:nvSpPr>
          <p:cNvPr id="363" name="Google Shape;363;p2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Option A: one wide table</a:t>
            </a:r>
            <a:endParaRPr/>
          </a:p>
        </p:txBody>
      </p:sp>
      <p:sp>
        <p:nvSpPr>
          <p:cNvPr id="364" name="Google Shape;364;p28"/>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sql</a:t>
            </a:r>
            <a:endParaRPr/>
          </a:p>
        </p:txBody>
      </p:sp>
      <p:sp>
        <p:nvSpPr>
          <p:cNvPr id="365" name="Google Shape;365;p28"/>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66" name="Google Shape;366;p28"/>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 One row per user, one column per attribute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CREATE TABLE users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id            INTEGER PRIMARY KEY,</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name          TEXT NOT NULL,</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email         TEXT NOT NULL,</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theme         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font_size     INTEGER,</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timezone      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notifications INTEGER,</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language      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 ... 20 more columns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Read: one row, all columns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SELECT theme, font_size FROM users WHERE id = 1;</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Add a new setting? Schema migration:</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ALTER TABLE users ADD COLUMN dark_mode INTEGER;</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1"/>
        <p:cNvGrpSpPr/>
        <p:nvPr/>
      </p:nvGrpSpPr>
      <p:grpSpPr>
        <a:xfrm>
          <a:off x="0" y="0"/>
          <a:ext cx="0" cy="0"/>
          <a:chOff x="0" y="0"/>
          <a:chExt cx="0" cy="0"/>
        </a:xfrm>
      </p:grpSpPr>
      <p:sp>
        <p:nvSpPr>
          <p:cNvPr id="372" name="Google Shape;372;p2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Option B: tall (EAV) table</a:t>
            </a:r>
            <a:endParaRPr/>
          </a:p>
        </p:txBody>
      </p:sp>
      <p:sp>
        <p:nvSpPr>
          <p:cNvPr id="373" name="Google Shape;373;p29"/>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sql</a:t>
            </a:r>
            <a:endParaRPr/>
          </a:p>
        </p:txBody>
      </p:sp>
      <p:sp>
        <p:nvSpPr>
          <p:cNvPr id="374" name="Google Shape;374;p29"/>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75" name="Google Shape;375;p29"/>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 One row per (user, prop) pair</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CREATE TABLE user_props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user_id INTEGER,</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prop    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value   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PRIMARY KEY (user_id, prop)</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INSERT INTO user_props VALUES (1, 'theme',     'dark');</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INSERT INTO user_props VALUES (1, 'font_size', '14');</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INSERT INTO user_props VALUES (1, 'timezone',  'America/Chicago');</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Read: one row per setting</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SELECT prop, value FROM user_props WHERE user_id = 1;</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Add a new setting? No migration:</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INSERT INTO user_props VALUES (1, 'dark_mode', 'true');</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0"/>
        <p:cNvGrpSpPr/>
        <p:nvPr/>
      </p:nvGrpSpPr>
      <p:grpSpPr>
        <a:xfrm>
          <a:off x="0" y="0"/>
          <a:ext cx="0" cy="0"/>
          <a:chOff x="0" y="0"/>
          <a:chExt cx="0" cy="0"/>
        </a:xfrm>
      </p:grpSpPr>
      <p:sp>
        <p:nvSpPr>
          <p:cNvPr id="381" name="Google Shape;381;p3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Option C: normalized (separate tables)</a:t>
            </a:r>
            <a:endParaRPr/>
          </a:p>
        </p:txBody>
      </p:sp>
      <p:sp>
        <p:nvSpPr>
          <p:cNvPr id="382" name="Google Shape;382;p30"/>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sql</a:t>
            </a:r>
            <a:endParaRPr/>
          </a:p>
        </p:txBody>
      </p:sp>
      <p:sp>
        <p:nvSpPr>
          <p:cNvPr id="383" name="Google Shape;383;p30"/>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84" name="Google Shape;384;p30"/>
          <p:cNvSpPr txBox="1"/>
          <p:nvPr/>
        </p:nvSpPr>
        <p:spPr>
          <a:xfrm>
            <a:off x="1005840" y="1645920"/>
            <a:ext cx="10179900" cy="4648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a:solidFill>
                  <a:srgbClr val="333344"/>
                </a:solidFill>
                <a:latin typeface="Courier New"/>
                <a:ea typeface="Courier New"/>
                <a:cs typeface="Courier New"/>
                <a:sym typeface="Courier New"/>
              </a:rPr>
              <a:t>-- Split into related tables, joined by</a:t>
            </a:r>
            <a:r>
              <a:rPr lang="en-US" b="1">
                <a:solidFill>
                  <a:srgbClr val="333344"/>
                </a:solidFill>
                <a:latin typeface="Courier New"/>
                <a:ea typeface="Courier New"/>
                <a:cs typeface="Courier New"/>
                <a:sym typeface="Courier New"/>
              </a:rPr>
              <a:t> </a:t>
            </a:r>
            <a:r>
              <a:rPr lang="en-US" sz="1400" b="1">
                <a:solidFill>
                  <a:srgbClr val="333344"/>
                </a:solidFill>
                <a:latin typeface="Courier New"/>
                <a:ea typeface="Courier New"/>
                <a:cs typeface="Courier New"/>
                <a:sym typeface="Courier New"/>
              </a:rPr>
              <a:t>key</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CREATE TABLE users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id    INTEGER PRIMARY KEY,</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name  TEXT NOT NULL,</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email TEXT NOT NULL</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4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CREATE TABLE user_settings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user_id   INTEGER PRIMARY KEY REFERENCES users(id),</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theme     TEXT,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font_size INTEGER,</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timezone  TEXT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4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Reconstruct a full profile with a JOIN:</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SELECT u.name, s.theme, s.font_size</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FROM users u</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JOIN user_settings s ON s.user_id = u.id</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WHERE u.id = 1;</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9"/>
        <p:cNvGrpSpPr/>
        <p:nvPr/>
      </p:nvGrpSpPr>
      <p:grpSpPr>
        <a:xfrm>
          <a:off x="0" y="0"/>
          <a:ext cx="0" cy="0"/>
          <a:chOff x="0" y="0"/>
          <a:chExt cx="0" cy="0"/>
        </a:xfrm>
      </p:grpSpPr>
      <p:sp>
        <p:nvSpPr>
          <p:cNvPr id="390" name="Google Shape;390;p3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When to use which</a:t>
            </a:r>
            <a:endParaRPr/>
          </a:p>
        </p:txBody>
      </p:sp>
      <p:sp>
        <p:nvSpPr>
          <p:cNvPr id="391" name="Google Shape;391;p31"/>
          <p:cNvSpPr txBox="1"/>
          <p:nvPr/>
        </p:nvSpPr>
        <p:spPr>
          <a:xfrm>
            <a:off x="914400" y="1463040"/>
            <a:ext cx="103629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alibri"/>
                <a:ea typeface="Calibri"/>
                <a:cs typeface="Calibri"/>
                <a:sym typeface="Calibri"/>
              </a:rPr>
              <a:t>Wide table</a:t>
            </a:r>
            <a:r>
              <a:rPr lang="en-US" sz="2400" b="0">
                <a:solidFill>
                  <a:srgbClr val="333344"/>
                </a:solidFill>
                <a:latin typeface="Calibri"/>
                <a:ea typeface="Calibri"/>
                <a:cs typeface="Calibri"/>
                <a:sym typeface="Calibri"/>
              </a:rPr>
              <a:t> - when columns are fixed and known up front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 name, email, signup date - every user has these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Fast reads, simple queries</a:t>
            </a:r>
            <a:endParaRPr/>
          </a:p>
          <a:p>
            <a:pPr marL="0" marR="0" lvl="0" indent="0" algn="l" rtl="0">
              <a:spcBef>
                <a:spcPts val="600"/>
              </a:spcBef>
              <a:spcAft>
                <a:spcPts val="0"/>
              </a:spcAft>
              <a:buNone/>
            </a:pP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6"/>
        <p:cNvGrpSpPr/>
        <p:nvPr/>
      </p:nvGrpSpPr>
      <p:grpSpPr>
        <a:xfrm>
          <a:off x="0" y="0"/>
          <a:ext cx="0" cy="0"/>
          <a:chOff x="0" y="0"/>
          <a:chExt cx="0" cy="0"/>
        </a:xfrm>
      </p:grpSpPr>
      <p:sp>
        <p:nvSpPr>
          <p:cNvPr id="397" name="Google Shape;397;g3de08d210b0_0_3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When to use which</a:t>
            </a:r>
            <a:endParaRPr/>
          </a:p>
        </p:txBody>
      </p:sp>
      <p:sp>
        <p:nvSpPr>
          <p:cNvPr id="398" name="Google Shape;398;g3de08d210b0_0_32"/>
          <p:cNvSpPr txBox="1"/>
          <p:nvPr/>
        </p:nvSpPr>
        <p:spPr>
          <a:xfrm>
            <a:off x="914400" y="1463040"/>
            <a:ext cx="10362900" cy="312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alibri"/>
                <a:ea typeface="Calibri"/>
                <a:cs typeface="Calibri"/>
                <a:sym typeface="Calibri"/>
              </a:rPr>
              <a:t>Wide table</a:t>
            </a:r>
            <a:r>
              <a:rPr lang="en-US" sz="2400" b="0">
                <a:solidFill>
                  <a:srgbClr val="333344"/>
                </a:solidFill>
                <a:latin typeface="Calibri"/>
                <a:ea typeface="Calibri"/>
                <a:cs typeface="Calibri"/>
                <a:sym typeface="Calibri"/>
              </a:rPr>
              <a:t> - when columns are fixed and known up front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 name, email, signup date - every user has these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Fast reads, simple queries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EAV (tall) table</a:t>
            </a:r>
            <a:r>
              <a:rPr lang="en-US" sz="2400" b="0">
                <a:solidFill>
                  <a:srgbClr val="333344"/>
                </a:solidFill>
                <a:latin typeface="Calibri"/>
                <a:ea typeface="Calibri"/>
                <a:cs typeface="Calibri"/>
                <a:sym typeface="Calibri"/>
              </a:rPr>
              <a:t> - when props are open-ended or user-defined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Plugin systems, feature flags, custom form fields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Maximum flexibility, weakest typing</a:t>
            </a:r>
            <a:endParaRPr/>
          </a:p>
          <a:p>
            <a:pPr marL="0" marR="0" lvl="0" indent="0" algn="l" rtl="0">
              <a:spcBef>
                <a:spcPts val="600"/>
              </a:spcBef>
              <a:spcAft>
                <a:spcPts val="0"/>
              </a:spcAft>
              <a:buNone/>
            </a:pP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3"/>
        <p:cNvGrpSpPr/>
        <p:nvPr/>
      </p:nvGrpSpPr>
      <p:grpSpPr>
        <a:xfrm>
          <a:off x="0" y="0"/>
          <a:ext cx="0" cy="0"/>
          <a:chOff x="0" y="0"/>
          <a:chExt cx="0" cy="0"/>
        </a:xfrm>
      </p:grpSpPr>
      <p:sp>
        <p:nvSpPr>
          <p:cNvPr id="404" name="Google Shape;404;g3de08d210b0_0_3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When to use which</a:t>
            </a:r>
            <a:endParaRPr/>
          </a:p>
        </p:txBody>
      </p:sp>
      <p:sp>
        <p:nvSpPr>
          <p:cNvPr id="405" name="Google Shape;405;g3de08d210b0_0_38"/>
          <p:cNvSpPr txBox="1"/>
          <p:nvPr/>
        </p:nvSpPr>
        <p:spPr>
          <a:xfrm>
            <a:off x="914400" y="1463040"/>
            <a:ext cx="10362900" cy="511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alibri"/>
                <a:ea typeface="Calibri"/>
                <a:cs typeface="Calibri"/>
                <a:sym typeface="Calibri"/>
              </a:rPr>
              <a:t>Wide table</a:t>
            </a:r>
            <a:r>
              <a:rPr lang="en-US" sz="2400" b="0">
                <a:solidFill>
                  <a:srgbClr val="333344"/>
                </a:solidFill>
                <a:latin typeface="Calibri"/>
                <a:ea typeface="Calibri"/>
                <a:cs typeface="Calibri"/>
                <a:sym typeface="Calibri"/>
              </a:rPr>
              <a:t> - when columns are fixed and known up front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 name, email, signup date - every user has these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Fast reads, simple queries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EAV (tall) table</a:t>
            </a:r>
            <a:r>
              <a:rPr lang="en-US" sz="2400" b="0">
                <a:solidFill>
                  <a:srgbClr val="333344"/>
                </a:solidFill>
                <a:latin typeface="Calibri"/>
                <a:ea typeface="Calibri"/>
                <a:cs typeface="Calibri"/>
                <a:sym typeface="Calibri"/>
              </a:rPr>
              <a:t> - when props are open-ended or user-defined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Plugin systems, feature flags, custom form fields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Maximum flexibility, weakest typing</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Normalized (separate tables)</a:t>
            </a:r>
            <a:r>
              <a:rPr lang="en-US" sz="2400" b="0">
                <a:solidFill>
                  <a:srgbClr val="333344"/>
                </a:solidFill>
                <a:latin typeface="Calibri"/>
                <a:ea typeface="Calibri"/>
                <a:cs typeface="Calibri"/>
                <a:sym typeface="Calibri"/>
              </a:rPr>
              <a:t> - almost everything else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Distinct entities with relationships (users, messages, comments...)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default. Use this unless you have a reason not to.</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410"/>
        <p:cNvGrpSpPr/>
        <p:nvPr/>
      </p:nvGrpSpPr>
      <p:grpSpPr>
        <a:xfrm>
          <a:off x="0" y="0"/>
          <a:ext cx="0" cy="0"/>
          <a:chOff x="0" y="0"/>
          <a:chExt cx="0" cy="0"/>
        </a:xfrm>
      </p:grpSpPr>
      <p:sp>
        <p:nvSpPr>
          <p:cNvPr id="411" name="Google Shape;411;p3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a:solidFill>
                  <a:srgbClr val="5B21B6"/>
                </a:solidFill>
                <a:latin typeface="Calibri"/>
                <a:ea typeface="Calibri"/>
                <a:cs typeface="Calibri"/>
                <a:sym typeface="Calibri"/>
              </a:rPr>
              <a:t>Building the Chat Data Layer</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6"/>
        <p:cNvGrpSpPr/>
        <p:nvPr/>
      </p:nvGrpSpPr>
      <p:grpSpPr>
        <a:xfrm>
          <a:off x="0" y="0"/>
          <a:ext cx="0" cy="0"/>
          <a:chOff x="0" y="0"/>
          <a:chExt cx="0" cy="0"/>
        </a:xfrm>
      </p:grpSpPr>
      <p:sp>
        <p:nvSpPr>
          <p:cNvPr id="417" name="Google Shape;417;g3de08d210b0_0_589"/>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Chat app data layer</a:t>
            </a:r>
            <a:endParaRPr/>
          </a:p>
        </p:txBody>
      </p:sp>
      <p:sp>
        <p:nvSpPr>
          <p:cNvPr id="418" name="Google Shape;418;g3de08d210b0_0_589"/>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19" name="Google Shape;419;g3de08d210b0_0_589"/>
          <p:cNvSpPr txBox="1"/>
          <p:nvPr/>
        </p:nvSpPr>
        <p:spPr>
          <a:xfrm>
            <a:off x="1005840" y="1645920"/>
            <a:ext cx="10179900" cy="4581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a:solidFill>
                  <a:srgbClr val="333344"/>
                </a:solidFill>
                <a:latin typeface="Courier New"/>
                <a:ea typeface="Courier New"/>
                <a:cs typeface="Courier New"/>
                <a:sym typeface="Courier New"/>
              </a:rPr>
              <a:t>import sqlite3</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from contextlib import closing</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DB = "chat.db"</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def add_message(username, msg_text):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with closing(sqlite3.connect(DB)) as conn:</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"INSERT INTO messages (username, text) VALUES (?,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(username, msg_text)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conn.commit()</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def get_recent(limit=20):</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with closing(sqlite3.connect(DB)) as conn:</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conn.row_factory = sqlite3.Row</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return conn.execute(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"SELECT * FROM messages ORDER BY timestamp DESC LIMIT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(limit,)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).fetchall()</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4"/>
        <p:cNvGrpSpPr/>
        <p:nvPr/>
      </p:nvGrpSpPr>
      <p:grpSpPr>
        <a:xfrm>
          <a:off x="0" y="0"/>
          <a:ext cx="0" cy="0"/>
          <a:chOff x="0" y="0"/>
          <a:chExt cx="0" cy="0"/>
        </a:xfrm>
      </p:grpSpPr>
      <p:sp>
        <p:nvSpPr>
          <p:cNvPr id="425" name="Google Shape;425;p3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SQLite in practice</a:t>
            </a:r>
            <a:endParaRPr/>
          </a:p>
        </p:txBody>
      </p:sp>
      <p:sp>
        <p:nvSpPr>
          <p:cNvPr id="426" name="Google Shape;426;p34"/>
          <p:cNvSpPr txBox="1"/>
          <p:nvPr/>
        </p:nvSpPr>
        <p:spPr>
          <a:xfrm>
            <a:off x="914388" y="1280140"/>
            <a:ext cx="10362900" cy="583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SQLite stores everything in a </a:t>
            </a:r>
            <a:r>
              <a:rPr lang="en-US" sz="2400" b="1">
                <a:solidFill>
                  <a:srgbClr val="333344"/>
                </a:solidFill>
                <a:latin typeface="Calibri"/>
                <a:ea typeface="Calibri"/>
                <a:cs typeface="Calibri"/>
                <a:sym typeface="Calibri"/>
              </a:rPr>
              <a:t>single file</a:t>
            </a:r>
            <a:r>
              <a:rPr lang="en-US" sz="2400" b="0">
                <a:solidFill>
                  <a:srgbClr val="333344"/>
                </a:solidFill>
                <a:latin typeface="Calibri"/>
                <a:ea typeface="Calibri"/>
                <a:cs typeface="Calibri"/>
                <a:sym typeface="Calibri"/>
              </a:rPr>
              <a:t> (chat.db)</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No server to install or configure</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Built into Python - nothing extra to set up</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Perfect for development and class projects</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Useful tools: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DB Browser for SQLite</a:t>
            </a:r>
            <a:r>
              <a:rPr lang="en-US" sz="2000" b="0" i="0" u="none" strike="noStrike" cap="none">
                <a:solidFill>
                  <a:srgbClr val="666677"/>
                </a:solidFill>
                <a:latin typeface="Calibri"/>
                <a:ea typeface="Calibri"/>
                <a:cs typeface="Calibri"/>
                <a:sym typeface="Calibri"/>
              </a:rPr>
              <a:t> - GUI to inspect your database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sqlite3 CLI</a:t>
            </a:r>
            <a:r>
              <a:rPr lang="en-US" sz="2000" b="0" i="0" u="none" strike="noStrike" cap="none">
                <a:solidFill>
                  <a:srgbClr val="666677"/>
                </a:solidFill>
                <a:latin typeface="Calibri"/>
                <a:ea typeface="Calibri"/>
                <a:cs typeface="Calibri"/>
                <a:sym typeface="Calibri"/>
              </a:rPr>
              <a:t> - command-line tool</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lvl="0" indent="0" algn="l" rtl="0">
              <a:spcBef>
                <a:spcPts val="600"/>
              </a:spcBef>
              <a:spcAft>
                <a:spcPts val="0"/>
              </a:spcAft>
              <a:buClr>
                <a:schemeClr val="dk1"/>
              </a:buClr>
              <a:buFont typeface="Arial"/>
              <a:buNone/>
            </a:pPr>
            <a:r>
              <a:rPr lang="en-US" sz="2400">
                <a:solidFill>
                  <a:srgbClr val="333344"/>
                </a:solidFill>
                <a:latin typeface="Calibri"/>
                <a:ea typeface="Calibri"/>
                <a:cs typeface="Calibri"/>
                <a:sym typeface="Calibri"/>
              </a:rPr>
              <a:t>Beyond SQLite:</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PostgreSQL / MySQL</a:t>
            </a:r>
            <a:r>
              <a:rPr lang="en-US" sz="2000">
                <a:solidFill>
                  <a:srgbClr val="666677"/>
                </a:solidFill>
                <a:latin typeface="Calibri"/>
                <a:ea typeface="Calibri"/>
                <a:cs typeface="Calibri"/>
                <a:sym typeface="Calibri"/>
              </a:rPr>
              <a:t> for production - same SQL, different driver</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SQLAlchemy</a:t>
            </a:r>
            <a:r>
              <a:rPr lang="en-US" sz="2000">
                <a:solidFill>
                  <a:srgbClr val="666677"/>
                </a:solidFill>
                <a:latin typeface="Calibri"/>
                <a:ea typeface="Calibri"/>
                <a:cs typeface="Calibri"/>
                <a:sym typeface="Calibri"/>
              </a:rPr>
              <a:t> - Python library that adds connection pooling and</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dialect portability. Worth it once you have a real web app.</a:t>
            </a:r>
            <a:endParaRPr>
              <a:solidFill>
                <a:schemeClr val="dk1"/>
              </a:solidFill>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1"/>
        <p:cNvGrpSpPr/>
        <p:nvPr/>
      </p:nvGrpSpPr>
      <p:grpSpPr>
        <a:xfrm>
          <a:off x="0" y="0"/>
          <a:ext cx="0" cy="0"/>
          <a:chOff x="0" y="0"/>
          <a:chExt cx="0" cy="0"/>
        </a:xfrm>
      </p:grpSpPr>
      <p:sp>
        <p:nvSpPr>
          <p:cNvPr id="432" name="Google Shape;432;p3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Wrapping up</a:t>
            </a:r>
            <a:endParaRPr/>
          </a:p>
        </p:txBody>
      </p:sp>
      <p:sp>
        <p:nvSpPr>
          <p:cNvPr id="433" name="Google Shape;433;p35"/>
          <p:cNvSpPr txBox="1"/>
          <p:nvPr/>
        </p:nvSpPr>
        <p:spPr>
          <a:xfrm>
            <a:off x="914400" y="1463040"/>
            <a:ext cx="10362900" cy="5618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A database is a </a:t>
            </a:r>
            <a:r>
              <a:rPr lang="en-US" sz="2400" b="1">
                <a:solidFill>
                  <a:srgbClr val="333344"/>
                </a:solidFill>
                <a:latin typeface="Calibri"/>
                <a:ea typeface="Calibri"/>
                <a:cs typeface="Calibri"/>
                <a:sym typeface="Calibri"/>
              </a:rPr>
              <a:t>file with structure</a:t>
            </a:r>
            <a:r>
              <a:rPr lang="en-US" sz="2400" b="0">
                <a:solidFill>
                  <a:srgbClr val="333344"/>
                </a:solidFill>
                <a:latin typeface="Calibri"/>
                <a:ea typeface="Calibri"/>
                <a:cs typeface="Calibri"/>
                <a:sym typeface="Calibri"/>
              </a:rPr>
              <a:t> - not magic</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Pages let it rewrite parts without touching the whole 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B-trees make lookups fast (log n, not 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rollback journal makes writes atomic</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OS file locks coordinate concurrent writers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SQL</a:t>
            </a:r>
            <a:r>
              <a:rPr lang="en-US" sz="2400" b="0">
                <a:solidFill>
                  <a:srgbClr val="333344"/>
                </a:solidFill>
                <a:latin typeface="Calibri"/>
                <a:ea typeface="Calibri"/>
                <a:cs typeface="Calibri"/>
                <a:sym typeface="Calibri"/>
              </a:rPr>
              <a:t> is a declarative query language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describe the result; the DB picks the path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CRUD: CREATE, </a:t>
            </a:r>
            <a:r>
              <a:rPr lang="en-US" sz="2000">
                <a:solidFill>
                  <a:srgbClr val="666677"/>
                </a:solidFill>
                <a:latin typeface="Calibri"/>
                <a:ea typeface="Calibri"/>
                <a:cs typeface="Calibri"/>
                <a:sym typeface="Calibri"/>
              </a:rPr>
              <a:t>INSERT, </a:t>
            </a:r>
            <a:r>
              <a:rPr lang="en-US" sz="2000" b="0" i="0" u="none" strike="noStrike" cap="none">
                <a:solidFill>
                  <a:srgbClr val="666677"/>
                </a:solidFill>
                <a:latin typeface="Calibri"/>
                <a:ea typeface="Calibri"/>
                <a:cs typeface="Calibri"/>
                <a:sym typeface="Calibri"/>
              </a:rPr>
              <a:t>SELECT</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UPDATE, DELETE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Schema design</a:t>
            </a:r>
            <a:r>
              <a:rPr lang="en-US" sz="2400" b="0">
                <a:solidFill>
                  <a:srgbClr val="333344"/>
                </a:solidFill>
                <a:latin typeface="Calibri"/>
                <a:ea typeface="Calibri"/>
                <a:cs typeface="Calibri"/>
                <a:sym typeface="Calibri"/>
              </a:rPr>
              <a:t> is a real choice - wide, tall, or normalized</a:t>
            </a:r>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Parameterized queries</a:t>
            </a:r>
            <a:r>
              <a:rPr lang="en-US" sz="2400" b="0">
                <a:solidFill>
                  <a:srgbClr val="333344"/>
                </a:solidFill>
                <a:latin typeface="Calibri"/>
                <a:ea typeface="Calibri"/>
                <a:cs typeface="Calibri"/>
                <a:sym typeface="Calibri"/>
              </a:rPr>
              <a:t> are the security default - never f-strings</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5704</Words>
  <Application>Microsoft Macintosh PowerPoint</Application>
  <PresentationFormat>Widescreen</PresentationFormat>
  <Paragraphs>560</Paragraphs>
  <Slides>44</Slides>
  <Notes>44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Courier Prime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1</cp:revision>
  <dcterms:created xsi:type="dcterms:W3CDTF">2013-01-27T09:14:16Z</dcterms:created>
  <dcterms:modified xsi:type="dcterms:W3CDTF">2026-04-10T00:21:46Z</dcterms:modified>
</cp:coreProperties>
</file>