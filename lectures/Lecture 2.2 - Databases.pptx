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9144000"/>
  <p:embeddedFontLst>
    <p:embeddedFont>
      <p:font typeface="Courier Prime" pitchFamily="49" charset="77"/>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hlAfEv1sIGQuUz6nwlUYduUlLt7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6" d="100"/>
          <a:sy n="106" d="100"/>
        </p:scale>
        <p:origin x="1336" y="48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64" Type="http://customschemas.google.com/relationships/presentationmetadata" Target="metadata"/><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Last lecture we hit the wall with files-as-storage and listed five specific problems. Today: how databases solve all five. The cool part is that a SQLite database is also just a file sitting on disk, and everything that makes it different lives in the layout inside that file plus a few protocols around it.</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Anchor everything against last lecture. The five problems were the punchline of 2.1; today we actually answer the question they posed. Lean into the puzzle: if a SQLite DB is also just a file, how does it fix any of these? The student should be a little confused at this point.</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8" name="Google Shape;9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If anyone guesses 'special structure inside the file,' they're exactly right.</a:t>
            </a:r>
            <a:endParaRPr/>
          </a:p>
        </p:txBody>
      </p:sp>
      <p:sp>
        <p:nvSpPr>
          <p:cNvPr id="99" name="Google Shape;99;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mechanism part. Goal is intuition, not mastery. Five short slides, one diagram, one recap. Don't go into WAL vs rollback journal or page header internals - hit the headline ideas and move on.</a:t>
            </a:r>
            <a:endParaRPr/>
          </a:p>
        </p:txBody>
      </p:sp>
      <p:sp>
        <p:nvSpPr>
          <p:cNvPr id="107" name="Google Shape;107;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 name="Google Shape;112;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first cool thing. Pages are how the DB escapes the read-modify-write trap from last lecture. 4KB matches the OS disk block size - not a coincidence; it lets the DB align reads/writes with what the disk does natively. You can mention this if a student asks why 4KB.</a:t>
            </a:r>
            <a:endParaRPr/>
          </a:p>
        </p:txBody>
      </p:sp>
      <p:sp>
        <p:nvSpPr>
          <p:cNvPr id="113" name="Google Shape;113;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9" name="Google Shape;119;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number is what should stick - 20 hops against a million reads, which is the difference between instant and your server sitting there while somebody refreshes. Picture on the next slide.</a:t>
            </a:r>
            <a:endParaRPr/>
          </a:p>
        </p:txBody>
      </p:sp>
      <p:sp>
        <p:nvSpPr>
          <p:cNvPr id="120" name="Google Shape;120;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de08d210b0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3de08d210b0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g3de08d210b0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de08d210b0_0_8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3" name="Google Shape;133;g3de08d210b0_0_8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de08d210b0_0_8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through one lookup. Pick id=600,000. Root sees the range, sends you to the middle internal node (334k-666k). That node sends you to the leaf for 501k-666k. Three hops, found the row. Highlighted in orange. Without the index, you'd read every page until you stumbled on the right one. Don't draw this on the board - the slide does it.</a:t>
            </a:r>
            <a:endParaRPr/>
          </a:p>
        </p:txBody>
      </p:sp>
      <p:sp>
        <p:nvSpPr>
          <p:cNvPr id="141" name="Google Shape;141;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sqlite_master is a real table you can SELECT from - worth trying on their chat.db at the end if there's time. And the schema isn't off in some separate config file, it's data living inside the same database as everything else. Self-describing systems are a big deal in computer science and this is a nice small one to point at.</a:t>
            </a:r>
            <a:endParaRPr/>
          </a:p>
        </p:txBody>
      </p:sp>
      <p:sp>
        <p:nvSpPr>
          <p:cNvPr id="167" name="Google Shape;16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3" name="Google Shape;173;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journal is the answer to 'what about the bytes that were already written before the crash?' - SQLite kept the old version, so it can undo. ACID = Atomicity, Consistency, Isolation, Durability. We're only really hitting atomicity here; the rest get a sentence at most. Modern SQLite uses WAL by default, but the rollback journal is easier to explain and the principle is the same.</a:t>
            </a:r>
            <a:endParaRPr/>
          </a:p>
        </p:txBody>
      </p:sp>
      <p:sp>
        <p:nvSpPr>
          <p:cNvPr id="174" name="Google Shape;174;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0" name="Google Shape;180;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cool bit here is that SQLite didn't invent concurrency control at all - it leans on file locks, a primitive that's been sitting in Unix since the 1980s. The cleverness is all in the composition.</a:t>
            </a:r>
            <a:endParaRPr/>
          </a:p>
        </p:txBody>
      </p:sp>
      <p:sp>
        <p:nvSpPr>
          <p:cNvPr id="181" name="Google Shape;181;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one I actually care about them feeling, so slow down here. What they should walk out with is that a database is a stack of small understandable engineering tricks piled on top of the same files we were using last week, with no magic anywhere in it.</a:t>
            </a:r>
            <a:endParaRPr/>
          </a:p>
        </p:txBody>
      </p:sp>
      <p:sp>
        <p:nvSpPr>
          <p:cNvPr id="188" name="Google Shape;188;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4" name="Google Shape;19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that they know what's inside, time to learn the interface. The next ~12 slides are the practical CRUD content from the original version of this lecture - they were good, just needed a better setup.</a:t>
            </a:r>
            <a:endParaRPr/>
          </a:p>
        </p:txBody>
      </p:sp>
      <p:sp>
        <p:nvSpPr>
          <p:cNvPr id="195" name="Google Shape;19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Quick tour of SQL so they recognize the syntax. These four operations (INSERT, SELECT, UPDATE, DELETE) are called CRUD: Create, Read, Update, Delete. We'll use all of them from Python on the next slides.</a:t>
            </a:r>
            <a:endParaRPr/>
          </a:p>
        </p:txBody>
      </p:sp>
      <p:sp>
        <p:nvSpPr>
          <p:cNvPr id="201" name="Google Shape;201;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Declarative vs imperative is the conceptual leap here. Everything they've written up to now has been step-by-step instructions, and SQL flips that around so you describe what the answer looks like and the database goes and works out how to get it. Same idea underneath Excel formulas, Prolog, and a lot of the reactive UI stuff they'll meet in week 6.</a:t>
            </a:r>
            <a:endParaRPr/>
          </a:p>
        </p:txBody>
      </p:sp>
      <p:sp>
        <p:nvSpPr>
          <p:cNvPr id="210" name="Google Shape;210;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de08d210b0_0_8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6" name="Google Shape;216;g3de08d210b0_0_8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Declarative vs imperative is the conceptual leap here. Everything they've written up to now has been step-by-step instructions, and SQL flips that around so you describe what the answer looks like and the database goes and works out how to get it. Same idea underneath Excel formulas, Prolog, and a lot of the reactive UI stuff they'll meet in week 6.</a:t>
            </a:r>
            <a:endParaRPr/>
          </a:p>
        </p:txBody>
      </p:sp>
      <p:sp>
        <p:nvSpPr>
          <p:cNvPr id="217" name="Google Shape;217;g3de08d210b0_0_8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e08d210b0_0_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3" name="Google Shape;223;g3de08d210b0_0_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 engine, no connection pool, no library wrapper. The stdlib sqlite3 module is the SQLite C library with a thin Python skin on top. conn.execute() returns a cursor; iterate it or call .fetchone() / .fetchall(). The 'with' statement on a sqlite3 connection is a transaction context (commits on success, rolls back on exception) - it does NOT close the connection. Mention this only if asked; the explicit close pattern is fine for everything we'll do today.</a:t>
            </a:r>
            <a:endParaRPr/>
          </a:p>
        </p:txBody>
      </p:sp>
      <p:sp>
        <p:nvSpPr>
          <p:cNvPr id="224" name="Google Shape;224;g3de08d210b0_0_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de08d210b0_0_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g3de08d210b0_0_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IF NOT EXISTS prevents errors if the table already exists. The constraints (NOT NULL, AUTOINCREMENT) get stored in sqlite_master and enforced on every write. conn.commit() saves the change - without it, nothing persists. Like git: nothing is real until you commit.</a:t>
            </a:r>
            <a:endParaRPr/>
          </a:p>
        </p:txBody>
      </p:sp>
      <p:sp>
        <p:nvSpPr>
          <p:cNvPr id="232" name="Google Shape;232;g3de08d210b0_0_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de08d210b0_0_1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9" name="Google Shape;239;g3de08d210b0_0_1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 placeholder is a 'bound parameter'. Values are passed in a tuple - one value per ? in order. sqlite3 (actually the underlying C library) safely escapes them. We don't specify id or timestamp - the database fills those in from the schema defaults.</a:t>
            </a:r>
            <a:endParaRPr/>
          </a:p>
        </p:txBody>
      </p:sp>
      <p:sp>
        <p:nvSpPr>
          <p:cNvPr id="240" name="Google Shape;240;g3de08d210b0_0_1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de08d210b0_0_2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7" name="Google Shape;247;g3de08d210b0_0_2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 placeholder is a 'bound parameter'. Values are passed in a tuple - one value per ? in order. sqlite3 (actually the underlying C library) safely escapes them. We don't specify id or timestamp - the database fills those in from the schema defaults.</a:t>
            </a:r>
            <a:endParaRPr/>
          </a:p>
        </p:txBody>
      </p:sp>
      <p:sp>
        <p:nvSpPr>
          <p:cNvPr id="248" name="Google Shape;248;g3de08d210b0_0_2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de08d210b0_0_3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g3de08d210b0_0_3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need: id INTEGER PRIMARY KEY AUTOINCREMENT, username TEXT NOT NULL, email TEXT. Then an INSERT with ? placeholders and a tuple.</a:t>
            </a:r>
            <a:endParaRPr/>
          </a:p>
        </p:txBody>
      </p:sp>
      <p:sp>
        <p:nvSpPr>
          <p:cNvPr id="256" name="Google Shape;256;g3de08d210b0_0_3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de08d210b0_0_3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g3de08d210b0_0_3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email doesn't need NOT NULL - it's optional. The pattern is always: 'SQL with ? placeholders', (tuple, of, values). Two commits: one for the schema change, one for the data.</a:t>
            </a:r>
            <a:endParaRPr/>
          </a:p>
        </p:txBody>
      </p:sp>
      <p:sp>
        <p:nvSpPr>
          <p:cNvPr id="265" name="Google Shape;265;g3de08d210b0_0_3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de08d210b0_0_39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3" name="Google Shape;273;g3de08d210b0_0_39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By default sqlite3 returns rows as plain tuples - row[0], row[1]. Setting conn.row_factory = sqlite3.Row gives you dict-like access (row['username']) and is almost always what you want. The result of execute() is iterable - looping is the same as fetchall() but doesn't load everything into memory at once. fetchone() returns None if there are no rows.</a:t>
            </a:r>
            <a:endParaRPr/>
          </a:p>
        </p:txBody>
      </p:sp>
      <p:sp>
        <p:nvSpPr>
          <p:cNvPr id="274" name="Google Shape;274;g3de08d210b0_0_39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de08d210b0_0_40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1" name="Google Shape;281;g3de08d210b0_0_40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trailing comma on ('alice',) is a real gotcha - without it, Python sees a parenthesized string, not a tuple, and sqlite3 raises an error. WHERE filters rows, ORDER BY sorts (DESC = newest first), LIMIT caps the count. For COUNT/SUM/MAX queries, fetchone()[0] is the idiom to get the single scalar value. The DB uses indexes automatically when they exist - you don't ask for it.</a:t>
            </a:r>
            <a:endParaRPr/>
          </a:p>
        </p:txBody>
      </p:sp>
      <p:sp>
        <p:nvSpPr>
          <p:cNvPr id="282" name="Google Shape;282;g3de08d210b0_0_40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de08d210b0_0_40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9" name="Google Shape;289;g3de08d210b0_0_40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need: (1) SELECT with WHERE username = ?, ('alice',) - remind them about the trailing comma. (2) SELECT with ORDER BY timestamp DESC LIMIT 5. (3) SELECT COUNT(*) with WHERE.</a:t>
            </a:r>
            <a:endParaRPr/>
          </a:p>
        </p:txBody>
      </p:sp>
      <p:sp>
        <p:nvSpPr>
          <p:cNvPr id="290" name="Google Shape;290;g3de08d210b0_0_40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de08d210b0_0_4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8" name="Google Shape;298;g3de08d210b0_0_4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patterns to hold onto: plain 'SQL' when there are no parameters, and 'SQL with ?' plus a (tuple,) when there are. And .fetchone()[0] is the idiom when you want a single scalar back - COUNT, SUM, MAX.</a:t>
            </a:r>
            <a:endParaRPr/>
          </a:p>
        </p:txBody>
      </p:sp>
      <p:sp>
        <p:nvSpPr>
          <p:cNvPr id="299" name="Google Shape;299;g3de08d210b0_0_4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de08d210b0_0_4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7" name="Google Shape;307;g3de08d210b0_0_4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UPDATE and DELETE both need WHERE clauses. Without WHERE, UPDATE changes every row and DELETE empties the table. This is the most common SQL mistake - always double-check your WHERE.</a:t>
            </a:r>
            <a:endParaRPr/>
          </a:p>
        </p:txBody>
      </p:sp>
      <p:sp>
        <p:nvSpPr>
          <p:cNvPr id="308" name="Google Shape;308;g3de08d210b0_0_4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out there and it's been on the OWASP Top 10 essentially forever. The fix is boring: never put user input into a SQL string, use :param placeholders and hand the values over in a dict. And it's ALL SQL, not only the SELECTs.</a:t>
            </a:r>
            <a:endParaRPr/>
          </a:p>
        </p:txBody>
      </p:sp>
      <p:sp>
        <p:nvSpPr>
          <p:cNvPr id="316" name="Google Shape;316;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de08d210b0_0_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3" name="Google Shape;323;g3de08d210b0_0_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out there and it's been on the OWASP Top 10 essentially forever. The fix is boring: never put user input into a SQL string, use :param placeholders and hand the values over in a dict. And it's ALL SQL, not only the SELECTs.</a:t>
            </a:r>
            <a:endParaRPr/>
          </a:p>
        </p:txBody>
      </p:sp>
      <p:sp>
        <p:nvSpPr>
          <p:cNvPr id="324" name="Google Shape;324;g3de08d210b0_0_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de08d210b0_0_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0" name="Google Shape;330;g3de08d210b0_0_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out there and it's been on the OWASP Top 10 essentially forever. The fix is boring: never put user input into a SQL string, use :param placeholders and hand the values over in a dict. And it's ALL SQL, not only the SELECTs.</a:t>
            </a:r>
            <a:endParaRPr/>
          </a:p>
        </p:txBody>
      </p:sp>
      <p:sp>
        <p:nvSpPr>
          <p:cNvPr id="331" name="Google Shape;331;g3de08d210b0_0_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de08d210b0_0_50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8" name="Google Shape;338;g3de08d210b0_0_50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out there and it's been on the OWASP Top 10 essentially forever. The fix is boring: never put user input into a SQL string, use ? placeholders and hand the values over in a tuple. And it's ALL SQL, not only the SELECTs. Same rule in every language and every driver too - the placeholder syntax moves around (? in sqlite3, %s in psycopg, :name in cx_Oracle) but the principle doesn't.</a:t>
            </a:r>
            <a:endParaRPr/>
          </a:p>
        </p:txBody>
      </p:sp>
      <p:sp>
        <p:nvSpPr>
          <p:cNvPr id="339" name="Google Shape;339;g3de08d210b0_0_50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6" name="Google Shape;346;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Design-judgment section. The full normalization theory (1NF/2NF/3NF) gets its own lecture later on, so today is just the three shapes a table can take plus some intuition about when you'd reach for each one. The question slide is the hook, so let them sit with it a second.</a:t>
            </a:r>
            <a:endParaRPr/>
          </a:p>
        </p:txBody>
      </p:sp>
      <p:sp>
        <p:nvSpPr>
          <p:cNvPr id="347" name="Google Shape;347;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Let them propose. Most will go straight to a wide table. Push: what if you need to add a new setting next week? What if half the settings are blank for most users? Then walk through the three options.</a:t>
            </a:r>
            <a:endParaRPr/>
          </a:p>
        </p:txBody>
      </p:sp>
      <p:sp>
        <p:nvSpPr>
          <p:cNvPr id="353" name="Google Shape;35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0" name="Google Shape;360;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Pros: fast reads, fixed shape, one row per user, easy to reason about. Cons: rigid - every new setting needs an ALTER TABLE. Wasteful if half the columns are NULL for most users. Columns can balloon to hundreds in real apps. Also: column order in CREATE TABLE matters less than you'd think - the DB stores them in pages efficiently regardless.</a:t>
            </a:r>
            <a:endParaRPr/>
          </a:p>
        </p:txBody>
      </p:sp>
      <p:sp>
        <p:nvSpPr>
          <p:cNvPr id="361" name="Google Shape;361;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EAV = Entity-Attribute-Value. Pros: infinitely flexible, sparse-friendly (you only store the props a user actually has), no schema migrations to add a new prop. Cons: everything is TEXT - you lose types. Querying gets ugly (multiple self-joins to reconstruct one user's settings as a row). Constraints are hard to enforce. Indexes help less because the prop column is itself a value.</a:t>
            </a:r>
            <a:endParaRPr/>
          </a:p>
        </p:txBody>
      </p:sp>
      <p:sp>
        <p:nvSpPr>
          <p:cNvPr id="370" name="Google Shape;370;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8" name="Google Shape;378;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default relational answer. Each table has a single, well-defined purpose. The foreign key (REFERENCES users(id)) enforces that every row in user_settings points at a real user. JOIN reconstructs the whole picture at query time. This is what 'normalization' means at the intuition level - one fact in one place. Full theory comes later in the course.</a:t>
            </a:r>
            <a:endParaRPr/>
          </a:p>
        </p:txBody>
      </p:sp>
      <p:sp>
        <p:nvSpPr>
          <p:cNvPr id="379" name="Google Shape;379;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7" name="Google Shape;387;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rather than rules, and the right answer moves around depending on access patterns, growth, and how often the schema has to change. What I mostly want out of the section is that they learn the question exists at all - most of them have never been asked to design a table, they've only ever used tables somebody else already made.</a:t>
            </a:r>
            <a:endParaRPr/>
          </a:p>
        </p:txBody>
      </p:sp>
      <p:sp>
        <p:nvSpPr>
          <p:cNvPr id="388" name="Google Shape;388;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de08d210b0_0_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4" name="Google Shape;394;g3de08d210b0_0_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rather than rules, and the right answer moves around depending on access patterns, growth, and how often the schema has to change. What I mostly want out of the section is that they learn the question exists at all - most of them have never been asked to design a table, they've only ever used tables somebody else already made.</a:t>
            </a:r>
            <a:endParaRPr/>
          </a:p>
        </p:txBody>
      </p:sp>
      <p:sp>
        <p:nvSpPr>
          <p:cNvPr id="395" name="Google Shape;395;g3de08d210b0_0_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de08d210b0_0_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1" name="Google Shape;401;g3de08d210b0_0_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judgment rather than rules, and the right answer moves around depending on access patterns, growth, and how often the schema has to change. What I mostly want out of the section is that they learn the question exists at all - most of them have never been asked to design a table, they've only ever used tables somebody else already made.</a:t>
            </a:r>
            <a:endParaRPr/>
          </a:p>
        </p:txBody>
      </p:sp>
      <p:sp>
        <p:nvSpPr>
          <p:cNvPr id="402" name="Google Shape;402;g3de08d210b0_0_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8" name="Google Shape;408;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Putting it all together. Short section - mostly review.</a:t>
            </a:r>
            <a:endParaRPr/>
          </a:p>
        </p:txBody>
      </p:sp>
      <p:sp>
        <p:nvSpPr>
          <p:cNvPr id="409" name="Google Shape;409;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de08d210b0_0_58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4" name="Google Shape;414;g3de08d210b0_0_5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data layer for the chat app. Two new things: contextlib.closing() wraps the connection so the 'with' block actually closes it on exit (remember: 'with' on a sqlite3 conn alone is just a transaction). Setting row_factory = sqlite3.Row gives the caller dict-like access to columns. Next lecture we'll expose these functions through a REST API. The pattern is always: connect, execute, commit (for writes), return (for reads).</a:t>
            </a:r>
            <a:endParaRPr/>
          </a:p>
        </p:txBody>
      </p:sp>
      <p:sp>
        <p:nvSpPr>
          <p:cNvPr id="415" name="Google Shape;415;g3de08d210b0_0_58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2" name="Google Shape;42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DB Browser for SQLite is free and lets you view tables, run queries, and inspect data visually. Open chat.db with it after class - they'll see sqlite_master sitting right there in the table list.</a:t>
            </a:r>
            <a:endParaRPr/>
          </a:p>
        </p:txBody>
      </p:sp>
      <p:sp>
        <p:nvSpPr>
          <p:cNvPr id="423" name="Google Shape;423;p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CRUD = Create, read, update, delete, actually maps to insert, select, update, delete above.</a:t>
            </a:r>
            <a:endParaRPr/>
          </a:p>
        </p:txBody>
      </p:sp>
      <p:sp>
        <p:nvSpPr>
          <p:cNvPr id="430" name="Google Shape;430;p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8"/>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4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4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4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4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4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4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4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44"/>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44"/>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44"/>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5"/>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5"/>
          <p:cNvSpPr>
            <a:spLocks noGrp="1"/>
          </p:cNvSpPr>
          <p:nvPr>
            <p:ph type="pic" idx="2"/>
          </p:nvPr>
        </p:nvSpPr>
        <p:spPr>
          <a:xfrm>
            <a:off x="1792288" y="612775"/>
            <a:ext cx="5486400" cy="4114800"/>
          </a:xfrm>
          <a:prstGeom prst="rect">
            <a:avLst/>
          </a:prstGeom>
          <a:noFill/>
          <a:ln>
            <a:noFill/>
          </a:ln>
        </p:spPr>
      </p:sp>
      <p:sp>
        <p:nvSpPr>
          <p:cNvPr id="64" name="Google Shape;64;p45"/>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6"/>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7"/>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7"/>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2.2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Databases with SQL</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Last time: files hit a wall</a:t>
            </a:r>
            <a:endParaRPr/>
          </a:p>
        </p:txBody>
      </p:sp>
      <p:sp>
        <p:nvSpPr>
          <p:cNvPr id="95" name="Google Shape;95;p2"/>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We built a chat store on top of JSON files and ran into five problems:</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a:t>
            </a:r>
            <a:r>
              <a:rPr lang="en-US" sz="2000" b="1" i="0" u="none" strike="noStrike" cap="none">
                <a:solidFill>
                  <a:srgbClr val="666677"/>
                </a:solidFill>
                <a:latin typeface="Calibri"/>
                <a:ea typeface="Calibri"/>
                <a:cs typeface="Calibri"/>
                <a:sym typeface="Calibri"/>
              </a:rPr>
              <a:t>No indexing</a:t>
            </a:r>
            <a:r>
              <a:rPr lang="en-US" sz="2000" b="0" i="0" u="none" strike="noStrike" cap="none">
                <a:solidFill>
                  <a:srgbClr val="666677"/>
                </a:solidFill>
                <a:latin typeface="Calibri"/>
                <a:ea typeface="Calibri"/>
                <a:cs typeface="Calibri"/>
                <a:sym typeface="Calibri"/>
              </a:rPr>
              <a:t> - find one record means read everything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t>
            </a:r>
            <a:r>
              <a:rPr lang="en-US" sz="2000" b="1" i="0" u="none" strike="noStrike" cap="none">
                <a:solidFill>
                  <a:srgbClr val="666677"/>
                </a:solidFill>
                <a:latin typeface="Calibri"/>
                <a:ea typeface="Calibri"/>
                <a:cs typeface="Calibri"/>
                <a:sym typeface="Calibri"/>
              </a:rPr>
              <a:t>No schema</a:t>
            </a:r>
            <a:r>
              <a:rPr lang="en-US" sz="2000" b="0" i="0" u="none" strike="noStrike" cap="none">
                <a:solidFill>
                  <a:srgbClr val="666677"/>
                </a:solidFill>
                <a:latin typeface="Calibri"/>
                <a:ea typeface="Calibri"/>
                <a:cs typeface="Calibri"/>
                <a:sym typeface="Calibri"/>
              </a:rPr>
              <a:t> - nothing enforces structure or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a:t>
            </a:r>
            <a:r>
              <a:rPr lang="en-US" sz="2000" b="1" i="0" u="none" strike="noStrike" cap="none">
                <a:solidFill>
                  <a:srgbClr val="666677"/>
                </a:solidFill>
                <a:latin typeface="Calibri"/>
                <a:ea typeface="Calibri"/>
                <a:cs typeface="Calibri"/>
                <a:sym typeface="Calibri"/>
              </a:rPr>
              <a:t>No concurrency</a:t>
            </a:r>
            <a:r>
              <a:rPr lang="en-US" sz="2000" b="0" i="0" u="none" strike="noStrike" cap="none">
                <a:solidFill>
                  <a:srgbClr val="666677"/>
                </a:solidFill>
                <a:latin typeface="Calibri"/>
                <a:ea typeface="Calibri"/>
                <a:cs typeface="Calibri"/>
                <a:sym typeface="Calibri"/>
              </a:rPr>
              <a:t> - two writers race, data is lost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a:t>
            </a:r>
            <a:r>
              <a:rPr lang="en-US" sz="2000" b="1" i="0" u="none" strike="noStrike" cap="none">
                <a:solidFill>
                  <a:srgbClr val="666677"/>
                </a:solidFill>
                <a:latin typeface="Calibri"/>
                <a:ea typeface="Calibri"/>
                <a:cs typeface="Calibri"/>
                <a:sym typeface="Calibri"/>
              </a:rPr>
              <a:t>No relationships</a:t>
            </a:r>
            <a:r>
              <a:rPr lang="en-US" sz="2000" b="0" i="0" u="none" strike="noStrike" cap="none">
                <a:solidFill>
                  <a:srgbClr val="666677"/>
                </a:solidFill>
                <a:latin typeface="Calibri"/>
                <a:ea typeface="Calibri"/>
                <a:cs typeface="Calibri"/>
                <a:sym typeface="Calibri"/>
              </a:rPr>
              <a:t> - can't link users to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a:t>
            </a:r>
            <a:r>
              <a:rPr lang="en-US" sz="2000" b="1" i="0" u="none" strike="noStrike" cap="none">
                <a:solidFill>
                  <a:srgbClr val="666677"/>
                </a:solidFill>
                <a:latin typeface="Calibri"/>
                <a:ea typeface="Calibri"/>
                <a:cs typeface="Calibri"/>
                <a:sym typeface="Calibri"/>
              </a:rPr>
              <a:t>No query language</a:t>
            </a:r>
            <a:r>
              <a:rPr lang="en-US" sz="2000" b="0" i="0" u="none" strike="noStrike" cap="none">
                <a:solidFill>
                  <a:srgbClr val="666677"/>
                </a:solidFill>
                <a:latin typeface="Calibri"/>
                <a:ea typeface="Calibri"/>
                <a:cs typeface="Calibri"/>
                <a:sym typeface="Calibri"/>
              </a:rPr>
              <a:t> - every filter is a hand-written loop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Today: how databases solve all five.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the cool part - a SQLite database is </a:t>
            </a:r>
            <a:r>
              <a:rPr lang="en-US" sz="2400" b="1" i="0" u="none" strike="noStrike" cap="none">
                <a:solidFill>
                  <a:srgbClr val="333344"/>
                </a:solidFill>
                <a:latin typeface="Calibri"/>
                <a:ea typeface="Calibri"/>
                <a:cs typeface="Calibri"/>
                <a:sym typeface="Calibri"/>
              </a:rPr>
              <a:t>also just a file on disk</a:t>
            </a:r>
            <a:r>
              <a:rPr lang="en-US" sz="2400" b="0" i="0" u="none" strike="noStrike" cap="none">
                <a:solidFill>
                  <a:srgbClr val="333344"/>
                </a:solidFill>
                <a:latin typeface="Calibri"/>
                <a:ea typeface="Calibri"/>
                <a:cs typeface="Calibri"/>
                <a:sym typeface="Calibri"/>
              </a:rPr>
              <a: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0"/>
        <p:cNvGrpSpPr/>
        <p:nvPr/>
      </p:nvGrpSpPr>
      <p:grpSpPr>
        <a:xfrm>
          <a:off x="0" y="0"/>
          <a:ext cx="0" cy="0"/>
          <a:chOff x="0" y="0"/>
          <a:chExt cx="0" cy="0"/>
        </a:xfrm>
      </p:grpSpPr>
      <p:sp>
        <p:nvSpPr>
          <p:cNvPr id="101" name="Google Shape;101;p3"/>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02" name="Google Shape;102;p3"/>
          <p:cNvSpPr txBox="1"/>
          <p:nvPr/>
        </p:nvSpPr>
        <p:spPr>
          <a:xfrm>
            <a:off x="1371600" y="2011680"/>
            <a:ext cx="94484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A SQLite database is a single file on disk.</a:t>
            </a:r>
            <a:br>
              <a:rPr lang="en-US" sz="3400" b="1" i="0" u="none" strike="noStrike" cap="none">
                <a:solidFill>
                  <a:srgbClr val="1A1A2E"/>
                </a:solidFill>
                <a:latin typeface="Calibri"/>
                <a:ea typeface="Calibri"/>
                <a:cs typeface="Calibri"/>
                <a:sym typeface="Calibri"/>
              </a:rPr>
            </a:br>
            <a:r>
              <a:rPr lang="en-US" sz="3400" b="1" i="0" u="none" strike="noStrike" cap="none">
                <a:solidFill>
                  <a:srgbClr val="1A1A2E"/>
                </a:solidFill>
                <a:latin typeface="Calibri"/>
                <a:ea typeface="Calibri"/>
                <a:cs typeface="Calibri"/>
                <a:sym typeface="Calibri"/>
              </a:rPr>
              <a:t>So how does it possibly solve any of these problems?</a:t>
            </a:r>
            <a:endParaRPr/>
          </a:p>
        </p:txBody>
      </p:sp>
      <p:sp>
        <p:nvSpPr>
          <p:cNvPr id="103" name="Google Shape;103;p3"/>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i="0" u="none" strike="noStrike" cap="none">
                <a:solidFill>
                  <a:srgbClr val="666677"/>
                </a:solidFill>
                <a:latin typeface="Calibri"/>
                <a:ea typeface="Calibri"/>
                <a:cs typeface="Calibri"/>
                <a:sym typeface="Calibri"/>
              </a:rPr>
              <a:t>A .db file is just bytes, like a JSON file is just bytes.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8"/>
        <p:cNvGrpSpPr/>
        <p:nvPr/>
      </p:nvGrpSpPr>
      <p:grpSpPr>
        <a:xfrm>
          <a:off x="0" y="0"/>
          <a:ext cx="0" cy="0"/>
          <a:chOff x="0" y="0"/>
          <a:chExt cx="0" cy="0"/>
        </a:xfrm>
      </p:grpSpPr>
      <p:sp>
        <p:nvSpPr>
          <p:cNvPr id="109" name="Google Shape;109;p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Inside the .db File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Pages: a file you can rewrite in pieces</a:t>
            </a:r>
            <a:endParaRPr/>
          </a:p>
        </p:txBody>
      </p:sp>
      <p:sp>
        <p:nvSpPr>
          <p:cNvPr id="116" name="Google Shape;116;p5"/>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SQLite file isn't one big blob. It's sliced into </a:t>
            </a:r>
            <a:r>
              <a:rPr lang="en-US" sz="2400" b="1" i="0" u="none" strike="noStrike" cap="none">
                <a:solidFill>
                  <a:srgbClr val="333344"/>
                </a:solidFill>
                <a:latin typeface="Calibri"/>
                <a:ea typeface="Calibri"/>
                <a:cs typeface="Calibri"/>
                <a:sym typeface="Calibri"/>
              </a:rPr>
              <a:t>pages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Default page size: </a:t>
            </a:r>
            <a:r>
              <a:rPr lang="en-US" sz="2000" b="1" i="0" u="none" strike="noStrike" cap="none">
                <a:solidFill>
                  <a:srgbClr val="666677"/>
                </a:solidFill>
                <a:latin typeface="Calibri"/>
                <a:ea typeface="Calibri"/>
                <a:cs typeface="Calibri"/>
                <a:sym typeface="Calibri"/>
              </a:rPr>
              <a:t>4 KB</a:t>
            </a:r>
            <a:r>
              <a:rPr lang="en-US" sz="2000" b="0" i="0" u="none" strike="noStrike" cap="none">
                <a:solidFill>
                  <a:srgbClr val="666677"/>
                </a:solidFill>
                <a:latin typeface="Calibri"/>
                <a:ea typeface="Calibri"/>
                <a:cs typeface="Calibri"/>
                <a:sym typeface="Calibri"/>
              </a:rPr>
              <a:t>, each page numbered (1, 2, 3,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DB can read or write any single page without touching the rest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Compare to our JSON chat store: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Add one message - rewrite the entire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one field - rewrite the entire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With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Add one row - rewrite one or two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one field - rewrite one page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1"/>
        <p:cNvGrpSpPr/>
        <p:nvPr/>
      </p:nvGrpSpPr>
      <p:grpSpPr>
        <a:xfrm>
          <a:off x="0" y="0"/>
          <a:ext cx="0" cy="0"/>
          <a:chOff x="0" y="0"/>
          <a:chExt cx="0" cy="0"/>
        </a:xfrm>
      </p:grpSpPr>
      <p:sp>
        <p:nvSpPr>
          <p:cNvPr id="122" name="Google Shape;122;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23" name="Google Shape;123;p6"/>
          <p:cNvSpPr txBox="1"/>
          <p:nvPr/>
        </p:nvSpPr>
        <p:spPr>
          <a:xfrm>
            <a:off x="914400" y="146304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How does the DB find a row by id without reading every page?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keeps an </a:t>
            </a:r>
            <a:r>
              <a:rPr lang="en-US" sz="2400" b="1" i="0" u="none" strike="noStrike" cap="none">
                <a:solidFill>
                  <a:srgbClr val="333344"/>
                </a:solidFill>
                <a:latin typeface="Calibri"/>
                <a:ea typeface="Calibri"/>
                <a:cs typeface="Calibri"/>
                <a:sym typeface="Calibri"/>
              </a:rPr>
              <a:t>index</a:t>
            </a:r>
            <a:r>
              <a:rPr lang="en-US" sz="2400" b="0" i="0" u="none" strike="noStrike" cap="none">
                <a:solidFill>
                  <a:srgbClr val="333344"/>
                </a:solidFill>
                <a:latin typeface="Calibri"/>
                <a:ea typeface="Calibri"/>
                <a:cs typeface="Calibri"/>
                <a:sym typeface="Calibri"/>
              </a:rPr>
              <a:t>: a tree structure built from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node holds a range of keys + pointers to child pages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Lookup walks from root - internal node - leaf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step eliminates most of the data</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B-tree</a:t>
            </a:r>
            <a:r>
              <a:rPr lang="en-US" sz="2400" b="0" i="0" u="none" strike="noStrike" cap="none">
                <a:solidFill>
                  <a:srgbClr val="333344"/>
                </a:solidFill>
                <a:latin typeface="Calibri"/>
                <a:ea typeface="Calibri"/>
                <a:cs typeface="Calibri"/>
                <a:sym typeface="Calibri"/>
              </a:rPr>
              <a:t> = balanced tree (not </a:t>
            </a:r>
            <a:r>
              <a:rPr lang="en-US" sz="2400">
                <a:solidFill>
                  <a:srgbClr val="333344"/>
                </a:solidFill>
                <a:latin typeface="Calibri"/>
                <a:ea typeface="Calibri"/>
                <a:cs typeface="Calibri"/>
                <a:sym typeface="Calibri"/>
              </a:rPr>
              <a:t>“binary” tree)</a:t>
            </a:r>
            <a:r>
              <a:rPr lang="en-US" sz="2400" b="0" i="0" u="none" strike="noStrike" cap="none">
                <a:solidFill>
                  <a:srgbClr val="333344"/>
                </a:solidFill>
                <a:latin typeface="Calibri"/>
                <a:ea typeface="Calibri"/>
                <a:cs typeface="Calibri"/>
                <a:sym typeface="Calibri"/>
              </a:rPr>
              <a:t>, optimized for disk access.</a:t>
            </a:r>
            <a:endParaRPr/>
          </a:p>
          <a:p>
            <a:pPr marL="0" marR="0" lvl="0"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
        <p:cNvGrpSpPr/>
        <p:nvPr/>
      </p:nvGrpSpPr>
      <p:grpSpPr>
        <a:xfrm>
          <a:off x="0" y="0"/>
          <a:ext cx="0" cy="0"/>
          <a:chOff x="0" y="0"/>
          <a:chExt cx="0" cy="0"/>
        </a:xfrm>
      </p:grpSpPr>
      <p:sp>
        <p:nvSpPr>
          <p:cNvPr id="129" name="Google Shape;129;g3de08d210b0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30" name="Google Shape;130;g3de08d210b0_0_0"/>
          <p:cNvSpPr txBox="1"/>
          <p:nvPr/>
        </p:nvSpPr>
        <p:spPr>
          <a:xfrm>
            <a:off x="914400" y="1463040"/>
            <a:ext cx="10362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How fast?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million rows - ~</a:t>
            </a:r>
            <a:r>
              <a:rPr lang="en-US" sz="2000">
                <a:solidFill>
                  <a:srgbClr val="666677"/>
                </a:solidFill>
                <a:latin typeface="Calibri"/>
                <a:ea typeface="Calibri"/>
                <a:cs typeface="Calibri"/>
                <a:sym typeface="Calibri"/>
              </a:rPr>
              <a:t>3 or 4</a:t>
            </a:r>
            <a:r>
              <a:rPr lang="en-US" sz="2000" b="0" i="0" u="none" strike="noStrike" cap="none">
                <a:solidFill>
                  <a:srgbClr val="666677"/>
                </a:solidFill>
                <a:latin typeface="Calibri"/>
                <a:ea typeface="Calibri"/>
                <a:cs typeface="Calibri"/>
                <a:sym typeface="Calibri"/>
              </a:rPr>
              <a:t> hops down the tree</a:t>
            </a:r>
            <a:r>
              <a:rPr lang="en-US" sz="2000">
                <a:solidFill>
                  <a:srgbClr val="666677"/>
                </a:solidFill>
                <a:latin typeface="Calibri"/>
                <a:ea typeface="Calibri"/>
                <a:cs typeface="Calibri"/>
                <a:sym typeface="Calibri"/>
              </a:rPr>
              <a:t> if each index page holds ~100 keys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vs. 1 million sequential reads in a JSON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log</a:t>
            </a:r>
            <a:r>
              <a:rPr lang="en-US" sz="2400" b="0" i="0" u="none" strike="noStrike" cap="none" baseline="-25000">
                <a:solidFill>
                  <a:srgbClr val="333344"/>
                </a:solidFill>
                <a:latin typeface="Calibri"/>
                <a:ea typeface="Calibri"/>
                <a:cs typeface="Calibri"/>
                <a:sym typeface="Calibri"/>
              </a:rPr>
              <a:t>~100</a:t>
            </a:r>
            <a:r>
              <a:rPr lang="en-US" sz="2400" b="0" i="0" u="none" strike="noStrike" cap="none">
                <a:solidFill>
                  <a:srgbClr val="333344"/>
                </a:solidFill>
                <a:latin typeface="Calibri"/>
                <a:ea typeface="Calibri"/>
                <a:cs typeface="Calibri"/>
                <a:sym typeface="Calibri"/>
              </a:rPr>
              <a:t>(n) instead of 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5"/>
        <p:cNvGrpSpPr/>
        <p:nvPr/>
      </p:nvGrpSpPr>
      <p:grpSpPr>
        <a:xfrm>
          <a:off x="0" y="0"/>
          <a:ext cx="0" cy="0"/>
          <a:chOff x="0" y="0"/>
          <a:chExt cx="0" cy="0"/>
        </a:xfrm>
      </p:grpSpPr>
      <p:sp>
        <p:nvSpPr>
          <p:cNvPr id="136" name="Google Shape;136;g3de08d210b0_0_82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B-trees: finding one row without scanning all of them</a:t>
            </a:r>
            <a:endParaRPr/>
          </a:p>
        </p:txBody>
      </p:sp>
      <p:sp>
        <p:nvSpPr>
          <p:cNvPr id="137" name="Google Shape;137;g3de08d210b0_0_820"/>
          <p:cNvSpPr txBox="1"/>
          <p:nvPr/>
        </p:nvSpPr>
        <p:spPr>
          <a:xfrm>
            <a:off x="914400" y="1463040"/>
            <a:ext cx="10362900" cy="2062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How fast?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million rows - ~</a:t>
            </a:r>
            <a:r>
              <a:rPr lang="en-US" sz="2000">
                <a:solidFill>
                  <a:srgbClr val="666677"/>
                </a:solidFill>
                <a:latin typeface="Calibri"/>
                <a:ea typeface="Calibri"/>
                <a:cs typeface="Calibri"/>
                <a:sym typeface="Calibri"/>
              </a:rPr>
              <a:t>3 or 4</a:t>
            </a:r>
            <a:r>
              <a:rPr lang="en-US" sz="2000" b="0" i="0" u="none" strike="noStrike" cap="none">
                <a:solidFill>
                  <a:srgbClr val="666677"/>
                </a:solidFill>
                <a:latin typeface="Calibri"/>
                <a:ea typeface="Calibri"/>
                <a:cs typeface="Calibri"/>
                <a:sym typeface="Calibri"/>
              </a:rPr>
              <a:t> hops down the tree</a:t>
            </a:r>
            <a:r>
              <a:rPr lang="en-US" sz="2000">
                <a:solidFill>
                  <a:srgbClr val="666677"/>
                </a:solidFill>
                <a:latin typeface="Calibri"/>
                <a:ea typeface="Calibri"/>
                <a:cs typeface="Calibri"/>
                <a:sym typeface="Calibri"/>
              </a:rPr>
              <a:t> if each index page holds ~100 keys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vs. 1 million sequential reads in a JSON 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log</a:t>
            </a:r>
            <a:r>
              <a:rPr lang="en-US" sz="2400" b="0" i="0" u="none" strike="noStrike" cap="none" baseline="-25000">
                <a:solidFill>
                  <a:srgbClr val="333344"/>
                </a:solidFill>
                <a:latin typeface="Calibri"/>
                <a:ea typeface="Calibri"/>
                <a:cs typeface="Calibri"/>
                <a:sym typeface="Calibri"/>
              </a:rPr>
              <a:t>~100</a:t>
            </a:r>
            <a:r>
              <a:rPr lang="en-US" sz="2400" b="0" i="0" u="none" strike="noStrike" cap="none">
                <a:solidFill>
                  <a:srgbClr val="333344"/>
                </a:solidFill>
                <a:latin typeface="Calibri"/>
                <a:ea typeface="Calibri"/>
                <a:cs typeface="Calibri"/>
                <a:sym typeface="Calibri"/>
              </a:rPr>
              <a:t>(n) instead of n</a:t>
            </a:r>
            <a:r>
              <a:rPr lang="en-US" sz="2400">
                <a:solidFill>
                  <a:srgbClr val="333344"/>
                </a:solidFill>
                <a:latin typeface="Calibri"/>
                <a:ea typeface="Calibri"/>
                <a:cs typeface="Calibri"/>
                <a:sym typeface="Calibri"/>
              </a:rPr>
              <a:t>…still log(n), but constant factors do matter</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sp>
        <p:nvSpPr>
          <p:cNvPr id="143" name="Google Shape;143;p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B-tree, pictured</a:t>
            </a:r>
            <a:endParaRPr/>
          </a:p>
        </p:txBody>
      </p:sp>
      <p:sp>
        <p:nvSpPr>
          <p:cNvPr id="144" name="Google Shape;144;p7"/>
          <p:cNvSpPr/>
          <p:nvPr/>
        </p:nvSpPr>
        <p:spPr>
          <a:xfrm>
            <a:off x="2523000" y="1554475"/>
            <a:ext cx="7064400" cy="73140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EA580C"/>
                </a:solidFill>
                <a:latin typeface="Calibri"/>
                <a:ea typeface="Calibri"/>
                <a:cs typeface="Calibri"/>
                <a:sym typeface="Calibri"/>
              </a:rPr>
              <a:t>Root</a:t>
            </a:r>
            <a:br>
              <a:rPr lang="en-US" sz="1300" b="1" i="0" u="none" strike="noStrike" cap="none">
                <a:solidFill>
                  <a:srgbClr val="EA580C"/>
                </a:solidFill>
                <a:latin typeface="Calibri"/>
                <a:ea typeface="Calibri"/>
                <a:cs typeface="Calibri"/>
                <a:sym typeface="Calibri"/>
              </a:rPr>
            </a:br>
            <a:r>
              <a:rPr lang="en-US" sz="1300" b="1" i="0" u="none" strike="noStrike" cap="none">
                <a:solidFill>
                  <a:srgbClr val="EA580C"/>
                </a:solidFill>
                <a:latin typeface="Calibri"/>
                <a:ea typeface="Calibri"/>
                <a:cs typeface="Calibri"/>
                <a:sym typeface="Calibri"/>
              </a:rPr>
              <a:t>keys 1 - 1,000,000</a:t>
            </a:r>
            <a:endParaRPr/>
          </a:p>
        </p:txBody>
      </p:sp>
      <p:sp>
        <p:nvSpPr>
          <p:cNvPr id="145" name="Google Shape;145;p7"/>
          <p:cNvSpPr/>
          <p:nvPr/>
        </p:nvSpPr>
        <p:spPr>
          <a:xfrm>
            <a:off x="2777686" y="2445910"/>
            <a:ext cx="274200" cy="41160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7"/>
          <p:cNvSpPr/>
          <p:nvPr/>
        </p:nvSpPr>
        <p:spPr>
          <a:xfrm>
            <a:off x="5957316" y="2423160"/>
            <a:ext cx="274320" cy="411480"/>
          </a:xfrm>
          <a:prstGeom prst="downArrow">
            <a:avLst>
              <a:gd name="adj1" fmla="val 50000"/>
              <a:gd name="adj2" fmla="val 50000"/>
            </a:avLst>
          </a:prstGeom>
          <a:solidFill>
            <a:srgbClr val="EA580C"/>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7" name="Google Shape;147;p7"/>
          <p:cNvSpPr/>
          <p:nvPr/>
        </p:nvSpPr>
        <p:spPr>
          <a:xfrm>
            <a:off x="9137070" y="2445960"/>
            <a:ext cx="274200" cy="41160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8" name="Google Shape;148;p7"/>
          <p:cNvSpPr/>
          <p:nvPr/>
        </p:nvSpPr>
        <p:spPr>
          <a:xfrm>
            <a:off x="751636" y="3017520"/>
            <a:ext cx="2560320" cy="73152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1D4ED8"/>
                </a:solidFill>
                <a:latin typeface="Calibri"/>
                <a:ea typeface="Calibri"/>
                <a:cs typeface="Calibri"/>
                <a:sym typeface="Calibri"/>
              </a:rPr>
              <a:t>Internal</a:t>
            </a:r>
            <a:br>
              <a:rPr lang="en-US" sz="1300" b="1" i="0" u="none" strike="noStrike" cap="none">
                <a:solidFill>
                  <a:srgbClr val="1D4ED8"/>
                </a:solidFill>
                <a:latin typeface="Calibri"/>
                <a:ea typeface="Calibri"/>
                <a:cs typeface="Calibri"/>
                <a:sym typeface="Calibri"/>
              </a:rPr>
            </a:br>
            <a:r>
              <a:rPr lang="en-US" sz="1300" b="1" i="0" u="none" strike="noStrike" cap="none">
                <a:solidFill>
                  <a:srgbClr val="1D4ED8"/>
                </a:solidFill>
                <a:latin typeface="Calibri"/>
                <a:ea typeface="Calibri"/>
                <a:cs typeface="Calibri"/>
                <a:sym typeface="Calibri"/>
              </a:rPr>
              <a:t>1 - 333k</a:t>
            </a:r>
            <a:endParaRPr/>
          </a:p>
        </p:txBody>
      </p:sp>
      <p:sp>
        <p:nvSpPr>
          <p:cNvPr id="149" name="Google Shape;149;p7"/>
          <p:cNvSpPr/>
          <p:nvPr/>
        </p:nvSpPr>
        <p:spPr>
          <a:xfrm>
            <a:off x="4814316" y="3017520"/>
            <a:ext cx="2560320" cy="73152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EA580C"/>
                </a:solidFill>
                <a:latin typeface="Calibri"/>
                <a:ea typeface="Calibri"/>
                <a:cs typeface="Calibri"/>
                <a:sym typeface="Calibri"/>
              </a:rPr>
              <a:t>Internal</a:t>
            </a:r>
            <a:br>
              <a:rPr lang="en-US" sz="1300" b="1" i="0" u="none" strike="noStrike" cap="none">
                <a:solidFill>
                  <a:srgbClr val="EA580C"/>
                </a:solidFill>
                <a:latin typeface="Calibri"/>
                <a:ea typeface="Calibri"/>
                <a:cs typeface="Calibri"/>
                <a:sym typeface="Calibri"/>
              </a:rPr>
            </a:br>
            <a:r>
              <a:rPr lang="en-US" sz="1300" b="1" i="0" u="none" strike="noStrike" cap="none">
                <a:solidFill>
                  <a:srgbClr val="EA580C"/>
                </a:solidFill>
                <a:latin typeface="Calibri"/>
                <a:ea typeface="Calibri"/>
                <a:cs typeface="Calibri"/>
                <a:sym typeface="Calibri"/>
              </a:rPr>
              <a:t>334k - 666k</a:t>
            </a:r>
            <a:endParaRPr/>
          </a:p>
        </p:txBody>
      </p:sp>
      <p:sp>
        <p:nvSpPr>
          <p:cNvPr id="150" name="Google Shape;150;p7"/>
          <p:cNvSpPr/>
          <p:nvPr/>
        </p:nvSpPr>
        <p:spPr>
          <a:xfrm>
            <a:off x="8876995" y="3017520"/>
            <a:ext cx="2560320" cy="73152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300" b="1" i="0" u="none" strike="noStrike" cap="none">
                <a:solidFill>
                  <a:srgbClr val="1D4ED8"/>
                </a:solidFill>
                <a:latin typeface="Calibri"/>
                <a:ea typeface="Calibri"/>
                <a:cs typeface="Calibri"/>
                <a:sym typeface="Calibri"/>
              </a:rPr>
              <a:t>Internal</a:t>
            </a:r>
            <a:br>
              <a:rPr lang="en-US" sz="1300" b="1" i="0" u="none" strike="noStrike" cap="none">
                <a:solidFill>
                  <a:srgbClr val="1D4ED8"/>
                </a:solidFill>
                <a:latin typeface="Calibri"/>
                <a:ea typeface="Calibri"/>
                <a:cs typeface="Calibri"/>
                <a:sym typeface="Calibri"/>
              </a:rPr>
            </a:br>
            <a:r>
              <a:rPr lang="en-US" sz="1300" b="1" i="0" u="none" strike="noStrike" cap="none">
                <a:solidFill>
                  <a:srgbClr val="1D4ED8"/>
                </a:solidFill>
                <a:latin typeface="Calibri"/>
                <a:ea typeface="Calibri"/>
                <a:cs typeface="Calibri"/>
                <a:sym typeface="Calibri"/>
              </a:rPr>
              <a:t>667k - 1M</a:t>
            </a:r>
            <a:endParaRPr/>
          </a:p>
        </p:txBody>
      </p:sp>
      <p:sp>
        <p:nvSpPr>
          <p:cNvPr id="151" name="Google Shape;151;p7"/>
          <p:cNvSpPr/>
          <p:nvPr/>
        </p:nvSpPr>
        <p:spPr>
          <a:xfrm>
            <a:off x="878738"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2" name="Google Shape;152;p7"/>
          <p:cNvSpPr/>
          <p:nvPr/>
        </p:nvSpPr>
        <p:spPr>
          <a:xfrm>
            <a:off x="2910535"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3" name="Google Shape;153;p7"/>
          <p:cNvSpPr/>
          <p:nvPr/>
        </p:nvSpPr>
        <p:spPr>
          <a:xfrm>
            <a:off x="4942331"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4" name="Google Shape;154;p7"/>
          <p:cNvSpPr/>
          <p:nvPr/>
        </p:nvSpPr>
        <p:spPr>
          <a:xfrm>
            <a:off x="6973214" y="3886200"/>
            <a:ext cx="274320" cy="411480"/>
          </a:xfrm>
          <a:prstGeom prst="downArrow">
            <a:avLst>
              <a:gd name="adj1" fmla="val 50000"/>
              <a:gd name="adj2" fmla="val 50000"/>
            </a:avLst>
          </a:prstGeom>
          <a:solidFill>
            <a:srgbClr val="EA580C"/>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5" name="Google Shape;155;p7"/>
          <p:cNvSpPr/>
          <p:nvPr/>
        </p:nvSpPr>
        <p:spPr>
          <a:xfrm>
            <a:off x="9005011"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6" name="Google Shape;156;p7"/>
          <p:cNvSpPr/>
          <p:nvPr/>
        </p:nvSpPr>
        <p:spPr>
          <a:xfrm>
            <a:off x="11035893" y="3886200"/>
            <a:ext cx="274320" cy="411480"/>
          </a:xfrm>
          <a:prstGeom prst="downArrow">
            <a:avLst>
              <a:gd name="adj1" fmla="val 50000"/>
              <a:gd name="adj2" fmla="val 50000"/>
            </a:avLst>
          </a:prstGeom>
          <a:solidFill>
            <a:srgbClr val="CBD5E1"/>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7" name="Google Shape;157;p7"/>
          <p:cNvSpPr/>
          <p:nvPr/>
        </p:nvSpPr>
        <p:spPr>
          <a:xfrm>
            <a:off x="170078"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1 - 167k</a:t>
            </a:r>
            <a:endParaRPr/>
          </a:p>
        </p:txBody>
      </p:sp>
      <p:sp>
        <p:nvSpPr>
          <p:cNvPr id="158" name="Google Shape;158;p7"/>
          <p:cNvSpPr/>
          <p:nvPr/>
        </p:nvSpPr>
        <p:spPr>
          <a:xfrm>
            <a:off x="2201875"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168k - 333k</a:t>
            </a:r>
            <a:endParaRPr/>
          </a:p>
        </p:txBody>
      </p:sp>
      <p:sp>
        <p:nvSpPr>
          <p:cNvPr id="159" name="Google Shape;159;p7"/>
          <p:cNvSpPr/>
          <p:nvPr/>
        </p:nvSpPr>
        <p:spPr>
          <a:xfrm>
            <a:off x="4233672"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334k - 500k</a:t>
            </a:r>
            <a:endParaRPr/>
          </a:p>
        </p:txBody>
      </p:sp>
      <p:sp>
        <p:nvSpPr>
          <p:cNvPr id="160" name="Google Shape;160;p7"/>
          <p:cNvSpPr/>
          <p:nvPr/>
        </p:nvSpPr>
        <p:spPr>
          <a:xfrm>
            <a:off x="6264554" y="4480560"/>
            <a:ext cx="1691640" cy="777240"/>
          </a:xfrm>
          <a:prstGeom prst="roundRect">
            <a:avLst>
              <a:gd name="adj" fmla="val 16667"/>
            </a:avLst>
          </a:prstGeom>
          <a:solidFill>
            <a:srgbClr val="FED7AA"/>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EA580C"/>
                </a:solidFill>
                <a:latin typeface="Calibri"/>
                <a:ea typeface="Calibri"/>
                <a:cs typeface="Calibri"/>
                <a:sym typeface="Calibri"/>
              </a:rPr>
              <a:t>Leaf</a:t>
            </a:r>
            <a:br>
              <a:rPr lang="en-US" sz="1200" b="1" i="0" u="none" strike="noStrike" cap="none">
                <a:solidFill>
                  <a:srgbClr val="EA580C"/>
                </a:solidFill>
                <a:latin typeface="Calibri"/>
                <a:ea typeface="Calibri"/>
                <a:cs typeface="Calibri"/>
                <a:sym typeface="Calibri"/>
              </a:rPr>
            </a:br>
            <a:r>
              <a:rPr lang="en-US" sz="1200" b="1" i="0" u="none" strike="noStrike" cap="none">
                <a:solidFill>
                  <a:srgbClr val="EA580C"/>
                </a:solidFill>
                <a:latin typeface="Calibri"/>
                <a:ea typeface="Calibri"/>
                <a:cs typeface="Calibri"/>
                <a:sym typeface="Calibri"/>
              </a:rPr>
              <a:t>501k - 666k</a:t>
            </a:r>
            <a:endParaRPr/>
          </a:p>
        </p:txBody>
      </p:sp>
      <p:sp>
        <p:nvSpPr>
          <p:cNvPr id="161" name="Google Shape;161;p7"/>
          <p:cNvSpPr/>
          <p:nvPr/>
        </p:nvSpPr>
        <p:spPr>
          <a:xfrm>
            <a:off x="8296351"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667k - 833k</a:t>
            </a:r>
            <a:endParaRPr/>
          </a:p>
        </p:txBody>
      </p:sp>
      <p:sp>
        <p:nvSpPr>
          <p:cNvPr id="162" name="Google Shape;162;p7"/>
          <p:cNvSpPr/>
          <p:nvPr/>
        </p:nvSpPr>
        <p:spPr>
          <a:xfrm>
            <a:off x="10327233" y="4480560"/>
            <a:ext cx="1691640" cy="777240"/>
          </a:xfrm>
          <a:prstGeom prst="roundRect">
            <a:avLst>
              <a:gd name="adj" fmla="val 16667"/>
            </a:avLst>
          </a:prstGeom>
          <a:solidFill>
            <a:srgbClr val="DBEAFE"/>
          </a:solidFill>
          <a:ln w="12700" cap="flat" cmpd="sng">
            <a:solidFill>
              <a:srgbClr val="666677"/>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i="0" u="none" strike="noStrike" cap="none">
                <a:solidFill>
                  <a:srgbClr val="1D4ED8"/>
                </a:solidFill>
                <a:latin typeface="Calibri"/>
                <a:ea typeface="Calibri"/>
                <a:cs typeface="Calibri"/>
                <a:sym typeface="Calibri"/>
              </a:rPr>
              <a:t>Leaf</a:t>
            </a:r>
            <a:br>
              <a:rPr lang="en-US" sz="1200" b="1" i="0" u="none" strike="noStrike" cap="none">
                <a:solidFill>
                  <a:srgbClr val="1D4ED8"/>
                </a:solidFill>
                <a:latin typeface="Calibri"/>
                <a:ea typeface="Calibri"/>
                <a:cs typeface="Calibri"/>
                <a:sym typeface="Calibri"/>
              </a:rPr>
            </a:br>
            <a:r>
              <a:rPr lang="en-US" sz="1200" b="1" i="0" u="none" strike="noStrike" cap="none">
                <a:solidFill>
                  <a:srgbClr val="1D4ED8"/>
                </a:solidFill>
                <a:latin typeface="Calibri"/>
                <a:ea typeface="Calibri"/>
                <a:cs typeface="Calibri"/>
                <a:sym typeface="Calibri"/>
              </a:rPr>
              <a:t>834k - 1M</a:t>
            </a:r>
            <a:endParaRPr/>
          </a:p>
        </p:txBody>
      </p:sp>
      <p:sp>
        <p:nvSpPr>
          <p:cNvPr id="163" name="Google Shape;163;p7"/>
          <p:cNvSpPr txBox="1"/>
          <p:nvPr/>
        </p:nvSpPr>
        <p:spPr>
          <a:xfrm>
            <a:off x="457200" y="5852160"/>
            <a:ext cx="11247120" cy="457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b="0" i="0" u="none" strike="noStrike" cap="none">
                <a:solidFill>
                  <a:srgbClr val="666677"/>
                </a:solidFill>
                <a:latin typeface="Calibri"/>
                <a:ea typeface="Calibri"/>
                <a:cs typeface="Calibri"/>
                <a:sym typeface="Calibri"/>
              </a:rPr>
              <a:t>Lookup id=600,000: 3 hops down the tree to find 1 row out of 1,000,000</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8"/>
        <p:cNvGrpSpPr/>
        <p:nvPr/>
      </p:nvGrpSpPr>
      <p:grpSpPr>
        <a:xfrm>
          <a:off x="0" y="0"/>
          <a:ext cx="0" cy="0"/>
          <a:chOff x="0" y="0"/>
          <a:chExt cx="0" cy="0"/>
        </a:xfrm>
      </p:grpSpPr>
      <p:sp>
        <p:nvSpPr>
          <p:cNvPr id="169" name="Google Shape;169;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schema lives in the file</a:t>
            </a:r>
            <a:endParaRPr/>
          </a:p>
        </p:txBody>
      </p:sp>
      <p:sp>
        <p:nvSpPr>
          <p:cNvPr id="170" name="Google Shape;170;p8"/>
          <p:cNvSpPr txBox="1"/>
          <p:nvPr/>
        </p:nvSpPr>
        <p:spPr>
          <a:xfrm>
            <a:off x="834125" y="1210740"/>
            <a:ext cx="10362900" cy="538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How does the database know what tables exist?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stores its own table definitions in a special table: `sqlite_master`.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row per table, view, or index in your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Columns: name, type, sql (the original </a:t>
            </a:r>
            <a:r>
              <a:rPr lang="en-US" sz="2000" b="1" i="0" u="none" strike="noStrike" cap="none">
                <a:solidFill>
                  <a:srgbClr val="666677"/>
                </a:solidFill>
                <a:latin typeface="Courier Prime"/>
                <a:ea typeface="Courier Prime"/>
                <a:cs typeface="Courier Prime"/>
                <a:sym typeface="Courier Prime"/>
              </a:rPr>
              <a:t>CREATE TABLE</a:t>
            </a:r>
            <a:r>
              <a:rPr lang="en-US" sz="2000" b="0" i="0" u="none" strike="noStrike" cap="none">
                <a:solidFill>
                  <a:srgbClr val="666677"/>
                </a:solidFill>
                <a:latin typeface="Calibri"/>
                <a:ea typeface="Calibri"/>
                <a:cs typeface="Calibri"/>
                <a:sym typeface="Calibri"/>
              </a:rPr>
              <a:t> statement)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database describes itself.</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SELECT name, sql FROM sqlite_master WHERE type='table';</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Why it's cool: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DB enforces every constraint at write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Typos and bad types fail loudly instead of silently corrupting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5"/>
        <p:cNvGrpSpPr/>
        <p:nvPr/>
      </p:nvGrpSpPr>
      <p:grpSpPr>
        <a:xfrm>
          <a:off x="0" y="0"/>
          <a:ext cx="0" cy="0"/>
          <a:chOff x="0" y="0"/>
          <a:chExt cx="0" cy="0"/>
        </a:xfrm>
      </p:grpSpPr>
      <p:sp>
        <p:nvSpPr>
          <p:cNvPr id="176" name="Google Shape;176;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rollback journal: free crash safety</a:t>
            </a:r>
            <a:endParaRPr/>
          </a:p>
        </p:txBody>
      </p:sp>
      <p:sp>
        <p:nvSpPr>
          <p:cNvPr id="177" name="Google Shape;177;p9"/>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What if the power dies mid-write?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Before changing a page, SQLite copies the </a:t>
            </a:r>
            <a:r>
              <a:rPr lang="en-US" sz="2400" b="1" i="0" u="none" strike="noStrike" cap="none">
                <a:solidFill>
                  <a:srgbClr val="333344"/>
                </a:solidFill>
                <a:latin typeface="Calibri"/>
                <a:ea typeface="Calibri"/>
                <a:cs typeface="Calibri"/>
                <a:sym typeface="Calibri"/>
              </a:rPr>
              <a:t>old version</a:t>
            </a:r>
            <a:r>
              <a:rPr lang="en-US" sz="2400" b="0" i="0" u="none" strike="noStrike" cap="none">
                <a:solidFill>
                  <a:srgbClr val="333344"/>
                </a:solidFill>
                <a:latin typeface="Calibri"/>
                <a:ea typeface="Calibri"/>
                <a:cs typeface="Calibri"/>
                <a:sym typeface="Calibri"/>
              </a:rPr>
              <a:t> to a side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`chat.db-journal`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it modifies the page in `chat.db`.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Write completes - delete the journal. Done.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Write is interrupted - next open, SQLite restores the old pages from the 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Either </a:t>
            </a:r>
            <a:r>
              <a:rPr lang="en-US" sz="2400" b="1" i="0" u="none" strike="noStrike" cap="none">
                <a:solidFill>
                  <a:srgbClr val="333344"/>
                </a:solidFill>
                <a:latin typeface="Calibri"/>
                <a:ea typeface="Calibri"/>
                <a:cs typeface="Calibri"/>
                <a:sym typeface="Calibri"/>
              </a:rPr>
              <a:t>all</a:t>
            </a:r>
            <a:r>
              <a:rPr lang="en-US" sz="2400" b="0" i="0" u="none" strike="noStrike" cap="none">
                <a:solidFill>
                  <a:srgbClr val="333344"/>
                </a:solidFill>
                <a:latin typeface="Calibri"/>
                <a:ea typeface="Calibri"/>
                <a:cs typeface="Calibri"/>
                <a:sym typeface="Calibri"/>
              </a:rPr>
              <a:t> of your changes happen, or </a:t>
            </a:r>
            <a:r>
              <a:rPr lang="en-US" sz="2400" b="1" i="0" u="none" strike="noStrike" cap="none">
                <a:solidFill>
                  <a:srgbClr val="333344"/>
                </a:solidFill>
                <a:latin typeface="Calibri"/>
                <a:ea typeface="Calibri"/>
                <a:cs typeface="Calibri"/>
                <a:sym typeface="Calibri"/>
              </a:rPr>
              <a:t>none</a:t>
            </a:r>
            <a:r>
              <a:rPr lang="en-US" sz="2400" b="0" i="0" u="none" strike="noStrike" cap="none">
                <a:solidFill>
                  <a:srgbClr val="333344"/>
                </a:solidFill>
                <a:latin typeface="Calibri"/>
                <a:ea typeface="Calibri"/>
                <a:cs typeface="Calibri"/>
                <a:sym typeface="Calibri"/>
              </a:rPr>
              <a:t> of them do.</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what people mean by </a:t>
            </a:r>
            <a:r>
              <a:rPr lang="en-US" sz="2400" b="1" i="0" u="none" strike="noStrike" cap="none">
                <a:solidFill>
                  <a:srgbClr val="333344"/>
                </a:solidFill>
                <a:latin typeface="Calibri"/>
                <a:ea typeface="Calibri"/>
                <a:cs typeface="Calibri"/>
                <a:sym typeface="Calibri"/>
              </a:rPr>
              <a:t>atomicity</a:t>
            </a:r>
            <a:r>
              <a:rPr lang="en-US" sz="2400" b="0" i="0" u="none" strike="noStrike" cap="none">
                <a:solidFill>
                  <a:srgbClr val="333344"/>
                </a:solidFill>
                <a:latin typeface="Calibri"/>
                <a:ea typeface="Calibri"/>
                <a:cs typeface="Calibri"/>
                <a:sym typeface="Calibri"/>
              </a:rPr>
              <a:t> - the 'A' in ACID.</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Free crash safety, courtesy of one extra file.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2"/>
        <p:cNvGrpSpPr/>
        <p:nvPr/>
      </p:nvGrpSpPr>
      <p:grpSpPr>
        <a:xfrm>
          <a:off x="0" y="0"/>
          <a:ext cx="0" cy="0"/>
          <a:chOff x="0" y="0"/>
          <a:chExt cx="0" cy="0"/>
        </a:xfrm>
      </p:grpSpPr>
      <p:sp>
        <p:nvSpPr>
          <p:cNvPr id="183" name="Google Shape;183;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File locks: the race condition, solved</a:t>
            </a:r>
            <a:endParaRPr/>
          </a:p>
        </p:txBody>
      </p:sp>
      <p:sp>
        <p:nvSpPr>
          <p:cNvPr id="184" name="Google Shape;184;p10"/>
          <p:cNvSpPr txBox="1"/>
          <p:nvPr/>
        </p:nvSpPr>
        <p:spPr>
          <a:xfrm>
            <a:off x="914400" y="1280140"/>
            <a:ext cx="10362900" cy="4725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Remember the race condition from last lecture?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A reads 5 messages. Process B reads 5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append. Both write. One message is lost.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SQLite uses </a:t>
            </a:r>
            <a:r>
              <a:rPr lang="en-US" sz="2400" b="1" i="0" u="none" strike="noStrike" cap="none">
                <a:solidFill>
                  <a:srgbClr val="333344"/>
                </a:solidFill>
                <a:latin typeface="Calibri"/>
                <a:ea typeface="Calibri"/>
                <a:cs typeface="Calibri"/>
                <a:sym typeface="Calibri"/>
              </a:rPr>
              <a:t>OS file locks</a:t>
            </a:r>
            <a:r>
              <a:rPr lang="en-US" sz="2400" b="0" i="0" u="none" strike="noStrike" cap="none">
                <a:solidFill>
                  <a:srgbClr val="333344"/>
                </a:solidFill>
                <a:latin typeface="Calibri"/>
                <a:ea typeface="Calibri"/>
                <a:cs typeface="Calibri"/>
                <a:sym typeface="Calibri"/>
              </a:rPr>
              <a:t> to coordinate writers.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A asks the OS for an exclusive lock on `chat.db`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OS grants it. A writes.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Process B asks for the same lock. OS makes B </a:t>
            </a:r>
            <a:r>
              <a:rPr lang="en-US" sz="2000" b="1" i="0" u="none" strike="noStrike" cap="none">
                <a:solidFill>
                  <a:srgbClr val="666677"/>
                </a:solidFill>
                <a:latin typeface="Calibri"/>
                <a:ea typeface="Calibri"/>
                <a:cs typeface="Calibri"/>
                <a:sym typeface="Calibri"/>
              </a:rPr>
              <a:t>wait</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finishes, releases the lock. B acquires it, sees A's changes, then writes.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No race. No lost message.</a:t>
            </a:r>
            <a:endParaRPr/>
          </a:p>
          <a:p>
            <a:pPr marL="0" marR="0" lvl="0" indent="0" algn="l" rtl="0">
              <a:spcBef>
                <a:spcPts val="60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9"/>
        <p:cNvGrpSpPr/>
        <p:nvPr/>
      </p:nvGrpSpPr>
      <p:grpSpPr>
        <a:xfrm>
          <a:off x="0" y="0"/>
          <a:ext cx="0" cy="0"/>
          <a:chOff x="0" y="0"/>
          <a:chExt cx="0" cy="0"/>
        </a:xfrm>
      </p:grpSpPr>
      <p:sp>
        <p:nvSpPr>
          <p:cNvPr id="190" name="Google Shape;190;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five problems. All solved.</a:t>
            </a:r>
            <a:endParaRPr/>
          </a:p>
        </p:txBody>
      </p:sp>
      <p:sp>
        <p:nvSpPr>
          <p:cNvPr id="191" name="Google Shape;191;p11"/>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1. </a:t>
            </a:r>
            <a:r>
              <a:rPr lang="en-US" sz="2000" b="1" i="0" u="none" strike="noStrike" cap="none">
                <a:solidFill>
                  <a:srgbClr val="666677"/>
                </a:solidFill>
                <a:latin typeface="Calibri"/>
                <a:ea typeface="Calibri"/>
                <a:cs typeface="Calibri"/>
                <a:sym typeface="Calibri"/>
              </a:rPr>
              <a:t>No indexing</a:t>
            </a:r>
            <a:r>
              <a:rPr lang="en-US" sz="2000" b="0" i="0" u="none" strike="noStrike" cap="none">
                <a:solidFill>
                  <a:srgbClr val="666677"/>
                </a:solidFill>
                <a:latin typeface="Calibri"/>
                <a:ea typeface="Calibri"/>
                <a:cs typeface="Calibri"/>
                <a:sym typeface="Calibri"/>
              </a:rPr>
              <a:t> - B-trees over pages (log n lookups)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t>
            </a:r>
            <a:r>
              <a:rPr lang="en-US" sz="2000" b="1" i="0" u="none" strike="noStrike" cap="none">
                <a:solidFill>
                  <a:srgbClr val="666677"/>
                </a:solidFill>
                <a:latin typeface="Calibri"/>
                <a:ea typeface="Calibri"/>
                <a:cs typeface="Calibri"/>
                <a:sym typeface="Calibri"/>
              </a:rPr>
              <a:t>No schema</a:t>
            </a:r>
            <a:r>
              <a:rPr lang="en-US" sz="2000" b="0" i="0" u="none" strike="noStrike" cap="none">
                <a:solidFill>
                  <a:srgbClr val="666677"/>
                </a:solidFill>
                <a:latin typeface="Calibri"/>
                <a:ea typeface="Calibri"/>
                <a:cs typeface="Calibri"/>
                <a:sym typeface="Calibri"/>
              </a:rPr>
              <a:t> - sqlite_master + constraints checked at write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a:t>
            </a:r>
            <a:r>
              <a:rPr lang="en-US" sz="2000" b="1" i="0" u="none" strike="noStrike" cap="none">
                <a:solidFill>
                  <a:srgbClr val="666677"/>
                </a:solidFill>
                <a:latin typeface="Calibri"/>
                <a:ea typeface="Calibri"/>
                <a:cs typeface="Calibri"/>
                <a:sym typeface="Calibri"/>
              </a:rPr>
              <a:t>No concurrency</a:t>
            </a:r>
            <a:r>
              <a:rPr lang="en-US" sz="2000" b="0" i="0" u="none" strike="noStrike" cap="none">
                <a:solidFill>
                  <a:srgbClr val="666677"/>
                </a:solidFill>
                <a:latin typeface="Calibri"/>
                <a:ea typeface="Calibri"/>
                <a:cs typeface="Calibri"/>
                <a:sym typeface="Calibri"/>
              </a:rPr>
              <a:t> - OS file locks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a:t>
            </a:r>
            <a:r>
              <a:rPr lang="en-US" sz="2000" b="1" i="0" u="none" strike="noStrike" cap="none">
                <a:solidFill>
                  <a:srgbClr val="666677"/>
                </a:solidFill>
                <a:latin typeface="Calibri"/>
                <a:ea typeface="Calibri"/>
                <a:cs typeface="Calibri"/>
                <a:sym typeface="Calibri"/>
              </a:rPr>
              <a:t>No relationships</a:t>
            </a:r>
            <a:r>
              <a:rPr lang="en-US" sz="2000" b="0" i="0" u="none" strike="noStrike" cap="none">
                <a:solidFill>
                  <a:srgbClr val="666677"/>
                </a:solidFill>
                <a:latin typeface="Calibri"/>
                <a:ea typeface="Calibri"/>
                <a:cs typeface="Calibri"/>
                <a:sym typeface="Calibri"/>
              </a:rPr>
              <a:t> - foreign keys + joins (next section)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a:t>
            </a:r>
            <a:r>
              <a:rPr lang="en-US" sz="2000" b="1" i="0" u="none" strike="noStrike" cap="none">
                <a:solidFill>
                  <a:srgbClr val="666677"/>
                </a:solidFill>
                <a:latin typeface="Calibri"/>
                <a:ea typeface="Calibri"/>
                <a:cs typeface="Calibri"/>
                <a:sym typeface="Calibri"/>
              </a:rPr>
              <a:t>No query language</a:t>
            </a:r>
            <a:r>
              <a:rPr lang="en-US" sz="2000" b="0" i="0" u="none" strike="noStrike" cap="none">
                <a:solidFill>
                  <a:srgbClr val="666677"/>
                </a:solidFill>
                <a:latin typeface="Calibri"/>
                <a:ea typeface="Calibri"/>
                <a:cs typeface="Calibri"/>
                <a:sym typeface="Calibri"/>
              </a:rPr>
              <a:t> - SQL (next section)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 crash safety - rollback journal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it's still just a file on disk.</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cool part isn't magic. It's </a:t>
            </a:r>
            <a:r>
              <a:rPr lang="en-US" sz="2400" b="1" i="0" u="none" strike="noStrike" cap="none">
                <a:solidFill>
                  <a:srgbClr val="333344"/>
                </a:solidFill>
                <a:latin typeface="Calibri"/>
                <a:ea typeface="Calibri"/>
                <a:cs typeface="Calibri"/>
                <a:sym typeface="Calibri"/>
              </a:rPr>
              <a:t>layout</a:t>
            </a:r>
            <a:r>
              <a:rPr lang="en-US" sz="2400" b="0" i="0" u="none" strike="noStrike" cap="none">
                <a:solidFill>
                  <a:srgbClr val="333344"/>
                </a:solidFill>
                <a:latin typeface="Calibri"/>
                <a:ea typeface="Calibri"/>
                <a:cs typeface="Calibri"/>
                <a:sym typeface="Calibri"/>
              </a:rPr>
              <a:t> + a few small protocols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 top of plain old files.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96"/>
        <p:cNvGrpSpPr/>
        <p:nvPr/>
      </p:nvGrpSpPr>
      <p:grpSpPr>
        <a:xfrm>
          <a:off x="0" y="0"/>
          <a:ext cx="0" cy="0"/>
          <a:chOff x="0" y="0"/>
          <a:chExt cx="0" cy="0"/>
        </a:xfrm>
      </p:grpSpPr>
      <p:sp>
        <p:nvSpPr>
          <p:cNvPr id="197" name="Google Shape;197;p1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SQL: Talking to the Database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2"/>
        <p:cNvGrpSpPr/>
        <p:nvPr/>
      </p:nvGrpSpPr>
      <p:grpSpPr>
        <a:xfrm>
          <a:off x="0" y="0"/>
          <a:ext cx="0" cy="0"/>
          <a:chOff x="0" y="0"/>
          <a:chExt cx="0" cy="0"/>
        </a:xfrm>
      </p:grpSpPr>
      <p:sp>
        <p:nvSpPr>
          <p:cNvPr id="203" name="Google Shape;203;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SQL: the language all databases understand</a:t>
            </a:r>
            <a:endParaRPr/>
          </a:p>
        </p:txBody>
      </p:sp>
      <p:sp>
        <p:nvSpPr>
          <p:cNvPr id="204" name="Google Shape;204;p1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sql</a:t>
            </a:r>
            <a:endParaRPr/>
          </a:p>
        </p:txBody>
      </p:sp>
      <p:sp>
        <p:nvSpPr>
          <p:cNvPr id="205" name="Google Shape;205;p1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6" name="Google Shape;206;p1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Create a table (define structure)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CREATE TABLE messages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Insert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INSERT INTO messages (username, text) VALUES ('alice', 'hello');</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Query rows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SELECT * FROM messages WHERE username = 'alice';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Update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UPDATE messages SET text = 'goodbye' WHERE id = 1;</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Delete a row</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DELETE FROM messages WHERE id = 1;</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1"/>
        <p:cNvGrpSpPr/>
        <p:nvPr/>
      </p:nvGrpSpPr>
      <p:grpSpPr>
        <a:xfrm>
          <a:off x="0" y="0"/>
          <a:ext cx="0" cy="0"/>
          <a:chOff x="0" y="0"/>
          <a:chExt cx="0" cy="0"/>
        </a:xfrm>
      </p:grpSpPr>
      <p:sp>
        <p:nvSpPr>
          <p:cNvPr id="212" name="Google Shape;212;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Declarative, not imperative</a:t>
            </a:r>
            <a:endParaRPr/>
          </a:p>
        </p:txBody>
      </p:sp>
      <p:sp>
        <p:nvSpPr>
          <p:cNvPr id="213" name="Google Shape;213;p13"/>
          <p:cNvSpPr txBox="1"/>
          <p:nvPr/>
        </p:nvSpPr>
        <p:spPr>
          <a:xfrm>
            <a:off x="914400" y="1463040"/>
            <a:ext cx="10362900" cy="434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With files, you wrote </a:t>
            </a:r>
            <a:r>
              <a:rPr lang="en-US" sz="2400" b="1" i="0" u="none" strike="noStrike" cap="none">
                <a:solidFill>
                  <a:srgbClr val="333344"/>
                </a:solidFill>
                <a:latin typeface="Calibri"/>
                <a:ea typeface="Calibri"/>
                <a:cs typeface="Calibri"/>
                <a:sym typeface="Calibri"/>
              </a:rPr>
              <a:t>how</a:t>
            </a:r>
            <a:r>
              <a:rPr lang="en-US" sz="2400" b="0" i="0" u="none" strike="noStrike" cap="none">
                <a:solidFill>
                  <a:srgbClr val="333344"/>
                </a:solidFill>
                <a:latin typeface="Calibri"/>
                <a:ea typeface="Calibri"/>
                <a:cs typeface="Calibri"/>
                <a:sym typeface="Calibri"/>
              </a:rPr>
              <a:t> to find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open the file, parse it, loop, filter, return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With SQL, you write </a:t>
            </a:r>
            <a:r>
              <a:rPr lang="en-US" sz="2400" b="1" i="0" u="none" strike="noStrike" cap="none">
                <a:solidFill>
                  <a:srgbClr val="333344"/>
                </a:solidFill>
                <a:latin typeface="Calibri"/>
                <a:ea typeface="Calibri"/>
                <a:cs typeface="Calibri"/>
                <a:sym typeface="Calibri"/>
              </a:rPr>
              <a:t>what</a:t>
            </a:r>
            <a:r>
              <a:rPr lang="en-US" sz="2400" b="0" i="0" u="none" strike="noStrike" cap="none">
                <a:solidFill>
                  <a:srgbClr val="333344"/>
                </a:solidFill>
                <a:latin typeface="Calibri"/>
                <a:ea typeface="Calibri"/>
                <a:cs typeface="Calibri"/>
                <a:sym typeface="Calibri"/>
              </a:rPr>
              <a:t> you want: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SELECT * FROM messages WHERE username = 'alice'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database picks the strategy: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there an index on username? - use the B-tree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index? - scan the table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Which join order is fastest? - the query planner decides</a:t>
            </a:r>
            <a:endParaRPr/>
          </a:p>
          <a:p>
            <a:pPr marL="0" marR="0" lvl="0"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8"/>
        <p:cNvGrpSpPr/>
        <p:nvPr/>
      </p:nvGrpSpPr>
      <p:grpSpPr>
        <a:xfrm>
          <a:off x="0" y="0"/>
          <a:ext cx="0" cy="0"/>
          <a:chOff x="0" y="0"/>
          <a:chExt cx="0" cy="0"/>
        </a:xfrm>
      </p:grpSpPr>
      <p:sp>
        <p:nvSpPr>
          <p:cNvPr id="219" name="Google Shape;219;g3de08d210b0_0_8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Declarative, not imperative</a:t>
            </a:r>
            <a:endParaRPr/>
          </a:p>
        </p:txBody>
      </p:sp>
      <p:sp>
        <p:nvSpPr>
          <p:cNvPr id="220" name="Google Shape;220;g3de08d210b0_0_826"/>
          <p:cNvSpPr txBox="1"/>
          <p:nvPr/>
        </p:nvSpPr>
        <p:spPr>
          <a:xfrm>
            <a:off x="914400" y="1463040"/>
            <a:ext cx="10362900" cy="13545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describe the resul</a:t>
            </a:r>
            <a:r>
              <a:rPr lang="en-US" sz="2400">
                <a:solidFill>
                  <a:srgbClr val="333344"/>
                </a:solidFill>
                <a:latin typeface="Calibri"/>
                <a:ea typeface="Calibri"/>
                <a:cs typeface="Calibri"/>
                <a:sym typeface="Calibri"/>
              </a:rPr>
              <a:t>t, t</a:t>
            </a:r>
            <a:r>
              <a:rPr lang="en-US" sz="2400" b="0" i="0" u="none" strike="noStrike" cap="none">
                <a:solidFill>
                  <a:srgbClr val="333344"/>
                </a:solidFill>
                <a:latin typeface="Calibri"/>
                <a:ea typeface="Calibri"/>
                <a:cs typeface="Calibri"/>
                <a:sym typeface="Calibri"/>
              </a:rPr>
              <a:t>he DB figures out the path.</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called a </a:t>
            </a:r>
            <a:r>
              <a:rPr lang="en-US" sz="2400" b="1" i="0" u="none" strike="noStrike" cap="none">
                <a:solidFill>
                  <a:srgbClr val="333344"/>
                </a:solidFill>
                <a:latin typeface="Calibri"/>
                <a:ea typeface="Calibri"/>
                <a:cs typeface="Calibri"/>
                <a:sym typeface="Calibri"/>
              </a:rPr>
              <a:t>declarative</a:t>
            </a:r>
            <a:r>
              <a:rPr lang="en-US" sz="2400" b="0" i="0" u="none" strike="noStrike" cap="none">
                <a:solidFill>
                  <a:srgbClr val="333344"/>
                </a:solidFill>
                <a:latin typeface="Calibri"/>
                <a:ea typeface="Calibri"/>
                <a:cs typeface="Calibri"/>
                <a:sym typeface="Calibri"/>
              </a:rPr>
              <a:t> language. It's why SQL has lasted 50 years.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g3de08d210b0_0_5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Connecting to SQLite from Python</a:t>
            </a:r>
            <a:endParaRPr/>
          </a:p>
        </p:txBody>
      </p:sp>
      <p:sp>
        <p:nvSpPr>
          <p:cNvPr id="227" name="Google Shape;227;g3de08d210b0_0_5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g3de08d210b0_0_51"/>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sqlite3 ships with Python - nothing to install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import sqlite3</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Open the database (creates chat.db if it doesn't exist)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 a query - just pass SQL as a string</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result = conn.execute("SELECT 1")</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print(result.fetchone())  # (1,)</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That's the whole API: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sqlite3.connect(path)  - open</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conn.execute(sql)      - run SQL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conn.commit()          - save changes (for writes)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conn.close()           - release the file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g3de08d210b0_0_5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Creating tables (CREATE TABLE)</a:t>
            </a:r>
            <a:endParaRPr/>
          </a:p>
        </p:txBody>
      </p:sp>
      <p:sp>
        <p:nvSpPr>
          <p:cNvPr id="235" name="Google Shape;235;g3de08d210b0_0_5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g3de08d210b0_0_58"/>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CREATE TABLE IF NOT EXISTS messages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INTEGER PRIMARY KEY AUTOINCREMENT,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 TEXT NOT NULL,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timestamp DATETIME DEFAULT CURRENT_TIMESTAMP</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 auto-assigned unique number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NOT NULL      - this column is required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AUTOINCREMENT - id goes 1, 2, 3, ... automatically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DEFAULT       - fills in if you don't provide a value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p:cNvGrpSpPr/>
        <p:nvPr/>
      </p:nvGrpSpPr>
      <p:grpSpPr>
        <a:xfrm>
          <a:off x="0" y="0"/>
          <a:ext cx="0" cy="0"/>
          <a:chOff x="0" y="0"/>
          <a:chExt cx="0" cy="0"/>
        </a:xfrm>
      </p:grpSpPr>
      <p:sp>
        <p:nvSpPr>
          <p:cNvPr id="242" name="Google Shape;242;g3de08d210b0_0_14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Inserting data (INSERT INTO)</a:t>
            </a:r>
            <a:endParaRPr/>
          </a:p>
        </p:txBody>
      </p:sp>
      <p:sp>
        <p:nvSpPr>
          <p:cNvPr id="243" name="Google Shape;243;g3de08d210b0_0_14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g3de08d210b0_0_140"/>
          <p:cNvSpPr txBox="1"/>
          <p:nvPr/>
        </p:nvSpPr>
        <p:spPr>
          <a:xfrm>
            <a:off x="1005840" y="1645920"/>
            <a:ext cx="10179900" cy="294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9"/>
        <p:cNvGrpSpPr/>
        <p:nvPr/>
      </p:nvGrpSpPr>
      <p:grpSpPr>
        <a:xfrm>
          <a:off x="0" y="0"/>
          <a:ext cx="0" cy="0"/>
          <a:chOff x="0" y="0"/>
          <a:chExt cx="0" cy="0"/>
        </a:xfrm>
      </p:grpSpPr>
      <p:sp>
        <p:nvSpPr>
          <p:cNvPr id="250" name="Google Shape;250;g3de08d210b0_0_22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Inserting data (INSERT INTO)</a:t>
            </a:r>
            <a:endParaRPr/>
          </a:p>
        </p:txBody>
      </p:sp>
      <p:sp>
        <p:nvSpPr>
          <p:cNvPr id="251" name="Google Shape;251;g3de08d210b0_0_22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g3de08d210b0_0_222"/>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 marks are placeholders - values pass in as a tuple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sqlite3 escapes them safely (more on injection later)</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Always conn.commit() to save your writes!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sp>
        <p:nvSpPr>
          <p:cNvPr id="258" name="Google Shape;258;g3de08d210b0_0_304"/>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Create a users table and insert data</a:t>
            </a:r>
            <a:endParaRPr/>
          </a:p>
        </p:txBody>
      </p:sp>
      <p:sp>
        <p:nvSpPr>
          <p:cNvPr id="259" name="Google Shape;259;g3de08d210b0_0_304"/>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0" name="Google Shape;260;g3de08d210b0_0_304"/>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1" name="Google Shape;261;g3de08d210b0_0_304"/>
          <p:cNvSpPr txBox="1"/>
          <p:nvPr/>
        </p:nvSpPr>
        <p:spPr>
          <a:xfrm>
            <a:off x="1005840" y="155448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Create a 'users' table with: id, username, email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CREATE TABLE IF NOT EXISTS users (</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Insert a user named alice with email alice@example.com</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g3de08d210b0_0_312"/>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Create a users table and insert data</a:t>
            </a:r>
            <a:endParaRPr/>
          </a:p>
        </p:txBody>
      </p:sp>
      <p:sp>
        <p:nvSpPr>
          <p:cNvPr id="268" name="Google Shape;268;g3de08d210b0_0_312"/>
          <p:cNvSpPr/>
          <p:nvPr/>
        </p:nvSpPr>
        <p:spPr>
          <a:xfrm>
            <a:off x="640080" y="228600"/>
            <a:ext cx="1188600" cy="365700"/>
          </a:xfrm>
          <a:prstGeom prst="roundRect">
            <a:avLst>
              <a:gd name="adj" fmla="val 16667"/>
            </a:avLst>
          </a:prstGeom>
          <a:solidFill>
            <a:srgbClr val="166534"/>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9" name="Google Shape;269;g3de08d210b0_0_312"/>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70" name="Google Shape;270;g3de08d210b0_0_312"/>
          <p:cNvSpPr txBox="1"/>
          <p:nvPr/>
        </p:nvSpPr>
        <p:spPr>
          <a:xfrm>
            <a:off x="1005840" y="1554480"/>
            <a:ext cx="10179900" cy="4689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CREATE TABLE IF NOT EXISTS users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id INTEGER PRIMARY KEY AUTOINCREMENT,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username TEXT NOT NULL,</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email TEXT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"INSERT INTO users (username, email) VALUES (?, ?)",</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("alice", "alice@example.com")</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5"/>
        <p:cNvGrpSpPr/>
        <p:nvPr/>
      </p:nvGrpSpPr>
      <p:grpSpPr>
        <a:xfrm>
          <a:off x="0" y="0"/>
          <a:ext cx="0" cy="0"/>
          <a:chOff x="0" y="0"/>
          <a:chExt cx="0" cy="0"/>
        </a:xfrm>
      </p:grpSpPr>
      <p:sp>
        <p:nvSpPr>
          <p:cNvPr id="276" name="Google Shape;276;g3de08d210b0_0_39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Querying data (SELECT)</a:t>
            </a:r>
            <a:endParaRPr/>
          </a:p>
        </p:txBody>
      </p:sp>
      <p:sp>
        <p:nvSpPr>
          <p:cNvPr id="277" name="Google Shape;277;g3de08d210b0_0_39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78" name="Google Shape;278;g3de08d210b0_0_395"/>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conn.row_factory = sqlite3.Row   # access columns by name (default = tuples)</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Get all 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result = conn.execute("SELECT * FROM 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for row in result: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print(f"{row['username']}: {row['text']}")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alice: hello everyone!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bob: hey alice!</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Fetch all rows at once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rows = conn.execute("SELECT * FROM messages").fetchall()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Or just the first row</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row = conn.execute("SELECT * FROM messages").fetchone()  # or None</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3"/>
        <p:cNvGrpSpPr/>
        <p:nvPr/>
      </p:nvGrpSpPr>
      <p:grpSpPr>
        <a:xfrm>
          <a:off x="0" y="0"/>
          <a:ext cx="0" cy="0"/>
          <a:chOff x="0" y="0"/>
          <a:chExt cx="0" cy="0"/>
        </a:xfrm>
      </p:grpSpPr>
      <p:sp>
        <p:nvSpPr>
          <p:cNvPr id="284" name="Google Shape;284;g3de08d210b0_0_40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Filtering, ordering, and counting</a:t>
            </a:r>
            <a:endParaRPr/>
          </a:p>
        </p:txBody>
      </p:sp>
      <p:sp>
        <p:nvSpPr>
          <p:cNvPr id="285" name="Google Shape;285;g3de08d210b0_0_40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86" name="Google Shape;286;g3de08d210b0_0_402"/>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WHERE - filter rows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("alice",)             # one-element tuple needs the trailing comma!</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ORDER BY + LIMIT - most recent 10</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"SELECT * FROM messages ORDER BY timestamp DESC LIMIT 10"</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COUNT - one row, one column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total = conn.execute("SELECT COUNT(*) FROM messages").fetchone()[0]</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1"/>
        <p:cNvGrpSpPr/>
        <p:nvPr/>
      </p:nvGrpSpPr>
      <p:grpSpPr>
        <a:xfrm>
          <a:off x="0" y="0"/>
          <a:ext cx="0" cy="0"/>
          <a:chOff x="0" y="0"/>
          <a:chExt cx="0" cy="0"/>
        </a:xfrm>
      </p:grpSpPr>
      <p:sp>
        <p:nvSpPr>
          <p:cNvPr id="292" name="Google Shape;292;g3de08d210b0_0_409"/>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Query chat messages</a:t>
            </a:r>
            <a:endParaRPr/>
          </a:p>
        </p:txBody>
      </p:sp>
      <p:sp>
        <p:nvSpPr>
          <p:cNvPr id="293" name="Google Shape;293;g3de08d210b0_0_409"/>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94" name="Google Shape;294;g3de08d210b0_0_409"/>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95" name="Google Shape;295;g3de08d210b0_0_409"/>
          <p:cNvSpPr txBox="1"/>
          <p:nvPr/>
        </p:nvSpPr>
        <p:spPr>
          <a:xfrm>
            <a:off x="1005840" y="155448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1. Get all messages from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2. Get the 5 most recent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3. Count alice's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count = conn.execute(</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________________________________________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).fetchone()[0]</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0"/>
        <p:cNvGrpSpPr/>
        <p:nvPr/>
      </p:nvGrpSpPr>
      <p:grpSpPr>
        <a:xfrm>
          <a:off x="0" y="0"/>
          <a:ext cx="0" cy="0"/>
          <a:chOff x="0" y="0"/>
          <a:chExt cx="0" cy="0"/>
        </a:xfrm>
      </p:grpSpPr>
      <p:sp>
        <p:nvSpPr>
          <p:cNvPr id="301" name="Google Shape;301;g3de08d210b0_0_417"/>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Query chat messages</a:t>
            </a:r>
            <a:endParaRPr/>
          </a:p>
        </p:txBody>
      </p:sp>
      <p:sp>
        <p:nvSpPr>
          <p:cNvPr id="302" name="Google Shape;302;g3de08d210b0_0_417"/>
          <p:cNvSpPr/>
          <p:nvPr/>
        </p:nvSpPr>
        <p:spPr>
          <a:xfrm>
            <a:off x="640080" y="228600"/>
            <a:ext cx="1188600" cy="365700"/>
          </a:xfrm>
          <a:prstGeom prst="roundRect">
            <a:avLst>
              <a:gd name="adj" fmla="val 16667"/>
            </a:avLst>
          </a:prstGeom>
          <a:solidFill>
            <a:srgbClr val="166534"/>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03" name="Google Shape;303;g3de08d210b0_0_417"/>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04" name="Google Shape;304;g3de08d210b0_0_417"/>
          <p:cNvSpPr txBox="1"/>
          <p:nvPr/>
        </p:nvSpPr>
        <p:spPr>
          <a:xfrm>
            <a:off x="1005840" y="155448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1. Messages from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alice_msgs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2. Most recent 5</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recent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ORDER BY timestamp DESC LIMIT 5"</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).fetchall()</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3. Count alice's 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count =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COUNT(*) FROM messages WHERE username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("alice",)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).fetchone()[0]</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conn.close()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9"/>
        <p:cNvGrpSpPr/>
        <p:nvPr/>
      </p:nvGrpSpPr>
      <p:grpSpPr>
        <a:xfrm>
          <a:off x="0" y="0"/>
          <a:ext cx="0" cy="0"/>
          <a:chOff x="0" y="0"/>
          <a:chExt cx="0" cy="0"/>
        </a:xfrm>
      </p:grpSpPr>
      <p:sp>
        <p:nvSpPr>
          <p:cNvPr id="310" name="Google Shape;310;g3de08d210b0_0_42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Updating and deleting (UPDATE, DELETE)</a:t>
            </a:r>
            <a:endParaRPr/>
          </a:p>
        </p:txBody>
      </p:sp>
      <p:sp>
        <p:nvSpPr>
          <p:cNvPr id="311" name="Google Shape;311;g3de08d210b0_0_42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12" name="Google Shape;312;g3de08d210b0_0_425"/>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conn = sqlite3.connect("chat.db")</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UPDATE - change existing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conn.execute(</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"UPDATE messages SET text = ? WHERE id =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("hello world!", 1)</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DELETE - remove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conn.execute("DELETE FROM messages WHERE id = ?", (2,))</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conn.commit()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conn.close()</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Always use WHERE to target specific rows!</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DELETE without WHERE deletes EVERYTHING in the table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7"/>
        <p:cNvGrpSpPr/>
        <p:nvPr/>
      </p:nvGrpSpPr>
      <p:grpSpPr>
        <a:xfrm>
          <a:off x="0" y="0"/>
          <a:ext cx="0" cy="0"/>
          <a:chOff x="0" y="0"/>
          <a:chExt cx="0" cy="0"/>
        </a:xfrm>
      </p:grpSpPr>
      <p:sp>
        <p:nvSpPr>
          <p:cNvPr id="318" name="Google Shape;318;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19" name="Google Shape;319;p2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0" name="Google Shape;320;p25"/>
          <p:cNvSpPr txBox="1"/>
          <p:nvPr/>
        </p:nvSpPr>
        <p:spPr>
          <a:xfrm>
            <a:off x="1005840" y="1645920"/>
            <a:ext cx="10179900" cy="97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5"/>
        <p:cNvGrpSpPr/>
        <p:nvPr/>
      </p:nvGrpSpPr>
      <p:grpSpPr>
        <a:xfrm>
          <a:off x="0" y="0"/>
          <a:ext cx="0" cy="0"/>
          <a:chOff x="0" y="0"/>
          <a:chExt cx="0" cy="0"/>
        </a:xfrm>
      </p:grpSpPr>
      <p:sp>
        <p:nvSpPr>
          <p:cNvPr id="326" name="Google Shape;326;g3de08d210b0_0_1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pic>
        <p:nvPicPr>
          <p:cNvPr id="327" name="Google Shape;327;g3de08d210b0_0_17" title="exploits_of_a_mom_2x.png"/>
          <p:cNvPicPr preferRelativeResize="0"/>
          <p:nvPr/>
        </p:nvPicPr>
        <p:blipFill>
          <a:blip r:embed="rId3">
            <a:alphaModFix/>
          </a:blip>
          <a:stretch>
            <a:fillRect/>
          </a:stretch>
        </p:blipFill>
        <p:spPr>
          <a:xfrm>
            <a:off x="152400" y="1550435"/>
            <a:ext cx="11886875" cy="366244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2"/>
        <p:cNvGrpSpPr/>
        <p:nvPr/>
      </p:nvGrpSpPr>
      <p:grpSpPr>
        <a:xfrm>
          <a:off x="0" y="0"/>
          <a:ext cx="0" cy="0"/>
          <a:chOff x="0" y="0"/>
          <a:chExt cx="0" cy="0"/>
        </a:xfrm>
      </p:grpSpPr>
      <p:sp>
        <p:nvSpPr>
          <p:cNvPr id="333" name="Google Shape;333;g3de08d210b0_0_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34" name="Google Shape;334;g3de08d210b0_0_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5" name="Google Shape;335;g3de08d210b0_0_10"/>
          <p:cNvSpPr txBox="1"/>
          <p:nvPr/>
        </p:nvSpPr>
        <p:spPr>
          <a:xfrm>
            <a:off x="1005840" y="1645920"/>
            <a:ext cx="10179900" cy="212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If user enters: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Query becomes:   SELECT * FROM messages WHERE username =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returns ALL messages - a security breach!</a:t>
            </a:r>
            <a:endParaRPr/>
          </a:p>
          <a:p>
            <a:pPr marL="0" marR="0" lvl="0" indent="0" algn="l" rtl="0">
              <a:spcBef>
                <a:spcPts val="20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0"/>
        <p:cNvGrpSpPr/>
        <p:nvPr/>
      </p:nvGrpSpPr>
      <p:grpSpPr>
        <a:xfrm>
          <a:off x="0" y="0"/>
          <a:ext cx="0" cy="0"/>
          <a:chOff x="0" y="0"/>
          <a:chExt cx="0" cy="0"/>
        </a:xfrm>
      </p:grpSpPr>
      <p:sp>
        <p:nvSpPr>
          <p:cNvPr id="341" name="Google Shape;341;g3de08d210b0_0_50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SQL injection: why parameters matter</a:t>
            </a:r>
            <a:endParaRPr/>
          </a:p>
        </p:txBody>
      </p:sp>
      <p:sp>
        <p:nvSpPr>
          <p:cNvPr id="342" name="Google Shape;342;g3de08d210b0_0_50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43" name="Google Shape;343;g3de08d210b0_0_507"/>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NEVER build SQL with f-strings!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username = input("Enter username: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bad = f"SELECT * FROM messages WHERE username =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If user enters: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Query becomes:   SELECT * FROM messages WHERE username = '' OR 1=1 --'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returns ALL messages - a security breach!</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ALWAYS use parameterized queries:</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result = conn.execute(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"SELECT * FROM messages WHERE username =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(username,)</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sqlite3 escapes the input - safe from injection</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The ? placeholder is your defense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48"/>
        <p:cNvGrpSpPr/>
        <p:nvPr/>
      </p:nvGrpSpPr>
      <p:grpSpPr>
        <a:xfrm>
          <a:off x="0" y="0"/>
          <a:ext cx="0" cy="0"/>
          <a:chOff x="0" y="0"/>
          <a:chExt cx="0" cy="0"/>
        </a:xfrm>
      </p:grpSpPr>
      <p:sp>
        <p:nvSpPr>
          <p:cNvPr id="349" name="Google Shape;349;p2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Schema Design: Normalize or Denormalize?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54"/>
        <p:cNvGrpSpPr/>
        <p:nvPr/>
      </p:nvGrpSpPr>
      <p:grpSpPr>
        <a:xfrm>
          <a:off x="0" y="0"/>
          <a:ext cx="0" cy="0"/>
          <a:chOff x="0" y="0"/>
          <a:chExt cx="0" cy="0"/>
        </a:xfrm>
      </p:grpSpPr>
      <p:sp>
        <p:nvSpPr>
          <p:cNvPr id="355" name="Google Shape;355;p27"/>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356" name="Google Shape;356;p27"/>
          <p:cNvSpPr txBox="1"/>
          <p:nvPr/>
        </p:nvSpPr>
        <p:spPr>
          <a:xfrm>
            <a:off x="1020675" y="2011675"/>
            <a:ext cx="10126500" cy="16623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You need to store user profiles: name, email, theme,</a:t>
            </a:r>
            <a:br>
              <a:rPr lang="en-US" sz="3400" b="1">
                <a:solidFill>
                  <a:srgbClr val="1A1A2E"/>
                </a:solidFill>
                <a:latin typeface="Calibri"/>
                <a:ea typeface="Calibri"/>
                <a:cs typeface="Calibri"/>
                <a:sym typeface="Calibri"/>
              </a:rPr>
            </a:br>
            <a:r>
              <a:rPr lang="en-US" sz="3400" b="1">
                <a:solidFill>
                  <a:srgbClr val="1A1A2E"/>
                </a:solidFill>
                <a:latin typeface="Calibri"/>
                <a:ea typeface="Calibri"/>
                <a:cs typeface="Calibri"/>
                <a:sym typeface="Calibri"/>
              </a:rPr>
              <a:t>font_size, timezone, and 20 other settings.</a:t>
            </a:r>
            <a:br>
              <a:rPr lang="en-US" sz="3400" b="1">
                <a:solidFill>
                  <a:srgbClr val="1A1A2E"/>
                </a:solidFill>
                <a:latin typeface="Calibri"/>
                <a:ea typeface="Calibri"/>
                <a:cs typeface="Calibri"/>
                <a:sym typeface="Calibri"/>
              </a:rPr>
            </a:br>
            <a:r>
              <a:rPr lang="en-US" sz="3400" b="1">
                <a:solidFill>
                  <a:srgbClr val="1A1A2E"/>
                </a:solidFill>
                <a:latin typeface="Calibri"/>
                <a:ea typeface="Calibri"/>
                <a:cs typeface="Calibri"/>
                <a:sym typeface="Calibri"/>
              </a:rPr>
              <a:t>How do you lay out the table?</a:t>
            </a:r>
            <a:endParaRPr/>
          </a:p>
        </p:txBody>
      </p:sp>
      <p:sp>
        <p:nvSpPr>
          <p:cNvPr id="357" name="Google Shape;357;p27"/>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There's more than one right answer.</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2"/>
        <p:cNvGrpSpPr/>
        <p:nvPr/>
      </p:nvGrpSpPr>
      <p:grpSpPr>
        <a:xfrm>
          <a:off x="0" y="0"/>
          <a:ext cx="0" cy="0"/>
          <a:chOff x="0" y="0"/>
          <a:chExt cx="0" cy="0"/>
        </a:xfrm>
      </p:grpSpPr>
      <p:sp>
        <p:nvSpPr>
          <p:cNvPr id="363" name="Google Shape;363;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A: one wide table</a:t>
            </a:r>
            <a:endParaRPr/>
          </a:p>
        </p:txBody>
      </p:sp>
      <p:sp>
        <p:nvSpPr>
          <p:cNvPr id="364" name="Google Shape;364;p2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65" name="Google Shape;365;p2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66" name="Google Shape;366;p2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One row per user, one column per attribute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CREATE TABLE users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name          TEXT NOT NULL,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email         TEXT NOT NULL,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theme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font_size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timezone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notifications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language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 20 more columns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Read: one row, all columns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SELECT theme, font_size FROM users WHERE id = 1;</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Add a new setting? Schema migration: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ALTER TABLE users ADD COLUMN dark_mode INTEGER;</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B: tall (EAV) table</a:t>
            </a:r>
            <a:endParaRPr/>
          </a:p>
        </p:txBody>
      </p:sp>
      <p:sp>
        <p:nvSpPr>
          <p:cNvPr id="373" name="Google Shape;373;p29"/>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74" name="Google Shape;374;p29"/>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75" name="Google Shape;375;p29"/>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One row per (user, prop) pair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CREATE TABLE user_props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user_id INTEGER,</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prop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value   TEXT,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PRIMARY KEY (user_id, prop)</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'theme',     'dark');</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'font_size', '14');</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'timezone',  'America/Chicago');</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Read: one row per setting</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SELECT prop, value FROM user_props WHERE user_id = 1;</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Add a new setting? No migration: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INSERT INTO user_props VALUES (1, 'dark_mode', 'true');</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0"/>
        <p:cNvGrpSpPr/>
        <p:nvPr/>
      </p:nvGrpSpPr>
      <p:grpSpPr>
        <a:xfrm>
          <a:off x="0" y="0"/>
          <a:ext cx="0" cy="0"/>
          <a:chOff x="0" y="0"/>
          <a:chExt cx="0" cy="0"/>
        </a:xfrm>
      </p:grpSpPr>
      <p:sp>
        <p:nvSpPr>
          <p:cNvPr id="381" name="Google Shape;381;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Option C: normalized (separate tables)</a:t>
            </a:r>
            <a:endParaRPr/>
          </a:p>
        </p:txBody>
      </p:sp>
      <p:sp>
        <p:nvSpPr>
          <p:cNvPr id="382" name="Google Shape;382;p3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sql</a:t>
            </a:r>
            <a:endParaRPr/>
          </a:p>
        </p:txBody>
      </p:sp>
      <p:sp>
        <p:nvSpPr>
          <p:cNvPr id="383" name="Google Shape;383;p3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30"/>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 Split into related tables, joined by</a:t>
            </a:r>
            <a:r>
              <a:rPr lang="en-US" b="1">
                <a:solidFill>
                  <a:srgbClr val="333344"/>
                </a:solidFill>
                <a:latin typeface="Courier New"/>
                <a:ea typeface="Courier New"/>
                <a:cs typeface="Courier New"/>
                <a:sym typeface="Courier New"/>
              </a:rPr>
              <a:t> </a:t>
            </a:r>
            <a:r>
              <a:rPr lang="en-US" sz="1400" b="1">
                <a:solidFill>
                  <a:srgbClr val="333344"/>
                </a:solidFill>
                <a:latin typeface="Courier New"/>
                <a:ea typeface="Courier New"/>
                <a:cs typeface="Courier New"/>
                <a:sym typeface="Courier New"/>
              </a:rPr>
              <a:t>key</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CREATE TABLE users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id    INTEGER PRIMARY KEY,</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name  TEXT NOT 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email TEXT NOT 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CREATE TABLE user_settings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user_id   INTEGER PRIMARY KEY REFERENCES users(id),</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theme     TEXT,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font_size INTEGER,</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timezone  TEXT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4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Reconstruct a full profile with a JOIN:</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SELECT u.name, s.theme, s.font_size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FROM users u</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JOIN user_settings s ON s.user_id = u.id</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WHERE u.id = 1;</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9"/>
        <p:cNvGrpSpPr/>
        <p:nvPr/>
      </p:nvGrpSpPr>
      <p:grpSpPr>
        <a:xfrm>
          <a:off x="0" y="0"/>
          <a:ext cx="0" cy="0"/>
          <a:chOff x="0" y="0"/>
          <a:chExt cx="0" cy="0"/>
        </a:xfrm>
      </p:grpSpPr>
      <p:sp>
        <p:nvSpPr>
          <p:cNvPr id="390" name="Google Shape;390;p3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391" name="Google Shape;391;p31"/>
          <p:cNvSpPr txBox="1"/>
          <p:nvPr/>
        </p:nvSpPr>
        <p:spPr>
          <a:xfrm>
            <a:off x="914400" y="146304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6"/>
        <p:cNvGrpSpPr/>
        <p:nvPr/>
      </p:nvGrpSpPr>
      <p:grpSpPr>
        <a:xfrm>
          <a:off x="0" y="0"/>
          <a:ext cx="0" cy="0"/>
          <a:chOff x="0" y="0"/>
          <a:chExt cx="0" cy="0"/>
        </a:xfrm>
      </p:grpSpPr>
      <p:sp>
        <p:nvSpPr>
          <p:cNvPr id="397" name="Google Shape;397;g3de08d210b0_0_3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398" name="Google Shape;398;g3de08d210b0_0_32"/>
          <p:cNvSpPr txBox="1"/>
          <p:nvPr/>
        </p:nvSpPr>
        <p:spPr>
          <a:xfrm>
            <a:off x="914400" y="1463040"/>
            <a:ext cx="10362900" cy="312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EAV (tall) table</a:t>
            </a:r>
            <a:r>
              <a:rPr lang="en-US" sz="2400" b="0">
                <a:solidFill>
                  <a:srgbClr val="333344"/>
                </a:solidFill>
                <a:latin typeface="Calibri"/>
                <a:ea typeface="Calibri"/>
                <a:cs typeface="Calibri"/>
                <a:sym typeface="Calibri"/>
              </a:rPr>
              <a:t> - when props are open-ended or user-defined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Plugin systems, feature flags, custom form fields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Maximum flexibility, weakest typing</a:t>
            </a:r>
            <a:endParaRPr/>
          </a:p>
          <a:p>
            <a:pPr marL="0" marR="0" lvl="0" indent="0" algn="l" rtl="0">
              <a:spcBef>
                <a:spcPts val="600"/>
              </a:spcBef>
              <a:spcAft>
                <a:spcPts val="0"/>
              </a:spcAft>
              <a:buNone/>
            </a:pP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3"/>
        <p:cNvGrpSpPr/>
        <p:nvPr/>
      </p:nvGrpSpPr>
      <p:grpSpPr>
        <a:xfrm>
          <a:off x="0" y="0"/>
          <a:ext cx="0" cy="0"/>
          <a:chOff x="0" y="0"/>
          <a:chExt cx="0" cy="0"/>
        </a:xfrm>
      </p:grpSpPr>
      <p:sp>
        <p:nvSpPr>
          <p:cNvPr id="404" name="Google Shape;404;g3de08d210b0_0_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When to use which</a:t>
            </a:r>
            <a:endParaRPr/>
          </a:p>
        </p:txBody>
      </p:sp>
      <p:sp>
        <p:nvSpPr>
          <p:cNvPr id="405" name="Google Shape;405;g3de08d210b0_0_38"/>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Wide table</a:t>
            </a:r>
            <a:r>
              <a:rPr lang="en-US" sz="2400" b="0">
                <a:solidFill>
                  <a:srgbClr val="333344"/>
                </a:solidFill>
                <a:latin typeface="Calibri"/>
                <a:ea typeface="Calibri"/>
                <a:cs typeface="Calibri"/>
                <a:sym typeface="Calibri"/>
              </a:rPr>
              <a:t> - when columns are fixed and known up front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 name, email, signup date - every user has these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Fast reads, simple queries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EAV (tall) table</a:t>
            </a:r>
            <a:r>
              <a:rPr lang="en-US" sz="2400" b="0">
                <a:solidFill>
                  <a:srgbClr val="333344"/>
                </a:solidFill>
                <a:latin typeface="Calibri"/>
                <a:ea typeface="Calibri"/>
                <a:cs typeface="Calibri"/>
                <a:sym typeface="Calibri"/>
              </a:rPr>
              <a:t> - when props are open-ended or user-defined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Plugin systems, feature flags, custom form fields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Maximum flexibility, weakest typing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Normalized (separate tables)</a:t>
            </a:r>
            <a:r>
              <a:rPr lang="en-US" sz="2400" b="0">
                <a:solidFill>
                  <a:srgbClr val="333344"/>
                </a:solidFill>
                <a:latin typeface="Calibri"/>
                <a:ea typeface="Calibri"/>
                <a:cs typeface="Calibri"/>
                <a:sym typeface="Calibri"/>
              </a:rPr>
              <a:t> - almost everything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Distinct entities with relationships (users, messages, comments...)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default. Use this unless you have a reason not to.</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410"/>
        <p:cNvGrpSpPr/>
        <p:nvPr/>
      </p:nvGrpSpPr>
      <p:grpSpPr>
        <a:xfrm>
          <a:off x="0" y="0"/>
          <a:ext cx="0" cy="0"/>
          <a:chOff x="0" y="0"/>
          <a:chExt cx="0" cy="0"/>
        </a:xfrm>
      </p:grpSpPr>
      <p:sp>
        <p:nvSpPr>
          <p:cNvPr id="411" name="Google Shape;411;p3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Building the Chat Data Layer</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6"/>
        <p:cNvGrpSpPr/>
        <p:nvPr/>
      </p:nvGrpSpPr>
      <p:grpSpPr>
        <a:xfrm>
          <a:off x="0" y="0"/>
          <a:ext cx="0" cy="0"/>
          <a:chOff x="0" y="0"/>
          <a:chExt cx="0" cy="0"/>
        </a:xfrm>
      </p:grpSpPr>
      <p:sp>
        <p:nvSpPr>
          <p:cNvPr id="417" name="Google Shape;417;g3de08d210b0_0_58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Chat app data layer</a:t>
            </a:r>
            <a:endParaRPr/>
          </a:p>
        </p:txBody>
      </p:sp>
      <p:sp>
        <p:nvSpPr>
          <p:cNvPr id="418" name="Google Shape;418;g3de08d210b0_0_58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19" name="Google Shape;419;g3de08d210b0_0_589"/>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import sqlite3</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from contextlib import closing</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DB = "chat.db"</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def add_message(username, msg_text):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with closing(sqlite3.connect(DB)) as conn:</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"INSERT INTO messages (username, text) VALUES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(username, msg_text)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conn.commit()</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def get_recent(limit=20):</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with closing(sqlite3.connect(DB)) as conn:</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conn.row_factory = sqlite3.Row</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return conn.execute(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"SELECT * FROM messages ORDER BY timestamp DESC LIMIT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(limit,)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).fetchall()</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4"/>
        <p:cNvGrpSpPr/>
        <p:nvPr/>
      </p:nvGrpSpPr>
      <p:grpSpPr>
        <a:xfrm>
          <a:off x="0" y="0"/>
          <a:ext cx="0" cy="0"/>
          <a:chOff x="0" y="0"/>
          <a:chExt cx="0" cy="0"/>
        </a:xfrm>
      </p:grpSpPr>
      <p:sp>
        <p:nvSpPr>
          <p:cNvPr id="425" name="Google Shape;425;p3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SQLite in practice</a:t>
            </a:r>
            <a:endParaRPr/>
          </a:p>
        </p:txBody>
      </p:sp>
      <p:sp>
        <p:nvSpPr>
          <p:cNvPr id="426" name="Google Shape;426;p34"/>
          <p:cNvSpPr txBox="1"/>
          <p:nvPr/>
        </p:nvSpPr>
        <p:spPr>
          <a:xfrm>
            <a:off x="914388" y="1280140"/>
            <a:ext cx="10362900" cy="583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SQLite stores everything in a </a:t>
            </a:r>
            <a:r>
              <a:rPr lang="en-US" sz="2400" b="1">
                <a:solidFill>
                  <a:srgbClr val="333344"/>
                </a:solidFill>
                <a:latin typeface="Calibri"/>
                <a:ea typeface="Calibri"/>
                <a:cs typeface="Calibri"/>
                <a:sym typeface="Calibri"/>
              </a:rPr>
              <a:t>single file</a:t>
            </a:r>
            <a:r>
              <a:rPr lang="en-US" sz="2400" b="0">
                <a:solidFill>
                  <a:srgbClr val="333344"/>
                </a:solidFill>
                <a:latin typeface="Calibri"/>
                <a:ea typeface="Calibri"/>
                <a:cs typeface="Calibri"/>
                <a:sym typeface="Calibri"/>
              </a:rPr>
              <a:t> (chat.db)</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No server to install or configure</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Built into Python - nothing extra to set up</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Perfect for development and class projects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Useful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DB Browser for SQLite</a:t>
            </a:r>
            <a:r>
              <a:rPr lang="en-US" sz="2000" b="0" i="0" u="none" strike="noStrike" cap="none">
                <a:solidFill>
                  <a:srgbClr val="666677"/>
                </a:solidFill>
                <a:latin typeface="Calibri"/>
                <a:ea typeface="Calibri"/>
                <a:cs typeface="Calibri"/>
                <a:sym typeface="Calibri"/>
              </a:rPr>
              <a:t> - GUI to inspect your database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sqlite3 CLI</a:t>
            </a:r>
            <a:r>
              <a:rPr lang="en-US" sz="2000" b="0" i="0" u="none" strike="noStrike" cap="none">
                <a:solidFill>
                  <a:srgbClr val="666677"/>
                </a:solidFill>
                <a:latin typeface="Calibri"/>
                <a:ea typeface="Calibri"/>
                <a:cs typeface="Calibri"/>
                <a:sym typeface="Calibri"/>
              </a:rPr>
              <a:t> - command-line tool</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Beyond SQLite:</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PostgreSQL / MySQL</a:t>
            </a:r>
            <a:r>
              <a:rPr lang="en-US" sz="2000">
                <a:solidFill>
                  <a:srgbClr val="666677"/>
                </a:solidFill>
                <a:latin typeface="Calibri"/>
                <a:ea typeface="Calibri"/>
                <a:cs typeface="Calibri"/>
                <a:sym typeface="Calibri"/>
              </a:rPr>
              <a:t> for production - same SQL, different driver</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SQLAlchemy</a:t>
            </a:r>
            <a:r>
              <a:rPr lang="en-US" sz="2000">
                <a:solidFill>
                  <a:srgbClr val="666677"/>
                </a:solidFill>
                <a:latin typeface="Calibri"/>
                <a:ea typeface="Calibri"/>
                <a:cs typeface="Calibri"/>
                <a:sym typeface="Calibri"/>
              </a:rPr>
              <a:t> - Python library that adds connection pooling and</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dialect portability. Worth it once you have a real web app.</a:t>
            </a:r>
            <a:endParaRPr>
              <a:solidFill>
                <a:schemeClr val="dk1"/>
              </a:solidFill>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1"/>
        <p:cNvGrpSpPr/>
        <p:nvPr/>
      </p:nvGrpSpPr>
      <p:grpSpPr>
        <a:xfrm>
          <a:off x="0" y="0"/>
          <a:ext cx="0" cy="0"/>
          <a:chOff x="0" y="0"/>
          <a:chExt cx="0" cy="0"/>
        </a:xfrm>
      </p:grpSpPr>
      <p:sp>
        <p:nvSpPr>
          <p:cNvPr id="432" name="Google Shape;432;p3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Wrapping up</a:t>
            </a:r>
            <a:endParaRPr/>
          </a:p>
        </p:txBody>
      </p:sp>
      <p:sp>
        <p:nvSpPr>
          <p:cNvPr id="433" name="Google Shape;433;p35"/>
          <p:cNvSpPr txBox="1"/>
          <p:nvPr/>
        </p:nvSpPr>
        <p:spPr>
          <a:xfrm>
            <a:off x="914400" y="1463040"/>
            <a:ext cx="10362900" cy="561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A database is a </a:t>
            </a:r>
            <a:r>
              <a:rPr lang="en-US" sz="2400" b="1">
                <a:solidFill>
                  <a:srgbClr val="333344"/>
                </a:solidFill>
                <a:latin typeface="Calibri"/>
                <a:ea typeface="Calibri"/>
                <a:cs typeface="Calibri"/>
                <a:sym typeface="Calibri"/>
              </a:rPr>
              <a:t>file with structure</a:t>
            </a:r>
            <a:r>
              <a:rPr lang="en-US" sz="2400" b="0">
                <a:solidFill>
                  <a:srgbClr val="333344"/>
                </a:solidFill>
                <a:latin typeface="Calibri"/>
                <a:ea typeface="Calibri"/>
                <a:cs typeface="Calibri"/>
                <a:sym typeface="Calibri"/>
              </a:rPr>
              <a:t> - not magic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Pages let it rewrite parts without touching the whole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B-trees make lookups fast (log n, not 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rollback journal makes writes atomic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OS file locks coordinate concurrent writers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SQL</a:t>
            </a:r>
            <a:r>
              <a:rPr lang="en-US" sz="2400" b="0">
                <a:solidFill>
                  <a:srgbClr val="333344"/>
                </a:solidFill>
                <a:latin typeface="Calibri"/>
                <a:ea typeface="Calibri"/>
                <a:cs typeface="Calibri"/>
                <a:sym typeface="Calibri"/>
              </a:rPr>
              <a:t> is a declarative query language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describe the result; the DB picks the path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CRUD: CREATE, </a:t>
            </a:r>
            <a:r>
              <a:rPr lang="en-US" sz="2000">
                <a:solidFill>
                  <a:srgbClr val="666677"/>
                </a:solidFill>
                <a:latin typeface="Calibri"/>
                <a:ea typeface="Calibri"/>
                <a:cs typeface="Calibri"/>
                <a:sym typeface="Calibri"/>
              </a:rPr>
              <a:t>INSERT, </a:t>
            </a:r>
            <a:r>
              <a:rPr lang="en-US" sz="2000" b="0" i="0" u="none" strike="noStrike" cap="none">
                <a:solidFill>
                  <a:srgbClr val="666677"/>
                </a:solidFill>
                <a:latin typeface="Calibri"/>
                <a:ea typeface="Calibri"/>
                <a:cs typeface="Calibri"/>
                <a:sym typeface="Calibri"/>
              </a:rPr>
              <a:t>SELECT</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UPDATE, DELETE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Schema design</a:t>
            </a:r>
            <a:r>
              <a:rPr lang="en-US" sz="2400" b="0">
                <a:solidFill>
                  <a:srgbClr val="333344"/>
                </a:solidFill>
                <a:latin typeface="Calibri"/>
                <a:ea typeface="Calibri"/>
                <a:cs typeface="Calibri"/>
                <a:sym typeface="Calibri"/>
              </a:rPr>
              <a:t> is a real choice - wide, tall, or normalized</a:t>
            </a:r>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Parameterized queries</a:t>
            </a:r>
            <a:r>
              <a:rPr lang="en-US" sz="2400" b="0">
                <a:solidFill>
                  <a:srgbClr val="333344"/>
                </a:solidFill>
                <a:latin typeface="Calibri"/>
                <a:ea typeface="Calibri"/>
                <a:cs typeface="Calibri"/>
                <a:sym typeface="Calibri"/>
              </a:rPr>
              <a:t> are the security default - never f-strings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5704</Words>
  <Application>Microsoft Macintosh PowerPoint</Application>
  <PresentationFormat>Widescreen</PresentationFormat>
  <Paragraphs>560</Paragraphs>
  <Slides>44</Slides>
  <Notes>44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Courier Prime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2026-04-10T00:21:46Z</dcterms:modified>
</cp:coreProperties>
</file>