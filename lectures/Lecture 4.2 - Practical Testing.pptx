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Lst>
  <p:sldSz cy="6858000" cx="12191675"/>
  <p:notesSz cx="6858000" cy="9144000"/>
  <p:embeddedFontLst>
    <p:embeddedFont>
      <p:font typeface="Courier Prime"/>
      <p:regular r:id="rId49"/>
      <p:bold r:id="rId50"/>
      <p:italic r:id="rId51"/>
      <p:boldItalic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53" roundtripDataSignature="AMtx7mi7XtuvKTC4QQPzPGQNDOIHB7JOu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font" Target="fonts/CourierPrime-regular.fntdata"/><Relationship Id="rId50" Type="http://schemas.openxmlformats.org/officeDocument/2006/relationships/font" Target="fonts/CourierPrime-bold.fntdata"/><Relationship Id="rId51" Type="http://schemas.openxmlformats.org/officeDocument/2006/relationships/font" Target="fonts/CourierPrime-italic.fntdata"/><Relationship Id="rId52" Type="http://schemas.openxmlformats.org/officeDocument/2006/relationships/font" Target="fonts/CourierPrime-boldItalic.fntdata"/><Relationship Id="rId53"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 name="Google Shape;91;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4.1 taught testing on pure functions, which was kinda the honeymoon. Now reality hits - the code students actually shipped last week is nothing like shipping_cost.</a:t>
            </a:r>
            <a:endParaRPr/>
          </a:p>
        </p:txBody>
      </p:sp>
      <p:sp>
        <p:nvSpPr>
          <p:cNvPr id="92" name="Google Shape;92;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7" name="Google Shape;97;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Don't explain WHY these were easy yet. The point of this slide is just to let students feel the gap - 'oh yeah, shipping_cost was fine to test, but my POST /api/messages is...kinda not that' - before we list out the specific dependencies on the next slide. Pause a beat after the last bullet, don't rush.</a:t>
            </a:r>
            <a:endParaRPr/>
          </a:p>
        </p:txBody>
      </p:sp>
      <p:sp>
        <p:nvSpPr>
          <p:cNvPr id="98" name="Google Shape;98;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4" name="Google Shape;104;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Every single item on that list turns into a mini-section later in the lecture, so don't rush past it - have students name one or two of the dependencies themselves before you reveal the bullets. 'Control the world around your code' is THE thesis, and it's worth repeating it back at them in different framings throughout the hour. It's kinda the opposite of the fantasy most students have, which is that tests should somehow just run your code as-is and magically know whether it worked.</a:t>
            </a:r>
            <a:br>
              <a:rPr lang="en-US"/>
            </a:br>
            <a:endParaRPr/>
          </a:p>
          <a:p>
            <a:pPr indent="0" lvl="0" marL="0" rtl="0" algn="l">
              <a:spcBef>
                <a:spcPts val="0"/>
              </a:spcBef>
              <a:spcAft>
                <a:spcPts val="0"/>
              </a:spcAft>
              <a:buNone/>
            </a:pPr>
            <a:r>
              <a:rPr lang="en-US"/>
              <a:t>You don't. The trick of practical testing is one phrase:</a:t>
            </a:r>
            <a:endParaRPr/>
          </a:p>
          <a:p>
            <a:pPr indent="0" lvl="0" marL="0" rtl="0" algn="l">
              <a:spcBef>
                <a:spcPts val="0"/>
              </a:spcBef>
              <a:spcAft>
                <a:spcPts val="0"/>
              </a:spcAft>
              <a:buNone/>
            </a:pPr>
            <a:r>
              <a:rPr lang="en-US"/>
              <a:t>control the world around your code.</a:t>
            </a:r>
            <a:endParaRPr/>
          </a:p>
          <a:p>
            <a:pPr indent="0" lvl="0" marL="0" rtl="0" algn="l">
              <a:spcBef>
                <a:spcPts val="0"/>
              </a:spcBef>
              <a:spcAft>
                <a:spcPts val="0"/>
              </a:spcAft>
              <a:buNone/>
            </a:pPr>
            <a:r>
              <a:t/>
            </a:r>
            <a:endParaRPr/>
          </a:p>
        </p:txBody>
      </p:sp>
      <p:sp>
        <p:nvSpPr>
          <p:cNvPr id="105" name="Google Shape;105;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1" name="Google Shape;111;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Issues (1) SLOW - 2s sleep plus process startup per test, multiplied by every test in your suite. (2) FLAKY - if the server takes more than 2s to start, the test just fails for no real reason. (3) PORT CONFLICT - anything else on :8000 breaks it. (4) POLLUTES REAL DB - every run leaves a row in chat.db. (5) TESTS INTERFERE - run it twice, the second run sees     the first run's row. Not independent. (6) ORPHAN PROCESSES - if the test crashes before     finally, uvicorn never gets cleaned up. (7) BOILERPLATE - every test in the file needs the same     subprocess dance. Leave their list up on the board. Each tool in the next section kills one or more of the gripes.</a:t>
            </a:r>
            <a:endParaRPr/>
          </a:p>
        </p:txBody>
      </p:sp>
      <p:sp>
        <p:nvSpPr>
          <p:cNvPr id="112" name="Google Shape;112;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9" name="Google Shape;119;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test technically works, which is part of why it's so seductive - it spins up real uvicorn, hits the real endpoint, gets back the real response. Every dependency is real...which is exactly the problem. Read it out loud line by line before flipping to the discussion slide. Students should feel it's kinda janky by the time you hit `finally: proc.terminate()`.</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US">
                <a:solidFill>
                  <a:schemeClr val="dk1"/>
                </a:solidFill>
              </a:rPr>
              <a:t>Issues (1) SLOW - 2s sleep plus process startup per test, multiplied by every test in your suite. (2) FLAKY - if the server takes more than 2s to start, the test just fails for no real reason. (3) PORT CONFLICT - anything else on :8000 breaks it. (4) POLLUTES REAL DB - every run leaves a row in chat.db. (5) TESTS INTERFERE - run it twice, the second run sees     the first run's row. Not independent. (6) ORPHAN PROCESSES - if the test crashes before     finally, uvicorn never gets cleaned up. (7) BOILERPLATE - every test in the file needs the same     subprocess dance. Leave their list up on the board. Each tool in the next section kills one or more of the gripes.</a:t>
            </a:r>
            <a:endParaRPr>
              <a:solidFill>
                <a:schemeClr val="dk1"/>
              </a:solidFill>
            </a:endParaRPr>
          </a:p>
          <a:p>
            <a:pPr indent="0" lvl="0" marL="0" rtl="0" algn="l">
              <a:spcBef>
                <a:spcPts val="0"/>
              </a:spcBef>
              <a:spcAft>
                <a:spcPts val="0"/>
              </a:spcAft>
              <a:buNone/>
            </a:pPr>
            <a:r>
              <a:t/>
            </a:r>
            <a:endParaRPr/>
          </a:p>
        </p:txBody>
      </p:sp>
      <p:sp>
        <p:nvSpPr>
          <p:cNvPr id="120" name="Google Shape;120;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979b53ae3e_1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8" name="Google Shape;128;g3979b53ae3e_1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Most of these came out of the last discussion. Go quickly; students have already internalized the first two. Spend the most time on deterministic and independent, which are newer to them and will come up in 4.2 when we talk about databases and fixtures.</a:t>
            </a:r>
            <a:endParaRPr/>
          </a:p>
        </p:txBody>
      </p:sp>
      <p:sp>
        <p:nvSpPr>
          <p:cNvPr id="129" name="Google Shape;129;g3979b53ae3e_1_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5" name="Google Shape;135;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toolkit. Every tool gets introduced as the fix for one of the gripes from the discussion board...so keep the board visible.</a:t>
            </a:r>
            <a:endParaRPr/>
          </a:p>
        </p:txBody>
      </p:sp>
      <p:sp>
        <p:nvSpPr>
          <p:cNvPr id="136" name="Google Shape;136;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1" name="Google Shape;141;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TestClient wraps your app and exposes .get(), .post(), etc. that look exactly like the real requests library. Everything happens in-process, no real sockets involved. This one tool kills gripes 1, 2, 3, and 6 from the board in a single shot, which is really why it's the first thing we reach for.</a:t>
            </a:r>
            <a:endParaRPr/>
          </a:p>
        </p:txBody>
      </p:sp>
      <p:sp>
        <p:nvSpPr>
          <p:cNvPr id="142" name="Google Shape;142;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8" name="Google Shape;148;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Compare this to the naive version on the earlier slide. No subprocess, no time.sleep, no requests library, no port, no finally block...just import, instantiate once, call methods on it. This is pretty much all you need to test your endpoints from here on out.</a:t>
            </a:r>
            <a:endParaRPr/>
          </a:p>
        </p:txBody>
      </p:sp>
      <p:sp>
        <p:nvSpPr>
          <p:cNvPr id="149" name="Google Shape;149;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7" name="Google Shape;157;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'parameter name equals fixture name' rule is the piece most students trip on the first time through. Once they see it twice it clicks...it's just not how anything else in Python works. Worth mentioning that fixtures are kinda the thing that separates an 'I have some tests' project from a real test suite.</a:t>
            </a:r>
            <a:endParaRPr/>
          </a:p>
        </p:txBody>
      </p:sp>
      <p:sp>
        <p:nvSpPr>
          <p:cNvPr id="158" name="Google Shape;158;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979b53ae3e_1_25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4" name="Google Shape;164;g3979b53ae3e_1_25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Point at the parameter name with your cursor. pytest looks at the test function's signature, sees `client`, finds a fixture with the same name, runs it, and passes the result in. That's the entire dependency injection mechanism, no magic beyond that.</a:t>
            </a:r>
            <a:endParaRPr/>
          </a:p>
        </p:txBody>
      </p:sp>
      <p:sp>
        <p:nvSpPr>
          <p:cNvPr id="165" name="Google Shape;165;g3979b53ae3e_1_25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3" name="Google Shape;173;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Point at the parameter name with your cursor. pytest looks at the test function's signature, sees `client`, finds a fixture with the same name, runs it, and passes the result in. That's the entire dependency injection mechanism, no magic beyond that.</a:t>
            </a:r>
            <a:endParaRPr/>
          </a:p>
        </p:txBody>
      </p:sp>
      <p:sp>
        <p:nvSpPr>
          <p:cNvPr id="174" name="Google Shape;174;p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979b53ae3e_1_25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2" name="Google Shape;182;g3979b53ae3e_1_25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`yield` splits the fixture into setup (before the yield) and teardown (after the yield), and the teardown runs even if the test blows up. This is kinda how you guarantee test isolation in practice - every test gets a fresh file, nothing leaks between runs.</a:t>
            </a:r>
            <a:endParaRPr/>
          </a:p>
        </p:txBody>
      </p:sp>
      <p:sp>
        <p:nvSpPr>
          <p:cNvPr id="183" name="Google Shape;183;g3979b53ae3e_1_25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0" name="Google Shape;190;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`yield` splits the fixture into setup (before the yield) and teardown (after the yield), and the teardown runs even if the test blows up. This is kinda how you guarantee test isolation in practice - every test gets a fresh file, nothing leaks between runs.</a:t>
            </a:r>
            <a:endParaRPr/>
          </a:p>
        </p:txBody>
      </p:sp>
      <p:sp>
        <p:nvSpPr>
          <p:cNvPr id="191" name="Google Shape;191;p1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979b53ae3e_1_26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8" name="Google Shape;198;g3979b53ae3e_1_26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Every single item on that list turns into a mini-section later in the lecture, so don't rush past it - have students name one or two of the dependencies themselves before you reveal the bullets. 'Control the world around your code' is THE thesis, and it's worth repeating it back at them in different framings throughout the hour. It's kinda the opposite of the fantasy most students have, which is that tests should somehow just run your code as-is and magically know whether it worked.</a:t>
            </a:r>
            <a:br>
              <a:rPr lang="en-US"/>
            </a:br>
            <a:endParaRPr/>
          </a:p>
          <a:p>
            <a:pPr indent="0" lvl="0" marL="0" rtl="0" algn="l">
              <a:spcBef>
                <a:spcPts val="0"/>
              </a:spcBef>
              <a:spcAft>
                <a:spcPts val="0"/>
              </a:spcAft>
              <a:buNone/>
            </a:pPr>
            <a:r>
              <a:rPr lang="en-US"/>
              <a:t>You don't. The trick of practical testing is one phrase:</a:t>
            </a:r>
            <a:endParaRPr/>
          </a:p>
          <a:p>
            <a:pPr indent="0" lvl="0" marL="0" rtl="0" algn="l">
              <a:spcBef>
                <a:spcPts val="0"/>
              </a:spcBef>
              <a:spcAft>
                <a:spcPts val="0"/>
              </a:spcAft>
              <a:buNone/>
            </a:pPr>
            <a:r>
              <a:rPr lang="en-US"/>
              <a:t>control the world around your code.</a:t>
            </a:r>
            <a:endParaRPr/>
          </a:p>
          <a:p>
            <a:pPr indent="0" lvl="0" marL="0" rtl="0" algn="l">
              <a:spcBef>
                <a:spcPts val="0"/>
              </a:spcBef>
              <a:spcAft>
                <a:spcPts val="0"/>
              </a:spcAft>
              <a:buNone/>
            </a:pPr>
            <a:r>
              <a:t/>
            </a:r>
            <a:endParaRPr/>
          </a:p>
        </p:txBody>
      </p:sp>
      <p:sp>
        <p:nvSpPr>
          <p:cNvPr id="199" name="Google Shape;199;g3979b53ae3e_1_26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5" name="Google Shape;205;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in-memory SQLite trick is about the easiest test DB setup in any ecosystem...a fresh database in RAM costs microseconds to create, and it disappears the moment the engine gets garbage-collected. Really convenient for fixtures, and we're about to build one.</a:t>
            </a:r>
            <a:endParaRPr/>
          </a:p>
        </p:txBody>
      </p:sp>
      <p:sp>
        <p:nvSpPr>
          <p:cNvPr id="206" name="Google Shape;206;p1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979b53ae3e_1_27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2" name="Google Shape;212;g3979b53ae3e_1_27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Familiar shape from 2.2, just with SQLAlchemy in front. The engine is the pool manager. init_db creates the table. Run `python db.py` once to set up the file.</a:t>
            </a:r>
            <a:endParaRPr/>
          </a:p>
        </p:txBody>
      </p:sp>
      <p:sp>
        <p:nvSpPr>
          <p:cNvPr id="213" name="Google Shape;213;g3979b53ae3e_1_27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1" name="Google Shape;221;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conftest.py is pytest's magic name - any fixture defined in there is automatically available to every test in the directory, no importing required. The save/replace/yield/restore pattern is how you make app.py use the test database for the duration of one test without touching app.py itself. No conditional 'am I running under pytest' branch anywhere in the app, which is really the whole point.</a:t>
            </a:r>
            <a:endParaRPr/>
          </a:p>
        </p:txBody>
      </p:sp>
      <p:sp>
        <p:nvSpPr>
          <p:cNvPr id="222" name="Google Shape;222;p1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0" name="Google Shape;230;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through the steps in order, slowly - this is the part students tend to rewind. The key property is that your application code is totally unchanged...no conditional branches, no dependency injection into the app, just a temporary attribute swap. Simple, and it really does hold up in practice.</a:t>
            </a:r>
            <a:endParaRPr/>
          </a:p>
        </p:txBody>
      </p:sp>
      <p:sp>
        <p:nvSpPr>
          <p:cNvPr id="231" name="Google Shape;231;p1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7" name="Google Shape;237;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Both fixtures at once: `client` gives you the TestClient, `test_db` gives you the fresh in-memory database. Arrange is automatic. Act is one call. Assert checks both the response body AND that the side effect actually landed in storage. Point at how much shorter this is than the naive version from earlier.</a:t>
            </a:r>
            <a:endParaRPr/>
          </a:p>
        </p:txBody>
      </p:sp>
      <p:sp>
        <p:nvSpPr>
          <p:cNvPr id="238" name="Google Shape;238;p1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979b53ae3e_1_2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6" name="Google Shape;246;g3979b53ae3e_1_2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pyramid is a rule of thumb, not a law, so don't oversell it. The intuition that actually matters: unit tests are cheap and focused, E2E tests are expensive and brittle, so you want a LOT of the former and only a few of the latter. Get that balance wrong the other way and your test suite becomes the thing that slows the team down, which is its own whole gripe.</a:t>
            </a:r>
            <a:endParaRPr/>
          </a:p>
        </p:txBody>
      </p:sp>
      <p:sp>
        <p:nvSpPr>
          <p:cNvPr id="247" name="Google Shape;247;g3979b53ae3e_1_21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979b53ae3e_1_2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3" name="Google Shape;253;g3979b53ae3e_1_2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pyramid is a rule of thumb, not a law, so don't oversell it. The intuition that actually matters: unit tests are cheap and focused, E2E tests are expensive and brittle, so you want a LOT of the former and only a few of the latter. Get that balance wrong the other way and your test suite becomes the thing that slows the team down, which is its own whole gripe.</a:t>
            </a:r>
            <a:endParaRPr/>
          </a:p>
        </p:txBody>
      </p:sp>
      <p:sp>
        <p:nvSpPr>
          <p:cNvPr id="254" name="Google Shape;254;g3979b53ae3e_1_21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0" name="Google Shape;260;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pyramid is a rule of thumb, not a law, so don't oversell it. The intuition that actually matters: unit tests are cheap and focused, E2E tests are expensive and brittle, so you want a LOT of the former and only a few of the latter. Get that balance wrong the other way and your test suite becomes the thing that slows the team down, which is its own whole gripe.</a:t>
            </a:r>
            <a:endParaRPr/>
          </a:p>
        </p:txBody>
      </p:sp>
      <p:sp>
        <p:nvSpPr>
          <p:cNvPr id="261" name="Google Shape;261;p1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979b53ae3e_1_27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7" name="Google Shape;267;g3979b53ae3e_1_27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Every single item on that list turns into a mini-section later in the lecture, so don't rush past it - have students name one or two of the dependencies themselves before you reveal the bullets. 'Control the world around your code' is THE thesis, and it's worth repeating it back at them in different framings throughout the hour. It's kinda the opposite of the fantasy most students have, which is that tests should somehow just run your code as-is and magically know whether it worked.</a:t>
            </a:r>
            <a:br>
              <a:rPr lang="en-US"/>
            </a:br>
            <a:endParaRPr/>
          </a:p>
          <a:p>
            <a:pPr indent="0" lvl="0" marL="0" rtl="0" algn="l">
              <a:spcBef>
                <a:spcPts val="0"/>
              </a:spcBef>
              <a:spcAft>
                <a:spcPts val="0"/>
              </a:spcAft>
              <a:buNone/>
            </a:pPr>
            <a:r>
              <a:rPr lang="en-US"/>
              <a:t>You don't. The trick of practical testing is one phrase:</a:t>
            </a:r>
            <a:endParaRPr/>
          </a:p>
          <a:p>
            <a:pPr indent="0" lvl="0" marL="0" rtl="0" algn="l">
              <a:spcBef>
                <a:spcPts val="0"/>
              </a:spcBef>
              <a:spcAft>
                <a:spcPts val="0"/>
              </a:spcAft>
              <a:buNone/>
            </a:pPr>
            <a:r>
              <a:rPr lang="en-US"/>
              <a:t>control the world around your code.</a:t>
            </a:r>
            <a:endParaRPr/>
          </a:p>
          <a:p>
            <a:pPr indent="0" lvl="0" marL="0" rtl="0" algn="l">
              <a:spcBef>
                <a:spcPts val="0"/>
              </a:spcBef>
              <a:spcAft>
                <a:spcPts val="0"/>
              </a:spcAft>
              <a:buNone/>
            </a:pPr>
            <a:r>
              <a:t/>
            </a:r>
            <a:endParaRPr/>
          </a:p>
        </p:txBody>
      </p:sp>
      <p:sp>
        <p:nvSpPr>
          <p:cNvPr id="268" name="Google Shape;268;g3979b53ae3e_1_27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979b53ae3e_1_36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4" name="Google Shape;274;g3979b53ae3e_1_36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'test has a boundary' framing is the thing to land here - mocks are just the tool for drawing that boundary in a different place than the default. Don't dwell on the abstraction though, students pick it up from the examples on the next couple of slides.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What are some other dependencies that might not cooperate?</a:t>
            </a:r>
            <a:endParaRPr/>
          </a:p>
          <a:p>
            <a:pPr indent="0" lvl="0" marL="0" rtl="0" algn="l">
              <a:spcBef>
                <a:spcPts val="0"/>
              </a:spcBef>
              <a:spcAft>
                <a:spcPts val="0"/>
              </a:spcAft>
              <a:buNone/>
            </a:pPr>
            <a:r>
              <a:rPr lang="en-US"/>
              <a:t> External APIs (Stripe, SendGrid - you don’t want to hit these in tests!)</a:t>
            </a:r>
            <a:endParaRPr/>
          </a:p>
          <a:p>
            <a:pPr indent="0" lvl="0" marL="0" rtl="0" algn="l">
              <a:spcBef>
                <a:spcPts val="0"/>
              </a:spcBef>
              <a:spcAft>
                <a:spcPts val="0"/>
              </a:spcAft>
              <a:buNone/>
            </a:pPr>
            <a:r>
              <a:rPr lang="en-US"/>
              <a:t>  Random numbers (nondeterministic by design)</a:t>
            </a:r>
            <a:endParaRPr/>
          </a:p>
          <a:p>
            <a:pPr indent="0" lvl="0" marL="0" rtl="0" algn="l">
              <a:spcBef>
                <a:spcPts val="0"/>
              </a:spcBef>
              <a:spcAft>
                <a:spcPts val="0"/>
              </a:spcAft>
              <a:buNone/>
            </a:pPr>
            <a:r>
              <a:rPr lang="en-US"/>
              <a:t>  Email senders, payment processors, SMS gateways, ...</a:t>
            </a:r>
            <a:endParaRPr/>
          </a:p>
        </p:txBody>
      </p:sp>
      <p:sp>
        <p:nvSpPr>
          <p:cNvPr id="275" name="Google Shape;275;g3979b53ae3e_1_36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1" name="Google Shape;281;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'test has a boundary' framing is the thing to land here - mocks are just the tool for drawing that boundary in a different place than the default. Don't dwell on the abstraction though, students pick it up from the examples on the next couple of slides.</a:t>
            </a:r>
            <a:endParaRPr/>
          </a:p>
        </p:txBody>
      </p:sp>
      <p:sp>
        <p:nvSpPr>
          <p:cNvPr id="282" name="Google Shape;282;p1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979b53ae3e_1_2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8" name="Google Shape;288;g3979b53ae3e_1_2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`patch` temporarily replaces a name inside another module. Here we're saying 'inside app.py, replace the datetime name with this fake for the duration of the with block.' The fake returns our frozen value whenever .utcnow() is called...and once the with block exits, real datetime is back in place. Determinism restored.</a:t>
            </a:r>
            <a:endParaRPr/>
          </a:p>
        </p:txBody>
      </p:sp>
      <p:sp>
        <p:nvSpPr>
          <p:cNvPr id="289" name="Google Shape;289;g3979b53ae3e_1_22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7" name="Google Shape;297;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`patch` temporarily replaces a name inside another module. Here we're saying 'inside app.py, replace the datetime name with this fake for the duration of the with block.' The fake returns our frozen value whenever .utcnow() is called...and once the with block exits, real datetime is back in place. Determinism restored.</a:t>
            </a:r>
            <a:endParaRPr/>
          </a:p>
        </p:txBody>
      </p:sp>
      <p:sp>
        <p:nvSpPr>
          <p:cNvPr id="298" name="Google Shape;298;p1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6" name="Google Shape;306;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Mocking feels like progress but it can quietly hide real bugs. A test with ten mocks and no real dependencies is mostly testing that your mocks match your expectations about your mocks...it's not really testing your code at all. Default to real, treat mocks as the exception. Honestly this is my single biggest gripe with most student test suites - push your coding agent on this one if it over-mocks on assignment 2, because it absolutely will if you don't.</a:t>
            </a:r>
            <a:endParaRPr/>
          </a:p>
        </p:txBody>
      </p:sp>
      <p:sp>
        <p:nvSpPr>
          <p:cNvPr id="307" name="Google Shape;307;p2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979b53ae3e_1_36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3" name="Google Shape;313;g3979b53ae3e_1_36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Mocking feels like progress but it can quietly hide real bugs. A test with ten mocks and no real dependencies is mostly testing that your mocks match your expectations about your mocks...it's not really testing your code at all. Default to real, treat mocks as the exception. Honestly this is my single biggest gripe with most student test suites - push your coding agent on this one if it over-mocks on assignment 2, because it absolutely will if you don't.</a:t>
            </a:r>
            <a:endParaRPr/>
          </a:p>
        </p:txBody>
      </p:sp>
      <p:sp>
        <p:nvSpPr>
          <p:cNvPr id="314" name="Google Shape;314;g3979b53ae3e_1_36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1" name="Google Shape;321;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exercise pulls together basically everything in the lecture: TestClient for HTTP, test_db for isolation, fixtures for dependency injection, AAA structure in the body of the test. Students who can write this from scratch are ready for the testing requirements in assignment 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def test_post_creates_new_message(client, test_db):</a:t>
            </a:r>
            <a:endParaRPr/>
          </a:p>
          <a:p>
            <a:pPr indent="0" lvl="0" marL="0" rtl="0" algn="l">
              <a:spcBef>
                <a:spcPts val="0"/>
              </a:spcBef>
              <a:spcAft>
                <a:spcPts val="0"/>
              </a:spcAft>
              <a:buNone/>
            </a:pPr>
            <a:r>
              <a:rPr lang="en-US"/>
              <a:t>    # Arrange</a:t>
            </a:r>
            <a:endParaRPr/>
          </a:p>
          <a:p>
            <a:pPr indent="0" lvl="0" marL="0" rtl="0" algn="l">
              <a:spcBef>
                <a:spcPts val="0"/>
              </a:spcBef>
              <a:spcAft>
                <a:spcPts val="0"/>
              </a:spcAft>
              <a:buNone/>
            </a:pPr>
            <a:r>
              <a:rPr lang="en-US"/>
              <a:t>    assert client.get("/api/messages").json() ==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 Act</a:t>
            </a:r>
            <a:endParaRPr/>
          </a:p>
          <a:p>
            <a:pPr indent="0" lvl="0" marL="0" rtl="0" algn="l">
              <a:spcBef>
                <a:spcPts val="0"/>
              </a:spcBef>
              <a:spcAft>
                <a:spcPts val="0"/>
              </a:spcAft>
              <a:buNone/>
            </a:pPr>
            <a:r>
              <a:rPr lang="en-US"/>
              <a:t>    r = client.post("/api/messages",</a:t>
            </a:r>
            <a:endParaRPr/>
          </a:p>
          <a:p>
            <a:pPr indent="0" lvl="0" marL="0" rtl="0" algn="l">
              <a:spcBef>
                <a:spcPts val="0"/>
              </a:spcBef>
              <a:spcAft>
                <a:spcPts val="0"/>
              </a:spcAft>
              <a:buNone/>
            </a:pPr>
            <a:r>
              <a:rPr lang="en-US"/>
              <a:t>                    json={"author": "alice", "text": "first!"})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 Assert: response</a:t>
            </a:r>
            <a:endParaRPr/>
          </a:p>
          <a:p>
            <a:pPr indent="0" lvl="0" marL="0" rtl="0" algn="l">
              <a:spcBef>
                <a:spcPts val="0"/>
              </a:spcBef>
              <a:spcAft>
                <a:spcPts val="0"/>
              </a:spcAft>
              <a:buNone/>
            </a:pPr>
            <a:r>
              <a:rPr lang="en-US"/>
              <a:t>    assert r.status_code == 201</a:t>
            </a:r>
            <a:endParaRPr/>
          </a:p>
          <a:p>
            <a:pPr indent="0" lvl="0" marL="0" rtl="0" algn="l">
              <a:spcBef>
                <a:spcPts val="0"/>
              </a:spcBef>
              <a:spcAft>
                <a:spcPts val="0"/>
              </a:spcAft>
              <a:buNone/>
            </a:pPr>
            <a:r>
              <a:rPr lang="en-US"/>
              <a:t>    body = r.json()</a:t>
            </a:r>
            <a:endParaRPr/>
          </a:p>
          <a:p>
            <a:pPr indent="0" lvl="0" marL="0" rtl="0" algn="l">
              <a:spcBef>
                <a:spcPts val="0"/>
              </a:spcBef>
              <a:spcAft>
                <a:spcPts val="0"/>
              </a:spcAft>
              <a:buNone/>
            </a:pPr>
            <a:r>
              <a:rPr lang="en-US"/>
              <a:t>    assert body["author"] == "alice"</a:t>
            </a:r>
            <a:endParaRPr/>
          </a:p>
          <a:p>
            <a:pPr indent="0" lvl="0" marL="0" rtl="0" algn="l">
              <a:spcBef>
                <a:spcPts val="0"/>
              </a:spcBef>
              <a:spcAft>
                <a:spcPts val="0"/>
              </a:spcAft>
              <a:buNone/>
            </a:pPr>
            <a:r>
              <a:rPr lang="en-US"/>
              <a:t>    assert body["text"] == "first!"</a:t>
            </a:r>
            <a:endParaRPr/>
          </a:p>
          <a:p>
            <a:pPr indent="0" lvl="0" marL="0" rtl="0" algn="l">
              <a:spcBef>
                <a:spcPts val="0"/>
              </a:spcBef>
              <a:spcAft>
                <a:spcPts val="0"/>
              </a:spcAft>
              <a:buNone/>
            </a:pPr>
            <a:r>
              <a:rPr lang="en-US"/>
              <a:t>    assert "id" in body and "timestamp" in body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 Assert: persisted state</a:t>
            </a:r>
            <a:endParaRPr/>
          </a:p>
          <a:p>
            <a:pPr indent="0" lvl="0" marL="0" rtl="0" algn="l">
              <a:spcBef>
                <a:spcPts val="0"/>
              </a:spcBef>
              <a:spcAft>
                <a:spcPts val="0"/>
              </a:spcAft>
              <a:buNone/>
            </a:pPr>
            <a:r>
              <a:rPr lang="en-US"/>
              <a:t>    all_msgs = client.get("/api/messages").json()</a:t>
            </a:r>
            <a:endParaRPr/>
          </a:p>
          <a:p>
            <a:pPr indent="0" lvl="0" marL="0" rtl="0" algn="l">
              <a:spcBef>
                <a:spcPts val="0"/>
              </a:spcBef>
              <a:spcAft>
                <a:spcPts val="0"/>
              </a:spcAft>
              <a:buNone/>
            </a:pPr>
            <a:r>
              <a:rPr lang="en-US"/>
              <a:t>    assert len(all_msgs) == 1</a:t>
            </a:r>
            <a:endParaRPr/>
          </a:p>
          <a:p>
            <a:pPr indent="0" lvl="0" marL="0" rtl="0" algn="l">
              <a:spcBef>
                <a:spcPts val="0"/>
              </a:spcBef>
              <a:spcAft>
                <a:spcPts val="0"/>
              </a:spcAft>
              <a:buNone/>
            </a:pPr>
            <a:r>
              <a:rPr lang="en-US"/>
              <a:t>    assert all_msgs[0]["id"] == body["id"]</a:t>
            </a:r>
            <a:endParaRPr/>
          </a:p>
          <a:p>
            <a:pPr indent="0" lvl="0" marL="0" rtl="0" algn="l">
              <a:spcBef>
                <a:spcPts val="0"/>
              </a:spcBef>
              <a:spcAft>
                <a:spcPts val="0"/>
              </a:spcAft>
              <a:buNone/>
            </a:pPr>
            <a:r>
              <a:t/>
            </a:r>
            <a:endParaRPr/>
          </a:p>
        </p:txBody>
      </p:sp>
      <p:sp>
        <p:nvSpPr>
          <p:cNvPr id="322" name="Google Shape;322;p2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979b53ae3e_1_8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0" name="Google Shape;330;g3979b53ae3e_1_8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Everything up to this point has been about testing: catching problems BEFORE they ship, in conditions you fully control. That whole arc assumes you can reproduce the problem. In production you often can't, and this next section is the tool for that case. Keep the energy up - this is where a lot of students start to connect the lecture to the real systems they use every day.</a:t>
            </a:r>
            <a:endParaRPr/>
          </a:p>
        </p:txBody>
      </p:sp>
      <p:sp>
        <p:nvSpPr>
          <p:cNvPr id="331" name="Google Shape;331;g3979b53ae3e_1_8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979b53ae3e_1_8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6" name="Google Shape;336;g3979b53ae3e_1_8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Paint the scenario specifically. This is what actually happens on day one of running anything real: somebody reports a weird thing, and your dev-environment reflexes (re-run it, poke at it in the debugger) just don't apply. The point of the slide is to make that gap concrete before we name the solution. Don't reveal the word 'log' until the last bullet - let the three 'you can't' lines sit for a beat first.</a:t>
            </a:r>
            <a:endParaRPr/>
          </a:p>
        </p:txBody>
      </p:sp>
      <p:sp>
        <p:nvSpPr>
          <p:cNvPr id="337" name="Google Shape;337;g3979b53ae3e_1_8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979b53ae3e_1_9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3" name="Google Shape;343;g3979b53ae3e_1_9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Don't trash prints too hard - they're fine for local dev and every experienced engineer still uses them. The argument is narrower: in production, where you're reading a thousand lines across many requests, prints stop being enough. Logging is really just print with the metadata you'd end up adding by hand anyway, pre-wired.</a:t>
            </a:r>
            <a:endParaRPr/>
          </a:p>
        </p:txBody>
      </p:sp>
      <p:sp>
        <p:nvSpPr>
          <p:cNvPr id="344" name="Google Shape;344;g3979b53ae3e_1_9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3979b53ae3e_1_9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0" name="Google Shape;350;g3979b53ae3e_1_9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One gotcha y'all will hit the first time: if nothing prints, you forgot the `logging.basicConfig(level=logging.INFO, format=...)` call at startup. Without it the root logger defaults to WARNING and INFO logs are silently dropped. Do it once at the top of app.py (or wherever your entrypoint is) and you're set. Also: use `%s`-style placeholders, not f-strings. The logging library only formats the string if the log actually fires, which matters if you ever crank DEBUG on in a hot path.</a:t>
            </a:r>
            <a:endParaRPr/>
          </a:p>
        </p:txBody>
      </p:sp>
      <p:sp>
        <p:nvSpPr>
          <p:cNvPr id="351" name="Google Shape;351;g3979b53ae3e_1_9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979b53ae3e_1_23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9" name="Google Shape;359;g3979b53ae3e_1_23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single most common mistake junior devs make is leveling everything at INFO. Everything feels informative when you're writing it. Then in prod you have 50M lines a day, the pager never goes off because nothing's at ERROR, and you find out about outages from Twitter. Levels are a conversation between you and your future self at 2am: 'what would I want to be woken up for?' That's ERROR or CRITICAL. Everything else is lower.</a:t>
            </a:r>
            <a:endParaRPr/>
          </a:p>
        </p:txBody>
      </p:sp>
      <p:sp>
        <p:nvSpPr>
          <p:cNvPr id="360" name="Google Shape;360;g3979b53ae3e_1_23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979b53ae3e_1_10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6" name="Google Shape;366;g3979b53ae3e_1_10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single most common mistake junior devs make is leveling everything at INFO. Everything feels informative when you're writing it. Then in prod you have 50M lines a day, the pager never goes off because nothing's at ERROR, and you find out about outages from Twitter. Levels are a conversation between you and your future self at 2am: 'what would I want to be woken up for?' That's ERROR or CRITICAL. Everything else is lower.</a:t>
            </a:r>
            <a:endParaRPr/>
          </a:p>
        </p:txBody>
      </p:sp>
      <p:sp>
        <p:nvSpPr>
          <p:cNvPr id="367" name="Google Shape;367;g3979b53ae3e_1_10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979b53ae3e_1_1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3" name="Google Shape;373;g3979b53ae3e_1_1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Give a real 3 minutes, don't cut it short. Cold-call a few pairs and put their answers on the board. What they'll (and should) say: 'received POST to /api/messages with body X at timestamp T', 'wrote row id=N to the DB', 'GET /api/messages returned N rows', 'any errors between 1:58 and 2:02.' Good framing coming out of it: every one of these is a log line that turns 'dunno' into 'here's the chain of events.' Bridge straight into the next slide - it's really the general version of what they just said.</a:t>
            </a:r>
            <a:endParaRPr/>
          </a:p>
        </p:txBody>
      </p:sp>
      <p:sp>
        <p:nvSpPr>
          <p:cNvPr id="374" name="Google Shape;374;g3979b53ae3e_1_11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3979b53ae3e_1_1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1" name="Google Shape;381;g3979b53ae3e_1_1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'leaked tomorrow' test is really the one that matters - log aggregators are databases, and they get breached just like any other database. A lot of the biggest credential leaks of the last decade weren't from the app itself, they were from debug logs with the password field still in them. Forward-reference 9.2's 'secure by default' thesis - we'll revisit this then.</a:t>
            </a:r>
            <a:endParaRPr/>
          </a:p>
        </p:txBody>
      </p:sp>
      <p:sp>
        <p:nvSpPr>
          <p:cNvPr id="382" name="Google Shape;382;g3979b53ae3e_1_11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3979b53ae3e_1_24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8" name="Google Shape;388;g3979b53ae3e_1_24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Land both theses together. 'Control' (from the testing arc) and 'observe' (from the logging arc) are two halves of the same idea: dev versus prod. This is the slide to pause on and let click before moving to the wrap-up. If students leave with just this one framing they'll be in good shape for assignment 2 and for the final project deploy later in the term.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 thorough test suite won't save you from a prod outage at 2am. Great logs won't save you from shipping a broken release. Skip either, you're blind in one phase.</a:t>
            </a:r>
            <a:endParaRPr/>
          </a:p>
          <a:p>
            <a:pPr indent="0" lvl="0" marL="0" rtl="0" algn="l">
              <a:spcBef>
                <a:spcPts val="0"/>
              </a:spcBef>
              <a:spcAft>
                <a:spcPts val="0"/>
              </a:spcAft>
              <a:buNone/>
            </a:pPr>
            <a:r>
              <a:t/>
            </a:r>
            <a:endParaRPr/>
          </a:p>
        </p:txBody>
      </p:sp>
      <p:sp>
        <p:nvSpPr>
          <p:cNvPr id="389" name="Google Shape;389;g3979b53ae3e_1_24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979b53ae3e_1_1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5" name="Google Shape;395;g3979b53ae3e_1_1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Land both theses together. 'Control' (from the testing arc) and 'observe' (from the logging arc) are two halves of the same idea: dev versus prod. This is the slide to pause on and let click before moving to the wrap-up. If students leave with just this one framing they'll be in good shape for assignment 2 and for the final project deploy later in the term.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 thorough test suite won't save you from a prod outage at 2am. Great logs won't save you from shipping a broken release. Skip either, you're blind in one phase.</a:t>
            </a:r>
            <a:endParaRPr/>
          </a:p>
          <a:p>
            <a:pPr indent="0" lvl="0" marL="0" rtl="0" algn="l">
              <a:spcBef>
                <a:spcPts val="0"/>
              </a:spcBef>
              <a:spcAft>
                <a:spcPts val="0"/>
              </a:spcAft>
              <a:buNone/>
            </a:pPr>
            <a:r>
              <a:t/>
            </a:r>
            <a:endParaRPr/>
          </a:p>
        </p:txBody>
      </p:sp>
      <p:sp>
        <p:nvSpPr>
          <p:cNvPr id="396" name="Google Shape;396;g3979b53ae3e_1_12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3979b53ae3e_1_13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2" name="Google Shape;402;g3979b53ae3e_1_1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Recap both theses side by side and plant the forward-reference: assignment 2 requires tests, so they'll need today's material right away. Logging isn't on the A2 rubric, but it comes back when we deploy in week 7 and again in 9.2 when we talk security - worth saying that out loud so it doesn't feel like a one-off detour.</a:t>
            </a:r>
            <a:endParaRPr/>
          </a:p>
        </p:txBody>
      </p:sp>
      <p:sp>
        <p:nvSpPr>
          <p:cNvPr id="403" name="Google Shape;403;g3979b53ae3e_1_13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6"/>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6"/>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8"/>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8"/>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9"/>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9"/>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0"/>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30"/>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30"/>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30"/>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2"/>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2"/>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32"/>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3"/>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3"/>
          <p:cNvSpPr/>
          <p:nvPr>
            <p:ph idx="2" type="pic"/>
          </p:nvPr>
        </p:nvSpPr>
        <p:spPr>
          <a:xfrm>
            <a:off x="1792288" y="612775"/>
            <a:ext cx="5486400" cy="4114800"/>
          </a:xfrm>
          <a:prstGeom prst="rect">
            <a:avLst/>
          </a:prstGeom>
          <a:noFill/>
          <a:ln>
            <a:noFill/>
          </a:ln>
        </p:spPr>
      </p:sp>
      <p:sp>
        <p:nvSpPr>
          <p:cNvPr id="64" name="Google Shape;64;p33"/>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4"/>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5"/>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5"/>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 name="Shape 84"/>
        <p:cNvGrpSpPr/>
        <p:nvPr/>
      </p:nvGrpSpPr>
      <p:grpSpPr>
        <a:xfrm>
          <a:off x="0" y="0"/>
          <a:ext cx="0" cy="0"/>
          <a:chOff x="0" y="0"/>
          <a:chExt cx="0" cy="0"/>
        </a:xfrm>
      </p:grpSpPr>
      <p:sp>
        <p:nvSpPr>
          <p:cNvPr id="85" name="Google Shape;85;p1"/>
          <p:cNvSpPr/>
          <p:nvPr/>
        </p:nvSpPr>
        <p:spPr>
          <a:xfrm>
            <a:off x="0" y="0"/>
            <a:ext cx="12191695" cy="137160"/>
          </a:xfrm>
          <a:prstGeom prst="rect">
            <a:avLst/>
          </a:prstGeom>
          <a:solidFill>
            <a:srgbClr val="5B21B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6" name="Google Shape;86;p1"/>
          <p:cNvSpPr txBox="1"/>
          <p:nvPr/>
        </p:nvSpPr>
        <p:spPr>
          <a:xfrm>
            <a:off x="914400" y="1645920"/>
            <a:ext cx="10362895"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5B21B6"/>
                </a:solidFill>
                <a:latin typeface="Calibri"/>
                <a:ea typeface="Calibri"/>
                <a:cs typeface="Calibri"/>
                <a:sym typeface="Calibri"/>
              </a:rPr>
              <a:t>Lecture 4.2</a:t>
            </a:r>
            <a:endParaRPr/>
          </a:p>
        </p:txBody>
      </p:sp>
      <p:sp>
        <p:nvSpPr>
          <p:cNvPr id="87" name="Google Shape;87;p1"/>
          <p:cNvSpPr txBox="1"/>
          <p:nvPr/>
        </p:nvSpPr>
        <p:spPr>
          <a:xfrm>
            <a:off x="914400" y="2468880"/>
            <a:ext cx="10362895" cy="1828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4800" u="none" cap="none" strike="noStrike">
                <a:solidFill>
                  <a:srgbClr val="1A1A2E"/>
                </a:solidFill>
                <a:latin typeface="Calibri"/>
                <a:ea typeface="Calibri"/>
                <a:cs typeface="Calibri"/>
                <a:sym typeface="Calibri"/>
              </a:rPr>
              <a:t>Practical Testing</a:t>
            </a:r>
            <a:endParaRPr/>
          </a:p>
        </p:txBody>
      </p:sp>
      <p:sp>
        <p:nvSpPr>
          <p:cNvPr id="88" name="Google Shape;88;p1"/>
          <p:cNvSpPr txBox="1"/>
          <p:nvPr/>
        </p:nvSpPr>
        <p:spPr>
          <a:xfrm>
            <a:off x="914400" y="4754880"/>
            <a:ext cx="1036289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rgbClr val="666677"/>
                </a:solidFill>
                <a:latin typeface="Calibri"/>
                <a:ea typeface="Calibri"/>
                <a:cs typeface="Calibri"/>
                <a:sym typeface="Calibri"/>
              </a:rPr>
              <a:t>Andy Aymeloglu - UATX Software Engineering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9FE"/>
        </a:solidFill>
      </p:bgPr>
    </p:bg>
    <p:spTree>
      <p:nvGrpSpPr>
        <p:cNvPr id="93" name="Shape 93"/>
        <p:cNvGrpSpPr/>
        <p:nvPr/>
      </p:nvGrpSpPr>
      <p:grpSpPr>
        <a:xfrm>
          <a:off x="0" y="0"/>
          <a:ext cx="0" cy="0"/>
          <a:chOff x="0" y="0"/>
          <a:chExt cx="0" cy="0"/>
        </a:xfrm>
      </p:grpSpPr>
      <p:sp>
        <p:nvSpPr>
          <p:cNvPr id="94" name="Google Shape;94;p2"/>
          <p:cNvSpPr txBox="1"/>
          <p:nvPr/>
        </p:nvSpPr>
        <p:spPr>
          <a:xfrm>
            <a:off x="914400" y="2286000"/>
            <a:ext cx="10362895" cy="2286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4400" u="none" cap="none" strike="noStrike">
                <a:solidFill>
                  <a:srgbClr val="5B21B6"/>
                </a:solidFill>
                <a:latin typeface="Calibri"/>
                <a:ea typeface="Calibri"/>
                <a:cs typeface="Calibri"/>
                <a:sym typeface="Calibri"/>
              </a:rPr>
              <a:t>Your New Problem</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9" name="Shape 99"/>
        <p:cNvGrpSpPr/>
        <p:nvPr/>
      </p:nvGrpSpPr>
      <p:grpSpPr>
        <a:xfrm>
          <a:off x="0" y="0"/>
          <a:ext cx="0" cy="0"/>
          <a:chOff x="0" y="0"/>
          <a:chExt cx="0" cy="0"/>
        </a:xfrm>
      </p:grpSpPr>
      <p:sp>
        <p:nvSpPr>
          <p:cNvPr id="100" name="Google Shape;100;p3"/>
          <p:cNvSpPr txBox="1"/>
          <p:nvPr/>
        </p:nvSpPr>
        <p:spPr>
          <a:xfrm>
            <a:off x="731520" y="36576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Last lecture was the easy case</a:t>
            </a:r>
            <a:endParaRPr/>
          </a:p>
        </p:txBody>
      </p:sp>
      <p:sp>
        <p:nvSpPr>
          <p:cNvPr id="101" name="Google Shape;101;p3"/>
          <p:cNvSpPr txBox="1"/>
          <p:nvPr/>
        </p:nvSpPr>
        <p:spPr>
          <a:xfrm>
            <a:off x="914400" y="1463040"/>
            <a:ext cx="10362900" cy="4879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333344"/>
                </a:solidFill>
                <a:latin typeface="Calibri"/>
                <a:ea typeface="Calibri"/>
                <a:cs typeface="Calibri"/>
                <a:sym typeface="Calibri"/>
              </a:rPr>
              <a:t>In 4.1 you were testing functions like these:</a:t>
            </a:r>
            <a:endParaRPr/>
          </a:p>
          <a:p>
            <a:pPr indent="0" lvl="0" marL="0" marR="0" rtl="0" algn="l">
              <a:spcBef>
                <a:spcPts val="600"/>
              </a:spcBef>
              <a:spcAft>
                <a:spcPts val="0"/>
              </a:spcAft>
              <a:buNone/>
            </a:pPr>
            <a:r>
              <a:t/>
            </a:r>
            <a:endParaRPr b="0" i="0" sz="2400" u="none" cap="none" strike="noStrike">
              <a:solidFill>
                <a:srgbClr val="333344"/>
              </a:solidFill>
              <a:latin typeface="Calibri"/>
              <a:ea typeface="Calibri"/>
              <a:cs typeface="Calibri"/>
              <a:sym typeface="Calibri"/>
            </a:endParaRPr>
          </a:p>
          <a:p>
            <a:pPr indent="0" lvl="1" marL="457200" marR="0" rtl="0" algn="l">
              <a:spcBef>
                <a:spcPts val="600"/>
              </a:spcBef>
              <a:spcAft>
                <a:spcPts val="0"/>
              </a:spcAft>
              <a:buNone/>
            </a:pPr>
            <a:r>
              <a:rPr b="1" i="0" lang="en-US" sz="2000" u="none" cap="none" strike="noStrike">
                <a:solidFill>
                  <a:srgbClr val="666677"/>
                </a:solidFill>
                <a:latin typeface="Courier Prime"/>
                <a:ea typeface="Courier Prime"/>
                <a:cs typeface="Courier Prime"/>
                <a:sym typeface="Courier Prime"/>
              </a:rPr>
              <a:t>  shipping_cost(weight_lb, subtotal) -&gt; float</a:t>
            </a:r>
            <a:endParaRPr b="1">
              <a:latin typeface="Courier Prime"/>
              <a:ea typeface="Courier Prime"/>
              <a:cs typeface="Courier Prime"/>
              <a:sym typeface="Courier Prime"/>
            </a:endParaRPr>
          </a:p>
          <a:p>
            <a:pPr indent="0" lvl="1" marL="457200" marR="0" rtl="0" algn="l">
              <a:spcBef>
                <a:spcPts val="600"/>
              </a:spcBef>
              <a:spcAft>
                <a:spcPts val="0"/>
              </a:spcAft>
              <a:buNone/>
            </a:pPr>
            <a:r>
              <a:rPr b="1" i="0" lang="en-US" sz="2000" u="none" cap="none" strike="noStrike">
                <a:solidFill>
                  <a:srgbClr val="666677"/>
                </a:solidFill>
                <a:latin typeface="Courier Prime"/>
                <a:ea typeface="Courier Prime"/>
                <a:cs typeface="Courier Prime"/>
                <a:sym typeface="Courier Prime"/>
              </a:rPr>
              <a:t>  format_file_size(n) -&gt; str</a:t>
            </a:r>
            <a:endParaRPr b="1">
              <a:latin typeface="Courier Prime"/>
              <a:ea typeface="Courier Prime"/>
              <a:cs typeface="Courier Prime"/>
              <a:sym typeface="Courier Prime"/>
            </a:endParaRPr>
          </a:p>
          <a:p>
            <a:pPr indent="0" lvl="1" marL="457200" marR="0" rtl="0" algn="l">
              <a:spcBef>
                <a:spcPts val="600"/>
              </a:spcBef>
              <a:spcAft>
                <a:spcPts val="0"/>
              </a:spcAft>
              <a:buNone/>
            </a:pPr>
            <a:r>
              <a:rPr b="1" i="0" lang="en-US" sz="2000" u="none" cap="none" strike="noStrike">
                <a:solidFill>
                  <a:srgbClr val="666677"/>
                </a:solidFill>
                <a:latin typeface="Courier Prime"/>
                <a:ea typeface="Courier Prime"/>
                <a:cs typeface="Courier Prime"/>
                <a:sym typeface="Courier Prime"/>
              </a:rPr>
              <a:t>  parse_price(s) -&gt; float</a:t>
            </a:r>
            <a:endParaRPr b="1">
              <a:latin typeface="Courier Prime"/>
              <a:ea typeface="Courier Prime"/>
              <a:cs typeface="Courier Prime"/>
              <a:sym typeface="Courier Prime"/>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They were </a:t>
            </a:r>
            <a:r>
              <a:rPr lang="en-US" sz="2400">
                <a:solidFill>
                  <a:srgbClr val="333344"/>
                </a:solidFill>
                <a:latin typeface="Calibri"/>
                <a:ea typeface="Calibri"/>
                <a:cs typeface="Calibri"/>
                <a:sym typeface="Calibri"/>
              </a:rPr>
              <a:t>easy</a:t>
            </a:r>
            <a:r>
              <a:rPr b="0" i="0" lang="en-US" sz="2400" u="none" cap="none" strike="noStrike">
                <a:solidFill>
                  <a:srgbClr val="333344"/>
                </a:solidFill>
                <a:latin typeface="Calibri"/>
                <a:ea typeface="Calibri"/>
                <a:cs typeface="Calibri"/>
                <a:sym typeface="Calibri"/>
              </a:rPr>
              <a:t> to test:</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No database, no network, no clock to worry about.</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Same inputs in, same output out, every single run.</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One call, one return value, one assertion, done.</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Your chat endpoint from last week is not that.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6" name="Shape 106"/>
        <p:cNvGrpSpPr/>
        <p:nvPr/>
      </p:nvGrpSpPr>
      <p:grpSpPr>
        <a:xfrm>
          <a:off x="0" y="0"/>
          <a:ext cx="0" cy="0"/>
          <a:chOff x="0" y="0"/>
          <a:chExt cx="0" cy="0"/>
        </a:xfrm>
      </p:grpSpPr>
      <p:sp>
        <p:nvSpPr>
          <p:cNvPr id="107" name="Google Shape;107;p4"/>
          <p:cNvSpPr txBox="1"/>
          <p:nvPr/>
        </p:nvSpPr>
        <p:spPr>
          <a:xfrm>
            <a:off x="731520" y="36576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The chat endpoint has dependencies everywhere</a:t>
            </a:r>
            <a:endParaRPr/>
          </a:p>
        </p:txBody>
      </p:sp>
      <p:sp>
        <p:nvSpPr>
          <p:cNvPr id="108" name="Google Shape;108;p4"/>
          <p:cNvSpPr txBox="1"/>
          <p:nvPr/>
        </p:nvSpPr>
        <p:spPr>
          <a:xfrm>
            <a:off x="914400" y="1463040"/>
            <a:ext cx="10362900" cy="517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333344"/>
                </a:solidFill>
                <a:latin typeface="Calibri"/>
                <a:ea typeface="Calibri"/>
                <a:cs typeface="Calibri"/>
                <a:sym typeface="Calibri"/>
              </a:rPr>
              <a:t>Look at one line: `POST /api/messages` in your FastAPI app.</a:t>
            </a:r>
            <a:endParaRPr/>
          </a:p>
          <a:p>
            <a:pPr indent="0" lvl="0" marL="0" marR="0" rtl="0" algn="l">
              <a:spcBef>
                <a:spcPts val="600"/>
              </a:spcBef>
              <a:spcAft>
                <a:spcPts val="0"/>
              </a:spcAft>
              <a:buNone/>
            </a:pPr>
            <a:r>
              <a:t/>
            </a:r>
            <a:endParaRPr b="0" i="0" sz="2400" u="none" cap="none" strike="noStrike">
              <a:solidFill>
                <a:srgbClr val="333344"/>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Under the hood, it depends on:</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 </a:t>
            </a:r>
            <a:r>
              <a:rPr b="1" i="0" lang="en-US" sz="2000" u="none" cap="none" strike="noStrike">
                <a:solidFill>
                  <a:srgbClr val="666677"/>
                </a:solidFill>
                <a:latin typeface="Calibri"/>
                <a:ea typeface="Calibri"/>
                <a:cs typeface="Calibri"/>
                <a:sym typeface="Calibri"/>
              </a:rPr>
              <a:t>SQLite database</a:t>
            </a:r>
            <a:r>
              <a:rPr b="0" i="0" lang="en-US" sz="2000" u="none" cap="none" strike="noStrike">
                <a:solidFill>
                  <a:srgbClr val="666677"/>
                </a:solidFill>
                <a:latin typeface="Calibri"/>
                <a:ea typeface="Calibri"/>
                <a:cs typeface="Calibri"/>
                <a:sym typeface="Calibri"/>
              </a:rPr>
              <a:t> (your chat.db file, with real data)</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The </a:t>
            </a:r>
            <a:r>
              <a:rPr b="1" i="0" lang="en-US" sz="2000" u="none" cap="none" strike="noStrike">
                <a:solidFill>
                  <a:srgbClr val="666677"/>
                </a:solidFill>
                <a:latin typeface="Calibri"/>
                <a:ea typeface="Calibri"/>
                <a:cs typeface="Calibri"/>
                <a:sym typeface="Calibri"/>
              </a:rPr>
              <a:t>wall clock</a:t>
            </a:r>
            <a:r>
              <a:rPr b="0" i="0" lang="en-US" sz="2000" u="none" cap="none" strike="noStrike">
                <a:solidFill>
                  <a:srgbClr val="666677"/>
                </a:solidFill>
                <a:latin typeface="Calibri"/>
                <a:ea typeface="Calibri"/>
                <a:cs typeface="Calibri"/>
                <a:sym typeface="Calibri"/>
              </a:rPr>
              <a:t> (for the timestamp via datetime.utcnow)</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FastAPI</a:t>
            </a:r>
            <a:r>
              <a:rPr b="0" i="0" lang="en-US" sz="2000" u="none" cap="none" strike="noStrike">
                <a:solidFill>
                  <a:srgbClr val="666677"/>
                </a:solidFill>
                <a:latin typeface="Calibri"/>
                <a:ea typeface="Calibri"/>
                <a:cs typeface="Calibri"/>
                <a:sym typeface="Calibri"/>
              </a:rPr>
              <a:t> itself (request parsing, Pydantic validation)</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 </a:t>
            </a:r>
            <a:r>
              <a:rPr b="1" i="0" lang="en-US" sz="2000" u="none" cap="none" strike="noStrike">
                <a:solidFill>
                  <a:srgbClr val="666677"/>
                </a:solidFill>
                <a:latin typeface="Calibri"/>
                <a:ea typeface="Calibri"/>
                <a:cs typeface="Calibri"/>
                <a:sym typeface="Calibri"/>
              </a:rPr>
              <a:t>TCP port</a:t>
            </a:r>
            <a:r>
              <a:rPr b="0" i="0" lang="en-US" sz="2000" u="none" cap="none" strike="noStrike">
                <a:solidFill>
                  <a:srgbClr val="666677"/>
                </a:solidFill>
                <a:latin typeface="Calibri"/>
                <a:ea typeface="Calibri"/>
                <a:cs typeface="Calibri"/>
                <a:sym typeface="Calibri"/>
              </a:rPr>
              <a:t> that uvicorn has to be listening on</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The </a:t>
            </a:r>
            <a:r>
              <a:rPr b="1" i="0" lang="en-US" sz="2000" u="none" cap="none" strike="noStrike">
                <a:solidFill>
                  <a:srgbClr val="666677"/>
                </a:solidFill>
                <a:latin typeface="Calibri"/>
                <a:ea typeface="Calibri"/>
                <a:cs typeface="Calibri"/>
                <a:sym typeface="Calibri"/>
              </a:rPr>
              <a:t>filesystem</a:t>
            </a:r>
            <a:r>
              <a:rPr b="0" i="0" lang="en-US" sz="2000" u="none" cap="none" strike="noStrike">
                <a:solidFill>
                  <a:srgbClr val="666677"/>
                </a:solidFill>
                <a:latin typeface="Calibri"/>
                <a:ea typeface="Calibri"/>
                <a:cs typeface="Calibri"/>
                <a:sym typeface="Calibri"/>
              </a:rPr>
              <a:t> (to open chat.db)</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To test this, you'd think you have to stand all of that up.</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Real server, real database, real port, real clock.</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9FE"/>
        </a:solidFill>
      </p:bgPr>
    </p:bg>
    <p:spTree>
      <p:nvGrpSpPr>
        <p:cNvPr id="113" name="Shape 113"/>
        <p:cNvGrpSpPr/>
        <p:nvPr/>
      </p:nvGrpSpPr>
      <p:grpSpPr>
        <a:xfrm>
          <a:off x="0" y="0"/>
          <a:ext cx="0" cy="0"/>
          <a:chOff x="0" y="0"/>
          <a:chExt cx="0" cy="0"/>
        </a:xfrm>
      </p:grpSpPr>
      <p:sp>
        <p:nvSpPr>
          <p:cNvPr id="114" name="Google Shape;114;p6"/>
          <p:cNvSpPr txBox="1"/>
          <p:nvPr/>
        </p:nvSpPr>
        <p:spPr>
          <a:xfrm>
            <a:off x="5303520" y="457200"/>
            <a:ext cx="1584655" cy="13716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7200" u="none" cap="none" strike="noStrike">
                <a:solidFill>
                  <a:srgbClr val="5B21B6"/>
                </a:solidFill>
                <a:latin typeface="Calibri"/>
                <a:ea typeface="Calibri"/>
                <a:cs typeface="Calibri"/>
                <a:sym typeface="Calibri"/>
              </a:rPr>
              <a:t>?</a:t>
            </a:r>
            <a:endParaRPr/>
          </a:p>
        </p:txBody>
      </p:sp>
      <p:sp>
        <p:nvSpPr>
          <p:cNvPr id="115" name="Google Shape;115;p6"/>
          <p:cNvSpPr txBox="1"/>
          <p:nvPr/>
        </p:nvSpPr>
        <p:spPr>
          <a:xfrm>
            <a:off x="1371600" y="2011680"/>
            <a:ext cx="9448495" cy="2286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3400" u="none" cap="none" strike="noStrike">
                <a:solidFill>
                  <a:srgbClr val="1A1A2E"/>
                </a:solidFill>
                <a:latin typeface="Calibri"/>
                <a:ea typeface="Calibri"/>
                <a:cs typeface="Calibri"/>
                <a:sym typeface="Calibri"/>
              </a:rPr>
              <a:t>This test "works." List everything wrong with it.</a:t>
            </a:r>
            <a:endParaRPr/>
          </a:p>
        </p:txBody>
      </p:sp>
      <p:sp>
        <p:nvSpPr>
          <p:cNvPr id="116" name="Google Shape;116;p6"/>
          <p:cNvSpPr txBox="1"/>
          <p:nvPr/>
        </p:nvSpPr>
        <p:spPr>
          <a:xfrm>
            <a:off x="1828800" y="4572000"/>
            <a:ext cx="8534100" cy="307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1" name="Shape 121"/>
        <p:cNvGrpSpPr/>
        <p:nvPr/>
      </p:nvGrpSpPr>
      <p:grpSpPr>
        <a:xfrm>
          <a:off x="0" y="0"/>
          <a:ext cx="0" cy="0"/>
          <a:chOff x="0" y="0"/>
          <a:chExt cx="0" cy="0"/>
        </a:xfrm>
      </p:grpSpPr>
      <p:sp>
        <p:nvSpPr>
          <p:cNvPr id="122" name="Google Shape;122;p5"/>
          <p:cNvSpPr txBox="1"/>
          <p:nvPr/>
        </p:nvSpPr>
        <p:spPr>
          <a:xfrm>
            <a:off x="731520" y="36576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1A2E"/>
                </a:solidFill>
                <a:latin typeface="Calibri"/>
                <a:ea typeface="Calibri"/>
                <a:cs typeface="Calibri"/>
                <a:sym typeface="Calibri"/>
              </a:rPr>
              <a:t>A test that tries to use all the real things</a:t>
            </a:r>
            <a:endParaRPr/>
          </a:p>
        </p:txBody>
      </p:sp>
      <p:sp>
        <p:nvSpPr>
          <p:cNvPr id="123" name="Google Shape;123;p5"/>
          <p:cNvSpPr txBox="1"/>
          <p:nvPr/>
        </p:nvSpPr>
        <p:spPr>
          <a:xfrm>
            <a:off x="9601200" y="1188720"/>
            <a:ext cx="1828800" cy="36576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400" u="none" cap="none" strike="noStrike">
                <a:solidFill>
                  <a:srgbClr val="5B21B6"/>
                </a:solidFill>
                <a:latin typeface="Courier New"/>
                <a:ea typeface="Courier New"/>
                <a:cs typeface="Courier New"/>
                <a:sym typeface="Courier New"/>
              </a:rPr>
              <a:t>Python</a:t>
            </a:r>
            <a:endParaRPr/>
          </a:p>
        </p:txBody>
      </p:sp>
      <p:sp>
        <p:nvSpPr>
          <p:cNvPr id="124" name="Google Shape;124;p5"/>
          <p:cNvSpPr/>
          <p:nvPr/>
        </p:nvSpPr>
        <p:spPr>
          <a:xfrm>
            <a:off x="731520" y="1463040"/>
            <a:ext cx="10728655" cy="493776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5" name="Google Shape;125;p5"/>
          <p:cNvSpPr txBox="1"/>
          <p:nvPr/>
        </p:nvSpPr>
        <p:spPr>
          <a:xfrm>
            <a:off x="1005840" y="1645920"/>
            <a:ext cx="10180015" cy="4572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 u="none" cap="none" strike="noStrike">
                <a:solidFill>
                  <a:srgbClr val="333344"/>
                </a:solidFill>
                <a:latin typeface="Courier New"/>
                <a:ea typeface="Courier New"/>
                <a:cs typeface="Courier New"/>
                <a:sym typeface="Courier New"/>
              </a:rPr>
              <a:t># test_chat_bad.py - don't write tests like this</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import subprocess, time, requests</a:t>
            </a:r>
            <a:endParaRPr/>
          </a:p>
          <a:p>
            <a:pPr indent="0" lvl="0" marL="0" marR="0" rtl="0" algn="l">
              <a:spcBef>
                <a:spcPts val="200"/>
              </a:spcBef>
              <a:spcAft>
                <a:spcPts val="0"/>
              </a:spcAft>
              <a:buNone/>
            </a:pPr>
            <a:r>
              <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def test_post_message():</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 Start a real server in a subprocess</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proc = subprocess.Popen(["uvicorn", "app:app"])</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time.sleep(2)  # wait for it to come up (hopefully)</a:t>
            </a:r>
            <a:endParaRPr/>
          </a:p>
          <a:p>
            <a:pPr indent="0" lvl="0" marL="0" marR="0" rtl="0" algn="l">
              <a:spcBef>
                <a:spcPts val="200"/>
              </a:spcBef>
              <a:spcAft>
                <a:spcPts val="0"/>
              </a:spcAft>
              <a:buNone/>
            </a:pPr>
            <a:r>
              <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try:</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r = requests.post(</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"http://localhost:8000/api/messages",</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json={"author": "alice", "text": "hi"},</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assert r.status_code == 201</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assert r.json()["author"] == "alice"</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finally:</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proc.terminate()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0" name="Shape 130"/>
        <p:cNvGrpSpPr/>
        <p:nvPr/>
      </p:nvGrpSpPr>
      <p:grpSpPr>
        <a:xfrm>
          <a:off x="0" y="0"/>
          <a:ext cx="0" cy="0"/>
          <a:chOff x="0" y="0"/>
          <a:chExt cx="0" cy="0"/>
        </a:xfrm>
      </p:grpSpPr>
      <p:sp>
        <p:nvSpPr>
          <p:cNvPr id="131" name="Google Shape;131;g3979b53ae3e_1_0"/>
          <p:cNvSpPr txBox="1"/>
          <p:nvPr/>
        </p:nvSpPr>
        <p:spPr>
          <a:xfrm>
            <a:off x="731520" y="365760"/>
            <a:ext cx="10728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What makes a test good</a:t>
            </a:r>
            <a:endParaRPr/>
          </a:p>
        </p:txBody>
      </p:sp>
      <p:sp>
        <p:nvSpPr>
          <p:cNvPr id="132" name="Google Shape;132;g3979b53ae3e_1_0"/>
          <p:cNvSpPr txBox="1"/>
          <p:nvPr/>
        </p:nvSpPr>
        <p:spPr>
          <a:xfrm>
            <a:off x="731525" y="1165750"/>
            <a:ext cx="10824000" cy="5187300"/>
          </a:xfrm>
          <a:prstGeom prst="rect">
            <a:avLst/>
          </a:prstGeom>
          <a:noFill/>
          <a:ln>
            <a:noFill/>
          </a:ln>
        </p:spPr>
        <p:txBody>
          <a:bodyPr anchorCtr="0" anchor="t" bIns="45700" lIns="91425" spcFirstLastPara="1" rIns="91425" wrap="square" tIns="45700">
            <a:spAutoFit/>
          </a:bodyPr>
          <a:lstStyle/>
          <a:p>
            <a:pPr indent="0" lvl="0" marL="0" marR="0" rtl="0" algn="l">
              <a:spcBef>
                <a:spcPts val="600"/>
              </a:spcBef>
              <a:spcAft>
                <a:spcPts val="0"/>
              </a:spcAft>
              <a:buNone/>
            </a:pPr>
            <a:r>
              <a:rPr b="1" i="0" lang="en-US" sz="2400" u="none" cap="none" strike="noStrike">
                <a:solidFill>
                  <a:srgbClr val="333344"/>
                </a:solidFill>
                <a:latin typeface="Calibri"/>
                <a:ea typeface="Calibri"/>
                <a:cs typeface="Calibri"/>
                <a:sym typeface="Calibri"/>
              </a:rPr>
              <a:t>One behavior per test.</a:t>
            </a:r>
            <a:r>
              <a:rPr b="0" i="0" lang="en-US" sz="2400" u="none" cap="none" strike="noStrike">
                <a:solidFill>
                  <a:srgbClr val="333344"/>
                </a:solidFill>
                <a:latin typeface="Calibri"/>
                <a:ea typeface="Calibri"/>
                <a:cs typeface="Calibri"/>
                <a:sym typeface="Calibri"/>
              </a:rPr>
              <a:t> A test that checks three things is three tests crammed into one</a:t>
            </a:r>
            <a:endParaRPr sz="2400">
              <a:solidFill>
                <a:srgbClr val="333344"/>
              </a:solidFill>
              <a:latin typeface="Calibri"/>
              <a:ea typeface="Calibri"/>
              <a:cs typeface="Calibri"/>
              <a:sym typeface="Calibri"/>
            </a:endParaRPr>
          </a:p>
          <a:p>
            <a:pPr indent="0" lvl="0" marL="0" marR="0" rtl="0" algn="l">
              <a:spcBef>
                <a:spcPts val="600"/>
              </a:spcBef>
              <a:spcAft>
                <a:spcPts val="0"/>
              </a:spcAft>
              <a:buNone/>
            </a:pPr>
            <a:r>
              <a:t/>
            </a:r>
            <a:endParaRPr sz="2400">
              <a:solidFill>
                <a:srgbClr val="333344"/>
              </a:solidFill>
              <a:latin typeface="Calibri"/>
              <a:ea typeface="Calibri"/>
              <a:cs typeface="Calibri"/>
              <a:sym typeface="Calibri"/>
            </a:endParaRPr>
          </a:p>
          <a:p>
            <a:pPr indent="0" lvl="0" marL="0" marR="0" rtl="0" algn="l">
              <a:spcBef>
                <a:spcPts val="600"/>
              </a:spcBef>
              <a:spcAft>
                <a:spcPts val="0"/>
              </a:spcAft>
              <a:buNone/>
            </a:pPr>
            <a:r>
              <a:rPr b="1" i="0" lang="en-US" sz="2400" u="none" cap="none" strike="noStrike">
                <a:solidFill>
                  <a:srgbClr val="333344"/>
                </a:solidFill>
                <a:latin typeface="Calibri"/>
                <a:ea typeface="Calibri"/>
                <a:cs typeface="Calibri"/>
                <a:sym typeface="Calibri"/>
              </a:rPr>
              <a:t>A name that reads like a sentence.</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ourier Prime"/>
                <a:ea typeface="Courier Prime"/>
                <a:cs typeface="Courier Prime"/>
                <a:sym typeface="Courier Prime"/>
              </a:rPr>
              <a:t>test_free_shipping_over_50</a:t>
            </a:r>
            <a:r>
              <a:rPr b="0" i="0" lang="en-US" sz="2000" u="none" cap="none" strike="noStrike">
                <a:solidFill>
                  <a:srgbClr val="666677"/>
                </a:solidFill>
                <a:latin typeface="Calibri"/>
                <a:ea typeface="Calibri"/>
                <a:cs typeface="Calibri"/>
                <a:sym typeface="Calibri"/>
              </a:rPr>
              <a:t> beats </a:t>
            </a:r>
            <a:r>
              <a:rPr b="1" i="0" lang="en-US" sz="2000" u="none" cap="none" strike="noStrike">
                <a:solidFill>
                  <a:srgbClr val="666677"/>
                </a:solidFill>
                <a:latin typeface="Courier Prime"/>
                <a:ea typeface="Courier Prime"/>
                <a:cs typeface="Courier Prime"/>
                <a:sym typeface="Courier Prime"/>
              </a:rPr>
              <a:t>test_shipping_3</a:t>
            </a:r>
            <a:endParaRPr sz="2000">
              <a:solidFill>
                <a:srgbClr val="666677"/>
              </a:solidFill>
              <a:latin typeface="Calibri"/>
              <a:ea typeface="Calibri"/>
              <a:cs typeface="Calibri"/>
              <a:sym typeface="Calibri"/>
            </a:endParaRPr>
          </a:p>
          <a:p>
            <a:pPr indent="0" lvl="1" marL="457200" marR="0" rtl="0" algn="l">
              <a:spcBef>
                <a:spcPts val="600"/>
              </a:spcBef>
              <a:spcAft>
                <a:spcPts val="0"/>
              </a:spcAft>
              <a:buNone/>
            </a:pPr>
            <a:r>
              <a:t/>
            </a:r>
            <a:endParaRPr sz="2000">
              <a:solidFill>
                <a:srgbClr val="666677"/>
              </a:solidFill>
              <a:latin typeface="Calibri"/>
              <a:ea typeface="Calibri"/>
              <a:cs typeface="Calibri"/>
              <a:sym typeface="Calibri"/>
            </a:endParaRPr>
          </a:p>
          <a:p>
            <a:pPr indent="0" lvl="0" marL="0" marR="0" rtl="0" algn="l">
              <a:spcBef>
                <a:spcPts val="600"/>
              </a:spcBef>
              <a:spcAft>
                <a:spcPts val="0"/>
              </a:spcAft>
              <a:buNone/>
            </a:pPr>
            <a:r>
              <a:rPr b="1" i="0" lang="en-US" sz="2400" u="none" cap="none" strike="noStrike">
                <a:solidFill>
                  <a:srgbClr val="333344"/>
                </a:solidFill>
                <a:latin typeface="Calibri"/>
                <a:ea typeface="Calibri"/>
                <a:cs typeface="Calibri"/>
                <a:sym typeface="Calibri"/>
              </a:rPr>
              <a:t>Obvious on failure.</a:t>
            </a:r>
            <a:r>
              <a:rPr b="0" i="0" lang="en-US" sz="2400" u="none" cap="none" strike="noStrike">
                <a:solidFill>
                  <a:srgbClr val="333344"/>
                </a:solidFill>
                <a:latin typeface="Calibri"/>
                <a:ea typeface="Calibri"/>
                <a:cs typeface="Calibri"/>
                <a:sym typeface="Calibri"/>
              </a:rPr>
              <a:t> You should know what broke without a debugger.</a:t>
            </a:r>
            <a:endParaRPr/>
          </a:p>
          <a:p>
            <a:pPr indent="0" lvl="0" marL="0" marR="0" rtl="0" algn="l">
              <a:spcBef>
                <a:spcPts val="600"/>
              </a:spcBef>
              <a:spcAft>
                <a:spcPts val="0"/>
              </a:spcAft>
              <a:buNone/>
            </a:pPr>
            <a:r>
              <a:t/>
            </a:r>
            <a:endParaRPr b="0" i="0" sz="2400" u="none" cap="none" strike="noStrike">
              <a:solidFill>
                <a:srgbClr val="333344"/>
              </a:solidFill>
              <a:latin typeface="Calibri"/>
              <a:ea typeface="Calibri"/>
              <a:cs typeface="Calibri"/>
              <a:sym typeface="Calibri"/>
            </a:endParaRPr>
          </a:p>
          <a:p>
            <a:pPr indent="0" lvl="0" marL="0" marR="0" rtl="0" algn="l">
              <a:spcBef>
                <a:spcPts val="600"/>
              </a:spcBef>
              <a:spcAft>
                <a:spcPts val="0"/>
              </a:spcAft>
              <a:buNone/>
            </a:pPr>
            <a:r>
              <a:rPr b="1" i="0" lang="en-US" sz="2400" u="none" cap="none" strike="sngStrike">
                <a:solidFill>
                  <a:srgbClr val="333344"/>
                </a:solidFill>
                <a:latin typeface="Calibri"/>
                <a:ea typeface="Calibri"/>
                <a:cs typeface="Calibri"/>
                <a:sym typeface="Calibri"/>
              </a:rPr>
              <a:t>Deterministic.</a:t>
            </a:r>
            <a:r>
              <a:rPr b="0" i="0" lang="en-US" sz="2400" u="none" cap="none" strike="sngStrike">
                <a:solidFill>
                  <a:srgbClr val="333344"/>
                </a:solidFill>
                <a:latin typeface="Calibri"/>
                <a:ea typeface="Calibri"/>
                <a:cs typeface="Calibri"/>
                <a:sym typeface="Calibri"/>
              </a:rPr>
              <a:t> Same inputs, same result. No randomness, clock</a:t>
            </a:r>
            <a:r>
              <a:rPr lang="en-US" sz="2400" strike="sngStrike">
                <a:solidFill>
                  <a:srgbClr val="333344"/>
                </a:solidFill>
                <a:latin typeface="Calibri"/>
                <a:ea typeface="Calibri"/>
                <a:cs typeface="Calibri"/>
                <a:sym typeface="Calibri"/>
              </a:rPr>
              <a:t>s, or network (yet)</a:t>
            </a:r>
            <a:endParaRPr strike="sngStrike"/>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1" i="0" lang="en-US" sz="2400" u="none" cap="none" strike="sngStrike">
                <a:solidFill>
                  <a:srgbClr val="333344"/>
                </a:solidFill>
                <a:latin typeface="Calibri"/>
                <a:ea typeface="Calibri"/>
                <a:cs typeface="Calibri"/>
                <a:sym typeface="Calibri"/>
              </a:rPr>
              <a:t>Fast.</a:t>
            </a:r>
            <a:r>
              <a:rPr b="0" i="0" lang="en-US" sz="2400" u="none" cap="none" strike="sngStrike">
                <a:solidFill>
                  <a:srgbClr val="333344"/>
                </a:solidFill>
                <a:latin typeface="Calibri"/>
                <a:ea typeface="Calibri"/>
                <a:cs typeface="Calibri"/>
                <a:sym typeface="Calibri"/>
              </a:rPr>
              <a:t> Slow tests don't get run.</a:t>
            </a:r>
            <a:endParaRPr strike="sngStrike"/>
          </a:p>
          <a:p>
            <a:pPr indent="0" lvl="0" marL="0" marR="0" rtl="0" algn="l">
              <a:spcBef>
                <a:spcPts val="600"/>
              </a:spcBef>
              <a:spcAft>
                <a:spcPts val="0"/>
              </a:spcAft>
              <a:buNone/>
            </a:pPr>
            <a:r>
              <a:t/>
            </a:r>
            <a:endParaRPr b="0" i="0" sz="2400" u="none" cap="none" strike="noStrike">
              <a:solidFill>
                <a:srgbClr val="333344"/>
              </a:solidFill>
              <a:latin typeface="Calibri"/>
              <a:ea typeface="Calibri"/>
              <a:cs typeface="Calibri"/>
              <a:sym typeface="Calibri"/>
            </a:endParaRPr>
          </a:p>
          <a:p>
            <a:pPr indent="0" lvl="0" marL="0" marR="0" rtl="0" algn="l">
              <a:spcBef>
                <a:spcPts val="600"/>
              </a:spcBef>
              <a:spcAft>
                <a:spcPts val="0"/>
              </a:spcAft>
              <a:buNone/>
            </a:pPr>
            <a:r>
              <a:rPr b="1" i="0" lang="en-US" sz="2400" u="none" cap="none" strike="sngStrike">
                <a:solidFill>
                  <a:srgbClr val="333344"/>
                </a:solidFill>
                <a:latin typeface="Calibri"/>
                <a:ea typeface="Calibri"/>
                <a:cs typeface="Calibri"/>
                <a:sym typeface="Calibri"/>
              </a:rPr>
              <a:t>Independent.</a:t>
            </a:r>
            <a:r>
              <a:rPr b="0" i="0" lang="en-US" sz="2400" u="none" cap="none" strike="sngStrike">
                <a:solidFill>
                  <a:srgbClr val="333344"/>
                </a:solidFill>
                <a:latin typeface="Calibri"/>
                <a:ea typeface="Calibri"/>
                <a:cs typeface="Calibri"/>
                <a:sym typeface="Calibri"/>
              </a:rPr>
              <a:t> Passes or fails the same alone or in any order.</a:t>
            </a:r>
            <a:endParaRPr strike="sngStrike"/>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9FE"/>
        </a:solidFill>
      </p:bgPr>
    </p:bg>
    <p:spTree>
      <p:nvGrpSpPr>
        <p:cNvPr id="137" name="Shape 137"/>
        <p:cNvGrpSpPr/>
        <p:nvPr/>
      </p:nvGrpSpPr>
      <p:grpSpPr>
        <a:xfrm>
          <a:off x="0" y="0"/>
          <a:ext cx="0" cy="0"/>
          <a:chOff x="0" y="0"/>
          <a:chExt cx="0" cy="0"/>
        </a:xfrm>
      </p:grpSpPr>
      <p:sp>
        <p:nvSpPr>
          <p:cNvPr id="138" name="Google Shape;138;p7"/>
          <p:cNvSpPr txBox="1"/>
          <p:nvPr/>
        </p:nvSpPr>
        <p:spPr>
          <a:xfrm>
            <a:off x="914400" y="2286000"/>
            <a:ext cx="10362895" cy="2286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4400" u="none" cap="none" strike="noStrike">
                <a:solidFill>
                  <a:srgbClr val="5B21B6"/>
                </a:solidFill>
                <a:latin typeface="Calibri"/>
                <a:ea typeface="Calibri"/>
                <a:cs typeface="Calibri"/>
                <a:sym typeface="Calibri"/>
              </a:rPr>
              <a:t>Controlling the World</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3" name="Shape 143"/>
        <p:cNvGrpSpPr/>
        <p:nvPr/>
      </p:nvGrpSpPr>
      <p:grpSpPr>
        <a:xfrm>
          <a:off x="0" y="0"/>
          <a:ext cx="0" cy="0"/>
          <a:chOff x="0" y="0"/>
          <a:chExt cx="0" cy="0"/>
        </a:xfrm>
      </p:grpSpPr>
      <p:sp>
        <p:nvSpPr>
          <p:cNvPr id="144" name="Google Shape;144;p8"/>
          <p:cNvSpPr txBox="1"/>
          <p:nvPr/>
        </p:nvSpPr>
        <p:spPr>
          <a:xfrm>
            <a:off x="731520" y="36576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TestClient: fake the HTTP layer</a:t>
            </a:r>
            <a:endParaRPr/>
          </a:p>
        </p:txBody>
      </p:sp>
      <p:sp>
        <p:nvSpPr>
          <p:cNvPr id="145" name="Google Shape;145;p8"/>
          <p:cNvSpPr txBox="1"/>
          <p:nvPr/>
        </p:nvSpPr>
        <p:spPr>
          <a:xfrm>
            <a:off x="914400" y="1463040"/>
            <a:ext cx="10362900" cy="4941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333344"/>
                </a:solidFill>
                <a:latin typeface="Calibri"/>
                <a:ea typeface="Calibri"/>
                <a:cs typeface="Calibri"/>
                <a:sym typeface="Calibri"/>
              </a:rPr>
              <a:t>First </a:t>
            </a:r>
            <a:r>
              <a:rPr lang="en-US" sz="2400">
                <a:solidFill>
                  <a:srgbClr val="333344"/>
                </a:solidFill>
                <a:latin typeface="Calibri"/>
                <a:ea typeface="Calibri"/>
                <a:cs typeface="Calibri"/>
                <a:sym typeface="Calibri"/>
              </a:rPr>
              <a:t>fix</a:t>
            </a:r>
            <a:r>
              <a:rPr b="0" i="0" lang="en-US" sz="2400" u="none" cap="none" strike="noStrike">
                <a:solidFill>
                  <a:srgbClr val="333344"/>
                </a:solidFill>
                <a:latin typeface="Calibri"/>
                <a:ea typeface="Calibri"/>
                <a:cs typeface="Calibri"/>
                <a:sym typeface="Calibri"/>
              </a:rPr>
              <a:t>: you don't actually need a real server.</a:t>
            </a:r>
            <a:endParaRPr/>
          </a:p>
          <a:p>
            <a:pPr indent="0" lvl="0" marL="0" marR="0" rtl="0" algn="l">
              <a:spcBef>
                <a:spcPts val="600"/>
              </a:spcBef>
              <a:spcAft>
                <a:spcPts val="0"/>
              </a:spcAft>
              <a:buNone/>
            </a:pPr>
            <a:r>
              <a:t/>
            </a:r>
            <a:endParaRPr b="0" i="0" sz="2400" u="none" cap="none" strike="noStrike">
              <a:solidFill>
                <a:srgbClr val="333344"/>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FastAPI ships with </a:t>
            </a:r>
            <a:r>
              <a:rPr b="1" i="0" lang="en-US" sz="2400" u="none" cap="none" strike="noStrike">
                <a:solidFill>
                  <a:srgbClr val="333344"/>
                </a:solidFill>
                <a:latin typeface="Calibri"/>
                <a:ea typeface="Calibri"/>
                <a:cs typeface="Calibri"/>
                <a:sym typeface="Calibri"/>
              </a:rPr>
              <a:t>TestClient</a:t>
            </a:r>
            <a:r>
              <a:rPr b="0" i="0" lang="en-US" sz="2400" u="none" cap="none" strike="noStrike">
                <a:solidFill>
                  <a:srgbClr val="333344"/>
                </a:solidFill>
                <a:latin typeface="Calibri"/>
                <a:ea typeface="Calibri"/>
                <a:cs typeface="Calibri"/>
                <a:sym typeface="Calibri"/>
              </a:rPr>
              <a:t>, a fake HTTP client that calls</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your app directly, in-process, without ever opening a socket.</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It speaks the same interface as the `requests` library</a:t>
            </a:r>
            <a:r>
              <a:rPr lang="en-US" sz="2400">
                <a:solidFill>
                  <a:srgbClr val="333344"/>
                </a:solidFill>
                <a:latin typeface="Calibri"/>
                <a:ea typeface="Calibri"/>
                <a:cs typeface="Calibri"/>
                <a:sym typeface="Calibri"/>
              </a:rPr>
              <a:t>, but:</a:t>
            </a:r>
            <a:endParaRPr b="0" i="0" sz="2000" u="none" cap="none" strike="noStrike">
              <a:solidFill>
                <a:srgbClr val="666677"/>
              </a:solidFill>
              <a:latin typeface="Calibri"/>
              <a:ea typeface="Calibri"/>
              <a:cs typeface="Calibri"/>
              <a:sym typeface="Calibri"/>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No uvicorn subprocess, no sleep, no port, no startup race</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No orphan processes if the test crashes</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Thousands of requests per second instead of tens</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Under the hood: TestClient calls your FastAPI app the way uvicorn</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would, minus the actual networking.</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0" name="Shape 150"/>
        <p:cNvGrpSpPr/>
        <p:nvPr/>
      </p:nvGrpSpPr>
      <p:grpSpPr>
        <a:xfrm>
          <a:off x="0" y="0"/>
          <a:ext cx="0" cy="0"/>
          <a:chOff x="0" y="0"/>
          <a:chExt cx="0" cy="0"/>
        </a:xfrm>
      </p:grpSpPr>
      <p:sp>
        <p:nvSpPr>
          <p:cNvPr id="151" name="Google Shape;151;p9"/>
          <p:cNvSpPr txBox="1"/>
          <p:nvPr/>
        </p:nvSpPr>
        <p:spPr>
          <a:xfrm>
            <a:off x="731520" y="36576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1A2E"/>
                </a:solidFill>
                <a:latin typeface="Calibri"/>
                <a:ea typeface="Calibri"/>
                <a:cs typeface="Calibri"/>
                <a:sym typeface="Calibri"/>
              </a:rPr>
              <a:t>TestClient hello world</a:t>
            </a:r>
            <a:endParaRPr/>
          </a:p>
        </p:txBody>
      </p:sp>
      <p:sp>
        <p:nvSpPr>
          <p:cNvPr id="152" name="Google Shape;152;p9"/>
          <p:cNvSpPr txBox="1"/>
          <p:nvPr/>
        </p:nvSpPr>
        <p:spPr>
          <a:xfrm>
            <a:off x="9601200" y="1188720"/>
            <a:ext cx="1828800" cy="36576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400" u="none" cap="none" strike="noStrike">
                <a:solidFill>
                  <a:srgbClr val="5B21B6"/>
                </a:solidFill>
                <a:latin typeface="Courier New"/>
                <a:ea typeface="Courier New"/>
                <a:cs typeface="Courier New"/>
                <a:sym typeface="Courier New"/>
              </a:rPr>
              <a:t>Python</a:t>
            </a:r>
            <a:endParaRPr/>
          </a:p>
        </p:txBody>
      </p:sp>
      <p:sp>
        <p:nvSpPr>
          <p:cNvPr id="153" name="Google Shape;153;p9"/>
          <p:cNvSpPr/>
          <p:nvPr/>
        </p:nvSpPr>
        <p:spPr>
          <a:xfrm>
            <a:off x="731520" y="1463040"/>
            <a:ext cx="10728655" cy="493776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4" name="Google Shape;154;p9"/>
          <p:cNvSpPr txBox="1"/>
          <p:nvPr/>
        </p:nvSpPr>
        <p:spPr>
          <a:xfrm>
            <a:off x="1005840" y="1645920"/>
            <a:ext cx="10180015" cy="4572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rgbClr val="333344"/>
                </a:solidFill>
                <a:latin typeface="Courier New"/>
                <a:ea typeface="Courier New"/>
                <a:cs typeface="Courier New"/>
                <a:sym typeface="Courier New"/>
              </a:rPr>
              <a:t># test_chat.py</a:t>
            </a:r>
            <a:endParaRPr/>
          </a:p>
          <a:p>
            <a:pPr indent="0" lvl="0" marL="0" marR="0" rtl="0" algn="l">
              <a:spcBef>
                <a:spcPts val="200"/>
              </a:spcBef>
              <a:spcAft>
                <a:spcPts val="0"/>
              </a:spcAft>
              <a:buNone/>
            </a:pPr>
            <a:r>
              <a:rPr b="1" i="0" lang="en-US" sz="1800" u="none" cap="none" strike="noStrike">
                <a:solidFill>
                  <a:srgbClr val="333344"/>
                </a:solidFill>
                <a:latin typeface="Courier New"/>
                <a:ea typeface="Courier New"/>
                <a:cs typeface="Courier New"/>
                <a:sym typeface="Courier New"/>
              </a:rPr>
              <a:t>from fastapi.testclient import TestClient</a:t>
            </a:r>
            <a:endParaRPr/>
          </a:p>
          <a:p>
            <a:pPr indent="0" lvl="0" marL="0" marR="0" rtl="0" algn="l">
              <a:spcBef>
                <a:spcPts val="200"/>
              </a:spcBef>
              <a:spcAft>
                <a:spcPts val="0"/>
              </a:spcAft>
              <a:buNone/>
            </a:pPr>
            <a:r>
              <a:rPr b="1" i="0" lang="en-US" sz="1800" u="none" cap="none" strike="noStrike">
                <a:solidFill>
                  <a:srgbClr val="333344"/>
                </a:solidFill>
                <a:latin typeface="Courier New"/>
                <a:ea typeface="Courier New"/>
                <a:cs typeface="Courier New"/>
                <a:sym typeface="Courier New"/>
              </a:rPr>
              <a:t>from app import app</a:t>
            </a:r>
            <a:endParaRPr/>
          </a:p>
          <a:p>
            <a:pPr indent="0" lvl="0" marL="0" marR="0" rtl="0" algn="l">
              <a:spcBef>
                <a:spcPts val="200"/>
              </a:spcBef>
              <a:spcAft>
                <a:spcPts val="0"/>
              </a:spcAft>
              <a:buNone/>
            </a:pPr>
            <a:r>
              <a:t/>
            </a:r>
            <a:endParaRPr b="1" i="0" sz="18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800" u="none" cap="none" strike="noStrike">
                <a:solidFill>
                  <a:srgbClr val="333344"/>
                </a:solidFill>
                <a:latin typeface="Courier New"/>
                <a:ea typeface="Courier New"/>
                <a:cs typeface="Courier New"/>
                <a:sym typeface="Courier New"/>
              </a:rPr>
              <a:t>client = TestClient(app)</a:t>
            </a:r>
            <a:endParaRPr/>
          </a:p>
          <a:p>
            <a:pPr indent="0" lvl="0" marL="0" marR="0" rtl="0" algn="l">
              <a:spcBef>
                <a:spcPts val="200"/>
              </a:spcBef>
              <a:spcAft>
                <a:spcPts val="0"/>
              </a:spcAft>
              <a:buNone/>
            </a:pPr>
            <a:r>
              <a:t/>
            </a:r>
            <a:endParaRPr b="1" i="0" sz="18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800" u="none" cap="none" strike="noStrike">
                <a:solidFill>
                  <a:srgbClr val="333344"/>
                </a:solidFill>
                <a:latin typeface="Courier New"/>
                <a:ea typeface="Courier New"/>
                <a:cs typeface="Courier New"/>
                <a:sym typeface="Courier New"/>
              </a:rPr>
              <a:t>def test_list_messages_returns_a_list():</a:t>
            </a:r>
            <a:endParaRPr/>
          </a:p>
          <a:p>
            <a:pPr indent="0" lvl="0" marL="0" marR="0" rtl="0" algn="l">
              <a:spcBef>
                <a:spcPts val="200"/>
              </a:spcBef>
              <a:spcAft>
                <a:spcPts val="0"/>
              </a:spcAft>
              <a:buNone/>
            </a:pPr>
            <a:r>
              <a:rPr b="1" i="0" lang="en-US" sz="1800" u="none" cap="none" strike="noStrike">
                <a:solidFill>
                  <a:srgbClr val="333344"/>
                </a:solidFill>
                <a:latin typeface="Courier New"/>
                <a:ea typeface="Courier New"/>
                <a:cs typeface="Courier New"/>
                <a:sym typeface="Courier New"/>
              </a:rPr>
              <a:t>    r = client.get("/api/messages")</a:t>
            </a:r>
            <a:endParaRPr/>
          </a:p>
          <a:p>
            <a:pPr indent="0" lvl="0" marL="0" marR="0" rtl="0" algn="l">
              <a:spcBef>
                <a:spcPts val="200"/>
              </a:spcBef>
              <a:spcAft>
                <a:spcPts val="0"/>
              </a:spcAft>
              <a:buNone/>
            </a:pPr>
            <a:r>
              <a:rPr b="1" i="0" lang="en-US" sz="1800" u="none" cap="none" strike="noStrike">
                <a:solidFill>
                  <a:srgbClr val="333344"/>
                </a:solidFill>
                <a:latin typeface="Courier New"/>
                <a:ea typeface="Courier New"/>
                <a:cs typeface="Courier New"/>
                <a:sym typeface="Courier New"/>
              </a:rPr>
              <a:t>    assert r.status_code == 200</a:t>
            </a:r>
            <a:endParaRPr/>
          </a:p>
          <a:p>
            <a:pPr indent="0" lvl="0" marL="0" marR="0" rtl="0" algn="l">
              <a:spcBef>
                <a:spcPts val="200"/>
              </a:spcBef>
              <a:spcAft>
                <a:spcPts val="0"/>
              </a:spcAft>
              <a:buNone/>
            </a:pPr>
            <a:r>
              <a:rPr b="1" i="0" lang="en-US" sz="1800" u="none" cap="none" strike="noStrike">
                <a:solidFill>
                  <a:srgbClr val="333344"/>
                </a:solidFill>
                <a:latin typeface="Courier New"/>
                <a:ea typeface="Courier New"/>
                <a:cs typeface="Courier New"/>
                <a:sym typeface="Courier New"/>
              </a:rPr>
              <a:t>    assert isinstance(r.json(), list)</a:t>
            </a:r>
            <a:endParaRPr/>
          </a:p>
          <a:p>
            <a:pPr indent="0" lvl="0" marL="0" marR="0" rtl="0" algn="l">
              <a:spcBef>
                <a:spcPts val="200"/>
              </a:spcBef>
              <a:spcAft>
                <a:spcPts val="0"/>
              </a:spcAft>
              <a:buNone/>
            </a:pPr>
            <a:r>
              <a:t/>
            </a:r>
            <a:endParaRPr b="1" i="0" sz="18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800" u="none" cap="none" strike="noStrike">
                <a:solidFill>
                  <a:srgbClr val="333344"/>
                </a:solidFill>
                <a:latin typeface="Courier New"/>
                <a:ea typeface="Courier New"/>
                <a:cs typeface="Courier New"/>
                <a:sym typeface="Courier New"/>
              </a:rPr>
              <a:t>def test_unknown_endpoint_404s():</a:t>
            </a:r>
            <a:endParaRPr/>
          </a:p>
          <a:p>
            <a:pPr indent="0" lvl="0" marL="0" marR="0" rtl="0" algn="l">
              <a:spcBef>
                <a:spcPts val="200"/>
              </a:spcBef>
              <a:spcAft>
                <a:spcPts val="0"/>
              </a:spcAft>
              <a:buNone/>
            </a:pPr>
            <a:r>
              <a:rPr b="1" i="0" lang="en-US" sz="1800" u="none" cap="none" strike="noStrike">
                <a:solidFill>
                  <a:srgbClr val="333344"/>
                </a:solidFill>
                <a:latin typeface="Courier New"/>
                <a:ea typeface="Courier New"/>
                <a:cs typeface="Courier New"/>
                <a:sym typeface="Courier New"/>
              </a:rPr>
              <a:t>    r = client.get("/api/nope")</a:t>
            </a:r>
            <a:endParaRPr/>
          </a:p>
          <a:p>
            <a:pPr indent="0" lvl="0" marL="0" marR="0" rtl="0" algn="l">
              <a:spcBef>
                <a:spcPts val="200"/>
              </a:spcBef>
              <a:spcAft>
                <a:spcPts val="0"/>
              </a:spcAft>
              <a:buNone/>
            </a:pPr>
            <a:r>
              <a:rPr b="1" i="0" lang="en-US" sz="1800" u="none" cap="none" strike="noStrike">
                <a:solidFill>
                  <a:srgbClr val="333344"/>
                </a:solidFill>
                <a:latin typeface="Courier New"/>
                <a:ea typeface="Courier New"/>
                <a:cs typeface="Courier New"/>
                <a:sym typeface="Courier New"/>
              </a:rPr>
              <a:t>    assert r.status_code == 404</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9" name="Shape 159"/>
        <p:cNvGrpSpPr/>
        <p:nvPr/>
      </p:nvGrpSpPr>
      <p:grpSpPr>
        <a:xfrm>
          <a:off x="0" y="0"/>
          <a:ext cx="0" cy="0"/>
          <a:chOff x="0" y="0"/>
          <a:chExt cx="0" cy="0"/>
        </a:xfrm>
      </p:grpSpPr>
      <p:sp>
        <p:nvSpPr>
          <p:cNvPr id="160" name="Google Shape;160;p10"/>
          <p:cNvSpPr txBox="1"/>
          <p:nvPr/>
        </p:nvSpPr>
        <p:spPr>
          <a:xfrm>
            <a:off x="731520" y="36576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Fixtures: stop repeating your setup</a:t>
            </a:r>
            <a:endParaRPr/>
          </a:p>
        </p:txBody>
      </p:sp>
      <p:sp>
        <p:nvSpPr>
          <p:cNvPr id="161" name="Google Shape;161;p10"/>
          <p:cNvSpPr txBox="1"/>
          <p:nvPr/>
        </p:nvSpPr>
        <p:spPr>
          <a:xfrm>
            <a:off x="914388" y="1085990"/>
            <a:ext cx="10362900" cy="5772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333344"/>
                </a:solidFill>
                <a:latin typeface="Calibri"/>
                <a:ea typeface="Calibri"/>
                <a:cs typeface="Calibri"/>
                <a:sym typeface="Calibri"/>
              </a:rPr>
              <a:t>Second issue</a:t>
            </a:r>
            <a:r>
              <a:rPr b="0" i="0" lang="en-US" sz="2400" u="none" cap="none" strike="noStrike">
                <a:solidFill>
                  <a:srgbClr val="333344"/>
                </a:solidFill>
                <a:latin typeface="Calibri"/>
                <a:ea typeface="Calibri"/>
                <a:cs typeface="Calibri"/>
                <a:sym typeface="Calibri"/>
              </a:rPr>
              <a:t>: every test duplicates its setup code. That means</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copy-paste errors, inconsistent state, and a bunch of noise</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around the actual assertion.</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pytest has a dedicated tool for this: </a:t>
            </a:r>
            <a:r>
              <a:rPr b="1" i="0" lang="en-US" sz="2400" u="none" cap="none" strike="noStrike">
                <a:solidFill>
                  <a:srgbClr val="333344"/>
                </a:solidFill>
                <a:latin typeface="Calibri"/>
                <a:ea typeface="Calibri"/>
                <a:cs typeface="Calibri"/>
                <a:sym typeface="Calibri"/>
              </a:rPr>
              <a:t>fixtures</a:t>
            </a:r>
            <a:r>
              <a:rPr b="0" i="0" lang="en-US" sz="2400" u="none" cap="none" strike="noStrike">
                <a:solidFill>
                  <a:srgbClr val="333344"/>
                </a:solidFill>
                <a:latin typeface="Calibri"/>
                <a:ea typeface="Calibri"/>
                <a:cs typeface="Calibri"/>
                <a:sym typeface="Calibri"/>
              </a:rPr>
              <a:t>.</a:t>
            </a:r>
            <a:endParaRPr/>
          </a:p>
          <a:p>
            <a:pPr indent="0" lvl="0" marL="0" marR="0" rtl="0" algn="l">
              <a:spcBef>
                <a:spcPts val="600"/>
              </a:spcBef>
              <a:spcAft>
                <a:spcPts val="0"/>
              </a:spcAft>
              <a:buNone/>
            </a:pPr>
            <a:r>
              <a:t/>
            </a:r>
            <a:endParaRPr b="0" i="0" sz="2400" u="none" cap="none" strike="noStrike">
              <a:solidFill>
                <a:srgbClr val="333344"/>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A fixture is a function decorated with </a:t>
            </a:r>
            <a:r>
              <a:rPr b="1" i="0" lang="en-US" sz="2400" u="none" cap="none" strike="noStrike">
                <a:solidFill>
                  <a:srgbClr val="333344"/>
                </a:solidFill>
                <a:latin typeface="Courier Prime"/>
                <a:ea typeface="Courier Prime"/>
                <a:cs typeface="Courier Prime"/>
                <a:sym typeface="Courier Prime"/>
              </a:rPr>
              <a:t>@pytest.fixture</a:t>
            </a:r>
            <a:r>
              <a:rPr b="0" i="0" lang="en-US" sz="2400" u="none" cap="none" strike="noStrike">
                <a:solidFill>
                  <a:srgbClr val="333344"/>
                </a:solidFill>
                <a:latin typeface="Calibri"/>
                <a:ea typeface="Calibri"/>
                <a:cs typeface="Calibri"/>
                <a:sym typeface="Calibri"/>
              </a:rPr>
              <a:t> that</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produces some value (a client, a database, a temp file, ...).</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Test functions ask for a fixture by </a:t>
            </a:r>
            <a:r>
              <a:rPr b="1" i="0" lang="en-US" sz="2400" u="none" cap="none" strike="noStrike">
                <a:solidFill>
                  <a:srgbClr val="333344"/>
                </a:solidFill>
                <a:latin typeface="Calibri"/>
                <a:ea typeface="Calibri"/>
                <a:cs typeface="Calibri"/>
                <a:sym typeface="Calibri"/>
              </a:rPr>
              <a:t>naming it as a parameter</a:t>
            </a:r>
            <a:r>
              <a:rPr b="0" i="0" lang="en-US" sz="2400" u="none" cap="none" strike="noStrike">
                <a:solidFill>
                  <a:srgbClr val="333344"/>
                </a:solidFill>
                <a:latin typeface="Calibri"/>
                <a:ea typeface="Calibri"/>
                <a:cs typeface="Calibri"/>
                <a:sym typeface="Calibri"/>
              </a:rPr>
              <a:t>.</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pytest sees the parameter name, runs the fixture, and passes</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the result into the test. This is dependency injection.</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Bonus: fixtures can </a:t>
            </a:r>
            <a:r>
              <a:rPr b="1" i="0" lang="en-US" sz="2400" u="none" cap="none" strike="noStrike">
                <a:solidFill>
                  <a:srgbClr val="333344"/>
                </a:solidFill>
                <a:latin typeface="Calibri"/>
                <a:ea typeface="Calibri"/>
                <a:cs typeface="Calibri"/>
                <a:sym typeface="Calibri"/>
              </a:rPr>
              <a:t>yield</a:t>
            </a:r>
            <a:r>
              <a:rPr b="0" i="0" lang="en-US" sz="2400" u="none" cap="none" strike="noStrike">
                <a:solidFill>
                  <a:srgbClr val="333344"/>
                </a:solidFill>
                <a:latin typeface="Calibri"/>
                <a:ea typeface="Calibri"/>
                <a:cs typeface="Calibri"/>
                <a:sym typeface="Calibri"/>
              </a:rPr>
              <a:t> a value and run cleanup afterward.</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6" name="Shape 166"/>
        <p:cNvGrpSpPr/>
        <p:nvPr/>
      </p:nvGrpSpPr>
      <p:grpSpPr>
        <a:xfrm>
          <a:off x="0" y="0"/>
          <a:ext cx="0" cy="0"/>
          <a:chOff x="0" y="0"/>
          <a:chExt cx="0" cy="0"/>
        </a:xfrm>
      </p:grpSpPr>
      <p:sp>
        <p:nvSpPr>
          <p:cNvPr id="167" name="Google Shape;167;g3979b53ae3e_1_250"/>
          <p:cNvSpPr txBox="1"/>
          <p:nvPr/>
        </p:nvSpPr>
        <p:spPr>
          <a:xfrm>
            <a:off x="731520" y="365760"/>
            <a:ext cx="107286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1A2E"/>
                </a:solidFill>
                <a:latin typeface="Calibri"/>
                <a:ea typeface="Calibri"/>
                <a:cs typeface="Calibri"/>
                <a:sym typeface="Calibri"/>
              </a:rPr>
              <a:t>A fixture in action</a:t>
            </a:r>
            <a:endParaRPr/>
          </a:p>
        </p:txBody>
      </p:sp>
      <p:sp>
        <p:nvSpPr>
          <p:cNvPr id="168" name="Google Shape;168;g3979b53ae3e_1_250"/>
          <p:cNvSpPr txBox="1"/>
          <p:nvPr/>
        </p:nvSpPr>
        <p:spPr>
          <a:xfrm>
            <a:off x="9601200" y="1188720"/>
            <a:ext cx="1828800" cy="3078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400" u="none" cap="none" strike="noStrike">
                <a:solidFill>
                  <a:srgbClr val="5B21B6"/>
                </a:solidFill>
                <a:latin typeface="Courier New"/>
                <a:ea typeface="Courier New"/>
                <a:cs typeface="Courier New"/>
                <a:sym typeface="Courier New"/>
              </a:rPr>
              <a:t>Python</a:t>
            </a:r>
            <a:endParaRPr/>
          </a:p>
        </p:txBody>
      </p:sp>
      <p:sp>
        <p:nvSpPr>
          <p:cNvPr id="169" name="Google Shape;169;g3979b53ae3e_1_250"/>
          <p:cNvSpPr/>
          <p:nvPr/>
        </p:nvSpPr>
        <p:spPr>
          <a:xfrm>
            <a:off x="731520" y="1463040"/>
            <a:ext cx="10728600" cy="493770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0" name="Google Shape;170;g3979b53ae3e_1_250"/>
          <p:cNvSpPr txBox="1"/>
          <p:nvPr/>
        </p:nvSpPr>
        <p:spPr>
          <a:xfrm>
            <a:off x="1005840" y="1645920"/>
            <a:ext cx="10179900" cy="2319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700" u="none" cap="none" strike="noStrike">
                <a:solidFill>
                  <a:srgbClr val="333344"/>
                </a:solidFill>
                <a:latin typeface="Courier New"/>
                <a:ea typeface="Courier New"/>
                <a:cs typeface="Courier New"/>
                <a:sym typeface="Courier New"/>
              </a:rPr>
              <a:t>import pytest</a:t>
            </a:r>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from fastapi.testclient import TestClient</a:t>
            </a:r>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from app import app</a:t>
            </a:r>
            <a:endParaRPr/>
          </a:p>
          <a:p>
            <a:pPr indent="0" lvl="0" marL="0" marR="0" rtl="0" algn="l">
              <a:spcBef>
                <a:spcPts val="200"/>
              </a:spcBef>
              <a:spcAft>
                <a:spcPts val="0"/>
              </a:spcAft>
              <a:buNone/>
            </a:pPr>
            <a:r>
              <a:t/>
            </a:r>
            <a:endParaRPr b="1" i="0" sz="17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@pytest.fixture</a:t>
            </a:r>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def client():</a:t>
            </a:r>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    return TestClient(app)</a:t>
            </a:r>
            <a:endParaRPr/>
          </a:p>
          <a:p>
            <a:pPr indent="0" lvl="0" marL="0" marR="0" rtl="0" algn="l">
              <a:spcBef>
                <a:spcPts val="20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5" name="Shape 175"/>
        <p:cNvGrpSpPr/>
        <p:nvPr/>
      </p:nvGrpSpPr>
      <p:grpSpPr>
        <a:xfrm>
          <a:off x="0" y="0"/>
          <a:ext cx="0" cy="0"/>
          <a:chOff x="0" y="0"/>
          <a:chExt cx="0" cy="0"/>
        </a:xfrm>
      </p:grpSpPr>
      <p:sp>
        <p:nvSpPr>
          <p:cNvPr id="176" name="Google Shape;176;p11"/>
          <p:cNvSpPr txBox="1"/>
          <p:nvPr/>
        </p:nvSpPr>
        <p:spPr>
          <a:xfrm>
            <a:off x="731520" y="36576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1A2E"/>
                </a:solidFill>
                <a:latin typeface="Calibri"/>
                <a:ea typeface="Calibri"/>
                <a:cs typeface="Calibri"/>
                <a:sym typeface="Calibri"/>
              </a:rPr>
              <a:t>A fixture in action</a:t>
            </a:r>
            <a:endParaRPr/>
          </a:p>
        </p:txBody>
      </p:sp>
      <p:sp>
        <p:nvSpPr>
          <p:cNvPr id="177" name="Google Shape;177;p11"/>
          <p:cNvSpPr txBox="1"/>
          <p:nvPr/>
        </p:nvSpPr>
        <p:spPr>
          <a:xfrm>
            <a:off x="9601200" y="1188720"/>
            <a:ext cx="1828800" cy="36576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400" u="none" cap="none" strike="noStrike">
                <a:solidFill>
                  <a:srgbClr val="5B21B6"/>
                </a:solidFill>
                <a:latin typeface="Courier New"/>
                <a:ea typeface="Courier New"/>
                <a:cs typeface="Courier New"/>
                <a:sym typeface="Courier New"/>
              </a:rPr>
              <a:t>Python</a:t>
            </a:r>
            <a:endParaRPr/>
          </a:p>
        </p:txBody>
      </p:sp>
      <p:sp>
        <p:nvSpPr>
          <p:cNvPr id="178" name="Google Shape;178;p11"/>
          <p:cNvSpPr/>
          <p:nvPr/>
        </p:nvSpPr>
        <p:spPr>
          <a:xfrm>
            <a:off x="731520" y="1463040"/>
            <a:ext cx="10728655" cy="493776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9" name="Google Shape;179;p11"/>
          <p:cNvSpPr txBox="1"/>
          <p:nvPr/>
        </p:nvSpPr>
        <p:spPr>
          <a:xfrm>
            <a:off x="1005840" y="1645920"/>
            <a:ext cx="10180015" cy="4572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700" u="none" cap="none" strike="noStrike">
                <a:solidFill>
                  <a:srgbClr val="333344"/>
                </a:solidFill>
                <a:latin typeface="Courier New"/>
                <a:ea typeface="Courier New"/>
                <a:cs typeface="Courier New"/>
                <a:sym typeface="Courier New"/>
              </a:rPr>
              <a:t>import pytest</a:t>
            </a:r>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from fastapi.testclient import TestClient</a:t>
            </a:r>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from app import app</a:t>
            </a:r>
            <a:endParaRPr/>
          </a:p>
          <a:p>
            <a:pPr indent="0" lvl="0" marL="0" marR="0" rtl="0" algn="l">
              <a:spcBef>
                <a:spcPts val="200"/>
              </a:spcBef>
              <a:spcAft>
                <a:spcPts val="0"/>
              </a:spcAft>
              <a:buNone/>
            </a:pPr>
            <a:r>
              <a:t/>
            </a:r>
            <a:endParaRPr b="1" i="0" sz="17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@pytest.fixture</a:t>
            </a:r>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def client():</a:t>
            </a:r>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    return TestClient(app)</a:t>
            </a:r>
            <a:endParaRPr/>
          </a:p>
          <a:p>
            <a:pPr indent="0" lvl="0" marL="0" marR="0" rtl="0" algn="l">
              <a:spcBef>
                <a:spcPts val="200"/>
              </a:spcBef>
              <a:spcAft>
                <a:spcPts val="0"/>
              </a:spcAft>
              <a:buNone/>
            </a:pPr>
            <a:r>
              <a:t/>
            </a:r>
            <a:endParaRPr b="1" i="0" sz="17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 Tests ask for `client` by parameter name:</a:t>
            </a:r>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def test_list_messages_returns_a_list(client):</a:t>
            </a:r>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    r = client.get("/api/messages")</a:t>
            </a:r>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    assert r.status_code == 200</a:t>
            </a:r>
            <a:endParaRPr/>
          </a:p>
          <a:p>
            <a:pPr indent="0" lvl="0" marL="0" marR="0" rtl="0" algn="l">
              <a:spcBef>
                <a:spcPts val="200"/>
              </a:spcBef>
              <a:spcAft>
                <a:spcPts val="0"/>
              </a:spcAft>
              <a:buNone/>
            </a:pPr>
            <a:r>
              <a:t/>
            </a:r>
            <a:endParaRPr b="1" i="0" sz="17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def test_unknown_endpoint_404s(client):</a:t>
            </a:r>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    r = client.get("/api/nope")</a:t>
            </a:r>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    assert r.status_code == 404</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4" name="Shape 184"/>
        <p:cNvGrpSpPr/>
        <p:nvPr/>
      </p:nvGrpSpPr>
      <p:grpSpPr>
        <a:xfrm>
          <a:off x="0" y="0"/>
          <a:ext cx="0" cy="0"/>
          <a:chOff x="0" y="0"/>
          <a:chExt cx="0" cy="0"/>
        </a:xfrm>
      </p:grpSpPr>
      <p:sp>
        <p:nvSpPr>
          <p:cNvPr id="185" name="Google Shape;185;g3979b53ae3e_1_258"/>
          <p:cNvSpPr txBox="1"/>
          <p:nvPr/>
        </p:nvSpPr>
        <p:spPr>
          <a:xfrm>
            <a:off x="731520" y="365760"/>
            <a:ext cx="107286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1A2E"/>
                </a:solidFill>
                <a:latin typeface="Calibri"/>
                <a:ea typeface="Calibri"/>
                <a:cs typeface="Calibri"/>
                <a:sym typeface="Calibri"/>
              </a:rPr>
              <a:t>Fixtures with yield: setup AND teardown</a:t>
            </a:r>
            <a:endParaRPr/>
          </a:p>
        </p:txBody>
      </p:sp>
      <p:sp>
        <p:nvSpPr>
          <p:cNvPr id="186" name="Google Shape;186;g3979b53ae3e_1_258"/>
          <p:cNvSpPr/>
          <p:nvPr/>
        </p:nvSpPr>
        <p:spPr>
          <a:xfrm>
            <a:off x="731525" y="1280151"/>
            <a:ext cx="10728600" cy="525180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7" name="Google Shape;187;g3979b53ae3e_1_258"/>
          <p:cNvSpPr txBox="1"/>
          <p:nvPr/>
        </p:nvSpPr>
        <p:spPr>
          <a:xfrm>
            <a:off x="890150" y="1533100"/>
            <a:ext cx="10458600" cy="3032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rgbClr val="333344"/>
                </a:solidFill>
                <a:latin typeface="Courier New"/>
                <a:ea typeface="Courier New"/>
                <a:cs typeface="Courier New"/>
                <a:sym typeface="Courier New"/>
              </a:rPr>
              <a:t>@pytest.fixture</a:t>
            </a:r>
            <a:endParaRPr/>
          </a:p>
          <a:p>
            <a:pPr indent="0" lvl="0" marL="0" marR="0" rtl="0" algn="l">
              <a:spcBef>
                <a:spcPts val="200"/>
              </a:spcBef>
              <a:spcAft>
                <a:spcPts val="0"/>
              </a:spcAft>
              <a:buNone/>
            </a:pPr>
            <a:r>
              <a:rPr b="1" i="0" lang="en-US" sz="1800" u="none" cap="none" strike="noStrike">
                <a:solidFill>
                  <a:srgbClr val="333344"/>
                </a:solidFill>
                <a:latin typeface="Courier New"/>
                <a:ea typeface="Courier New"/>
                <a:cs typeface="Courier New"/>
                <a:sym typeface="Courier New"/>
              </a:rPr>
              <a:t>def temp_file():</a:t>
            </a:r>
            <a:endParaRPr/>
          </a:p>
          <a:p>
            <a:pPr indent="0" lvl="0" marL="0" marR="0" rtl="0" algn="l">
              <a:spcBef>
                <a:spcPts val="200"/>
              </a:spcBef>
              <a:spcAft>
                <a:spcPts val="0"/>
              </a:spcAft>
              <a:buNone/>
            </a:pPr>
            <a:r>
              <a:rPr b="1" i="0" lang="en-US" sz="1800" u="none" cap="none" strike="noStrike">
                <a:solidFill>
                  <a:srgbClr val="333344"/>
                </a:solidFill>
                <a:latin typeface="Courier New"/>
                <a:ea typeface="Courier New"/>
                <a:cs typeface="Courier New"/>
                <a:sym typeface="Courier New"/>
              </a:rPr>
              <a:t>    import tempfile, os</a:t>
            </a:r>
            <a:endParaRPr/>
          </a:p>
          <a:p>
            <a:pPr indent="0" lvl="0" marL="0" marR="0" rtl="0" algn="l">
              <a:spcBef>
                <a:spcPts val="200"/>
              </a:spcBef>
              <a:spcAft>
                <a:spcPts val="0"/>
              </a:spcAft>
              <a:buNone/>
            </a:pPr>
            <a:r>
              <a:rPr b="1" i="0" lang="en-US" sz="1800" u="none" cap="none" strike="noStrike">
                <a:solidFill>
                  <a:srgbClr val="333344"/>
                </a:solidFill>
                <a:latin typeface="Courier New"/>
                <a:ea typeface="Courier New"/>
                <a:cs typeface="Courier New"/>
                <a:sym typeface="Courier New"/>
              </a:rPr>
              <a:t>    fd, path = tempfile.mkstemp()</a:t>
            </a:r>
            <a:endParaRPr/>
          </a:p>
          <a:p>
            <a:pPr indent="0" lvl="0" marL="0" marR="0" rtl="0" algn="l">
              <a:spcBef>
                <a:spcPts val="200"/>
              </a:spcBef>
              <a:spcAft>
                <a:spcPts val="0"/>
              </a:spcAft>
              <a:buNone/>
            </a:pPr>
            <a:r>
              <a:t/>
            </a:r>
            <a:endParaRPr b="1" i="0" sz="18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800" u="none" cap="none" strike="noStrike">
                <a:solidFill>
                  <a:srgbClr val="333344"/>
                </a:solidFill>
                <a:latin typeface="Courier New"/>
                <a:ea typeface="Courier New"/>
                <a:cs typeface="Courier New"/>
                <a:sym typeface="Courier New"/>
              </a:rPr>
              <a:t>    yield path         # &lt;-- test runs here, with `path` as the value</a:t>
            </a:r>
            <a:endParaRPr/>
          </a:p>
          <a:p>
            <a:pPr indent="0" lvl="0" marL="0" marR="0" rtl="0" algn="l">
              <a:spcBef>
                <a:spcPts val="200"/>
              </a:spcBef>
              <a:spcAft>
                <a:spcPts val="0"/>
              </a:spcAft>
              <a:buNone/>
            </a:pPr>
            <a:r>
              <a:t/>
            </a:r>
            <a:endParaRPr b="1" i="0" sz="18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800" u="none" cap="none" strike="noStrike">
                <a:solidFill>
                  <a:srgbClr val="333344"/>
                </a:solidFill>
                <a:latin typeface="Courier New"/>
                <a:ea typeface="Courier New"/>
                <a:cs typeface="Courier New"/>
                <a:sym typeface="Courier New"/>
              </a:rPr>
              <a:t>    os.close(fd)       # &lt;-- runs after the test finishes, even on failure</a:t>
            </a:r>
            <a:endParaRPr/>
          </a:p>
          <a:p>
            <a:pPr indent="0" lvl="0" marL="0" marR="0" rtl="0" algn="l">
              <a:spcBef>
                <a:spcPts val="200"/>
              </a:spcBef>
              <a:spcAft>
                <a:spcPts val="0"/>
              </a:spcAft>
              <a:buNone/>
            </a:pPr>
            <a:r>
              <a:rPr b="1" i="0" lang="en-US" sz="1800" u="none" cap="none" strike="noStrike">
                <a:solidFill>
                  <a:srgbClr val="333344"/>
                </a:solidFill>
                <a:latin typeface="Courier New"/>
                <a:ea typeface="Courier New"/>
                <a:cs typeface="Courier New"/>
                <a:sym typeface="Courier New"/>
              </a:rPr>
              <a:t>    os.remove(path)</a:t>
            </a:r>
            <a:endParaRPr/>
          </a:p>
          <a:p>
            <a:pPr indent="0" lvl="0" marL="0" marR="0" rtl="0" algn="l">
              <a:spcBef>
                <a:spcPts val="20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2" name="Shape 192"/>
        <p:cNvGrpSpPr/>
        <p:nvPr/>
      </p:nvGrpSpPr>
      <p:grpSpPr>
        <a:xfrm>
          <a:off x="0" y="0"/>
          <a:ext cx="0" cy="0"/>
          <a:chOff x="0" y="0"/>
          <a:chExt cx="0" cy="0"/>
        </a:xfrm>
      </p:grpSpPr>
      <p:sp>
        <p:nvSpPr>
          <p:cNvPr id="193" name="Google Shape;193;p12"/>
          <p:cNvSpPr txBox="1"/>
          <p:nvPr/>
        </p:nvSpPr>
        <p:spPr>
          <a:xfrm>
            <a:off x="731520" y="36576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1A2E"/>
                </a:solidFill>
                <a:latin typeface="Calibri"/>
                <a:ea typeface="Calibri"/>
                <a:cs typeface="Calibri"/>
                <a:sym typeface="Calibri"/>
              </a:rPr>
              <a:t>Fixtures with yield: setup AND teardown</a:t>
            </a:r>
            <a:endParaRPr/>
          </a:p>
        </p:txBody>
      </p:sp>
      <p:sp>
        <p:nvSpPr>
          <p:cNvPr id="194" name="Google Shape;194;p12"/>
          <p:cNvSpPr/>
          <p:nvPr/>
        </p:nvSpPr>
        <p:spPr>
          <a:xfrm>
            <a:off x="731525" y="1280151"/>
            <a:ext cx="10728600" cy="525180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5" name="Google Shape;195;p12"/>
          <p:cNvSpPr txBox="1"/>
          <p:nvPr/>
        </p:nvSpPr>
        <p:spPr>
          <a:xfrm>
            <a:off x="890150" y="1533100"/>
            <a:ext cx="10458600" cy="4607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rgbClr val="333344"/>
                </a:solidFill>
                <a:latin typeface="Courier New"/>
                <a:ea typeface="Courier New"/>
                <a:cs typeface="Courier New"/>
                <a:sym typeface="Courier New"/>
              </a:rPr>
              <a:t>@pytest.fixture</a:t>
            </a:r>
            <a:endParaRPr/>
          </a:p>
          <a:p>
            <a:pPr indent="0" lvl="0" marL="0" marR="0" rtl="0" algn="l">
              <a:spcBef>
                <a:spcPts val="200"/>
              </a:spcBef>
              <a:spcAft>
                <a:spcPts val="0"/>
              </a:spcAft>
              <a:buNone/>
            </a:pPr>
            <a:r>
              <a:rPr b="1" i="0" lang="en-US" sz="1800" u="none" cap="none" strike="noStrike">
                <a:solidFill>
                  <a:srgbClr val="333344"/>
                </a:solidFill>
                <a:latin typeface="Courier New"/>
                <a:ea typeface="Courier New"/>
                <a:cs typeface="Courier New"/>
                <a:sym typeface="Courier New"/>
              </a:rPr>
              <a:t>def temp_file():</a:t>
            </a:r>
            <a:endParaRPr/>
          </a:p>
          <a:p>
            <a:pPr indent="0" lvl="0" marL="0" marR="0" rtl="0" algn="l">
              <a:spcBef>
                <a:spcPts val="200"/>
              </a:spcBef>
              <a:spcAft>
                <a:spcPts val="0"/>
              </a:spcAft>
              <a:buNone/>
            </a:pPr>
            <a:r>
              <a:rPr b="1" i="0" lang="en-US" sz="1800" u="none" cap="none" strike="noStrike">
                <a:solidFill>
                  <a:srgbClr val="333344"/>
                </a:solidFill>
                <a:latin typeface="Courier New"/>
                <a:ea typeface="Courier New"/>
                <a:cs typeface="Courier New"/>
                <a:sym typeface="Courier New"/>
              </a:rPr>
              <a:t>    import tempfile, os</a:t>
            </a:r>
            <a:endParaRPr/>
          </a:p>
          <a:p>
            <a:pPr indent="0" lvl="0" marL="0" marR="0" rtl="0" algn="l">
              <a:spcBef>
                <a:spcPts val="200"/>
              </a:spcBef>
              <a:spcAft>
                <a:spcPts val="0"/>
              </a:spcAft>
              <a:buNone/>
            </a:pPr>
            <a:r>
              <a:rPr b="1" i="0" lang="en-US" sz="1800" u="none" cap="none" strike="noStrike">
                <a:solidFill>
                  <a:srgbClr val="333344"/>
                </a:solidFill>
                <a:latin typeface="Courier New"/>
                <a:ea typeface="Courier New"/>
                <a:cs typeface="Courier New"/>
                <a:sym typeface="Courier New"/>
              </a:rPr>
              <a:t>    fd, path = tempfile.mkstemp()</a:t>
            </a:r>
            <a:endParaRPr/>
          </a:p>
          <a:p>
            <a:pPr indent="0" lvl="0" marL="0" marR="0" rtl="0" algn="l">
              <a:spcBef>
                <a:spcPts val="200"/>
              </a:spcBef>
              <a:spcAft>
                <a:spcPts val="0"/>
              </a:spcAft>
              <a:buNone/>
            </a:pPr>
            <a:r>
              <a:t/>
            </a:r>
            <a:endParaRPr b="1" i="0" sz="18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800" u="none" cap="none" strike="noStrike">
                <a:solidFill>
                  <a:srgbClr val="333344"/>
                </a:solidFill>
                <a:latin typeface="Courier New"/>
                <a:ea typeface="Courier New"/>
                <a:cs typeface="Courier New"/>
                <a:sym typeface="Courier New"/>
              </a:rPr>
              <a:t>    yield path         # &lt;-- test runs here, with `path` as the value</a:t>
            </a:r>
            <a:endParaRPr/>
          </a:p>
          <a:p>
            <a:pPr indent="0" lvl="0" marL="0" marR="0" rtl="0" algn="l">
              <a:spcBef>
                <a:spcPts val="200"/>
              </a:spcBef>
              <a:spcAft>
                <a:spcPts val="0"/>
              </a:spcAft>
              <a:buNone/>
            </a:pPr>
            <a:r>
              <a:t/>
            </a:r>
            <a:endParaRPr b="1" i="0" sz="18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800" u="none" cap="none" strike="noStrike">
                <a:solidFill>
                  <a:srgbClr val="333344"/>
                </a:solidFill>
                <a:latin typeface="Courier New"/>
                <a:ea typeface="Courier New"/>
                <a:cs typeface="Courier New"/>
                <a:sym typeface="Courier New"/>
              </a:rPr>
              <a:t>    os.close(fd)       # &lt;-- runs after the test finishes, even on failure</a:t>
            </a:r>
            <a:endParaRPr/>
          </a:p>
          <a:p>
            <a:pPr indent="0" lvl="0" marL="0" marR="0" rtl="0" algn="l">
              <a:spcBef>
                <a:spcPts val="200"/>
              </a:spcBef>
              <a:spcAft>
                <a:spcPts val="0"/>
              </a:spcAft>
              <a:buNone/>
            </a:pPr>
            <a:r>
              <a:rPr b="1" i="0" lang="en-US" sz="1800" u="none" cap="none" strike="noStrike">
                <a:solidFill>
                  <a:srgbClr val="333344"/>
                </a:solidFill>
                <a:latin typeface="Courier New"/>
                <a:ea typeface="Courier New"/>
                <a:cs typeface="Courier New"/>
                <a:sym typeface="Courier New"/>
              </a:rPr>
              <a:t>    os.remove(path)</a:t>
            </a:r>
            <a:endParaRPr/>
          </a:p>
          <a:p>
            <a:pPr indent="0" lvl="0" marL="0" marR="0" rtl="0" algn="l">
              <a:spcBef>
                <a:spcPts val="200"/>
              </a:spcBef>
              <a:spcAft>
                <a:spcPts val="0"/>
              </a:spcAft>
              <a:buNone/>
            </a:pPr>
            <a:r>
              <a:t/>
            </a:r>
            <a:endParaRPr b="1" i="0" sz="18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t/>
            </a:r>
            <a:endParaRPr b="1" i="0" sz="18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800" u="none" cap="none" strike="noStrike">
                <a:solidFill>
                  <a:srgbClr val="333344"/>
                </a:solidFill>
                <a:latin typeface="Courier New"/>
                <a:ea typeface="Courier New"/>
                <a:cs typeface="Courier New"/>
                <a:sym typeface="Courier New"/>
              </a:rPr>
              <a:t>def test_something_that_writes_to_a_file(temp_file):</a:t>
            </a:r>
            <a:endParaRPr/>
          </a:p>
          <a:p>
            <a:pPr indent="0" lvl="0" marL="0" marR="0" rtl="0" algn="l">
              <a:spcBef>
                <a:spcPts val="200"/>
              </a:spcBef>
              <a:spcAft>
                <a:spcPts val="0"/>
              </a:spcAft>
              <a:buNone/>
            </a:pPr>
            <a:r>
              <a:rPr b="1" i="0" lang="en-US" sz="1800" u="none" cap="none" strike="noStrike">
                <a:solidFill>
                  <a:srgbClr val="333344"/>
                </a:solidFill>
                <a:latin typeface="Courier New"/>
                <a:ea typeface="Courier New"/>
                <a:cs typeface="Courier New"/>
                <a:sym typeface="Courier New"/>
              </a:rPr>
              <a:t>    with open(temp_file, "w") as f:</a:t>
            </a:r>
            <a:endParaRPr/>
          </a:p>
          <a:p>
            <a:pPr indent="0" lvl="0" marL="0" marR="0" rtl="0" algn="l">
              <a:spcBef>
                <a:spcPts val="200"/>
              </a:spcBef>
              <a:spcAft>
                <a:spcPts val="0"/>
              </a:spcAft>
              <a:buNone/>
            </a:pPr>
            <a:r>
              <a:rPr b="1" i="0" lang="en-US" sz="1800" u="none" cap="none" strike="noStrike">
                <a:solidFill>
                  <a:srgbClr val="333344"/>
                </a:solidFill>
                <a:latin typeface="Courier New"/>
                <a:ea typeface="Courier New"/>
                <a:cs typeface="Courier New"/>
                <a:sym typeface="Courier New"/>
              </a:rPr>
              <a:t>        f.write("hello")</a:t>
            </a:r>
            <a:endParaRPr/>
          </a:p>
          <a:p>
            <a:pPr indent="0" lvl="0" marL="0" marR="0" rtl="0" algn="l">
              <a:spcBef>
                <a:spcPts val="200"/>
              </a:spcBef>
              <a:spcAft>
                <a:spcPts val="0"/>
              </a:spcAft>
              <a:buNone/>
            </a:pPr>
            <a:r>
              <a:rPr b="1" i="0" lang="en-US" sz="1800" u="none" cap="none" strike="noStrike">
                <a:solidFill>
                  <a:srgbClr val="333344"/>
                </a:solidFill>
                <a:latin typeface="Courier New"/>
                <a:ea typeface="Courier New"/>
                <a:cs typeface="Courier New"/>
                <a:sym typeface="Courier New"/>
              </a:rPr>
              <a:t>    # when the test ends, the fixture's cleanup code runs automatically</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0" name="Shape 200"/>
        <p:cNvGrpSpPr/>
        <p:nvPr/>
      </p:nvGrpSpPr>
      <p:grpSpPr>
        <a:xfrm>
          <a:off x="0" y="0"/>
          <a:ext cx="0" cy="0"/>
          <a:chOff x="0" y="0"/>
          <a:chExt cx="0" cy="0"/>
        </a:xfrm>
      </p:grpSpPr>
      <p:sp>
        <p:nvSpPr>
          <p:cNvPr id="201" name="Google Shape;201;g3979b53ae3e_1_265"/>
          <p:cNvSpPr txBox="1"/>
          <p:nvPr/>
        </p:nvSpPr>
        <p:spPr>
          <a:xfrm>
            <a:off x="731520" y="365760"/>
            <a:ext cx="10728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The chat endpoint has dependencies everywhere</a:t>
            </a:r>
            <a:endParaRPr/>
          </a:p>
        </p:txBody>
      </p:sp>
      <p:sp>
        <p:nvSpPr>
          <p:cNvPr id="202" name="Google Shape;202;g3979b53ae3e_1_265"/>
          <p:cNvSpPr txBox="1"/>
          <p:nvPr/>
        </p:nvSpPr>
        <p:spPr>
          <a:xfrm>
            <a:off x="914400" y="1463040"/>
            <a:ext cx="10362900" cy="517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333344"/>
                </a:solidFill>
                <a:latin typeface="Calibri"/>
                <a:ea typeface="Calibri"/>
                <a:cs typeface="Calibri"/>
                <a:sym typeface="Calibri"/>
              </a:rPr>
              <a:t>Look at one line: `POST /api/messages` in your FastAPI app.</a:t>
            </a:r>
            <a:endParaRPr/>
          </a:p>
          <a:p>
            <a:pPr indent="0" lvl="0" marL="0" marR="0" rtl="0" algn="l">
              <a:spcBef>
                <a:spcPts val="600"/>
              </a:spcBef>
              <a:spcAft>
                <a:spcPts val="0"/>
              </a:spcAft>
              <a:buNone/>
            </a:pPr>
            <a:r>
              <a:t/>
            </a:r>
            <a:endParaRPr b="0" i="0" sz="2400" u="none" cap="none" strike="noStrike">
              <a:solidFill>
                <a:srgbClr val="333344"/>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Under the hood, it depends on:</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 </a:t>
            </a:r>
            <a:r>
              <a:rPr b="1" i="0" lang="en-US" sz="2000" u="none" cap="none" strike="noStrike">
                <a:solidFill>
                  <a:srgbClr val="666677"/>
                </a:solidFill>
                <a:latin typeface="Calibri"/>
                <a:ea typeface="Calibri"/>
                <a:cs typeface="Calibri"/>
                <a:sym typeface="Calibri"/>
              </a:rPr>
              <a:t>SQLite database</a:t>
            </a:r>
            <a:r>
              <a:rPr b="0" i="0" lang="en-US" sz="2000" u="none" cap="none" strike="noStrike">
                <a:solidFill>
                  <a:srgbClr val="666677"/>
                </a:solidFill>
                <a:latin typeface="Calibri"/>
                <a:ea typeface="Calibri"/>
                <a:cs typeface="Calibri"/>
                <a:sym typeface="Calibri"/>
              </a:rPr>
              <a:t> (your chat.db file, with real data)</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The </a:t>
            </a:r>
            <a:r>
              <a:rPr b="1" i="0" lang="en-US" sz="2000" u="none" cap="none" strike="noStrike">
                <a:solidFill>
                  <a:srgbClr val="666677"/>
                </a:solidFill>
                <a:latin typeface="Calibri"/>
                <a:ea typeface="Calibri"/>
                <a:cs typeface="Calibri"/>
                <a:sym typeface="Calibri"/>
              </a:rPr>
              <a:t>wall clock</a:t>
            </a:r>
            <a:r>
              <a:rPr b="0" i="0" lang="en-US" sz="2000" u="none" cap="none" strike="noStrike">
                <a:solidFill>
                  <a:srgbClr val="666677"/>
                </a:solidFill>
                <a:latin typeface="Calibri"/>
                <a:ea typeface="Calibri"/>
                <a:cs typeface="Calibri"/>
                <a:sym typeface="Calibri"/>
              </a:rPr>
              <a:t> (for the timestamp via datetime.utcnow)</a:t>
            </a:r>
            <a:endParaRPr/>
          </a:p>
          <a:p>
            <a:pPr indent="0" lvl="1" marL="457200" marR="0" rtl="0" algn="l">
              <a:spcBef>
                <a:spcPts val="600"/>
              </a:spcBef>
              <a:spcAft>
                <a:spcPts val="0"/>
              </a:spcAft>
              <a:buNone/>
            </a:pPr>
            <a:r>
              <a:rPr b="0" i="0" lang="en-US" sz="2000" u="none" cap="none" strike="sngStrike">
                <a:solidFill>
                  <a:srgbClr val="666677"/>
                </a:solidFill>
                <a:latin typeface="Calibri"/>
                <a:ea typeface="Calibri"/>
                <a:cs typeface="Calibri"/>
                <a:sym typeface="Calibri"/>
              </a:rPr>
              <a:t>  </a:t>
            </a:r>
            <a:r>
              <a:rPr b="1" i="0" lang="en-US" sz="2000" u="none" cap="none" strike="sngStrike">
                <a:solidFill>
                  <a:srgbClr val="666677"/>
                </a:solidFill>
                <a:latin typeface="Calibri"/>
                <a:ea typeface="Calibri"/>
                <a:cs typeface="Calibri"/>
                <a:sym typeface="Calibri"/>
              </a:rPr>
              <a:t>FastAPI</a:t>
            </a:r>
            <a:r>
              <a:rPr b="0" i="0" lang="en-US" sz="2000" u="none" cap="none" strike="sngStrike">
                <a:solidFill>
                  <a:srgbClr val="666677"/>
                </a:solidFill>
                <a:latin typeface="Calibri"/>
                <a:ea typeface="Calibri"/>
                <a:cs typeface="Calibri"/>
                <a:sym typeface="Calibri"/>
              </a:rPr>
              <a:t> itself (request parsing, Pydantic validation)</a:t>
            </a:r>
            <a:endParaRPr strike="sngStrike"/>
          </a:p>
          <a:p>
            <a:pPr indent="0" lvl="1" marL="457200" marR="0" rtl="0" algn="l">
              <a:spcBef>
                <a:spcPts val="600"/>
              </a:spcBef>
              <a:spcAft>
                <a:spcPts val="0"/>
              </a:spcAft>
              <a:buNone/>
            </a:pPr>
            <a:r>
              <a:rPr b="0" i="0" lang="en-US" sz="2000" u="none" cap="none" strike="sngStrike">
                <a:solidFill>
                  <a:srgbClr val="666677"/>
                </a:solidFill>
                <a:latin typeface="Calibri"/>
                <a:ea typeface="Calibri"/>
                <a:cs typeface="Calibri"/>
                <a:sym typeface="Calibri"/>
              </a:rPr>
              <a:t>  A </a:t>
            </a:r>
            <a:r>
              <a:rPr b="1" i="0" lang="en-US" sz="2000" u="none" cap="none" strike="sngStrike">
                <a:solidFill>
                  <a:srgbClr val="666677"/>
                </a:solidFill>
                <a:latin typeface="Calibri"/>
                <a:ea typeface="Calibri"/>
                <a:cs typeface="Calibri"/>
                <a:sym typeface="Calibri"/>
              </a:rPr>
              <a:t>TCP port</a:t>
            </a:r>
            <a:r>
              <a:rPr b="0" i="0" lang="en-US" sz="2000" u="none" cap="none" strike="sngStrike">
                <a:solidFill>
                  <a:srgbClr val="666677"/>
                </a:solidFill>
                <a:latin typeface="Calibri"/>
                <a:ea typeface="Calibri"/>
                <a:cs typeface="Calibri"/>
                <a:sym typeface="Calibri"/>
              </a:rPr>
              <a:t> that uvicorn has to be listening on</a:t>
            </a:r>
            <a:endParaRPr strike="sngStrike"/>
          </a:p>
          <a:p>
            <a:pPr indent="0" lvl="1" marL="457200" marR="0" rtl="0" algn="l">
              <a:spcBef>
                <a:spcPts val="600"/>
              </a:spcBef>
              <a:spcAft>
                <a:spcPts val="0"/>
              </a:spcAft>
              <a:buNone/>
            </a:pPr>
            <a:r>
              <a:rPr b="0" i="0" lang="en-US" sz="2000" u="none" cap="none" strike="sngStrike">
                <a:solidFill>
                  <a:srgbClr val="666677"/>
                </a:solidFill>
                <a:latin typeface="Calibri"/>
                <a:ea typeface="Calibri"/>
                <a:cs typeface="Calibri"/>
                <a:sym typeface="Calibri"/>
              </a:rPr>
              <a:t>  The </a:t>
            </a:r>
            <a:r>
              <a:rPr b="1" i="0" lang="en-US" sz="2000" u="none" cap="none" strike="sngStrike">
                <a:solidFill>
                  <a:srgbClr val="666677"/>
                </a:solidFill>
                <a:latin typeface="Calibri"/>
                <a:ea typeface="Calibri"/>
                <a:cs typeface="Calibri"/>
                <a:sym typeface="Calibri"/>
              </a:rPr>
              <a:t>filesystem</a:t>
            </a:r>
            <a:r>
              <a:rPr b="0" i="0" lang="en-US" sz="2000" u="none" cap="none" strike="sngStrike">
                <a:solidFill>
                  <a:srgbClr val="666677"/>
                </a:solidFill>
                <a:latin typeface="Calibri"/>
                <a:ea typeface="Calibri"/>
                <a:cs typeface="Calibri"/>
                <a:sym typeface="Calibri"/>
              </a:rPr>
              <a:t> (to open chat.db)</a:t>
            </a:r>
            <a:endParaRPr strike="sngStrike"/>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To test this, you'd think you have to stand all of that up.</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Real server, real database, real port, real clock.</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7" name="Shape 207"/>
        <p:cNvGrpSpPr/>
        <p:nvPr/>
      </p:nvGrpSpPr>
      <p:grpSpPr>
        <a:xfrm>
          <a:off x="0" y="0"/>
          <a:ext cx="0" cy="0"/>
          <a:chOff x="0" y="0"/>
          <a:chExt cx="0" cy="0"/>
        </a:xfrm>
      </p:grpSpPr>
      <p:sp>
        <p:nvSpPr>
          <p:cNvPr id="208" name="Google Shape;208;p13"/>
          <p:cNvSpPr txBox="1"/>
          <p:nvPr/>
        </p:nvSpPr>
        <p:spPr>
          <a:xfrm>
            <a:off x="731520" y="36576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Test databases: the storage problem</a:t>
            </a:r>
            <a:endParaRPr/>
          </a:p>
        </p:txBody>
      </p:sp>
      <p:sp>
        <p:nvSpPr>
          <p:cNvPr id="209" name="Google Shape;209;p13"/>
          <p:cNvSpPr txBox="1"/>
          <p:nvPr/>
        </p:nvSpPr>
        <p:spPr>
          <a:xfrm>
            <a:off x="914400" y="1463040"/>
            <a:ext cx="10362900" cy="4817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333344"/>
                </a:solidFill>
                <a:latin typeface="Calibri"/>
                <a:ea typeface="Calibri"/>
                <a:cs typeface="Calibri"/>
                <a:sym typeface="Calibri"/>
              </a:rPr>
              <a:t>TestClient handles HTTP. But your endpoint still writes to a real</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SQLite database, which means tests pollute your dev data, tests</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step on each other, and cleanup is a chore.</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The fix: don't let tests touch your real database at all.</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Give them a </a:t>
            </a:r>
            <a:r>
              <a:rPr b="1" i="0" lang="en-US" sz="2000" u="none" cap="none" strike="noStrike">
                <a:solidFill>
                  <a:srgbClr val="666677"/>
                </a:solidFill>
                <a:latin typeface="Calibri"/>
                <a:ea typeface="Calibri"/>
                <a:cs typeface="Calibri"/>
                <a:sym typeface="Calibri"/>
              </a:rPr>
              <a:t>test database</a:t>
            </a:r>
            <a:r>
              <a:rPr b="0" i="0" lang="en-US" sz="2000" u="none" cap="none" strike="noStrike">
                <a:solidFill>
                  <a:srgbClr val="666677"/>
                </a:solidFill>
                <a:latin typeface="Calibri"/>
                <a:ea typeface="Calibri"/>
                <a:cs typeface="Calibri"/>
                <a:sym typeface="Calibri"/>
              </a:rPr>
              <a:t> they fully own:</a:t>
            </a:r>
            <a:endParaRPr b="0" i="0" sz="2000" u="none" cap="none" strike="noStrike">
              <a:solidFill>
                <a:srgbClr val="666677"/>
              </a:solidFill>
              <a:latin typeface="Calibri"/>
              <a:ea typeface="Calibri"/>
              <a:cs typeface="Calibri"/>
              <a:sym typeface="Calibri"/>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Separate storage, freshly created each time</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Thrown away at the end of each test</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SQLite has a special URL for exactly this case: `</a:t>
            </a:r>
            <a:r>
              <a:rPr b="1" i="0" lang="en-US" sz="2400" u="none" cap="none" strike="noStrike">
                <a:solidFill>
                  <a:srgbClr val="333344"/>
                </a:solidFill>
                <a:latin typeface="Courier Prime"/>
                <a:ea typeface="Courier Prime"/>
                <a:cs typeface="Courier Prime"/>
                <a:sym typeface="Courier Prime"/>
              </a:rPr>
              <a:t>sqlite:///:memory:</a:t>
            </a:r>
            <a:r>
              <a:rPr b="0" i="0" lang="en-US" sz="2400" u="none" cap="none" strike="noStrike">
                <a:solidFill>
                  <a:srgbClr val="333344"/>
                </a:solidFill>
                <a:latin typeface="Calibri"/>
                <a:ea typeface="Calibri"/>
                <a:cs typeface="Calibri"/>
                <a:sym typeface="Calibri"/>
              </a:rPr>
              <a:t>`</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creates a database that exists only in RAM. Costs microseconds</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to spin up, vanishes when you're done. Kinda perfect for testing.</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4" name="Shape 214"/>
        <p:cNvGrpSpPr/>
        <p:nvPr/>
      </p:nvGrpSpPr>
      <p:grpSpPr>
        <a:xfrm>
          <a:off x="0" y="0"/>
          <a:ext cx="0" cy="0"/>
          <a:chOff x="0" y="0"/>
          <a:chExt cx="0" cy="0"/>
        </a:xfrm>
      </p:grpSpPr>
      <p:sp>
        <p:nvSpPr>
          <p:cNvPr id="215" name="Google Shape;215;g3979b53ae3e_1_277"/>
          <p:cNvSpPr txBox="1"/>
          <p:nvPr/>
        </p:nvSpPr>
        <p:spPr>
          <a:xfrm>
            <a:off x="731520" y="365760"/>
            <a:ext cx="107286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1A2E"/>
                </a:solidFill>
                <a:latin typeface="Calibri"/>
                <a:ea typeface="Calibri"/>
                <a:cs typeface="Calibri"/>
                <a:sym typeface="Calibri"/>
              </a:rPr>
              <a:t>db.py - connection and schema</a:t>
            </a:r>
            <a:endParaRPr/>
          </a:p>
        </p:txBody>
      </p:sp>
      <p:sp>
        <p:nvSpPr>
          <p:cNvPr id="216" name="Google Shape;216;g3979b53ae3e_1_277"/>
          <p:cNvSpPr txBox="1"/>
          <p:nvPr/>
        </p:nvSpPr>
        <p:spPr>
          <a:xfrm>
            <a:off x="9601200" y="1188720"/>
            <a:ext cx="1828800" cy="3078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400" u="none" cap="none" strike="noStrike">
                <a:solidFill>
                  <a:srgbClr val="5B21B6"/>
                </a:solidFill>
                <a:latin typeface="Courier New"/>
                <a:ea typeface="Courier New"/>
                <a:cs typeface="Courier New"/>
                <a:sym typeface="Courier New"/>
              </a:rPr>
              <a:t>Python</a:t>
            </a:r>
            <a:endParaRPr/>
          </a:p>
        </p:txBody>
      </p:sp>
      <p:sp>
        <p:nvSpPr>
          <p:cNvPr id="217" name="Google Shape;217;g3979b53ae3e_1_277"/>
          <p:cNvSpPr/>
          <p:nvPr/>
        </p:nvSpPr>
        <p:spPr>
          <a:xfrm>
            <a:off x="731520" y="1463040"/>
            <a:ext cx="10728600" cy="493770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8" name="Google Shape;218;g3979b53ae3e_1_277"/>
          <p:cNvSpPr txBox="1"/>
          <p:nvPr/>
        </p:nvSpPr>
        <p:spPr>
          <a:xfrm>
            <a:off x="1005840" y="1645920"/>
            <a:ext cx="10179900" cy="4017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333344"/>
                </a:solidFill>
                <a:latin typeface="Courier New"/>
                <a:ea typeface="Courier New"/>
                <a:cs typeface="Courier New"/>
                <a:sym typeface="Courier New"/>
              </a:rPr>
              <a:t># db.py</a:t>
            </a:r>
            <a:endParaRPr sz="2400"/>
          </a:p>
          <a:p>
            <a:pPr indent="0" lvl="0" marL="0" marR="0" rtl="0" algn="l">
              <a:spcBef>
                <a:spcPts val="200"/>
              </a:spcBef>
              <a:spcAft>
                <a:spcPts val="0"/>
              </a:spcAft>
              <a:buNone/>
            </a:pPr>
            <a:r>
              <a:rPr b="1" i="0" lang="en-US" sz="2400" u="none" cap="none" strike="noStrike">
                <a:solidFill>
                  <a:srgbClr val="333344"/>
                </a:solidFill>
                <a:latin typeface="Courier New"/>
                <a:ea typeface="Courier New"/>
                <a:cs typeface="Courier New"/>
                <a:sym typeface="Courier New"/>
              </a:rPr>
              <a:t>from sqlalchemy import create_engine, text</a:t>
            </a:r>
            <a:endParaRPr sz="2400"/>
          </a:p>
          <a:p>
            <a:pPr indent="0" lvl="0" marL="0" marR="0" rtl="0" algn="l">
              <a:spcBef>
                <a:spcPts val="200"/>
              </a:spcBef>
              <a:spcAft>
                <a:spcPts val="0"/>
              </a:spcAft>
              <a:buNone/>
            </a:pPr>
            <a:r>
              <a:t/>
            </a:r>
            <a:endParaRPr b="1" i="0" sz="24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2400" u="none" cap="none" strike="noStrike">
                <a:solidFill>
                  <a:srgbClr val="333344"/>
                </a:solidFill>
                <a:latin typeface="Courier New"/>
                <a:ea typeface="Courier New"/>
                <a:cs typeface="Courier New"/>
                <a:sym typeface="Courier New"/>
              </a:rPr>
              <a:t>engine = create_engine("sqlite:///chat.db")</a:t>
            </a:r>
            <a:endParaRPr sz="2400"/>
          </a:p>
          <a:p>
            <a:pPr indent="0" lvl="0" marL="0" marR="0" rtl="0" algn="l">
              <a:spcBef>
                <a:spcPts val="200"/>
              </a:spcBef>
              <a:spcAft>
                <a:spcPts val="0"/>
              </a:spcAft>
              <a:buNone/>
            </a:pPr>
            <a:r>
              <a:t/>
            </a:r>
            <a:endParaRPr b="1" i="0" sz="24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2400" u="none" cap="none" strike="noStrike">
                <a:solidFill>
                  <a:srgbClr val="333344"/>
                </a:solidFill>
                <a:latin typeface="Courier New"/>
                <a:ea typeface="Courier New"/>
                <a:cs typeface="Courier New"/>
                <a:sym typeface="Courier New"/>
              </a:rPr>
              <a:t>def init_db():</a:t>
            </a:r>
            <a:endParaRPr sz="2400"/>
          </a:p>
          <a:p>
            <a:pPr indent="0" lvl="0" marL="0" marR="0" rtl="0" algn="l">
              <a:spcBef>
                <a:spcPts val="200"/>
              </a:spcBef>
              <a:spcAft>
                <a:spcPts val="0"/>
              </a:spcAft>
              <a:buNone/>
            </a:pPr>
            <a:r>
              <a:rPr b="1" i="0" lang="en-US" sz="2400" u="none" cap="none" strike="noStrike">
                <a:solidFill>
                  <a:srgbClr val="333344"/>
                </a:solidFill>
                <a:latin typeface="Courier New"/>
                <a:ea typeface="Courier New"/>
                <a:cs typeface="Courier New"/>
                <a:sym typeface="Courier New"/>
              </a:rPr>
              <a:t>    with engine.connect() as conn:</a:t>
            </a:r>
            <a:endParaRPr sz="2400"/>
          </a:p>
          <a:p>
            <a:pPr indent="0" lvl="0" marL="0" marR="0" rtl="0" algn="l">
              <a:spcBef>
                <a:spcPts val="200"/>
              </a:spcBef>
              <a:spcAft>
                <a:spcPts val="0"/>
              </a:spcAft>
              <a:buNone/>
            </a:pPr>
            <a:r>
              <a:rPr b="1" i="0" lang="en-US" sz="2400" u="none" cap="none" strike="noStrike">
                <a:solidFill>
                  <a:srgbClr val="333344"/>
                </a:solidFill>
                <a:latin typeface="Courier New"/>
                <a:ea typeface="Courier New"/>
                <a:cs typeface="Courier New"/>
                <a:sym typeface="Courier New"/>
              </a:rPr>
              <a:t>        conn.execute(text(</a:t>
            </a:r>
            <a:r>
              <a:rPr b="1" lang="en-US" sz="2400">
                <a:solidFill>
                  <a:srgbClr val="333344"/>
                </a:solidFill>
                <a:latin typeface="Courier New"/>
                <a:ea typeface="Courier New"/>
                <a:cs typeface="Courier New"/>
                <a:sym typeface="Courier New"/>
              </a:rPr>
              <a:t>...</a:t>
            </a:r>
            <a:r>
              <a:rPr b="1" i="0" lang="en-US" sz="2400" u="none" cap="none" strike="noStrike">
                <a:solidFill>
                  <a:srgbClr val="333344"/>
                </a:solidFill>
                <a:latin typeface="Courier New"/>
                <a:ea typeface="Courier New"/>
                <a:cs typeface="Courier New"/>
                <a:sym typeface="Courier New"/>
              </a:rPr>
              <a:t>))</a:t>
            </a:r>
            <a:endParaRPr sz="2400"/>
          </a:p>
          <a:p>
            <a:pPr indent="0" lvl="0" marL="0" marR="0" rtl="0" algn="l">
              <a:spcBef>
                <a:spcPts val="200"/>
              </a:spcBef>
              <a:spcAft>
                <a:spcPts val="0"/>
              </a:spcAft>
              <a:buNone/>
            </a:pPr>
            <a:r>
              <a:rPr b="1" i="0" lang="en-US" sz="2400" u="none" cap="none" strike="noStrike">
                <a:solidFill>
                  <a:srgbClr val="333344"/>
                </a:solidFill>
                <a:latin typeface="Courier New"/>
                <a:ea typeface="Courier New"/>
                <a:cs typeface="Courier New"/>
                <a:sym typeface="Courier New"/>
              </a:rPr>
              <a:t>        conn.commit()</a:t>
            </a:r>
            <a:endParaRPr sz="2400"/>
          </a:p>
          <a:p>
            <a:pPr indent="0" lvl="0" marL="0" marR="0" rtl="0" algn="l">
              <a:spcBef>
                <a:spcPts val="200"/>
              </a:spcBef>
              <a:spcAft>
                <a:spcPts val="0"/>
              </a:spcAft>
              <a:buNone/>
            </a:pPr>
            <a:r>
              <a:t/>
            </a:r>
            <a:endParaRPr sz="24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3" name="Shape 223"/>
        <p:cNvGrpSpPr/>
        <p:nvPr/>
      </p:nvGrpSpPr>
      <p:grpSpPr>
        <a:xfrm>
          <a:off x="0" y="0"/>
          <a:ext cx="0" cy="0"/>
          <a:chOff x="0" y="0"/>
          <a:chExt cx="0" cy="0"/>
        </a:xfrm>
      </p:grpSpPr>
      <p:sp>
        <p:nvSpPr>
          <p:cNvPr id="224" name="Google Shape;224;p14"/>
          <p:cNvSpPr txBox="1"/>
          <p:nvPr/>
        </p:nvSpPr>
        <p:spPr>
          <a:xfrm>
            <a:off x="731520" y="36576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1A2E"/>
                </a:solidFill>
                <a:latin typeface="Calibri"/>
                <a:ea typeface="Calibri"/>
                <a:cs typeface="Calibri"/>
                <a:sym typeface="Calibri"/>
              </a:rPr>
              <a:t>The test DB fixture (conftest.py)</a:t>
            </a:r>
            <a:endParaRPr/>
          </a:p>
        </p:txBody>
      </p:sp>
      <p:sp>
        <p:nvSpPr>
          <p:cNvPr id="225" name="Google Shape;225;p14"/>
          <p:cNvSpPr txBox="1"/>
          <p:nvPr/>
        </p:nvSpPr>
        <p:spPr>
          <a:xfrm>
            <a:off x="9601200" y="1188720"/>
            <a:ext cx="1828800" cy="36576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400" u="none" cap="none" strike="noStrike">
                <a:solidFill>
                  <a:srgbClr val="5B21B6"/>
                </a:solidFill>
                <a:latin typeface="Courier New"/>
                <a:ea typeface="Courier New"/>
                <a:cs typeface="Courier New"/>
                <a:sym typeface="Courier New"/>
              </a:rPr>
              <a:t>Python</a:t>
            </a:r>
            <a:endParaRPr/>
          </a:p>
        </p:txBody>
      </p:sp>
      <p:sp>
        <p:nvSpPr>
          <p:cNvPr id="226" name="Google Shape;226;p14"/>
          <p:cNvSpPr/>
          <p:nvPr/>
        </p:nvSpPr>
        <p:spPr>
          <a:xfrm>
            <a:off x="731520" y="1463040"/>
            <a:ext cx="10728655" cy="493776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7" name="Google Shape;227;p14"/>
          <p:cNvSpPr txBox="1"/>
          <p:nvPr/>
        </p:nvSpPr>
        <p:spPr>
          <a:xfrm>
            <a:off x="1005840" y="1645920"/>
            <a:ext cx="10179900" cy="4689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333344"/>
                </a:solidFill>
                <a:latin typeface="Courier New"/>
                <a:ea typeface="Courier New"/>
                <a:cs typeface="Courier New"/>
                <a:sym typeface="Courier New"/>
              </a:rPr>
              <a:t># conftest.py - pytest auto-loads fixtures from this file</a:t>
            </a:r>
            <a:endParaRPr sz="1700"/>
          </a:p>
          <a:p>
            <a:pPr indent="0" lvl="0" marL="0" marR="0" rtl="0" algn="l">
              <a:spcBef>
                <a:spcPts val="200"/>
              </a:spcBef>
              <a:spcAft>
                <a:spcPts val="0"/>
              </a:spcAft>
              <a:buNone/>
            </a:pPr>
            <a:r>
              <a:rPr b="1" i="0" lang="en-US" sz="1600" u="none" cap="none" strike="noStrike">
                <a:solidFill>
                  <a:srgbClr val="333344"/>
                </a:solidFill>
                <a:latin typeface="Courier New"/>
                <a:ea typeface="Courier New"/>
                <a:cs typeface="Courier New"/>
                <a:sym typeface="Courier New"/>
              </a:rPr>
              <a:t>import pytest</a:t>
            </a:r>
            <a:endParaRPr sz="1700"/>
          </a:p>
          <a:p>
            <a:pPr indent="0" lvl="0" marL="0" marR="0" rtl="0" algn="l">
              <a:spcBef>
                <a:spcPts val="200"/>
              </a:spcBef>
              <a:spcAft>
                <a:spcPts val="0"/>
              </a:spcAft>
              <a:buNone/>
            </a:pPr>
            <a:r>
              <a:rPr b="1" i="0" lang="en-US" sz="1600" u="none" cap="none" strike="noStrike">
                <a:solidFill>
                  <a:srgbClr val="333344"/>
                </a:solidFill>
                <a:latin typeface="Courier New"/>
                <a:ea typeface="Courier New"/>
                <a:cs typeface="Courier New"/>
                <a:sym typeface="Courier New"/>
              </a:rPr>
              <a:t>from sqlalchemy import create_engine, text</a:t>
            </a:r>
            <a:endParaRPr sz="1700"/>
          </a:p>
          <a:p>
            <a:pPr indent="0" lvl="0" marL="0" marR="0" rtl="0" algn="l">
              <a:spcBef>
                <a:spcPts val="200"/>
              </a:spcBef>
              <a:spcAft>
                <a:spcPts val="0"/>
              </a:spcAft>
              <a:buNone/>
            </a:pPr>
            <a:r>
              <a:rPr b="1" i="0" lang="en-US" sz="1600" u="none" cap="none" strike="noStrike">
                <a:solidFill>
                  <a:srgbClr val="333344"/>
                </a:solidFill>
                <a:latin typeface="Courier New"/>
                <a:ea typeface="Courier New"/>
                <a:cs typeface="Courier New"/>
                <a:sym typeface="Courier New"/>
              </a:rPr>
              <a:t>import db</a:t>
            </a:r>
            <a:endParaRPr sz="1700"/>
          </a:p>
          <a:p>
            <a:pPr indent="0" lvl="0" marL="0" marR="0" rtl="0" algn="l">
              <a:spcBef>
                <a:spcPts val="200"/>
              </a:spcBef>
              <a:spcAft>
                <a:spcPts val="0"/>
              </a:spcAft>
              <a:buNone/>
            </a:pPr>
            <a:r>
              <a:t/>
            </a:r>
            <a:endParaRPr b="1" i="0" sz="16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600" u="none" cap="none" strike="noStrike">
                <a:solidFill>
                  <a:srgbClr val="333344"/>
                </a:solidFill>
                <a:latin typeface="Courier New"/>
                <a:ea typeface="Courier New"/>
                <a:cs typeface="Courier New"/>
                <a:sym typeface="Courier New"/>
              </a:rPr>
              <a:t>SCHEMA = ("CREATE TABLE </a:t>
            </a:r>
            <a:r>
              <a:rPr b="1" lang="en-US" sz="1600">
                <a:solidFill>
                  <a:srgbClr val="333344"/>
                </a:solidFill>
                <a:latin typeface="Courier New"/>
                <a:ea typeface="Courier New"/>
                <a:cs typeface="Courier New"/>
                <a:sym typeface="Courier New"/>
              </a:rPr>
              <a:t>...</a:t>
            </a:r>
            <a:r>
              <a:rPr b="1" i="0" lang="en-US" sz="1600" u="none" cap="none" strike="noStrike">
                <a:solidFill>
                  <a:srgbClr val="333344"/>
                </a:solidFill>
                <a:latin typeface="Courier New"/>
                <a:ea typeface="Courier New"/>
                <a:cs typeface="Courier New"/>
                <a:sym typeface="Courier New"/>
              </a:rPr>
              <a:t>")</a:t>
            </a:r>
            <a:endParaRPr sz="1700"/>
          </a:p>
          <a:p>
            <a:pPr indent="0" lvl="0" marL="0" marR="0" rtl="0" algn="l">
              <a:spcBef>
                <a:spcPts val="200"/>
              </a:spcBef>
              <a:spcAft>
                <a:spcPts val="0"/>
              </a:spcAft>
              <a:buNone/>
            </a:pPr>
            <a:r>
              <a:t/>
            </a:r>
            <a:endParaRPr b="1" i="0" sz="16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600" u="none" cap="none" strike="noStrike">
                <a:solidFill>
                  <a:srgbClr val="333344"/>
                </a:solidFill>
                <a:latin typeface="Courier New"/>
                <a:ea typeface="Courier New"/>
                <a:cs typeface="Courier New"/>
                <a:sym typeface="Courier New"/>
              </a:rPr>
              <a:t>@pytest.fixture</a:t>
            </a:r>
            <a:endParaRPr sz="1700"/>
          </a:p>
          <a:p>
            <a:pPr indent="0" lvl="0" marL="0" marR="0" rtl="0" algn="l">
              <a:spcBef>
                <a:spcPts val="200"/>
              </a:spcBef>
              <a:spcAft>
                <a:spcPts val="0"/>
              </a:spcAft>
              <a:buNone/>
            </a:pPr>
            <a:r>
              <a:rPr b="1" i="0" lang="en-US" sz="1600" u="none" cap="none" strike="noStrike">
                <a:solidFill>
                  <a:srgbClr val="333344"/>
                </a:solidFill>
                <a:latin typeface="Courier New"/>
                <a:ea typeface="Courier New"/>
                <a:cs typeface="Courier New"/>
                <a:sym typeface="Courier New"/>
              </a:rPr>
              <a:t>def test_db():</a:t>
            </a:r>
            <a:endParaRPr sz="1700"/>
          </a:p>
          <a:p>
            <a:pPr indent="0" lvl="0" marL="0" marR="0" rtl="0" algn="l">
              <a:spcBef>
                <a:spcPts val="200"/>
              </a:spcBef>
              <a:spcAft>
                <a:spcPts val="0"/>
              </a:spcAft>
              <a:buNone/>
            </a:pPr>
            <a:r>
              <a:rPr b="1" i="0" lang="en-US" sz="1600" u="none" cap="none" strike="noStrike">
                <a:solidFill>
                  <a:srgbClr val="333344"/>
                </a:solidFill>
                <a:latin typeface="Courier New"/>
                <a:ea typeface="Courier New"/>
                <a:cs typeface="Courier New"/>
                <a:sym typeface="Courier New"/>
              </a:rPr>
              <a:t>    engine = create_engine("sqlite:///:memory:")</a:t>
            </a:r>
            <a:endParaRPr sz="1700"/>
          </a:p>
          <a:p>
            <a:pPr indent="0" lvl="0" marL="0" marR="0" rtl="0" algn="l">
              <a:spcBef>
                <a:spcPts val="200"/>
              </a:spcBef>
              <a:spcAft>
                <a:spcPts val="0"/>
              </a:spcAft>
              <a:buNone/>
            </a:pPr>
            <a:r>
              <a:rPr b="1" i="0" lang="en-US" sz="1600" u="none" cap="none" strike="noStrike">
                <a:solidFill>
                  <a:srgbClr val="333344"/>
                </a:solidFill>
                <a:latin typeface="Courier New"/>
                <a:ea typeface="Courier New"/>
                <a:cs typeface="Courier New"/>
                <a:sym typeface="Courier New"/>
              </a:rPr>
              <a:t>    with engine.connect() as conn:</a:t>
            </a:r>
            <a:endParaRPr sz="1700"/>
          </a:p>
          <a:p>
            <a:pPr indent="0" lvl="0" marL="0" marR="0" rtl="0" algn="l">
              <a:spcBef>
                <a:spcPts val="200"/>
              </a:spcBef>
              <a:spcAft>
                <a:spcPts val="0"/>
              </a:spcAft>
              <a:buNone/>
            </a:pPr>
            <a:r>
              <a:rPr b="1" i="0" lang="en-US" sz="1600" u="none" cap="none" strike="noStrike">
                <a:solidFill>
                  <a:srgbClr val="333344"/>
                </a:solidFill>
                <a:latin typeface="Courier New"/>
                <a:ea typeface="Courier New"/>
                <a:cs typeface="Courier New"/>
                <a:sym typeface="Courier New"/>
              </a:rPr>
              <a:t>        conn.execute(text(SCHEMA))</a:t>
            </a:r>
            <a:endParaRPr sz="1700"/>
          </a:p>
          <a:p>
            <a:pPr indent="0" lvl="0" marL="0" marR="0" rtl="0" algn="l">
              <a:spcBef>
                <a:spcPts val="200"/>
              </a:spcBef>
              <a:spcAft>
                <a:spcPts val="0"/>
              </a:spcAft>
              <a:buNone/>
            </a:pPr>
            <a:r>
              <a:rPr b="1" i="0" lang="en-US" sz="1600" u="none" cap="none" strike="noStrike">
                <a:solidFill>
                  <a:srgbClr val="333344"/>
                </a:solidFill>
                <a:latin typeface="Courier New"/>
                <a:ea typeface="Courier New"/>
                <a:cs typeface="Courier New"/>
                <a:sym typeface="Courier New"/>
              </a:rPr>
              <a:t>        conn.commit()</a:t>
            </a:r>
            <a:endParaRPr sz="1700"/>
          </a:p>
          <a:p>
            <a:pPr indent="0" lvl="0" marL="0" marR="0" rtl="0" algn="l">
              <a:spcBef>
                <a:spcPts val="200"/>
              </a:spcBef>
              <a:spcAft>
                <a:spcPts val="0"/>
              </a:spcAft>
              <a:buNone/>
            </a:pPr>
            <a:r>
              <a:rPr b="1" i="0" lang="en-US" sz="1600" u="none" cap="none" strike="noStrike">
                <a:solidFill>
                  <a:srgbClr val="333344"/>
                </a:solidFill>
                <a:latin typeface="Courier New"/>
                <a:ea typeface="Courier New"/>
                <a:cs typeface="Courier New"/>
                <a:sym typeface="Courier New"/>
              </a:rPr>
              <a:t>    original = db.engine      # save the real engine</a:t>
            </a:r>
            <a:endParaRPr sz="1700"/>
          </a:p>
          <a:p>
            <a:pPr indent="0" lvl="0" marL="0" marR="0" rtl="0" algn="l">
              <a:spcBef>
                <a:spcPts val="200"/>
              </a:spcBef>
              <a:spcAft>
                <a:spcPts val="0"/>
              </a:spcAft>
              <a:buNone/>
            </a:pPr>
            <a:r>
              <a:rPr b="1" i="0" lang="en-US" sz="1600" u="none" cap="none" strike="noStrike">
                <a:solidFill>
                  <a:srgbClr val="333344"/>
                </a:solidFill>
                <a:latin typeface="Courier New"/>
                <a:ea typeface="Courier New"/>
                <a:cs typeface="Courier New"/>
                <a:sym typeface="Courier New"/>
              </a:rPr>
              <a:t>    db.engine = engine        # swap in the test engine</a:t>
            </a:r>
            <a:endParaRPr sz="1700"/>
          </a:p>
          <a:p>
            <a:pPr indent="0" lvl="0" marL="0" marR="0" rtl="0" algn="l">
              <a:spcBef>
                <a:spcPts val="200"/>
              </a:spcBef>
              <a:spcAft>
                <a:spcPts val="0"/>
              </a:spcAft>
              <a:buNone/>
            </a:pPr>
            <a:r>
              <a:rPr b="1" i="0" lang="en-US" sz="1600" u="none" cap="none" strike="noStrike">
                <a:solidFill>
                  <a:srgbClr val="333344"/>
                </a:solidFill>
                <a:latin typeface="Courier New"/>
                <a:ea typeface="Courier New"/>
                <a:cs typeface="Courier New"/>
                <a:sym typeface="Courier New"/>
              </a:rPr>
              <a:t>    yield engine</a:t>
            </a:r>
            <a:endParaRPr sz="1700"/>
          </a:p>
          <a:p>
            <a:pPr indent="0" lvl="0" marL="0" marR="0" rtl="0" algn="l">
              <a:spcBef>
                <a:spcPts val="200"/>
              </a:spcBef>
              <a:spcAft>
                <a:spcPts val="0"/>
              </a:spcAft>
              <a:buNone/>
            </a:pPr>
            <a:r>
              <a:rPr b="1" i="0" lang="en-US" sz="1600" u="none" cap="none" strike="noStrike">
                <a:solidFill>
                  <a:srgbClr val="333344"/>
                </a:solidFill>
                <a:latin typeface="Courier New"/>
                <a:ea typeface="Courier New"/>
                <a:cs typeface="Courier New"/>
                <a:sym typeface="Courier New"/>
              </a:rPr>
              <a:t>    db.engine = original      # restore after the test</a:t>
            </a:r>
            <a:endParaRPr sz="17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2" name="Shape 232"/>
        <p:cNvGrpSpPr/>
        <p:nvPr/>
      </p:nvGrpSpPr>
      <p:grpSpPr>
        <a:xfrm>
          <a:off x="0" y="0"/>
          <a:ext cx="0" cy="0"/>
          <a:chOff x="0" y="0"/>
          <a:chExt cx="0" cy="0"/>
        </a:xfrm>
      </p:grpSpPr>
      <p:sp>
        <p:nvSpPr>
          <p:cNvPr id="233" name="Google Shape;233;p15"/>
          <p:cNvSpPr txBox="1"/>
          <p:nvPr/>
        </p:nvSpPr>
        <p:spPr>
          <a:xfrm>
            <a:off x="731520" y="36576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How the test database fixture works</a:t>
            </a:r>
            <a:endParaRPr/>
          </a:p>
        </p:txBody>
      </p:sp>
      <p:sp>
        <p:nvSpPr>
          <p:cNvPr id="234" name="Google Shape;234;p15"/>
          <p:cNvSpPr txBox="1"/>
          <p:nvPr/>
        </p:nvSpPr>
        <p:spPr>
          <a:xfrm>
            <a:off x="914400" y="1463040"/>
            <a:ext cx="10362895" cy="4937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333344"/>
                </a:solidFill>
                <a:latin typeface="Calibri"/>
                <a:ea typeface="Calibri"/>
                <a:cs typeface="Calibri"/>
                <a:sym typeface="Calibri"/>
              </a:rPr>
              <a:t>Every time a test asks for `test_db`, pytest runs this sequence:</a:t>
            </a:r>
            <a:endParaRPr/>
          </a:p>
          <a:p>
            <a:pPr indent="0" lvl="0" marL="0" marR="0" rtl="0" algn="l">
              <a:spcBef>
                <a:spcPts val="600"/>
              </a:spcBef>
              <a:spcAft>
                <a:spcPts val="0"/>
              </a:spcAft>
              <a:buNone/>
            </a:pPr>
            <a:r>
              <a:t/>
            </a:r>
            <a:endParaRPr b="0" i="0" sz="2400" u="none" cap="none" strike="noStrike">
              <a:solidFill>
                <a:srgbClr val="333344"/>
              </a:solidFill>
              <a:latin typeface="Calibri"/>
              <a:ea typeface="Calibri"/>
              <a:cs typeface="Calibri"/>
              <a:sym typeface="Calibri"/>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1.</a:t>
            </a:r>
            <a:r>
              <a:rPr b="0" i="0" lang="en-US" sz="2000" u="none" cap="none" strike="noStrike">
                <a:solidFill>
                  <a:srgbClr val="666677"/>
                </a:solidFill>
                <a:latin typeface="Calibri"/>
                <a:ea typeface="Calibri"/>
                <a:cs typeface="Calibri"/>
                <a:sym typeface="Calibri"/>
              </a:rPr>
              <a:t> Create a brand new in-memory SQLite engine (fresh, empty).</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2.</a:t>
            </a:r>
            <a:r>
              <a:rPr b="0" i="0" lang="en-US" sz="2000" u="none" cap="none" strike="noStrike">
                <a:solidFill>
                  <a:srgbClr val="666677"/>
                </a:solidFill>
                <a:latin typeface="Calibri"/>
                <a:ea typeface="Calibri"/>
                <a:cs typeface="Calibri"/>
                <a:sym typeface="Calibri"/>
              </a:rPr>
              <a:t> Run the `CREATE TABLE` to install the schema.</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3.</a:t>
            </a:r>
            <a:r>
              <a:rPr b="0" i="0" lang="en-US" sz="2000" u="none" cap="none" strike="noStrike">
                <a:solidFill>
                  <a:srgbClr val="666677"/>
                </a:solidFill>
                <a:latin typeface="Calibri"/>
                <a:ea typeface="Calibri"/>
                <a:cs typeface="Calibri"/>
                <a:sym typeface="Calibri"/>
              </a:rPr>
              <a:t> Remember the real `db.engine`, then overwrite it with ours.</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4.</a:t>
            </a:r>
            <a:r>
              <a:rPr b="0" i="0" lang="en-US" sz="2000" u="none" cap="none" strike="noStrike">
                <a:solidFill>
                  <a:srgbClr val="666677"/>
                </a:solidFill>
                <a:latin typeface="Calibri"/>
                <a:ea typeface="Calibri"/>
                <a:cs typeface="Calibri"/>
                <a:sym typeface="Calibri"/>
              </a:rPr>
              <a:t> `yield` - pytest runs the test now, with our engine in place.</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5.</a:t>
            </a:r>
            <a:r>
              <a:rPr b="0" i="0" lang="en-US" sz="2000" u="none" cap="none" strike="noStrike">
                <a:solidFill>
                  <a:srgbClr val="666677"/>
                </a:solidFill>
                <a:latin typeface="Calibri"/>
                <a:ea typeface="Calibri"/>
                <a:cs typeface="Calibri"/>
                <a:sym typeface="Calibri"/>
              </a:rPr>
              <a:t> Test finishes (pass OR fail). Restore the real engine.</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Your app.py code doesn't know any of this happened. It just called</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`db.engine.connect()` as usual and got the test engine, because</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we'd swapped the attribute while the test was running.</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Every test gets a completely fresh database. Nothing carries over.</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9" name="Shape 239"/>
        <p:cNvGrpSpPr/>
        <p:nvPr/>
      </p:nvGrpSpPr>
      <p:grpSpPr>
        <a:xfrm>
          <a:off x="0" y="0"/>
          <a:ext cx="0" cy="0"/>
          <a:chOff x="0" y="0"/>
          <a:chExt cx="0" cy="0"/>
        </a:xfrm>
      </p:grpSpPr>
      <p:sp>
        <p:nvSpPr>
          <p:cNvPr id="240" name="Google Shape;240;p16"/>
          <p:cNvSpPr txBox="1"/>
          <p:nvPr/>
        </p:nvSpPr>
        <p:spPr>
          <a:xfrm>
            <a:off x="731520" y="36576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1A2E"/>
                </a:solidFill>
                <a:latin typeface="Calibri"/>
                <a:ea typeface="Calibri"/>
                <a:cs typeface="Calibri"/>
                <a:sym typeface="Calibri"/>
              </a:rPr>
              <a:t>A real integration test, both fixtures at once</a:t>
            </a:r>
            <a:endParaRPr/>
          </a:p>
        </p:txBody>
      </p:sp>
      <p:sp>
        <p:nvSpPr>
          <p:cNvPr id="241" name="Google Shape;241;p16"/>
          <p:cNvSpPr txBox="1"/>
          <p:nvPr/>
        </p:nvSpPr>
        <p:spPr>
          <a:xfrm>
            <a:off x="9601200" y="1188720"/>
            <a:ext cx="1828800" cy="36576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400" u="none" cap="none" strike="noStrike">
                <a:solidFill>
                  <a:srgbClr val="5B21B6"/>
                </a:solidFill>
                <a:latin typeface="Courier New"/>
                <a:ea typeface="Courier New"/>
                <a:cs typeface="Courier New"/>
                <a:sym typeface="Courier New"/>
              </a:rPr>
              <a:t>Python</a:t>
            </a:r>
            <a:endParaRPr/>
          </a:p>
        </p:txBody>
      </p:sp>
      <p:sp>
        <p:nvSpPr>
          <p:cNvPr id="242" name="Google Shape;242;p16"/>
          <p:cNvSpPr/>
          <p:nvPr/>
        </p:nvSpPr>
        <p:spPr>
          <a:xfrm>
            <a:off x="731520" y="1463040"/>
            <a:ext cx="10728655" cy="493776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3" name="Google Shape;243;p16"/>
          <p:cNvSpPr txBox="1"/>
          <p:nvPr/>
        </p:nvSpPr>
        <p:spPr>
          <a:xfrm>
            <a:off x="1005840" y="1645920"/>
            <a:ext cx="10180015" cy="4572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 u="none" cap="none" strike="noStrike">
                <a:solidFill>
                  <a:srgbClr val="333344"/>
                </a:solidFill>
                <a:latin typeface="Courier New"/>
                <a:ea typeface="Courier New"/>
                <a:cs typeface="Courier New"/>
                <a:sym typeface="Courier New"/>
              </a:rPr>
              <a:t>def test_create_message_round_trip(client, test_db):</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 Arrange: fresh test DB means no messages yet</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assert client.get("/api/messages").json() == []</a:t>
            </a:r>
            <a:endParaRPr/>
          </a:p>
          <a:p>
            <a:pPr indent="0" lvl="0" marL="0" marR="0" rtl="0" algn="l">
              <a:spcBef>
                <a:spcPts val="200"/>
              </a:spcBef>
              <a:spcAft>
                <a:spcPts val="0"/>
              </a:spcAft>
              <a:buNone/>
            </a:pPr>
            <a:r>
              <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 Act: post a new message</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r = client.post("/api/messages",</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json={"author": "alice", "text": "first!"})</a:t>
            </a:r>
            <a:endParaRPr/>
          </a:p>
          <a:p>
            <a:pPr indent="0" lvl="0" marL="0" marR="0" rtl="0" algn="l">
              <a:spcBef>
                <a:spcPts val="200"/>
              </a:spcBef>
              <a:spcAft>
                <a:spcPts val="0"/>
              </a:spcAft>
              <a:buNone/>
            </a:pPr>
            <a:r>
              <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 Assert: response shape</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assert r.status_code == 201</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body = r.json()</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assert body["author"] == "alice"</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assert body["text"] == "first!"</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assert "id" in body and "timestamp" in body</a:t>
            </a:r>
            <a:endParaRPr/>
          </a:p>
          <a:p>
            <a:pPr indent="0" lvl="0" marL="0" marR="0" rtl="0" algn="l">
              <a:spcBef>
                <a:spcPts val="200"/>
              </a:spcBef>
              <a:spcAft>
                <a:spcPts val="0"/>
              </a:spcAft>
              <a:buNone/>
            </a:pPr>
            <a:r>
              <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 Assert: persisted</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all_msgs = client.get("/api/messages").json()</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assert len(all_msgs) == 1 and all_msgs[0]["id"] == body["id"]</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8" name="Shape 248"/>
        <p:cNvGrpSpPr/>
        <p:nvPr/>
      </p:nvGrpSpPr>
      <p:grpSpPr>
        <a:xfrm>
          <a:off x="0" y="0"/>
          <a:ext cx="0" cy="0"/>
          <a:chOff x="0" y="0"/>
          <a:chExt cx="0" cy="0"/>
        </a:xfrm>
      </p:grpSpPr>
      <p:sp>
        <p:nvSpPr>
          <p:cNvPr id="249" name="Google Shape;249;g3979b53ae3e_1_212"/>
          <p:cNvSpPr txBox="1"/>
          <p:nvPr/>
        </p:nvSpPr>
        <p:spPr>
          <a:xfrm>
            <a:off x="731520" y="365760"/>
            <a:ext cx="10728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The testing pyramid</a:t>
            </a:r>
            <a:endParaRPr/>
          </a:p>
        </p:txBody>
      </p:sp>
      <p:sp>
        <p:nvSpPr>
          <p:cNvPr id="250" name="Google Shape;250;g3979b53ae3e_1_212"/>
          <p:cNvSpPr txBox="1"/>
          <p:nvPr/>
        </p:nvSpPr>
        <p:spPr>
          <a:xfrm>
            <a:off x="914400" y="1280140"/>
            <a:ext cx="10362900" cy="4063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333344"/>
                </a:solidFill>
                <a:latin typeface="Calibri"/>
                <a:ea typeface="Calibri"/>
                <a:cs typeface="Calibri"/>
                <a:sym typeface="Calibri"/>
              </a:rPr>
              <a:t>Not every test is the same size.</a:t>
            </a:r>
            <a:endParaRPr sz="2000">
              <a:solidFill>
                <a:srgbClr val="666677"/>
              </a:solidFill>
              <a:latin typeface="Calibri"/>
              <a:ea typeface="Calibri"/>
              <a:cs typeface="Calibri"/>
              <a:sym typeface="Calibri"/>
            </a:endParaRPr>
          </a:p>
          <a:p>
            <a:pPr indent="0" lvl="0" marL="0" marR="0" rtl="0" algn="l">
              <a:spcBef>
                <a:spcPts val="0"/>
              </a:spcBef>
              <a:spcAft>
                <a:spcPts val="0"/>
              </a:spcAft>
              <a:buNone/>
            </a:pPr>
            <a:r>
              <a:t/>
            </a:r>
            <a:endParaRPr sz="2000">
              <a:solidFill>
                <a:srgbClr val="666677"/>
              </a:solidFill>
              <a:latin typeface="Calibri"/>
              <a:ea typeface="Calibri"/>
              <a:cs typeface="Calibri"/>
              <a:sym typeface="Calibri"/>
            </a:endParaRPr>
          </a:p>
          <a:p>
            <a:pPr indent="0" lvl="0" marL="0" marR="0" rtl="0" algn="l">
              <a:spcBef>
                <a:spcPts val="0"/>
              </a:spcBef>
              <a:spcAft>
                <a:spcPts val="0"/>
              </a:spcAft>
              <a:buNone/>
            </a:pPr>
            <a:r>
              <a:t/>
            </a:r>
            <a:endParaRPr sz="2000">
              <a:solidFill>
                <a:srgbClr val="666677"/>
              </a:solidFill>
              <a:latin typeface="Calibri"/>
              <a:ea typeface="Calibri"/>
              <a:cs typeface="Calibri"/>
              <a:sym typeface="Calibri"/>
            </a:endParaRPr>
          </a:p>
          <a:p>
            <a:pPr indent="0" lvl="0" marL="0" marR="0" rtl="0" algn="l">
              <a:spcBef>
                <a:spcPts val="0"/>
              </a:spcBef>
              <a:spcAft>
                <a:spcPts val="0"/>
              </a:spcAft>
              <a:buNone/>
            </a:pPr>
            <a:r>
              <a:t/>
            </a:r>
            <a:endParaRPr sz="2000">
              <a:solidFill>
                <a:srgbClr val="666677"/>
              </a:solidFill>
              <a:latin typeface="Calibri"/>
              <a:ea typeface="Calibri"/>
              <a:cs typeface="Calibri"/>
              <a:sym typeface="Calibri"/>
            </a:endParaRPr>
          </a:p>
          <a:p>
            <a:pPr indent="0" lvl="0" marL="0" marR="0" rtl="0" algn="l">
              <a:spcBef>
                <a:spcPts val="0"/>
              </a:spcBef>
              <a:spcAft>
                <a:spcPts val="0"/>
              </a:spcAft>
              <a:buNone/>
            </a:pPr>
            <a:r>
              <a:t/>
            </a:r>
            <a:endParaRPr sz="2000">
              <a:solidFill>
                <a:srgbClr val="666677"/>
              </a:solidFill>
              <a:latin typeface="Calibri"/>
              <a:ea typeface="Calibri"/>
              <a:cs typeface="Calibri"/>
              <a:sym typeface="Calibri"/>
            </a:endParaRPr>
          </a:p>
          <a:p>
            <a:pPr indent="0" lvl="0" marL="0" marR="0" rtl="0" algn="l">
              <a:spcBef>
                <a:spcPts val="0"/>
              </a:spcBef>
              <a:spcAft>
                <a:spcPts val="0"/>
              </a:spcAft>
              <a:buNone/>
            </a:pPr>
            <a:r>
              <a:t/>
            </a:r>
            <a:endParaRPr sz="2000">
              <a:solidFill>
                <a:srgbClr val="666677"/>
              </a:solidFill>
              <a:latin typeface="Calibri"/>
              <a:ea typeface="Calibri"/>
              <a:cs typeface="Calibri"/>
              <a:sym typeface="Calibri"/>
            </a:endParaRPr>
          </a:p>
          <a:p>
            <a:pPr indent="0" lvl="0" marL="0" marR="0" rtl="0" algn="l">
              <a:spcBef>
                <a:spcPts val="0"/>
              </a:spcBef>
              <a:spcAft>
                <a:spcPts val="0"/>
              </a:spcAft>
              <a:buNone/>
            </a:pPr>
            <a:r>
              <a:t/>
            </a:r>
            <a:endParaRPr sz="2000">
              <a:solidFill>
                <a:srgbClr val="666677"/>
              </a:solidFill>
              <a:latin typeface="Calibri"/>
              <a:ea typeface="Calibri"/>
              <a:cs typeface="Calibri"/>
              <a:sym typeface="Calibri"/>
            </a:endParaRPr>
          </a:p>
          <a:p>
            <a:pPr indent="0" lvl="0" marL="0" marR="0" rtl="0" algn="l">
              <a:spcBef>
                <a:spcPts val="0"/>
              </a:spcBef>
              <a:spcAft>
                <a:spcPts val="0"/>
              </a:spcAft>
              <a:buNone/>
            </a:pPr>
            <a:r>
              <a:t/>
            </a:r>
            <a:endParaRPr sz="2000">
              <a:solidFill>
                <a:srgbClr val="666677"/>
              </a:solidFill>
              <a:latin typeface="Calibri"/>
              <a:ea typeface="Calibri"/>
              <a:cs typeface="Calibri"/>
              <a:sym typeface="Calibri"/>
            </a:endParaRPr>
          </a:p>
          <a:p>
            <a:pPr indent="0" lvl="1" marL="457200" rtl="0" algn="l">
              <a:spcBef>
                <a:spcPts val="600"/>
              </a:spcBef>
              <a:spcAft>
                <a:spcPts val="0"/>
              </a:spcAft>
              <a:buNone/>
            </a:pPr>
            <a:r>
              <a:t/>
            </a:r>
            <a:endParaRPr sz="2000">
              <a:solidFill>
                <a:srgbClr val="666677"/>
              </a:solidFill>
              <a:latin typeface="Calibri"/>
              <a:ea typeface="Calibri"/>
              <a:cs typeface="Calibri"/>
              <a:sym typeface="Calibri"/>
            </a:endParaRPr>
          </a:p>
          <a:p>
            <a:pPr indent="0" lvl="1" marL="457200" rtl="0" algn="l">
              <a:spcBef>
                <a:spcPts val="600"/>
              </a:spcBef>
              <a:spcAft>
                <a:spcPts val="0"/>
              </a:spcAft>
              <a:buNone/>
            </a:pPr>
            <a:r>
              <a:rPr lang="en-US" sz="2000">
                <a:solidFill>
                  <a:srgbClr val="666677"/>
                </a:solidFill>
                <a:latin typeface="Calibri"/>
                <a:ea typeface="Calibri"/>
                <a:cs typeface="Calibri"/>
                <a:sym typeface="Calibri"/>
              </a:rPr>
              <a:t>  </a:t>
            </a:r>
            <a:r>
              <a:rPr b="1" lang="en-US" sz="2000">
                <a:solidFill>
                  <a:srgbClr val="666677"/>
                </a:solidFill>
                <a:latin typeface="Calibri"/>
                <a:ea typeface="Calibri"/>
                <a:cs typeface="Calibri"/>
                <a:sym typeface="Calibri"/>
              </a:rPr>
              <a:t>Unit tests</a:t>
            </a:r>
            <a:r>
              <a:rPr lang="en-US" sz="2000">
                <a:solidFill>
                  <a:srgbClr val="666677"/>
                </a:solidFill>
                <a:latin typeface="Calibri"/>
                <a:ea typeface="Calibri"/>
                <a:cs typeface="Calibri"/>
                <a:sym typeface="Calibri"/>
              </a:rPr>
              <a:t> - one function, no external dependencies.</a:t>
            </a:r>
            <a:endParaRPr>
              <a:solidFill>
                <a:schemeClr val="dk1"/>
              </a:solidFill>
            </a:endParaRPr>
          </a:p>
          <a:p>
            <a:pPr indent="0" lvl="1" marL="457200" rtl="0" algn="l">
              <a:spcBef>
                <a:spcPts val="600"/>
              </a:spcBef>
              <a:spcAft>
                <a:spcPts val="0"/>
              </a:spcAft>
              <a:buNone/>
            </a:pPr>
            <a:r>
              <a:rPr lang="en-US" sz="2000">
                <a:solidFill>
                  <a:srgbClr val="666677"/>
                </a:solidFill>
                <a:latin typeface="Calibri"/>
                <a:ea typeface="Calibri"/>
                <a:cs typeface="Calibri"/>
                <a:sym typeface="Calibri"/>
              </a:rPr>
              <a:t>  Thousands per second. Most of your test suite lives here.</a:t>
            </a:r>
            <a:endParaRPr sz="2000">
              <a:solidFill>
                <a:srgbClr val="666677"/>
              </a:solidFill>
              <a:latin typeface="Calibri"/>
              <a:ea typeface="Calibri"/>
              <a:cs typeface="Calibri"/>
              <a:sym typeface="Calibri"/>
            </a:endParaRPr>
          </a:p>
          <a:p>
            <a:pPr indent="0" lvl="1" marL="457200" marR="0" rtl="0" algn="l">
              <a:spcBef>
                <a:spcPts val="600"/>
              </a:spcBef>
              <a:spcAft>
                <a:spcPts val="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5" name="Shape 255"/>
        <p:cNvGrpSpPr/>
        <p:nvPr/>
      </p:nvGrpSpPr>
      <p:grpSpPr>
        <a:xfrm>
          <a:off x="0" y="0"/>
          <a:ext cx="0" cy="0"/>
          <a:chOff x="0" y="0"/>
          <a:chExt cx="0" cy="0"/>
        </a:xfrm>
      </p:grpSpPr>
      <p:sp>
        <p:nvSpPr>
          <p:cNvPr id="256" name="Google Shape;256;g3979b53ae3e_1_218"/>
          <p:cNvSpPr txBox="1"/>
          <p:nvPr/>
        </p:nvSpPr>
        <p:spPr>
          <a:xfrm>
            <a:off x="731520" y="365760"/>
            <a:ext cx="10728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The testing pyramid</a:t>
            </a:r>
            <a:endParaRPr/>
          </a:p>
        </p:txBody>
      </p:sp>
      <p:sp>
        <p:nvSpPr>
          <p:cNvPr id="257" name="Google Shape;257;g3979b53ae3e_1_218"/>
          <p:cNvSpPr txBox="1"/>
          <p:nvPr/>
        </p:nvSpPr>
        <p:spPr>
          <a:xfrm>
            <a:off x="914400" y="1280140"/>
            <a:ext cx="10362900" cy="4217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333344"/>
                </a:solidFill>
                <a:latin typeface="Calibri"/>
                <a:ea typeface="Calibri"/>
                <a:cs typeface="Calibri"/>
                <a:sym typeface="Calibri"/>
              </a:rPr>
              <a:t>Not every test is the same size.</a:t>
            </a:r>
            <a:endParaRPr b="0" i="0" sz="2000" u="none" cap="none" strike="noStrike">
              <a:solidFill>
                <a:srgbClr val="666677"/>
              </a:solidFill>
              <a:latin typeface="Calibri"/>
              <a:ea typeface="Calibri"/>
              <a:cs typeface="Calibri"/>
              <a:sym typeface="Calibri"/>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lang="en-US" sz="2000">
                <a:solidFill>
                  <a:srgbClr val="666677"/>
                </a:solidFill>
                <a:latin typeface="Calibri"/>
                <a:ea typeface="Calibri"/>
                <a:cs typeface="Calibri"/>
                <a:sym typeface="Calibri"/>
              </a:rPr>
              <a:t> </a:t>
            </a:r>
            <a:endParaRPr b="1" sz="2000">
              <a:solidFill>
                <a:srgbClr val="666677"/>
              </a:solidFill>
              <a:latin typeface="Calibri"/>
              <a:ea typeface="Calibri"/>
              <a:cs typeface="Calibri"/>
              <a:sym typeface="Calibri"/>
            </a:endParaRPr>
          </a:p>
          <a:p>
            <a:pPr indent="0" lvl="1" marL="457200" marR="0" rtl="0" algn="l">
              <a:spcBef>
                <a:spcPts val="600"/>
              </a:spcBef>
              <a:spcAft>
                <a:spcPts val="0"/>
              </a:spcAft>
              <a:buNone/>
            </a:pPr>
            <a:r>
              <a:t/>
            </a:r>
            <a:endParaRPr b="1" sz="2000">
              <a:solidFill>
                <a:srgbClr val="666677"/>
              </a:solidFill>
              <a:latin typeface="Calibri"/>
              <a:ea typeface="Calibri"/>
              <a:cs typeface="Calibri"/>
              <a:sym typeface="Calibri"/>
            </a:endParaRPr>
          </a:p>
          <a:p>
            <a:pPr indent="0" lvl="1" marL="457200" marR="0" rtl="0" algn="l">
              <a:spcBef>
                <a:spcPts val="600"/>
              </a:spcBef>
              <a:spcAft>
                <a:spcPts val="0"/>
              </a:spcAft>
              <a:buNone/>
            </a:pPr>
            <a:r>
              <a:t/>
            </a:r>
            <a:endParaRPr sz="2000">
              <a:solidFill>
                <a:srgbClr val="666677"/>
              </a:solidFill>
              <a:latin typeface="Calibri"/>
              <a:ea typeface="Calibri"/>
              <a:cs typeface="Calibri"/>
              <a:sym typeface="Calibri"/>
            </a:endParaRPr>
          </a:p>
          <a:p>
            <a:pPr indent="0" lvl="1" marL="457200" rtl="0" algn="l">
              <a:spcBef>
                <a:spcPts val="600"/>
              </a:spcBef>
              <a:spcAft>
                <a:spcPts val="0"/>
              </a:spcAft>
              <a:buNone/>
            </a:pPr>
            <a:r>
              <a:rPr lang="en-US" sz="2000">
                <a:solidFill>
                  <a:srgbClr val="666677"/>
                </a:solidFill>
                <a:latin typeface="Calibri"/>
                <a:ea typeface="Calibri"/>
                <a:cs typeface="Calibri"/>
                <a:sym typeface="Calibri"/>
              </a:rPr>
              <a:t>  </a:t>
            </a:r>
            <a:r>
              <a:rPr b="1" lang="en-US" sz="2000">
                <a:solidFill>
                  <a:srgbClr val="666677"/>
                </a:solidFill>
                <a:latin typeface="Calibri"/>
                <a:ea typeface="Calibri"/>
                <a:cs typeface="Calibri"/>
                <a:sym typeface="Calibri"/>
              </a:rPr>
              <a:t>Integration tests</a:t>
            </a:r>
            <a:r>
              <a:rPr lang="en-US" sz="2000">
                <a:solidFill>
                  <a:srgbClr val="666677"/>
                </a:solidFill>
                <a:latin typeface="Calibri"/>
                <a:ea typeface="Calibri"/>
                <a:cs typeface="Calibri"/>
                <a:sym typeface="Calibri"/>
              </a:rPr>
              <a:t> - a few real pieces working together</a:t>
            </a:r>
            <a:endParaRPr>
              <a:solidFill>
                <a:schemeClr val="dk1"/>
              </a:solidFill>
            </a:endParaRPr>
          </a:p>
          <a:p>
            <a:pPr indent="0" lvl="1" marL="457200" rtl="0" algn="l">
              <a:spcBef>
                <a:spcPts val="600"/>
              </a:spcBef>
              <a:spcAft>
                <a:spcPts val="0"/>
              </a:spcAft>
              <a:buNone/>
            </a:pPr>
            <a:r>
              <a:rPr lang="en-US" sz="2000">
                <a:solidFill>
                  <a:srgbClr val="666677"/>
                </a:solidFill>
                <a:latin typeface="Calibri"/>
                <a:ea typeface="Calibri"/>
                <a:cs typeface="Calibri"/>
                <a:sym typeface="Calibri"/>
              </a:rPr>
              <a:t>  (your app plus a test database). What we just wrote above.</a:t>
            </a:r>
            <a:endParaRPr>
              <a:solidFill>
                <a:schemeClr val="dk1"/>
              </a:solidFill>
            </a:endParaRPr>
          </a:p>
          <a:p>
            <a:pPr indent="0" lvl="1" marL="457200" rtl="0" algn="l">
              <a:spcBef>
                <a:spcPts val="600"/>
              </a:spcBef>
              <a:spcAft>
                <a:spcPts val="0"/>
              </a:spcAft>
              <a:buNone/>
            </a:pPr>
            <a:r>
              <a:rPr lang="en-US" sz="2000">
                <a:solidFill>
                  <a:srgbClr val="666677"/>
                </a:solidFill>
                <a:latin typeface="Calibri"/>
                <a:ea typeface="Calibri"/>
                <a:cs typeface="Calibri"/>
                <a:sym typeface="Calibri"/>
              </a:rPr>
              <a:t>  Slower, fewer of them.</a:t>
            </a:r>
            <a:endParaRPr sz="2000">
              <a:solidFill>
                <a:srgbClr val="666677"/>
              </a:solidFill>
              <a:latin typeface="Calibri"/>
              <a:ea typeface="Calibri"/>
              <a:cs typeface="Calibri"/>
              <a:sym typeface="Calibri"/>
            </a:endParaRPr>
          </a:p>
          <a:p>
            <a:pPr indent="0" lvl="1" marL="457200" rtl="0" algn="l">
              <a:spcBef>
                <a:spcPts val="600"/>
              </a:spcBef>
              <a:spcAft>
                <a:spcPts val="0"/>
              </a:spcAft>
              <a:buNone/>
            </a:pPr>
            <a:r>
              <a:t/>
            </a:r>
            <a:endParaRPr sz="2000">
              <a:solidFill>
                <a:srgbClr val="666677"/>
              </a:solidFill>
              <a:latin typeface="Calibri"/>
              <a:ea typeface="Calibri"/>
              <a:cs typeface="Calibri"/>
              <a:sym typeface="Calibri"/>
            </a:endParaRPr>
          </a:p>
          <a:p>
            <a:pPr indent="0" lvl="1" marL="457200" rtl="0" algn="l">
              <a:spcBef>
                <a:spcPts val="600"/>
              </a:spcBef>
              <a:spcAft>
                <a:spcPts val="0"/>
              </a:spcAft>
              <a:buNone/>
            </a:pPr>
            <a:r>
              <a:rPr lang="en-US" sz="2000">
                <a:solidFill>
                  <a:srgbClr val="666677"/>
                </a:solidFill>
                <a:latin typeface="Calibri"/>
                <a:ea typeface="Calibri"/>
                <a:cs typeface="Calibri"/>
                <a:sym typeface="Calibri"/>
              </a:rPr>
              <a:t>  </a:t>
            </a:r>
            <a:r>
              <a:rPr b="1" lang="en-US" sz="2000">
                <a:solidFill>
                  <a:srgbClr val="666677"/>
                </a:solidFill>
                <a:latin typeface="Calibri"/>
                <a:ea typeface="Calibri"/>
                <a:cs typeface="Calibri"/>
                <a:sym typeface="Calibri"/>
              </a:rPr>
              <a:t>Unit tests</a:t>
            </a:r>
            <a:r>
              <a:rPr lang="en-US" sz="2000">
                <a:solidFill>
                  <a:srgbClr val="666677"/>
                </a:solidFill>
                <a:latin typeface="Calibri"/>
                <a:ea typeface="Calibri"/>
                <a:cs typeface="Calibri"/>
                <a:sym typeface="Calibri"/>
              </a:rPr>
              <a:t> - one function, no external dependencies.</a:t>
            </a:r>
            <a:endParaRPr>
              <a:solidFill>
                <a:schemeClr val="dk1"/>
              </a:solidFill>
            </a:endParaRPr>
          </a:p>
          <a:p>
            <a:pPr indent="0" lvl="1" marL="457200" rtl="0" algn="l">
              <a:spcBef>
                <a:spcPts val="600"/>
              </a:spcBef>
              <a:spcAft>
                <a:spcPts val="0"/>
              </a:spcAft>
              <a:buNone/>
            </a:pPr>
            <a:r>
              <a:rPr lang="en-US" sz="2000">
                <a:solidFill>
                  <a:srgbClr val="666677"/>
                </a:solidFill>
                <a:latin typeface="Calibri"/>
                <a:ea typeface="Calibri"/>
                <a:cs typeface="Calibri"/>
                <a:sym typeface="Calibri"/>
              </a:rPr>
              <a:t>  Thousands per second. Most of your test suite lives here.</a:t>
            </a:r>
            <a:endParaRPr sz="2000">
              <a:solidFill>
                <a:srgbClr val="666677"/>
              </a:solidFill>
              <a:latin typeface="Calibri"/>
              <a:ea typeface="Calibri"/>
              <a:cs typeface="Calibri"/>
              <a:sym typeface="Calibri"/>
            </a:endParaRPr>
          </a:p>
          <a:p>
            <a:pPr indent="0" lvl="1" marL="457200" marR="0" rtl="0" algn="l">
              <a:spcBef>
                <a:spcPts val="600"/>
              </a:spcBef>
              <a:spcAft>
                <a:spcPts val="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2" name="Shape 262"/>
        <p:cNvGrpSpPr/>
        <p:nvPr/>
      </p:nvGrpSpPr>
      <p:grpSpPr>
        <a:xfrm>
          <a:off x="0" y="0"/>
          <a:ext cx="0" cy="0"/>
          <a:chOff x="0" y="0"/>
          <a:chExt cx="0" cy="0"/>
        </a:xfrm>
      </p:grpSpPr>
      <p:sp>
        <p:nvSpPr>
          <p:cNvPr id="263" name="Google Shape;263;p17"/>
          <p:cNvSpPr txBox="1"/>
          <p:nvPr/>
        </p:nvSpPr>
        <p:spPr>
          <a:xfrm>
            <a:off x="731520" y="365760"/>
            <a:ext cx="10728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The testing pyramid</a:t>
            </a:r>
            <a:endParaRPr/>
          </a:p>
        </p:txBody>
      </p:sp>
      <p:sp>
        <p:nvSpPr>
          <p:cNvPr id="264" name="Google Shape;264;p17"/>
          <p:cNvSpPr txBox="1"/>
          <p:nvPr/>
        </p:nvSpPr>
        <p:spPr>
          <a:xfrm>
            <a:off x="914400" y="1280140"/>
            <a:ext cx="10362900" cy="5141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333344"/>
                </a:solidFill>
                <a:latin typeface="Calibri"/>
                <a:ea typeface="Calibri"/>
                <a:cs typeface="Calibri"/>
                <a:sym typeface="Calibri"/>
              </a:rPr>
              <a:t>Not every test is the same size.</a:t>
            </a:r>
            <a:endParaRPr b="0" i="0" sz="2000" u="none" cap="none" strike="noStrike">
              <a:solidFill>
                <a:srgbClr val="666677"/>
              </a:solidFill>
              <a:latin typeface="Calibri"/>
              <a:ea typeface="Calibri"/>
              <a:cs typeface="Calibri"/>
              <a:sym typeface="Calibri"/>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End-to-end tests</a:t>
            </a:r>
            <a:r>
              <a:rPr b="0" i="0" lang="en-US" sz="2000" u="none" cap="none" strike="noStrike">
                <a:solidFill>
                  <a:srgbClr val="666677"/>
                </a:solidFill>
                <a:latin typeface="Calibri"/>
                <a:ea typeface="Calibri"/>
                <a:cs typeface="Calibri"/>
                <a:sym typeface="Calibri"/>
              </a:rPr>
              <a:t> - real server, real browser, real everything.</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Slowest and most flaky, so only a handful, for critical paths.</a:t>
            </a:r>
            <a:endParaRPr b="0" i="0" sz="2000" u="none" cap="none" strike="noStrike">
              <a:solidFill>
                <a:srgbClr val="666677"/>
              </a:solidFill>
              <a:latin typeface="Calibri"/>
              <a:ea typeface="Calibri"/>
              <a:cs typeface="Calibri"/>
              <a:sym typeface="Calibri"/>
            </a:endParaRPr>
          </a:p>
          <a:p>
            <a:pPr indent="0" lvl="1" marL="457200" marR="0" rtl="0" algn="l">
              <a:spcBef>
                <a:spcPts val="600"/>
              </a:spcBef>
              <a:spcAft>
                <a:spcPts val="0"/>
              </a:spcAft>
              <a:buNone/>
            </a:pPr>
            <a:r>
              <a:t/>
            </a:r>
            <a:endParaRPr sz="2000">
              <a:solidFill>
                <a:srgbClr val="666677"/>
              </a:solidFill>
              <a:latin typeface="Calibri"/>
              <a:ea typeface="Calibri"/>
              <a:cs typeface="Calibri"/>
              <a:sym typeface="Calibri"/>
            </a:endParaRPr>
          </a:p>
          <a:p>
            <a:pPr indent="0" lvl="1" marL="457200" rtl="0" algn="l">
              <a:spcBef>
                <a:spcPts val="600"/>
              </a:spcBef>
              <a:spcAft>
                <a:spcPts val="0"/>
              </a:spcAft>
              <a:buClr>
                <a:schemeClr val="dk1"/>
              </a:buClr>
              <a:buFont typeface="Arial"/>
              <a:buNone/>
            </a:pPr>
            <a:r>
              <a:rPr lang="en-US" sz="2000">
                <a:solidFill>
                  <a:srgbClr val="666677"/>
                </a:solidFill>
                <a:latin typeface="Calibri"/>
                <a:ea typeface="Calibri"/>
                <a:cs typeface="Calibri"/>
                <a:sym typeface="Calibri"/>
              </a:rPr>
              <a:t>  </a:t>
            </a:r>
            <a:r>
              <a:rPr b="1" lang="en-US" sz="2000">
                <a:solidFill>
                  <a:srgbClr val="666677"/>
                </a:solidFill>
                <a:latin typeface="Calibri"/>
                <a:ea typeface="Calibri"/>
                <a:cs typeface="Calibri"/>
                <a:sym typeface="Calibri"/>
              </a:rPr>
              <a:t>Integration tests</a:t>
            </a:r>
            <a:r>
              <a:rPr lang="en-US" sz="2000">
                <a:solidFill>
                  <a:srgbClr val="666677"/>
                </a:solidFill>
                <a:latin typeface="Calibri"/>
                <a:ea typeface="Calibri"/>
                <a:cs typeface="Calibri"/>
                <a:sym typeface="Calibri"/>
              </a:rPr>
              <a:t> - a few real pieces working together</a:t>
            </a:r>
            <a:endParaRPr>
              <a:solidFill>
                <a:schemeClr val="dk1"/>
              </a:solidFill>
            </a:endParaRPr>
          </a:p>
          <a:p>
            <a:pPr indent="0" lvl="1" marL="457200" rtl="0" algn="l">
              <a:spcBef>
                <a:spcPts val="600"/>
              </a:spcBef>
              <a:spcAft>
                <a:spcPts val="0"/>
              </a:spcAft>
              <a:buClr>
                <a:schemeClr val="dk1"/>
              </a:buClr>
              <a:buFont typeface="Arial"/>
              <a:buNone/>
            </a:pPr>
            <a:r>
              <a:rPr lang="en-US" sz="2000">
                <a:solidFill>
                  <a:srgbClr val="666677"/>
                </a:solidFill>
                <a:latin typeface="Calibri"/>
                <a:ea typeface="Calibri"/>
                <a:cs typeface="Calibri"/>
                <a:sym typeface="Calibri"/>
              </a:rPr>
              <a:t>  (your app plus a test database). What we just wrote above.</a:t>
            </a:r>
            <a:endParaRPr>
              <a:solidFill>
                <a:schemeClr val="dk1"/>
              </a:solidFill>
            </a:endParaRPr>
          </a:p>
          <a:p>
            <a:pPr indent="0" lvl="1" marL="457200" rtl="0" algn="l">
              <a:spcBef>
                <a:spcPts val="600"/>
              </a:spcBef>
              <a:spcAft>
                <a:spcPts val="0"/>
              </a:spcAft>
              <a:buNone/>
            </a:pPr>
            <a:r>
              <a:rPr lang="en-US" sz="2000">
                <a:solidFill>
                  <a:srgbClr val="666677"/>
                </a:solidFill>
                <a:latin typeface="Calibri"/>
                <a:ea typeface="Calibri"/>
                <a:cs typeface="Calibri"/>
                <a:sym typeface="Calibri"/>
              </a:rPr>
              <a:t>  Slower, fewer of them.</a:t>
            </a:r>
            <a:endParaRPr sz="2000">
              <a:solidFill>
                <a:srgbClr val="666677"/>
              </a:solidFill>
              <a:latin typeface="Calibri"/>
              <a:ea typeface="Calibri"/>
              <a:cs typeface="Calibri"/>
              <a:sym typeface="Calibri"/>
            </a:endParaRPr>
          </a:p>
          <a:p>
            <a:pPr indent="0" lvl="1" marL="457200" rtl="0" algn="l">
              <a:spcBef>
                <a:spcPts val="600"/>
              </a:spcBef>
              <a:spcAft>
                <a:spcPts val="0"/>
              </a:spcAft>
              <a:buClr>
                <a:schemeClr val="dk1"/>
              </a:buClr>
              <a:buFont typeface="Arial"/>
              <a:buNone/>
            </a:pPr>
            <a:r>
              <a:t/>
            </a:r>
            <a:endParaRPr sz="2000">
              <a:solidFill>
                <a:srgbClr val="666677"/>
              </a:solidFill>
              <a:latin typeface="Calibri"/>
              <a:ea typeface="Calibri"/>
              <a:cs typeface="Calibri"/>
              <a:sym typeface="Calibri"/>
            </a:endParaRPr>
          </a:p>
          <a:p>
            <a:pPr indent="0" lvl="1" marL="457200" rtl="0" algn="l">
              <a:spcBef>
                <a:spcPts val="600"/>
              </a:spcBef>
              <a:spcAft>
                <a:spcPts val="0"/>
              </a:spcAft>
              <a:buClr>
                <a:schemeClr val="dk1"/>
              </a:buClr>
              <a:buFont typeface="Arial"/>
              <a:buNone/>
            </a:pPr>
            <a:r>
              <a:rPr lang="en-US" sz="2000">
                <a:solidFill>
                  <a:srgbClr val="666677"/>
                </a:solidFill>
                <a:latin typeface="Calibri"/>
                <a:ea typeface="Calibri"/>
                <a:cs typeface="Calibri"/>
                <a:sym typeface="Calibri"/>
              </a:rPr>
              <a:t>  </a:t>
            </a:r>
            <a:r>
              <a:rPr b="1" lang="en-US" sz="2000">
                <a:solidFill>
                  <a:srgbClr val="666677"/>
                </a:solidFill>
                <a:latin typeface="Calibri"/>
                <a:ea typeface="Calibri"/>
                <a:cs typeface="Calibri"/>
                <a:sym typeface="Calibri"/>
              </a:rPr>
              <a:t>Unit tests</a:t>
            </a:r>
            <a:r>
              <a:rPr lang="en-US" sz="2000">
                <a:solidFill>
                  <a:srgbClr val="666677"/>
                </a:solidFill>
                <a:latin typeface="Calibri"/>
                <a:ea typeface="Calibri"/>
                <a:cs typeface="Calibri"/>
                <a:sym typeface="Calibri"/>
              </a:rPr>
              <a:t> - one function, no external dependencies.</a:t>
            </a:r>
            <a:endParaRPr>
              <a:solidFill>
                <a:schemeClr val="dk1"/>
              </a:solidFill>
            </a:endParaRPr>
          </a:p>
          <a:p>
            <a:pPr indent="0" lvl="1" marL="457200" rtl="0" algn="l">
              <a:spcBef>
                <a:spcPts val="600"/>
              </a:spcBef>
              <a:spcAft>
                <a:spcPts val="0"/>
              </a:spcAft>
              <a:buClr>
                <a:schemeClr val="dk1"/>
              </a:buClr>
              <a:buFont typeface="Arial"/>
              <a:buNone/>
            </a:pPr>
            <a:r>
              <a:rPr lang="en-US" sz="2000">
                <a:solidFill>
                  <a:srgbClr val="666677"/>
                </a:solidFill>
                <a:latin typeface="Calibri"/>
                <a:ea typeface="Calibri"/>
                <a:cs typeface="Calibri"/>
                <a:sym typeface="Calibri"/>
              </a:rPr>
              <a:t>  Thousands per second. Most of your test suite lives here.</a:t>
            </a:r>
            <a:endParaRPr sz="2000">
              <a:solidFill>
                <a:srgbClr val="666677"/>
              </a:solidFill>
              <a:latin typeface="Calibri"/>
              <a:ea typeface="Calibri"/>
              <a:cs typeface="Calibri"/>
              <a:sym typeface="Calibri"/>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1" i="0" lang="en-US" sz="2400" u="none" cap="none" strike="noStrike">
                <a:solidFill>
                  <a:srgbClr val="333344"/>
                </a:solidFill>
                <a:latin typeface="Calibri"/>
                <a:ea typeface="Calibri"/>
                <a:cs typeface="Calibri"/>
                <a:sym typeface="Calibri"/>
              </a:rPr>
              <a:t>Rule of thumb:</a:t>
            </a:r>
            <a:r>
              <a:rPr b="0" i="0" lang="en-US" sz="2400" u="none" cap="none" strike="noStrike">
                <a:solidFill>
                  <a:srgbClr val="333344"/>
                </a:solidFill>
                <a:latin typeface="Calibri"/>
                <a:ea typeface="Calibri"/>
                <a:cs typeface="Calibri"/>
                <a:sym typeface="Calibri"/>
              </a:rPr>
              <a:t> push every test as far down the pyramid as you can</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Only go wider when it really needs more of the system.</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9" name="Shape 269"/>
        <p:cNvGrpSpPr/>
        <p:nvPr/>
      </p:nvGrpSpPr>
      <p:grpSpPr>
        <a:xfrm>
          <a:off x="0" y="0"/>
          <a:ext cx="0" cy="0"/>
          <a:chOff x="0" y="0"/>
          <a:chExt cx="0" cy="0"/>
        </a:xfrm>
      </p:grpSpPr>
      <p:sp>
        <p:nvSpPr>
          <p:cNvPr id="270" name="Google Shape;270;g3979b53ae3e_1_271"/>
          <p:cNvSpPr txBox="1"/>
          <p:nvPr/>
        </p:nvSpPr>
        <p:spPr>
          <a:xfrm>
            <a:off x="731520" y="365760"/>
            <a:ext cx="10728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The chat endpoint has dependencies everywhere</a:t>
            </a:r>
            <a:endParaRPr/>
          </a:p>
        </p:txBody>
      </p:sp>
      <p:sp>
        <p:nvSpPr>
          <p:cNvPr id="271" name="Google Shape;271;g3979b53ae3e_1_271"/>
          <p:cNvSpPr txBox="1"/>
          <p:nvPr/>
        </p:nvSpPr>
        <p:spPr>
          <a:xfrm>
            <a:off x="914400" y="1463040"/>
            <a:ext cx="10362900" cy="517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333344"/>
                </a:solidFill>
                <a:latin typeface="Calibri"/>
                <a:ea typeface="Calibri"/>
                <a:cs typeface="Calibri"/>
                <a:sym typeface="Calibri"/>
              </a:rPr>
              <a:t>Look at one line: `POST /api/messages` in your FastAPI app.</a:t>
            </a:r>
            <a:endParaRPr/>
          </a:p>
          <a:p>
            <a:pPr indent="0" lvl="0" marL="0" marR="0" rtl="0" algn="l">
              <a:spcBef>
                <a:spcPts val="600"/>
              </a:spcBef>
              <a:spcAft>
                <a:spcPts val="0"/>
              </a:spcAft>
              <a:buNone/>
            </a:pPr>
            <a:r>
              <a:t/>
            </a:r>
            <a:endParaRPr b="0" i="0" sz="2400" u="none" cap="none" strike="noStrike">
              <a:solidFill>
                <a:srgbClr val="333344"/>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Under the hood, it depends on:</a:t>
            </a:r>
            <a:endParaRPr/>
          </a:p>
          <a:p>
            <a:pPr indent="0" lvl="1" marL="457200" marR="0" rtl="0" algn="l">
              <a:spcBef>
                <a:spcPts val="600"/>
              </a:spcBef>
              <a:spcAft>
                <a:spcPts val="0"/>
              </a:spcAft>
              <a:buNone/>
            </a:pPr>
            <a:r>
              <a:rPr b="0" i="0" lang="en-US" sz="2000" u="none" cap="none" strike="sngStrike">
                <a:solidFill>
                  <a:srgbClr val="666677"/>
                </a:solidFill>
                <a:latin typeface="Calibri"/>
                <a:ea typeface="Calibri"/>
                <a:cs typeface="Calibri"/>
                <a:sym typeface="Calibri"/>
              </a:rPr>
              <a:t>  A </a:t>
            </a:r>
            <a:r>
              <a:rPr b="1" i="0" lang="en-US" sz="2000" u="none" cap="none" strike="sngStrike">
                <a:solidFill>
                  <a:srgbClr val="666677"/>
                </a:solidFill>
                <a:latin typeface="Calibri"/>
                <a:ea typeface="Calibri"/>
                <a:cs typeface="Calibri"/>
                <a:sym typeface="Calibri"/>
              </a:rPr>
              <a:t>SQLite database</a:t>
            </a:r>
            <a:r>
              <a:rPr b="0" i="0" lang="en-US" sz="2000" u="none" cap="none" strike="sngStrike">
                <a:solidFill>
                  <a:srgbClr val="666677"/>
                </a:solidFill>
                <a:latin typeface="Calibri"/>
                <a:ea typeface="Calibri"/>
                <a:cs typeface="Calibri"/>
                <a:sym typeface="Calibri"/>
              </a:rPr>
              <a:t> (your chat.db file, with real data)</a:t>
            </a:r>
            <a:endParaRPr strike="sngStrike"/>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The </a:t>
            </a:r>
            <a:r>
              <a:rPr b="1" i="0" lang="en-US" sz="2000" u="none" cap="none" strike="noStrike">
                <a:solidFill>
                  <a:srgbClr val="666677"/>
                </a:solidFill>
                <a:latin typeface="Calibri"/>
                <a:ea typeface="Calibri"/>
                <a:cs typeface="Calibri"/>
                <a:sym typeface="Calibri"/>
              </a:rPr>
              <a:t>wall clock</a:t>
            </a:r>
            <a:r>
              <a:rPr b="0" i="0" lang="en-US" sz="2000" u="none" cap="none" strike="noStrike">
                <a:solidFill>
                  <a:srgbClr val="666677"/>
                </a:solidFill>
                <a:latin typeface="Calibri"/>
                <a:ea typeface="Calibri"/>
                <a:cs typeface="Calibri"/>
                <a:sym typeface="Calibri"/>
              </a:rPr>
              <a:t> (for the timestamp via datetime.utcnow)</a:t>
            </a:r>
            <a:endParaRPr/>
          </a:p>
          <a:p>
            <a:pPr indent="0" lvl="1" marL="457200" marR="0" rtl="0" algn="l">
              <a:spcBef>
                <a:spcPts val="600"/>
              </a:spcBef>
              <a:spcAft>
                <a:spcPts val="0"/>
              </a:spcAft>
              <a:buNone/>
            </a:pPr>
            <a:r>
              <a:rPr b="0" i="0" lang="en-US" sz="2000" u="none" cap="none" strike="sngStrike">
                <a:solidFill>
                  <a:srgbClr val="666677"/>
                </a:solidFill>
                <a:latin typeface="Calibri"/>
                <a:ea typeface="Calibri"/>
                <a:cs typeface="Calibri"/>
                <a:sym typeface="Calibri"/>
              </a:rPr>
              <a:t>  </a:t>
            </a:r>
            <a:r>
              <a:rPr b="1" i="0" lang="en-US" sz="2000" u="none" cap="none" strike="sngStrike">
                <a:solidFill>
                  <a:srgbClr val="666677"/>
                </a:solidFill>
                <a:latin typeface="Calibri"/>
                <a:ea typeface="Calibri"/>
                <a:cs typeface="Calibri"/>
                <a:sym typeface="Calibri"/>
              </a:rPr>
              <a:t>FastAPI</a:t>
            </a:r>
            <a:r>
              <a:rPr b="0" i="0" lang="en-US" sz="2000" u="none" cap="none" strike="sngStrike">
                <a:solidFill>
                  <a:srgbClr val="666677"/>
                </a:solidFill>
                <a:latin typeface="Calibri"/>
                <a:ea typeface="Calibri"/>
                <a:cs typeface="Calibri"/>
                <a:sym typeface="Calibri"/>
              </a:rPr>
              <a:t> itself (request parsing, Pydantic validation)</a:t>
            </a:r>
            <a:endParaRPr strike="sngStrike"/>
          </a:p>
          <a:p>
            <a:pPr indent="0" lvl="1" marL="457200" marR="0" rtl="0" algn="l">
              <a:spcBef>
                <a:spcPts val="600"/>
              </a:spcBef>
              <a:spcAft>
                <a:spcPts val="0"/>
              </a:spcAft>
              <a:buNone/>
            </a:pPr>
            <a:r>
              <a:rPr b="0" i="0" lang="en-US" sz="2000" u="none" cap="none" strike="sngStrike">
                <a:solidFill>
                  <a:srgbClr val="666677"/>
                </a:solidFill>
                <a:latin typeface="Calibri"/>
                <a:ea typeface="Calibri"/>
                <a:cs typeface="Calibri"/>
                <a:sym typeface="Calibri"/>
              </a:rPr>
              <a:t>  A </a:t>
            </a:r>
            <a:r>
              <a:rPr b="1" i="0" lang="en-US" sz="2000" u="none" cap="none" strike="sngStrike">
                <a:solidFill>
                  <a:srgbClr val="666677"/>
                </a:solidFill>
                <a:latin typeface="Calibri"/>
                <a:ea typeface="Calibri"/>
                <a:cs typeface="Calibri"/>
                <a:sym typeface="Calibri"/>
              </a:rPr>
              <a:t>TCP port</a:t>
            </a:r>
            <a:r>
              <a:rPr b="0" i="0" lang="en-US" sz="2000" u="none" cap="none" strike="sngStrike">
                <a:solidFill>
                  <a:srgbClr val="666677"/>
                </a:solidFill>
                <a:latin typeface="Calibri"/>
                <a:ea typeface="Calibri"/>
                <a:cs typeface="Calibri"/>
                <a:sym typeface="Calibri"/>
              </a:rPr>
              <a:t> that uvicorn has to be listening on</a:t>
            </a:r>
            <a:endParaRPr strike="sngStrike"/>
          </a:p>
          <a:p>
            <a:pPr indent="0" lvl="1" marL="457200" marR="0" rtl="0" algn="l">
              <a:spcBef>
                <a:spcPts val="600"/>
              </a:spcBef>
              <a:spcAft>
                <a:spcPts val="0"/>
              </a:spcAft>
              <a:buNone/>
            </a:pPr>
            <a:r>
              <a:rPr b="0" i="0" lang="en-US" sz="2000" u="none" cap="none" strike="sngStrike">
                <a:solidFill>
                  <a:srgbClr val="666677"/>
                </a:solidFill>
                <a:latin typeface="Calibri"/>
                <a:ea typeface="Calibri"/>
                <a:cs typeface="Calibri"/>
                <a:sym typeface="Calibri"/>
              </a:rPr>
              <a:t>  The </a:t>
            </a:r>
            <a:r>
              <a:rPr b="1" i="0" lang="en-US" sz="2000" u="none" cap="none" strike="sngStrike">
                <a:solidFill>
                  <a:srgbClr val="666677"/>
                </a:solidFill>
                <a:latin typeface="Calibri"/>
                <a:ea typeface="Calibri"/>
                <a:cs typeface="Calibri"/>
                <a:sym typeface="Calibri"/>
              </a:rPr>
              <a:t>filesystem</a:t>
            </a:r>
            <a:r>
              <a:rPr b="0" i="0" lang="en-US" sz="2000" u="none" cap="none" strike="sngStrike">
                <a:solidFill>
                  <a:srgbClr val="666677"/>
                </a:solidFill>
                <a:latin typeface="Calibri"/>
                <a:ea typeface="Calibri"/>
                <a:cs typeface="Calibri"/>
                <a:sym typeface="Calibri"/>
              </a:rPr>
              <a:t> (to open chat.db)</a:t>
            </a:r>
            <a:endParaRPr strike="sngStrike"/>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To test this, you'd think you have to stand all of that up.</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Real server, real database, real port, real clock.</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6" name="Shape 276"/>
        <p:cNvGrpSpPr/>
        <p:nvPr/>
      </p:nvGrpSpPr>
      <p:grpSpPr>
        <a:xfrm>
          <a:off x="0" y="0"/>
          <a:ext cx="0" cy="0"/>
          <a:chOff x="0" y="0"/>
          <a:chExt cx="0" cy="0"/>
        </a:xfrm>
      </p:grpSpPr>
      <p:sp>
        <p:nvSpPr>
          <p:cNvPr id="277" name="Google Shape;277;g3979b53ae3e_1_360"/>
          <p:cNvSpPr txBox="1"/>
          <p:nvPr/>
        </p:nvSpPr>
        <p:spPr>
          <a:xfrm>
            <a:off x="731520" y="365760"/>
            <a:ext cx="10728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Mocks: faking what you can't control cheaply</a:t>
            </a:r>
            <a:endParaRPr/>
          </a:p>
        </p:txBody>
      </p:sp>
      <p:sp>
        <p:nvSpPr>
          <p:cNvPr id="278" name="Google Shape;278;g3979b53ae3e_1_360"/>
          <p:cNvSpPr txBox="1"/>
          <p:nvPr/>
        </p:nvSpPr>
        <p:spPr>
          <a:xfrm>
            <a:off x="914400" y="1280140"/>
            <a:ext cx="10362900" cy="334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333344"/>
                </a:solidFill>
                <a:latin typeface="Calibri"/>
                <a:ea typeface="Calibri"/>
                <a:cs typeface="Calibri"/>
                <a:sym typeface="Calibri"/>
              </a:rPr>
              <a:t>A test has a </a:t>
            </a:r>
            <a:r>
              <a:rPr b="1" i="0" lang="en-US" sz="2400" u="none" cap="none" strike="noStrike">
                <a:solidFill>
                  <a:srgbClr val="333344"/>
                </a:solidFill>
                <a:latin typeface="Calibri"/>
                <a:ea typeface="Calibri"/>
                <a:cs typeface="Calibri"/>
                <a:sym typeface="Calibri"/>
              </a:rPr>
              <a:t>boundary</a:t>
            </a:r>
            <a:r>
              <a:rPr b="0" i="0" lang="en-US" sz="2400" u="none" cap="none" strike="noStrike">
                <a:solidFill>
                  <a:srgbClr val="333344"/>
                </a:solidFill>
                <a:latin typeface="Calibri"/>
                <a:ea typeface="Calibri"/>
                <a:cs typeface="Calibri"/>
                <a:sym typeface="Calibri"/>
              </a:rPr>
              <a:t>: inside is your real code, outside is fake.</a:t>
            </a:r>
            <a:endParaRPr/>
          </a:p>
          <a:p>
            <a:pPr indent="0" lvl="0" marL="0" marR="0" rtl="0" algn="l">
              <a:spcBef>
                <a:spcPts val="600"/>
              </a:spcBef>
              <a:spcAft>
                <a:spcPts val="0"/>
              </a:spcAft>
              <a:buNone/>
            </a:pPr>
            <a:r>
              <a:t/>
            </a:r>
            <a:endParaRPr b="0" i="0" sz="2400" u="none" cap="none" strike="noStrike">
              <a:solidFill>
                <a:srgbClr val="333344"/>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For most dependencies you'd happily use the real version - the</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database is fast, FastAPI is fast, Python's stdlib is reliable.</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Some dependencies don't cooperate. </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The </a:t>
            </a:r>
            <a:r>
              <a:rPr b="1" i="0" lang="en-US" sz="2000" u="none" cap="none" strike="noStrike">
                <a:solidFill>
                  <a:srgbClr val="666677"/>
                </a:solidFill>
                <a:latin typeface="Calibri"/>
                <a:ea typeface="Calibri"/>
                <a:cs typeface="Calibri"/>
                <a:sym typeface="Calibri"/>
              </a:rPr>
              <a:t>clock</a:t>
            </a:r>
            <a:r>
              <a:rPr b="0" i="0" lang="en-US" sz="2000" u="none" cap="none" strike="noStrike">
                <a:solidFill>
                  <a:srgbClr val="666677"/>
                </a:solidFill>
                <a:latin typeface="Calibri"/>
                <a:ea typeface="Calibri"/>
                <a:cs typeface="Calibri"/>
                <a:sym typeface="Calibri"/>
              </a:rPr>
              <a:t> (tests on timestamps want a fixed moment)</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3" name="Shape 283"/>
        <p:cNvGrpSpPr/>
        <p:nvPr/>
      </p:nvGrpSpPr>
      <p:grpSpPr>
        <a:xfrm>
          <a:off x="0" y="0"/>
          <a:ext cx="0" cy="0"/>
          <a:chOff x="0" y="0"/>
          <a:chExt cx="0" cy="0"/>
        </a:xfrm>
      </p:grpSpPr>
      <p:sp>
        <p:nvSpPr>
          <p:cNvPr id="284" name="Google Shape;284;p18"/>
          <p:cNvSpPr txBox="1"/>
          <p:nvPr/>
        </p:nvSpPr>
        <p:spPr>
          <a:xfrm>
            <a:off x="731520" y="36576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Mocks: faking what you can't control cheaply</a:t>
            </a:r>
            <a:endParaRPr/>
          </a:p>
        </p:txBody>
      </p:sp>
      <p:sp>
        <p:nvSpPr>
          <p:cNvPr id="285" name="Google Shape;285;p18"/>
          <p:cNvSpPr txBox="1"/>
          <p:nvPr/>
        </p:nvSpPr>
        <p:spPr>
          <a:xfrm>
            <a:off x="914400" y="1280140"/>
            <a:ext cx="10362900" cy="5325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333344"/>
                </a:solidFill>
                <a:latin typeface="Calibri"/>
                <a:ea typeface="Calibri"/>
                <a:cs typeface="Calibri"/>
                <a:sym typeface="Calibri"/>
              </a:rPr>
              <a:t>A test has a </a:t>
            </a:r>
            <a:r>
              <a:rPr b="1" i="0" lang="en-US" sz="2400" u="none" cap="none" strike="noStrike">
                <a:solidFill>
                  <a:srgbClr val="333344"/>
                </a:solidFill>
                <a:latin typeface="Calibri"/>
                <a:ea typeface="Calibri"/>
                <a:cs typeface="Calibri"/>
                <a:sym typeface="Calibri"/>
              </a:rPr>
              <a:t>boundary</a:t>
            </a:r>
            <a:r>
              <a:rPr b="0" i="0" lang="en-US" sz="2400" u="none" cap="none" strike="noStrike">
                <a:solidFill>
                  <a:srgbClr val="333344"/>
                </a:solidFill>
                <a:latin typeface="Calibri"/>
                <a:ea typeface="Calibri"/>
                <a:cs typeface="Calibri"/>
                <a:sym typeface="Calibri"/>
              </a:rPr>
              <a:t>: inside is your real code, outside is fake.</a:t>
            </a:r>
            <a:endParaRPr/>
          </a:p>
          <a:p>
            <a:pPr indent="0" lvl="0" marL="0" marR="0" rtl="0" algn="l">
              <a:spcBef>
                <a:spcPts val="600"/>
              </a:spcBef>
              <a:spcAft>
                <a:spcPts val="0"/>
              </a:spcAft>
              <a:buNone/>
            </a:pPr>
            <a:r>
              <a:t/>
            </a:r>
            <a:endParaRPr b="0" i="0" sz="2400" u="none" cap="none" strike="noStrike">
              <a:solidFill>
                <a:srgbClr val="333344"/>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For most dependencies you'd happily use the real version - the</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database is fast, FastAPI is fast, Python's stdlib is reliable.</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Some dependencies don't cooperate. </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The </a:t>
            </a:r>
            <a:r>
              <a:rPr b="1" i="0" lang="en-US" sz="2000" u="none" cap="none" strike="noStrike">
                <a:solidFill>
                  <a:srgbClr val="666677"/>
                </a:solidFill>
                <a:latin typeface="Calibri"/>
                <a:ea typeface="Calibri"/>
                <a:cs typeface="Calibri"/>
                <a:sym typeface="Calibri"/>
              </a:rPr>
              <a:t>clock</a:t>
            </a:r>
            <a:r>
              <a:rPr b="0" i="0" lang="en-US" sz="2000" u="none" cap="none" strike="noStrike">
                <a:solidFill>
                  <a:srgbClr val="666677"/>
                </a:solidFill>
                <a:latin typeface="Calibri"/>
                <a:ea typeface="Calibri"/>
                <a:cs typeface="Calibri"/>
                <a:sym typeface="Calibri"/>
              </a:rPr>
              <a:t> (tests on timestamps want a fixed moment)</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External APIs</a:t>
            </a:r>
            <a:r>
              <a:rPr b="0" i="0" lang="en-US" sz="2000" u="none" cap="none" strike="noStrike">
                <a:solidFill>
                  <a:srgbClr val="666677"/>
                </a:solidFill>
                <a:latin typeface="Calibri"/>
                <a:ea typeface="Calibri"/>
                <a:cs typeface="Calibri"/>
                <a:sym typeface="Calibri"/>
              </a:rPr>
              <a:t> (Stripe, SendGrid - you </a:t>
            </a:r>
            <a:r>
              <a:rPr lang="en-US" sz="2000">
                <a:solidFill>
                  <a:srgbClr val="666677"/>
                </a:solidFill>
                <a:latin typeface="Calibri"/>
                <a:ea typeface="Calibri"/>
                <a:cs typeface="Calibri"/>
                <a:sym typeface="Calibri"/>
              </a:rPr>
              <a:t>don’t want to hit these in tests!</a:t>
            </a:r>
            <a:r>
              <a:rPr b="0" i="0" lang="en-US" sz="2000" u="none" cap="none" strike="noStrike">
                <a:solidFill>
                  <a:srgbClr val="666677"/>
                </a:solidFill>
                <a:latin typeface="Calibri"/>
                <a:ea typeface="Calibri"/>
                <a:cs typeface="Calibri"/>
                <a:sym typeface="Calibri"/>
              </a:rPr>
              <a:t>)</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Random numbers</a:t>
            </a:r>
            <a:r>
              <a:rPr b="0" i="0" lang="en-US" sz="2000" u="none" cap="none" strike="noStrike">
                <a:solidFill>
                  <a:srgbClr val="666677"/>
                </a:solidFill>
                <a:latin typeface="Calibri"/>
                <a:ea typeface="Calibri"/>
                <a:cs typeface="Calibri"/>
                <a:sym typeface="Calibri"/>
              </a:rPr>
              <a:t> (nondeterministic by design)</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Email senders, payment processors, SMS gateways, ...</a:t>
            </a:r>
            <a:endParaRPr/>
          </a:p>
          <a:p>
            <a:pPr indent="0" lvl="0" marL="0" marR="0" rtl="0" algn="l">
              <a:spcBef>
                <a:spcPts val="600"/>
              </a:spcBef>
              <a:spcAft>
                <a:spcPts val="0"/>
              </a:spcAft>
              <a:buNone/>
            </a:pPr>
            <a:r>
              <a:t/>
            </a:r>
            <a:endParaRPr b="1"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For these, you push the boundary outward: replace the dependency</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with a controllable </a:t>
            </a:r>
            <a:r>
              <a:rPr b="1" i="0" lang="en-US" sz="2000" u="none" cap="none" strike="noStrike">
                <a:solidFill>
                  <a:srgbClr val="666677"/>
                </a:solidFill>
                <a:latin typeface="Calibri"/>
                <a:ea typeface="Calibri"/>
                <a:cs typeface="Calibri"/>
                <a:sym typeface="Calibri"/>
              </a:rPr>
              <a:t>mock</a:t>
            </a:r>
            <a:r>
              <a:rPr b="0" i="0" lang="en-US" sz="2000" u="none" cap="none" strike="noStrike">
                <a:solidFill>
                  <a:srgbClr val="666677"/>
                </a:solidFill>
                <a:latin typeface="Calibri"/>
                <a:ea typeface="Calibri"/>
                <a:cs typeface="Calibri"/>
                <a:sym typeface="Calibri"/>
              </a:rPr>
              <a:t> that returns what you tell it to.</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0" name="Shape 290"/>
        <p:cNvGrpSpPr/>
        <p:nvPr/>
      </p:nvGrpSpPr>
      <p:grpSpPr>
        <a:xfrm>
          <a:off x="0" y="0"/>
          <a:ext cx="0" cy="0"/>
          <a:chOff x="0" y="0"/>
          <a:chExt cx="0" cy="0"/>
        </a:xfrm>
      </p:grpSpPr>
      <p:sp>
        <p:nvSpPr>
          <p:cNvPr id="291" name="Google Shape;291;g3979b53ae3e_1_224"/>
          <p:cNvSpPr txBox="1"/>
          <p:nvPr/>
        </p:nvSpPr>
        <p:spPr>
          <a:xfrm>
            <a:off x="731520" y="365760"/>
            <a:ext cx="107286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1A2E"/>
                </a:solidFill>
                <a:latin typeface="Calibri"/>
                <a:ea typeface="Calibri"/>
                <a:cs typeface="Calibri"/>
                <a:sym typeface="Calibri"/>
              </a:rPr>
              <a:t>Freezing the clock with unittest.mock</a:t>
            </a:r>
            <a:endParaRPr/>
          </a:p>
        </p:txBody>
      </p:sp>
      <p:sp>
        <p:nvSpPr>
          <p:cNvPr id="292" name="Google Shape;292;g3979b53ae3e_1_224"/>
          <p:cNvSpPr txBox="1"/>
          <p:nvPr/>
        </p:nvSpPr>
        <p:spPr>
          <a:xfrm>
            <a:off x="9601200" y="1188720"/>
            <a:ext cx="1828800" cy="3078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400" u="none" cap="none" strike="noStrike">
                <a:solidFill>
                  <a:srgbClr val="5B21B6"/>
                </a:solidFill>
                <a:latin typeface="Courier New"/>
                <a:ea typeface="Courier New"/>
                <a:cs typeface="Courier New"/>
                <a:sym typeface="Courier New"/>
              </a:rPr>
              <a:t>Python</a:t>
            </a:r>
            <a:endParaRPr/>
          </a:p>
        </p:txBody>
      </p:sp>
      <p:sp>
        <p:nvSpPr>
          <p:cNvPr id="293" name="Google Shape;293;g3979b53ae3e_1_224"/>
          <p:cNvSpPr/>
          <p:nvPr/>
        </p:nvSpPr>
        <p:spPr>
          <a:xfrm>
            <a:off x="731520" y="1463040"/>
            <a:ext cx="10728600" cy="493770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4" name="Google Shape;294;g3979b53ae3e_1_224"/>
          <p:cNvSpPr txBox="1"/>
          <p:nvPr/>
        </p:nvSpPr>
        <p:spPr>
          <a:xfrm>
            <a:off x="1005840" y="1645920"/>
            <a:ext cx="10179900" cy="2940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700" u="none" cap="none" strike="noStrike">
                <a:solidFill>
                  <a:srgbClr val="333344"/>
                </a:solidFill>
                <a:latin typeface="Courier New"/>
                <a:ea typeface="Courier New"/>
                <a:cs typeface="Courier New"/>
                <a:sym typeface="Courier New"/>
              </a:rPr>
              <a:t>from unittest.mock import patch</a:t>
            </a:r>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from datetime import datetime</a:t>
            </a:r>
            <a:endParaRPr/>
          </a:p>
          <a:p>
            <a:pPr indent="0" lvl="0" marL="0" marR="0" rtl="0" algn="l">
              <a:spcBef>
                <a:spcPts val="200"/>
              </a:spcBef>
              <a:spcAft>
                <a:spcPts val="0"/>
              </a:spcAft>
              <a:buNone/>
            </a:pPr>
            <a:r>
              <a:t/>
            </a:r>
            <a:endParaRPr b="1" i="0" sz="17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def test_post_message_</a:t>
            </a:r>
            <a:r>
              <a:rPr b="1" lang="en-US" sz="1700">
                <a:solidFill>
                  <a:srgbClr val="333344"/>
                </a:solidFill>
                <a:latin typeface="Courier New"/>
                <a:ea typeface="Courier New"/>
                <a:cs typeface="Courier New"/>
                <a:sym typeface="Courier New"/>
              </a:rPr>
              <a:t>sets</a:t>
            </a:r>
            <a:r>
              <a:rPr b="1" i="0" lang="en-US" sz="1700" u="none" cap="none" strike="noStrike">
                <a:solidFill>
                  <a:srgbClr val="333344"/>
                </a:solidFill>
                <a:latin typeface="Courier New"/>
                <a:ea typeface="Courier New"/>
                <a:cs typeface="Courier New"/>
                <a:sym typeface="Courier New"/>
              </a:rPr>
              <a:t>_timestamp(client, test_db):</a:t>
            </a:r>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    frozen = datetime(2026, 4, 11, 12, 0, 0)</a:t>
            </a:r>
            <a:endParaRPr/>
          </a:p>
          <a:p>
            <a:pPr indent="0" lvl="0" marL="0" marR="0" rtl="0" algn="l">
              <a:spcBef>
                <a:spcPts val="200"/>
              </a:spcBef>
              <a:spcAft>
                <a:spcPts val="0"/>
              </a:spcAft>
              <a:buNone/>
            </a:pPr>
            <a:r>
              <a:t/>
            </a:r>
            <a:endParaRPr b="1" i="0" sz="17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    with patch("app.datetime") as mock_dt:</a:t>
            </a:r>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        mock_dt.utcnow.return_value = frozen</a:t>
            </a:r>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        </a:t>
            </a:r>
            <a:endParaRPr/>
          </a:p>
          <a:p>
            <a:pPr indent="0" lvl="0" marL="0" marR="0" rtl="0" algn="l">
              <a:spcBef>
                <a:spcPts val="200"/>
              </a:spcBef>
              <a:spcAft>
                <a:spcPts val="0"/>
              </a:spcAft>
              <a:buNone/>
            </a:pPr>
            <a:r>
              <a:t/>
            </a:r>
            <a:endParaRPr b="1" i="0" sz="1700" u="none" cap="none" strike="noStrike">
              <a:solidFill>
                <a:srgbClr val="333344"/>
              </a:solidFill>
              <a:latin typeface="Courier New"/>
              <a:ea typeface="Courier New"/>
              <a:cs typeface="Courier New"/>
              <a:sym typeface="Courier New"/>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9" name="Shape 299"/>
        <p:cNvGrpSpPr/>
        <p:nvPr/>
      </p:nvGrpSpPr>
      <p:grpSpPr>
        <a:xfrm>
          <a:off x="0" y="0"/>
          <a:ext cx="0" cy="0"/>
          <a:chOff x="0" y="0"/>
          <a:chExt cx="0" cy="0"/>
        </a:xfrm>
      </p:grpSpPr>
      <p:sp>
        <p:nvSpPr>
          <p:cNvPr id="300" name="Google Shape;300;p19"/>
          <p:cNvSpPr txBox="1"/>
          <p:nvPr/>
        </p:nvSpPr>
        <p:spPr>
          <a:xfrm>
            <a:off x="731520" y="36576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1A2E"/>
                </a:solidFill>
                <a:latin typeface="Calibri"/>
                <a:ea typeface="Calibri"/>
                <a:cs typeface="Calibri"/>
                <a:sym typeface="Calibri"/>
              </a:rPr>
              <a:t>Freezing the clock with unittest.mock</a:t>
            </a:r>
            <a:endParaRPr/>
          </a:p>
        </p:txBody>
      </p:sp>
      <p:sp>
        <p:nvSpPr>
          <p:cNvPr id="301" name="Google Shape;301;p19"/>
          <p:cNvSpPr txBox="1"/>
          <p:nvPr/>
        </p:nvSpPr>
        <p:spPr>
          <a:xfrm>
            <a:off x="9601200" y="1188720"/>
            <a:ext cx="1828800" cy="36576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400" u="none" cap="none" strike="noStrike">
                <a:solidFill>
                  <a:srgbClr val="5B21B6"/>
                </a:solidFill>
                <a:latin typeface="Courier New"/>
                <a:ea typeface="Courier New"/>
                <a:cs typeface="Courier New"/>
                <a:sym typeface="Courier New"/>
              </a:rPr>
              <a:t>Python</a:t>
            </a:r>
            <a:endParaRPr/>
          </a:p>
        </p:txBody>
      </p:sp>
      <p:sp>
        <p:nvSpPr>
          <p:cNvPr id="302" name="Google Shape;302;p19"/>
          <p:cNvSpPr/>
          <p:nvPr/>
        </p:nvSpPr>
        <p:spPr>
          <a:xfrm>
            <a:off x="731520" y="1463040"/>
            <a:ext cx="10728655" cy="493776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3" name="Google Shape;303;p19"/>
          <p:cNvSpPr txBox="1"/>
          <p:nvPr/>
        </p:nvSpPr>
        <p:spPr>
          <a:xfrm>
            <a:off x="1005840" y="1645920"/>
            <a:ext cx="10179900" cy="4663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700" u="none" cap="none" strike="noStrike">
                <a:solidFill>
                  <a:srgbClr val="333344"/>
                </a:solidFill>
                <a:latin typeface="Courier New"/>
                <a:ea typeface="Courier New"/>
                <a:cs typeface="Courier New"/>
                <a:sym typeface="Courier New"/>
              </a:rPr>
              <a:t>from unittest.mock import patch</a:t>
            </a:r>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from datetime import datetime</a:t>
            </a:r>
            <a:endParaRPr/>
          </a:p>
          <a:p>
            <a:pPr indent="0" lvl="0" marL="0" marR="0" rtl="0" algn="l">
              <a:spcBef>
                <a:spcPts val="200"/>
              </a:spcBef>
              <a:spcAft>
                <a:spcPts val="0"/>
              </a:spcAft>
              <a:buNone/>
            </a:pPr>
            <a:r>
              <a:t/>
            </a:r>
            <a:endParaRPr b="1" i="0" sz="17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def test_post_message_</a:t>
            </a:r>
            <a:r>
              <a:rPr b="1" lang="en-US" sz="1700">
                <a:solidFill>
                  <a:srgbClr val="333344"/>
                </a:solidFill>
                <a:latin typeface="Courier New"/>
                <a:ea typeface="Courier New"/>
                <a:cs typeface="Courier New"/>
                <a:sym typeface="Courier New"/>
              </a:rPr>
              <a:t>sets</a:t>
            </a:r>
            <a:r>
              <a:rPr b="1" i="0" lang="en-US" sz="1700" u="none" cap="none" strike="noStrike">
                <a:solidFill>
                  <a:srgbClr val="333344"/>
                </a:solidFill>
                <a:latin typeface="Courier New"/>
                <a:ea typeface="Courier New"/>
                <a:cs typeface="Courier New"/>
                <a:sym typeface="Courier New"/>
              </a:rPr>
              <a:t>_timestamp(client, test_db):</a:t>
            </a:r>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    frozen = datetime(2026, 4, 11, 12, 0, 0)</a:t>
            </a:r>
            <a:endParaRPr/>
          </a:p>
          <a:p>
            <a:pPr indent="0" lvl="0" marL="0" marR="0" rtl="0" algn="l">
              <a:spcBef>
                <a:spcPts val="200"/>
              </a:spcBef>
              <a:spcAft>
                <a:spcPts val="0"/>
              </a:spcAft>
              <a:buNone/>
            </a:pPr>
            <a:r>
              <a:t/>
            </a:r>
            <a:endParaRPr b="1" i="0" sz="17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    with patch("app.datetime") as mock_dt:</a:t>
            </a:r>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        mock_dt.utcnow.return_value = frozen</a:t>
            </a:r>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        r = client.post(</a:t>
            </a:r>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            "/api/messages",</a:t>
            </a:r>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            json={"author": "alice", "text": "hi"},</a:t>
            </a:r>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        )</a:t>
            </a:r>
            <a:endParaRPr/>
          </a:p>
          <a:p>
            <a:pPr indent="0" lvl="0" marL="0" marR="0" rtl="0" algn="l">
              <a:spcBef>
                <a:spcPts val="200"/>
              </a:spcBef>
              <a:spcAft>
                <a:spcPts val="0"/>
              </a:spcAft>
              <a:buNone/>
            </a:pPr>
            <a:r>
              <a:t/>
            </a:r>
            <a:endParaRPr b="1" i="0" sz="17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    assert r.status_code == 201</a:t>
            </a:r>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    assert r.json()["timestamp"] == "2026-04-11T12:00:00Z"</a:t>
            </a:r>
            <a:endParaRPr/>
          </a:p>
          <a:p>
            <a:pPr indent="0" lvl="0" marL="0" marR="0" rtl="0" algn="l">
              <a:spcBef>
                <a:spcPts val="200"/>
              </a:spcBef>
              <a:spcAft>
                <a:spcPts val="0"/>
              </a:spcAft>
              <a:buNone/>
            </a:pPr>
            <a:r>
              <a:t/>
            </a:r>
            <a:endParaRPr b="1" i="0" sz="1700" u="none" cap="none" strike="noStrike">
              <a:solidFill>
                <a:srgbClr val="333344"/>
              </a:solidFill>
              <a:latin typeface="Courier New"/>
              <a:ea typeface="Courier New"/>
              <a:cs typeface="Courier New"/>
              <a:sym typeface="Courier New"/>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8" name="Shape 308"/>
        <p:cNvGrpSpPr/>
        <p:nvPr/>
      </p:nvGrpSpPr>
      <p:grpSpPr>
        <a:xfrm>
          <a:off x="0" y="0"/>
          <a:ext cx="0" cy="0"/>
          <a:chOff x="0" y="0"/>
          <a:chExt cx="0" cy="0"/>
        </a:xfrm>
      </p:grpSpPr>
      <p:sp>
        <p:nvSpPr>
          <p:cNvPr id="309" name="Google Shape;309;p20"/>
          <p:cNvSpPr txBox="1"/>
          <p:nvPr/>
        </p:nvSpPr>
        <p:spPr>
          <a:xfrm>
            <a:off x="731520" y="36576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When to mock (and when not to)</a:t>
            </a:r>
            <a:endParaRPr/>
          </a:p>
        </p:txBody>
      </p:sp>
      <p:sp>
        <p:nvSpPr>
          <p:cNvPr id="310" name="Google Shape;310;p20"/>
          <p:cNvSpPr txBox="1"/>
          <p:nvPr/>
        </p:nvSpPr>
        <p:spPr>
          <a:xfrm>
            <a:off x="914400" y="1212290"/>
            <a:ext cx="10362900" cy="5649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333344"/>
                </a:solidFill>
                <a:latin typeface="Calibri"/>
                <a:ea typeface="Calibri"/>
                <a:cs typeface="Calibri"/>
                <a:sym typeface="Calibri"/>
              </a:rPr>
              <a:t>Mocking is powerful. It is also the single most abused tool in testing, bar none</a:t>
            </a:r>
            <a:r>
              <a:rPr lang="en-US" sz="2400">
                <a:solidFill>
                  <a:srgbClr val="333344"/>
                </a:solidFill>
                <a:latin typeface="Calibri"/>
                <a:ea typeface="Calibri"/>
                <a:cs typeface="Calibri"/>
                <a:sym typeface="Calibri"/>
              </a:rPr>
              <a:t>.</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Over-mocked tests test NOTHING real.</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1" i="0" lang="en-US" sz="2400" u="none" cap="none" strike="noStrike">
                <a:solidFill>
                  <a:srgbClr val="333344"/>
                </a:solidFill>
                <a:latin typeface="Calibri"/>
                <a:ea typeface="Calibri"/>
                <a:cs typeface="Calibri"/>
                <a:sym typeface="Calibri"/>
              </a:rPr>
              <a:t>Mock when:</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Slow (external network call, huge file)</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Nondeterministic (clock, randomness)</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lang="en-US" sz="2000">
                <a:solidFill>
                  <a:srgbClr val="666677"/>
                </a:solidFill>
                <a:latin typeface="Calibri"/>
                <a:ea typeface="Calibri"/>
                <a:cs typeface="Calibri"/>
                <a:sym typeface="Calibri"/>
              </a:rPr>
              <a:t>U</a:t>
            </a:r>
            <a:r>
              <a:rPr b="0" i="0" lang="en-US" sz="2000" u="none" cap="none" strike="noStrike">
                <a:solidFill>
                  <a:srgbClr val="666677"/>
                </a:solidFill>
                <a:latin typeface="Calibri"/>
                <a:ea typeface="Calibri"/>
                <a:cs typeface="Calibri"/>
                <a:sym typeface="Calibri"/>
              </a:rPr>
              <a:t>navoidable side effects (emails, card charges, rate limits)</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1" i="0" lang="en-US" sz="2400" u="none" cap="none" strike="noStrike">
                <a:solidFill>
                  <a:srgbClr val="333344"/>
                </a:solidFill>
                <a:latin typeface="Calibri"/>
                <a:ea typeface="Calibri"/>
                <a:cs typeface="Calibri"/>
                <a:sym typeface="Calibri"/>
              </a:rPr>
              <a:t>Use the real thing when:</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Fast enough (in-memory SQLite, local filesystem)</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Deterministic (pure functions, standard library)</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Faking it would misrepresent the real behavior</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Default to real</a:t>
            </a:r>
            <a:r>
              <a:rPr lang="en-US" sz="2400">
                <a:solidFill>
                  <a:srgbClr val="333344"/>
                </a:solidFill>
                <a:latin typeface="Calibri"/>
                <a:ea typeface="Calibri"/>
                <a:cs typeface="Calibri"/>
                <a:sym typeface="Calibri"/>
              </a:rPr>
              <a:t>, m</a:t>
            </a:r>
            <a:r>
              <a:rPr b="0" i="0" lang="en-US" sz="2400" u="none" cap="none" strike="noStrike">
                <a:solidFill>
                  <a:srgbClr val="333344"/>
                </a:solidFill>
                <a:latin typeface="Calibri"/>
                <a:ea typeface="Calibri"/>
                <a:cs typeface="Calibri"/>
                <a:sym typeface="Calibri"/>
              </a:rPr>
              <a:t>ock only when you have a reason.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5" name="Shape 315"/>
        <p:cNvGrpSpPr/>
        <p:nvPr/>
      </p:nvGrpSpPr>
      <p:grpSpPr>
        <a:xfrm>
          <a:off x="0" y="0"/>
          <a:ext cx="0" cy="0"/>
          <a:chOff x="0" y="0"/>
          <a:chExt cx="0" cy="0"/>
        </a:xfrm>
      </p:grpSpPr>
      <p:sp>
        <p:nvSpPr>
          <p:cNvPr id="316" name="Google Shape;316;g3979b53ae3e_1_366"/>
          <p:cNvSpPr txBox="1"/>
          <p:nvPr/>
        </p:nvSpPr>
        <p:spPr>
          <a:xfrm>
            <a:off x="731520" y="365760"/>
            <a:ext cx="10728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When to mock (and when not to)</a:t>
            </a:r>
            <a:endParaRPr/>
          </a:p>
        </p:txBody>
      </p:sp>
      <p:sp>
        <p:nvSpPr>
          <p:cNvPr id="317" name="Google Shape;317;g3979b53ae3e_1_366"/>
          <p:cNvSpPr txBox="1"/>
          <p:nvPr/>
        </p:nvSpPr>
        <p:spPr>
          <a:xfrm>
            <a:off x="914400" y="1212290"/>
            <a:ext cx="10362900" cy="5649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333344"/>
                </a:solidFill>
                <a:latin typeface="Calibri"/>
                <a:ea typeface="Calibri"/>
                <a:cs typeface="Calibri"/>
                <a:sym typeface="Calibri"/>
              </a:rPr>
              <a:t>Mocking is powerful. It is also the single most abused tool in testing, bar none</a:t>
            </a:r>
            <a:r>
              <a:rPr lang="en-US" sz="2400">
                <a:solidFill>
                  <a:srgbClr val="333344"/>
                </a:solidFill>
                <a:latin typeface="Calibri"/>
                <a:ea typeface="Calibri"/>
                <a:cs typeface="Calibri"/>
                <a:sym typeface="Calibri"/>
              </a:rPr>
              <a:t>.</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Over-mocked tests test NOTHING real.</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1" i="0" lang="en-US" sz="2400" u="none" cap="none" strike="noStrike">
                <a:solidFill>
                  <a:srgbClr val="333344"/>
                </a:solidFill>
                <a:latin typeface="Calibri"/>
                <a:ea typeface="Calibri"/>
                <a:cs typeface="Calibri"/>
                <a:sym typeface="Calibri"/>
              </a:rPr>
              <a:t>Mock when:</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Slow (external network call, huge file)</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Nondeterministic (clock, randomness)</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Has side effects (emails, card charges, rate limits)</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1" i="0" lang="en-US" sz="2400" u="none" cap="none" strike="noStrike">
                <a:solidFill>
                  <a:srgbClr val="333344"/>
                </a:solidFill>
                <a:latin typeface="Calibri"/>
                <a:ea typeface="Calibri"/>
                <a:cs typeface="Calibri"/>
                <a:sym typeface="Calibri"/>
              </a:rPr>
              <a:t>Use the real thing when:</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Fast enough (in-memory SQLite, local filesystem)</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Deterministic (pure functions, standard library)</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Faking it would misrepresent the real behavior</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Default to real</a:t>
            </a:r>
            <a:r>
              <a:rPr lang="en-US" sz="2400">
                <a:solidFill>
                  <a:srgbClr val="333344"/>
                </a:solidFill>
                <a:latin typeface="Calibri"/>
                <a:ea typeface="Calibri"/>
                <a:cs typeface="Calibri"/>
                <a:sym typeface="Calibri"/>
              </a:rPr>
              <a:t>, m</a:t>
            </a:r>
            <a:r>
              <a:rPr b="0" i="0" lang="en-US" sz="2400" u="none" cap="none" strike="noStrike">
                <a:solidFill>
                  <a:srgbClr val="333344"/>
                </a:solidFill>
                <a:latin typeface="Calibri"/>
                <a:ea typeface="Calibri"/>
                <a:cs typeface="Calibri"/>
                <a:sym typeface="Calibri"/>
              </a:rPr>
              <a:t>ock only when you have a reason.</a:t>
            </a:r>
            <a:endParaRPr/>
          </a:p>
        </p:txBody>
      </p:sp>
      <p:sp>
        <p:nvSpPr>
          <p:cNvPr id="318" name="Google Shape;318;g3979b53ae3e_1_366"/>
          <p:cNvSpPr txBox="1"/>
          <p:nvPr/>
        </p:nvSpPr>
        <p:spPr>
          <a:xfrm>
            <a:off x="677100" y="2914650"/>
            <a:ext cx="10600200" cy="224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8500">
                <a:solidFill>
                  <a:srgbClr val="FF0000"/>
                </a:solidFill>
                <a:latin typeface="Impact"/>
                <a:ea typeface="Impact"/>
                <a:cs typeface="Impact"/>
                <a:sym typeface="Impact"/>
              </a:rPr>
              <a:t>CLAUDE LOVES MOCKS</a:t>
            </a:r>
            <a:endParaRPr b="1" sz="8500">
              <a:solidFill>
                <a:srgbClr val="FF0000"/>
              </a:solidFill>
              <a:latin typeface="Impact"/>
              <a:ea typeface="Impact"/>
              <a:cs typeface="Impact"/>
              <a:sym typeface="Impact"/>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3" name="Shape 323"/>
        <p:cNvGrpSpPr/>
        <p:nvPr/>
      </p:nvGrpSpPr>
      <p:grpSpPr>
        <a:xfrm>
          <a:off x="0" y="0"/>
          <a:ext cx="0" cy="0"/>
          <a:chOff x="0" y="0"/>
          <a:chExt cx="0" cy="0"/>
        </a:xfrm>
      </p:grpSpPr>
      <p:sp>
        <p:nvSpPr>
          <p:cNvPr id="324" name="Google Shape;324;p21"/>
          <p:cNvSpPr txBox="1"/>
          <p:nvPr/>
        </p:nvSpPr>
        <p:spPr>
          <a:xfrm>
            <a:off x="731520" y="274320"/>
            <a:ext cx="10728600"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FFFFFF"/>
                </a:solidFill>
                <a:latin typeface="Calibri"/>
                <a:ea typeface="Calibri"/>
                <a:cs typeface="Calibri"/>
                <a:sym typeface="Calibri"/>
              </a:rPr>
              <a:t>TRY IT  </a:t>
            </a:r>
            <a:endParaRPr/>
          </a:p>
          <a:p>
            <a:pPr indent="0" lvl="0" marL="0" marR="0" rtl="0" algn="l">
              <a:spcBef>
                <a:spcPts val="0"/>
              </a:spcBef>
              <a:spcAft>
                <a:spcPts val="0"/>
              </a:spcAft>
              <a:buNone/>
            </a:pPr>
            <a:r>
              <a:rPr b="1" lang="en-US" sz="3000">
                <a:solidFill>
                  <a:srgbClr val="1A1A2E"/>
                </a:solidFill>
                <a:latin typeface="Calibri"/>
                <a:ea typeface="Calibri"/>
                <a:cs typeface="Calibri"/>
                <a:sym typeface="Calibri"/>
              </a:rPr>
              <a:t>Write the test: POST /api/messages</a:t>
            </a:r>
            <a:endParaRPr/>
          </a:p>
        </p:txBody>
      </p:sp>
      <p:sp>
        <p:nvSpPr>
          <p:cNvPr id="325" name="Google Shape;325;p21"/>
          <p:cNvSpPr/>
          <p:nvPr/>
        </p:nvSpPr>
        <p:spPr>
          <a:xfrm>
            <a:off x="640080" y="228600"/>
            <a:ext cx="1097400" cy="365700"/>
          </a:xfrm>
          <a:prstGeom prst="roundRect">
            <a:avLst>
              <a:gd fmla="val 16667" name="adj"/>
            </a:avLst>
          </a:prstGeom>
          <a:solidFill>
            <a:srgbClr val="5B21B6"/>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26" name="Google Shape;326;p21"/>
          <p:cNvSpPr/>
          <p:nvPr/>
        </p:nvSpPr>
        <p:spPr>
          <a:xfrm>
            <a:off x="731520" y="1371600"/>
            <a:ext cx="10728600" cy="502920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27" name="Google Shape;327;p21"/>
          <p:cNvSpPr txBox="1"/>
          <p:nvPr/>
        </p:nvSpPr>
        <p:spPr>
          <a:xfrm>
            <a:off x="1005840" y="1554480"/>
            <a:ext cx="10179900" cy="4663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300">
                <a:solidFill>
                  <a:srgbClr val="333344"/>
                </a:solidFill>
                <a:latin typeface="Courier New"/>
                <a:ea typeface="Courier New"/>
                <a:cs typeface="Courier New"/>
                <a:sym typeface="Courier New"/>
              </a:rPr>
              <a:t># Using the `client` and `test_db` fixtures from conftest.py,</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write an integration test for POST /api/messages.</a:t>
            </a:r>
            <a:endParaRPr/>
          </a:p>
          <a:p>
            <a:pPr indent="0" lvl="0" marL="0" marR="0" rtl="0" algn="l">
              <a:spcBef>
                <a:spcPts val="200"/>
              </a:spcBef>
              <a:spcAft>
                <a:spcPts val="0"/>
              </a:spcAft>
              <a:buNone/>
            </a:pPr>
            <a:r>
              <a:t/>
            </a:r>
            <a:endParaRPr b="1" sz="1300">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def test_post_creates_new_message(client, test_db):</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 Arrange: confirm the database starts empty</a:t>
            </a:r>
            <a:endParaRPr/>
          </a:p>
          <a:p>
            <a:pPr indent="0" lvl="0" marL="0" marR="0" rtl="0" algn="l">
              <a:spcBef>
                <a:spcPts val="200"/>
              </a:spcBef>
              <a:spcAft>
                <a:spcPts val="0"/>
              </a:spcAft>
              <a:buNone/>
            </a:pPr>
            <a:r>
              <a:rPr b="1" lang="en-US" sz="1300">
                <a:solidFill>
                  <a:srgbClr val="B0B0C0"/>
                </a:solidFill>
                <a:latin typeface="Courier New"/>
                <a:ea typeface="Courier New"/>
                <a:cs typeface="Courier New"/>
                <a:sym typeface="Courier New"/>
              </a:rPr>
              <a:t>    assert client.get("/api/messages").json() == ________</a:t>
            </a:r>
            <a:endParaRPr/>
          </a:p>
          <a:p>
            <a:pPr indent="0" lvl="0" marL="0" marR="0" rtl="0" algn="l">
              <a:spcBef>
                <a:spcPts val="200"/>
              </a:spcBef>
              <a:spcAft>
                <a:spcPts val="0"/>
              </a:spcAft>
              <a:buNone/>
            </a:pPr>
            <a:r>
              <a:t/>
            </a:r>
            <a:endParaRPr b="1" sz="1300">
              <a:solidFill>
                <a:srgbClr val="B0B0C0"/>
              </a:solidFill>
              <a:latin typeface="Courier New"/>
              <a:ea typeface="Courier New"/>
              <a:cs typeface="Courier New"/>
              <a:sym typeface="Courier New"/>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 Act: post a new message</a:t>
            </a:r>
            <a:endParaRPr/>
          </a:p>
          <a:p>
            <a:pPr indent="0" lvl="0" marL="0" marR="0" rtl="0" algn="l">
              <a:spcBef>
                <a:spcPts val="200"/>
              </a:spcBef>
              <a:spcAft>
                <a:spcPts val="0"/>
              </a:spcAft>
              <a:buNone/>
            </a:pPr>
            <a:r>
              <a:rPr b="1" lang="en-US" sz="1300">
                <a:solidFill>
                  <a:srgbClr val="B0B0C0"/>
                </a:solidFill>
                <a:latin typeface="Courier New"/>
                <a:ea typeface="Courier New"/>
                <a:cs typeface="Courier New"/>
                <a:sym typeface="Courier New"/>
              </a:rPr>
              <a:t>    r = client.post("/api/messages", json=________)</a:t>
            </a:r>
            <a:endParaRPr/>
          </a:p>
          <a:p>
            <a:pPr indent="0" lvl="0" marL="0" marR="0" rtl="0" algn="l">
              <a:spcBef>
                <a:spcPts val="200"/>
              </a:spcBef>
              <a:spcAft>
                <a:spcPts val="0"/>
              </a:spcAft>
              <a:buNone/>
            </a:pPr>
            <a:r>
              <a:t/>
            </a:r>
            <a:endParaRPr b="1" sz="1300">
              <a:solidFill>
                <a:srgbClr val="B0B0C0"/>
              </a:solidFill>
              <a:latin typeface="Courier New"/>
              <a:ea typeface="Courier New"/>
              <a:cs typeface="Courier New"/>
              <a:sym typeface="Courier New"/>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 Assert: response</a:t>
            </a:r>
            <a:endParaRPr/>
          </a:p>
          <a:p>
            <a:pPr indent="0" lvl="0" marL="0" marR="0" rtl="0" algn="l">
              <a:spcBef>
                <a:spcPts val="200"/>
              </a:spcBef>
              <a:spcAft>
                <a:spcPts val="0"/>
              </a:spcAft>
              <a:buNone/>
            </a:pPr>
            <a:r>
              <a:rPr b="1" lang="en-US" sz="1300">
                <a:solidFill>
                  <a:srgbClr val="B0B0C0"/>
                </a:solidFill>
                <a:latin typeface="Courier New"/>
                <a:ea typeface="Courier New"/>
                <a:cs typeface="Courier New"/>
                <a:sym typeface="Courier New"/>
              </a:rPr>
              <a:t>    assert r.status_code == ________</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body = r.json()</a:t>
            </a:r>
            <a:endParaRPr/>
          </a:p>
          <a:p>
            <a:pPr indent="0" lvl="0" marL="0" marR="0" rtl="0" algn="l">
              <a:spcBef>
                <a:spcPts val="200"/>
              </a:spcBef>
              <a:spcAft>
                <a:spcPts val="0"/>
              </a:spcAft>
              <a:buNone/>
            </a:pPr>
            <a:r>
              <a:rPr b="1" lang="en-US" sz="1300">
                <a:solidFill>
                  <a:srgbClr val="B0B0C0"/>
                </a:solidFill>
                <a:latin typeface="Courier New"/>
                <a:ea typeface="Courier New"/>
                <a:cs typeface="Courier New"/>
                <a:sym typeface="Courier New"/>
              </a:rPr>
              <a:t>    assert body["author"] == ________</a:t>
            </a:r>
            <a:endParaRPr/>
          </a:p>
          <a:p>
            <a:pPr indent="0" lvl="0" marL="0" marR="0" rtl="0" algn="l">
              <a:spcBef>
                <a:spcPts val="200"/>
              </a:spcBef>
              <a:spcAft>
                <a:spcPts val="0"/>
              </a:spcAft>
              <a:buNone/>
            </a:pPr>
            <a:r>
              <a:rPr b="1" lang="en-US" sz="1300">
                <a:solidFill>
                  <a:srgbClr val="B0B0C0"/>
                </a:solidFill>
                <a:latin typeface="Courier New"/>
                <a:ea typeface="Courier New"/>
                <a:cs typeface="Courier New"/>
                <a:sym typeface="Courier New"/>
              </a:rPr>
              <a:t>    assert body["text"] == ________</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assert "id" in body and "timestamp" in body</a:t>
            </a:r>
            <a:endParaRPr/>
          </a:p>
          <a:p>
            <a:pPr indent="0" lvl="0" marL="0" marR="0" rtl="0" algn="l">
              <a:spcBef>
                <a:spcPts val="200"/>
              </a:spcBef>
              <a:spcAft>
                <a:spcPts val="0"/>
              </a:spcAft>
              <a:buNone/>
            </a:pPr>
            <a:r>
              <a:t/>
            </a:r>
            <a:endParaRPr b="1" sz="1300">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 Assert: persisted state</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all_msgs = client.get("/api/messages").json()</a:t>
            </a:r>
            <a:endParaRPr/>
          </a:p>
          <a:p>
            <a:pPr indent="0" lvl="0" marL="0" marR="0" rtl="0" algn="l">
              <a:spcBef>
                <a:spcPts val="200"/>
              </a:spcBef>
              <a:spcAft>
                <a:spcPts val="0"/>
              </a:spcAft>
              <a:buNone/>
            </a:pPr>
            <a:r>
              <a:rPr b="1" lang="en-US" sz="1300">
                <a:solidFill>
                  <a:srgbClr val="B0B0C0"/>
                </a:solidFill>
                <a:latin typeface="Courier New"/>
                <a:ea typeface="Courier New"/>
                <a:cs typeface="Courier New"/>
                <a:sym typeface="Courier New"/>
              </a:rPr>
              <a:t>    assert len(all_msgs) == ________</a:t>
            </a:r>
            <a:endParaRPr/>
          </a:p>
          <a:p>
            <a:pPr indent="0" lvl="0" marL="0" marR="0" rtl="0" algn="l">
              <a:spcBef>
                <a:spcPts val="200"/>
              </a:spcBef>
              <a:spcAft>
                <a:spcPts val="0"/>
              </a:spcAft>
              <a:buNone/>
            </a:pPr>
            <a:r>
              <a:rPr b="1" lang="en-US" sz="1300">
                <a:solidFill>
                  <a:srgbClr val="B0B0C0"/>
                </a:solidFill>
                <a:latin typeface="Courier New"/>
                <a:ea typeface="Courier New"/>
                <a:cs typeface="Courier New"/>
                <a:sym typeface="Courier New"/>
              </a:rPr>
              <a:t>    assert all_msgs[0]["id"] == ________</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9FE"/>
        </a:solidFill>
      </p:bgPr>
    </p:bg>
    <p:spTree>
      <p:nvGrpSpPr>
        <p:cNvPr id="332" name="Shape 332"/>
        <p:cNvGrpSpPr/>
        <p:nvPr/>
      </p:nvGrpSpPr>
      <p:grpSpPr>
        <a:xfrm>
          <a:off x="0" y="0"/>
          <a:ext cx="0" cy="0"/>
          <a:chOff x="0" y="0"/>
          <a:chExt cx="0" cy="0"/>
        </a:xfrm>
      </p:grpSpPr>
      <p:sp>
        <p:nvSpPr>
          <p:cNvPr id="333" name="Google Shape;333;g3979b53ae3e_1_81"/>
          <p:cNvSpPr txBox="1"/>
          <p:nvPr/>
        </p:nvSpPr>
        <p:spPr>
          <a:xfrm>
            <a:off x="914400" y="2286000"/>
            <a:ext cx="10362900" cy="769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4400">
                <a:solidFill>
                  <a:srgbClr val="5B21B6"/>
                </a:solidFill>
                <a:latin typeface="Calibri"/>
                <a:ea typeface="Calibri"/>
                <a:cs typeface="Calibri"/>
                <a:sym typeface="Calibri"/>
              </a:rPr>
              <a:t>When Tests Aren't Enough</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8" name="Shape 338"/>
        <p:cNvGrpSpPr/>
        <p:nvPr/>
      </p:nvGrpSpPr>
      <p:grpSpPr>
        <a:xfrm>
          <a:off x="0" y="0"/>
          <a:ext cx="0" cy="0"/>
          <a:chOff x="0" y="0"/>
          <a:chExt cx="0" cy="0"/>
        </a:xfrm>
      </p:grpSpPr>
      <p:sp>
        <p:nvSpPr>
          <p:cNvPr id="339" name="Google Shape;339;g3979b53ae3e_1_86"/>
          <p:cNvSpPr txBox="1"/>
          <p:nvPr/>
        </p:nvSpPr>
        <p:spPr>
          <a:xfrm>
            <a:off x="731520" y="365760"/>
            <a:ext cx="10728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rgbClr val="1A1A2E"/>
                </a:solidFill>
                <a:latin typeface="Calibri"/>
                <a:ea typeface="Calibri"/>
                <a:cs typeface="Calibri"/>
                <a:sym typeface="Calibri"/>
              </a:rPr>
              <a:t>Your tests run in dev. Prod needs something else.</a:t>
            </a:r>
            <a:endParaRPr/>
          </a:p>
        </p:txBody>
      </p:sp>
      <p:sp>
        <p:nvSpPr>
          <p:cNvPr id="340" name="Google Shape;340;g3979b53ae3e_1_86"/>
          <p:cNvSpPr txBox="1"/>
          <p:nvPr/>
        </p:nvSpPr>
        <p:spPr>
          <a:xfrm>
            <a:off x="914400" y="1463040"/>
            <a:ext cx="10362900" cy="5002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2400">
                <a:solidFill>
                  <a:srgbClr val="333344"/>
                </a:solidFill>
                <a:latin typeface="Calibri"/>
                <a:ea typeface="Calibri"/>
                <a:cs typeface="Calibri"/>
                <a:sym typeface="Calibri"/>
              </a:rPr>
              <a:t>User reports: "I posted a message and it never showed up."</a:t>
            </a:r>
            <a:endParaRPr/>
          </a:p>
          <a:p>
            <a:pPr indent="0" lvl="0" marL="0" marR="0" rtl="0" algn="l">
              <a:spcBef>
                <a:spcPts val="600"/>
              </a:spcBef>
              <a:spcAft>
                <a:spcPts val="0"/>
              </a:spcAft>
              <a:buNone/>
            </a:pPr>
            <a:r>
              <a:t/>
            </a:r>
            <a:endParaRPr b="0" sz="2400">
              <a:solidFill>
                <a:srgbClr val="333344"/>
              </a:solidFill>
              <a:latin typeface="Calibri"/>
              <a:ea typeface="Calibri"/>
              <a:cs typeface="Calibri"/>
              <a:sym typeface="Calibri"/>
            </a:endParaRPr>
          </a:p>
          <a:p>
            <a:pPr indent="0" lvl="0" marL="0" marR="0" rtl="0" algn="l">
              <a:spcBef>
                <a:spcPts val="600"/>
              </a:spcBef>
              <a:spcAft>
                <a:spcPts val="0"/>
              </a:spcAft>
              <a:buNone/>
            </a:pPr>
            <a:r>
              <a:rPr b="0" lang="en-US" sz="2400">
                <a:solidFill>
                  <a:srgbClr val="333344"/>
                </a:solidFill>
                <a:latin typeface="Calibri"/>
                <a:ea typeface="Calibri"/>
                <a:cs typeface="Calibri"/>
                <a:sym typeface="Calibri"/>
              </a:rPr>
              <a:t>What do you actually do to investigate?</a:t>
            </a:r>
            <a:endParaRPr/>
          </a:p>
          <a:p>
            <a:pPr indent="0" lvl="0" marL="0" marR="0" rtl="0" algn="l">
              <a:spcBef>
                <a:spcPts val="600"/>
              </a:spcBef>
              <a:spcAft>
                <a:spcPts val="0"/>
              </a:spcAft>
              <a:buNone/>
            </a:pPr>
            <a:r>
              <a:t/>
            </a:r>
            <a:endParaRPr b="0" sz="2400">
              <a:solidFill>
                <a:srgbClr val="333344"/>
              </a:solidFill>
              <a:latin typeface="Calibri"/>
              <a:ea typeface="Calibri"/>
              <a:cs typeface="Calibri"/>
              <a:sym typeface="Calibri"/>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You can't attach a debugger. The request ended minutes ago.</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You can't re-run it. The database state has moved on.</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You can't ask them to reproduce. They've closed the tab.</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lang="en-US" sz="2400">
                <a:solidFill>
                  <a:srgbClr val="333344"/>
                </a:solidFill>
                <a:latin typeface="Calibri"/>
                <a:ea typeface="Calibri"/>
                <a:cs typeface="Calibri"/>
                <a:sym typeface="Calibri"/>
              </a:rPr>
              <a:t>What you need is a </a:t>
            </a:r>
            <a:r>
              <a:rPr b="1" lang="en-US" sz="2400">
                <a:solidFill>
                  <a:srgbClr val="333344"/>
                </a:solidFill>
                <a:latin typeface="Calibri"/>
                <a:ea typeface="Calibri"/>
                <a:cs typeface="Calibri"/>
                <a:sym typeface="Calibri"/>
              </a:rPr>
              <a:t>record of what happened</a:t>
            </a:r>
            <a:r>
              <a:rPr b="0" lang="en-US" sz="2400">
                <a:solidFill>
                  <a:srgbClr val="333344"/>
                </a:solidFill>
                <a:latin typeface="Calibri"/>
                <a:ea typeface="Calibri"/>
                <a:cs typeface="Calibri"/>
                <a:sym typeface="Calibri"/>
              </a:rPr>
              <a:t> while it was</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happening. Written down at the time, automatically.</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lang="en-US" sz="2400">
                <a:solidFill>
                  <a:srgbClr val="333344"/>
                </a:solidFill>
                <a:latin typeface="Calibri"/>
                <a:ea typeface="Calibri"/>
                <a:cs typeface="Calibri"/>
                <a:sym typeface="Calibri"/>
              </a:rPr>
              <a:t>That record is called a </a:t>
            </a:r>
            <a:r>
              <a:rPr b="1" lang="en-US" sz="2400">
                <a:solidFill>
                  <a:srgbClr val="333344"/>
                </a:solidFill>
                <a:latin typeface="Calibri"/>
                <a:ea typeface="Calibri"/>
                <a:cs typeface="Calibri"/>
                <a:sym typeface="Calibri"/>
              </a:rPr>
              <a:t>log</a:t>
            </a:r>
            <a:r>
              <a:rPr b="0" lang="en-US" sz="2400">
                <a:solidFill>
                  <a:srgbClr val="333344"/>
                </a:solidFill>
                <a:latin typeface="Calibri"/>
                <a:ea typeface="Calibri"/>
                <a:cs typeface="Calibri"/>
                <a:sym typeface="Calibri"/>
              </a:rPr>
              <a:t>.</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5" name="Shape 345"/>
        <p:cNvGrpSpPr/>
        <p:nvPr/>
      </p:nvGrpSpPr>
      <p:grpSpPr>
        <a:xfrm>
          <a:off x="0" y="0"/>
          <a:ext cx="0" cy="0"/>
          <a:chOff x="0" y="0"/>
          <a:chExt cx="0" cy="0"/>
        </a:xfrm>
      </p:grpSpPr>
      <p:sp>
        <p:nvSpPr>
          <p:cNvPr id="346" name="Google Shape;346;g3979b53ae3e_1_92"/>
          <p:cNvSpPr txBox="1"/>
          <p:nvPr/>
        </p:nvSpPr>
        <p:spPr>
          <a:xfrm>
            <a:off x="731520" y="365760"/>
            <a:ext cx="10728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rgbClr val="1A1A2E"/>
                </a:solidFill>
                <a:latin typeface="Calibri"/>
                <a:ea typeface="Calibri"/>
                <a:cs typeface="Calibri"/>
                <a:sym typeface="Calibri"/>
              </a:rPr>
              <a:t>`</a:t>
            </a:r>
            <a:r>
              <a:rPr b="1" lang="en-US" sz="3600">
                <a:solidFill>
                  <a:srgbClr val="1A1A2E"/>
                </a:solidFill>
                <a:latin typeface="Courier Prime"/>
                <a:ea typeface="Courier Prime"/>
                <a:cs typeface="Courier Prime"/>
                <a:sym typeface="Courier Prime"/>
              </a:rPr>
              <a:t>print()</a:t>
            </a:r>
            <a:r>
              <a:rPr b="1" lang="en-US" sz="3600">
                <a:solidFill>
                  <a:srgbClr val="1A1A2E"/>
                </a:solidFill>
                <a:latin typeface="Calibri"/>
                <a:ea typeface="Calibri"/>
                <a:cs typeface="Calibri"/>
                <a:sym typeface="Calibri"/>
              </a:rPr>
              <a:t>` is not logging</a:t>
            </a:r>
            <a:endParaRPr/>
          </a:p>
        </p:txBody>
      </p:sp>
      <p:sp>
        <p:nvSpPr>
          <p:cNvPr id="347" name="Google Shape;347;g3979b53ae3e_1_92"/>
          <p:cNvSpPr txBox="1"/>
          <p:nvPr/>
        </p:nvSpPr>
        <p:spPr>
          <a:xfrm>
            <a:off x="914400" y="1463040"/>
            <a:ext cx="10362900" cy="5002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2400">
                <a:solidFill>
                  <a:srgbClr val="333344"/>
                </a:solidFill>
                <a:latin typeface="Calibri"/>
                <a:ea typeface="Calibri"/>
                <a:cs typeface="Calibri"/>
                <a:sym typeface="Calibri"/>
              </a:rPr>
              <a:t>Every first instinct in production: sprinkle `</a:t>
            </a:r>
            <a:r>
              <a:rPr b="1" lang="en-US" sz="2400">
                <a:solidFill>
                  <a:srgbClr val="333344"/>
                </a:solidFill>
                <a:latin typeface="Courier Prime"/>
                <a:ea typeface="Courier Prime"/>
                <a:cs typeface="Courier Prime"/>
                <a:sym typeface="Courier Prime"/>
              </a:rPr>
              <a:t>print()</a:t>
            </a:r>
            <a:r>
              <a:rPr b="0" lang="en-US" sz="2400">
                <a:solidFill>
                  <a:srgbClr val="333344"/>
                </a:solidFill>
                <a:latin typeface="Calibri"/>
                <a:ea typeface="Calibri"/>
                <a:cs typeface="Calibri"/>
                <a:sym typeface="Calibri"/>
              </a:rPr>
              <a:t>` calls.</a:t>
            </a:r>
            <a:endParaRPr/>
          </a:p>
          <a:p>
            <a:pPr indent="0" lvl="0" marL="0" marR="0" rtl="0" algn="l">
              <a:spcBef>
                <a:spcPts val="600"/>
              </a:spcBef>
              <a:spcAft>
                <a:spcPts val="0"/>
              </a:spcAft>
              <a:buNone/>
            </a:pPr>
            <a:r>
              <a:t/>
            </a:r>
            <a:endParaRPr b="0" sz="2400">
              <a:solidFill>
                <a:srgbClr val="333344"/>
              </a:solidFill>
              <a:latin typeface="Calibri"/>
              <a:ea typeface="Calibri"/>
              <a:cs typeface="Calibri"/>
              <a:sym typeface="Calibri"/>
            </a:endParaRPr>
          </a:p>
          <a:p>
            <a:pPr indent="0" lvl="0" marL="0" marR="0" rtl="0" algn="l">
              <a:spcBef>
                <a:spcPts val="600"/>
              </a:spcBef>
              <a:spcAft>
                <a:spcPts val="0"/>
              </a:spcAft>
              <a:buNone/>
            </a:pPr>
            <a:r>
              <a:rPr b="0" lang="en-US" sz="2400">
                <a:solidFill>
                  <a:srgbClr val="333344"/>
                </a:solidFill>
                <a:latin typeface="Calibri"/>
                <a:ea typeface="Calibri"/>
                <a:cs typeface="Calibri"/>
                <a:sym typeface="Calibri"/>
              </a:rPr>
              <a:t>`</a:t>
            </a:r>
            <a:r>
              <a:rPr b="1" lang="en-US" sz="2400">
                <a:solidFill>
                  <a:srgbClr val="333344"/>
                </a:solidFill>
                <a:latin typeface="Courier Prime"/>
                <a:ea typeface="Courier Prime"/>
                <a:cs typeface="Courier Prime"/>
                <a:sym typeface="Courier Prime"/>
              </a:rPr>
              <a:t>print()</a:t>
            </a:r>
            <a:r>
              <a:rPr b="0" lang="en-US" sz="2400">
                <a:solidFill>
                  <a:srgbClr val="333344"/>
                </a:solidFill>
                <a:latin typeface="Calibri"/>
                <a:ea typeface="Calibri"/>
                <a:cs typeface="Calibri"/>
                <a:sym typeface="Calibri"/>
              </a:rPr>
              <a:t>` has the wrong defaults everywhere it counts:</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No timestamp (when did this happen?)</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No severity (is this informational or on fire?)</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No source (which module? which request?)</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No structure, just bytes to stdout</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Can't be filtered, silenced, or redirected cleanly</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lang="en-US" sz="2400">
                <a:solidFill>
                  <a:srgbClr val="333344"/>
                </a:solidFill>
                <a:latin typeface="Calibri"/>
                <a:ea typeface="Calibri"/>
                <a:cs typeface="Calibri"/>
                <a:sym typeface="Calibri"/>
              </a:rPr>
              <a:t>Python's stdlib `</a:t>
            </a:r>
            <a:r>
              <a:rPr b="1" lang="en-US" sz="2400">
                <a:solidFill>
                  <a:srgbClr val="333344"/>
                </a:solidFill>
                <a:latin typeface="Courier Prime"/>
                <a:ea typeface="Courier Prime"/>
                <a:cs typeface="Courier Prime"/>
                <a:sym typeface="Courier Prime"/>
              </a:rPr>
              <a:t>logging</a:t>
            </a:r>
            <a:r>
              <a:rPr b="0" lang="en-US" sz="2400">
                <a:solidFill>
                  <a:srgbClr val="333344"/>
                </a:solidFill>
                <a:latin typeface="Calibri"/>
                <a:ea typeface="Calibri"/>
                <a:cs typeface="Calibri"/>
                <a:sym typeface="Calibri"/>
              </a:rPr>
              <a:t>` module gives you all of that for free.</a:t>
            </a:r>
            <a:endParaRPr/>
          </a:p>
          <a:p>
            <a:pPr indent="0" lvl="0" marL="0" marR="0" rtl="0" algn="l">
              <a:spcBef>
                <a:spcPts val="600"/>
              </a:spcBef>
              <a:spcAft>
                <a:spcPts val="0"/>
              </a:spcAft>
              <a:buNone/>
            </a:pPr>
            <a:r>
              <a:t/>
            </a:r>
            <a:endParaRPr b="0" sz="2400">
              <a:solidFill>
                <a:srgbClr val="333344"/>
              </a:solidFill>
              <a:latin typeface="Calibri"/>
              <a:ea typeface="Calibri"/>
              <a:cs typeface="Calibri"/>
              <a:sym typeface="Calibri"/>
            </a:endParaRPr>
          </a:p>
          <a:p>
            <a:pPr indent="0" lvl="0" marL="0" marR="0" rtl="0" algn="l">
              <a:spcBef>
                <a:spcPts val="600"/>
              </a:spcBef>
              <a:spcAft>
                <a:spcPts val="0"/>
              </a:spcAft>
              <a:buNone/>
            </a:pPr>
            <a:r>
              <a:rPr b="0" lang="en-US" sz="2400">
                <a:solidFill>
                  <a:srgbClr val="333344"/>
                </a:solidFill>
                <a:latin typeface="Calibri"/>
                <a:ea typeface="Calibri"/>
                <a:cs typeface="Calibri"/>
                <a:sym typeface="Calibri"/>
              </a:rPr>
              <a:t>Same ergonomics as `</a:t>
            </a:r>
            <a:r>
              <a:rPr b="1" lang="en-US" sz="2400">
                <a:solidFill>
                  <a:srgbClr val="333344"/>
                </a:solidFill>
                <a:latin typeface="Courier Prime"/>
                <a:ea typeface="Courier Prime"/>
                <a:cs typeface="Courier Prime"/>
                <a:sym typeface="Courier Prime"/>
              </a:rPr>
              <a:t>print</a:t>
            </a:r>
            <a:r>
              <a:rPr b="0" lang="en-US" sz="2400">
                <a:solidFill>
                  <a:srgbClr val="333344"/>
                </a:solidFill>
                <a:latin typeface="Calibri"/>
                <a:ea typeface="Calibri"/>
                <a:cs typeface="Calibri"/>
                <a:sym typeface="Calibri"/>
              </a:rPr>
              <a:t>`</a:t>
            </a:r>
            <a:r>
              <a:rPr lang="en-US" sz="2400">
                <a:solidFill>
                  <a:srgbClr val="333344"/>
                </a:solidFill>
                <a:latin typeface="Calibri"/>
                <a:ea typeface="Calibri"/>
                <a:cs typeface="Calibri"/>
                <a:sym typeface="Calibri"/>
              </a:rPr>
              <a:t> with b</a:t>
            </a:r>
            <a:r>
              <a:rPr b="0" lang="en-US" sz="2400">
                <a:solidFill>
                  <a:srgbClr val="333344"/>
                </a:solidFill>
                <a:latin typeface="Calibri"/>
                <a:ea typeface="Calibri"/>
                <a:cs typeface="Calibri"/>
                <a:sym typeface="Calibri"/>
              </a:rPr>
              <a:t>etter defaults</a:t>
            </a:r>
            <a:r>
              <a:rPr lang="en-US" sz="2400">
                <a:solidFill>
                  <a:srgbClr val="333344"/>
                </a:solidFill>
                <a:latin typeface="Calibri"/>
                <a:ea typeface="Calibri"/>
                <a:cs typeface="Calibri"/>
                <a:sym typeface="Calibri"/>
              </a:rPr>
              <a:t>.</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2" name="Shape 352"/>
        <p:cNvGrpSpPr/>
        <p:nvPr/>
      </p:nvGrpSpPr>
      <p:grpSpPr>
        <a:xfrm>
          <a:off x="0" y="0"/>
          <a:ext cx="0" cy="0"/>
          <a:chOff x="0" y="0"/>
          <a:chExt cx="0" cy="0"/>
        </a:xfrm>
      </p:grpSpPr>
      <p:sp>
        <p:nvSpPr>
          <p:cNvPr id="353" name="Google Shape;353;g3979b53ae3e_1_98"/>
          <p:cNvSpPr txBox="1"/>
          <p:nvPr/>
        </p:nvSpPr>
        <p:spPr>
          <a:xfrm>
            <a:off x="731520" y="365760"/>
            <a:ext cx="107286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1A1A2E"/>
                </a:solidFill>
                <a:latin typeface="Calibri"/>
                <a:ea typeface="Calibri"/>
                <a:cs typeface="Calibri"/>
                <a:sym typeface="Calibri"/>
              </a:rPr>
              <a:t>Hello, logging</a:t>
            </a:r>
            <a:endParaRPr/>
          </a:p>
        </p:txBody>
      </p:sp>
      <p:sp>
        <p:nvSpPr>
          <p:cNvPr id="354" name="Google Shape;354;g3979b53ae3e_1_98"/>
          <p:cNvSpPr txBox="1"/>
          <p:nvPr/>
        </p:nvSpPr>
        <p:spPr>
          <a:xfrm>
            <a:off x="9601200" y="1188720"/>
            <a:ext cx="1828800" cy="3078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lang="en-US" sz="1400">
                <a:solidFill>
                  <a:srgbClr val="5B21B6"/>
                </a:solidFill>
                <a:latin typeface="Courier New"/>
                <a:ea typeface="Courier New"/>
                <a:cs typeface="Courier New"/>
                <a:sym typeface="Courier New"/>
              </a:rPr>
              <a:t>Python</a:t>
            </a:r>
            <a:endParaRPr/>
          </a:p>
        </p:txBody>
      </p:sp>
      <p:sp>
        <p:nvSpPr>
          <p:cNvPr id="355" name="Google Shape;355;g3979b53ae3e_1_98"/>
          <p:cNvSpPr/>
          <p:nvPr/>
        </p:nvSpPr>
        <p:spPr>
          <a:xfrm>
            <a:off x="731520" y="1463040"/>
            <a:ext cx="10728600" cy="493770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56" name="Google Shape;356;g3979b53ae3e_1_98"/>
          <p:cNvSpPr txBox="1"/>
          <p:nvPr/>
        </p:nvSpPr>
        <p:spPr>
          <a:xfrm>
            <a:off x="1005840" y="1645920"/>
            <a:ext cx="10179900" cy="4427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rgbClr val="333344"/>
                </a:solidFill>
                <a:latin typeface="Courier New"/>
                <a:ea typeface="Courier New"/>
                <a:cs typeface="Courier New"/>
                <a:sym typeface="Courier New"/>
              </a:rPr>
              <a:t># app.py - adding logging to the endpoint</a:t>
            </a:r>
            <a:endParaRPr/>
          </a:p>
          <a:p>
            <a:pPr indent="0" lvl="0" marL="0" marR="0" rtl="0" algn="l">
              <a:spcBef>
                <a:spcPts val="200"/>
              </a:spcBef>
              <a:spcAft>
                <a:spcPts val="0"/>
              </a:spcAft>
              <a:buNone/>
            </a:pPr>
            <a:r>
              <a:rPr b="1" lang="en-US" sz="1500">
                <a:solidFill>
                  <a:srgbClr val="333344"/>
                </a:solidFill>
                <a:latin typeface="Courier New"/>
                <a:ea typeface="Courier New"/>
                <a:cs typeface="Courier New"/>
                <a:sym typeface="Courier New"/>
              </a:rPr>
              <a:t>import logging</a:t>
            </a:r>
            <a:endParaRPr/>
          </a:p>
          <a:p>
            <a:pPr indent="0" lvl="0" marL="0" marR="0" rtl="0" algn="l">
              <a:spcBef>
                <a:spcPts val="200"/>
              </a:spcBef>
              <a:spcAft>
                <a:spcPts val="0"/>
              </a:spcAft>
              <a:buNone/>
            </a:pPr>
            <a:r>
              <a:t/>
            </a:r>
            <a:endParaRPr b="1" sz="1500">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lang="en-US" sz="1500">
                <a:solidFill>
                  <a:srgbClr val="333344"/>
                </a:solidFill>
                <a:latin typeface="Courier New"/>
                <a:ea typeface="Courier New"/>
                <a:cs typeface="Courier New"/>
                <a:sym typeface="Courier New"/>
              </a:rPr>
              <a:t>log = logging.getLogger(__name__)</a:t>
            </a:r>
            <a:endParaRPr/>
          </a:p>
          <a:p>
            <a:pPr indent="0" lvl="0" marL="0" marR="0" rtl="0" algn="l">
              <a:spcBef>
                <a:spcPts val="200"/>
              </a:spcBef>
              <a:spcAft>
                <a:spcPts val="0"/>
              </a:spcAft>
              <a:buNone/>
            </a:pPr>
            <a:r>
              <a:t/>
            </a:r>
            <a:endParaRPr b="1" sz="1500">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lang="en-US" sz="1500">
                <a:solidFill>
                  <a:srgbClr val="333344"/>
                </a:solidFill>
                <a:latin typeface="Courier New"/>
                <a:ea typeface="Courier New"/>
                <a:cs typeface="Courier New"/>
                <a:sym typeface="Courier New"/>
              </a:rPr>
              <a:t>@app.post("/api/messages", status_code=201)</a:t>
            </a:r>
            <a:endParaRPr/>
          </a:p>
          <a:p>
            <a:pPr indent="0" lvl="0" marL="0" marR="0" rtl="0" algn="l">
              <a:spcBef>
                <a:spcPts val="200"/>
              </a:spcBef>
              <a:spcAft>
                <a:spcPts val="0"/>
              </a:spcAft>
              <a:buNone/>
            </a:pPr>
            <a:r>
              <a:rPr b="1" lang="en-US" sz="1500">
                <a:solidFill>
                  <a:srgbClr val="333344"/>
                </a:solidFill>
                <a:latin typeface="Courier New"/>
                <a:ea typeface="Courier New"/>
                <a:cs typeface="Courier New"/>
                <a:sym typeface="Courier New"/>
              </a:rPr>
              <a:t>def post_message(msg: MessageCreate):</a:t>
            </a:r>
            <a:endParaRPr/>
          </a:p>
          <a:p>
            <a:pPr indent="0" lvl="0" marL="0" marR="0" rtl="0" algn="l">
              <a:spcBef>
                <a:spcPts val="200"/>
              </a:spcBef>
              <a:spcAft>
                <a:spcPts val="0"/>
              </a:spcAft>
              <a:buNone/>
            </a:pPr>
            <a:r>
              <a:rPr b="1" lang="en-US" sz="1500">
                <a:solidFill>
                  <a:srgbClr val="333344"/>
                </a:solidFill>
                <a:latin typeface="Courier New"/>
                <a:ea typeface="Courier New"/>
                <a:cs typeface="Courier New"/>
                <a:sym typeface="Courier New"/>
              </a:rPr>
              <a:t>    log.info("received message from author=%s", msg.author)</a:t>
            </a:r>
            <a:endParaRPr/>
          </a:p>
          <a:p>
            <a:pPr indent="0" lvl="0" marL="0" marR="0" rtl="0" algn="l">
              <a:spcBef>
                <a:spcPts val="200"/>
              </a:spcBef>
              <a:spcAft>
                <a:spcPts val="0"/>
              </a:spcAft>
              <a:buNone/>
            </a:pPr>
            <a:r>
              <a:rPr b="1" lang="en-US" sz="1500">
                <a:solidFill>
                  <a:srgbClr val="333344"/>
                </a:solidFill>
                <a:latin typeface="Courier New"/>
                <a:ea typeface="Courier New"/>
                <a:cs typeface="Courier New"/>
                <a:sym typeface="Courier New"/>
              </a:rPr>
              <a:t>    row = db.insert_message(msg)</a:t>
            </a:r>
            <a:endParaRPr/>
          </a:p>
          <a:p>
            <a:pPr indent="0" lvl="0" marL="0" marR="0" rtl="0" algn="l">
              <a:spcBef>
                <a:spcPts val="200"/>
              </a:spcBef>
              <a:spcAft>
                <a:spcPts val="0"/>
              </a:spcAft>
              <a:buNone/>
            </a:pPr>
            <a:r>
              <a:rPr b="1" lang="en-US" sz="1500">
                <a:solidFill>
                  <a:srgbClr val="333344"/>
                </a:solidFill>
                <a:latin typeface="Courier New"/>
                <a:ea typeface="Courier New"/>
                <a:cs typeface="Courier New"/>
                <a:sym typeface="Courier New"/>
              </a:rPr>
              <a:t>    log.info("stored message id=%s", row["id"])</a:t>
            </a:r>
            <a:endParaRPr/>
          </a:p>
          <a:p>
            <a:pPr indent="0" lvl="0" marL="0" marR="0" rtl="0" algn="l">
              <a:spcBef>
                <a:spcPts val="200"/>
              </a:spcBef>
              <a:spcAft>
                <a:spcPts val="0"/>
              </a:spcAft>
              <a:buNone/>
            </a:pPr>
            <a:r>
              <a:rPr b="1" lang="en-US" sz="1500">
                <a:solidFill>
                  <a:srgbClr val="333344"/>
                </a:solidFill>
                <a:latin typeface="Courier New"/>
                <a:ea typeface="Courier New"/>
                <a:cs typeface="Courier New"/>
                <a:sym typeface="Courier New"/>
              </a:rPr>
              <a:t>    return row</a:t>
            </a:r>
            <a:endParaRPr/>
          </a:p>
          <a:p>
            <a:pPr indent="0" lvl="0" marL="0" marR="0" rtl="0" algn="l">
              <a:spcBef>
                <a:spcPts val="200"/>
              </a:spcBef>
              <a:spcAft>
                <a:spcPts val="0"/>
              </a:spcAft>
              <a:buNone/>
            </a:pPr>
            <a:r>
              <a:t/>
            </a:r>
            <a:endParaRPr b="1" sz="1500">
              <a:solidFill>
                <a:srgbClr val="333344"/>
              </a:solidFill>
              <a:latin typeface="Courier New"/>
              <a:ea typeface="Courier New"/>
              <a:cs typeface="Courier New"/>
              <a:sym typeface="Courier New"/>
            </a:endParaRPr>
          </a:p>
          <a:p>
            <a:pPr indent="0" lvl="0" marL="0" marR="0" rtl="0" algn="l">
              <a:spcBef>
                <a:spcPts val="200"/>
              </a:spcBef>
              <a:spcAft>
                <a:spcPts val="0"/>
              </a:spcAft>
              <a:buNone/>
            </a:pPr>
            <a:r>
              <a:t/>
            </a:r>
            <a:endParaRPr b="1" sz="1500">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lang="en-US" sz="1500">
                <a:solidFill>
                  <a:srgbClr val="333344"/>
                </a:solidFill>
                <a:latin typeface="Courier New"/>
                <a:ea typeface="Courier New"/>
                <a:cs typeface="Courier New"/>
                <a:sym typeface="Courier New"/>
              </a:rPr>
              <a:t># With basicConfig set up at startup, running the server produces:</a:t>
            </a:r>
            <a:endParaRPr/>
          </a:p>
          <a:p>
            <a:pPr indent="0" lvl="0" marL="0" marR="0" rtl="0" algn="l">
              <a:spcBef>
                <a:spcPts val="200"/>
              </a:spcBef>
              <a:spcAft>
                <a:spcPts val="0"/>
              </a:spcAft>
              <a:buNone/>
            </a:pPr>
            <a:r>
              <a:rPr b="1" lang="en-US" sz="1500">
                <a:solidFill>
                  <a:srgbClr val="333344"/>
                </a:solidFill>
                <a:latin typeface="Courier New"/>
                <a:ea typeface="Courier New"/>
                <a:cs typeface="Courier New"/>
                <a:sym typeface="Courier New"/>
              </a:rPr>
              <a:t>#</a:t>
            </a:r>
            <a:endParaRPr/>
          </a:p>
          <a:p>
            <a:pPr indent="0" lvl="0" marL="0" marR="0" rtl="0" algn="l">
              <a:spcBef>
                <a:spcPts val="200"/>
              </a:spcBef>
              <a:spcAft>
                <a:spcPts val="0"/>
              </a:spcAft>
              <a:buNone/>
            </a:pPr>
            <a:r>
              <a:rPr b="1" lang="en-US" sz="1500">
                <a:solidFill>
                  <a:srgbClr val="333344"/>
                </a:solidFill>
                <a:latin typeface="Courier New"/>
                <a:ea typeface="Courier New"/>
                <a:cs typeface="Courier New"/>
                <a:sym typeface="Courier New"/>
              </a:rPr>
              <a:t>#   2026-04-23 14:22:09 INFO app: received message from author=alice</a:t>
            </a:r>
            <a:endParaRPr/>
          </a:p>
          <a:p>
            <a:pPr indent="0" lvl="0" marL="0" marR="0" rtl="0" algn="l">
              <a:spcBef>
                <a:spcPts val="200"/>
              </a:spcBef>
              <a:spcAft>
                <a:spcPts val="0"/>
              </a:spcAft>
              <a:buNone/>
            </a:pPr>
            <a:r>
              <a:rPr b="1" lang="en-US" sz="1500">
                <a:solidFill>
                  <a:srgbClr val="333344"/>
                </a:solidFill>
                <a:latin typeface="Courier New"/>
                <a:ea typeface="Courier New"/>
                <a:cs typeface="Courier New"/>
                <a:sym typeface="Courier New"/>
              </a:rPr>
              <a:t>#   2026-04-23 14:22:09 INFO app: stored message id=42</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1" name="Shape 361"/>
        <p:cNvGrpSpPr/>
        <p:nvPr/>
      </p:nvGrpSpPr>
      <p:grpSpPr>
        <a:xfrm>
          <a:off x="0" y="0"/>
          <a:ext cx="0" cy="0"/>
          <a:chOff x="0" y="0"/>
          <a:chExt cx="0" cy="0"/>
        </a:xfrm>
      </p:grpSpPr>
      <p:sp>
        <p:nvSpPr>
          <p:cNvPr id="362" name="Google Shape;362;g3979b53ae3e_1_232"/>
          <p:cNvSpPr txBox="1"/>
          <p:nvPr/>
        </p:nvSpPr>
        <p:spPr>
          <a:xfrm>
            <a:off x="731520" y="365760"/>
            <a:ext cx="10728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rgbClr val="1A1A2E"/>
                </a:solidFill>
                <a:latin typeface="Calibri"/>
                <a:ea typeface="Calibri"/>
                <a:cs typeface="Calibri"/>
                <a:sym typeface="Calibri"/>
              </a:rPr>
              <a:t>Log levels and why they matter</a:t>
            </a:r>
            <a:endParaRPr/>
          </a:p>
        </p:txBody>
      </p:sp>
      <p:sp>
        <p:nvSpPr>
          <p:cNvPr id="363" name="Google Shape;363;g3979b53ae3e_1_232"/>
          <p:cNvSpPr txBox="1"/>
          <p:nvPr/>
        </p:nvSpPr>
        <p:spPr>
          <a:xfrm>
            <a:off x="914400" y="1463040"/>
            <a:ext cx="10362900" cy="3124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2400">
                <a:solidFill>
                  <a:srgbClr val="333344"/>
                </a:solidFill>
                <a:latin typeface="Calibri"/>
                <a:ea typeface="Calibri"/>
                <a:cs typeface="Calibri"/>
                <a:sym typeface="Calibri"/>
              </a:rPr>
              <a:t>`logging` ships with five levels, lowest to highest severity:</a:t>
            </a:r>
            <a:endParaRPr/>
          </a:p>
          <a:p>
            <a:pPr indent="0" lvl="0" marL="0" marR="0" rtl="0" algn="l">
              <a:spcBef>
                <a:spcPts val="600"/>
              </a:spcBef>
              <a:spcAft>
                <a:spcPts val="0"/>
              </a:spcAft>
              <a:buNone/>
            </a:pPr>
            <a:r>
              <a:t/>
            </a:r>
            <a:endParaRPr b="0" sz="2400">
              <a:solidFill>
                <a:srgbClr val="333344"/>
              </a:solidFill>
              <a:latin typeface="Calibri"/>
              <a:ea typeface="Calibri"/>
              <a:cs typeface="Calibri"/>
              <a:sym typeface="Calibri"/>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DEBUG</a:t>
            </a:r>
            <a:r>
              <a:rPr b="0" i="0" lang="en-US" sz="2000" u="none" cap="none" strike="noStrike">
                <a:solidFill>
                  <a:srgbClr val="666677"/>
                </a:solidFill>
                <a:latin typeface="Calibri"/>
                <a:ea typeface="Calibri"/>
                <a:cs typeface="Calibri"/>
                <a:sym typeface="Calibri"/>
              </a:rPr>
              <a:t> - fine-grained trace. Usually off in prod.</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INFO</a:t>
            </a:r>
            <a:r>
              <a:rPr b="0" i="0" lang="en-US" sz="2000" u="none" cap="none" strike="noStrike">
                <a:solidFill>
                  <a:srgbClr val="666677"/>
                </a:solidFill>
                <a:latin typeface="Calibri"/>
                <a:ea typeface="Calibri"/>
                <a:cs typeface="Calibri"/>
                <a:sym typeface="Calibri"/>
              </a:rPr>
              <a:t> - normal operation. "Something happened, FYI."</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WARNING</a:t>
            </a:r>
            <a:r>
              <a:rPr b="0" i="0" lang="en-US" sz="2000" u="none" cap="none" strike="noStrike">
                <a:solidFill>
                  <a:srgbClr val="666677"/>
                </a:solidFill>
                <a:latin typeface="Calibri"/>
                <a:ea typeface="Calibri"/>
                <a:cs typeface="Calibri"/>
                <a:sym typeface="Calibri"/>
              </a:rPr>
              <a:t> - unusual but not broken (retry, degraded path).</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ERROR</a:t>
            </a:r>
            <a:r>
              <a:rPr b="0" i="0" lang="en-US" sz="2000" u="none" cap="none" strike="noStrike">
                <a:solidFill>
                  <a:srgbClr val="666677"/>
                </a:solidFill>
                <a:latin typeface="Calibri"/>
                <a:ea typeface="Calibri"/>
                <a:cs typeface="Calibri"/>
                <a:sym typeface="Calibri"/>
              </a:rPr>
              <a:t> - this request failed. Someone should look.</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CRITICAL</a:t>
            </a:r>
            <a:r>
              <a:rPr b="0" i="0" lang="en-US" sz="2000" u="none" cap="none" strike="noStrike">
                <a:solidFill>
                  <a:srgbClr val="666677"/>
                </a:solidFill>
                <a:latin typeface="Calibri"/>
                <a:ea typeface="Calibri"/>
                <a:cs typeface="Calibri"/>
                <a:sym typeface="Calibri"/>
              </a:rPr>
              <a:t> - sky falling. Wake someone up at 3am.</a:t>
            </a:r>
            <a:endParaRPr/>
          </a:p>
          <a:p>
            <a:pPr indent="0" lvl="1" marL="457200" marR="0" rtl="0" algn="l">
              <a:spcBef>
                <a:spcPts val="600"/>
              </a:spcBef>
              <a:spcAft>
                <a:spcPts val="0"/>
              </a:spcAft>
              <a:buNone/>
            </a:pPr>
            <a:r>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8" name="Shape 368"/>
        <p:cNvGrpSpPr/>
        <p:nvPr/>
      </p:nvGrpSpPr>
      <p:grpSpPr>
        <a:xfrm>
          <a:off x="0" y="0"/>
          <a:ext cx="0" cy="0"/>
          <a:chOff x="0" y="0"/>
          <a:chExt cx="0" cy="0"/>
        </a:xfrm>
      </p:grpSpPr>
      <p:sp>
        <p:nvSpPr>
          <p:cNvPr id="369" name="Google Shape;369;g3979b53ae3e_1_106"/>
          <p:cNvSpPr txBox="1"/>
          <p:nvPr/>
        </p:nvSpPr>
        <p:spPr>
          <a:xfrm>
            <a:off x="731520" y="365760"/>
            <a:ext cx="10728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rgbClr val="1A1A2E"/>
                </a:solidFill>
                <a:latin typeface="Calibri"/>
                <a:ea typeface="Calibri"/>
                <a:cs typeface="Calibri"/>
                <a:sym typeface="Calibri"/>
              </a:rPr>
              <a:t>Log levels and why they matter</a:t>
            </a:r>
            <a:endParaRPr/>
          </a:p>
        </p:txBody>
      </p:sp>
      <p:sp>
        <p:nvSpPr>
          <p:cNvPr id="370" name="Google Shape;370;g3979b53ae3e_1_106"/>
          <p:cNvSpPr txBox="1"/>
          <p:nvPr/>
        </p:nvSpPr>
        <p:spPr>
          <a:xfrm>
            <a:off x="914400" y="1463040"/>
            <a:ext cx="10362900" cy="4817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2400">
                <a:solidFill>
                  <a:srgbClr val="333344"/>
                </a:solidFill>
                <a:latin typeface="Calibri"/>
                <a:ea typeface="Calibri"/>
                <a:cs typeface="Calibri"/>
                <a:sym typeface="Calibri"/>
              </a:rPr>
              <a:t>`logging` ships with five levels, lowest to highest severity:</a:t>
            </a:r>
            <a:endParaRPr/>
          </a:p>
          <a:p>
            <a:pPr indent="0" lvl="0" marL="0" marR="0" rtl="0" algn="l">
              <a:spcBef>
                <a:spcPts val="600"/>
              </a:spcBef>
              <a:spcAft>
                <a:spcPts val="0"/>
              </a:spcAft>
              <a:buNone/>
            </a:pPr>
            <a:r>
              <a:t/>
            </a:r>
            <a:endParaRPr b="0" sz="2400">
              <a:solidFill>
                <a:srgbClr val="333344"/>
              </a:solidFill>
              <a:latin typeface="Calibri"/>
              <a:ea typeface="Calibri"/>
              <a:cs typeface="Calibri"/>
              <a:sym typeface="Calibri"/>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DEBUG</a:t>
            </a:r>
            <a:r>
              <a:rPr b="0" i="0" lang="en-US" sz="2000" u="none" cap="none" strike="noStrike">
                <a:solidFill>
                  <a:srgbClr val="666677"/>
                </a:solidFill>
                <a:latin typeface="Calibri"/>
                <a:ea typeface="Calibri"/>
                <a:cs typeface="Calibri"/>
                <a:sym typeface="Calibri"/>
              </a:rPr>
              <a:t> - fine-grained trace. Usually off in prod.</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INFO</a:t>
            </a:r>
            <a:r>
              <a:rPr b="0" i="0" lang="en-US" sz="2000" u="none" cap="none" strike="noStrike">
                <a:solidFill>
                  <a:srgbClr val="666677"/>
                </a:solidFill>
                <a:latin typeface="Calibri"/>
                <a:ea typeface="Calibri"/>
                <a:cs typeface="Calibri"/>
                <a:sym typeface="Calibri"/>
              </a:rPr>
              <a:t> - normal operation. "Something happened, FYI."</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WARNING</a:t>
            </a:r>
            <a:r>
              <a:rPr b="0" i="0" lang="en-US" sz="2000" u="none" cap="none" strike="noStrike">
                <a:solidFill>
                  <a:srgbClr val="666677"/>
                </a:solidFill>
                <a:latin typeface="Calibri"/>
                <a:ea typeface="Calibri"/>
                <a:cs typeface="Calibri"/>
                <a:sym typeface="Calibri"/>
              </a:rPr>
              <a:t> - unusual but not broken (retry, degraded path).</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ERROR</a:t>
            </a:r>
            <a:r>
              <a:rPr b="0" i="0" lang="en-US" sz="2000" u="none" cap="none" strike="noStrike">
                <a:solidFill>
                  <a:srgbClr val="666677"/>
                </a:solidFill>
                <a:latin typeface="Calibri"/>
                <a:ea typeface="Calibri"/>
                <a:cs typeface="Calibri"/>
                <a:sym typeface="Calibri"/>
              </a:rPr>
              <a:t> - this request failed. Someone should look.</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CRITICAL</a:t>
            </a:r>
            <a:r>
              <a:rPr b="0" i="0" lang="en-US" sz="2000" u="none" cap="none" strike="noStrike">
                <a:solidFill>
                  <a:srgbClr val="666677"/>
                </a:solidFill>
                <a:latin typeface="Calibri"/>
                <a:ea typeface="Calibri"/>
                <a:cs typeface="Calibri"/>
                <a:sym typeface="Calibri"/>
              </a:rPr>
              <a:t> - sky falling. Wake someone up at 3am.</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lang="en-US" sz="2400">
                <a:solidFill>
                  <a:srgbClr val="333344"/>
                </a:solidFill>
                <a:latin typeface="Calibri"/>
                <a:ea typeface="Calibri"/>
                <a:cs typeface="Calibri"/>
                <a:sym typeface="Calibri"/>
              </a:rPr>
              <a:t>You set a threshold per environment:</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DEBUG in dev</a:t>
            </a:r>
            <a:endParaRPr b="0" i="0" sz="2000" u="none" cap="none" strike="noStrike">
              <a:solidFill>
                <a:srgbClr val="666677"/>
              </a:solidFill>
              <a:latin typeface="Calibri"/>
              <a:ea typeface="Calibri"/>
              <a:cs typeface="Calibri"/>
              <a:sym typeface="Calibri"/>
            </a:endParaRPr>
          </a:p>
          <a:p>
            <a:pPr indent="0" lvl="1" marL="457200" marR="0" rtl="0" algn="l">
              <a:spcBef>
                <a:spcPts val="600"/>
              </a:spcBef>
              <a:spcAft>
                <a:spcPts val="0"/>
              </a:spcAft>
              <a:buNone/>
            </a:pPr>
            <a:r>
              <a:rPr lang="en-US" sz="2000">
                <a:solidFill>
                  <a:srgbClr val="666677"/>
                </a:solidFill>
                <a:latin typeface="Calibri"/>
                <a:ea typeface="Calibri"/>
                <a:cs typeface="Calibri"/>
                <a:sym typeface="Calibri"/>
              </a:rPr>
              <a:t>  INFO (or WARNING</a:t>
            </a:r>
            <a:r>
              <a:rPr b="0" i="0" lang="en-US" sz="2000" u="none" cap="none" strike="noStrike">
                <a:solidFill>
                  <a:srgbClr val="666677"/>
                </a:solidFill>
                <a:latin typeface="Calibri"/>
                <a:ea typeface="Calibri"/>
                <a:cs typeface="Calibri"/>
                <a:sym typeface="Calibri"/>
              </a:rPr>
              <a:t>) in prod</a:t>
            </a:r>
            <a:endParaRPr sz="2000">
              <a:solidFill>
                <a:srgbClr val="666677"/>
              </a:solidFill>
              <a:latin typeface="Calibri"/>
              <a:ea typeface="Calibri"/>
              <a:cs typeface="Calibri"/>
              <a:sym typeface="Calibri"/>
            </a:endParaRPr>
          </a:p>
          <a:p>
            <a:pPr indent="0" lvl="1" marL="457200" marR="0" rtl="0" algn="l">
              <a:spcBef>
                <a:spcPts val="600"/>
              </a:spcBef>
              <a:spcAft>
                <a:spcPts val="0"/>
              </a:spcAft>
              <a:buNone/>
            </a:pPr>
            <a:r>
              <a:rPr lang="en-US" sz="2000">
                <a:solidFill>
                  <a:srgbClr val="666677"/>
                </a:solidFill>
                <a:latin typeface="Calibri"/>
                <a:ea typeface="Calibri"/>
                <a:cs typeface="Calibri"/>
                <a:sym typeface="Calibri"/>
              </a:rPr>
              <a:t>  ERRORS alert you in Slack</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9FE"/>
        </a:solidFill>
      </p:bgPr>
    </p:bg>
    <p:spTree>
      <p:nvGrpSpPr>
        <p:cNvPr id="375" name="Shape 375"/>
        <p:cNvGrpSpPr/>
        <p:nvPr/>
      </p:nvGrpSpPr>
      <p:grpSpPr>
        <a:xfrm>
          <a:off x="0" y="0"/>
          <a:ext cx="0" cy="0"/>
          <a:chOff x="0" y="0"/>
          <a:chExt cx="0" cy="0"/>
        </a:xfrm>
      </p:grpSpPr>
      <p:sp>
        <p:nvSpPr>
          <p:cNvPr id="376" name="Google Shape;376;g3979b53ae3e_1_112"/>
          <p:cNvSpPr txBox="1"/>
          <p:nvPr/>
        </p:nvSpPr>
        <p:spPr>
          <a:xfrm>
            <a:off x="5303520" y="457200"/>
            <a:ext cx="1584600" cy="12006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7200">
                <a:solidFill>
                  <a:srgbClr val="5B21B6"/>
                </a:solidFill>
                <a:latin typeface="Calibri"/>
                <a:ea typeface="Calibri"/>
                <a:cs typeface="Calibri"/>
                <a:sym typeface="Calibri"/>
              </a:rPr>
              <a:t>?</a:t>
            </a:r>
            <a:endParaRPr/>
          </a:p>
        </p:txBody>
      </p:sp>
      <p:sp>
        <p:nvSpPr>
          <p:cNvPr id="377" name="Google Shape;377;g3979b53ae3e_1_112"/>
          <p:cNvSpPr txBox="1"/>
          <p:nvPr/>
        </p:nvSpPr>
        <p:spPr>
          <a:xfrm>
            <a:off x="1371600" y="2011680"/>
            <a:ext cx="9448500" cy="1139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400">
                <a:solidFill>
                  <a:srgbClr val="1A1A2E"/>
                </a:solidFill>
                <a:latin typeface="Calibri"/>
                <a:ea typeface="Calibri"/>
                <a:cs typeface="Calibri"/>
                <a:sym typeface="Calibri"/>
              </a:rPr>
              <a:t>You just got this bug report. What logs do you wish you had?</a:t>
            </a:r>
            <a:endParaRPr/>
          </a:p>
        </p:txBody>
      </p:sp>
      <p:sp>
        <p:nvSpPr>
          <p:cNvPr id="378" name="Google Shape;378;g3979b53ae3e_1_112"/>
          <p:cNvSpPr txBox="1"/>
          <p:nvPr/>
        </p:nvSpPr>
        <p:spPr>
          <a:xfrm>
            <a:off x="1828800" y="4572000"/>
            <a:ext cx="8534100" cy="769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lang="en-US" sz="2200">
                <a:solidFill>
                  <a:srgbClr val="666677"/>
                </a:solidFill>
                <a:latin typeface="Calibri"/>
                <a:ea typeface="Calibri"/>
                <a:cs typeface="Calibri"/>
                <a:sym typeface="Calibri"/>
              </a:rPr>
              <a:t>Bug report: "I posted a message at 2pm and it never showed up in the list." Name specific log lines you'd want to find when you go digging.</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3" name="Shape 383"/>
        <p:cNvGrpSpPr/>
        <p:nvPr/>
      </p:nvGrpSpPr>
      <p:grpSpPr>
        <a:xfrm>
          <a:off x="0" y="0"/>
          <a:ext cx="0" cy="0"/>
          <a:chOff x="0" y="0"/>
          <a:chExt cx="0" cy="0"/>
        </a:xfrm>
      </p:grpSpPr>
      <p:sp>
        <p:nvSpPr>
          <p:cNvPr id="384" name="Google Shape;384;g3979b53ae3e_1_119"/>
          <p:cNvSpPr txBox="1"/>
          <p:nvPr/>
        </p:nvSpPr>
        <p:spPr>
          <a:xfrm>
            <a:off x="731520" y="365760"/>
            <a:ext cx="10728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rgbClr val="1A1A2E"/>
                </a:solidFill>
                <a:latin typeface="Calibri"/>
                <a:ea typeface="Calibri"/>
                <a:cs typeface="Calibri"/>
                <a:sym typeface="Calibri"/>
              </a:rPr>
              <a:t>What to log (and what NEVER to)</a:t>
            </a:r>
            <a:endParaRPr/>
          </a:p>
        </p:txBody>
      </p:sp>
      <p:sp>
        <p:nvSpPr>
          <p:cNvPr id="385" name="Google Shape;385;g3979b53ae3e_1_119"/>
          <p:cNvSpPr txBox="1"/>
          <p:nvPr/>
        </p:nvSpPr>
        <p:spPr>
          <a:xfrm>
            <a:off x="914400" y="1463040"/>
            <a:ext cx="10362900" cy="5202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333344"/>
                </a:solidFill>
                <a:latin typeface="Calibri"/>
                <a:ea typeface="Calibri"/>
                <a:cs typeface="Calibri"/>
                <a:sym typeface="Calibri"/>
              </a:rPr>
              <a:t>Log the boundaries and state changes:</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Request in, response out (the edge of your service)</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Rows inserted, users authenticated, files written</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External API calls and their results</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Errors with enough context to reproduce them</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1" lang="en-US" sz="2400">
                <a:solidFill>
                  <a:srgbClr val="333344"/>
                </a:solidFill>
                <a:latin typeface="Calibri"/>
                <a:ea typeface="Calibri"/>
                <a:cs typeface="Calibri"/>
                <a:sym typeface="Calibri"/>
              </a:rPr>
              <a:t>Never log:</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Passwords, API keys, auth tokens, session cookies</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Full credit card numbers, SSNs, sensitive PII</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Whole request bodies (may contain any of the above)</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1" lang="en-US" sz="2400">
                <a:solidFill>
                  <a:srgbClr val="333344"/>
                </a:solidFill>
                <a:latin typeface="Calibri"/>
                <a:ea typeface="Calibri"/>
                <a:cs typeface="Calibri"/>
                <a:sym typeface="Calibri"/>
              </a:rPr>
              <a:t>Gut check:</a:t>
            </a:r>
            <a:r>
              <a:rPr b="0" lang="en-US" sz="2400">
                <a:solidFill>
                  <a:srgbClr val="333344"/>
                </a:solidFill>
                <a:latin typeface="Calibri"/>
                <a:ea typeface="Calibri"/>
                <a:cs typeface="Calibri"/>
                <a:sym typeface="Calibri"/>
              </a:rPr>
              <a:t> if your logs leaked tomorrow, would you be OK?</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If the answer is no, redact before you log. Not after.</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0" name="Shape 390"/>
        <p:cNvGrpSpPr/>
        <p:nvPr/>
      </p:nvGrpSpPr>
      <p:grpSpPr>
        <a:xfrm>
          <a:off x="0" y="0"/>
          <a:ext cx="0" cy="0"/>
          <a:chOff x="0" y="0"/>
          <a:chExt cx="0" cy="0"/>
        </a:xfrm>
      </p:grpSpPr>
      <p:sp>
        <p:nvSpPr>
          <p:cNvPr id="391" name="Google Shape;391;g3979b53ae3e_1_244"/>
          <p:cNvSpPr txBox="1"/>
          <p:nvPr/>
        </p:nvSpPr>
        <p:spPr>
          <a:xfrm>
            <a:off x="731520" y="365760"/>
            <a:ext cx="10728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rgbClr val="1A1A2E"/>
                </a:solidFill>
                <a:latin typeface="Calibri"/>
                <a:ea typeface="Calibri"/>
                <a:cs typeface="Calibri"/>
                <a:sym typeface="Calibri"/>
              </a:rPr>
              <a:t>The parallel with testing</a:t>
            </a:r>
            <a:endParaRPr/>
          </a:p>
        </p:txBody>
      </p:sp>
      <p:sp>
        <p:nvSpPr>
          <p:cNvPr id="392" name="Google Shape;392;g3979b53ae3e_1_244"/>
          <p:cNvSpPr txBox="1"/>
          <p:nvPr/>
        </p:nvSpPr>
        <p:spPr>
          <a:xfrm>
            <a:off x="914388" y="1086915"/>
            <a:ext cx="10362900" cy="3509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2400">
                <a:solidFill>
                  <a:srgbClr val="333344"/>
                </a:solidFill>
                <a:latin typeface="Calibri"/>
                <a:ea typeface="Calibri"/>
                <a:cs typeface="Calibri"/>
                <a:sym typeface="Calibri"/>
              </a:rPr>
              <a:t>Two tools, same question, different phases of your code's life.</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Tests</a:t>
            </a:r>
            <a:r>
              <a:rPr b="0" i="0" lang="en-US" sz="2000" u="none" cap="none" strike="noStrike">
                <a:solidFill>
                  <a:srgbClr val="666677"/>
                </a:solidFill>
                <a:latin typeface="Calibri"/>
                <a:ea typeface="Calibri"/>
                <a:cs typeface="Calibri"/>
                <a:sym typeface="Calibri"/>
              </a:rPr>
              <a:t> - ask BEFORE shipping, in conditions you control.</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Fast, binary, pass/fail. Caught here = cheap to fix.</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Logs</a:t>
            </a:r>
            <a:r>
              <a:rPr b="0" i="0" lang="en-US" sz="2000" u="none" cap="none" strike="noStrike">
                <a:solidFill>
                  <a:srgbClr val="666677"/>
                </a:solidFill>
                <a:latin typeface="Calibri"/>
                <a:ea typeface="Calibri"/>
                <a:cs typeface="Calibri"/>
                <a:sym typeface="Calibri"/>
              </a:rPr>
              <a:t> - ask AFTER shipping, in conditions you don't control.</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Cumulative evidence, read after the fact. Caught here = real.</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lang="en-US" sz="2400">
                <a:solidFill>
                  <a:srgbClr val="333344"/>
                </a:solidFill>
                <a:latin typeface="Calibri"/>
                <a:ea typeface="Calibri"/>
                <a:cs typeface="Calibri"/>
                <a:sym typeface="Calibri"/>
              </a:rPr>
              <a:t>Not substitutes. </a:t>
            </a:r>
            <a:endParaRPr/>
          </a:p>
          <a:p>
            <a:pPr indent="0" lvl="1" marL="457200" marR="0" rtl="0" algn="l">
              <a:spcBef>
                <a:spcPts val="600"/>
              </a:spcBef>
              <a:spcAft>
                <a:spcPts val="0"/>
              </a:spcAft>
              <a:buNone/>
            </a:pPr>
            <a:r>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7" name="Shape 397"/>
        <p:cNvGrpSpPr/>
        <p:nvPr/>
      </p:nvGrpSpPr>
      <p:grpSpPr>
        <a:xfrm>
          <a:off x="0" y="0"/>
          <a:ext cx="0" cy="0"/>
          <a:chOff x="0" y="0"/>
          <a:chExt cx="0" cy="0"/>
        </a:xfrm>
      </p:grpSpPr>
      <p:sp>
        <p:nvSpPr>
          <p:cNvPr id="398" name="Google Shape;398;g3979b53ae3e_1_125"/>
          <p:cNvSpPr txBox="1"/>
          <p:nvPr/>
        </p:nvSpPr>
        <p:spPr>
          <a:xfrm>
            <a:off x="731520" y="365760"/>
            <a:ext cx="10728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rgbClr val="1A1A2E"/>
                </a:solidFill>
                <a:latin typeface="Calibri"/>
                <a:ea typeface="Calibri"/>
                <a:cs typeface="Calibri"/>
                <a:sym typeface="Calibri"/>
              </a:rPr>
              <a:t>The parallel with testing</a:t>
            </a:r>
            <a:endParaRPr/>
          </a:p>
        </p:txBody>
      </p:sp>
      <p:sp>
        <p:nvSpPr>
          <p:cNvPr id="399" name="Google Shape;399;g3979b53ae3e_1_125"/>
          <p:cNvSpPr txBox="1"/>
          <p:nvPr/>
        </p:nvSpPr>
        <p:spPr>
          <a:xfrm>
            <a:off x="914388" y="1086915"/>
            <a:ext cx="10362900" cy="4433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2400">
                <a:solidFill>
                  <a:srgbClr val="333344"/>
                </a:solidFill>
                <a:latin typeface="Calibri"/>
                <a:ea typeface="Calibri"/>
                <a:cs typeface="Calibri"/>
                <a:sym typeface="Calibri"/>
              </a:rPr>
              <a:t>Two tools, same question, different phases of your code's life.</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Tests</a:t>
            </a:r>
            <a:r>
              <a:rPr b="0" i="0" lang="en-US" sz="2000" u="none" cap="none" strike="noStrike">
                <a:solidFill>
                  <a:srgbClr val="666677"/>
                </a:solidFill>
                <a:latin typeface="Calibri"/>
                <a:ea typeface="Calibri"/>
                <a:cs typeface="Calibri"/>
                <a:sym typeface="Calibri"/>
              </a:rPr>
              <a:t> - ask BEFORE shipping, in conditions you control.</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Fast, binary, pass/fail. Caught here = cheap to fix.</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Logs</a:t>
            </a:r>
            <a:r>
              <a:rPr b="0" i="0" lang="en-US" sz="2000" u="none" cap="none" strike="noStrike">
                <a:solidFill>
                  <a:srgbClr val="666677"/>
                </a:solidFill>
                <a:latin typeface="Calibri"/>
                <a:ea typeface="Calibri"/>
                <a:cs typeface="Calibri"/>
                <a:sym typeface="Calibri"/>
              </a:rPr>
              <a:t> - ask AFTER shipping, in conditions you don't control.</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Cumulative evidence, read after the fact. Caught here = real.</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lang="en-US" sz="2400">
                <a:solidFill>
                  <a:srgbClr val="333344"/>
                </a:solidFill>
                <a:latin typeface="Calibri"/>
                <a:ea typeface="Calibri"/>
                <a:cs typeface="Calibri"/>
                <a:sym typeface="Calibri"/>
              </a:rPr>
              <a:t>Not substitutes. </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lang="en-US" sz="2400">
                <a:solidFill>
                  <a:srgbClr val="333344"/>
                </a:solidFill>
                <a:latin typeface="Calibri"/>
                <a:ea typeface="Calibri"/>
                <a:cs typeface="Calibri"/>
                <a:sym typeface="Calibri"/>
              </a:rPr>
              <a:t>Both follow the same rule, really:</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observe the world around your code.</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4" name="Shape 404"/>
        <p:cNvGrpSpPr/>
        <p:nvPr/>
      </p:nvGrpSpPr>
      <p:grpSpPr>
        <a:xfrm>
          <a:off x="0" y="0"/>
          <a:ext cx="0" cy="0"/>
          <a:chOff x="0" y="0"/>
          <a:chExt cx="0" cy="0"/>
        </a:xfrm>
      </p:grpSpPr>
      <p:sp>
        <p:nvSpPr>
          <p:cNvPr id="405" name="Google Shape;405;g3979b53ae3e_1_131"/>
          <p:cNvSpPr txBox="1"/>
          <p:nvPr/>
        </p:nvSpPr>
        <p:spPr>
          <a:xfrm>
            <a:off x="731520" y="365760"/>
            <a:ext cx="10728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rgbClr val="1A1A2E"/>
                </a:solidFill>
                <a:latin typeface="Calibri"/>
                <a:ea typeface="Calibri"/>
                <a:cs typeface="Calibri"/>
                <a:sym typeface="Calibri"/>
              </a:rPr>
              <a:t>Where this goes next</a:t>
            </a:r>
            <a:endParaRPr/>
          </a:p>
        </p:txBody>
      </p:sp>
      <p:sp>
        <p:nvSpPr>
          <p:cNvPr id="406" name="Google Shape;406;g3979b53ae3e_1_131"/>
          <p:cNvSpPr txBox="1"/>
          <p:nvPr/>
        </p:nvSpPr>
        <p:spPr>
          <a:xfrm>
            <a:off x="914400" y="1463040"/>
            <a:ext cx="10362900" cy="5710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2400">
                <a:solidFill>
                  <a:srgbClr val="333344"/>
                </a:solidFill>
                <a:latin typeface="Calibri"/>
                <a:ea typeface="Calibri"/>
                <a:cs typeface="Calibri"/>
                <a:sym typeface="Calibri"/>
              </a:rPr>
              <a:t>Two ideas to walk away with:</a:t>
            </a:r>
            <a:endParaRPr/>
          </a:p>
          <a:p>
            <a:pPr indent="0" lvl="0" marL="0" marR="0" rtl="0" algn="l">
              <a:spcBef>
                <a:spcPts val="600"/>
              </a:spcBef>
              <a:spcAft>
                <a:spcPts val="0"/>
              </a:spcAft>
              <a:buNone/>
            </a:pPr>
            <a:r>
              <a:t/>
            </a:r>
            <a:endParaRPr b="0" sz="2400">
              <a:solidFill>
                <a:srgbClr val="333344"/>
              </a:solidFill>
              <a:latin typeface="Calibri"/>
              <a:ea typeface="Calibri"/>
              <a:cs typeface="Calibri"/>
              <a:sym typeface="Calibri"/>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Control the world in dev.</a:t>
            </a:r>
            <a:r>
              <a:rPr b="0" i="0" lang="en-US" sz="2000" u="none" cap="none" strike="noStrike">
                <a:solidFill>
                  <a:srgbClr val="666677"/>
                </a:solidFill>
                <a:latin typeface="Calibri"/>
                <a:ea typeface="Calibri"/>
                <a:cs typeface="Calibri"/>
                <a:sym typeface="Calibri"/>
              </a:rPr>
              <a:t> TestClient, fixtures, test DBs,</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and mocks let you test real behavior without a real server,</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real clock, or real Stripe account.</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Observe the world in prod.</a:t>
            </a:r>
            <a:r>
              <a:rPr b="0" i="0" lang="en-US" sz="2000" u="none" cap="none" strike="noStrike">
                <a:solidFill>
                  <a:srgbClr val="666677"/>
                </a:solidFill>
                <a:latin typeface="Calibri"/>
                <a:ea typeface="Calibri"/>
                <a:cs typeface="Calibri"/>
                <a:sym typeface="Calibri"/>
              </a:rPr>
              <a:t> Logs are the record of what</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happened when your users met your code. Levels, boundaries,</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no secrets, no full request bodies.</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lang="en-US" sz="2400">
                <a:solidFill>
                  <a:srgbClr val="333344"/>
                </a:solidFill>
                <a:latin typeface="Calibri"/>
                <a:ea typeface="Calibri"/>
                <a:cs typeface="Calibri"/>
                <a:sym typeface="Calibri"/>
              </a:rPr>
              <a:t>Skip either and you're blind in one phase of your code's life.</a:t>
            </a:r>
            <a:endParaRPr/>
          </a:p>
          <a:p>
            <a:pPr indent="0" lvl="0" marL="0" marR="0" rtl="0" algn="l">
              <a:spcBef>
                <a:spcPts val="600"/>
              </a:spcBef>
              <a:spcAft>
                <a:spcPts val="0"/>
              </a:spcAft>
              <a:buNone/>
            </a:pPr>
            <a:r>
              <a:t/>
            </a:r>
            <a:endParaRPr b="0" sz="2400">
              <a:solidFill>
                <a:srgbClr val="333344"/>
              </a:solidFill>
              <a:latin typeface="Calibri"/>
              <a:ea typeface="Calibri"/>
              <a:cs typeface="Calibri"/>
              <a:sym typeface="Calibri"/>
            </a:endParaRPr>
          </a:p>
          <a:p>
            <a:pPr indent="0" lvl="0" marL="0" marR="0" rtl="0" algn="l">
              <a:spcBef>
                <a:spcPts val="600"/>
              </a:spcBef>
              <a:spcAft>
                <a:spcPts val="0"/>
              </a:spcAft>
              <a:buNone/>
            </a:pPr>
            <a:r>
              <a:rPr b="0" lang="en-US" sz="2400">
                <a:solidFill>
                  <a:srgbClr val="333344"/>
                </a:solidFill>
                <a:latin typeface="Calibri"/>
                <a:ea typeface="Calibri"/>
                <a:cs typeface="Calibri"/>
                <a:sym typeface="Calibri"/>
              </a:rPr>
              <a:t>Next week (5.1): </a:t>
            </a:r>
            <a:r>
              <a:rPr b="1" lang="en-US" sz="2400">
                <a:solidFill>
                  <a:srgbClr val="333344"/>
                </a:solidFill>
                <a:latin typeface="Calibri"/>
                <a:ea typeface="Calibri"/>
                <a:cs typeface="Calibri"/>
                <a:sym typeface="Calibri"/>
              </a:rPr>
              <a:t>JavaScript.</a:t>
            </a:r>
            <a:r>
              <a:rPr b="0" lang="en-US" sz="2400">
                <a:solidFill>
                  <a:srgbClr val="333344"/>
                </a:solidFill>
                <a:latin typeface="Calibri"/>
                <a:ea typeface="Calibri"/>
                <a:cs typeface="Calibri"/>
                <a:sym typeface="Calibri"/>
              </a:rPr>
              <a:t> Assignment 2 lands with testing</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requirements at bronze+. Today is what you'll need.</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